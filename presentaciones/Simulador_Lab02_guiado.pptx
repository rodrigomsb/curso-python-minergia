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notesMasterIdLst>
    <p:notesMasterId r:id="rId6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TIEMPOS SUGERIDOS
Esta presentación 25 min y el Lab 02 guiado en Colab 45 min.
ESTA LÁMINA
Tres ideas. Elegir las filas que interesan, resumir una tabla grande en pocas cifras y calcular una columna nueva para toda la tabla. La comparación de una cifra global con cada grupo queda en la Parte 2, para la casa.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esta lámina al comienzo. Hoy se ven solo estos 5 pasos, que son la Parte 1 del cuaderno. La Parte 2 está al final del mismo cuaderno y queda para la casa, con la guía en PDF. Se muestra en la última lámina.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Arriba las dos tablas que se unen. Abajo gen, con las cuatro columnas de la generación en azul y las cuatro de la ficha en amarillo.
DECIR
central no se repite porque es la columna con que se une. Las filas siguen siendo 175.680.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LÍNEA POR LÍNEA
DATOS y import pandas as pd
Igual que en el Lab 01, la dirección de la carpeta de datos y la herramienta de tablas.
Las dos líneas con read_csv
Leen las centrales y la generación de cada hora.
gen = pd.merge(generacion, centrales, on="central", how="left")
La forma de unir que aprendieron en el Lab 01. A cada fila de generación le agrega la ficha de su central, con su tecnología, región y potencia.
print("Filas de la tabla unida", len(gen))
Cuenta las filas, como en el Lab 01, para comprobar que la unión no perdió ni duplicó nada.
gen.head()
Muestra las primeras cinco filas.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
Suma números. Con textos, los junta uno detrás del otro.
import
Trae una herramienta que no viene cargada desde el comienzo. import pandas as pd la trae y le pone el apodo pd, para escribir menos.
as
Le da un apodo a lo que se importa. Desde ahí se usa el apodo.
pd.read_csv( ... )
Lee un archivo separado por comas y lo convierte en tabla. pd es pandas.
pd.merge(izquierda, derecha, ...)
Une dos tablas buscando la pareja de cada fila, como el BUSCARV.
on=
La columna, o la lista de columnas, que tienen en común las dos tablas y que se usa para buscar la pareja.
how=
Qué hacer con las filas que no encuentran pareja. inner deja solo las que están en las dos tablas y left conserva todas las de la tabla izquierda.
print( ... )
Muestra en pantalla lo que va dentro. Si van varias cosas separadas por coma, las muestra en una línea con un espacio entre ellas.
len( ... )
Cuenta cuántos elementos tiene una lista o cuántas filas tiene una tabla.
.head(n)
Las primeras n filas. Sin n, cinco.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lámina explica cada pieza de esta línea. Abajo está la sintaxis de toda la celda.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
Suma números. Con textos, los junta uno detrás del otro.
import
Trae una herramienta que no viene cargada desde el comienzo. import pandas as pd la trae y le pone el apodo pd, para escribir menos.
as
Le da un apodo a lo que se importa. Desde ahí se usa el apodo.
pd.read_csv( ... )
Lee un archivo separado por comas y lo convierte en tabla. pd es pandas.
pd.merge(izquierda, derecha, ...)
Une dos tablas buscando la pareja de cada fila, como el BUSCARV.
on=
La columna, o la lista de columnas, que tienen en común las dos tablas y que se usa para buscar la pareja.
how=
Qué hacer con las filas que no encuentran pareja. inner deja solo las que están en las dos tablas y left conserva todas las de la tabla izquierda.
print( ... )
Muestra en pantalla lo que va dentro. Si van varias cosas separadas por coma, las muestra en una línea con un espacio entre ellas.
len( ... )
Cuenta cuántos elementos tiene una lista o cuántas filas tiene una tabla.
.head(n)
Las primeras n filas. Sin n, cinco.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gen tiene 175.680 filas, las mismas de generacion. Al lado de cada hora aparecen la tecnología, la región y la potencia de su central.
DECIR
El punto de partida de este lab es el punto de llegada del anterior.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
Suma números. Con textos, los junta uno detrás del otro.
import
Trae una herramienta que no viene cargada desde el comienzo. import pandas as pd la trae y le pone el apodo pd, para escribir menos.
as
Le da un apodo a lo que se importa. Desde ahí se usa el apodo.
pd.read_csv( ... )
Lee un archivo separado por comas y lo convierte en tabla. pd es pandas.
pd.merge(izquierda, derecha, ...)
Une dos tablas buscando la pareja de cada fila, como el BUSCARV.
on=
La columna, o la lista de columnas, que tienen en común las dos tablas y que se usa para buscar la pareja.
how=
Qué hacer con las filas que no encuentran pareja. inner deja solo las que están en las dos tablas y left conserva todas las de la tabla izquierda.
print( ... )
Muestra en pantalla lo que va dentro. Si van varias cosas separadas por coma, las muestra en una línea con un espacio entre ellas.
len( ... )
Cuenta cuántos elementos tiene una lista o cuántas filas tiene una tabla.
.head(n)
Las primeras n filas. Sin n, cinco.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Es la misma forma de unir del Lab 01, ahora con todo el año y con la tabla de centrales completa.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Cada condición da su propia columna de True y False. &amp; las combina y la fila pasa solo si las dos dicen True.
DECIR
Llano Seco es solar pero está en Atacama, y Roca Gris está en Antofagasta pero es carbón. Ninguna de las dos pasa.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LÍNEA POR LÍNEA
tecnologia y region con #@param
Dos desplegables.
elegidas = gen[(gen["tecnologia"] == tecnologia) &amp; (gen["region"] == region)]
Un filtro con dos condiciones. El &amp; se lee como y, así que pasan solo las filas que cumplen las dos. Cada condición va entre paréntesis, es obligatorio en pandas.
len(elegidas)
Cuenta las filas.
round(elegidas["mwh"].sum())
Suma la generación de esas filas y redondea.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["a", "b"]
Una lista de textos. Dentro de una instrucción de pandas suele indicar varias columnas a la vez.
==
Dos signos igual preguntan si dos cosas son iguales. Dan True o False. Un solo igual guarda.
&amp;
Se lee y. Con columnas de True y False, queda True solo donde las dos son verdaderas. Cada condición tiene que ir entre paréntesis.
tabla[condición]
Con una columna de True y False adentro, la tabla deja pasar solo las filas con True. Es un filtro.
tabla["columna"]
Corchetes con un nombre entre comillas eligen una columna de la tabla. También eligen una llave de un diccionario.
print( ... )
Muestra en pantalla lo que va dentro. Si van varias cosas separadas por coma, las muestra en una línea con un espacio entre ellas.
len( ... )
Cuenta cuántos elementos tiene una lista o cuántas filas tiene una tabla.
round(valor, n)
Redondea un número a n decimales. Sin n, al entero más cercano.
.sum()
Suma la columna. En una columna de True y False, cuenta los True.
f"... {nombre} ..."
Texto con una f delante. Lo que va entre llaves se reemplaza por su valor al mostrarse.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el filtro del Lab 01 con dos condiciones, y el &amp; ya apareció en el Paso 8 del Lab 00. Si en vez de y se quisiera o, el signo es la barra vertical.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["a", "b"]
Una lista de textos. Dentro de una instrucción de pandas suele indicar varias columnas a la vez.
==
Dos signos igual preguntan si dos cosas son iguales. Dan True o False. Un solo igual guarda.
&amp;
Se lee y. Con columnas de True y False, queda True solo donde las dos son verdaderas. Cada condición tiene que ir entre paréntesis.
tabla[condición]
Con una columna de True y False adentro, la tabla deja pasar solo las filas con True. Es un filtro.
tabla["columna"]
Corchetes con un nombre entre comillas eligen una columna de la tabla. También eligen una llave de un diccionario.
print( ... )
Muestra en pantalla lo que va dentro. Si van varias cosas separadas por coma, las muestra en una línea con un espacio entre ellas.
len( ... )
Cuenta cuántos elementos tiene una lista o cuántas filas tiene una tabla.
round(valor, n)
Redondea un número a n decimales. Sin n, al entero más cercano.
.sum()
Suma la columna. En una columna de True y False, cuenta los True.
f"... {nombre} ..."
Texto con una f delante. Lo que va entre llaves se reemplaza por su valor al mostrarse.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La solar de Antofagasta generó 479.681 MWh en el año.
SI PREGUNTAN POR UNA COMBINACIÓN QUE DA CERO
Esa región no tiene centrales de esa tecnología. Por ejemplo, no hay solar en Biobío.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["a", "b"]
Una lista de textos. Dentro de una instrucción de pandas suele indicar varias columnas a la vez.
==
Dos signos igual preguntan si dos cosas son iguales. Dan True o False. Un solo igual guarda.
&amp;
Se lee y. Con columnas de True y False, queda True solo donde las dos son verdaderas. Cada condición tiene que ir entre paréntesis.
tabla[condición]
Con una columna de True y False adentro, la tabla deja pasar solo las filas con True. Es un filtro.
tabla["columna"]
Corchetes con un nombre entre comillas eligen una columna de la tabla. También eligen una llave de un diccionario.
print( ... )
Muestra en pantalla lo que va dentro. Si van varias cosas separadas por coma, las muestra en una línea con un espacio entre ellas.
len( ... )
Cuenta cuántos elementos tiene una lista o cuántas filas tiene una tabla.
round(valor, n)
Redondea un número a n decimales. Sin n, al entero más cercano.
.sum()
Suma la columna. En una columna de True y False, cuenta los True.
f"... {nombre} ..."
Texto con una f delante. Lo que va entre llaves se reemplaza por su valor al mostrarse.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CAMBIÓ
Se eligió hidro y Biobío.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["a", "b"]
Una lista de textos. Dentro de una instrucción de pandas suele indicar varias columnas a la vez.
==
Dos signos igual preguntan si dos cosas son iguales. Dan True o False. Un solo igual guarda.
&amp;
Se lee y. Con columnas de True y False, queda True solo donde las dos son verdaderas. Cada condición tiene que ir entre paréntesis.
tabla[condición]
Con una columna de True y False adentro, la tabla deja pasar solo las filas con True. Es un filtro.
tabla["columna"]
Corchetes con un nombre entre comillas eligen una columna de la tabla. También eligen una llave de un diccionario.
print( ... )
Muestra en pantalla lo que va dentro. Si van varias cosas separadas por coma, las muestra en una línea con un espacio entre ellas.
len( ... )
Cuenta cuántos elementos tiene una lista o cuántas filas tiene una tabla.
round(valor, n)
Redondea un número a n decimales. Sin n, al entero más cercano.
.sum()
Suma la columna. En una columna de True y False, cuenta los True.
f"... {nombre} ..."
Texto con una f delante. Lo que va entre llaves se reemplaza por su valor al mostrarse.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4.151.930 MWh. Por coincidencia también son 26.352 filas, porque son tres centrales en las dos combinaciones.
DECIR
Si se olvidan los paréntesis, Python da error, porque &amp; se evalúa antes que ==. Por eso cada condición va entre paréntesis.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["a", "b"]
Una lista de textos. Dentro de una instrucción de pandas suele indicar varias columnas a la vez.
==
Dos signos igual preguntan si dos cosas son iguales. Dan True o False. Un solo igual guarda.
&amp;
Se lee y. Con columnas de True y False, queda True solo donde las dos son verdaderas. Cada condición tiene que ir entre paréntesis.
tabla[condición]
Con una columna de True y False adentro, la tabla deja pasar solo las filas con True. Es un filtro.
tabla["columna"]
Corchetes con un nombre entre comillas eligen una columna de la tabla. También eligen una llave de un diccionario.
print( ... )
Muestra en pantalla lo que va dentro. Si van varias cosas separadas por coma, las muestra en una línea con un espacio entre ellas.
len( ... )
Cuenta cuántos elementos tiene una lista o cuántas filas tiene una tabla.
round(valor, n)
Redondea un número a n decimales. Sin n, al entero más cercano.
.sum()
Suma la columna. En una columna de True y False, cuenta los True.
f"... {nombre} ..."
Texto con una f delante. Lo que va entre llaves se reemplaza por su valor al mostrarse.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A la izquierda el orden por potencia instalada, el mismo de la Bienvenida y del Lab 01. A la derecha el orden por energía generada en el año. La línea gruesa es la solar, que baja del segundo al quinto lugar.
DECIR
Potencia es lo máximo que puede dar una central. Energía es lo que de verdad generó.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LÍNEA POR LÍNEA
agrupar_por = "tecnologia" #@param [...]
Se elige si agrupar por tecnología o por región.
por_grupo = gen.groupby(agrupar_por)["mwh"].sum().round()
Junta las filas de cada grupo y suma su generación. Es el mismo groupby de la Bienvenida, ahora con la energía de todo el año. Es lo mismo que una tabla dinámica con el grupo en las filas y la suma de mwh en los valores.
por_grupo.sort_values(ascending=False)
Ordena de mayor a menor.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["a", "b"]
Una lista de textos. Dentro de una instrucción de pandas suele indicar varias columnas a la vez.
.groupby(columna)
Separa las filas en grupos según los valores de la columna. Con una lista, por varias columnas a la vez. Lo que viene después se calcula por grupo.
a.b().c()
Cadena de pasos. Cada punto toma lo que salió a su izquierda y le aplica algo más. Se lee de izquierda a derecha.
.sum()
Suma la columna. En una columna de True y False, cuenta los True.
.round(n)
Redondea a n decimales. Sin n, redondea al entero más cercano, aunque se siga mostrando con .0.
.sort_values( ... )
Ordena. Por defecto de menor a mayor. En una tabla se indica la columna.
ascending=False
Ordena de mayor a menor.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Después la celda ordena con sort_values(ascending=False), de mayor a menor.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["a", "b"]
Una lista de textos. Dentro de una instrucción de pandas suele indicar varias columnas a la vez.
.groupby(columna)
Separa las filas en grupos según los valores de la columna. Con una lista, por varias columnas a la vez. Lo que viene después se calcula por grupo.
a.b().c()
Cadena de pasos. Cada punto toma lo que salió a su izquierda y le aplica algo más. Se lee de izquierda a derecha.
.sum()
Suma la columna. En una columna de True y False, cuenta los True.
.round(n)
Redondea a n decimales. Sin n, redondea al entero más cercano, aunque se siga mostrando con .0.
.sort_values( ... )
Ordena. Por defecto de menor a mayor. En una tabla se indica la columna.
ascending=False
Ordena de mayor a menor.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Hidro 6,1 millones de MWh, gas 5,1 y carbón 4,7. La solar queda quinta con 0,7.
PREGUNTAR
La solar es segunda en potencia instalada. ¿Por qué queda quinta en energía? Porque de noche no genera. Potencia y energía no son lo mismo, como vimos en el Lab 00.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["a", "b"]
Una lista de textos. Dentro de una instrucción de pandas suele indicar varias columnas a la vez.
.groupby(columna)
Separa las filas en grupos según los valores de la columna. Con una lista, por varias columnas a la vez. Lo que viene después se calcula por grupo.
a.b().c()
Cadena de pasos. Cada punto toma lo que salió a su izquierda y le aplica algo más. Se lee de izquierda a derecha.
.sum()
Suma la columna. En una columna de True y False, cuenta los True.
.round(n)
Redondea a n decimales. Sin n, redondea al entero más cercano, aunque se siga mostrando con .0.
.sort_values( ... )
Ordena. Por defecto de menor a mayor. En una tabla se indica la columna.
ascending=False
Ordena de mayor a menor.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CAMBIÓ
Se eligió region. La misma celda agrupa ahora por región.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["a", "b"]
Una lista de textos. Dentro de una instrucción de pandas suele indicar varias columnas a la vez.
.groupby(columna)
Separa las filas en grupos según los valores de la columna. Con una lista, por varias columnas a la vez. Lo que viene después se calcula por grupo.
a.b().c()
Cadena de pasos. Cada punto toma lo que salió a su izquierda y le aplica algo más. Se lee de izquierda a derecha.
.sum()
Suma la columna. En una columna de True y False, cuenta los True.
.round(n)
Redondea a n decimales. Sin n, redondea al entero más cercano, aunque se siga mostrando con .0.
.sort_values( ... )
Ordena. Por defecto de menor a mayor. En una tabla se indica la columna.
ascending=False
Ordena de mayor a menor.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Biobío es la región que más genera, con 8,5 millones de MWh.
DECIR
No se escribió nada nuevo. La lista cambió la pregunta.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["a", "b"]
Una lista de textos. Dentro de una instrucción de pandas suele indicar varias columnas a la vez.
.groupby(columna)
Separa las filas en grupos según los valores de la columna. Con una lista, por varias columnas a la vez. Lo que viene después se calcula por grupo.
a.b().c()
Cadena de pasos. Cada punto toma lo que salió a su izquierda y le aplica algo más. Se lee de izquierda a derecha.
.sum()
Suma la columna. En una columna de True y False, cuenta los True.
.round(n)
Redondea a n decimales. Sin n, redondea al entero más cercano, aunque se siga mostrando con .0.
.sort_values( ... )
Ordena. Por defecto de menor a mayor. En una tabla se indica la columna.
ascending=False
Ordena de mayor a menor.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Es lo mismo que mostró la Bienvenida con la potencia. Aquí se ve con la energía de todo el año.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A la izquierda, una fila por cada combinación de región y tecnología. A la derecha, las tecnologías pasan a ser columnas. Cada color sigue a su región. Las casillas grises no tenían fila y quedan en cero.
DECIR
Es exactamente lo que hace una tabla dinámica de Excel.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LÍNEA POR LÍNEA
cruce = gen.pivot_table(index="region", columns="tecnologia", values="mwh", aggfunc="sum", fill_value=0)
Arma una tabla de doble entrada, igual que una tabla dinámica con dos dimensiones.
index son las filas, columns las columnas, values lo que se calcula y aggfunc cómo se calcula. fill_value=0 pone cero donde la combinación no existe.
cruce.round()
Redondea y muestra.
SINTAXIS DE TODO EL CÓDIGO DE ESTA CELDA
# comentario
Todo lo que va después del signo # es un comentario. Python no lo ejecuta, sirve para explicar el código a quien lo lee.
fill_value=
Qué poner donde la combinación no existe.
nombre = valor
Un solo signo igual guarda. A la izquierda va el nombre y a la derecha lo que se guarda. Si el nombre ya existía, su valor anterior se reemplaza.
.pivot_table( ... )
Tabla de doble entrada, como una tabla dinámica.
index=
Lo que va en las filas.
"texto"
Lo que va entre comillas es texto. Sin comillas, Python lo entiende como un nombre o un número.
columns=
Lo que va en las columnas.
( ... ) en varias líneas
Mientras un paréntesis siga abierto, la instrucción continúa en la línea de abajo. La sangría de esas líneas es solo para que se lea mejor.
values=
La columna que se calcula en cada casilla.
aggfunc=
Cómo se calcula, por ejemplo sum o mean.
.round(n)
Redondea a n decimales. Sin n, redondea al entero más cercano, aunque se siga mostrando con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 las mismas piezas de una tabla dinámica de Excel, lo que va en las filas, lo que va en las columnas, el valor y el cálculo con que se resume.
SINTAXIS DE TODO EL CÓDIGO DE ESTA CELDA
# comentario
Todo lo que va después del signo # es un comentario. Python no lo ejecuta, sirve para explicar el código a quien lo lee.
fill_value=
Qué poner donde la combinación no existe.
nombre = valor
Un solo signo igual guarda. A la izquierda va el nombre y a la derecha lo que se guarda. Si el nombre ya existía, su valor anterior se reemplaza.
.pivot_table( ... )
Tabla de doble entrada, como una tabla dinámica.
index=
Lo que va en las filas.
"texto"
Lo que va entre comillas es texto. Sin comillas, Python lo entiende como un nombre o un número.
columns=
Lo que va en las columnas.
( ... ) en varias líneas
Mientras un paréntesis siga abierto, la instrucción continúa en la línea de abajo. La sangría de esas líneas es solo para que se lea mejor.
values=
La columna que se calcula en cada casilla.
aggfunc=
Cómo se calcula, por ejemplo sum o mean.
.round(n)
Redondea a n decimales. Sin n, redondea al entero más cercano, aunque se siga mostrando con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Siete regiones por seis tecnologías. La mayoría de las casillas son cero, porque cada región tiene pocas tecnologías.
DECIR
Esta forma de tabla sirve para mostrar en un informe. Para seguir calculando conviene la tabla larga.
DECIR
fill_value=0 pone cero donde una región no tiene esa tecnología. Sin eso aparecería NaN, que significa sin dato.
SINTAXIS DE TODO EL CÓDIGO DE ESTA CELDA
# comentario
Todo lo que va después del signo # es un comentario. Python no lo ejecuta, sirve para explicar el código a quien lo lee.
fill_value=
Qué poner donde la combinación no existe.
nombre = valor
Un solo signo igual guarda. A la izquierda va el nombre y a la derecha lo que se guarda. Si el nombre ya existía, su valor anterior se reemplaza.
.pivot_table( ... )
Tabla de doble entrada, como una tabla dinámica.
index=
Lo que va en las filas.
"texto"
Lo que va entre comillas es texto. Sin comillas, Python lo entiende como un nombre o un número.
columns=
Lo que va en las columnas.
( ... ) en varias líneas
Mientras un paréntesis siga abierto, la instrucción continúa en la línea de abajo. La sangría de esas líneas es solo para que se lea mejor.
values=
La columna que se calcula en cada casilla.
aggfunc=
Cómo se calcula, por ejemplo sum o mean.
.round(n)
Redondea a n decimales. Sin n, redondea al entero más cercano, aunque se siga mostrando con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Una central solar y una a gas en un mismo día. La solar parte en cero de noche y sube al mediodía. La de gas está pareja todo el día.
DECIR
Por eso al promediar todas las horas del año la solar queda en 0,080 y el gas en 0,663.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LÍNEA POR LÍNEA
gen["factor_planta"] = gen["mwh"] / gen["potencia_mw"]
Crea una columna nueva dividiendo lo que generó cada central en cada hora por su potencia. Se calcula para las 175.680 filas de una vez, sin ningún for. Es la misma idea del Paso 7 del Lab 00, donde se calculó la energía de cada central.
factor = gen.groupby("tecnologia")["factor_planta"].mean().round(3)
El promedio del factor de planta de cada tecnología.
factor.sort_values(ascending=False)
Ordena de mayor a menor.
SINTAXIS DE TODO EL CÓDIGO DE ESTA CELDA
# comentario
Todo lo que va después del signo # es un comentario. Python no lo ejecuta, sirve para explicar el código a quien lo lee.
/
Divide.
tabla["columna"]
Corchetes con un nombre entre comillas eligen una columna de la tabla. También eligen una llave de un diccionario.
tabla["nueva"] = ...
Guarda el resultado como una columna. Si no existía, la crea.
"texto"
Lo que va entre comillas es texto. Sin comillas, Python lo entiende como un nombre o un número.
nombre = valor
Un solo signo igual guarda. A la izquierda va el nombre y a la derecha lo que se guarda. Si el nombre ya existía, su valor anterior se reemplaza.
.groupby(columna)
Separa las filas en grupos según los valores de la columna. Con una lista, por varias columnas a la vez. Lo que viene después se calcula por grupo.
a.b().c()
Cadena de pasos. Cada punto toma lo que salió a su izquierda y le aplica algo más. Se lee de izquierda a derecha.
.mean()
El promedio. En una columna de True y False, la proporción de True.
.round(n)
Redondea a n decimales. Sin n, redondea al entero más cercano, aunque se siga mostrando con .0.
.sort_values( ... )
Ordena. Por defecto de menor a mayor. En una tabla se indica la columna.
ascending=False
Ordena de mayor a menor.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en el Paso 7 del Lab 00, sin ningún for. pandas aplica la cuenta a todas las filas.
SINTAXIS DE TODO EL CÓDIGO DE ESTA CELDA
# comentario
Todo lo que va después del signo # es un comentario. Python no lo ejecuta, sirve para explicar el código a quien lo lee.
/
Divide.
tabla["columna"]
Corchetes con un nombre entre comillas eligen una columna de la tabla. También eligen una llave de un diccionario.
tabla["nueva"] = ...
Guarda el resultado como una columna. Si no existía, la crea.
"texto"
Lo que va entre comillas es texto. Sin comillas, Python lo entiende como un nombre o un número.
nombre = valor
Un solo signo igual guarda. A la izquierda va el nombre y a la derecha lo que se guarda. Si el nombre ya existía, su valor anterior se reemplaza.
.groupby(columna)
Separa las filas en grupos según los valores de la columna. Con una lista, por varias columnas a la vez. Lo que viene después se calcula por grupo.
a.b().c()
Cadena de pasos. Cada punto toma lo que salió a su izquierda y le aplica algo más. Se lee de izquierda a derecha.
.mean()
El promedio. En una columna de True y False, la proporción de True.
.round(n)
Redondea a n decimales. Sin n, redondea al entero más cercano, aunque se siga mostrando con .0.
.sort_values( ... )
Ordena. Por defecto de menor a mayor. En una tabla se indica la columna.
ascending=False
Ordena de mayor a menor.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Gas 0,663, carbón 0,640 e hidro 0,549. La solar queda última con 0,080.
OJO
En el Lab 00 usamos 0,25 para la solar, que era un valor de ejemplo. Aquí sale 0,080 porque los datos son inventados. No hay que citar estas cifras como datos del sistema real.
DECIR
Lo dice el recuadro amarillo del cuaderno. Sirven para aprender la técnica, no describen el sistema eléctrico real.
SINTAXIS DE TODO EL CÓDIGO DE ESTA CELDA
# comentario
Todo lo que va después del signo # es un comentario. Python no lo ejecuta, sirve para explicar el código a quien lo lee.
/
Divide.
tabla["columna"]
Corchetes con un nombre entre comillas eligen una columna de la tabla. También eligen una llave de un diccionario.
tabla["nueva"] = ...
Guarda el resultado como una columna. Si no existía, la crea.
"texto"
Lo que va entre comillas es texto. Sin comillas, Python lo entiende como un nombre o un número.
nombre = valor
Un solo signo igual guarda. A la izquierda va el nombre y a la derecha lo que se guarda. Si el nombre ya existía, su valor anterior se reemplaza.
.groupby(columna)
Separa las filas en grupos según los valores de la columna. Con una lista, por varias columnas a la vez. Lo que viene después se calcula por grupo.
a.b().c()
Cadena de pasos. Cada punto toma lo que salió a su izquierda y le aplica algo más. Se lee de izquierda a derecha.
.mean()
El promedio. En una columna de True y False, la proporción de True.
.round(n)
Redondea a n decimales. Sin n, redondea al entero más cercano, aunque se siga mostrando con .0.
.sort_values( ... )
Ordena. Por defecto de menor a mayor. En una tabla se indica la columna.
ascending=False
Ordena de mayor a menor.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PASAR ESTA LÁMINA
Aquí termina lo que se ve en clase. Desde esta lámina vienen los estudios de la Parte 2, explicados igual que los pasos, para que los alumnos los repasen en la casa. Cada lámina lleva arriba la etiqueta naranja PARA LA CASA.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dayofweek da un número por día, de 0 a 6. Con &gt;= 5 quedan en True el sábado y el domingo. Después se agrupa por esa columna y se comparan los dos promedios.
DECIR
La caída se calcula sobre el promedio de semana. Por eso se divide por el promedio de False.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LÍNEA POR LÍNEA
demanda = pd.read_csv(DATOS + "demanda.csv", parse_dates=["fecha"])
Lee la demanda de cada hora por región. parse_dates avisa que la columna fecha trae fechas, para poder sacar el día de la semana.
demanda["es_finde"] = demanda["fecha"].dt.dayofweek &gt;= 5
Crea una columna nueva. dayofweek da el día de la semana como número, del 0 para lunes al 6 para domingo. Mayor o igual a 5 es sábado o domingo. La columna queda con verdadero o falso en cada fila.
promedio = demanda.groupby("es_finde")["mwh"].mean()
Separa las filas en dos grupos, día hábil y fin de semana, y saca el promedio de cada uno.
caida = 100 * (1 - promedio[True] / promedio[False])
La diferencia en porcentaje. promedio[True] es el fin de semana y promedio[False] los días hábiles.
{caida:.1f}
Muestra el número con un decimal.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pd.read_csv( ... )
Lee un archivo separado por comas y lo convierte en tabla. pd es pandas.
+
Suma números. Con textos, los junta uno detrás del otro.
"texto"
Lo que va entre comillas es texto. Sin comillas, Python lo entiende como un nombre o un número.
parse_dates=[ ... ]
Las columnas que hay que leer como fecha y no como texto.
&lt; &gt; &lt;= &gt;=
Menor, mayor, menor o igual, mayor o igual. Dan True o False. Con una columna, comparan fila por fila.
*
Multiplica.
-
Resta. Restar dos fechas da el tiempo que pasó entre ellas.
/
Divide.
tabla["columna"]
Corchetes con un nombre entre comillas eligen una columna de la tabla. También eligen una llave de un diccionario.
tabla["nueva"] = ...
Guarda el resultado como una columna. Si no existía, la crea.
.dt.
Abre las herramientas de fecha de la columna.
.dt.dayofweek
El día de la semana como número, 0 el lunes y 6 el domingo.
.groupby(columna)
Separa las filas en grupos según los valores de la columna. Con una lista, por varias columnas a la vez. Lo que viene después se calcula por grupo.
.mean()
El promedio. En una columna de True y False, la proporción de True.
print( ... )
Muestra en pantalla lo que va dentro. Si van varias cosas separadas por coma, las muestra en una línea con un espacio entre ellas.
.round(n)
Redondea a n decimales. Sin n, redondea al entero más cercano, aunque se siga mostrando con .0.
True y False
Verdadero y falso. Al sumarlos, True vale 1 y False vale 0, por eso sumar una columna de True y False cuenta los verdaderos.
f"... {nombre} ..."
Texto con una f delante. Lo que va entre llaves se reemplaza por su valor al mostrarse.
{valor:.1f}
Dentro de las llaves de un texto con f, los dos puntos y .1f muestran el número con un decimal. .2f serían dos decimales.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lámina explica cada pieza de esta línea. Abajo está la sintaxis de toda la celda.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pd.read_csv( ... )
Lee un archivo separado por comas y lo convierte en tabla. pd es pandas.
+
Suma números. Con textos, los junta uno detrás del otro.
"texto"
Lo que va entre comillas es texto. Sin comillas, Python lo entiende como un nombre o un número.
parse_dates=[ ... ]
Las columnas que hay que leer como fecha y no como texto.
&lt; &gt; &lt;= &gt;=
Menor, mayor, menor o igual, mayor o igual. Dan True o False. Con una columna, comparan fila por fila.
*
Multiplica.
-
Resta. Restar dos fechas da el tiempo que pasó entre ellas.
/
Divide.
tabla["columna"]
Corchetes con un nombre entre comillas eligen una columna de la tabla. También eligen una llave de un diccionario.
tabla["nueva"] = ...
Guarda el resultado como una columna. Si no existía, la crea.
.dt.
Abre las herramientas de fecha de la columna.
.dt.dayofweek
El día de la semana como número, 0 el lunes y 6 el domingo.
.groupby(columna)
Separa las filas en grupos según los valores de la columna. Con una lista, por varias columnas a la vez. Lo que viene después se calcula por grupo.
.mean()
El promedio. En una columna de True y False, la proporción de True.
print( ... )
Muestra en pantalla lo que va dentro. Si van varias cosas separadas por coma, las muestra en una línea con un espacio entre ellas.
.round(n)
Redondea a n decimales. Sin n, redondea al entero más cercano, aunque se siga mostrando con .0.
True y False
Verdadero y falso. Al sumarlos, True vale 1 y False vale 0, por eso sumar una columna de True y False cuenta los verdaderos.
f"... {nombre} ..."
Texto con una f delante. Lo que va entre llaves se reemplaza por su valor al mostrarse.
{valor:.1f}
Dentro de las llaves de un texto con f, los dos puntos y .1f muestran el número con un decimal. .2f serían dos decimales.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corchetes eligen por nombre. Aquí los nombres son True y False, sin comillas.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pd.read_csv( ... )
Lee un archivo separado por comas y lo convierte en tabla. pd es pandas.
+
Suma números. Con textos, los junta uno detrás del otro.
"texto"
Lo que va entre comillas es texto. Sin comillas, Python lo entiende como un nombre o un número.
parse_dates=[ ... ]
Las columnas que hay que leer como fecha y no como texto.
&lt; &gt; &lt;= &gt;=
Menor, mayor, menor o igual, mayor o igual. Dan True o False. Con una columna, comparan fila por fila.
*
Multiplica.
-
Resta. Restar dos fechas da el tiempo que pasó entre ellas.
/
Divide.
tabla["columna"]
Corchetes con un nombre entre comillas eligen una columna de la tabla. También eligen una llave de un diccionario.
tabla["nueva"] = ...
Guarda el resultado como una columna. Si no existía, la crea.
.dt.
Abre las herramientas de fecha de la columna.
.dt.dayofweek
El día de la semana como número, 0 el lunes y 6 el domingo.
.groupby(columna)
Separa las filas en grupos según los valores de la columna. Con una lista, por varias columnas a la vez. Lo que viene después se calcula por grupo.
.mean()
El promedio. En una columna de True y False, la proporción de True.
print( ... )
Muestra en pantalla lo que va dentro. Si van varias cosas separadas por coma, las muestra en una línea con un espacio entre ellas.
.round(n)
Redondea a n decimales. Sin n, redondea al entero más cercano, aunque se siga mostrando con .0.
True y False
Verdadero y falso. Al sumarlos, True vale 1 y False vale 0, por eso sumar una columna de True y False cuenta los verdaderos.
f"... {nombre} ..."
Texto con una f delante. Lo que va entre llaves se reemplaza por su valor al mostrarse.
{valor:.1f}
Dentro de las llaves de un texto con f, los dos puntos y .1f muestran el número con un decimal. .2f serían dos decimales.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En día hábil el promedio es 231,2 MWh por región y por hora, y el fin de semana 213,1. Un 7,8 por ciento menos.
DECIR
Esto es una pregunta de negocio respondida en pocas líneas, con un año completo de datos.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pd.read_csv( ... )
Lee un archivo separado por comas y lo convierte en tabla. pd es pandas.
+
Suma números. Con textos, los junta uno detrás del otro.
"texto"
Lo que va entre comillas es texto. Sin comillas, Python lo entiende como un nombre o un número.
parse_dates=[ ... ]
Las columnas que hay que leer como fecha y no como texto.
&lt; &gt; &lt;= &gt;=
Menor, mayor, menor o igual, mayor o igual. Dan True o False. Con una columna, comparan fila por fila.
*
Multiplica.
-
Resta. Restar dos fechas da el tiempo que pasó entre ellas.
/
Divide.
tabla["columna"]
Corchetes con un nombre entre comillas eligen una columna de la tabla. También eligen una llave de un diccionario.
tabla["nueva"] = ...
Guarda el resultado como una columna. Si no existía, la crea.
.dt.
Abre las herramientas de fecha de la columna.
.dt.dayofweek
El día de la semana como número, 0 el lunes y 6 el domingo.
.groupby(columna)
Separa las filas en grupos según los valores de la columna. Con una lista, por varias columnas a la vez. Lo que viene después se calcula por grupo.
.mean()
El promedio. En una columna de True y False, la proporción de True.
print( ... )
Muestra en pantalla lo que va dentro. Si van varias cosas separadas por coma, las muestra en una línea con un espacio entre ellas.
.round(n)
Redondea a n decimales. Sin n, redondea al entero más cercano, aunque se siga mostrando con .0.
True y False
Verdadero y falso. Al sumarlos, True vale 1 y False vale 0, por eso sumar una columna de True y False cuenta los verdaderos.
f"... {nombre} ..."
Texto con una f delante. Lo que va entre llaves se reemplaza por su valor al mostrarse.
{valor:.1f}
Dentro de las llaves de un texto con f, los dos puntos y .1f muestran el número con un decimal. .2f serían dos decimales.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Es el mismo truco del filtro del Paso 2. La diferencia es que aquí la columna de True y False se guarda en la tabla.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Siete filas reales de un mediodía. Primero se separan por tecnología, cada color con su grupo. Después cada grupo queda en una fila con tres cálculos, el total, el promedio y cuántas centrales.
DECIR
En Colab se hace lo mismo con las 175.680 filas del año.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LÍNEA POR LÍNEA
agrupar_por con #@param
Se elige si agrupar por tecnología o por región.
resumen = gen.groupby(agrupar_por).agg(...)
agg calcula varias cosas a la vez. Cada línea de adentro es una columna del resultado. A la izquierda va el nombre que queremos y a la derecha qué columna y qué cálculo.
total_mwh suma la generación, promedio_hora saca el promedio y centrales cuenta cuántas centrales distintas hay con nunique.
resumen.round(1).sort_values("total_mwh", ascending=False)
Redondea y ordena por el total.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["a", "b"]
Una lista de textos. Dentro de una instrucción de pandas suele indicar varias columnas a la vez.
a.b().c()
Cadena de pasos. Cada punto toma lo que salió a su izquierda y le aplica algo más. Se lee de izquierda a derecha.
.groupby(columna)
Separa las filas en grupos según los valores de la columna. Con una lista, por varias columnas a la vez. Lo que viene después se calcula por grupo.
.agg(nombre=("columna", "cálculo"))
Calcula varias cosas por grupo. Cada argumento es una columna del resultado. Con un solo texto a la derecha, el cálculo es sobre la columna ya elegida.
( ... ) en varias líneas
Mientras un paréntesis siga abierto, la instrucción continúa en la línea de abajo. La sangría de esas líneas es solo para que se lea mejor.
.round(n)
Redondea a n decimales. Sin n, redondea al entero más cercano, aunque se siga mostrando con .0.
.sort_values( ... )
Ordena. Por defecto de menor a mayor. En una tabla se indica la columna.
ascending=False
Ordena de mayor a menor.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línea por columna del resumen. Volver al diagrama, que tiene escritas las mismas tres líneas.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["a", "b"]
Una lista de textos. Dentro de una instrucción de pandas suele indicar varias columnas a la vez.
a.b().c()
Cadena de pasos. Cada punto toma lo que salió a su izquierda y le aplica algo más. Se lee de izquierda a derecha.
.groupby(columna)
Separa las filas en grupos según los valores de la columna. Con una lista, por varias columnas a la vez. Lo que viene después se calcula por grupo.
.agg(nombre=("columna", "cálculo"))
Calcula varias cosas por grupo. Cada argumento es una columna del resultado. Con un solo texto a la derecha, el cálculo es sobre la columna ya elegida.
( ... ) en varias líneas
Mientras un paréntesis siga abierto, la instrucción continúa en la línea de abajo. La sangría de esas líneas es solo para que se lea mejor.
.round(n)
Redondea a n decimales. Sin n, redondea al entero más cercano, aunque se siga mostrando con .0.
.sort_values( ... )
Ordena. Por defecto de menor a mayor. En una tabla se indica la columna.
ascending=False
Ordena de mayor a menor.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Por tecnología, hidro tiene 5 centrales y el mayor total.
DECIR
Siempre conviene que un resumen incluya el conteo. Un promedio de dos centrales y uno de cinco se ven iguales en la tabla, y solo el conteo los distingue.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["a", "b"]
Una lista de textos. Dentro de una instrucción de pandas suele indicar varias columnas a la vez.
a.b().c()
Cadena de pasos. Cada punto toma lo que salió a su izquierda y le aplica algo más. Se lee de izquierda a derecha.
.groupby(columna)
Separa las filas en grupos según los valores de la columna. Con una lista, por varias columnas a la vez. Lo que viene después se calcula por grupo.
.agg(nombre=("columna", "cálculo"))
Calcula varias cosas por grupo. Cada argumento es una columna del resultado. Con un solo texto a la derecha, el cálculo es sobre la columna ya elegida.
( ... ) en varias líneas
Mientras un paréntesis siga abierto, la instrucción continúa en la línea de abajo. La sangría de esas líneas es solo para que se lea mejor.
.round(n)
Redondea a n decimales. Sin n, redondea al entero más cercano, aunque se siga mostrando con .0.
.sort_values( ... )
Ordena. Por defecto de menor a mayor. En una tabla se indica la columna.
ascending=False
Ordena de mayor a menor.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CAMBIÓ
Se eligió region. La misma celda resume por región.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["a", "b"]
Una lista de textos. Dentro de una instrucción de pandas suele indicar varias columnas a la vez.
a.b().c()
Cadena de pasos. Cada punto toma lo que salió a su izquierda y le aplica algo más. Se lee de izquierda a derecha.
.groupby(columna)
Separa las filas en grupos según los valores de la columna. Con una lista, por varias columnas a la vez. Lo que viene después se calcula por grupo.
.agg(nombre=("columna", "cálculo"))
Calcula varias cosas por grupo. Cada argumento es una columna del resultado. Con un solo texto a la derecha, el cálculo es sobre la columna ya elegida.
( ... ) en varias líneas
Mientras un paréntesis siga abierto, la instrucción continúa en la línea de abajo. La sangría de esas líneas es solo para que se lea mejor.
.round(n)
Redondea a n decimales. Sin n, redondea al entero más cercano, aunque se siga mostrando con .0.
.sort_values( ... )
Ordena. Por defecto de menor a mayor. En una tabla se indica la columna.
ascending=False
Ordena de mayor a menor.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Biobío encabeza con 5 centrales y 8,5 millones de MWh.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#@param
Marca de Colab, no de Python. Convierte la línea en un formulario, con lista, deslizador, campo o casilla. Para Python sigue siendo un comentario y la variable toma el valor escrito a la izquierda.
#@param [ ... ]
Con una lista de opciones entre corchetes, Colab muestra un desplegable.
["a", "b"]
Una lista de textos. Dentro de una instrucción de pandas suele indicar varias columnas a la vez.
a.b().c()
Cadena de pasos. Cada punto toma lo que salió a su izquierda y le aplica algo más. Se lee de izquierda a derecha.
.groupby(columna)
Separa las filas en grupos según los valores de la columna. Con una lista, por varias columnas a la vez. Lo que viene después se calcula por grupo.
.agg(nombre=("columna", "cálculo"))
Calcula varias cosas por grupo. Cada argumento es una columna del resultado. Con un solo texto a la derecha, el cálculo es sobre la columna ya elegida.
( ... ) en varias líneas
Mientras un paréntesis siga abierto, la instrucción continúa en la línea de abajo. La sangría de esas líneas es solo para que se lea mejor.
.round(n)
Redondea a n decimales. Sin n, redondea al entero más cercano, aunque se siga mostrando con .0.
.sort_values( ... )
Ordena. Por defecto de menor a mayor. En una tabla se indica la columna.
ascending=False
Ordena de mayor a menor.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nunique cuenta centrales distintas. Si un grupo tiene una sola central, su promedio depende de esa sola central.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PREGUNTAR
Que voten. Después se corre y sale 0,979.
NO CORREGIR TODAVÍA
Si alguien dice que entonces la demanda manda sobre el precio, anotarlo y seguir. El Estudio 4 lo responde.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En el diagrama, precios y demanda vienen en distinto orden. Cada flecha une la fila de precios con la de demanda que tiene la misma fecha, la misma hora y la misma región. El color sigue a cada combinación.
DECIR
La hora 0 de Antofagasta no se junta con la hora 0 de Atacama. Tienen que coincidir las 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LÍNEA POR LÍNEA
requests.get(...).json() y pd.DataFrame(respuesta["datos"])
Leen los precios desde el servicio web, igual que en el Estudio 4 del Lab 01.
demanda = pd.read_csv(DATOS + "demanda.csv")
Lee la demanda sin parse_dates. Así la fecha queda como texto, igual que en los precios, y las dos columnas se pueden comparar.
mix = pd.merge(precios, demanda, on=["fecha", "hora", "region"], how="inner")
Une por tres columnas a la vez. Una fila de precio se junta con la fila de demanda de la misma fecha, hora y región. Los precios son solo de enero, así que quedan las horas de enero.
mix["precio_usd_mwh"].corr(mix["mwh"])
La correlación mide si dos columnas se mueven juntas. Va de -1 a 1. Cerca de 1 quiere decir que cuando una sube, la otra también.
SINTAXIS DE TODO EL CÓDIGO DE ESTA CELDA
# comentario
Todo lo que va después del signo # es un comentario. Python no lo ejecuta, sirve para explicar el código a quien lo lee.
+
Suma números. Con textos, los junta uno detrás del otro.
import
Trae una herramienta que no viene cargada desde el comienzo. import pandas as pd la trae y le pone el apodo pd, para escribir menos.
nombre = valor
Un solo signo igual guarda. A la izquierda va el nombre y a la derecha lo que se guarda. Si el nombre ya existía, su valor anterior se reemplaza.
requests.get(dirección)
Pide una dirección a internet, como cuando se abre una página.
a.b().c()
Cadena de pasos. Cada punto toma lo que salió a su izquierda y le aplica algo más. Se lee de izquierda a derecha.
"texto"
Lo que va entre comillas es texto. Sin comillas, Python lo entiende como un nombre o un número.
.json()
Convierte la respuesta en datos de Python, diccionarios y listas.
pd.DataFrame( ... )
Arma una tabla. Con un diccionario de listas, cada llave es una columna. Con una lista de diccionarios, cada diccionario es una fila.
tabla["columna"]
Corchetes con un nombre entre comillas eligen una columna de la tabla. También eligen una llave de un diccionario.
pd.read_csv( ... )
Lee un archivo separado por comas y lo convierte en tabla. pd es pandas.
pd.merge(izquierda, derecha, ...)
Une dos tablas buscando la pareja de cada fila, como el BUSCARV.
on=
La columna, o la lista de columnas, que tienen en común las dos tablas y que se usa para buscar la pareja.
["a", "b"]
Una lista de textos. Dentro de una instrucción de pandas suele indicar varias columnas a la vez.
how=
Qué hacer con las filas que no encuentran pareja. inner deja solo las que están en las dos tablas y left conserva todas las de la tabla izquierda.
print( ... )
Muestra en pantalla lo que va dentro. Si van varias cosas separadas por coma, las muestra en una línea con un espacio entre ellas.
len( ... )
Cuenta cuántos elementos tiene una lista o cuántas filas tiene una tabla.
round(valor, n)
Redondea un número a n decimales. Sin n, al entero más cercano.
.corr(otra)
Correlación entre dos columnas, de -1 a 1. Cerca de 1 suben juntas, cerca de 0 no hay relación.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lámina explica cada pieza de esta línea. Abajo está la sintaxis de toda la celda.
SINTAXIS DE TODO EL CÓDIGO DE ESTA CELDA
# comentario
Todo lo que va después del signo # es un comentario. Python no lo ejecuta, sirve para explicar el código a quien lo lee.
+
Suma números. Con textos, los junta uno detrás del otro.
import
Trae una herramienta que no viene cargada desde el comienzo. import pandas as pd la trae y le pone el apodo pd, para escribir menos.
nombre = valor
Un solo signo igual guarda. A la izquierda va el nombre y a la derecha lo que se guarda. Si el nombre ya existía, su valor anterior se reemplaza.
requests.get(dirección)
Pide una dirección a internet, como cuando se abre una página.
a.b().c()
Cadena de pasos. Cada punto toma lo que salió a su izquierda y le aplica algo más. Se lee de izquierda a derecha.
"texto"
Lo que va entre comillas es texto. Sin comillas, Python lo entiende como un nombre o un número.
.json()
Convierte la respuesta en datos de Python, diccionarios y listas.
pd.DataFrame( ... )
Arma una tabla. Con un diccionario de listas, cada llave es una columna. Con una lista de diccionarios, cada diccionario es una fila.
tabla["columna"]
Corchetes con un nombre entre comillas eligen una columna de la tabla. También eligen una llave de un diccionario.
pd.read_csv( ... )
Lee un archivo separado por comas y lo convierte en tabla. pd es pandas.
pd.merge(izquierda, derecha, ...)
Une dos tablas buscando la pareja de cada fila, como el BUSCARV.
on=
La columna, o la lista de columnas, que tienen en común las dos tablas y que se usa para buscar la pareja.
["a", "b"]
Una lista de textos. Dentro de una instrucción de pandas suele indicar varias columnas a la vez.
how=
Qué hacer con las filas que no encuentran pareja. inner deja solo las que están en las dos tablas y left conserva todas las de la tabla izquierda.
print( ... )
Muestra en pantalla lo que va dentro. Si van varias cosas separadas por coma, las muestra en una línea con un espacio entre ellas.
len( ... )
Cuenta cuántos elementos tiene una lista o cuántas filas tiene una tabla.
round(valor, n)
Redondea un número a n decimales. Sin n, al entero más cercano.
.corr(otra)
Correlación entre dos columnas, de -1 a 1. Cerca de 1 suben juntas, cerca de 0 no hay relación.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Cerca de 1, suben juntos. Cerca de 0, no hay relación. Cerca de -1, cuando uno sube el otro baja.
SINTAXIS DE TODO EL CÓDIGO DE ESTA CELDA
# comentario
Todo lo que va después del signo # es un comentario. Python no lo ejecuta, sirve para explicar el código a quien lo lee.
+
Suma números. Con textos, los junta uno detrás del otro.
import
Trae una herramienta que no viene cargada desde el comienzo. import pandas as pd la trae y le pone el apodo pd, para escribir menos.
nombre = valor
Un solo signo igual guarda. A la izquierda va el nombre y a la derecha lo que se guarda. Si el nombre ya existía, su valor anterior se reemplaza.
requests.get(dirección)
Pide una dirección a internet, como cuando se abre una página.
a.b().c()
Cadena de pasos. Cada punto toma lo que salió a su izquierda y le aplica algo más. Se lee de izquierda a derecha.
"texto"
Lo que va entre comillas es texto. Sin comillas, Python lo entiende como un nombre o un número.
.json()
Convierte la respuesta en datos de Python, diccionarios y listas.
pd.DataFrame( ... )
Arma una tabla. Con un diccionario de listas, cada llave es una columna. Con una lista de diccionarios, cada diccionario es una fila.
tabla["columna"]
Corchetes con un nombre entre comillas eligen una columna de la tabla. También eligen una llave de un diccionario.
pd.read_csv( ... )
Lee un archivo separado por comas y lo convierte en tabla. pd es pandas.
pd.merge(izquierda, derecha, ...)
Une dos tablas buscando la pareja de cada fila, como el BUSCARV.
on=
La columna, o la lista de columnas, que tienen en común las dos tablas y que se usa para buscar la pareja.
["a", "b"]
Una lista de textos. Dentro de una instrucción de pandas suele indicar varias columnas a la vez.
how=
Qué hacer con las filas que no encuentran pareja. inner deja solo las que están en las dos tablas y left conserva todas las de la tabla izquierda.
print( ... )
Muestra en pantalla lo que va dentro. Si van varias cosas separadas por coma, las muestra en una línea con un espacio entre ellas.
len( ... )
Cuenta cuántos elementos tiene una lista o cuántas filas tiene una tabla.
round(valor, n)
Redondea un número a n decimales. Sin n, al entero más cercano.
.corr(otra)
Correlación entre dos columnas, de -1 a 1. Cerca de 1 suben juntas, cerca de 0 no hay relación.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5.208 filas, que son las horas de enero por las siete regiones. La correlación es 0,979, casi perfecta.
PREGUNTAR ANTES DE PASAR AL SIGUIENTE ESTUDIO
¿Qué cifra pondrían en un informe? Dejar que respondan. La mayoría va a decir 0,979.
SINTAXIS DE TODO EL CÓDIGO DE ESTA CELDA
# comentario
Todo lo que va después del signo # es un comentario. Python no lo ejecuta, sirve para explicar el código a quien lo lee.
+
Suma números. Con textos, los junta uno detrás del otro.
import
Trae una herramienta que no viene cargada desde el comienzo. import pandas as pd la trae y le pone el apodo pd, para escribir menos.
nombre = valor
Un solo signo igual guarda. A la izquierda va el nombre y a la derecha lo que se guarda. Si el nombre ya existía, su valor anterior se reemplaza.
requests.get(dirección)
Pide una dirección a internet, como cuando se abre una página.
a.b().c()
Cadena de pasos. Cada punto toma lo que salió a su izquierda y le aplica algo más. Se lee de izquierda a derecha.
"texto"
Lo que va entre comillas es texto. Sin comillas, Python lo entiende como un nombre o un número.
.json()
Convierte la respuesta en datos de Python, diccionarios y listas.
pd.DataFrame( ... )
Arma una tabla. Con un diccionario de listas, cada llave es una columna. Con una lista de diccionarios, cada diccionario es una fila.
tabla["columna"]
Corchetes con un nombre entre comillas eligen una columna de la tabla. También eligen una llave de un diccionario.
pd.read_csv( ... )
Lee un archivo separado por comas y lo convierte en tabla. pd es pandas.
pd.merge(izquierda, derecha, ...)
Une dos tablas buscando la pareja de cada fila, como el BUSCARV.
on=
La columna, o la lista de columnas, que tienen en común las dos tablas y que se usa para buscar la pareja.
["a", "b"]
Una lista de textos. Dentro de una instrucción de pandas suele indicar varias columnas a la vez.
how=
Qué hacer con las filas que no encuentran pareja. inner deja solo las que están en las dos tablas y left conserva todas las de la tabla izquierda.
print( ... )
Muestra en pantalla lo que va dentro. Si van varias cosas separadas por coma, las muestra en una línea con un espacio entre ellas.
len( ... )
Cuenta cuántos elementos tiene una lista o cuántas filas tiene una tabla.
round(valor, n)
Redondea un número a n decimales. Sin n, al entero más cercano.
.corr(otra)
Correlación entre dos columnas, de -1 a 1. Cerca de 1 suben juntas, cerca de 0 no hay relación.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Si se uniera solo por fecha, cada precio calzaría con todas las horas y todas las regiones de ese día, y las filas se multiplicarían. Por eso se une por las tres columnas a la vez.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Todos los puntos en gris, sin distinguir región. Se ven alineados, de abajo a la izquierda hacia arriba a la derecha. Eso es lo que mide el 0,979.
DECIR
Con este gráfico cualquiera diría que cuando sube la demanda sube el precio, casi siempre.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PREGUNTAR
Que voten antes de correr la celda. Casi todos van a decir parecido.
CÓMO SIGUE
Se corre con la Metropolitana, 0,917, y después con Atacama, 0,125. Después vienen las dos láminas que explican por qué.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LÍNEA POR LÍNEA
region con #@param
Desplegable con las siete regiones.
una = mix[mix["region"] == region]
Deja solo las filas de la región elegida.
correlacion = round(una["precio_usd_mwh"].corr(una["mwh"]), 3)
La misma correlación del estudio anterior, pero dentro de una sola región.
Los print
Muestran la correlación de la región al lado de la de todas juntas, para compararlas.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
Dos signos igual preguntan si dos cosas son iguales. Dan True o False. Un solo igual guarda.
#@param
Marca de Colab, no de Python. Convierte la línea en un formulario, con lista, deslizador, campo o casilla. Para Python sigue siendo un comentario y la variable toma el valor escrito a la izquierda.
#@param [ ... ]
Con una lista de opciones entre corchetes, Colab muestra un desplegable.
["a", "b"]
Una lista de textos. Dentro de una instrucción de pandas suele indicar varias columnas a la vez.
tabla[condición]
Con una columna de True y False adentro, la tabla deja pasar solo las filas con True. Es un filtro.
tabla["columna"]
Corchetes con un nombre entre comillas eligen una columna de la tabla. También eligen una llave de un diccionario.
round(valor, n)
Redondea un número a n decimales. Sin n, al entero más cercano.
.corr(otra)
Correlación entre dos columnas, de -1 a 1. Cerca de 1 suben juntas, cerca de 0 no hay relación.
print( ... )
Muestra en pantalla lo que va dentro. Si van varias cosas separadas por coma, las muestra en una línea con un espacio entre ellas.
f"... {nombre} ..."
Texto con una f delante. Lo que va entre llaves se reemplaza por su valor al mostrarse.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un filtro como el del Paso 2, con una sola condición.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
Dos signos igual preguntan si dos cosas son iguales. Dan True o False. Un solo igual guarda.
#@param
Marca de Colab, no de Python. Convierte la línea en un formulario, con lista, deslizador, campo o casilla. Para Python sigue siendo un comentario y la variable toma el valor escrito a la izquierda.
#@param [ ... ]
Con una lista de opciones entre corchetes, Colab muestra un desplegable.
["a", "b"]
Una lista de textos. Dentro de una instrucción de pandas suele indicar varias columnas a la vez.
tabla[condición]
Con una columna de True y False adentro, la tabla deja pasar solo las filas con True. Es un filtro.
tabla["columna"]
Corchetes con un nombre entre comillas eligen una columna de la tabla. También eligen una llave de un diccionario.
round(valor, n)
Redondea un número a n decimales. Sin n, al entero más cercano.
.corr(otra)
Correlación entre dos columnas, de -1 a 1. Cerca de 1 suben juntas, cerca de 0 no hay relación.
print( ... )
Muestra en pantalla lo que va dentro. Si van varias cosas separadas por coma, las muestra en una línea con un espacio entre ellas.
f"... {nombre} ..."
Texto con una f delante. Lo que va entre llaves se reemplaza por su valor al mostrarse.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Dentro de la Metropolitana es 0,917. Sigue alta, pero ya no es 0,979.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
Dos signos igual preguntan si dos cosas son iguales. Dan True o False. Un solo igual guarda.
#@param
Marca de Colab, no de Python. Convierte la línea en un formulario, con lista, deslizador, campo o casilla. Para Python sigue siendo un comentario y la variable toma el valor escrito a la izquierda.
#@param [ ... ]
Con una lista de opciones entre corchetes, Colab muestra un desplegable.
["a", "b"]
Una lista de textos. Dentro de una instrucción de pandas suele indicar varias columnas a la vez.
tabla[condición]
Con una columna de True y False adentro, la tabla deja pasar solo las filas con True. Es un filtro.
tabla["columna"]
Corchetes con un nombre entre comillas eligen una columna de la tabla. También eligen una llave de un diccionario.
round(valor, n)
Redondea un número a n decimales. Sin n, al entero más cercano.
.corr(otra)
Correlación entre dos columnas, de -1 a 1. Cerca de 1 suben juntas, cerca de 0 no hay relación.
print( ... )
Muestra en pantalla lo que va dentro. Si van varias cosas separadas por coma, las muestra en una línea con un espacio entre ellas.
f"... {nombre} ..."
Texto con una f delante. Lo que va entre llaves se reemplaza por su valor al mostrarse.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CAMBIÓ
Se eligió Atacama.
PREGUNTAR ANTES DE CORRER
¿Creen que va a dar parecido a 0,979?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
Dos signos igual preguntan si dos cosas son iguales. Dan True o False. Un solo igual guarda.
#@param
Marca de Colab, no de Python. Convierte la línea en un formulario, con lista, deslizador, campo o casilla. Para Python sigue siendo un comentario y la variable toma el valor escrito a la izquierda.
#@param [ ... ]
Con una lista de opciones entre corchetes, Colab muestra un desplegable.
["a", "b"]
Una lista de textos. Dentro de una instrucción de pandas suele indicar varias columnas a la vez.
tabla[condición]
Con una columna de True y False adentro, la tabla deja pasar solo las filas con True. Es un filtro.
tabla["columna"]
Corchetes con un nombre entre comillas eligen una columna de la tabla. También eligen una llave de un diccionario.
round(valor, n)
Redondea un número a n decimales. Sin n, al entero más cercano.
.corr(otra)
Correlación entre dos columnas, de -1 a 1. Cerca de 1 suben juntas, cerca de 0 no hay relación.
print( ... )
Muestra en pantalla lo que va dentro. Si van varias cosas separadas por coma, las muestra en una línea con un espacio entre ellas.
f"... {nombre} ..."
Texto con una f delante. Lo que va entre llaves se reemplaza por su valor al mostrarse.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Dentro de Atacama es 0,125. Casi no hay relación.
EXPLICAR
Las regiones grandes tienen a la vez más demanda y precios más altos. Al juntarlas todas, esa diferencia de tamaño dibuja una línea casi recta, aunque dentro de cada región la relación sea más débil.
Este es el momento más importante del módulo. El número no está mal calculado, está mal leído.
Preguntar si en su trabajo han visto cifras globales que esconden diferencias entre regiones, áreas o productos.
SINTAXIS DE TODO EL CÓDIGO DE ESTA CELDA
# comentario
Todo lo que va después del signo # es un comentario. Python no lo ejecuta, sirve para explicar el código a quien lo lee.
nombre = valor
Un solo signo igual guarda. A la izquierda va el nombre y a la derecha lo que se guarda. Si el nombre ya existía, su valor anterior se reemplaza.
"texto"
Lo que va entre comillas es texto. Sin comillas, Python lo entiende como un nombre o un número.
==
Dos signos igual preguntan si dos cosas son iguales. Dan True o False. Un solo igual guarda.
#@param
Marca de Colab, no de Python. Convierte la línea en un formulario, con lista, deslizador, campo o casilla. Para Python sigue siendo un comentario y la variable toma el valor escrito a la izquierda.
#@param [ ... ]
Con una lista de opciones entre corchetes, Colab muestra un desplegable.
["a", "b"]
Una lista de textos. Dentro de una instrucción de pandas suele indicar varias columnas a la vez.
tabla[condición]
Con una columna de True y False adentro, la tabla deja pasar solo las filas con True. Es un filtro.
tabla["columna"]
Corchetes con un nombre entre comillas eligen una columna de la tabla. También eligen una llave de un diccionario.
round(valor, n)
Redondea un número a n decimales. Sin n, al entero más cercano.
.corr(otra)
Correlación entre dos columnas, de -1 a 1. Cerca de 1 suben juntas, cerca de 0 no hay relación.
print( ... )
Muestra en pantalla lo que va dentro. Si van varias cosas separadas por coma, las muestra en una línea con un espacio entre ellas.
f"... {nombre} ..."
Texto con una f delante. Lo que va entre llaves se reemplaza por su valor al mostrarse.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Los mismos 5.208 puntos de la lámina gris, ahora con un color por región. La línea la forman dos grupos. La Metropolitana sola arriba a la derecha y las otras seis amontonadas abajo a la izquierda.
DECIR
La Metropolitana consume y paga mucho más que las demás. Al juntarla con regiones mucho más chicas, esa diferencia de tamaño dibuja la línea. No es que en cada región el precio siga a la demanda.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Una barra por región y la línea roja del 0,979 de todas juntas. Ninguna barra llega a la línea. Atacama 0,125, Antofagasta 0,199, Coquimbo 0,203, Los Lagos 0,300, Biobío 0,455, Valparaíso 0,517 y Metropolitana 0,917.
DECIR
El 0,979 no está mal calculado, está mal leído. Antes de informar una cifra global, se mira por grupo.
PREGUNTAR
¿Han visto en su trabajo cifras globales que esconden diferencias entre regiones, áreas o productos?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Pegar en el chat el enlace del Lab 02 guiado. El Paso 1 demora unos segundos porque lee la generación de todo el año.
CIERRE
La idea que se tienen que llevar es que filtrar, agrupar y calcular una columna nueva se hacen sobre la tabla entera, con una línea cada uno.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62"/>
        </a:solidFill>
      </p:bgPr>
    </p:bg>
    <p:spTree>
      <p:nvGrpSpPr>
        <p:cNvPr id="1" name=""/>
        <p:cNvGrpSpPr/>
        <p:nvPr/>
      </p:nvGrpSpPr>
      <p:grpSpPr>
        <a:xfrm>
          <a:off x="0" y="0"/>
          <a:ext cx="0" cy="0"/>
          <a:chOff x="0" y="0"/>
          <a:chExt cx="0" cy="0"/>
        </a:xfrm>
      </p:grpSpPr>
      <p:sp>
        <p:nvSpPr>
          <p:cNvPr id="2" name="Text 0"/>
          <p:cNvSpPr txBox="1"/>
          <p:nvPr/>
        </p:nvSpPr>
        <p:spPr>
          <a:xfrm>
            <a:off x="731520" y="1280160"/>
            <a:ext cx="1069848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Lab 02 guiado · Manipulación de datos</a:t>
            </a:r>
            <a:endParaRPr lang="en-US" sz="4000" dirty="0"/>
          </a:p>
        </p:txBody>
      </p:sp>
      <p:sp>
        <p:nvSpPr>
          <p:cNvPr id="3" name="Text 1"/>
          <p:cNvSpPr txBox="1"/>
          <p:nvPr/>
        </p:nvSpPr>
        <p:spPr>
          <a:xfrm>
            <a:off x="731520" y="2148840"/>
            <a:ext cx="10698480" cy="45720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Parte 1 en clase, 5 pasos · Parte 2 para la casa, 4 estudios</a:t>
            </a:r>
            <a:endParaRPr lang="en-US" sz="2000" dirty="0"/>
          </a:p>
        </p:txBody>
      </p:sp>
      <p:sp>
        <p:nvSpPr>
          <p:cNvPr id="4" name="Shape 2"/>
          <p:cNvSpPr/>
          <p:nvPr/>
        </p:nvSpPr>
        <p:spPr>
          <a:xfrm>
            <a:off x="731520" y="3200400"/>
            <a:ext cx="502920" cy="502920"/>
          </a:xfrm>
          <a:prstGeom prst="ellipse">
            <a:avLst/>
          </a:prstGeom>
          <a:solidFill>
            <a:srgbClr val="F9AB00"/>
          </a:solidFill>
          <a:ln w="12700">
            <a:solidFill>
              <a:srgbClr val="F9AB00"/>
            </a:solidFill>
            <a:prstDash val="solid"/>
          </a:ln>
        </p:spPr>
      </p:sp>
      <p:sp>
        <p:nvSpPr>
          <p:cNvPr id="5" name="Text 3"/>
          <p:cNvSpPr txBox="1"/>
          <p:nvPr/>
        </p:nvSpPr>
        <p:spPr>
          <a:xfrm>
            <a:off x="731520" y="3200400"/>
            <a:ext cx="502920" cy="502920"/>
          </a:xfrm>
          <a:prstGeom prst="rect">
            <a:avLst/>
          </a:prstGeom>
          <a:noFill/>
          <a:ln/>
        </p:spPr>
        <p:txBody>
          <a:bodyPr wrap="square" lIns="0" tIns="0" rIns="0" bIns="0" rtlCol="0" anchor="ctr"/>
          <a:lstStyle/>
          <a:p>
            <a:pPr algn="ctr" indent="0" marL="0">
              <a:buNone/>
            </a:pPr>
            <a:r>
              <a:rPr lang="en-US" sz="1600" b="1" dirty="0">
                <a:solidFill>
                  <a:srgbClr val="0B3D62"/>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463040" y="3200400"/>
            <a:ext cx="9601200" cy="50292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Cada paso se muestra primero aquí. Un clic avanza.</a:t>
            </a:r>
            <a:endParaRPr lang="en-US" sz="1800" dirty="0"/>
          </a:p>
        </p:txBody>
      </p:sp>
      <p:sp>
        <p:nvSpPr>
          <p:cNvPr id="7" name="Shape 5"/>
          <p:cNvSpPr/>
          <p:nvPr/>
        </p:nvSpPr>
        <p:spPr>
          <a:xfrm>
            <a:off x="731520" y="3977640"/>
            <a:ext cx="502920" cy="502920"/>
          </a:xfrm>
          <a:prstGeom prst="ellipse">
            <a:avLst/>
          </a:prstGeom>
          <a:solidFill>
            <a:srgbClr val="F9AB00"/>
          </a:solidFill>
          <a:ln w="12700">
            <a:solidFill>
              <a:srgbClr val="F9AB00"/>
            </a:solidFill>
            <a:prstDash val="solid"/>
          </a:ln>
        </p:spPr>
      </p:sp>
      <p:sp>
        <p:nvSpPr>
          <p:cNvPr id="8" name="Text 6"/>
          <p:cNvSpPr txBox="1"/>
          <p:nvPr/>
        </p:nvSpPr>
        <p:spPr>
          <a:xfrm>
            <a:off x="731520" y="3977640"/>
            <a:ext cx="502920" cy="502920"/>
          </a:xfrm>
          <a:prstGeom prst="rect">
            <a:avLst/>
          </a:prstGeom>
          <a:noFill/>
          <a:ln/>
        </p:spPr>
        <p:txBody>
          <a:bodyPr wrap="square" lIns="0" tIns="0" rIns="0" bIns="0" rtlCol="0" anchor="ctr"/>
          <a:lstStyle/>
          <a:p>
            <a:pPr algn="ctr" indent="0" marL="0">
              <a:buNone/>
            </a:pPr>
            <a:r>
              <a:rPr lang="en-US" sz="1600" b="1" dirty="0">
                <a:solidFill>
                  <a:srgbClr val="0B3D62"/>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463040" y="3977640"/>
            <a:ext cx="9601200" cy="50292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Abajo aparece lo que Python recuerda, que en Colab no se ve.</a:t>
            </a:r>
            <a:endParaRPr lang="en-US" sz="1800" dirty="0"/>
          </a:p>
        </p:txBody>
      </p:sp>
      <p:sp>
        <p:nvSpPr>
          <p:cNvPr id="10" name="Shape 8"/>
          <p:cNvSpPr/>
          <p:nvPr/>
        </p:nvSpPr>
        <p:spPr>
          <a:xfrm>
            <a:off x="731520" y="4754880"/>
            <a:ext cx="502920" cy="502920"/>
          </a:xfrm>
          <a:prstGeom prst="ellipse">
            <a:avLst/>
          </a:prstGeom>
          <a:solidFill>
            <a:srgbClr val="F9AB00"/>
          </a:solidFill>
          <a:ln w="12700">
            <a:solidFill>
              <a:srgbClr val="F9AB00"/>
            </a:solidFill>
            <a:prstDash val="solid"/>
          </a:ln>
        </p:spPr>
      </p:sp>
      <p:sp>
        <p:nvSpPr>
          <p:cNvPr id="11" name="Text 9"/>
          <p:cNvSpPr txBox="1"/>
          <p:nvPr/>
        </p:nvSpPr>
        <p:spPr>
          <a:xfrm>
            <a:off x="731520" y="4754880"/>
            <a:ext cx="502920" cy="502920"/>
          </a:xfrm>
          <a:prstGeom prst="rect">
            <a:avLst/>
          </a:prstGeom>
          <a:noFill/>
          <a:ln/>
        </p:spPr>
        <p:txBody>
          <a:bodyPr wrap="square" lIns="0" tIns="0" rIns="0" bIns="0" rtlCol="0" anchor="ctr"/>
          <a:lstStyle/>
          <a:p>
            <a:pPr algn="ctr" indent="0" marL="0">
              <a:buNone/>
            </a:pPr>
            <a:r>
              <a:rPr lang="en-US" sz="1600" b="1" dirty="0">
                <a:solidFill>
                  <a:srgbClr val="0B3D62"/>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463040" y="4754880"/>
            <a:ext cx="9601200" cy="50292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Después lo hacen en Colab, y les tiene que salir igual.</a:t>
            </a:r>
            <a:endParaRPr lang="en-US" sz="1800" dirty="0"/>
          </a:p>
        </p:txBody>
      </p:sp>
      <p:sp>
        <p:nvSpPr>
          <p:cNvPr id="14" name="Text 11"/>
          <p:cNvSpPr txBox="1"/>
          <p:nvPr/>
        </p:nvSpPr>
        <p:spPr>
          <a:xfrm>
            <a:off x="731520" y="6126480"/>
            <a:ext cx="1069848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Análisis Avanzado de Datos con Python · Subsecretaría de Energía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3D62"/>
        </a:solidFill>
      </p:bgPr>
    </p:bg>
    <p:spTree>
      <p:nvGrpSpPr>
        <p:cNvPr id="1" name=""/>
        <p:cNvGrpSpPr/>
        <p:nvPr/>
      </p:nvGrpSpPr>
      <p:grpSpPr>
        <a:xfrm>
          <a:off x="0" y="0"/>
          <a:ext cx="0" cy="0"/>
          <a:chOff x="0" y="0"/>
          <a:chExt cx="0" cy="0"/>
        </a:xfrm>
      </p:grpSpPr>
      <p:sp>
        <p:nvSpPr>
          <p:cNvPr id="2" name="Text 0"/>
          <p:cNvSpPr txBox="1"/>
          <p:nvPr/>
        </p:nvSpPr>
        <p:spPr>
          <a:xfrm>
            <a:off x="731520" y="548640"/>
            <a:ext cx="1069848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PARTE 1 · EN CLASE</a:t>
            </a:r>
            <a:endParaRPr lang="en-US" sz="4400" dirty="0"/>
          </a:p>
        </p:txBody>
      </p:sp>
      <p:sp>
        <p:nvSpPr>
          <p:cNvPr id="3" name="Text 1"/>
          <p:cNvSpPr txBox="1"/>
          <p:nvPr/>
        </p:nvSpPr>
        <p:spPr>
          <a:xfrm>
            <a:off x="731520" y="1371600"/>
            <a:ext cx="10698480" cy="45720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Hoy hacemos estos 5 pasos, juntos, con estas láminas y después en Colab.</a:t>
            </a:r>
            <a:endParaRPr lang="en-US" sz="2000" dirty="0"/>
          </a:p>
        </p:txBody>
      </p:sp>
      <p:sp>
        <p:nvSpPr>
          <p:cNvPr id="4" name="Shape 2"/>
          <p:cNvSpPr/>
          <p:nvPr/>
        </p:nvSpPr>
        <p:spPr>
          <a:xfrm>
            <a:off x="731520" y="2240280"/>
            <a:ext cx="548640" cy="548640"/>
          </a:xfrm>
          <a:prstGeom prst="ellipse">
            <a:avLst/>
          </a:prstGeom>
          <a:solidFill>
            <a:srgbClr val="F9AB00"/>
          </a:solidFill>
          <a:ln w="12700">
            <a:solidFill>
              <a:srgbClr val="F9AB00"/>
            </a:solidFill>
            <a:prstDash val="solid"/>
          </a:ln>
        </p:spPr>
      </p:sp>
      <p:sp>
        <p:nvSpPr>
          <p:cNvPr id="5" name="Text 3"/>
          <p:cNvSpPr txBox="1"/>
          <p:nvPr/>
        </p:nvSpPr>
        <p:spPr>
          <a:xfrm>
            <a:off x="731520" y="2240280"/>
            <a:ext cx="548640" cy="548640"/>
          </a:xfrm>
          <a:prstGeom prst="rect">
            <a:avLst/>
          </a:prstGeom>
          <a:noFill/>
          <a:ln/>
        </p:spPr>
        <p:txBody>
          <a:bodyPr wrap="square" lIns="0" tIns="0" rIns="0" bIns="0" rtlCol="0" anchor="ctr"/>
          <a:lstStyle/>
          <a:p>
            <a:pPr algn="ctr" indent="0" marL="0">
              <a:buNone/>
            </a:pPr>
            <a:r>
              <a:rPr lang="en-US" sz="2000" b="1" dirty="0">
                <a:solidFill>
                  <a:srgbClr val="0B3D62"/>
                </a:solidFill>
                <a:latin typeface="Calibri" pitchFamily="34" charset="0"/>
                <a:ea typeface="Calibri" pitchFamily="34" charset="-122"/>
                <a:cs typeface="Calibri" pitchFamily="34" charset="-120"/>
              </a:rPr>
              <a:t>1</a:t>
            </a:r>
            <a:endParaRPr lang="en-US" sz="2000" dirty="0"/>
          </a:p>
        </p:txBody>
      </p:sp>
      <p:sp>
        <p:nvSpPr>
          <p:cNvPr id="6" name="Text 4"/>
          <p:cNvSpPr txBox="1"/>
          <p:nvPr/>
        </p:nvSpPr>
        <p:spPr>
          <a:xfrm>
            <a:off x="1508760" y="2240280"/>
            <a:ext cx="996696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Paso 1   </a:t>
            </a:r>
            <a:pPr indent="0" marL="0">
              <a:buNone/>
            </a:pPr>
            <a:r>
              <a:rPr lang="en-US" sz="2400" dirty="0">
                <a:solidFill>
                  <a:srgbClr val="FFFFFF"/>
                </a:solidFill>
                <a:latin typeface="Calibri" pitchFamily="34" charset="0"/>
                <a:ea typeface="Calibri" pitchFamily="34" charset="-122"/>
                <a:cs typeface="Calibri" pitchFamily="34" charset="-120"/>
              </a:rPr>
              <a:t>¿Con qué datos vamos a trabajar?</a:t>
            </a:r>
            <a:endParaRPr lang="en-US" sz="2400" dirty="0"/>
          </a:p>
        </p:txBody>
      </p:sp>
      <p:sp>
        <p:nvSpPr>
          <p:cNvPr id="7" name="Shape 5"/>
          <p:cNvSpPr/>
          <p:nvPr/>
        </p:nvSpPr>
        <p:spPr>
          <a:xfrm>
            <a:off x="731520" y="3017520"/>
            <a:ext cx="548640" cy="548640"/>
          </a:xfrm>
          <a:prstGeom prst="ellipse">
            <a:avLst/>
          </a:prstGeom>
          <a:solidFill>
            <a:srgbClr val="F9AB00"/>
          </a:solidFill>
          <a:ln w="12700">
            <a:solidFill>
              <a:srgbClr val="F9AB00"/>
            </a:solidFill>
            <a:prstDash val="solid"/>
          </a:ln>
        </p:spPr>
      </p:sp>
      <p:sp>
        <p:nvSpPr>
          <p:cNvPr id="8" name="Text 6"/>
          <p:cNvSpPr txBox="1"/>
          <p:nvPr/>
        </p:nvSpPr>
        <p:spPr>
          <a:xfrm>
            <a:off x="731520" y="3017520"/>
            <a:ext cx="548640" cy="548640"/>
          </a:xfrm>
          <a:prstGeom prst="rect">
            <a:avLst/>
          </a:prstGeom>
          <a:noFill/>
          <a:ln/>
        </p:spPr>
        <p:txBody>
          <a:bodyPr wrap="square" lIns="0" tIns="0" rIns="0" bIns="0" rtlCol="0" anchor="ctr"/>
          <a:lstStyle/>
          <a:p>
            <a:pPr algn="ctr" indent="0" marL="0">
              <a:buNone/>
            </a:pPr>
            <a:r>
              <a:rPr lang="en-US" sz="2000" b="1" dirty="0">
                <a:solidFill>
                  <a:srgbClr val="0B3D62"/>
                </a:solidFill>
                <a:latin typeface="Calibri" pitchFamily="34" charset="0"/>
                <a:ea typeface="Calibri" pitchFamily="34" charset="-122"/>
                <a:cs typeface="Calibri" pitchFamily="34" charset="-120"/>
              </a:rPr>
              <a:t>2</a:t>
            </a:r>
            <a:endParaRPr lang="en-US" sz="2000" dirty="0"/>
          </a:p>
        </p:txBody>
      </p:sp>
      <p:sp>
        <p:nvSpPr>
          <p:cNvPr id="9" name="Text 7"/>
          <p:cNvSpPr txBox="1"/>
          <p:nvPr/>
        </p:nvSpPr>
        <p:spPr>
          <a:xfrm>
            <a:off x="1508760" y="3017520"/>
            <a:ext cx="996696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Paso 2   </a:t>
            </a:r>
            <a:pPr indent="0" marL="0">
              <a:buNone/>
            </a:pPr>
            <a:r>
              <a:rPr lang="en-US" sz="2400" dirty="0">
                <a:solidFill>
                  <a:srgbClr val="FFFFFF"/>
                </a:solidFill>
                <a:latin typeface="Calibri" pitchFamily="34" charset="0"/>
                <a:ea typeface="Calibri" pitchFamily="34" charset="-122"/>
                <a:cs typeface="Calibri" pitchFamily="34" charset="-120"/>
              </a:rPr>
              <a:t>Tu turno, filtra con dos condiciones</a:t>
            </a:r>
            <a:endParaRPr lang="en-US" sz="2400" dirty="0"/>
          </a:p>
        </p:txBody>
      </p:sp>
      <p:sp>
        <p:nvSpPr>
          <p:cNvPr id="10" name="Shape 8"/>
          <p:cNvSpPr/>
          <p:nvPr/>
        </p:nvSpPr>
        <p:spPr>
          <a:xfrm>
            <a:off x="731520" y="3794760"/>
            <a:ext cx="548640" cy="548640"/>
          </a:xfrm>
          <a:prstGeom prst="ellipse">
            <a:avLst/>
          </a:prstGeom>
          <a:solidFill>
            <a:srgbClr val="F9AB00"/>
          </a:solidFill>
          <a:ln w="12700">
            <a:solidFill>
              <a:srgbClr val="F9AB00"/>
            </a:solidFill>
            <a:prstDash val="solid"/>
          </a:ln>
        </p:spPr>
      </p:sp>
      <p:sp>
        <p:nvSpPr>
          <p:cNvPr id="11" name="Text 9"/>
          <p:cNvSpPr txBox="1"/>
          <p:nvPr/>
        </p:nvSpPr>
        <p:spPr>
          <a:xfrm>
            <a:off x="731520" y="3794760"/>
            <a:ext cx="548640" cy="548640"/>
          </a:xfrm>
          <a:prstGeom prst="rect">
            <a:avLst/>
          </a:prstGeom>
          <a:noFill/>
          <a:ln/>
        </p:spPr>
        <p:txBody>
          <a:bodyPr wrap="square" lIns="0" tIns="0" rIns="0" bIns="0" rtlCol="0" anchor="ctr"/>
          <a:lstStyle/>
          <a:p>
            <a:pPr algn="ctr" indent="0" marL="0">
              <a:buNone/>
            </a:pPr>
            <a:r>
              <a:rPr lang="en-US" sz="2000" b="1" dirty="0">
                <a:solidFill>
                  <a:srgbClr val="0B3D62"/>
                </a:solidFill>
                <a:latin typeface="Calibri" pitchFamily="34" charset="0"/>
                <a:ea typeface="Calibri" pitchFamily="34" charset="-122"/>
                <a:cs typeface="Calibri" pitchFamily="34" charset="-120"/>
              </a:rPr>
              <a:t>3</a:t>
            </a:r>
            <a:endParaRPr lang="en-US" sz="2000" dirty="0"/>
          </a:p>
        </p:txBody>
      </p:sp>
      <p:sp>
        <p:nvSpPr>
          <p:cNvPr id="12" name="Text 10"/>
          <p:cNvSpPr txBox="1"/>
          <p:nvPr/>
        </p:nvSpPr>
        <p:spPr>
          <a:xfrm>
            <a:off x="1508760" y="3794760"/>
            <a:ext cx="996696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Paso 3   </a:t>
            </a:r>
            <a:pPr indent="0" marL="0">
              <a:buNone/>
            </a:pPr>
            <a:r>
              <a:rPr lang="en-US" sz="2400" dirty="0">
                <a:solidFill>
                  <a:srgbClr val="FFFFFF"/>
                </a:solidFill>
                <a:latin typeface="Calibri" pitchFamily="34" charset="0"/>
                <a:ea typeface="Calibri" pitchFamily="34" charset="-122"/>
                <a:cs typeface="Calibri" pitchFamily="34" charset="-120"/>
              </a:rPr>
              <a:t>Tu turno, ¿cuánto generó cada grupo en el año?</a:t>
            </a:r>
            <a:endParaRPr lang="en-US" sz="2400" dirty="0"/>
          </a:p>
        </p:txBody>
      </p:sp>
      <p:sp>
        <p:nvSpPr>
          <p:cNvPr id="13" name="Shape 11"/>
          <p:cNvSpPr/>
          <p:nvPr/>
        </p:nvSpPr>
        <p:spPr>
          <a:xfrm>
            <a:off x="731520" y="4572000"/>
            <a:ext cx="548640" cy="548640"/>
          </a:xfrm>
          <a:prstGeom prst="ellipse">
            <a:avLst/>
          </a:prstGeom>
          <a:solidFill>
            <a:srgbClr val="F9AB00"/>
          </a:solidFill>
          <a:ln w="12700">
            <a:solidFill>
              <a:srgbClr val="F9AB00"/>
            </a:solidFill>
            <a:prstDash val="solid"/>
          </a:ln>
        </p:spPr>
      </p:sp>
      <p:sp>
        <p:nvSpPr>
          <p:cNvPr id="14" name="Text 12"/>
          <p:cNvSpPr txBox="1"/>
          <p:nvPr/>
        </p:nvSpPr>
        <p:spPr>
          <a:xfrm>
            <a:off x="731520" y="4572000"/>
            <a:ext cx="548640" cy="548640"/>
          </a:xfrm>
          <a:prstGeom prst="rect">
            <a:avLst/>
          </a:prstGeom>
          <a:noFill/>
          <a:ln/>
        </p:spPr>
        <p:txBody>
          <a:bodyPr wrap="square" lIns="0" tIns="0" rIns="0" bIns="0" rtlCol="0" anchor="ctr"/>
          <a:lstStyle/>
          <a:p>
            <a:pPr algn="ctr" indent="0" marL="0">
              <a:buNone/>
            </a:pPr>
            <a:r>
              <a:rPr lang="en-US" sz="2000" b="1" dirty="0">
                <a:solidFill>
                  <a:srgbClr val="0B3D62"/>
                </a:solidFill>
                <a:latin typeface="Calibri" pitchFamily="34" charset="0"/>
                <a:ea typeface="Calibri" pitchFamily="34" charset="-122"/>
                <a:cs typeface="Calibri" pitchFamily="34" charset="-120"/>
              </a:rPr>
              <a:t>4</a:t>
            </a:r>
            <a:endParaRPr lang="en-US" sz="2000" dirty="0"/>
          </a:p>
        </p:txBody>
      </p:sp>
      <p:sp>
        <p:nvSpPr>
          <p:cNvPr id="15" name="Text 13"/>
          <p:cNvSpPr txBox="1"/>
          <p:nvPr/>
        </p:nvSpPr>
        <p:spPr>
          <a:xfrm>
            <a:off x="1508760" y="4572000"/>
            <a:ext cx="996696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Paso 4   </a:t>
            </a:r>
            <a:pPr indent="0" marL="0">
              <a:buNone/>
            </a:pPr>
            <a:r>
              <a:rPr lang="en-US" sz="2400" dirty="0">
                <a:solidFill>
                  <a:srgbClr val="FFFFFF"/>
                </a:solidFill>
                <a:latin typeface="Calibri" pitchFamily="34" charset="0"/>
                <a:ea typeface="Calibri" pitchFamily="34" charset="-122"/>
                <a:cs typeface="Calibri" pitchFamily="34" charset="-120"/>
              </a:rPr>
              <a:t>¿Cuánto generó cada región con cada tecnología?</a:t>
            </a:r>
            <a:endParaRPr lang="en-US" sz="2400" dirty="0"/>
          </a:p>
        </p:txBody>
      </p:sp>
      <p:sp>
        <p:nvSpPr>
          <p:cNvPr id="16" name="Shape 14"/>
          <p:cNvSpPr/>
          <p:nvPr/>
        </p:nvSpPr>
        <p:spPr>
          <a:xfrm>
            <a:off x="731520" y="5349240"/>
            <a:ext cx="548640" cy="548640"/>
          </a:xfrm>
          <a:prstGeom prst="ellipse">
            <a:avLst/>
          </a:prstGeom>
          <a:solidFill>
            <a:srgbClr val="F9AB00"/>
          </a:solidFill>
          <a:ln w="12700">
            <a:solidFill>
              <a:srgbClr val="F9AB00"/>
            </a:solidFill>
            <a:prstDash val="solid"/>
          </a:ln>
        </p:spPr>
      </p:sp>
      <p:sp>
        <p:nvSpPr>
          <p:cNvPr id="17" name="Text 15"/>
          <p:cNvSpPr txBox="1"/>
          <p:nvPr/>
        </p:nvSpPr>
        <p:spPr>
          <a:xfrm>
            <a:off x="731520" y="5349240"/>
            <a:ext cx="548640" cy="548640"/>
          </a:xfrm>
          <a:prstGeom prst="rect">
            <a:avLst/>
          </a:prstGeom>
          <a:noFill/>
          <a:ln/>
        </p:spPr>
        <p:txBody>
          <a:bodyPr wrap="square" lIns="0" tIns="0" rIns="0" bIns="0" rtlCol="0" anchor="ctr"/>
          <a:lstStyle/>
          <a:p>
            <a:pPr algn="ctr" indent="0" marL="0">
              <a:buNone/>
            </a:pPr>
            <a:r>
              <a:rPr lang="en-US" sz="2000" b="1" dirty="0">
                <a:solidFill>
                  <a:srgbClr val="0B3D62"/>
                </a:solidFill>
                <a:latin typeface="Calibri" pitchFamily="34" charset="0"/>
                <a:ea typeface="Calibri" pitchFamily="34" charset="-122"/>
                <a:cs typeface="Calibri" pitchFamily="34" charset="-120"/>
              </a:rPr>
              <a:t>5</a:t>
            </a:r>
            <a:endParaRPr lang="en-US" sz="2000" dirty="0"/>
          </a:p>
        </p:txBody>
      </p:sp>
      <p:sp>
        <p:nvSpPr>
          <p:cNvPr id="18" name="Text 16"/>
          <p:cNvSpPr txBox="1"/>
          <p:nvPr/>
        </p:nvSpPr>
        <p:spPr>
          <a:xfrm>
            <a:off x="1508760" y="5349240"/>
            <a:ext cx="996696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Paso 5   </a:t>
            </a:r>
            <a:pPr indent="0" marL="0">
              <a:buNone/>
            </a:pPr>
            <a:r>
              <a:rPr lang="en-US" sz="2400" dirty="0">
                <a:solidFill>
                  <a:srgbClr val="FFFFFF"/>
                </a:solidFill>
                <a:latin typeface="Calibri" pitchFamily="34" charset="0"/>
                <a:ea typeface="Calibri" pitchFamily="34" charset="-122"/>
                <a:cs typeface="Calibri" pitchFamily="34" charset="-120"/>
              </a:rPr>
              <a:t>¿Qué tan seguido genera cada tecnología?</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1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¿Con qué datos vamos a trabajar?</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Antes de correr la celda, qué tablas se leen y qué queda en gen.</a:t>
            </a:r>
            <a:endParaRPr lang="en-US" sz="1400" dirty="0"/>
          </a:p>
        </p:txBody>
      </p:sp>
      <p:pic>
        <p:nvPicPr>
          <p:cNvPr id="6" name="Image 0" descr="../work34/modulos/modulo02/img/lab02_paso1_tablas.png">    </p:cNvPr>
          <p:cNvPicPr>
            <a:picLocks noChangeAspect="1"/>
          </p:cNvPicPr>
          <p:nvPr/>
        </p:nvPicPr>
        <p:blipFill>
          <a:blip r:embed="rId1"/>
          <a:stretch>
            <a:fillRect/>
          </a:stretch>
        </p:blipFill>
        <p:spPr>
          <a:xfrm>
            <a:off x="1040554" y="1463040"/>
            <a:ext cx="10107843" cy="46177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4"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1 de 5</a:t>
            </a:r>
            <a:endParaRPr lang="en-US" sz="1400" dirty="0"/>
          </a:p>
        </p:txBody>
      </p:sp>
      <p:sp>
        <p:nvSpPr>
          <p:cNvPr id="5"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¿Con qué datos vamos a trabajar?</a:t>
            </a:r>
            <a:endParaRPr lang="en-US" sz="2400" dirty="0"/>
          </a:p>
        </p:txBody>
      </p:sp>
      <p:sp>
        <p:nvSpPr>
          <p:cNvPr id="6"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 Lee dos tablas y une la generación con la ficha de cada central, como en el Lab 01.</a:t>
            </a:r>
            <a:endParaRPr lang="en-US" sz="1400" dirty="0"/>
          </a:p>
        </p:txBody>
      </p:sp>
      <p:sp>
        <p:nvSpPr>
          <p:cNvPr id="7" name="Shape 4"/>
          <p:cNvSpPr/>
          <p:nvPr/>
        </p:nvSpPr>
        <p:spPr>
          <a:xfrm>
            <a:off x="548640" y="1481328"/>
            <a:ext cx="11091672" cy="2537460"/>
          </a:xfrm>
          <a:prstGeom prst="roundRect">
            <a:avLst>
              <a:gd name="adj" fmla="val 2162"/>
            </a:avLst>
          </a:prstGeom>
          <a:solidFill>
            <a:srgbClr val="F8F9FA"/>
          </a:solidFill>
          <a:ln w="25400">
            <a:solidFill>
              <a:srgbClr val="F9AB00"/>
            </a:solidFill>
            <a:prstDash val="solid"/>
          </a:ln>
        </p:spPr>
      </p:sp>
      <p:sp>
        <p:nvSpPr>
          <p:cNvPr id="8" name="Shape 5"/>
          <p:cNvSpPr/>
          <p:nvPr/>
        </p:nvSpPr>
        <p:spPr>
          <a:xfrm>
            <a:off x="713232" y="1600200"/>
            <a:ext cx="420624" cy="420624"/>
          </a:xfrm>
          <a:prstGeom prst="ellipse">
            <a:avLst/>
          </a:prstGeom>
          <a:solidFill>
            <a:srgbClr val="F9AB00"/>
          </a:solidFill>
          <a:ln w="12700">
            <a:solidFill>
              <a:srgbClr val="F9AB00"/>
            </a:solidFill>
            <a:prstDash val="solid"/>
          </a:ln>
        </p:spPr>
      </p:sp>
      <p:sp>
        <p:nvSpPr>
          <p:cNvPr id="9" name="Shape 6"/>
          <p:cNvSpPr/>
          <p:nvPr/>
        </p:nvSpPr>
        <p:spPr>
          <a:xfrm rot="5400000">
            <a:off x="850392" y="1719072"/>
            <a:ext cx="182880" cy="182880"/>
          </a:xfrm>
          <a:prstGeom prst="triangle">
            <a:avLst/>
          </a:prstGeom>
          <a:solidFill>
            <a:srgbClr val="FFFFFF"/>
          </a:solidFill>
          <a:ln w="12700">
            <a:solidFill>
              <a:srgbClr val="FFFFFF"/>
            </a:solidFill>
            <a:prstDash val="solid"/>
          </a:ln>
        </p:spPr>
      </p:sp>
      <p:sp>
        <p:nvSpPr>
          <p:cNvPr id="10" name="Text 7"/>
          <p:cNvSpPr txBox="1"/>
          <p:nvPr/>
        </p:nvSpPr>
        <p:spPr>
          <a:xfrm>
            <a:off x="1325880" y="1600200"/>
            <a:ext cx="10085832" cy="2354580"/>
          </a:xfrm>
          <a:prstGeom prst="rect">
            <a:avLst/>
          </a:prstGeom>
          <a:noFill/>
          <a:ln/>
        </p:spPr>
        <p:txBody>
          <a:bodyPr wrap="square" lIns="0" tIns="0" rIns="0" bIns="0" rtlCol="0" anchor="t"/>
          <a:lstStyle/>
          <a:p>
            <a:pPr indent="0" marL="0">
              <a:buNone/>
            </a:pPr>
            <a:r>
              <a:rPr lang="en-US" sz="1300" i="1" dirty="0">
                <a:solidFill>
                  <a:srgbClr val="188038"/>
                </a:solidFill>
                <a:latin typeface="Courier New" pitchFamily="34" charset="0"/>
                <a:ea typeface="Courier New" pitchFamily="34" charset="-122"/>
                <a:cs typeface="Courier New" pitchFamily="34" charset="-120"/>
              </a:rPr>
              <a:t># Paso 1</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DATOS = </a:t>
            </a:r>
            <a:pPr indent="0" marL="0">
              <a:buNone/>
            </a:pPr>
            <a:r>
              <a:rPr lang="en-US" sz="1300" dirty="0">
                <a:solidFill>
                  <a:srgbClr val="A31515"/>
                </a:solidFill>
                <a:latin typeface="Courier New" pitchFamily="34" charset="0"/>
                <a:ea typeface="Courier New" pitchFamily="34" charset="-122"/>
                <a:cs typeface="Courier New" pitchFamily="34" charset="-120"/>
              </a:rPr>
              <a:t>"https://raw.githubusercontent.com/RodrigoMSB/curso-python-minergia/main/datos/"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import pandas as pd</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centrales = pd.read_csv(DATOS + </a:t>
            </a:r>
            <a:pPr indent="0" marL="0">
              <a:buNone/>
            </a:pPr>
            <a:r>
              <a:rPr lang="en-US" sz="1300" dirty="0">
                <a:solidFill>
                  <a:srgbClr val="A31515"/>
                </a:solidFill>
                <a:latin typeface="Courier New" pitchFamily="34" charset="0"/>
                <a:ea typeface="Courier New" pitchFamily="34" charset="-122"/>
                <a:cs typeface="Courier New" pitchFamily="34" charset="-120"/>
              </a:rPr>
              <a:t>"centrales.csv"</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generacion = pd.read_csv(DATOS + </a:t>
            </a:r>
            <a:pPr indent="0" marL="0">
              <a:buNone/>
            </a:pPr>
            <a:r>
              <a:rPr lang="en-US" sz="1300" dirty="0">
                <a:solidFill>
                  <a:srgbClr val="A31515"/>
                </a:solidFill>
                <a:latin typeface="Courier New" pitchFamily="34" charset="0"/>
                <a:ea typeface="Courier New" pitchFamily="34" charset="-122"/>
                <a:cs typeface="Courier New" pitchFamily="34" charset="-120"/>
              </a:rPr>
              <a:t>"generacion.csv"</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La generación de cada hora con la ficha de su central al lado, como en el Lab 01.</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gen = pd.merge(generacion, centrales, on=</a:t>
            </a:r>
            <a:pPr indent="0" marL="0">
              <a:buNone/>
            </a:pPr>
            <a:r>
              <a:rPr lang="en-US" sz="1300" dirty="0">
                <a:solidFill>
                  <a:srgbClr val="A31515"/>
                </a:solidFill>
                <a:latin typeface="Courier New" pitchFamily="34" charset="0"/>
                <a:ea typeface="Courier New" pitchFamily="34" charset="-122"/>
                <a:cs typeface="Courier New" pitchFamily="34" charset="-120"/>
              </a:rPr>
              <a:t>"central"</a:t>
            </a:r>
            <a:pPr indent="0" marL="0">
              <a:buNone/>
            </a:pPr>
            <a:r>
              <a:rPr lang="en-US" sz="1300" dirty="0">
                <a:solidFill>
                  <a:srgbClr val="202124"/>
                </a:solidFill>
                <a:latin typeface="Courier New" pitchFamily="34" charset="0"/>
                <a:ea typeface="Courier New" pitchFamily="34" charset="-122"/>
                <a:cs typeface="Courier New" pitchFamily="34" charset="-120"/>
              </a:rPr>
              <a:t>, how=</a:t>
            </a:r>
            <a:pPr indent="0" marL="0">
              <a:buNone/>
            </a:pPr>
            <a:r>
              <a:rPr lang="en-US" sz="1300" dirty="0">
                <a:solidFill>
                  <a:srgbClr val="A31515"/>
                </a:solidFill>
                <a:latin typeface="Courier New" pitchFamily="34" charset="0"/>
                <a:ea typeface="Courier New" pitchFamily="34" charset="-122"/>
                <a:cs typeface="Courier New" pitchFamily="34" charset="-120"/>
              </a:rPr>
              <a:t>"left"</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"Filas de la tabla unida"</a:t>
            </a:r>
            <a:pPr indent="0" marL="0">
              <a:buNone/>
            </a:pPr>
            <a:r>
              <a:rPr lang="en-US" sz="1300" dirty="0">
                <a:solidFill>
                  <a:srgbClr val="202124"/>
                </a:solidFill>
                <a:latin typeface="Courier New" pitchFamily="34" charset="0"/>
                <a:ea typeface="Courier New" pitchFamily="34" charset="-122"/>
                <a:cs typeface="Courier New" pitchFamily="34" charset="-120"/>
              </a:rPr>
              <a:t>, len(gen))</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gen.head()</a:t>
            </a:r>
            <a:endParaRPr lang="en-US" sz="1300" dirty="0"/>
          </a:p>
        </p:txBody>
      </p:sp>
      <p:sp>
        <p:nvSpPr>
          <p:cNvPr id="11" name="Text 8"/>
          <p:cNvSpPr txBox="1"/>
          <p:nvPr/>
        </p:nvSpPr>
        <p:spPr>
          <a:xfrm>
            <a:off x="1325880" y="4055364"/>
            <a:ext cx="5486400" cy="256032"/>
          </a:xfrm>
          <a:prstGeom prst="rect">
            <a:avLst/>
          </a:prstGeom>
          <a:noFill/>
          <a:ln/>
        </p:spPr>
        <p:txBody>
          <a:bodyPr wrap="square" lIns="0" tIns="0" rIns="0" bIns="0" rtlCol="0" anchor="ctr"/>
          <a:lstStyle/>
          <a:p>
            <a:pPr indent="0" marL="0">
              <a:buNone/>
            </a:pPr>
            <a:r>
              <a:rPr lang="en-US" sz="1200" b="1" dirty="0">
                <a:solidFill>
                  <a:srgbClr val="B06000"/>
                </a:solidFill>
                <a:latin typeface="Calibri" pitchFamily="34" charset="0"/>
                <a:ea typeface="Calibri" pitchFamily="34" charset="-122"/>
                <a:cs typeface="Calibri" pitchFamily="34" charset="-120"/>
              </a:rPr>
              <a:t>Clic en el botón de play para correr la celda</a:t>
            </a:r>
            <a:endParaRPr lang="en-US" sz="1200" dirty="0"/>
          </a:p>
        </p:txBody>
      </p:sp>
      <p:sp>
        <p:nvSpPr>
          <p:cNvPr id="12" name="Text 9"/>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3" name="Text 10"/>
          <p:cNvSpPr txBox="1"/>
          <p:nvPr/>
        </p:nvSpPr>
        <p:spPr>
          <a:xfrm>
            <a:off x="548640" y="6089904"/>
            <a:ext cx="7315200" cy="457200"/>
          </a:xfrm>
          <a:prstGeom prst="rect">
            <a:avLst/>
          </a:prstGeom>
          <a:noFill/>
          <a:ln/>
        </p:spPr>
        <p:txBody>
          <a:bodyPr wrap="square" lIns="0" tIns="0" rIns="0" bIns="0" rtlCol="0" anchor="ctr"/>
          <a:lstStyle/>
          <a:p>
            <a:pPr indent="0" marL="0">
              <a:buNone/>
            </a:pPr>
            <a:r>
              <a:rPr lang="en-US" sz="1300" i="1" dirty="0">
                <a:solidFill>
                  <a:srgbClr val="5F6368"/>
                </a:solidFill>
                <a:latin typeface="Calibri" pitchFamily="34" charset="0"/>
                <a:ea typeface="Calibri" pitchFamily="34" charset="-122"/>
                <a:cs typeface="Calibri" pitchFamily="34" charset="-120"/>
              </a:rPr>
              <a:t>Todavía nada. La memoria está vacía.</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1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¿Con qué datos vamos a trabajar?</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Cómo se lee esta línea, pieza por pieza</a:t>
            </a:r>
            <a:endParaRPr lang="en-US" sz="1400" dirty="0"/>
          </a:p>
        </p:txBody>
      </p:sp>
      <p:sp>
        <p:nvSpPr>
          <p:cNvPr id="6" name="Shape 4"/>
          <p:cNvSpPr/>
          <p:nvPr/>
        </p:nvSpPr>
        <p:spPr>
          <a:xfrm>
            <a:off x="548640" y="1463040"/>
            <a:ext cx="11091672" cy="482600"/>
          </a:xfrm>
          <a:prstGeom prst="roundRect">
            <a:avLst>
              <a:gd name="adj" fmla="val 11368"/>
            </a:avLst>
          </a:prstGeom>
          <a:solidFill>
            <a:srgbClr val="F8F9FA"/>
          </a:solidFill>
          <a:ln w="12700">
            <a:solidFill>
              <a:srgbClr val="DADCE0"/>
            </a:solidFill>
            <a:prstDash val="solid"/>
          </a:ln>
        </p:spPr>
      </p:sp>
      <p:sp>
        <p:nvSpPr>
          <p:cNvPr id="7" name="Text 5"/>
          <p:cNvSpPr txBox="1"/>
          <p:nvPr/>
        </p:nvSpPr>
        <p:spPr>
          <a:xfrm>
            <a:off x="822960" y="1554480"/>
            <a:ext cx="10634472" cy="345440"/>
          </a:xfrm>
          <a:prstGeom prst="rect">
            <a:avLst/>
          </a:prstGeom>
          <a:noFill/>
          <a:ln/>
        </p:spPr>
        <p:txBody>
          <a:bodyPr wrap="square" lIns="0" tIns="0" rIns="0" bIns="0" rtlCol="0" anchor="ctr"/>
          <a:lstStyle/>
          <a:p>
            <a:pPr indent="0" marL="0">
              <a:buNone/>
            </a:pPr>
            <a:r>
              <a:rPr lang="en-US" sz="1600" dirty="0">
                <a:solidFill>
                  <a:srgbClr val="202124"/>
                </a:solidFill>
                <a:latin typeface="Courier New" pitchFamily="34" charset="0"/>
                <a:ea typeface="Courier New" pitchFamily="34" charset="-122"/>
                <a:cs typeface="Courier New" pitchFamily="34" charset="-120"/>
              </a:rPr>
              <a:t>gen = pd.merge(generacion, centrales, on=</a:t>
            </a:r>
            <a:pPr indent="0" marL="0">
              <a:buNone/>
            </a:pPr>
            <a:r>
              <a:rPr lang="en-US" sz="1600" dirty="0">
                <a:solidFill>
                  <a:srgbClr val="A31515"/>
                </a:solidFill>
                <a:latin typeface="Courier New" pitchFamily="34" charset="0"/>
                <a:ea typeface="Courier New" pitchFamily="34" charset="-122"/>
                <a:cs typeface="Courier New" pitchFamily="34" charset="-120"/>
              </a:rPr>
              <a:t>"central"</a:t>
            </a:r>
            <a:pPr indent="0" marL="0">
              <a:buNone/>
            </a:pPr>
            <a:r>
              <a:rPr lang="en-US" sz="1600" dirty="0">
                <a:solidFill>
                  <a:srgbClr val="202124"/>
                </a:solidFill>
                <a:latin typeface="Courier New" pitchFamily="34" charset="0"/>
                <a:ea typeface="Courier New" pitchFamily="34" charset="-122"/>
                <a:cs typeface="Courier New" pitchFamily="34" charset="-120"/>
              </a:rPr>
              <a:t>, how=</a:t>
            </a:r>
            <a:pPr indent="0" marL="0">
              <a:buNone/>
            </a:pPr>
            <a:r>
              <a:rPr lang="en-US" sz="1600" dirty="0">
                <a:solidFill>
                  <a:srgbClr val="A31515"/>
                </a:solidFill>
                <a:latin typeface="Courier New" pitchFamily="34" charset="0"/>
                <a:ea typeface="Courier New" pitchFamily="34" charset="-122"/>
                <a:cs typeface="Courier New" pitchFamily="34" charset="-120"/>
              </a:rPr>
              <a:t>"left"</a:t>
            </a:r>
            <a:pPr indent="0" marL="0">
              <a:buNone/>
            </a:pPr>
            <a:r>
              <a:rPr lang="en-US" sz="1600" dirty="0">
                <a:solidFill>
                  <a:srgbClr val="202124"/>
                </a:solidFill>
                <a:latin typeface="Courier New" pitchFamily="34" charset="0"/>
                <a:ea typeface="Courier New" pitchFamily="34" charset="-122"/>
                <a:cs typeface="Courier New" pitchFamily="34" charset="-120"/>
              </a:rPr>
              <a:t>)</a:t>
            </a:r>
            <a:endParaRPr lang="en-US" sz="1600" dirty="0"/>
          </a:p>
        </p:txBody>
      </p:sp>
      <p:sp>
        <p:nvSpPr>
          <p:cNvPr id="8" name="Shape 6"/>
          <p:cNvSpPr/>
          <p:nvPr/>
        </p:nvSpPr>
        <p:spPr>
          <a:xfrm>
            <a:off x="548640" y="2375408"/>
            <a:ext cx="329184" cy="329184"/>
          </a:xfrm>
          <a:prstGeom prst="ellipse">
            <a:avLst/>
          </a:prstGeom>
          <a:solidFill>
            <a:srgbClr val="1A6FD4"/>
          </a:solidFill>
          <a:ln w="12700">
            <a:solidFill>
              <a:srgbClr val="1A6FD4"/>
            </a:solidFill>
            <a:prstDash val="solid"/>
          </a:ln>
        </p:spPr>
      </p:sp>
      <p:sp>
        <p:nvSpPr>
          <p:cNvPr id="9" name="Text 7"/>
          <p:cNvSpPr txBox="1"/>
          <p:nvPr/>
        </p:nvSpPr>
        <p:spPr>
          <a:xfrm>
            <a:off x="548640" y="23754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Shape 8"/>
          <p:cNvSpPr/>
          <p:nvPr/>
        </p:nvSpPr>
        <p:spPr>
          <a:xfrm>
            <a:off x="1051560" y="2219960"/>
            <a:ext cx="4937760" cy="640080"/>
          </a:xfrm>
          <a:prstGeom prst="roundRect">
            <a:avLst>
              <a:gd name="adj" fmla="val 7143"/>
            </a:avLst>
          </a:prstGeom>
          <a:solidFill>
            <a:srgbClr val="DBE9FB"/>
          </a:solidFill>
          <a:ln w="12700">
            <a:solidFill>
              <a:srgbClr val="DBE9FB"/>
            </a:solidFill>
            <a:prstDash val="solid"/>
          </a:ln>
        </p:spPr>
      </p:sp>
      <p:sp>
        <p:nvSpPr>
          <p:cNvPr id="11" name="Text 9"/>
          <p:cNvSpPr txBox="1"/>
          <p:nvPr/>
        </p:nvSpPr>
        <p:spPr>
          <a:xfrm>
            <a:off x="1170432" y="2219960"/>
            <a:ext cx="4754880" cy="640080"/>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pd.merge(generacion, centrales, ...)</a:t>
            </a:r>
            <a:endParaRPr lang="en-US" sz="1400" dirty="0"/>
          </a:p>
        </p:txBody>
      </p:sp>
      <p:sp>
        <p:nvSpPr>
          <p:cNvPr id="12" name="Text 10"/>
          <p:cNvSpPr txBox="1"/>
          <p:nvPr/>
        </p:nvSpPr>
        <p:spPr>
          <a:xfrm>
            <a:off x="6263640" y="2219960"/>
            <a:ext cx="5376672" cy="640080"/>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Une la generación de cada hora con la tabla de centrales.</a:t>
            </a:r>
            <a:endParaRPr lang="en-US" sz="1600" dirty="0"/>
          </a:p>
        </p:txBody>
      </p:sp>
      <p:sp>
        <p:nvSpPr>
          <p:cNvPr id="13" name="Shape 11"/>
          <p:cNvSpPr/>
          <p:nvPr/>
        </p:nvSpPr>
        <p:spPr>
          <a:xfrm>
            <a:off x="548640" y="3052064"/>
            <a:ext cx="329184" cy="329184"/>
          </a:xfrm>
          <a:prstGeom prst="ellipse">
            <a:avLst/>
          </a:prstGeom>
          <a:solidFill>
            <a:srgbClr val="1E8E3E"/>
          </a:solidFill>
          <a:ln w="12700">
            <a:solidFill>
              <a:srgbClr val="1E8E3E"/>
            </a:solidFill>
            <a:prstDash val="solid"/>
          </a:ln>
        </p:spPr>
      </p:sp>
      <p:sp>
        <p:nvSpPr>
          <p:cNvPr id="14" name="Text 12"/>
          <p:cNvSpPr txBox="1"/>
          <p:nvPr/>
        </p:nvSpPr>
        <p:spPr>
          <a:xfrm>
            <a:off x="548640" y="305206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Shape 13"/>
          <p:cNvSpPr/>
          <p:nvPr/>
        </p:nvSpPr>
        <p:spPr>
          <a:xfrm>
            <a:off x="1051560" y="2951480"/>
            <a:ext cx="4937760" cy="530352"/>
          </a:xfrm>
          <a:prstGeom prst="roundRect">
            <a:avLst>
              <a:gd name="adj" fmla="val 8621"/>
            </a:avLst>
          </a:prstGeom>
          <a:solidFill>
            <a:srgbClr val="DCEFE0"/>
          </a:solidFill>
          <a:ln w="12700">
            <a:solidFill>
              <a:srgbClr val="DCEFE0"/>
            </a:solidFill>
            <a:prstDash val="solid"/>
          </a:ln>
        </p:spPr>
      </p:sp>
      <p:sp>
        <p:nvSpPr>
          <p:cNvPr id="16" name="Text 14"/>
          <p:cNvSpPr txBox="1"/>
          <p:nvPr/>
        </p:nvSpPr>
        <p:spPr>
          <a:xfrm>
            <a:off x="1170432" y="2951480"/>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on="central"</a:t>
            </a:r>
            <a:endParaRPr lang="en-US" sz="1400" dirty="0"/>
          </a:p>
        </p:txBody>
      </p:sp>
      <p:sp>
        <p:nvSpPr>
          <p:cNvPr id="17" name="Text 15"/>
          <p:cNvSpPr txBox="1"/>
          <p:nvPr/>
        </p:nvSpPr>
        <p:spPr>
          <a:xfrm>
            <a:off x="6263640" y="2951480"/>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Busca la pareja por el nombre de la central.</a:t>
            </a:r>
            <a:endParaRPr lang="en-US" sz="1600" dirty="0"/>
          </a:p>
        </p:txBody>
      </p:sp>
      <p:sp>
        <p:nvSpPr>
          <p:cNvPr id="18" name="Shape 16"/>
          <p:cNvSpPr/>
          <p:nvPr/>
        </p:nvSpPr>
        <p:spPr>
          <a:xfrm>
            <a:off x="548640" y="3728720"/>
            <a:ext cx="329184" cy="329184"/>
          </a:xfrm>
          <a:prstGeom prst="ellipse">
            <a:avLst/>
          </a:prstGeom>
          <a:solidFill>
            <a:srgbClr val="B07D00"/>
          </a:solidFill>
          <a:ln w="12700">
            <a:solidFill>
              <a:srgbClr val="B07D00"/>
            </a:solidFill>
            <a:prstDash val="solid"/>
          </a:ln>
        </p:spPr>
      </p:sp>
      <p:sp>
        <p:nvSpPr>
          <p:cNvPr id="19" name="Text 17"/>
          <p:cNvSpPr txBox="1"/>
          <p:nvPr/>
        </p:nvSpPr>
        <p:spPr>
          <a:xfrm>
            <a:off x="548640" y="372872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Shape 18"/>
          <p:cNvSpPr/>
          <p:nvPr/>
        </p:nvSpPr>
        <p:spPr>
          <a:xfrm>
            <a:off x="1051560" y="3573272"/>
            <a:ext cx="4937760" cy="640080"/>
          </a:xfrm>
          <a:prstGeom prst="roundRect">
            <a:avLst>
              <a:gd name="adj" fmla="val 7143"/>
            </a:avLst>
          </a:prstGeom>
          <a:solidFill>
            <a:srgbClr val="FDF0C8"/>
          </a:solidFill>
          <a:ln w="12700">
            <a:solidFill>
              <a:srgbClr val="FDF0C8"/>
            </a:solidFill>
            <a:prstDash val="solid"/>
          </a:ln>
        </p:spPr>
      </p:sp>
      <p:sp>
        <p:nvSpPr>
          <p:cNvPr id="21" name="Text 19"/>
          <p:cNvSpPr txBox="1"/>
          <p:nvPr/>
        </p:nvSpPr>
        <p:spPr>
          <a:xfrm>
            <a:off x="1170432" y="3573272"/>
            <a:ext cx="4754880" cy="640080"/>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how="left"</a:t>
            </a:r>
            <a:endParaRPr lang="en-US" sz="1400" dirty="0"/>
          </a:p>
        </p:txBody>
      </p:sp>
      <p:sp>
        <p:nvSpPr>
          <p:cNvPr id="22" name="Text 20"/>
          <p:cNvSpPr txBox="1"/>
          <p:nvPr/>
        </p:nvSpPr>
        <p:spPr>
          <a:xfrm>
            <a:off x="6263640" y="3573272"/>
            <a:ext cx="5376672" cy="640080"/>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Conserva toda la generación, aunque alguna central no tuviera ficha. Lo vimos en el Lab 01.</a:t>
            </a:r>
            <a:endParaRPr lang="en-US" sz="1600" dirty="0"/>
          </a:p>
        </p:txBody>
      </p:sp>
      <p:sp>
        <p:nvSpPr>
          <p:cNvPr id="23" name="Shape 21"/>
          <p:cNvSpPr/>
          <p:nvPr/>
        </p:nvSpPr>
        <p:spPr>
          <a:xfrm>
            <a:off x="548640" y="5989320"/>
            <a:ext cx="73152" cy="548640"/>
          </a:xfrm>
          <a:prstGeom prst="rect">
            <a:avLst/>
          </a:prstGeom>
          <a:solidFill>
            <a:srgbClr val="0B3D62"/>
          </a:solidFill>
          <a:ln w="12700">
            <a:solidFill>
              <a:srgbClr val="0B3D62"/>
            </a:solidFill>
            <a:prstDash val="solid"/>
          </a:ln>
        </p:spPr>
      </p:sp>
      <p:sp>
        <p:nvSpPr>
          <p:cNvPr id="24" name="Text 22"/>
          <p:cNvSpPr txBox="1"/>
          <p:nvPr/>
        </p:nvSpPr>
        <p:spPr>
          <a:xfrm>
            <a:off x="777240" y="5989320"/>
            <a:ext cx="10863072" cy="548640"/>
          </a:xfrm>
          <a:prstGeom prst="rect">
            <a:avLst/>
          </a:prstGeom>
          <a:noFill/>
          <a:ln/>
        </p:spPr>
        <p:txBody>
          <a:bodyPr wrap="square" lIns="0" tIns="0" rIns="0" bIns="0"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Se lee así  </a:t>
            </a:r>
            <a:pPr indent="0" marL="0">
              <a:buNone/>
            </a:pPr>
            <a:r>
              <a:rPr lang="en-US" sz="1500" dirty="0">
                <a:solidFill>
                  <a:srgbClr val="202124"/>
                </a:solidFill>
                <a:latin typeface="Calibri" pitchFamily="34" charset="0"/>
                <a:ea typeface="Calibri" pitchFamily="34" charset="-122"/>
                <a:cs typeface="Calibri" pitchFamily="34" charset="-120"/>
              </a:rPr>
              <a:t>a cada hora de generación le agrega la ficha de su central y lo guarda como gen.</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1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¿Con qué datos vamos a trabajar?</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 Lee dos tablas y une la generación con la ficha de cada central, como en el Lab 01.</a:t>
            </a:r>
            <a:endParaRPr lang="en-US" sz="1400" dirty="0"/>
          </a:p>
        </p:txBody>
      </p:sp>
      <p:sp>
        <p:nvSpPr>
          <p:cNvPr id="6" name="Text 4"/>
          <p:cNvSpPr txBox="1"/>
          <p:nvPr/>
        </p:nvSpPr>
        <p:spPr>
          <a:xfrm>
            <a:off x="548640" y="1481328"/>
            <a:ext cx="5486400" cy="274320"/>
          </a:xfrm>
          <a:prstGeom prst="rect">
            <a:avLst/>
          </a:prstGeom>
          <a:noFill/>
          <a:ln/>
        </p:spPr>
        <p:txBody>
          <a:bodyPr wrap="square" lIns="0" tIns="0" rIns="0" bIns="0" rtlCol="0" anchor="ctr"/>
          <a:lstStyle/>
          <a:p>
            <a:pPr indent="0" marL="0">
              <a:buNone/>
            </a:pPr>
            <a:r>
              <a:rPr lang="en-US" sz="1300" b="1" dirty="0">
                <a:solidFill>
                  <a:srgbClr val="5F6368"/>
                </a:solidFill>
                <a:latin typeface="Calibri" pitchFamily="34" charset="0"/>
                <a:ea typeface="Calibri" pitchFamily="34" charset="-122"/>
                <a:cs typeface="Calibri" pitchFamily="34" charset="-120"/>
              </a:rPr>
              <a:t>Respuesta de la celda</a:t>
            </a:r>
            <a:endParaRPr lang="en-US" sz="1300" dirty="0"/>
          </a:p>
        </p:txBody>
      </p:sp>
      <p:sp>
        <p:nvSpPr>
          <p:cNvPr id="7" name="Shape 5"/>
          <p:cNvSpPr/>
          <p:nvPr/>
        </p:nvSpPr>
        <p:spPr>
          <a:xfrm>
            <a:off x="1325880" y="1828800"/>
            <a:ext cx="10314432" cy="384048"/>
          </a:xfrm>
          <a:prstGeom prst="rect">
            <a:avLst/>
          </a:prstGeom>
          <a:solidFill>
            <a:srgbClr val="FFFFFF"/>
          </a:solidFill>
          <a:ln w="12700">
            <a:solidFill>
              <a:srgbClr val="DADCE0"/>
            </a:solidFill>
            <a:prstDash val="solid"/>
          </a:ln>
        </p:spPr>
      </p:sp>
      <p:sp>
        <p:nvSpPr>
          <p:cNvPr id="8" name="Text 6"/>
          <p:cNvSpPr txBox="1"/>
          <p:nvPr/>
        </p:nvSpPr>
        <p:spPr>
          <a:xfrm>
            <a:off x="1463040" y="1901952"/>
            <a:ext cx="10085832" cy="256032"/>
          </a:xfrm>
          <a:prstGeom prst="rect">
            <a:avLst/>
          </a:prstGeom>
          <a:noFill/>
          <a:ln/>
        </p:spPr>
        <p:txBody>
          <a:bodyPr wrap="square" lIns="0" tIns="0" rIns="0" bIns="0" rtlCol="0" anchor="t"/>
          <a:lstStyle/>
          <a:p>
            <a:pPr indent="0" marL="0">
              <a:buNone/>
            </a:pPr>
            <a:r>
              <a:rPr lang="en-US" sz="1200" dirty="0">
                <a:solidFill>
                  <a:srgbClr val="202124"/>
                </a:solidFill>
                <a:latin typeface="Courier New" pitchFamily="34" charset="0"/>
                <a:ea typeface="Courier New" pitchFamily="34" charset="-122"/>
                <a:cs typeface="Courier New" pitchFamily="34" charset="-120"/>
              </a:rPr>
              <a:t>Filas de la tabla unida 175680</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325880" y="2304288"/>
          <a:ext cx="9144000" cy="914400"/>
        </p:xfrm>
        <a:graphic>
          <a:graphicData uri="http://schemas.openxmlformats.org/drawingml/2006/table">
            <a:tbl>
              <a:tblPr/>
              <a:tblGrid>
                <a:gridCol w="365760"/>
                <a:gridCol w="1188720"/>
                <a:gridCol w="822960"/>
                <a:gridCol w="2286000"/>
                <a:gridCol w="822960"/>
                <a:gridCol w="1188720"/>
                <a:gridCol w="822960"/>
                <a:gridCol w="1280160"/>
                <a:gridCol w="1280160"/>
              </a:tblGrid>
              <a:tr h="237744">
                <a:tc>
                  <a:txBody>
                    <a:bodyPr/>
                    <a:lstStyle/>
                    <a:p>
                      <a:pPr indent="0" marL="0">
                        <a:buNone/>
                      </a:pP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fecha</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hora</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central</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mwh</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tecnologia</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region</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potencia_mw</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anio_inicio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2024-01-01</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Central Río Manso Alto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163.69</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hidro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Biobío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420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2004</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2024-01-01</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Central Río Manso Alto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179.81</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hidro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Biobío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420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2004</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2024-01-01</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Central Río Manso Alto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173.77</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hidro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Biobío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420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2004</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3</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2024-01-01</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3</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Central Río Manso Alto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170.39</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hidro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Biobío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420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2004</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2024-01-01</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Central Río Manso Alto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169.84</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hidro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Biobío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420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2004</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bl>
          </a:graphicData>
        </a:graphic>
      </p:graphicFrame>
      <p:sp>
        <p:nvSpPr>
          <p:cNvPr id="11" name="Text 7"/>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2" name="Shape 8"/>
          <p:cNvSpPr/>
          <p:nvPr/>
        </p:nvSpPr>
        <p:spPr>
          <a:xfrm>
            <a:off x="548640" y="6062472"/>
            <a:ext cx="2770632" cy="566928"/>
          </a:xfrm>
          <a:prstGeom prst="roundRect">
            <a:avLst>
              <a:gd name="adj" fmla="val 11290"/>
            </a:avLst>
          </a:prstGeom>
          <a:solidFill>
            <a:srgbClr val="FEF3D6"/>
          </a:solidFill>
          <a:ln w="25400">
            <a:solidFill>
              <a:srgbClr val="F9AB00"/>
            </a:solidFill>
            <a:prstDash val="solid"/>
          </a:ln>
        </p:spPr>
      </p:sp>
      <p:sp>
        <p:nvSpPr>
          <p:cNvPr id="13" name="Text 9"/>
          <p:cNvSpPr txBox="1"/>
          <p:nvPr/>
        </p:nvSpPr>
        <p:spPr>
          <a:xfrm>
            <a:off x="640080" y="6071616"/>
            <a:ext cx="263347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DATOS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"https://raw.githubuserco…</a:t>
            </a:r>
            <a:endParaRPr lang="en-US" sz="1200" dirty="0"/>
          </a:p>
        </p:txBody>
      </p:sp>
      <p:sp>
        <p:nvSpPr>
          <p:cNvPr id="14" name="Shape 10"/>
          <p:cNvSpPr/>
          <p:nvPr/>
        </p:nvSpPr>
        <p:spPr>
          <a:xfrm>
            <a:off x="3456432" y="6062472"/>
            <a:ext cx="1143000" cy="566928"/>
          </a:xfrm>
          <a:prstGeom prst="roundRect">
            <a:avLst>
              <a:gd name="adj" fmla="val 11290"/>
            </a:avLst>
          </a:prstGeom>
          <a:solidFill>
            <a:srgbClr val="FEF3D6"/>
          </a:solidFill>
          <a:ln w="25400">
            <a:solidFill>
              <a:srgbClr val="F9AB00"/>
            </a:solidFill>
            <a:prstDash val="solid"/>
          </a:ln>
        </p:spPr>
      </p:sp>
      <p:sp>
        <p:nvSpPr>
          <p:cNvPr id="15" name="Text 11"/>
          <p:cNvSpPr txBox="1"/>
          <p:nvPr/>
        </p:nvSpPr>
        <p:spPr>
          <a:xfrm>
            <a:off x="3547872"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pandas</a:t>
            </a:r>
            <a:endParaRPr lang="en-US" sz="1200" dirty="0"/>
          </a:p>
        </p:txBody>
      </p:sp>
      <p:sp>
        <p:nvSpPr>
          <p:cNvPr id="16" name="Shape 12"/>
          <p:cNvSpPr/>
          <p:nvPr/>
        </p:nvSpPr>
        <p:spPr>
          <a:xfrm>
            <a:off x="4736592" y="6062472"/>
            <a:ext cx="1426464" cy="566928"/>
          </a:xfrm>
          <a:prstGeom prst="roundRect">
            <a:avLst>
              <a:gd name="adj" fmla="val 11290"/>
            </a:avLst>
          </a:prstGeom>
          <a:solidFill>
            <a:srgbClr val="FEF3D6"/>
          </a:solidFill>
          <a:ln w="25400">
            <a:solidFill>
              <a:srgbClr val="F9AB00"/>
            </a:solidFill>
            <a:prstDash val="solid"/>
          </a:ln>
        </p:spPr>
      </p:sp>
      <p:sp>
        <p:nvSpPr>
          <p:cNvPr id="17" name="Text 13"/>
          <p:cNvSpPr txBox="1"/>
          <p:nvPr/>
        </p:nvSpPr>
        <p:spPr>
          <a:xfrm>
            <a:off x="4828032" y="6071616"/>
            <a:ext cx="128930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centrales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20 × 5</a:t>
            </a:r>
            <a:endParaRPr lang="en-US" sz="1200" dirty="0"/>
          </a:p>
        </p:txBody>
      </p:sp>
      <p:sp>
        <p:nvSpPr>
          <p:cNvPr id="18" name="Shape 14"/>
          <p:cNvSpPr/>
          <p:nvPr/>
        </p:nvSpPr>
        <p:spPr>
          <a:xfrm>
            <a:off x="6300216" y="6062472"/>
            <a:ext cx="1810512" cy="566928"/>
          </a:xfrm>
          <a:prstGeom prst="roundRect">
            <a:avLst>
              <a:gd name="adj" fmla="val 11290"/>
            </a:avLst>
          </a:prstGeom>
          <a:solidFill>
            <a:srgbClr val="FEF3D6"/>
          </a:solidFill>
          <a:ln w="25400">
            <a:solidFill>
              <a:srgbClr val="F9AB00"/>
            </a:solidFill>
            <a:prstDash val="solid"/>
          </a:ln>
        </p:spPr>
      </p:sp>
      <p:sp>
        <p:nvSpPr>
          <p:cNvPr id="19" name="Text 15"/>
          <p:cNvSpPr txBox="1"/>
          <p:nvPr/>
        </p:nvSpPr>
        <p:spPr>
          <a:xfrm>
            <a:off x="6391656" y="6071616"/>
            <a:ext cx="167335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generacion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175680 × 4</a:t>
            </a:r>
            <a:endParaRPr lang="en-US" sz="1200" dirty="0"/>
          </a:p>
        </p:txBody>
      </p:sp>
      <p:sp>
        <p:nvSpPr>
          <p:cNvPr id="20" name="Shape 16"/>
          <p:cNvSpPr/>
          <p:nvPr/>
        </p:nvSpPr>
        <p:spPr>
          <a:xfrm>
            <a:off x="8247888" y="6062472"/>
            <a:ext cx="1810512" cy="566928"/>
          </a:xfrm>
          <a:prstGeom prst="roundRect">
            <a:avLst>
              <a:gd name="adj" fmla="val 11290"/>
            </a:avLst>
          </a:prstGeom>
          <a:solidFill>
            <a:srgbClr val="FEF3D6"/>
          </a:solidFill>
          <a:ln w="25400">
            <a:solidFill>
              <a:srgbClr val="F9AB00"/>
            </a:solidFill>
            <a:prstDash val="solid"/>
          </a:ln>
        </p:spPr>
      </p:sp>
      <p:sp>
        <p:nvSpPr>
          <p:cNvPr id="21" name="Text 17"/>
          <p:cNvSpPr txBox="1"/>
          <p:nvPr/>
        </p:nvSpPr>
        <p:spPr>
          <a:xfrm>
            <a:off x="8339328" y="6071616"/>
            <a:ext cx="167335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gen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175680 × 8</a:t>
            </a:r>
            <a:endParaRPr lang="en-US" sz="1200" dirty="0"/>
          </a:p>
        </p:txBody>
      </p:sp>
      <p:sp>
        <p:nvSpPr>
          <p:cNvPr id="22" name="Text 18"/>
          <p:cNvSpPr txBox="1"/>
          <p:nvPr/>
        </p:nvSpPr>
        <p:spPr>
          <a:xfrm>
            <a:off x="548640" y="6638544"/>
            <a:ext cx="11091672" cy="237744"/>
          </a:xfrm>
          <a:prstGeom prst="rect">
            <a:avLst/>
          </a:prstGeom>
          <a:noFill/>
          <a:ln/>
        </p:spPr>
        <p:txBody>
          <a:bodyPr wrap="square" lIns="0" tIns="0" rIns="0" bIns="0" rtlCol="0" anchor="ctr"/>
          <a:lstStyle/>
          <a:p>
            <a:pPr indent="0" marL="0">
              <a:buNone/>
            </a:pPr>
            <a:r>
              <a:rPr lang="en-US" sz="1300" i="1" dirty="0">
                <a:solidFill>
                  <a:srgbClr val="0B3D62"/>
                </a:solidFill>
                <a:latin typeface="Calibri" pitchFamily="34" charset="0"/>
                <a:ea typeface="Calibri" pitchFamily="34" charset="-122"/>
                <a:cs typeface="Calibri" pitchFamily="34" charset="-120"/>
              </a:rPr>
              <a:t>Dos tablas leídas y una unión. gen tiene la generación de cada hora con la ficha de su central.</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1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¿Con qué datos vamos a trabajar?</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 que hay que llevarse de este paso.</a:t>
            </a:r>
            <a:endParaRPr lang="en-US" sz="1400" dirty="0"/>
          </a:p>
        </p:txBody>
      </p:sp>
      <p:sp>
        <p:nvSpPr>
          <p:cNvPr id="7" name="Shape 4"/>
          <p:cNvSpPr/>
          <p:nvPr/>
        </p:nvSpPr>
        <p:spPr>
          <a:xfrm>
            <a:off x="548640" y="1828800"/>
            <a:ext cx="11091672" cy="2377440"/>
          </a:xfrm>
          <a:prstGeom prst="roundRect">
            <a:avLst>
              <a:gd name="adj" fmla="val 3846"/>
            </a:avLst>
          </a:prstGeom>
          <a:solidFill>
            <a:srgbClr val="FFF8D6"/>
          </a:solidFill>
          <a:ln w="12700">
            <a:solidFill>
              <a:srgbClr val="FFF8D6"/>
            </a:solidFill>
            <a:prstDash val="solid"/>
          </a:ln>
        </p:spPr>
      </p:sp>
      <p:sp>
        <p:nvSpPr>
          <p:cNvPr id="8" name="Text 5"/>
          <p:cNvSpPr txBox="1"/>
          <p:nvPr/>
        </p:nvSpPr>
        <p:spPr>
          <a:xfrm>
            <a:off x="1005840" y="2057400"/>
            <a:ext cx="10177272" cy="1005840"/>
          </a:xfrm>
          <a:prstGeom prst="rect">
            <a:avLst/>
          </a:prstGeom>
          <a:noFill/>
          <a:ln/>
        </p:spPr>
        <p:txBody>
          <a:bodyPr wrap="square" lIns="0" tIns="0" rIns="0" bIns="0" rtlCol="0" anchor="t"/>
          <a:lstStyle/>
          <a:p>
            <a:pPr indent="0" marL="0">
              <a:buNone/>
            </a:pPr>
            <a:r>
              <a:rPr lang="en-US" sz="2800" b="1" dirty="0">
                <a:solidFill>
                  <a:srgbClr val="8A6D00"/>
                </a:solidFill>
                <a:latin typeface="Calibri" pitchFamily="34" charset="0"/>
                <a:ea typeface="Calibri" pitchFamily="34" charset="-122"/>
                <a:cs typeface="Calibri" pitchFamily="34" charset="-120"/>
              </a:rPr>
              <a:t>gen es la generación de cada hora con la ficha de su central.</a:t>
            </a:r>
            <a:endParaRPr lang="en-US" sz="2800" dirty="0"/>
          </a:p>
        </p:txBody>
      </p:sp>
      <p:sp>
        <p:nvSpPr>
          <p:cNvPr id="9" name="Text 6"/>
          <p:cNvSpPr txBox="1"/>
          <p:nvPr/>
        </p:nvSpPr>
        <p:spPr>
          <a:xfrm>
            <a:off x="1005840" y="3154680"/>
            <a:ext cx="10177272" cy="914400"/>
          </a:xfrm>
          <a:prstGeom prst="rect">
            <a:avLst/>
          </a:prstGeom>
          <a:noFill/>
          <a:ln/>
        </p:spPr>
        <p:txBody>
          <a:bodyPr wrap="square" lIns="0" tIns="0" rIns="0" bIns="0" rtlCol="0" anchor="t"/>
          <a:lstStyle/>
          <a:p>
            <a:pPr indent="0" marL="0">
              <a:buNone/>
            </a:pPr>
            <a:r>
              <a:rPr lang="en-US" sz="2200" dirty="0">
                <a:solidFill>
                  <a:srgbClr val="202124"/>
                </a:solidFill>
                <a:latin typeface="Calibri" pitchFamily="34" charset="0"/>
                <a:ea typeface="Calibri" pitchFamily="34" charset="-122"/>
                <a:cs typeface="Calibri" pitchFamily="34" charset="-120"/>
              </a:rPr>
              <a:t>Se arma una vez al comienzo y todos los pasos siguientes trabajan sobre ella.</a:t>
            </a:r>
            <a:endParaRPr lang="en-US" sz="2200" dirty="0"/>
          </a:p>
        </p:txBody>
      </p:sp>
      <p:sp>
        <p:nvSpPr>
          <p:cNvPr id="10" name="Text 7"/>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1" name="Shape 8"/>
          <p:cNvSpPr/>
          <p:nvPr/>
        </p:nvSpPr>
        <p:spPr>
          <a:xfrm>
            <a:off x="548640" y="6062472"/>
            <a:ext cx="2770632" cy="566928"/>
          </a:xfrm>
          <a:prstGeom prst="roundRect">
            <a:avLst>
              <a:gd name="adj" fmla="val 11290"/>
            </a:avLst>
          </a:prstGeom>
          <a:solidFill>
            <a:srgbClr val="FEF3D6"/>
          </a:solidFill>
          <a:ln w="25400">
            <a:solidFill>
              <a:srgbClr val="F9AB00"/>
            </a:solidFill>
            <a:prstDash val="solid"/>
          </a:ln>
        </p:spPr>
      </p:sp>
      <p:sp>
        <p:nvSpPr>
          <p:cNvPr id="12" name="Text 9"/>
          <p:cNvSpPr txBox="1"/>
          <p:nvPr/>
        </p:nvSpPr>
        <p:spPr>
          <a:xfrm>
            <a:off x="640080" y="6071616"/>
            <a:ext cx="263347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DATOS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"https://raw.githubuserco…</a:t>
            </a:r>
            <a:endParaRPr lang="en-US" sz="1200" dirty="0"/>
          </a:p>
        </p:txBody>
      </p:sp>
      <p:sp>
        <p:nvSpPr>
          <p:cNvPr id="13" name="Shape 10"/>
          <p:cNvSpPr/>
          <p:nvPr/>
        </p:nvSpPr>
        <p:spPr>
          <a:xfrm>
            <a:off x="3456432" y="6062472"/>
            <a:ext cx="1143000" cy="566928"/>
          </a:xfrm>
          <a:prstGeom prst="roundRect">
            <a:avLst>
              <a:gd name="adj" fmla="val 11290"/>
            </a:avLst>
          </a:prstGeom>
          <a:solidFill>
            <a:srgbClr val="FEF3D6"/>
          </a:solidFill>
          <a:ln w="25400">
            <a:solidFill>
              <a:srgbClr val="F9AB00"/>
            </a:solidFill>
            <a:prstDash val="solid"/>
          </a:ln>
        </p:spPr>
      </p:sp>
      <p:sp>
        <p:nvSpPr>
          <p:cNvPr id="14" name="Text 11"/>
          <p:cNvSpPr txBox="1"/>
          <p:nvPr/>
        </p:nvSpPr>
        <p:spPr>
          <a:xfrm>
            <a:off x="3547872"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pandas</a:t>
            </a:r>
            <a:endParaRPr lang="en-US" sz="1200" dirty="0"/>
          </a:p>
        </p:txBody>
      </p:sp>
      <p:sp>
        <p:nvSpPr>
          <p:cNvPr id="15" name="Shape 12"/>
          <p:cNvSpPr/>
          <p:nvPr/>
        </p:nvSpPr>
        <p:spPr>
          <a:xfrm>
            <a:off x="4736592" y="6062472"/>
            <a:ext cx="1426464" cy="566928"/>
          </a:xfrm>
          <a:prstGeom prst="roundRect">
            <a:avLst>
              <a:gd name="adj" fmla="val 11290"/>
            </a:avLst>
          </a:prstGeom>
          <a:solidFill>
            <a:srgbClr val="FEF3D6"/>
          </a:solidFill>
          <a:ln w="25400">
            <a:solidFill>
              <a:srgbClr val="F9AB00"/>
            </a:solidFill>
            <a:prstDash val="solid"/>
          </a:ln>
        </p:spPr>
      </p:sp>
      <p:sp>
        <p:nvSpPr>
          <p:cNvPr id="16" name="Text 13"/>
          <p:cNvSpPr txBox="1"/>
          <p:nvPr/>
        </p:nvSpPr>
        <p:spPr>
          <a:xfrm>
            <a:off x="4828032" y="6071616"/>
            <a:ext cx="128930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centrales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20 × 5</a:t>
            </a:r>
            <a:endParaRPr lang="en-US" sz="1200" dirty="0"/>
          </a:p>
        </p:txBody>
      </p:sp>
      <p:sp>
        <p:nvSpPr>
          <p:cNvPr id="17" name="Shape 14"/>
          <p:cNvSpPr/>
          <p:nvPr/>
        </p:nvSpPr>
        <p:spPr>
          <a:xfrm>
            <a:off x="6300216" y="6062472"/>
            <a:ext cx="1810512" cy="566928"/>
          </a:xfrm>
          <a:prstGeom prst="roundRect">
            <a:avLst>
              <a:gd name="adj" fmla="val 11290"/>
            </a:avLst>
          </a:prstGeom>
          <a:solidFill>
            <a:srgbClr val="FEF3D6"/>
          </a:solidFill>
          <a:ln w="25400">
            <a:solidFill>
              <a:srgbClr val="F9AB00"/>
            </a:solidFill>
            <a:prstDash val="solid"/>
          </a:ln>
        </p:spPr>
      </p:sp>
      <p:sp>
        <p:nvSpPr>
          <p:cNvPr id="18" name="Text 15"/>
          <p:cNvSpPr txBox="1"/>
          <p:nvPr/>
        </p:nvSpPr>
        <p:spPr>
          <a:xfrm>
            <a:off x="6391656" y="6071616"/>
            <a:ext cx="167335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generacion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175680 × 4</a:t>
            </a:r>
            <a:endParaRPr lang="en-US" sz="1200" dirty="0"/>
          </a:p>
        </p:txBody>
      </p:sp>
      <p:sp>
        <p:nvSpPr>
          <p:cNvPr id="19" name="Shape 16"/>
          <p:cNvSpPr/>
          <p:nvPr/>
        </p:nvSpPr>
        <p:spPr>
          <a:xfrm>
            <a:off x="8247888" y="6062472"/>
            <a:ext cx="1810512" cy="566928"/>
          </a:xfrm>
          <a:prstGeom prst="roundRect">
            <a:avLst>
              <a:gd name="adj" fmla="val 11290"/>
            </a:avLst>
          </a:prstGeom>
          <a:solidFill>
            <a:srgbClr val="FEF3D6"/>
          </a:solidFill>
          <a:ln w="25400">
            <a:solidFill>
              <a:srgbClr val="F9AB00"/>
            </a:solidFill>
            <a:prstDash val="solid"/>
          </a:ln>
        </p:spPr>
      </p:sp>
      <p:sp>
        <p:nvSpPr>
          <p:cNvPr id="20" name="Text 17"/>
          <p:cNvSpPr txBox="1"/>
          <p:nvPr/>
        </p:nvSpPr>
        <p:spPr>
          <a:xfrm>
            <a:off x="8339328" y="6071616"/>
            <a:ext cx="167335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gen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175680 × 8</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2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filtra con dos condiciones</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Antes de correr la celda, cómo se combinan las dos condiciones.</a:t>
            </a:r>
            <a:endParaRPr lang="en-US" sz="1400" dirty="0"/>
          </a:p>
        </p:txBody>
      </p:sp>
      <p:pic>
        <p:nvPicPr>
          <p:cNvPr id="6" name="Image 0" descr="../work34/modulos/modulo02/img/lab02_paso2_dos_condiciones.png">    </p:cNvPr>
          <p:cNvPicPr>
            <a:picLocks noChangeAspect="1"/>
          </p:cNvPicPr>
          <p:nvPr/>
        </p:nvPicPr>
        <p:blipFill>
          <a:blip r:embed="rId1"/>
          <a:stretch>
            <a:fillRect/>
          </a:stretch>
        </p:blipFill>
        <p:spPr>
          <a:xfrm>
            <a:off x="548640" y="1463040"/>
            <a:ext cx="11091672" cy="438495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4"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2 de 5</a:t>
            </a:r>
            <a:endParaRPr lang="en-US" sz="1400" dirty="0"/>
          </a:p>
        </p:txBody>
      </p:sp>
      <p:sp>
        <p:nvSpPr>
          <p:cNvPr id="5"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filtra con dos condiciones</a:t>
            </a:r>
            <a:endParaRPr lang="en-US" sz="2400" dirty="0"/>
          </a:p>
        </p:txBody>
      </p:sp>
      <p:sp>
        <p:nvSpPr>
          <p:cNvPr id="6"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Elige una tecnología y una región en las listas y vuelve a correr la celda.</a:t>
            </a:r>
            <a:endParaRPr lang="en-US" sz="1400" dirty="0"/>
          </a:p>
        </p:txBody>
      </p:sp>
      <p:sp>
        <p:nvSpPr>
          <p:cNvPr id="7" name="Shape 4"/>
          <p:cNvSpPr/>
          <p:nvPr/>
        </p:nvSpPr>
        <p:spPr>
          <a:xfrm>
            <a:off x="548640" y="1481328"/>
            <a:ext cx="11091672" cy="2948940"/>
          </a:xfrm>
          <a:prstGeom prst="roundRect">
            <a:avLst>
              <a:gd name="adj" fmla="val 1860"/>
            </a:avLst>
          </a:prstGeom>
          <a:solidFill>
            <a:srgbClr val="F8F9FA"/>
          </a:solidFill>
          <a:ln w="25400">
            <a:solidFill>
              <a:srgbClr val="F9AB00"/>
            </a:solidFill>
            <a:prstDash val="solid"/>
          </a:ln>
        </p:spPr>
      </p:sp>
      <p:sp>
        <p:nvSpPr>
          <p:cNvPr id="8" name="Shape 5"/>
          <p:cNvSpPr/>
          <p:nvPr/>
        </p:nvSpPr>
        <p:spPr>
          <a:xfrm>
            <a:off x="713232" y="1600200"/>
            <a:ext cx="420624" cy="420624"/>
          </a:xfrm>
          <a:prstGeom prst="ellipse">
            <a:avLst/>
          </a:prstGeom>
          <a:solidFill>
            <a:srgbClr val="F9AB00"/>
          </a:solidFill>
          <a:ln w="12700">
            <a:solidFill>
              <a:srgbClr val="F9AB00"/>
            </a:solidFill>
            <a:prstDash val="solid"/>
          </a:ln>
        </p:spPr>
      </p:sp>
      <p:sp>
        <p:nvSpPr>
          <p:cNvPr id="9" name="Shape 6"/>
          <p:cNvSpPr/>
          <p:nvPr/>
        </p:nvSpPr>
        <p:spPr>
          <a:xfrm rot="5400000">
            <a:off x="850392" y="1719072"/>
            <a:ext cx="182880" cy="182880"/>
          </a:xfrm>
          <a:prstGeom prst="triangle">
            <a:avLst/>
          </a:prstGeom>
          <a:solidFill>
            <a:srgbClr val="FFFFFF"/>
          </a:solidFill>
          <a:ln w="12700">
            <a:solidFill>
              <a:srgbClr val="FFFFFF"/>
            </a:solidFill>
            <a:prstDash val="solid"/>
          </a:ln>
        </p:spPr>
      </p:sp>
      <p:sp>
        <p:nvSpPr>
          <p:cNvPr id="10" name="Text 7"/>
          <p:cNvSpPr txBox="1"/>
          <p:nvPr/>
        </p:nvSpPr>
        <p:spPr>
          <a:xfrm>
            <a:off x="1325880" y="1600200"/>
            <a:ext cx="7360920" cy="2766060"/>
          </a:xfrm>
          <a:prstGeom prst="rect">
            <a:avLst/>
          </a:prstGeom>
          <a:noFill/>
          <a:ln/>
        </p:spPr>
        <p:txBody>
          <a:bodyPr wrap="square" lIns="0" tIns="0" rIns="0" bIns="0" rtlCol="0" anchor="t"/>
          <a:lstStyle/>
          <a:p>
            <a:pPr indent="0" marL="0">
              <a:buNone/>
            </a:pPr>
            <a:r>
              <a:rPr lang="en-US" sz="1300" i="1" dirty="0">
                <a:solidFill>
                  <a:srgbClr val="188038"/>
                </a:solidFill>
                <a:latin typeface="Courier New" pitchFamily="34" charset="0"/>
                <a:ea typeface="Courier New" pitchFamily="34" charset="-122"/>
                <a:cs typeface="Courier New" pitchFamily="34" charset="-120"/>
              </a:rPr>
              <a:t># Paso 2</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tecnologia = </a:t>
            </a:r>
            <a:pPr indent="0" marL="0">
              <a:buNone/>
            </a:pPr>
            <a:r>
              <a:rPr lang="en-US" sz="1300" dirty="0">
                <a:solidFill>
                  <a:srgbClr val="A31515"/>
                </a:solidFill>
                <a:latin typeface="Courier New" pitchFamily="34" charset="0"/>
                <a:ea typeface="Courier New" pitchFamily="34" charset="-122"/>
                <a:cs typeface="Courier New" pitchFamily="34" charset="-120"/>
              </a:rPr>
              <a:t>"solar"</a:t>
            </a:r>
            <a:pPr indent="0" marL="0">
              <a:buNone/>
            </a:pPr>
            <a:r>
              <a:rPr lang="en-US" sz="1300" dirty="0">
                <a:solidFill>
                  <a:srgbClr val="202124"/>
                </a:solidFill>
                <a:latin typeface="Courier New" pitchFamily="34" charset="0"/>
                <a:ea typeface="Courier New" pitchFamily="34" charset="-122"/>
                <a:cs typeface="Courier New" pitchFamily="34" charset="-120"/>
              </a:rPr>
              <a:t> </a:t>
            </a:r>
            <a:pPr indent="0" marL="0">
              <a:buNone/>
            </a:pPr>
            <a:r>
              <a:rPr lang="en-US" sz="1300" dirty="0">
                <a:solidFill>
                  <a:srgbClr val="80868B"/>
                </a:solidFill>
                <a:latin typeface="Courier New" pitchFamily="34" charset="0"/>
                <a:ea typeface="Courier New" pitchFamily="34" charset="-122"/>
                <a:cs typeface="Courier New" pitchFamily="34" charset="-120"/>
              </a:rPr>
              <a:t>#@param ["hidro", "solar", "eolica", "gas", "carbon", "diesel"]</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region = </a:t>
            </a:r>
            <a:pPr indent="0" marL="0">
              <a:buNone/>
            </a:pPr>
            <a:r>
              <a:rPr lang="en-US" sz="1300" dirty="0">
                <a:solidFill>
                  <a:srgbClr val="A31515"/>
                </a:solidFill>
                <a:latin typeface="Courier New" pitchFamily="34" charset="0"/>
                <a:ea typeface="Courier New" pitchFamily="34" charset="-122"/>
                <a:cs typeface="Courier New" pitchFamily="34" charset="-120"/>
              </a:rPr>
              <a:t>"Antofagasta"</a:t>
            </a:r>
            <a:pPr indent="0" marL="0">
              <a:buNone/>
            </a:pPr>
            <a:r>
              <a:rPr lang="en-US" sz="1300" dirty="0">
                <a:solidFill>
                  <a:srgbClr val="202124"/>
                </a:solidFill>
                <a:latin typeface="Courier New" pitchFamily="34" charset="0"/>
                <a:ea typeface="Courier New" pitchFamily="34" charset="-122"/>
                <a:cs typeface="Courier New" pitchFamily="34" charset="-120"/>
              </a:rPr>
              <a:t> </a:t>
            </a:r>
            <a:pPr indent="0" marL="0">
              <a:buNone/>
            </a:pPr>
            <a:r>
              <a:rPr lang="en-US" sz="1300" dirty="0">
                <a:solidFill>
                  <a:srgbClr val="80868B"/>
                </a:solidFill>
                <a:latin typeface="Courier New" pitchFamily="34" charset="0"/>
                <a:ea typeface="Courier New" pitchFamily="34" charset="-122"/>
                <a:cs typeface="Courier New" pitchFamily="34" charset="-120"/>
              </a:rPr>
              <a:t>#@param ["Antofagasta", "Atacama", "Coquimbo", "Valparaíso", "Metropolitana", "Biobío", "Los Lagos"]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El signo &amp; se lee como "y". Cada condición va entre paréntesis.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elegidas = gen[(gen[</a:t>
            </a:r>
            <a:pPr indent="0" marL="0">
              <a:buNone/>
            </a:pPr>
            <a:r>
              <a:rPr lang="en-US" sz="1300" dirty="0">
                <a:solidFill>
                  <a:srgbClr val="A31515"/>
                </a:solidFill>
                <a:latin typeface="Courier New" pitchFamily="34" charset="0"/>
                <a:ea typeface="Courier New" pitchFamily="34" charset="-122"/>
                <a:cs typeface="Courier New" pitchFamily="34" charset="-120"/>
              </a:rPr>
              <a:t>"tecnologia"</a:t>
            </a:r>
            <a:pPr indent="0" marL="0">
              <a:buNone/>
            </a:pPr>
            <a:r>
              <a:rPr lang="en-US" sz="1300" dirty="0">
                <a:solidFill>
                  <a:srgbClr val="202124"/>
                </a:solidFill>
                <a:latin typeface="Courier New" pitchFamily="34" charset="0"/>
                <a:ea typeface="Courier New" pitchFamily="34" charset="-122"/>
                <a:cs typeface="Courier New" pitchFamily="34" charset="-120"/>
              </a:rPr>
              <a:t>] == tecnologia) &amp; (gen[</a:t>
            </a:r>
            <a:pPr indent="0" marL="0">
              <a:buNone/>
            </a:pPr>
            <a:r>
              <a:rPr lang="en-US" sz="1300" dirty="0">
                <a:solidFill>
                  <a:srgbClr val="A31515"/>
                </a:solidFill>
                <a:latin typeface="Courier New" pitchFamily="34" charset="0"/>
                <a:ea typeface="Courier New" pitchFamily="34" charset="-122"/>
                <a:cs typeface="Courier New" pitchFamily="34" charset="-120"/>
              </a:rPr>
              <a:t>"region"</a:t>
            </a:r>
            <a:pPr indent="0" marL="0">
              <a:buNone/>
            </a:pPr>
            <a:r>
              <a:rPr lang="en-US" sz="1300" dirty="0">
                <a:solidFill>
                  <a:srgbClr val="202124"/>
                </a:solidFill>
                <a:latin typeface="Courier New" pitchFamily="34" charset="0"/>
                <a:ea typeface="Courier New" pitchFamily="34" charset="-122"/>
                <a:cs typeface="Courier New" pitchFamily="34" charset="-120"/>
              </a:rPr>
              <a:t>] == region)]</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"Filas encontradas"</a:t>
            </a:r>
            <a:pPr indent="0" marL="0">
              <a:buNone/>
            </a:pPr>
            <a:r>
              <a:rPr lang="en-US" sz="1300" dirty="0">
                <a:solidFill>
                  <a:srgbClr val="202124"/>
                </a:solidFill>
                <a:latin typeface="Courier New" pitchFamily="34" charset="0"/>
                <a:ea typeface="Courier New" pitchFamily="34" charset="-122"/>
                <a:cs typeface="Courier New" pitchFamily="34" charset="-120"/>
              </a:rPr>
              <a:t>, len(elegidas))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total = round(elegidas[</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].sum())</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print(f</a:t>
            </a:r>
            <a:pPr indent="0" marL="0">
              <a:buNone/>
            </a:pPr>
            <a:r>
              <a:rPr lang="en-US" sz="1300" dirty="0">
                <a:solidFill>
                  <a:srgbClr val="A31515"/>
                </a:solidFill>
                <a:latin typeface="Courier New" pitchFamily="34" charset="0"/>
                <a:ea typeface="Courier New" pitchFamily="34" charset="-122"/>
                <a:cs typeface="Courier New" pitchFamily="34" charset="-120"/>
              </a:rPr>
              <a:t>"✓ Generación de {tecnologia} en {region}"</a:t>
            </a:r>
            <a:pPr indent="0" marL="0">
              <a:buNone/>
            </a:pPr>
            <a:r>
              <a:rPr lang="en-US" sz="1300" dirty="0">
                <a:solidFill>
                  <a:srgbClr val="202124"/>
                </a:solidFill>
                <a:latin typeface="Courier New" pitchFamily="34" charset="0"/>
                <a:ea typeface="Courier New" pitchFamily="34" charset="-122"/>
                <a:cs typeface="Courier New" pitchFamily="34" charset="-120"/>
              </a:rPr>
              <a:t>, total, </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p:txBody>
      </p:sp>
      <p:sp>
        <p:nvSpPr>
          <p:cNvPr id="11" name="Text 8"/>
          <p:cNvSpPr txBox="1"/>
          <p:nvPr/>
        </p:nvSpPr>
        <p:spPr>
          <a:xfrm>
            <a:off x="8823960" y="1618488"/>
            <a:ext cx="2651760" cy="228600"/>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tecnologia</a:t>
            </a:r>
            <a:endParaRPr lang="en-US" sz="1100" dirty="0"/>
          </a:p>
        </p:txBody>
      </p:sp>
      <p:sp>
        <p:nvSpPr>
          <p:cNvPr id="12" name="Shape 9"/>
          <p:cNvSpPr/>
          <p:nvPr/>
        </p:nvSpPr>
        <p:spPr>
          <a:xfrm>
            <a:off x="8823960" y="1874520"/>
            <a:ext cx="2651760" cy="347472"/>
          </a:xfrm>
          <a:prstGeom prst="rect">
            <a:avLst/>
          </a:prstGeom>
          <a:solidFill>
            <a:srgbClr val="FFFFFF"/>
          </a:solidFill>
          <a:ln w="12700">
            <a:solidFill>
              <a:srgbClr val="9AA0A6"/>
            </a:solidFill>
            <a:prstDash val="solid"/>
          </a:ln>
        </p:spPr>
      </p:sp>
      <p:sp>
        <p:nvSpPr>
          <p:cNvPr id="13" name="Text 10"/>
          <p:cNvSpPr txBox="1"/>
          <p:nvPr/>
        </p:nvSpPr>
        <p:spPr>
          <a:xfrm>
            <a:off x="8915400" y="1874520"/>
            <a:ext cx="2240280" cy="347472"/>
          </a:xfrm>
          <a:prstGeom prst="rect">
            <a:avLst/>
          </a:prstGeom>
          <a:noFill/>
          <a:ln/>
        </p:spPr>
        <p:txBody>
          <a:bodyPr wrap="square" lIns="0" tIns="0" rIns="0" bIns="0" rtlCol="0" anchor="ctr"/>
          <a:lstStyle/>
          <a:p>
            <a:pPr indent="0" marL="0">
              <a:buNone/>
            </a:pPr>
            <a:r>
              <a:rPr lang="en-US" sz="1200" dirty="0">
                <a:solidFill>
                  <a:srgbClr val="202124"/>
                </a:solidFill>
                <a:latin typeface="Calibri" pitchFamily="34" charset="0"/>
                <a:ea typeface="Calibri" pitchFamily="34" charset="-122"/>
                <a:cs typeface="Calibri" pitchFamily="34" charset="-120"/>
              </a:rPr>
              <a:t>solar</a:t>
            </a:r>
            <a:endParaRPr lang="en-US" sz="1200" dirty="0"/>
          </a:p>
        </p:txBody>
      </p:sp>
      <p:sp>
        <p:nvSpPr>
          <p:cNvPr id="14" name="Shape 11"/>
          <p:cNvSpPr/>
          <p:nvPr/>
        </p:nvSpPr>
        <p:spPr>
          <a:xfrm rot="10800000">
            <a:off x="11201400" y="2011680"/>
            <a:ext cx="128016" cy="82296"/>
          </a:xfrm>
          <a:prstGeom prst="triangle">
            <a:avLst/>
          </a:prstGeom>
          <a:solidFill>
            <a:srgbClr val="5F6368"/>
          </a:solidFill>
          <a:ln w="12700">
            <a:solidFill>
              <a:srgbClr val="5F6368"/>
            </a:solidFill>
            <a:prstDash val="solid"/>
          </a:ln>
        </p:spPr>
      </p:sp>
      <p:sp>
        <p:nvSpPr>
          <p:cNvPr id="15" name="Text 12"/>
          <p:cNvSpPr txBox="1"/>
          <p:nvPr/>
        </p:nvSpPr>
        <p:spPr>
          <a:xfrm>
            <a:off x="8823960" y="2350008"/>
            <a:ext cx="2651760" cy="228600"/>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region</a:t>
            </a:r>
            <a:endParaRPr lang="en-US" sz="1100" dirty="0"/>
          </a:p>
        </p:txBody>
      </p:sp>
      <p:sp>
        <p:nvSpPr>
          <p:cNvPr id="16" name="Shape 13"/>
          <p:cNvSpPr/>
          <p:nvPr/>
        </p:nvSpPr>
        <p:spPr>
          <a:xfrm>
            <a:off x="8823960" y="2606040"/>
            <a:ext cx="2651760" cy="347472"/>
          </a:xfrm>
          <a:prstGeom prst="rect">
            <a:avLst/>
          </a:prstGeom>
          <a:solidFill>
            <a:srgbClr val="FFFFFF"/>
          </a:solidFill>
          <a:ln w="12700">
            <a:solidFill>
              <a:srgbClr val="9AA0A6"/>
            </a:solidFill>
            <a:prstDash val="solid"/>
          </a:ln>
        </p:spPr>
      </p:sp>
      <p:sp>
        <p:nvSpPr>
          <p:cNvPr id="17" name="Text 14"/>
          <p:cNvSpPr txBox="1"/>
          <p:nvPr/>
        </p:nvSpPr>
        <p:spPr>
          <a:xfrm>
            <a:off x="8915400" y="2606040"/>
            <a:ext cx="2240280" cy="347472"/>
          </a:xfrm>
          <a:prstGeom prst="rect">
            <a:avLst/>
          </a:prstGeom>
          <a:noFill/>
          <a:ln/>
        </p:spPr>
        <p:txBody>
          <a:bodyPr wrap="square" lIns="0" tIns="0" rIns="0" bIns="0" rtlCol="0" anchor="ctr"/>
          <a:lstStyle/>
          <a:p>
            <a:pPr indent="0" marL="0">
              <a:buNone/>
            </a:pPr>
            <a:r>
              <a:rPr lang="en-US" sz="1200" dirty="0">
                <a:solidFill>
                  <a:srgbClr val="202124"/>
                </a:solidFill>
                <a:latin typeface="Calibri" pitchFamily="34" charset="0"/>
                <a:ea typeface="Calibri" pitchFamily="34" charset="-122"/>
                <a:cs typeface="Calibri" pitchFamily="34" charset="-120"/>
              </a:rPr>
              <a:t>Antofagasta</a:t>
            </a:r>
            <a:endParaRPr lang="en-US" sz="1200" dirty="0"/>
          </a:p>
        </p:txBody>
      </p:sp>
      <p:sp>
        <p:nvSpPr>
          <p:cNvPr id="18" name="Shape 15"/>
          <p:cNvSpPr/>
          <p:nvPr/>
        </p:nvSpPr>
        <p:spPr>
          <a:xfrm rot="10800000">
            <a:off x="11201400" y="2743200"/>
            <a:ext cx="128016" cy="82296"/>
          </a:xfrm>
          <a:prstGeom prst="triangle">
            <a:avLst/>
          </a:prstGeom>
          <a:solidFill>
            <a:srgbClr val="5F6368"/>
          </a:solidFill>
          <a:ln w="12700">
            <a:solidFill>
              <a:srgbClr val="5F6368"/>
            </a:solidFill>
            <a:prstDash val="solid"/>
          </a:ln>
        </p:spPr>
      </p:sp>
      <p:sp>
        <p:nvSpPr>
          <p:cNvPr id="19" name="Text 16"/>
          <p:cNvSpPr txBox="1"/>
          <p:nvPr/>
        </p:nvSpPr>
        <p:spPr>
          <a:xfrm>
            <a:off x="1325880" y="4466844"/>
            <a:ext cx="5486400" cy="256032"/>
          </a:xfrm>
          <a:prstGeom prst="rect">
            <a:avLst/>
          </a:prstGeom>
          <a:noFill/>
          <a:ln/>
        </p:spPr>
        <p:txBody>
          <a:bodyPr wrap="square" lIns="0" tIns="0" rIns="0" bIns="0" rtlCol="0" anchor="ctr"/>
          <a:lstStyle/>
          <a:p>
            <a:pPr indent="0" marL="0">
              <a:buNone/>
            </a:pPr>
            <a:r>
              <a:rPr lang="en-US" sz="1200" b="1" dirty="0">
                <a:solidFill>
                  <a:srgbClr val="B06000"/>
                </a:solidFill>
                <a:latin typeface="Calibri" pitchFamily="34" charset="0"/>
                <a:ea typeface="Calibri" pitchFamily="34" charset="-122"/>
                <a:cs typeface="Calibri" pitchFamily="34" charset="-120"/>
              </a:rPr>
              <a:t>Clic en el botón de play para correr la celda</a:t>
            </a:r>
            <a:endParaRPr lang="en-US" sz="1200" dirty="0"/>
          </a:p>
        </p:txBody>
      </p:sp>
      <p:sp>
        <p:nvSpPr>
          <p:cNvPr id="20" name="Text 17"/>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21" name="Shape 18"/>
          <p:cNvSpPr/>
          <p:nvPr/>
        </p:nvSpPr>
        <p:spPr>
          <a:xfrm>
            <a:off x="548640" y="6062472"/>
            <a:ext cx="1810512" cy="566928"/>
          </a:xfrm>
          <a:prstGeom prst="roundRect">
            <a:avLst>
              <a:gd name="adj" fmla="val 11290"/>
            </a:avLst>
          </a:prstGeom>
          <a:solidFill>
            <a:srgbClr val="F1F3F4"/>
          </a:solidFill>
          <a:ln w="12700">
            <a:solidFill>
              <a:srgbClr val="DADCE0"/>
            </a:solidFill>
            <a:prstDash val="solid"/>
          </a:ln>
        </p:spPr>
      </p:sp>
      <p:sp>
        <p:nvSpPr>
          <p:cNvPr id="22" name="Text 19"/>
          <p:cNvSpPr txBox="1"/>
          <p:nvPr/>
        </p:nvSpPr>
        <p:spPr>
          <a:xfrm>
            <a:off x="640080" y="6071616"/>
            <a:ext cx="167335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gen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175680 × 8</a:t>
            </a:r>
            <a:endParaRPr lang="en-US" sz="1200" dirty="0"/>
          </a:p>
        </p:txBody>
      </p:sp>
      <p:sp>
        <p:nvSpPr>
          <p:cNvPr id="23" name="Shape 20"/>
          <p:cNvSpPr/>
          <p:nvPr/>
        </p:nvSpPr>
        <p:spPr>
          <a:xfrm>
            <a:off x="2496312" y="6062472"/>
            <a:ext cx="1810512" cy="566928"/>
          </a:xfrm>
          <a:prstGeom prst="roundRect">
            <a:avLst>
              <a:gd name="adj" fmla="val 11290"/>
            </a:avLst>
          </a:prstGeom>
          <a:solidFill>
            <a:srgbClr val="F1F3F4"/>
          </a:solidFill>
          <a:ln w="12700">
            <a:solidFill>
              <a:srgbClr val="DADCE0"/>
            </a:solidFill>
            <a:prstDash val="solid"/>
          </a:ln>
        </p:spPr>
      </p:sp>
      <p:sp>
        <p:nvSpPr>
          <p:cNvPr id="24" name="Text 21"/>
          <p:cNvSpPr txBox="1"/>
          <p:nvPr/>
        </p:nvSpPr>
        <p:spPr>
          <a:xfrm>
            <a:off x="2587752" y="6071616"/>
            <a:ext cx="167335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generacion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175680 × 4</a:t>
            </a:r>
            <a:endParaRPr lang="en-US" sz="1200" dirty="0"/>
          </a:p>
        </p:txBody>
      </p:sp>
      <p:sp>
        <p:nvSpPr>
          <p:cNvPr id="25" name="Shape 22"/>
          <p:cNvSpPr/>
          <p:nvPr/>
        </p:nvSpPr>
        <p:spPr>
          <a:xfrm>
            <a:off x="4443984" y="6062472"/>
            <a:ext cx="1426464" cy="566928"/>
          </a:xfrm>
          <a:prstGeom prst="roundRect">
            <a:avLst>
              <a:gd name="adj" fmla="val 11290"/>
            </a:avLst>
          </a:prstGeom>
          <a:solidFill>
            <a:srgbClr val="F1F3F4"/>
          </a:solidFill>
          <a:ln w="12700">
            <a:solidFill>
              <a:srgbClr val="DADCE0"/>
            </a:solidFill>
            <a:prstDash val="solid"/>
          </a:ln>
        </p:spPr>
      </p:sp>
      <p:sp>
        <p:nvSpPr>
          <p:cNvPr id="26" name="Text 23"/>
          <p:cNvSpPr txBox="1"/>
          <p:nvPr/>
        </p:nvSpPr>
        <p:spPr>
          <a:xfrm>
            <a:off x="4535424" y="6071616"/>
            <a:ext cx="128930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centrales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20 × 5</a:t>
            </a:r>
            <a:endParaRPr lang="en-US" sz="1200" dirty="0"/>
          </a:p>
        </p:txBody>
      </p:sp>
      <p:sp>
        <p:nvSpPr>
          <p:cNvPr id="27" name="Shape 24"/>
          <p:cNvSpPr/>
          <p:nvPr/>
        </p:nvSpPr>
        <p:spPr>
          <a:xfrm>
            <a:off x="6007608" y="6062472"/>
            <a:ext cx="1143000" cy="566928"/>
          </a:xfrm>
          <a:prstGeom prst="roundRect">
            <a:avLst>
              <a:gd name="adj" fmla="val 11290"/>
            </a:avLst>
          </a:prstGeom>
          <a:solidFill>
            <a:srgbClr val="F1F3F4"/>
          </a:solidFill>
          <a:ln w="12700">
            <a:solidFill>
              <a:srgbClr val="DADCE0"/>
            </a:solidFill>
            <a:prstDash val="solid"/>
          </a:ln>
        </p:spPr>
      </p:sp>
      <p:sp>
        <p:nvSpPr>
          <p:cNvPr id="28" name="Text 25"/>
          <p:cNvSpPr txBox="1"/>
          <p:nvPr/>
        </p:nvSpPr>
        <p:spPr>
          <a:xfrm>
            <a:off x="6099048"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pandas</a:t>
            </a:r>
            <a:endParaRPr lang="en-US" sz="1200" dirty="0"/>
          </a:p>
        </p:txBody>
      </p:sp>
      <p:sp>
        <p:nvSpPr>
          <p:cNvPr id="29" name="Shape 26"/>
          <p:cNvSpPr/>
          <p:nvPr/>
        </p:nvSpPr>
        <p:spPr>
          <a:xfrm>
            <a:off x="7287768" y="6062472"/>
            <a:ext cx="2770632" cy="566928"/>
          </a:xfrm>
          <a:prstGeom prst="roundRect">
            <a:avLst>
              <a:gd name="adj" fmla="val 11290"/>
            </a:avLst>
          </a:prstGeom>
          <a:solidFill>
            <a:srgbClr val="F1F3F4"/>
          </a:solidFill>
          <a:ln w="12700">
            <a:solidFill>
              <a:srgbClr val="DADCE0"/>
            </a:solidFill>
            <a:prstDash val="solid"/>
          </a:ln>
        </p:spPr>
      </p:sp>
      <p:sp>
        <p:nvSpPr>
          <p:cNvPr id="30" name="Text 27"/>
          <p:cNvSpPr txBox="1"/>
          <p:nvPr/>
        </p:nvSpPr>
        <p:spPr>
          <a:xfrm>
            <a:off x="7379208" y="6071616"/>
            <a:ext cx="263347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DATOS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"https://raw.githubuserco…</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2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filtra con dos condiciones</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Cómo se lee esta línea, pieza por pieza</a:t>
            </a:r>
            <a:endParaRPr lang="en-US" sz="1400" dirty="0"/>
          </a:p>
        </p:txBody>
      </p:sp>
      <p:sp>
        <p:nvSpPr>
          <p:cNvPr id="6" name="Shape 4"/>
          <p:cNvSpPr/>
          <p:nvPr/>
        </p:nvSpPr>
        <p:spPr>
          <a:xfrm>
            <a:off x="548640" y="1463040"/>
            <a:ext cx="11091672" cy="482600"/>
          </a:xfrm>
          <a:prstGeom prst="roundRect">
            <a:avLst>
              <a:gd name="adj" fmla="val 11368"/>
            </a:avLst>
          </a:prstGeom>
          <a:solidFill>
            <a:srgbClr val="F8F9FA"/>
          </a:solidFill>
          <a:ln w="12700">
            <a:solidFill>
              <a:srgbClr val="DADCE0"/>
            </a:solidFill>
            <a:prstDash val="solid"/>
          </a:ln>
        </p:spPr>
      </p:sp>
      <p:sp>
        <p:nvSpPr>
          <p:cNvPr id="7" name="Text 5"/>
          <p:cNvSpPr txBox="1"/>
          <p:nvPr/>
        </p:nvSpPr>
        <p:spPr>
          <a:xfrm>
            <a:off x="822960" y="1554480"/>
            <a:ext cx="10634472" cy="345440"/>
          </a:xfrm>
          <a:prstGeom prst="rect">
            <a:avLst/>
          </a:prstGeom>
          <a:noFill/>
          <a:ln/>
        </p:spPr>
        <p:txBody>
          <a:bodyPr wrap="square" lIns="0" tIns="0" rIns="0" bIns="0" rtlCol="0" anchor="ctr"/>
          <a:lstStyle/>
          <a:p>
            <a:pPr indent="0" marL="0">
              <a:buNone/>
            </a:pPr>
            <a:r>
              <a:rPr lang="en-US" sz="1600" dirty="0">
                <a:solidFill>
                  <a:srgbClr val="202124"/>
                </a:solidFill>
                <a:latin typeface="Courier New" pitchFamily="34" charset="0"/>
                <a:ea typeface="Courier New" pitchFamily="34" charset="-122"/>
                <a:cs typeface="Courier New" pitchFamily="34" charset="-120"/>
              </a:rPr>
              <a:t>elegidas = gen[(gen[</a:t>
            </a:r>
            <a:pPr indent="0" marL="0">
              <a:buNone/>
            </a:pPr>
            <a:r>
              <a:rPr lang="en-US" sz="1600" dirty="0">
                <a:solidFill>
                  <a:srgbClr val="A31515"/>
                </a:solidFill>
                <a:latin typeface="Courier New" pitchFamily="34" charset="0"/>
                <a:ea typeface="Courier New" pitchFamily="34" charset="-122"/>
                <a:cs typeface="Courier New" pitchFamily="34" charset="-120"/>
              </a:rPr>
              <a:t>"tecnologia"</a:t>
            </a:r>
            <a:pPr indent="0" marL="0">
              <a:buNone/>
            </a:pPr>
            <a:r>
              <a:rPr lang="en-US" sz="1600" dirty="0">
                <a:solidFill>
                  <a:srgbClr val="202124"/>
                </a:solidFill>
                <a:latin typeface="Courier New" pitchFamily="34" charset="0"/>
                <a:ea typeface="Courier New" pitchFamily="34" charset="-122"/>
                <a:cs typeface="Courier New" pitchFamily="34" charset="-120"/>
              </a:rPr>
              <a:t>] == tecnologia) &amp; (gen[</a:t>
            </a:r>
            <a:pPr indent="0" marL="0">
              <a:buNone/>
            </a:pPr>
            <a:r>
              <a:rPr lang="en-US" sz="1600" dirty="0">
                <a:solidFill>
                  <a:srgbClr val="A31515"/>
                </a:solidFill>
                <a:latin typeface="Courier New" pitchFamily="34" charset="0"/>
                <a:ea typeface="Courier New" pitchFamily="34" charset="-122"/>
                <a:cs typeface="Courier New" pitchFamily="34" charset="-120"/>
              </a:rPr>
              <a:t>"region"</a:t>
            </a:r>
            <a:pPr indent="0" marL="0">
              <a:buNone/>
            </a:pPr>
            <a:r>
              <a:rPr lang="en-US" sz="1600" dirty="0">
                <a:solidFill>
                  <a:srgbClr val="202124"/>
                </a:solidFill>
                <a:latin typeface="Courier New" pitchFamily="34" charset="0"/>
                <a:ea typeface="Courier New" pitchFamily="34" charset="-122"/>
                <a:cs typeface="Courier New" pitchFamily="34" charset="-120"/>
              </a:rPr>
              <a:t>] == region)]</a:t>
            </a:r>
            <a:endParaRPr lang="en-US" sz="1600" dirty="0"/>
          </a:p>
        </p:txBody>
      </p:sp>
      <p:sp>
        <p:nvSpPr>
          <p:cNvPr id="8" name="Shape 6"/>
          <p:cNvSpPr/>
          <p:nvPr/>
        </p:nvSpPr>
        <p:spPr>
          <a:xfrm>
            <a:off x="548640" y="2375408"/>
            <a:ext cx="329184" cy="329184"/>
          </a:xfrm>
          <a:prstGeom prst="ellipse">
            <a:avLst/>
          </a:prstGeom>
          <a:solidFill>
            <a:srgbClr val="1A6FD4"/>
          </a:solidFill>
          <a:ln w="12700">
            <a:solidFill>
              <a:srgbClr val="1A6FD4"/>
            </a:solidFill>
            <a:prstDash val="solid"/>
          </a:ln>
        </p:spPr>
      </p:sp>
      <p:sp>
        <p:nvSpPr>
          <p:cNvPr id="9" name="Text 7"/>
          <p:cNvSpPr txBox="1"/>
          <p:nvPr/>
        </p:nvSpPr>
        <p:spPr>
          <a:xfrm>
            <a:off x="548640" y="23754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Shape 8"/>
          <p:cNvSpPr/>
          <p:nvPr/>
        </p:nvSpPr>
        <p:spPr>
          <a:xfrm>
            <a:off x="1051560" y="2219960"/>
            <a:ext cx="4937760" cy="640080"/>
          </a:xfrm>
          <a:prstGeom prst="roundRect">
            <a:avLst>
              <a:gd name="adj" fmla="val 7143"/>
            </a:avLst>
          </a:prstGeom>
          <a:solidFill>
            <a:srgbClr val="DBE9FB"/>
          </a:solidFill>
          <a:ln w="12700">
            <a:solidFill>
              <a:srgbClr val="DBE9FB"/>
            </a:solidFill>
            <a:prstDash val="solid"/>
          </a:ln>
        </p:spPr>
      </p:sp>
      <p:sp>
        <p:nvSpPr>
          <p:cNvPr id="11" name="Text 9"/>
          <p:cNvSpPr txBox="1"/>
          <p:nvPr/>
        </p:nvSpPr>
        <p:spPr>
          <a:xfrm>
            <a:off x="1170432" y="2219960"/>
            <a:ext cx="4754880" cy="640080"/>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gen["tecnologia"] == tecnologia</a:t>
            </a:r>
            <a:endParaRPr lang="en-US" sz="1400" dirty="0"/>
          </a:p>
        </p:txBody>
      </p:sp>
      <p:sp>
        <p:nvSpPr>
          <p:cNvPr id="12" name="Text 10"/>
          <p:cNvSpPr txBox="1"/>
          <p:nvPr/>
        </p:nvSpPr>
        <p:spPr>
          <a:xfrm>
            <a:off x="6263640" y="2219960"/>
            <a:ext cx="5376672" cy="640080"/>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Primera condición. Verdadero en las filas de la tecnología elegida.</a:t>
            </a:r>
            <a:endParaRPr lang="en-US" sz="1600" dirty="0"/>
          </a:p>
        </p:txBody>
      </p:sp>
      <p:sp>
        <p:nvSpPr>
          <p:cNvPr id="13" name="Shape 11"/>
          <p:cNvSpPr/>
          <p:nvPr/>
        </p:nvSpPr>
        <p:spPr>
          <a:xfrm>
            <a:off x="548640" y="3106928"/>
            <a:ext cx="329184" cy="329184"/>
          </a:xfrm>
          <a:prstGeom prst="ellipse">
            <a:avLst/>
          </a:prstGeom>
          <a:solidFill>
            <a:srgbClr val="1E8E3E"/>
          </a:solidFill>
          <a:ln w="12700">
            <a:solidFill>
              <a:srgbClr val="1E8E3E"/>
            </a:solidFill>
            <a:prstDash val="solid"/>
          </a:ln>
        </p:spPr>
      </p:sp>
      <p:sp>
        <p:nvSpPr>
          <p:cNvPr id="14" name="Text 12"/>
          <p:cNvSpPr txBox="1"/>
          <p:nvPr/>
        </p:nvSpPr>
        <p:spPr>
          <a:xfrm>
            <a:off x="548640" y="31069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Shape 13"/>
          <p:cNvSpPr/>
          <p:nvPr/>
        </p:nvSpPr>
        <p:spPr>
          <a:xfrm>
            <a:off x="1051560" y="2951480"/>
            <a:ext cx="4937760" cy="640080"/>
          </a:xfrm>
          <a:prstGeom prst="roundRect">
            <a:avLst>
              <a:gd name="adj" fmla="val 7143"/>
            </a:avLst>
          </a:prstGeom>
          <a:solidFill>
            <a:srgbClr val="DCEFE0"/>
          </a:solidFill>
          <a:ln w="12700">
            <a:solidFill>
              <a:srgbClr val="DCEFE0"/>
            </a:solidFill>
            <a:prstDash val="solid"/>
          </a:ln>
        </p:spPr>
      </p:sp>
      <p:sp>
        <p:nvSpPr>
          <p:cNvPr id="16" name="Text 14"/>
          <p:cNvSpPr txBox="1"/>
          <p:nvPr/>
        </p:nvSpPr>
        <p:spPr>
          <a:xfrm>
            <a:off x="1170432" y="2951480"/>
            <a:ext cx="4754880" cy="640080"/>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gen["region"] == region</a:t>
            </a:r>
            <a:endParaRPr lang="en-US" sz="1400" dirty="0"/>
          </a:p>
        </p:txBody>
      </p:sp>
      <p:sp>
        <p:nvSpPr>
          <p:cNvPr id="17" name="Text 15"/>
          <p:cNvSpPr txBox="1"/>
          <p:nvPr/>
        </p:nvSpPr>
        <p:spPr>
          <a:xfrm>
            <a:off x="6263640" y="2951480"/>
            <a:ext cx="5376672" cy="640080"/>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Segunda condición. Verdadero en las filas de la región elegida.</a:t>
            </a:r>
            <a:endParaRPr lang="en-US" sz="1600" dirty="0"/>
          </a:p>
        </p:txBody>
      </p:sp>
      <p:sp>
        <p:nvSpPr>
          <p:cNvPr id="18" name="Shape 16"/>
          <p:cNvSpPr/>
          <p:nvPr/>
        </p:nvSpPr>
        <p:spPr>
          <a:xfrm>
            <a:off x="548640" y="3971036"/>
            <a:ext cx="329184" cy="329184"/>
          </a:xfrm>
          <a:prstGeom prst="ellipse">
            <a:avLst/>
          </a:prstGeom>
          <a:solidFill>
            <a:srgbClr val="B07D00"/>
          </a:solidFill>
          <a:ln w="12700">
            <a:solidFill>
              <a:srgbClr val="B07D00"/>
            </a:solidFill>
            <a:prstDash val="solid"/>
          </a:ln>
        </p:spPr>
      </p:sp>
      <p:sp>
        <p:nvSpPr>
          <p:cNvPr id="19" name="Text 17"/>
          <p:cNvSpPr txBox="1"/>
          <p:nvPr/>
        </p:nvSpPr>
        <p:spPr>
          <a:xfrm>
            <a:off x="548640" y="397103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Shape 18"/>
          <p:cNvSpPr/>
          <p:nvPr/>
        </p:nvSpPr>
        <p:spPr>
          <a:xfrm>
            <a:off x="1051560" y="3683000"/>
            <a:ext cx="4937760" cy="905256"/>
          </a:xfrm>
          <a:prstGeom prst="roundRect">
            <a:avLst>
              <a:gd name="adj" fmla="val 5051"/>
            </a:avLst>
          </a:prstGeom>
          <a:solidFill>
            <a:srgbClr val="FDF0C8"/>
          </a:solidFill>
          <a:ln w="12700">
            <a:solidFill>
              <a:srgbClr val="FDF0C8"/>
            </a:solidFill>
            <a:prstDash val="solid"/>
          </a:ln>
        </p:spPr>
      </p:sp>
      <p:sp>
        <p:nvSpPr>
          <p:cNvPr id="21" name="Text 19"/>
          <p:cNvSpPr txBox="1"/>
          <p:nvPr/>
        </p:nvSpPr>
        <p:spPr>
          <a:xfrm>
            <a:off x="1170432" y="3683000"/>
            <a:ext cx="4754880" cy="905256"/>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 ... ) &amp; ( ... )</a:t>
            </a:r>
            <a:endParaRPr lang="en-US" sz="1400" dirty="0"/>
          </a:p>
        </p:txBody>
      </p:sp>
      <p:sp>
        <p:nvSpPr>
          <p:cNvPr id="22" name="Text 20"/>
          <p:cNvSpPr txBox="1"/>
          <p:nvPr/>
        </p:nvSpPr>
        <p:spPr>
          <a:xfrm>
            <a:off x="6263640" y="3683000"/>
            <a:ext cx="5376672" cy="905256"/>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El &amp; se lee y. Verdadero solo donde se cumplen las dos. Cada condición va entre paréntesis, si no, Python da error.</a:t>
            </a:r>
            <a:endParaRPr lang="en-US" sz="1600" dirty="0"/>
          </a:p>
        </p:txBody>
      </p:sp>
      <p:sp>
        <p:nvSpPr>
          <p:cNvPr id="23" name="Shape 21"/>
          <p:cNvSpPr/>
          <p:nvPr/>
        </p:nvSpPr>
        <p:spPr>
          <a:xfrm>
            <a:off x="548640" y="4780280"/>
            <a:ext cx="329184" cy="329184"/>
          </a:xfrm>
          <a:prstGeom prst="ellipse">
            <a:avLst/>
          </a:prstGeom>
          <a:solidFill>
            <a:srgbClr val="7B4FC9"/>
          </a:solidFill>
          <a:ln w="12700">
            <a:solidFill>
              <a:srgbClr val="7B4FC9"/>
            </a:solidFill>
            <a:prstDash val="solid"/>
          </a:ln>
        </p:spPr>
      </p:sp>
      <p:sp>
        <p:nvSpPr>
          <p:cNvPr id="24" name="Text 22"/>
          <p:cNvSpPr txBox="1"/>
          <p:nvPr/>
        </p:nvSpPr>
        <p:spPr>
          <a:xfrm>
            <a:off x="548640" y="47802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Shape 23"/>
          <p:cNvSpPr/>
          <p:nvPr/>
        </p:nvSpPr>
        <p:spPr>
          <a:xfrm>
            <a:off x="1051560" y="4679696"/>
            <a:ext cx="4937760" cy="530352"/>
          </a:xfrm>
          <a:prstGeom prst="roundRect">
            <a:avLst>
              <a:gd name="adj" fmla="val 8621"/>
            </a:avLst>
          </a:prstGeom>
          <a:solidFill>
            <a:srgbClr val="ECE2FA"/>
          </a:solidFill>
          <a:ln w="12700">
            <a:solidFill>
              <a:srgbClr val="ECE2FA"/>
            </a:solidFill>
            <a:prstDash val="solid"/>
          </a:ln>
        </p:spPr>
      </p:sp>
      <p:sp>
        <p:nvSpPr>
          <p:cNvPr id="26" name="Text 24"/>
          <p:cNvSpPr txBox="1"/>
          <p:nvPr/>
        </p:nvSpPr>
        <p:spPr>
          <a:xfrm>
            <a:off x="1170432" y="4679696"/>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gen[ ... ]</a:t>
            </a:r>
            <a:endParaRPr lang="en-US" sz="1400" dirty="0"/>
          </a:p>
        </p:txBody>
      </p:sp>
      <p:sp>
        <p:nvSpPr>
          <p:cNvPr id="27" name="Text 25"/>
          <p:cNvSpPr txBox="1"/>
          <p:nvPr/>
        </p:nvSpPr>
        <p:spPr>
          <a:xfrm>
            <a:off x="6263640" y="4679696"/>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La tabla deja pasar solo las filas con verdadero.</a:t>
            </a:r>
            <a:endParaRPr lang="en-US" sz="1600" dirty="0"/>
          </a:p>
        </p:txBody>
      </p:sp>
      <p:sp>
        <p:nvSpPr>
          <p:cNvPr id="28" name="Shape 26"/>
          <p:cNvSpPr/>
          <p:nvPr/>
        </p:nvSpPr>
        <p:spPr>
          <a:xfrm>
            <a:off x="548640" y="5989320"/>
            <a:ext cx="73152" cy="548640"/>
          </a:xfrm>
          <a:prstGeom prst="rect">
            <a:avLst/>
          </a:prstGeom>
          <a:solidFill>
            <a:srgbClr val="0B3D62"/>
          </a:solidFill>
          <a:ln w="12700">
            <a:solidFill>
              <a:srgbClr val="0B3D62"/>
            </a:solidFill>
            <a:prstDash val="solid"/>
          </a:ln>
        </p:spPr>
      </p:sp>
      <p:sp>
        <p:nvSpPr>
          <p:cNvPr id="29" name="Text 27"/>
          <p:cNvSpPr txBox="1"/>
          <p:nvPr/>
        </p:nvSpPr>
        <p:spPr>
          <a:xfrm>
            <a:off x="777240" y="5989320"/>
            <a:ext cx="10863072" cy="548640"/>
          </a:xfrm>
          <a:prstGeom prst="rect">
            <a:avLst/>
          </a:prstGeom>
          <a:noFill/>
          <a:ln/>
        </p:spPr>
        <p:txBody>
          <a:bodyPr wrap="square" lIns="0" tIns="0" rIns="0" bIns="0"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Se lee así  </a:t>
            </a:r>
            <a:pPr indent="0" marL="0">
              <a:buNone/>
            </a:pPr>
            <a:r>
              <a:rPr lang="en-US" sz="1500" dirty="0">
                <a:solidFill>
                  <a:srgbClr val="202124"/>
                </a:solidFill>
                <a:latin typeface="Calibri" pitchFamily="34" charset="0"/>
                <a:ea typeface="Calibri" pitchFamily="34" charset="-122"/>
                <a:cs typeface="Calibri" pitchFamily="34" charset="-120"/>
              </a:rPr>
              <a:t>elegidas son las filas de gen de esa tecnología y de esa región a la vez.</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2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filtra con dos condiciones</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Elige una tecnología y una región en las listas y vuelve a correr la celda.</a:t>
            </a:r>
            <a:endParaRPr lang="en-US" sz="1400" dirty="0"/>
          </a:p>
        </p:txBody>
      </p:sp>
      <p:sp>
        <p:nvSpPr>
          <p:cNvPr id="6" name="Shape 4"/>
          <p:cNvSpPr/>
          <p:nvPr/>
        </p:nvSpPr>
        <p:spPr>
          <a:xfrm>
            <a:off x="548640" y="1481328"/>
            <a:ext cx="11091672" cy="2948940"/>
          </a:xfrm>
          <a:prstGeom prst="roundRect">
            <a:avLst>
              <a:gd name="adj" fmla="val 1860"/>
            </a:avLst>
          </a:prstGeom>
          <a:solidFill>
            <a:srgbClr val="F8F9FA"/>
          </a:solidFill>
          <a:ln w="12700">
            <a:solidFill>
              <a:srgbClr val="DADCE0"/>
            </a:solidFill>
            <a:prstDash val="solid"/>
          </a:ln>
        </p:spPr>
      </p:sp>
      <p:sp>
        <p:nvSpPr>
          <p:cNvPr id="7" name="Shape 5"/>
          <p:cNvSpPr/>
          <p:nvPr/>
        </p:nvSpPr>
        <p:spPr>
          <a:xfrm>
            <a:off x="713232" y="1600200"/>
            <a:ext cx="420624" cy="420624"/>
          </a:xfrm>
          <a:prstGeom prst="ellipse">
            <a:avLst/>
          </a:prstGeom>
          <a:solidFill>
            <a:srgbClr val="E8EAED"/>
          </a:solidFill>
          <a:ln w="12700">
            <a:solidFill>
              <a:srgbClr val="E8EAED"/>
            </a:solidFill>
            <a:prstDash val="solid"/>
          </a:ln>
        </p:spPr>
      </p:sp>
      <p:sp>
        <p:nvSpPr>
          <p:cNvPr id="8" name="Shape 6"/>
          <p:cNvSpPr/>
          <p:nvPr/>
        </p:nvSpPr>
        <p:spPr>
          <a:xfrm rot="5400000">
            <a:off x="850392" y="1719072"/>
            <a:ext cx="182880" cy="182880"/>
          </a:xfrm>
          <a:prstGeom prst="triangle">
            <a:avLst/>
          </a:prstGeom>
          <a:solidFill>
            <a:srgbClr val="5F6368"/>
          </a:solidFill>
          <a:ln w="12700">
            <a:solidFill>
              <a:srgbClr val="5F6368"/>
            </a:solidFill>
            <a:prstDash val="solid"/>
          </a:ln>
        </p:spPr>
      </p:sp>
      <p:sp>
        <p:nvSpPr>
          <p:cNvPr id="9" name="Text 7"/>
          <p:cNvSpPr txBox="1"/>
          <p:nvPr/>
        </p:nvSpPr>
        <p:spPr>
          <a:xfrm>
            <a:off x="1325880" y="1600200"/>
            <a:ext cx="7360920" cy="2766060"/>
          </a:xfrm>
          <a:prstGeom prst="rect">
            <a:avLst/>
          </a:prstGeom>
          <a:noFill/>
          <a:ln/>
        </p:spPr>
        <p:txBody>
          <a:bodyPr wrap="square" lIns="0" tIns="0" rIns="0" bIns="0" rtlCol="0" anchor="t"/>
          <a:lstStyle/>
          <a:p>
            <a:pPr indent="0" marL="0">
              <a:buNone/>
            </a:pPr>
            <a:r>
              <a:rPr lang="en-US" sz="1300" i="1" dirty="0">
                <a:solidFill>
                  <a:srgbClr val="188038"/>
                </a:solidFill>
                <a:latin typeface="Courier New" pitchFamily="34" charset="0"/>
                <a:ea typeface="Courier New" pitchFamily="34" charset="-122"/>
                <a:cs typeface="Courier New" pitchFamily="34" charset="-120"/>
              </a:rPr>
              <a:t># Paso 2</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tecnologia = </a:t>
            </a:r>
            <a:pPr indent="0" marL="0">
              <a:buNone/>
            </a:pPr>
            <a:r>
              <a:rPr lang="en-US" sz="1300" dirty="0">
                <a:solidFill>
                  <a:srgbClr val="A31515"/>
                </a:solidFill>
                <a:latin typeface="Courier New" pitchFamily="34" charset="0"/>
                <a:ea typeface="Courier New" pitchFamily="34" charset="-122"/>
                <a:cs typeface="Courier New" pitchFamily="34" charset="-120"/>
              </a:rPr>
              <a:t>"solar"</a:t>
            </a:r>
            <a:pPr indent="0" marL="0">
              <a:buNone/>
            </a:pPr>
            <a:r>
              <a:rPr lang="en-US" sz="1300" dirty="0">
                <a:solidFill>
                  <a:srgbClr val="202124"/>
                </a:solidFill>
                <a:latin typeface="Courier New" pitchFamily="34" charset="0"/>
                <a:ea typeface="Courier New" pitchFamily="34" charset="-122"/>
                <a:cs typeface="Courier New" pitchFamily="34" charset="-120"/>
              </a:rPr>
              <a:t> </a:t>
            </a:r>
            <a:pPr indent="0" marL="0">
              <a:buNone/>
            </a:pPr>
            <a:r>
              <a:rPr lang="en-US" sz="1300" dirty="0">
                <a:solidFill>
                  <a:srgbClr val="80868B"/>
                </a:solidFill>
                <a:latin typeface="Courier New" pitchFamily="34" charset="0"/>
                <a:ea typeface="Courier New" pitchFamily="34" charset="-122"/>
                <a:cs typeface="Courier New" pitchFamily="34" charset="-120"/>
              </a:rPr>
              <a:t>#@param ["hidro", "solar", "eolica", "gas", "carbon", "diesel"]</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region = </a:t>
            </a:r>
            <a:pPr indent="0" marL="0">
              <a:buNone/>
            </a:pPr>
            <a:r>
              <a:rPr lang="en-US" sz="1300" dirty="0">
                <a:solidFill>
                  <a:srgbClr val="A31515"/>
                </a:solidFill>
                <a:latin typeface="Courier New" pitchFamily="34" charset="0"/>
                <a:ea typeface="Courier New" pitchFamily="34" charset="-122"/>
                <a:cs typeface="Courier New" pitchFamily="34" charset="-120"/>
              </a:rPr>
              <a:t>"Antofagasta"</a:t>
            </a:r>
            <a:pPr indent="0" marL="0">
              <a:buNone/>
            </a:pPr>
            <a:r>
              <a:rPr lang="en-US" sz="1300" dirty="0">
                <a:solidFill>
                  <a:srgbClr val="202124"/>
                </a:solidFill>
                <a:latin typeface="Courier New" pitchFamily="34" charset="0"/>
                <a:ea typeface="Courier New" pitchFamily="34" charset="-122"/>
                <a:cs typeface="Courier New" pitchFamily="34" charset="-120"/>
              </a:rPr>
              <a:t> </a:t>
            </a:r>
            <a:pPr indent="0" marL="0">
              <a:buNone/>
            </a:pPr>
            <a:r>
              <a:rPr lang="en-US" sz="1300" dirty="0">
                <a:solidFill>
                  <a:srgbClr val="80868B"/>
                </a:solidFill>
                <a:latin typeface="Courier New" pitchFamily="34" charset="0"/>
                <a:ea typeface="Courier New" pitchFamily="34" charset="-122"/>
                <a:cs typeface="Courier New" pitchFamily="34" charset="-120"/>
              </a:rPr>
              <a:t>#@param ["Antofagasta", "Atacama", "Coquimbo", "Valparaíso", "Metropolitana", "Biobío", "Los Lagos"]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El signo &amp; se lee como "y". Cada condición va entre paréntesis.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elegidas = gen[(gen[</a:t>
            </a:r>
            <a:pPr indent="0" marL="0">
              <a:buNone/>
            </a:pPr>
            <a:r>
              <a:rPr lang="en-US" sz="1300" dirty="0">
                <a:solidFill>
                  <a:srgbClr val="A31515"/>
                </a:solidFill>
                <a:latin typeface="Courier New" pitchFamily="34" charset="0"/>
                <a:ea typeface="Courier New" pitchFamily="34" charset="-122"/>
                <a:cs typeface="Courier New" pitchFamily="34" charset="-120"/>
              </a:rPr>
              <a:t>"tecnologia"</a:t>
            </a:r>
            <a:pPr indent="0" marL="0">
              <a:buNone/>
            </a:pPr>
            <a:r>
              <a:rPr lang="en-US" sz="1300" dirty="0">
                <a:solidFill>
                  <a:srgbClr val="202124"/>
                </a:solidFill>
                <a:latin typeface="Courier New" pitchFamily="34" charset="0"/>
                <a:ea typeface="Courier New" pitchFamily="34" charset="-122"/>
                <a:cs typeface="Courier New" pitchFamily="34" charset="-120"/>
              </a:rPr>
              <a:t>] == tecnologia) &amp; (gen[</a:t>
            </a:r>
            <a:pPr indent="0" marL="0">
              <a:buNone/>
            </a:pPr>
            <a:r>
              <a:rPr lang="en-US" sz="1300" dirty="0">
                <a:solidFill>
                  <a:srgbClr val="A31515"/>
                </a:solidFill>
                <a:latin typeface="Courier New" pitchFamily="34" charset="0"/>
                <a:ea typeface="Courier New" pitchFamily="34" charset="-122"/>
                <a:cs typeface="Courier New" pitchFamily="34" charset="-120"/>
              </a:rPr>
              <a:t>"region"</a:t>
            </a:r>
            <a:pPr indent="0" marL="0">
              <a:buNone/>
            </a:pPr>
            <a:r>
              <a:rPr lang="en-US" sz="1300" dirty="0">
                <a:solidFill>
                  <a:srgbClr val="202124"/>
                </a:solidFill>
                <a:latin typeface="Courier New" pitchFamily="34" charset="0"/>
                <a:ea typeface="Courier New" pitchFamily="34" charset="-122"/>
                <a:cs typeface="Courier New" pitchFamily="34" charset="-120"/>
              </a:rPr>
              <a:t>] == region)]</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"Filas encontradas"</a:t>
            </a:r>
            <a:pPr indent="0" marL="0">
              <a:buNone/>
            </a:pPr>
            <a:r>
              <a:rPr lang="en-US" sz="1300" dirty="0">
                <a:solidFill>
                  <a:srgbClr val="202124"/>
                </a:solidFill>
                <a:latin typeface="Courier New" pitchFamily="34" charset="0"/>
                <a:ea typeface="Courier New" pitchFamily="34" charset="-122"/>
                <a:cs typeface="Courier New" pitchFamily="34" charset="-120"/>
              </a:rPr>
              <a:t>, len(elegidas))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total = round(elegidas[</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].sum())</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print(f</a:t>
            </a:r>
            <a:pPr indent="0" marL="0">
              <a:buNone/>
            </a:pPr>
            <a:r>
              <a:rPr lang="en-US" sz="1300" dirty="0">
                <a:solidFill>
                  <a:srgbClr val="A31515"/>
                </a:solidFill>
                <a:latin typeface="Courier New" pitchFamily="34" charset="0"/>
                <a:ea typeface="Courier New" pitchFamily="34" charset="-122"/>
                <a:cs typeface="Courier New" pitchFamily="34" charset="-120"/>
              </a:rPr>
              <a:t>"✓ Generación de {tecnologia} en {region}"</a:t>
            </a:r>
            <a:pPr indent="0" marL="0">
              <a:buNone/>
            </a:pPr>
            <a:r>
              <a:rPr lang="en-US" sz="1300" dirty="0">
                <a:solidFill>
                  <a:srgbClr val="202124"/>
                </a:solidFill>
                <a:latin typeface="Courier New" pitchFamily="34" charset="0"/>
                <a:ea typeface="Courier New" pitchFamily="34" charset="-122"/>
                <a:cs typeface="Courier New" pitchFamily="34" charset="-120"/>
              </a:rPr>
              <a:t>, total, </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p:txBody>
      </p:sp>
      <p:sp>
        <p:nvSpPr>
          <p:cNvPr id="10" name="Text 8"/>
          <p:cNvSpPr txBox="1"/>
          <p:nvPr/>
        </p:nvSpPr>
        <p:spPr>
          <a:xfrm>
            <a:off x="8823960" y="1618488"/>
            <a:ext cx="2651760" cy="228600"/>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tecnologia</a:t>
            </a:r>
            <a:endParaRPr lang="en-US" sz="1100" dirty="0"/>
          </a:p>
        </p:txBody>
      </p:sp>
      <p:sp>
        <p:nvSpPr>
          <p:cNvPr id="11" name="Shape 9"/>
          <p:cNvSpPr/>
          <p:nvPr/>
        </p:nvSpPr>
        <p:spPr>
          <a:xfrm>
            <a:off x="8823960" y="1874520"/>
            <a:ext cx="2651760" cy="347472"/>
          </a:xfrm>
          <a:prstGeom prst="rect">
            <a:avLst/>
          </a:prstGeom>
          <a:solidFill>
            <a:srgbClr val="FFFFFF"/>
          </a:solidFill>
          <a:ln w="12700">
            <a:solidFill>
              <a:srgbClr val="9AA0A6"/>
            </a:solidFill>
            <a:prstDash val="solid"/>
          </a:ln>
        </p:spPr>
      </p:sp>
      <p:sp>
        <p:nvSpPr>
          <p:cNvPr id="12" name="Text 10"/>
          <p:cNvSpPr txBox="1"/>
          <p:nvPr/>
        </p:nvSpPr>
        <p:spPr>
          <a:xfrm>
            <a:off x="8915400" y="1874520"/>
            <a:ext cx="2240280" cy="347472"/>
          </a:xfrm>
          <a:prstGeom prst="rect">
            <a:avLst/>
          </a:prstGeom>
          <a:noFill/>
          <a:ln/>
        </p:spPr>
        <p:txBody>
          <a:bodyPr wrap="square" lIns="0" tIns="0" rIns="0" bIns="0" rtlCol="0" anchor="ctr"/>
          <a:lstStyle/>
          <a:p>
            <a:pPr indent="0" marL="0">
              <a:buNone/>
            </a:pPr>
            <a:r>
              <a:rPr lang="en-US" sz="1200" dirty="0">
                <a:solidFill>
                  <a:srgbClr val="202124"/>
                </a:solidFill>
                <a:latin typeface="Calibri" pitchFamily="34" charset="0"/>
                <a:ea typeface="Calibri" pitchFamily="34" charset="-122"/>
                <a:cs typeface="Calibri" pitchFamily="34" charset="-120"/>
              </a:rPr>
              <a:t>solar</a:t>
            </a:r>
            <a:endParaRPr lang="en-US" sz="1200" dirty="0"/>
          </a:p>
        </p:txBody>
      </p:sp>
      <p:sp>
        <p:nvSpPr>
          <p:cNvPr id="13" name="Shape 11"/>
          <p:cNvSpPr/>
          <p:nvPr/>
        </p:nvSpPr>
        <p:spPr>
          <a:xfrm rot="10800000">
            <a:off x="11201400" y="2011680"/>
            <a:ext cx="128016" cy="82296"/>
          </a:xfrm>
          <a:prstGeom prst="triangle">
            <a:avLst/>
          </a:prstGeom>
          <a:solidFill>
            <a:srgbClr val="5F6368"/>
          </a:solidFill>
          <a:ln w="12700">
            <a:solidFill>
              <a:srgbClr val="5F6368"/>
            </a:solidFill>
            <a:prstDash val="solid"/>
          </a:ln>
        </p:spPr>
      </p:sp>
      <p:sp>
        <p:nvSpPr>
          <p:cNvPr id="14" name="Text 12"/>
          <p:cNvSpPr txBox="1"/>
          <p:nvPr/>
        </p:nvSpPr>
        <p:spPr>
          <a:xfrm>
            <a:off x="8823960" y="2350008"/>
            <a:ext cx="2651760" cy="228600"/>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region</a:t>
            </a:r>
            <a:endParaRPr lang="en-US" sz="1100" dirty="0"/>
          </a:p>
        </p:txBody>
      </p:sp>
      <p:sp>
        <p:nvSpPr>
          <p:cNvPr id="15" name="Shape 13"/>
          <p:cNvSpPr/>
          <p:nvPr/>
        </p:nvSpPr>
        <p:spPr>
          <a:xfrm>
            <a:off x="8823960" y="2606040"/>
            <a:ext cx="2651760" cy="347472"/>
          </a:xfrm>
          <a:prstGeom prst="rect">
            <a:avLst/>
          </a:prstGeom>
          <a:solidFill>
            <a:srgbClr val="FFFFFF"/>
          </a:solidFill>
          <a:ln w="12700">
            <a:solidFill>
              <a:srgbClr val="9AA0A6"/>
            </a:solidFill>
            <a:prstDash val="solid"/>
          </a:ln>
        </p:spPr>
      </p:sp>
      <p:sp>
        <p:nvSpPr>
          <p:cNvPr id="16" name="Text 14"/>
          <p:cNvSpPr txBox="1"/>
          <p:nvPr/>
        </p:nvSpPr>
        <p:spPr>
          <a:xfrm>
            <a:off x="8915400" y="2606040"/>
            <a:ext cx="2240280" cy="347472"/>
          </a:xfrm>
          <a:prstGeom prst="rect">
            <a:avLst/>
          </a:prstGeom>
          <a:noFill/>
          <a:ln/>
        </p:spPr>
        <p:txBody>
          <a:bodyPr wrap="square" lIns="0" tIns="0" rIns="0" bIns="0" rtlCol="0" anchor="ctr"/>
          <a:lstStyle/>
          <a:p>
            <a:pPr indent="0" marL="0">
              <a:buNone/>
            </a:pPr>
            <a:r>
              <a:rPr lang="en-US" sz="1200" dirty="0">
                <a:solidFill>
                  <a:srgbClr val="202124"/>
                </a:solidFill>
                <a:latin typeface="Calibri" pitchFamily="34" charset="0"/>
                <a:ea typeface="Calibri" pitchFamily="34" charset="-122"/>
                <a:cs typeface="Calibri" pitchFamily="34" charset="-120"/>
              </a:rPr>
              <a:t>Antofagasta</a:t>
            </a:r>
            <a:endParaRPr lang="en-US" sz="1200" dirty="0"/>
          </a:p>
        </p:txBody>
      </p:sp>
      <p:sp>
        <p:nvSpPr>
          <p:cNvPr id="17" name="Shape 15"/>
          <p:cNvSpPr/>
          <p:nvPr/>
        </p:nvSpPr>
        <p:spPr>
          <a:xfrm rot="10800000">
            <a:off x="11201400" y="2743200"/>
            <a:ext cx="128016" cy="82296"/>
          </a:xfrm>
          <a:prstGeom prst="triangle">
            <a:avLst/>
          </a:prstGeom>
          <a:solidFill>
            <a:srgbClr val="5F6368"/>
          </a:solidFill>
          <a:ln w="12700">
            <a:solidFill>
              <a:srgbClr val="5F6368"/>
            </a:solidFill>
            <a:prstDash val="solid"/>
          </a:ln>
        </p:spPr>
      </p:sp>
      <p:sp>
        <p:nvSpPr>
          <p:cNvPr id="18" name="Shape 16"/>
          <p:cNvSpPr/>
          <p:nvPr/>
        </p:nvSpPr>
        <p:spPr>
          <a:xfrm>
            <a:off x="1325880" y="4539996"/>
            <a:ext cx="10314432" cy="585216"/>
          </a:xfrm>
          <a:prstGeom prst="rect">
            <a:avLst/>
          </a:prstGeom>
          <a:solidFill>
            <a:srgbClr val="FFFFFF"/>
          </a:solidFill>
          <a:ln w="12700">
            <a:solidFill>
              <a:srgbClr val="DADCE0"/>
            </a:solidFill>
            <a:prstDash val="solid"/>
          </a:ln>
        </p:spPr>
      </p:sp>
      <p:sp>
        <p:nvSpPr>
          <p:cNvPr id="19" name="Text 17"/>
          <p:cNvSpPr txBox="1"/>
          <p:nvPr/>
        </p:nvSpPr>
        <p:spPr>
          <a:xfrm>
            <a:off x="1463040" y="4613148"/>
            <a:ext cx="10085832" cy="457200"/>
          </a:xfrm>
          <a:prstGeom prst="rect">
            <a:avLst/>
          </a:prstGeom>
          <a:noFill/>
          <a:ln/>
        </p:spPr>
        <p:txBody>
          <a:bodyPr wrap="square" lIns="0" tIns="0" rIns="0" bIns="0" rtlCol="0" anchor="t"/>
          <a:lstStyle/>
          <a:p>
            <a:pPr indent="0" marL="0">
              <a:buNone/>
            </a:pPr>
            <a:r>
              <a:rPr lang="en-US" sz="1200" dirty="0">
                <a:solidFill>
                  <a:srgbClr val="202124"/>
                </a:solidFill>
                <a:latin typeface="Courier New" pitchFamily="34" charset="0"/>
                <a:ea typeface="Courier New" pitchFamily="34" charset="-122"/>
                <a:cs typeface="Courier New" pitchFamily="34" charset="-120"/>
              </a:rPr>
              <a:t>Filas encontradas 26352</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 Generación de solar en Antofagasta 479681 MWh</a:t>
            </a:r>
            <a:endParaRPr lang="en-US" sz="1200" dirty="0"/>
          </a:p>
        </p:txBody>
      </p:sp>
      <p:sp>
        <p:nvSpPr>
          <p:cNvPr id="21" name="Text 18"/>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22" name="Shape 19"/>
          <p:cNvSpPr/>
          <p:nvPr/>
        </p:nvSpPr>
        <p:spPr>
          <a:xfrm>
            <a:off x="548640" y="6062472"/>
            <a:ext cx="1810512" cy="566928"/>
          </a:xfrm>
          <a:prstGeom prst="roundRect">
            <a:avLst>
              <a:gd name="adj" fmla="val 11290"/>
            </a:avLst>
          </a:prstGeom>
          <a:solidFill>
            <a:srgbClr val="E8F0FE"/>
          </a:solidFill>
          <a:ln w="28575">
            <a:solidFill>
              <a:srgbClr val="1A73E8"/>
            </a:solidFill>
            <a:prstDash val="solid"/>
          </a:ln>
        </p:spPr>
      </p:sp>
      <p:sp>
        <p:nvSpPr>
          <p:cNvPr id="23" name="Text 20"/>
          <p:cNvSpPr txBox="1"/>
          <p:nvPr/>
        </p:nvSpPr>
        <p:spPr>
          <a:xfrm>
            <a:off x="640080" y="6071616"/>
            <a:ext cx="167335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gen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175680 × 8</a:t>
            </a:r>
            <a:endParaRPr lang="en-US" sz="1200" dirty="0"/>
          </a:p>
        </p:txBody>
      </p:sp>
      <p:sp>
        <p:nvSpPr>
          <p:cNvPr id="24" name="Shape 21"/>
          <p:cNvSpPr/>
          <p:nvPr/>
        </p:nvSpPr>
        <p:spPr>
          <a:xfrm>
            <a:off x="2496312" y="6062472"/>
            <a:ext cx="1234440" cy="566928"/>
          </a:xfrm>
          <a:prstGeom prst="roundRect">
            <a:avLst>
              <a:gd name="adj" fmla="val 11290"/>
            </a:avLst>
          </a:prstGeom>
          <a:solidFill>
            <a:srgbClr val="FEF3D6"/>
          </a:solidFill>
          <a:ln w="25400">
            <a:solidFill>
              <a:srgbClr val="F9AB00"/>
            </a:solidFill>
            <a:prstDash val="solid"/>
          </a:ln>
        </p:spPr>
      </p:sp>
      <p:sp>
        <p:nvSpPr>
          <p:cNvPr id="25" name="Text 22"/>
          <p:cNvSpPr txBox="1"/>
          <p:nvPr/>
        </p:nvSpPr>
        <p:spPr>
          <a:xfrm>
            <a:off x="2587752" y="6071616"/>
            <a:ext cx="109728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tecnologia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"solar"</a:t>
            </a:r>
            <a:endParaRPr lang="en-US" sz="1200" dirty="0"/>
          </a:p>
        </p:txBody>
      </p:sp>
      <p:sp>
        <p:nvSpPr>
          <p:cNvPr id="26" name="Shape 23"/>
          <p:cNvSpPr/>
          <p:nvPr/>
        </p:nvSpPr>
        <p:spPr>
          <a:xfrm>
            <a:off x="3867912" y="6062472"/>
            <a:ext cx="1522476" cy="566928"/>
          </a:xfrm>
          <a:prstGeom prst="roundRect">
            <a:avLst>
              <a:gd name="adj" fmla="val 11290"/>
            </a:avLst>
          </a:prstGeom>
          <a:solidFill>
            <a:srgbClr val="FEF3D6"/>
          </a:solidFill>
          <a:ln w="25400">
            <a:solidFill>
              <a:srgbClr val="F9AB00"/>
            </a:solidFill>
            <a:prstDash val="solid"/>
          </a:ln>
        </p:spPr>
      </p:sp>
      <p:sp>
        <p:nvSpPr>
          <p:cNvPr id="27" name="Text 24"/>
          <p:cNvSpPr txBox="1"/>
          <p:nvPr/>
        </p:nvSpPr>
        <p:spPr>
          <a:xfrm>
            <a:off x="3959352" y="6071616"/>
            <a:ext cx="138531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region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"Antofagasta"</a:t>
            </a:r>
            <a:endParaRPr lang="en-US" sz="1200" dirty="0"/>
          </a:p>
        </p:txBody>
      </p:sp>
      <p:sp>
        <p:nvSpPr>
          <p:cNvPr id="28" name="Shape 25"/>
          <p:cNvSpPr/>
          <p:nvPr/>
        </p:nvSpPr>
        <p:spPr>
          <a:xfrm>
            <a:off x="5527548" y="6062472"/>
            <a:ext cx="1714500" cy="566928"/>
          </a:xfrm>
          <a:prstGeom prst="roundRect">
            <a:avLst>
              <a:gd name="adj" fmla="val 11290"/>
            </a:avLst>
          </a:prstGeom>
          <a:solidFill>
            <a:srgbClr val="FEF3D6"/>
          </a:solidFill>
          <a:ln w="25400">
            <a:solidFill>
              <a:srgbClr val="F9AB00"/>
            </a:solidFill>
            <a:prstDash val="solid"/>
          </a:ln>
        </p:spPr>
      </p:sp>
      <p:sp>
        <p:nvSpPr>
          <p:cNvPr id="29" name="Text 26"/>
          <p:cNvSpPr txBox="1"/>
          <p:nvPr/>
        </p:nvSpPr>
        <p:spPr>
          <a:xfrm>
            <a:off x="5618988" y="6071616"/>
            <a:ext cx="15773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elegidas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26352 × 8</a:t>
            </a:r>
            <a:endParaRPr lang="en-US" sz="1200" dirty="0"/>
          </a:p>
        </p:txBody>
      </p:sp>
      <p:sp>
        <p:nvSpPr>
          <p:cNvPr id="30" name="Shape 27"/>
          <p:cNvSpPr/>
          <p:nvPr/>
        </p:nvSpPr>
        <p:spPr>
          <a:xfrm>
            <a:off x="7379208" y="6062472"/>
            <a:ext cx="1143000" cy="566928"/>
          </a:xfrm>
          <a:prstGeom prst="roundRect">
            <a:avLst>
              <a:gd name="adj" fmla="val 11290"/>
            </a:avLst>
          </a:prstGeom>
          <a:solidFill>
            <a:srgbClr val="FEF3D6"/>
          </a:solidFill>
          <a:ln w="25400">
            <a:solidFill>
              <a:srgbClr val="F9AB00"/>
            </a:solidFill>
            <a:prstDash val="solid"/>
          </a:ln>
        </p:spPr>
      </p:sp>
      <p:sp>
        <p:nvSpPr>
          <p:cNvPr id="31" name="Text 28"/>
          <p:cNvSpPr txBox="1"/>
          <p:nvPr/>
        </p:nvSpPr>
        <p:spPr>
          <a:xfrm>
            <a:off x="7470648"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total</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479681</a:t>
            </a:r>
            <a:endParaRPr lang="en-US" sz="1200" dirty="0"/>
          </a:p>
        </p:txBody>
      </p:sp>
      <p:sp>
        <p:nvSpPr>
          <p:cNvPr id="32" name="Shape 29"/>
          <p:cNvSpPr/>
          <p:nvPr/>
        </p:nvSpPr>
        <p:spPr>
          <a:xfrm>
            <a:off x="8659368" y="6062472"/>
            <a:ext cx="1810512" cy="566928"/>
          </a:xfrm>
          <a:prstGeom prst="roundRect">
            <a:avLst>
              <a:gd name="adj" fmla="val 11290"/>
            </a:avLst>
          </a:prstGeom>
          <a:solidFill>
            <a:srgbClr val="F1F3F4"/>
          </a:solidFill>
          <a:ln w="12700">
            <a:solidFill>
              <a:srgbClr val="DADCE0"/>
            </a:solidFill>
            <a:prstDash val="solid"/>
          </a:ln>
        </p:spPr>
      </p:sp>
      <p:sp>
        <p:nvSpPr>
          <p:cNvPr id="33" name="Text 30"/>
          <p:cNvSpPr txBox="1"/>
          <p:nvPr/>
        </p:nvSpPr>
        <p:spPr>
          <a:xfrm>
            <a:off x="8750808" y="6071616"/>
            <a:ext cx="167335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generacion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175680 × 4</a:t>
            </a:r>
            <a:endParaRPr lang="en-US" sz="1200" dirty="0"/>
          </a:p>
        </p:txBody>
      </p:sp>
      <p:sp>
        <p:nvSpPr>
          <p:cNvPr id="34" name="Text 31"/>
          <p:cNvSpPr txBox="1"/>
          <p:nvPr/>
        </p:nvSpPr>
        <p:spPr>
          <a:xfrm>
            <a:off x="10607040"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3 más</a:t>
            </a:r>
            <a:endParaRPr lang="en-US" sz="1200" dirty="0"/>
          </a:p>
        </p:txBody>
      </p:sp>
      <p:sp>
        <p:nvSpPr>
          <p:cNvPr id="35" name="Text 32"/>
          <p:cNvSpPr txBox="1"/>
          <p:nvPr/>
        </p:nvSpPr>
        <p:spPr>
          <a:xfrm>
            <a:off x="548640" y="6638544"/>
            <a:ext cx="11091672" cy="237744"/>
          </a:xfrm>
          <a:prstGeom prst="rect">
            <a:avLst/>
          </a:prstGeom>
          <a:noFill/>
          <a:ln/>
        </p:spPr>
        <p:txBody>
          <a:bodyPr wrap="square" lIns="0" tIns="0" rIns="0" bIns="0" rtlCol="0" anchor="ctr"/>
          <a:lstStyle/>
          <a:p>
            <a:pPr indent="0" marL="0">
              <a:buNone/>
            </a:pPr>
            <a:r>
              <a:rPr lang="en-US" sz="1300" i="1" dirty="0">
                <a:solidFill>
                  <a:srgbClr val="0B3D62"/>
                </a:solidFill>
                <a:latin typeface="Calibri" pitchFamily="34" charset="0"/>
                <a:ea typeface="Calibri" pitchFamily="34" charset="-122"/>
                <a:cs typeface="Calibri" pitchFamily="34" charset="-120"/>
              </a:rPr>
              <a:t>Las dos condiciones se cumplen a la vez en 26.352 filas.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4"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2 de 5</a:t>
            </a:r>
            <a:endParaRPr lang="en-US" sz="1400" dirty="0"/>
          </a:p>
        </p:txBody>
      </p:sp>
      <p:sp>
        <p:nvSpPr>
          <p:cNvPr id="5"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filtra con dos condiciones</a:t>
            </a:r>
            <a:endParaRPr lang="en-US" sz="2400" dirty="0"/>
          </a:p>
        </p:txBody>
      </p:sp>
      <p:sp>
        <p:nvSpPr>
          <p:cNvPr id="6"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Se elige hidro y Biobío y se vuelve a correr la celda.</a:t>
            </a:r>
            <a:endParaRPr lang="en-US" sz="1400" dirty="0"/>
          </a:p>
        </p:txBody>
      </p:sp>
      <p:sp>
        <p:nvSpPr>
          <p:cNvPr id="7" name="Shape 4"/>
          <p:cNvSpPr/>
          <p:nvPr/>
        </p:nvSpPr>
        <p:spPr>
          <a:xfrm>
            <a:off x="548640" y="1481328"/>
            <a:ext cx="11091672" cy="2948940"/>
          </a:xfrm>
          <a:prstGeom prst="roundRect">
            <a:avLst>
              <a:gd name="adj" fmla="val 1860"/>
            </a:avLst>
          </a:prstGeom>
          <a:solidFill>
            <a:srgbClr val="F8F9FA"/>
          </a:solidFill>
          <a:ln w="25400">
            <a:solidFill>
              <a:srgbClr val="F9AB00"/>
            </a:solidFill>
            <a:prstDash val="solid"/>
          </a:ln>
        </p:spPr>
      </p:sp>
      <p:sp>
        <p:nvSpPr>
          <p:cNvPr id="8" name="Shape 5"/>
          <p:cNvSpPr/>
          <p:nvPr/>
        </p:nvSpPr>
        <p:spPr>
          <a:xfrm>
            <a:off x="713232" y="1600200"/>
            <a:ext cx="420624" cy="420624"/>
          </a:xfrm>
          <a:prstGeom prst="ellipse">
            <a:avLst/>
          </a:prstGeom>
          <a:solidFill>
            <a:srgbClr val="F9AB00"/>
          </a:solidFill>
          <a:ln w="12700">
            <a:solidFill>
              <a:srgbClr val="F9AB00"/>
            </a:solidFill>
            <a:prstDash val="solid"/>
          </a:ln>
        </p:spPr>
      </p:sp>
      <p:sp>
        <p:nvSpPr>
          <p:cNvPr id="9" name="Shape 6"/>
          <p:cNvSpPr/>
          <p:nvPr/>
        </p:nvSpPr>
        <p:spPr>
          <a:xfrm rot="5400000">
            <a:off x="850392" y="1719072"/>
            <a:ext cx="182880" cy="182880"/>
          </a:xfrm>
          <a:prstGeom prst="triangle">
            <a:avLst/>
          </a:prstGeom>
          <a:solidFill>
            <a:srgbClr val="FFFFFF"/>
          </a:solidFill>
          <a:ln w="12700">
            <a:solidFill>
              <a:srgbClr val="FFFFFF"/>
            </a:solidFill>
            <a:prstDash val="solid"/>
          </a:ln>
        </p:spPr>
      </p:sp>
      <p:sp>
        <p:nvSpPr>
          <p:cNvPr id="10" name="Text 7"/>
          <p:cNvSpPr txBox="1"/>
          <p:nvPr/>
        </p:nvSpPr>
        <p:spPr>
          <a:xfrm>
            <a:off x="1325880" y="1600200"/>
            <a:ext cx="7360920" cy="2766060"/>
          </a:xfrm>
          <a:prstGeom prst="rect">
            <a:avLst/>
          </a:prstGeom>
          <a:noFill/>
          <a:ln/>
        </p:spPr>
        <p:txBody>
          <a:bodyPr wrap="square" lIns="0" tIns="0" rIns="0" bIns="0" rtlCol="0" anchor="t"/>
          <a:lstStyle/>
          <a:p>
            <a:pPr indent="0" marL="0">
              <a:buNone/>
            </a:pPr>
            <a:r>
              <a:rPr lang="en-US" sz="1300" i="1" dirty="0">
                <a:solidFill>
                  <a:srgbClr val="188038"/>
                </a:solidFill>
                <a:latin typeface="Courier New" pitchFamily="34" charset="0"/>
                <a:ea typeface="Courier New" pitchFamily="34" charset="-122"/>
                <a:cs typeface="Courier New" pitchFamily="34" charset="-120"/>
              </a:rPr>
              <a:t># Paso 2</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tecnologia = </a:t>
            </a:r>
            <a:pPr indent="0" marL="0">
              <a:buNone/>
            </a:pPr>
            <a:r>
              <a:rPr lang="en-US" sz="1300" dirty="0">
                <a:solidFill>
                  <a:srgbClr val="A31515"/>
                </a:solidFill>
                <a:latin typeface="Courier New" pitchFamily="34" charset="0"/>
                <a:ea typeface="Courier New" pitchFamily="34" charset="-122"/>
                <a:cs typeface="Courier New" pitchFamily="34" charset="-120"/>
              </a:rPr>
              <a:t>"hidro"</a:t>
            </a:r>
            <a:pPr indent="0" marL="0">
              <a:buNone/>
            </a:pPr>
            <a:r>
              <a:rPr lang="en-US" sz="1300" dirty="0">
                <a:solidFill>
                  <a:srgbClr val="202124"/>
                </a:solidFill>
                <a:latin typeface="Courier New" pitchFamily="34" charset="0"/>
                <a:ea typeface="Courier New" pitchFamily="34" charset="-122"/>
                <a:cs typeface="Courier New" pitchFamily="34" charset="-120"/>
              </a:rPr>
              <a:t> </a:t>
            </a:r>
            <a:pPr indent="0" marL="0">
              <a:buNone/>
            </a:pPr>
            <a:r>
              <a:rPr lang="en-US" sz="1300" dirty="0">
                <a:solidFill>
                  <a:srgbClr val="80868B"/>
                </a:solidFill>
                <a:latin typeface="Courier New" pitchFamily="34" charset="0"/>
                <a:ea typeface="Courier New" pitchFamily="34" charset="-122"/>
                <a:cs typeface="Courier New" pitchFamily="34" charset="-120"/>
              </a:rPr>
              <a:t>#@param ["hidro", "solar", "eolica", "gas", "carbon", "diesel"]</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region = </a:t>
            </a:r>
            <a:pPr indent="0" marL="0">
              <a:buNone/>
            </a:pPr>
            <a:r>
              <a:rPr lang="en-US" sz="1300" dirty="0">
                <a:solidFill>
                  <a:srgbClr val="A31515"/>
                </a:solidFill>
                <a:latin typeface="Courier New" pitchFamily="34" charset="0"/>
                <a:ea typeface="Courier New" pitchFamily="34" charset="-122"/>
                <a:cs typeface="Courier New" pitchFamily="34" charset="-120"/>
              </a:rPr>
              <a:t>"Biobío"</a:t>
            </a:r>
            <a:pPr indent="0" marL="0">
              <a:buNone/>
            </a:pPr>
            <a:r>
              <a:rPr lang="en-US" sz="1300" dirty="0">
                <a:solidFill>
                  <a:srgbClr val="202124"/>
                </a:solidFill>
                <a:latin typeface="Courier New" pitchFamily="34" charset="0"/>
                <a:ea typeface="Courier New" pitchFamily="34" charset="-122"/>
                <a:cs typeface="Courier New" pitchFamily="34" charset="-120"/>
              </a:rPr>
              <a:t> </a:t>
            </a:r>
            <a:pPr indent="0" marL="0">
              <a:buNone/>
            </a:pPr>
            <a:r>
              <a:rPr lang="en-US" sz="1300" dirty="0">
                <a:solidFill>
                  <a:srgbClr val="80868B"/>
                </a:solidFill>
                <a:latin typeface="Courier New" pitchFamily="34" charset="0"/>
                <a:ea typeface="Courier New" pitchFamily="34" charset="-122"/>
                <a:cs typeface="Courier New" pitchFamily="34" charset="-120"/>
              </a:rPr>
              <a:t>#@param ["Antofagasta", "Atacama", "Coquimbo", "Valparaíso", "Metropolitana", "Biobío", "Los Lagos"]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El signo &amp; se lee como "y". Cada condición va entre paréntesis.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elegidas = gen[(gen[</a:t>
            </a:r>
            <a:pPr indent="0" marL="0">
              <a:buNone/>
            </a:pPr>
            <a:r>
              <a:rPr lang="en-US" sz="1300" dirty="0">
                <a:solidFill>
                  <a:srgbClr val="A31515"/>
                </a:solidFill>
                <a:latin typeface="Courier New" pitchFamily="34" charset="0"/>
                <a:ea typeface="Courier New" pitchFamily="34" charset="-122"/>
                <a:cs typeface="Courier New" pitchFamily="34" charset="-120"/>
              </a:rPr>
              <a:t>"tecnologia"</a:t>
            </a:r>
            <a:pPr indent="0" marL="0">
              <a:buNone/>
            </a:pPr>
            <a:r>
              <a:rPr lang="en-US" sz="1300" dirty="0">
                <a:solidFill>
                  <a:srgbClr val="202124"/>
                </a:solidFill>
                <a:latin typeface="Courier New" pitchFamily="34" charset="0"/>
                <a:ea typeface="Courier New" pitchFamily="34" charset="-122"/>
                <a:cs typeface="Courier New" pitchFamily="34" charset="-120"/>
              </a:rPr>
              <a:t>] == tecnologia) &amp; (gen[</a:t>
            </a:r>
            <a:pPr indent="0" marL="0">
              <a:buNone/>
            </a:pPr>
            <a:r>
              <a:rPr lang="en-US" sz="1300" dirty="0">
                <a:solidFill>
                  <a:srgbClr val="A31515"/>
                </a:solidFill>
                <a:latin typeface="Courier New" pitchFamily="34" charset="0"/>
                <a:ea typeface="Courier New" pitchFamily="34" charset="-122"/>
                <a:cs typeface="Courier New" pitchFamily="34" charset="-120"/>
              </a:rPr>
              <a:t>"region"</a:t>
            </a:r>
            <a:pPr indent="0" marL="0">
              <a:buNone/>
            </a:pPr>
            <a:r>
              <a:rPr lang="en-US" sz="1300" dirty="0">
                <a:solidFill>
                  <a:srgbClr val="202124"/>
                </a:solidFill>
                <a:latin typeface="Courier New" pitchFamily="34" charset="0"/>
                <a:ea typeface="Courier New" pitchFamily="34" charset="-122"/>
                <a:cs typeface="Courier New" pitchFamily="34" charset="-120"/>
              </a:rPr>
              <a:t>] == region)]</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"Filas encontradas"</a:t>
            </a:r>
            <a:pPr indent="0" marL="0">
              <a:buNone/>
            </a:pPr>
            <a:r>
              <a:rPr lang="en-US" sz="1300" dirty="0">
                <a:solidFill>
                  <a:srgbClr val="202124"/>
                </a:solidFill>
                <a:latin typeface="Courier New" pitchFamily="34" charset="0"/>
                <a:ea typeface="Courier New" pitchFamily="34" charset="-122"/>
                <a:cs typeface="Courier New" pitchFamily="34" charset="-120"/>
              </a:rPr>
              <a:t>, len(elegidas))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total = round(elegidas[</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].sum())</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print(f</a:t>
            </a:r>
            <a:pPr indent="0" marL="0">
              <a:buNone/>
            </a:pPr>
            <a:r>
              <a:rPr lang="en-US" sz="1300" dirty="0">
                <a:solidFill>
                  <a:srgbClr val="A31515"/>
                </a:solidFill>
                <a:latin typeface="Courier New" pitchFamily="34" charset="0"/>
                <a:ea typeface="Courier New" pitchFamily="34" charset="-122"/>
                <a:cs typeface="Courier New" pitchFamily="34" charset="-120"/>
              </a:rPr>
              <a:t>"✓ Generación de {tecnologia} en {region}"</a:t>
            </a:r>
            <a:pPr indent="0" marL="0">
              <a:buNone/>
            </a:pPr>
            <a:r>
              <a:rPr lang="en-US" sz="1300" dirty="0">
                <a:solidFill>
                  <a:srgbClr val="202124"/>
                </a:solidFill>
                <a:latin typeface="Courier New" pitchFamily="34" charset="0"/>
                <a:ea typeface="Courier New" pitchFamily="34" charset="-122"/>
                <a:cs typeface="Courier New" pitchFamily="34" charset="-120"/>
              </a:rPr>
              <a:t>, total, </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p:txBody>
      </p:sp>
      <p:sp>
        <p:nvSpPr>
          <p:cNvPr id="11" name="Text 8"/>
          <p:cNvSpPr txBox="1"/>
          <p:nvPr/>
        </p:nvSpPr>
        <p:spPr>
          <a:xfrm>
            <a:off x="8823960" y="1618488"/>
            <a:ext cx="2651760" cy="228600"/>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tecnologia</a:t>
            </a:r>
            <a:endParaRPr lang="en-US" sz="1100" dirty="0"/>
          </a:p>
        </p:txBody>
      </p:sp>
      <p:sp>
        <p:nvSpPr>
          <p:cNvPr id="12" name="Shape 9"/>
          <p:cNvSpPr/>
          <p:nvPr/>
        </p:nvSpPr>
        <p:spPr>
          <a:xfrm>
            <a:off x="8823960" y="1874520"/>
            <a:ext cx="2651760" cy="347472"/>
          </a:xfrm>
          <a:prstGeom prst="rect">
            <a:avLst/>
          </a:prstGeom>
          <a:solidFill>
            <a:srgbClr val="FFFFFF"/>
          </a:solidFill>
          <a:ln w="25400">
            <a:solidFill>
              <a:srgbClr val="1A73E8"/>
            </a:solidFill>
            <a:prstDash val="solid"/>
          </a:ln>
        </p:spPr>
      </p:sp>
      <p:sp>
        <p:nvSpPr>
          <p:cNvPr id="13" name="Text 10"/>
          <p:cNvSpPr txBox="1"/>
          <p:nvPr/>
        </p:nvSpPr>
        <p:spPr>
          <a:xfrm>
            <a:off x="8915400" y="1874520"/>
            <a:ext cx="2240280" cy="347472"/>
          </a:xfrm>
          <a:prstGeom prst="rect">
            <a:avLst/>
          </a:prstGeom>
          <a:noFill/>
          <a:ln/>
        </p:spPr>
        <p:txBody>
          <a:bodyPr wrap="square" lIns="0" tIns="0" rIns="0" bIns="0" rtlCol="0" anchor="ctr"/>
          <a:lstStyle/>
          <a:p>
            <a:pPr indent="0" marL="0">
              <a:buNone/>
            </a:pPr>
            <a:r>
              <a:rPr lang="en-US" sz="1200" dirty="0">
                <a:solidFill>
                  <a:srgbClr val="202124"/>
                </a:solidFill>
                <a:latin typeface="Calibri" pitchFamily="34" charset="0"/>
                <a:ea typeface="Calibri" pitchFamily="34" charset="-122"/>
                <a:cs typeface="Calibri" pitchFamily="34" charset="-120"/>
              </a:rPr>
              <a:t>hidro</a:t>
            </a:r>
            <a:endParaRPr lang="en-US" sz="1200" dirty="0"/>
          </a:p>
        </p:txBody>
      </p:sp>
      <p:sp>
        <p:nvSpPr>
          <p:cNvPr id="14" name="Shape 11"/>
          <p:cNvSpPr/>
          <p:nvPr/>
        </p:nvSpPr>
        <p:spPr>
          <a:xfrm rot="10800000">
            <a:off x="11201400" y="2011680"/>
            <a:ext cx="128016" cy="82296"/>
          </a:xfrm>
          <a:prstGeom prst="triangle">
            <a:avLst/>
          </a:prstGeom>
          <a:solidFill>
            <a:srgbClr val="5F6368"/>
          </a:solidFill>
          <a:ln w="12700">
            <a:solidFill>
              <a:srgbClr val="5F6368"/>
            </a:solidFill>
            <a:prstDash val="solid"/>
          </a:ln>
        </p:spPr>
      </p:sp>
      <p:sp>
        <p:nvSpPr>
          <p:cNvPr id="15" name="Text 12"/>
          <p:cNvSpPr txBox="1"/>
          <p:nvPr/>
        </p:nvSpPr>
        <p:spPr>
          <a:xfrm>
            <a:off x="8823960" y="2350008"/>
            <a:ext cx="2651760" cy="228600"/>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region</a:t>
            </a:r>
            <a:endParaRPr lang="en-US" sz="1100" dirty="0"/>
          </a:p>
        </p:txBody>
      </p:sp>
      <p:sp>
        <p:nvSpPr>
          <p:cNvPr id="16" name="Shape 13"/>
          <p:cNvSpPr/>
          <p:nvPr/>
        </p:nvSpPr>
        <p:spPr>
          <a:xfrm>
            <a:off x="8823960" y="2606040"/>
            <a:ext cx="2651760" cy="347472"/>
          </a:xfrm>
          <a:prstGeom prst="rect">
            <a:avLst/>
          </a:prstGeom>
          <a:solidFill>
            <a:srgbClr val="FFFFFF"/>
          </a:solidFill>
          <a:ln w="25400">
            <a:solidFill>
              <a:srgbClr val="1A73E8"/>
            </a:solidFill>
            <a:prstDash val="solid"/>
          </a:ln>
        </p:spPr>
      </p:sp>
      <p:sp>
        <p:nvSpPr>
          <p:cNvPr id="17" name="Text 14"/>
          <p:cNvSpPr txBox="1"/>
          <p:nvPr/>
        </p:nvSpPr>
        <p:spPr>
          <a:xfrm>
            <a:off x="8915400" y="2606040"/>
            <a:ext cx="2240280" cy="347472"/>
          </a:xfrm>
          <a:prstGeom prst="rect">
            <a:avLst/>
          </a:prstGeom>
          <a:noFill/>
          <a:ln/>
        </p:spPr>
        <p:txBody>
          <a:bodyPr wrap="square" lIns="0" tIns="0" rIns="0" bIns="0" rtlCol="0" anchor="ctr"/>
          <a:lstStyle/>
          <a:p>
            <a:pPr indent="0" marL="0">
              <a:buNone/>
            </a:pPr>
            <a:r>
              <a:rPr lang="en-US" sz="1200" dirty="0">
                <a:solidFill>
                  <a:srgbClr val="202124"/>
                </a:solidFill>
                <a:latin typeface="Calibri" pitchFamily="34" charset="0"/>
                <a:ea typeface="Calibri" pitchFamily="34" charset="-122"/>
                <a:cs typeface="Calibri" pitchFamily="34" charset="-120"/>
              </a:rPr>
              <a:t>Biobío</a:t>
            </a:r>
            <a:endParaRPr lang="en-US" sz="1200" dirty="0"/>
          </a:p>
        </p:txBody>
      </p:sp>
      <p:sp>
        <p:nvSpPr>
          <p:cNvPr id="18" name="Shape 15"/>
          <p:cNvSpPr/>
          <p:nvPr/>
        </p:nvSpPr>
        <p:spPr>
          <a:xfrm rot="10800000">
            <a:off x="11201400" y="2743200"/>
            <a:ext cx="128016" cy="82296"/>
          </a:xfrm>
          <a:prstGeom prst="triangle">
            <a:avLst/>
          </a:prstGeom>
          <a:solidFill>
            <a:srgbClr val="5F6368"/>
          </a:solidFill>
          <a:ln w="12700">
            <a:solidFill>
              <a:srgbClr val="5F6368"/>
            </a:solidFill>
            <a:prstDash val="solid"/>
          </a:ln>
        </p:spPr>
      </p:sp>
      <p:sp>
        <p:nvSpPr>
          <p:cNvPr id="19" name="Text 16"/>
          <p:cNvSpPr txBox="1"/>
          <p:nvPr/>
        </p:nvSpPr>
        <p:spPr>
          <a:xfrm>
            <a:off x="1325880" y="4466844"/>
            <a:ext cx="5486400" cy="256032"/>
          </a:xfrm>
          <a:prstGeom prst="rect">
            <a:avLst/>
          </a:prstGeom>
          <a:noFill/>
          <a:ln/>
        </p:spPr>
        <p:txBody>
          <a:bodyPr wrap="square" lIns="0" tIns="0" rIns="0" bIns="0" rtlCol="0" anchor="ctr"/>
          <a:lstStyle/>
          <a:p>
            <a:pPr indent="0" marL="0">
              <a:buNone/>
            </a:pPr>
            <a:r>
              <a:rPr lang="en-US" sz="1200" b="1" dirty="0">
                <a:solidFill>
                  <a:srgbClr val="B06000"/>
                </a:solidFill>
                <a:latin typeface="Calibri" pitchFamily="34" charset="0"/>
                <a:ea typeface="Calibri" pitchFamily="34" charset="-122"/>
                <a:cs typeface="Calibri" pitchFamily="34" charset="-120"/>
              </a:rPr>
              <a:t>Clic en el botón de play para correr la celda</a:t>
            </a:r>
            <a:endParaRPr lang="en-US" sz="1200" dirty="0"/>
          </a:p>
        </p:txBody>
      </p:sp>
      <p:sp>
        <p:nvSpPr>
          <p:cNvPr id="20" name="Text 17"/>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21" name="Shape 18"/>
          <p:cNvSpPr/>
          <p:nvPr/>
        </p:nvSpPr>
        <p:spPr>
          <a:xfrm>
            <a:off x="548640" y="6062472"/>
            <a:ext cx="1143000" cy="566928"/>
          </a:xfrm>
          <a:prstGeom prst="roundRect">
            <a:avLst>
              <a:gd name="adj" fmla="val 11290"/>
            </a:avLst>
          </a:prstGeom>
          <a:solidFill>
            <a:srgbClr val="F1F3F4"/>
          </a:solidFill>
          <a:ln w="12700">
            <a:solidFill>
              <a:srgbClr val="DADCE0"/>
            </a:solidFill>
            <a:prstDash val="solid"/>
          </a:ln>
        </p:spPr>
      </p:sp>
      <p:sp>
        <p:nvSpPr>
          <p:cNvPr id="22" name="Text 19"/>
          <p:cNvSpPr txBox="1"/>
          <p:nvPr/>
        </p:nvSpPr>
        <p:spPr>
          <a:xfrm>
            <a:off x="640080"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total</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479681</a:t>
            </a:r>
            <a:endParaRPr lang="en-US" sz="1200" dirty="0"/>
          </a:p>
        </p:txBody>
      </p:sp>
      <p:sp>
        <p:nvSpPr>
          <p:cNvPr id="23" name="Shape 20"/>
          <p:cNvSpPr/>
          <p:nvPr/>
        </p:nvSpPr>
        <p:spPr>
          <a:xfrm>
            <a:off x="1828800" y="6062472"/>
            <a:ext cx="1714500" cy="566928"/>
          </a:xfrm>
          <a:prstGeom prst="roundRect">
            <a:avLst>
              <a:gd name="adj" fmla="val 11290"/>
            </a:avLst>
          </a:prstGeom>
          <a:solidFill>
            <a:srgbClr val="F1F3F4"/>
          </a:solidFill>
          <a:ln w="12700">
            <a:solidFill>
              <a:srgbClr val="DADCE0"/>
            </a:solidFill>
            <a:prstDash val="solid"/>
          </a:ln>
        </p:spPr>
      </p:sp>
      <p:sp>
        <p:nvSpPr>
          <p:cNvPr id="24" name="Text 21"/>
          <p:cNvSpPr txBox="1"/>
          <p:nvPr/>
        </p:nvSpPr>
        <p:spPr>
          <a:xfrm>
            <a:off x="1920240" y="6071616"/>
            <a:ext cx="15773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elegidas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26352 × 8</a:t>
            </a:r>
            <a:endParaRPr lang="en-US" sz="1200" dirty="0"/>
          </a:p>
        </p:txBody>
      </p:sp>
      <p:sp>
        <p:nvSpPr>
          <p:cNvPr id="25" name="Shape 22"/>
          <p:cNvSpPr/>
          <p:nvPr/>
        </p:nvSpPr>
        <p:spPr>
          <a:xfrm>
            <a:off x="3680460" y="6062472"/>
            <a:ext cx="1522476" cy="566928"/>
          </a:xfrm>
          <a:prstGeom prst="roundRect">
            <a:avLst>
              <a:gd name="adj" fmla="val 11290"/>
            </a:avLst>
          </a:prstGeom>
          <a:solidFill>
            <a:srgbClr val="F1F3F4"/>
          </a:solidFill>
          <a:ln w="12700">
            <a:solidFill>
              <a:srgbClr val="DADCE0"/>
            </a:solidFill>
            <a:prstDash val="solid"/>
          </a:ln>
        </p:spPr>
      </p:sp>
      <p:sp>
        <p:nvSpPr>
          <p:cNvPr id="26" name="Text 23"/>
          <p:cNvSpPr txBox="1"/>
          <p:nvPr/>
        </p:nvSpPr>
        <p:spPr>
          <a:xfrm>
            <a:off x="3771900" y="6071616"/>
            <a:ext cx="138531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region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"Antofagasta"</a:t>
            </a:r>
            <a:endParaRPr lang="en-US" sz="1200" dirty="0"/>
          </a:p>
        </p:txBody>
      </p:sp>
      <p:sp>
        <p:nvSpPr>
          <p:cNvPr id="27" name="Shape 24"/>
          <p:cNvSpPr/>
          <p:nvPr/>
        </p:nvSpPr>
        <p:spPr>
          <a:xfrm>
            <a:off x="5340096" y="6062472"/>
            <a:ext cx="1234440" cy="566928"/>
          </a:xfrm>
          <a:prstGeom prst="roundRect">
            <a:avLst>
              <a:gd name="adj" fmla="val 11290"/>
            </a:avLst>
          </a:prstGeom>
          <a:solidFill>
            <a:srgbClr val="F1F3F4"/>
          </a:solidFill>
          <a:ln w="12700">
            <a:solidFill>
              <a:srgbClr val="DADCE0"/>
            </a:solidFill>
            <a:prstDash val="solid"/>
          </a:ln>
        </p:spPr>
      </p:sp>
      <p:sp>
        <p:nvSpPr>
          <p:cNvPr id="28" name="Text 25"/>
          <p:cNvSpPr txBox="1"/>
          <p:nvPr/>
        </p:nvSpPr>
        <p:spPr>
          <a:xfrm>
            <a:off x="5431536" y="6071616"/>
            <a:ext cx="109728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tecnologia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"solar"</a:t>
            </a:r>
            <a:endParaRPr lang="en-US" sz="1200" dirty="0"/>
          </a:p>
        </p:txBody>
      </p:sp>
      <p:sp>
        <p:nvSpPr>
          <p:cNvPr id="29" name="Shape 26"/>
          <p:cNvSpPr/>
          <p:nvPr/>
        </p:nvSpPr>
        <p:spPr>
          <a:xfrm>
            <a:off x="6711696" y="6062472"/>
            <a:ext cx="1810512" cy="566928"/>
          </a:xfrm>
          <a:prstGeom prst="roundRect">
            <a:avLst>
              <a:gd name="adj" fmla="val 11290"/>
            </a:avLst>
          </a:prstGeom>
          <a:solidFill>
            <a:srgbClr val="F1F3F4"/>
          </a:solidFill>
          <a:ln w="12700">
            <a:solidFill>
              <a:srgbClr val="DADCE0"/>
            </a:solidFill>
            <a:prstDash val="solid"/>
          </a:ln>
        </p:spPr>
      </p:sp>
      <p:sp>
        <p:nvSpPr>
          <p:cNvPr id="30" name="Text 27"/>
          <p:cNvSpPr txBox="1"/>
          <p:nvPr/>
        </p:nvSpPr>
        <p:spPr>
          <a:xfrm>
            <a:off x="6803136" y="6071616"/>
            <a:ext cx="167335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gen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175680 × 8</a:t>
            </a:r>
            <a:endParaRPr lang="en-US" sz="1200" dirty="0"/>
          </a:p>
        </p:txBody>
      </p:sp>
      <p:sp>
        <p:nvSpPr>
          <p:cNvPr id="31" name="Shape 28"/>
          <p:cNvSpPr/>
          <p:nvPr/>
        </p:nvSpPr>
        <p:spPr>
          <a:xfrm>
            <a:off x="8659368" y="6062472"/>
            <a:ext cx="1810512" cy="566928"/>
          </a:xfrm>
          <a:prstGeom prst="roundRect">
            <a:avLst>
              <a:gd name="adj" fmla="val 11290"/>
            </a:avLst>
          </a:prstGeom>
          <a:solidFill>
            <a:srgbClr val="F1F3F4"/>
          </a:solidFill>
          <a:ln w="12700">
            <a:solidFill>
              <a:srgbClr val="DADCE0"/>
            </a:solidFill>
            <a:prstDash val="solid"/>
          </a:ln>
        </p:spPr>
      </p:sp>
      <p:sp>
        <p:nvSpPr>
          <p:cNvPr id="32" name="Text 29"/>
          <p:cNvSpPr txBox="1"/>
          <p:nvPr/>
        </p:nvSpPr>
        <p:spPr>
          <a:xfrm>
            <a:off x="8750808" y="6071616"/>
            <a:ext cx="167335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generacion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175680 × 4</a:t>
            </a:r>
            <a:endParaRPr lang="en-US" sz="1200" dirty="0"/>
          </a:p>
        </p:txBody>
      </p:sp>
      <p:sp>
        <p:nvSpPr>
          <p:cNvPr id="33" name="Text 30"/>
          <p:cNvSpPr txBox="1"/>
          <p:nvPr/>
        </p:nvSpPr>
        <p:spPr>
          <a:xfrm>
            <a:off x="10607040"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3 más</a:t>
            </a:r>
            <a:endParaRPr lang="en-US" sz="1200" dirty="0"/>
          </a:p>
        </p:txBody>
      </p:sp>
      <p:sp>
        <p:nvSpPr>
          <p:cNvPr id="34" name="Text 31"/>
          <p:cNvSpPr txBox="1"/>
          <p:nvPr/>
        </p:nvSpPr>
        <p:spPr>
          <a:xfrm>
            <a:off x="548640" y="6638544"/>
            <a:ext cx="11091672" cy="237744"/>
          </a:xfrm>
          <a:prstGeom prst="rect">
            <a:avLst/>
          </a:prstGeom>
          <a:noFill/>
          <a:ln/>
        </p:spPr>
        <p:txBody>
          <a:bodyPr wrap="square" lIns="0" tIns="0" rIns="0" bIns="0" rtlCol="0" anchor="ctr"/>
          <a:lstStyle/>
          <a:p>
            <a:pPr indent="0" marL="0">
              <a:buNone/>
            </a:pPr>
            <a:r>
              <a:rPr lang="en-US" sz="1300" i="1" dirty="0">
                <a:solidFill>
                  <a:srgbClr val="0B3D62"/>
                </a:solidFill>
                <a:latin typeface="Calibri" pitchFamily="34" charset="0"/>
                <a:ea typeface="Calibri" pitchFamily="34" charset="-122"/>
                <a:cs typeface="Calibri" pitchFamily="34" charset="-120"/>
              </a:rPr>
              <a:t>Mientras no se corra la celda, Python sigue recordando los valores anteriores.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2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filtra con dos condiciones</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Se elige hidro y Biobío y se vuelve a correr la celda.</a:t>
            </a:r>
            <a:endParaRPr lang="en-US" sz="1400" dirty="0"/>
          </a:p>
        </p:txBody>
      </p:sp>
      <p:sp>
        <p:nvSpPr>
          <p:cNvPr id="6" name="Shape 4"/>
          <p:cNvSpPr/>
          <p:nvPr/>
        </p:nvSpPr>
        <p:spPr>
          <a:xfrm>
            <a:off x="548640" y="1481328"/>
            <a:ext cx="11091672" cy="2523744"/>
          </a:xfrm>
          <a:prstGeom prst="roundRect">
            <a:avLst>
              <a:gd name="adj" fmla="val 2174"/>
            </a:avLst>
          </a:prstGeom>
          <a:solidFill>
            <a:srgbClr val="F8F9FA"/>
          </a:solidFill>
          <a:ln w="12700">
            <a:solidFill>
              <a:srgbClr val="DADCE0"/>
            </a:solidFill>
            <a:prstDash val="solid"/>
          </a:ln>
        </p:spPr>
      </p:sp>
      <p:sp>
        <p:nvSpPr>
          <p:cNvPr id="7" name="Shape 5"/>
          <p:cNvSpPr/>
          <p:nvPr/>
        </p:nvSpPr>
        <p:spPr>
          <a:xfrm>
            <a:off x="713232" y="1600200"/>
            <a:ext cx="420624" cy="420624"/>
          </a:xfrm>
          <a:prstGeom prst="ellipse">
            <a:avLst/>
          </a:prstGeom>
          <a:solidFill>
            <a:srgbClr val="E8EAED"/>
          </a:solidFill>
          <a:ln w="12700">
            <a:solidFill>
              <a:srgbClr val="E8EAED"/>
            </a:solidFill>
            <a:prstDash val="solid"/>
          </a:ln>
        </p:spPr>
      </p:sp>
      <p:sp>
        <p:nvSpPr>
          <p:cNvPr id="8" name="Shape 6"/>
          <p:cNvSpPr/>
          <p:nvPr/>
        </p:nvSpPr>
        <p:spPr>
          <a:xfrm rot="5400000">
            <a:off x="850392" y="1719072"/>
            <a:ext cx="182880" cy="182880"/>
          </a:xfrm>
          <a:prstGeom prst="triangle">
            <a:avLst/>
          </a:prstGeom>
          <a:solidFill>
            <a:srgbClr val="5F6368"/>
          </a:solidFill>
          <a:ln w="12700">
            <a:solidFill>
              <a:srgbClr val="5F6368"/>
            </a:solidFill>
            <a:prstDash val="solid"/>
          </a:ln>
        </p:spPr>
      </p:sp>
      <p:sp>
        <p:nvSpPr>
          <p:cNvPr id="9" name="Text 7"/>
          <p:cNvSpPr txBox="1"/>
          <p:nvPr/>
        </p:nvSpPr>
        <p:spPr>
          <a:xfrm>
            <a:off x="1325880" y="1600200"/>
            <a:ext cx="7360920" cy="2340864"/>
          </a:xfrm>
          <a:prstGeom prst="rect">
            <a:avLst/>
          </a:prstGeom>
          <a:noFill/>
          <a:ln/>
        </p:spPr>
        <p:txBody>
          <a:bodyPr wrap="square" lIns="0" tIns="0" rIns="0" bIns="0" rtlCol="0" anchor="t"/>
          <a:lstStyle/>
          <a:p>
            <a:pPr indent="0" marL="0">
              <a:buNone/>
            </a:pPr>
            <a:r>
              <a:rPr lang="en-US" sz="1200" i="1" dirty="0">
                <a:solidFill>
                  <a:srgbClr val="188038"/>
                </a:solidFill>
                <a:latin typeface="Courier New" pitchFamily="34" charset="0"/>
                <a:ea typeface="Courier New" pitchFamily="34" charset="-122"/>
                <a:cs typeface="Courier New" pitchFamily="34" charset="-120"/>
              </a:rPr>
              <a:t># Paso 2</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tecnologia = </a:t>
            </a:r>
            <a:pPr indent="0" marL="0">
              <a:buNone/>
            </a:pPr>
            <a:r>
              <a:rPr lang="en-US" sz="1200" dirty="0">
                <a:solidFill>
                  <a:srgbClr val="A31515"/>
                </a:solidFill>
                <a:latin typeface="Courier New" pitchFamily="34" charset="0"/>
                <a:ea typeface="Courier New" pitchFamily="34" charset="-122"/>
                <a:cs typeface="Courier New" pitchFamily="34" charset="-120"/>
              </a:rPr>
              <a:t>"hidro"</a:t>
            </a:r>
            <a:pPr indent="0" marL="0">
              <a:buNone/>
            </a:pPr>
            <a:r>
              <a:rPr lang="en-US" sz="1200" dirty="0">
                <a:solidFill>
                  <a:srgbClr val="202124"/>
                </a:solidFill>
                <a:latin typeface="Courier New" pitchFamily="34" charset="0"/>
                <a:ea typeface="Courier New" pitchFamily="34" charset="-122"/>
                <a:cs typeface="Courier New" pitchFamily="34" charset="-120"/>
              </a:rPr>
              <a:t> </a:t>
            </a:r>
            <a:pPr indent="0" marL="0">
              <a:buNone/>
            </a:pPr>
            <a:r>
              <a:rPr lang="en-US" sz="1200" dirty="0">
                <a:solidFill>
                  <a:srgbClr val="80868B"/>
                </a:solidFill>
                <a:latin typeface="Courier New" pitchFamily="34" charset="0"/>
                <a:ea typeface="Courier New" pitchFamily="34" charset="-122"/>
                <a:cs typeface="Courier New" pitchFamily="34" charset="-120"/>
              </a:rPr>
              <a:t>#@param ["hidro", "solar", "eolica", "gas", "carbon", "diesel"]</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region = </a:t>
            </a:r>
            <a:pPr indent="0" marL="0">
              <a:buNone/>
            </a:pPr>
            <a:r>
              <a:rPr lang="en-US" sz="1200" dirty="0">
                <a:solidFill>
                  <a:srgbClr val="A31515"/>
                </a:solidFill>
                <a:latin typeface="Courier New" pitchFamily="34" charset="0"/>
                <a:ea typeface="Courier New" pitchFamily="34" charset="-122"/>
                <a:cs typeface="Courier New" pitchFamily="34" charset="-120"/>
              </a:rPr>
              <a:t>"Biobío"</a:t>
            </a:r>
            <a:pPr indent="0" marL="0">
              <a:buNone/>
            </a:pPr>
            <a:r>
              <a:rPr lang="en-US" sz="1200" dirty="0">
                <a:solidFill>
                  <a:srgbClr val="202124"/>
                </a:solidFill>
                <a:latin typeface="Courier New" pitchFamily="34" charset="0"/>
                <a:ea typeface="Courier New" pitchFamily="34" charset="-122"/>
                <a:cs typeface="Courier New" pitchFamily="34" charset="-120"/>
              </a:rPr>
              <a:t> </a:t>
            </a:r>
            <a:pPr indent="0" marL="0">
              <a:buNone/>
            </a:pPr>
            <a:r>
              <a:rPr lang="en-US" sz="1200" dirty="0">
                <a:solidFill>
                  <a:srgbClr val="80868B"/>
                </a:solidFill>
                <a:latin typeface="Courier New" pitchFamily="34" charset="0"/>
                <a:ea typeface="Courier New" pitchFamily="34" charset="-122"/>
                <a:cs typeface="Courier New" pitchFamily="34" charset="-120"/>
              </a:rPr>
              <a:t>#@param ["Antofagasta", "Atacama", "Coquimbo", "Valparaíso", "Metropolitana", "Biobío", "Los Lagos"]</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 </a:t>
            </a:r>
            <a:endParaRPr lang="en-US" sz="1200" dirty="0"/>
          </a:p>
          <a:p>
            <a:pPr indent="0" marL="0">
              <a:buNone/>
            </a:pPr>
            <a:r>
              <a:rPr lang="en-US" sz="1200" i="1" dirty="0">
                <a:solidFill>
                  <a:srgbClr val="188038"/>
                </a:solidFill>
                <a:latin typeface="Courier New" pitchFamily="34" charset="0"/>
                <a:ea typeface="Courier New" pitchFamily="34" charset="-122"/>
                <a:cs typeface="Courier New" pitchFamily="34" charset="-120"/>
              </a:rPr>
              <a:t># El signo &amp; se lee como "y". Cada condición va entre paréntesis.</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elegidas = gen[(gen[</a:t>
            </a:r>
            <a:pPr indent="0" marL="0">
              <a:buNone/>
            </a:pPr>
            <a:r>
              <a:rPr lang="en-US" sz="1200" dirty="0">
                <a:solidFill>
                  <a:srgbClr val="A31515"/>
                </a:solidFill>
                <a:latin typeface="Courier New" pitchFamily="34" charset="0"/>
                <a:ea typeface="Courier New" pitchFamily="34" charset="-122"/>
                <a:cs typeface="Courier New" pitchFamily="34" charset="-120"/>
              </a:rPr>
              <a:t>"tecnologia"</a:t>
            </a:r>
            <a:pPr indent="0" marL="0">
              <a:buNone/>
            </a:pPr>
            <a:r>
              <a:rPr lang="en-US" sz="1200" dirty="0">
                <a:solidFill>
                  <a:srgbClr val="202124"/>
                </a:solidFill>
                <a:latin typeface="Courier New" pitchFamily="34" charset="0"/>
                <a:ea typeface="Courier New" pitchFamily="34" charset="-122"/>
                <a:cs typeface="Courier New" pitchFamily="34" charset="-120"/>
              </a:rPr>
              <a:t>] == tecnologia) &amp; (gen[</a:t>
            </a:r>
            <a:pPr indent="0" marL="0">
              <a:buNone/>
            </a:pPr>
            <a:r>
              <a:rPr lang="en-US" sz="1200" dirty="0">
                <a:solidFill>
                  <a:srgbClr val="A31515"/>
                </a:solidFill>
                <a:latin typeface="Courier New" pitchFamily="34" charset="0"/>
                <a:ea typeface="Courier New" pitchFamily="34" charset="-122"/>
                <a:cs typeface="Courier New" pitchFamily="34" charset="-120"/>
              </a:rPr>
              <a:t>"region"</a:t>
            </a:r>
            <a:pPr indent="0" marL="0">
              <a:buNone/>
            </a:pPr>
            <a:r>
              <a:rPr lang="en-US" sz="1200" dirty="0">
                <a:solidFill>
                  <a:srgbClr val="202124"/>
                </a:solidFill>
                <a:latin typeface="Courier New" pitchFamily="34" charset="0"/>
                <a:ea typeface="Courier New" pitchFamily="34" charset="-122"/>
                <a:cs typeface="Courier New" pitchFamily="34" charset="-120"/>
              </a:rPr>
              <a:t>] == region)]</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print(</a:t>
            </a:r>
            <a:pPr indent="0" marL="0">
              <a:buNone/>
            </a:pPr>
            <a:r>
              <a:rPr lang="en-US" sz="1200" dirty="0">
                <a:solidFill>
                  <a:srgbClr val="A31515"/>
                </a:solidFill>
                <a:latin typeface="Courier New" pitchFamily="34" charset="0"/>
                <a:ea typeface="Courier New" pitchFamily="34" charset="-122"/>
                <a:cs typeface="Courier New" pitchFamily="34" charset="-120"/>
              </a:rPr>
              <a:t>"Filas encontradas"</a:t>
            </a:r>
            <a:pPr indent="0" marL="0">
              <a:buNone/>
            </a:pPr>
            <a:r>
              <a:rPr lang="en-US" sz="1200" dirty="0">
                <a:solidFill>
                  <a:srgbClr val="202124"/>
                </a:solidFill>
                <a:latin typeface="Courier New" pitchFamily="34" charset="0"/>
                <a:ea typeface="Courier New" pitchFamily="34" charset="-122"/>
                <a:cs typeface="Courier New" pitchFamily="34" charset="-120"/>
              </a:rPr>
              <a:t>, len(elegidas))</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total = round(elegidas[</a:t>
            </a:r>
            <a:pPr indent="0" marL="0">
              <a:buNone/>
            </a:pPr>
            <a:r>
              <a:rPr lang="en-US" sz="1200" dirty="0">
                <a:solidFill>
                  <a:srgbClr val="A31515"/>
                </a:solidFill>
                <a:latin typeface="Courier New" pitchFamily="34" charset="0"/>
                <a:ea typeface="Courier New" pitchFamily="34" charset="-122"/>
                <a:cs typeface="Courier New" pitchFamily="34" charset="-120"/>
              </a:rPr>
              <a:t>"mwh"</a:t>
            </a:r>
            <a:pPr indent="0" marL="0">
              <a:buNone/>
            </a:pPr>
            <a:r>
              <a:rPr lang="en-US" sz="1200" dirty="0">
                <a:solidFill>
                  <a:srgbClr val="202124"/>
                </a:solidFill>
                <a:latin typeface="Courier New" pitchFamily="34" charset="0"/>
                <a:ea typeface="Courier New" pitchFamily="34" charset="-122"/>
                <a:cs typeface="Courier New" pitchFamily="34" charset="-120"/>
              </a:rPr>
              <a:t>].sum())</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print(f</a:t>
            </a:r>
            <a:pPr indent="0" marL="0">
              <a:buNone/>
            </a:pPr>
            <a:r>
              <a:rPr lang="en-US" sz="1200" dirty="0">
                <a:solidFill>
                  <a:srgbClr val="A31515"/>
                </a:solidFill>
                <a:latin typeface="Courier New" pitchFamily="34" charset="0"/>
                <a:ea typeface="Courier New" pitchFamily="34" charset="-122"/>
                <a:cs typeface="Courier New" pitchFamily="34" charset="-120"/>
              </a:rPr>
              <a:t>"✓ Generación de {tecnologia} en {region}"</a:t>
            </a:r>
            <a:pPr indent="0" marL="0">
              <a:buNone/>
            </a:pPr>
            <a:r>
              <a:rPr lang="en-US" sz="1200" dirty="0">
                <a:solidFill>
                  <a:srgbClr val="202124"/>
                </a:solidFill>
                <a:latin typeface="Courier New" pitchFamily="34" charset="0"/>
                <a:ea typeface="Courier New" pitchFamily="34" charset="-122"/>
                <a:cs typeface="Courier New" pitchFamily="34" charset="-120"/>
              </a:rPr>
              <a:t>, total, </a:t>
            </a:r>
            <a:pPr indent="0" marL="0">
              <a:buNone/>
            </a:pPr>
            <a:r>
              <a:rPr lang="en-US" sz="1200" dirty="0">
                <a:solidFill>
                  <a:srgbClr val="A31515"/>
                </a:solidFill>
                <a:latin typeface="Courier New" pitchFamily="34" charset="0"/>
                <a:ea typeface="Courier New" pitchFamily="34" charset="-122"/>
                <a:cs typeface="Courier New" pitchFamily="34" charset="-120"/>
              </a:rPr>
              <a:t>"MWh"</a:t>
            </a:r>
            <a:pPr indent="0" marL="0">
              <a:buNone/>
            </a:pPr>
            <a:r>
              <a:rPr lang="en-US" sz="1200" dirty="0">
                <a:solidFill>
                  <a:srgbClr val="202124"/>
                </a:solidFill>
                <a:latin typeface="Courier New" pitchFamily="34" charset="0"/>
                <a:ea typeface="Courier New" pitchFamily="34" charset="-122"/>
                <a:cs typeface="Courier New" pitchFamily="34" charset="-120"/>
              </a:rPr>
              <a:t>)</a:t>
            </a:r>
            <a:endParaRPr lang="en-US" sz="1200" dirty="0"/>
          </a:p>
        </p:txBody>
      </p:sp>
      <p:sp>
        <p:nvSpPr>
          <p:cNvPr id="10" name="Text 8"/>
          <p:cNvSpPr txBox="1"/>
          <p:nvPr/>
        </p:nvSpPr>
        <p:spPr>
          <a:xfrm>
            <a:off x="8823960" y="1618488"/>
            <a:ext cx="2651760" cy="228600"/>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tecnologia</a:t>
            </a:r>
            <a:endParaRPr lang="en-US" sz="1100" dirty="0"/>
          </a:p>
        </p:txBody>
      </p:sp>
      <p:sp>
        <p:nvSpPr>
          <p:cNvPr id="11" name="Shape 9"/>
          <p:cNvSpPr/>
          <p:nvPr/>
        </p:nvSpPr>
        <p:spPr>
          <a:xfrm>
            <a:off x="8823960" y="1874520"/>
            <a:ext cx="2651760" cy="347472"/>
          </a:xfrm>
          <a:prstGeom prst="rect">
            <a:avLst/>
          </a:prstGeom>
          <a:solidFill>
            <a:srgbClr val="FFFFFF"/>
          </a:solidFill>
          <a:ln w="12700">
            <a:solidFill>
              <a:srgbClr val="9AA0A6"/>
            </a:solidFill>
            <a:prstDash val="solid"/>
          </a:ln>
        </p:spPr>
      </p:sp>
      <p:sp>
        <p:nvSpPr>
          <p:cNvPr id="12" name="Text 10"/>
          <p:cNvSpPr txBox="1"/>
          <p:nvPr/>
        </p:nvSpPr>
        <p:spPr>
          <a:xfrm>
            <a:off x="8915400" y="1874520"/>
            <a:ext cx="2240280" cy="347472"/>
          </a:xfrm>
          <a:prstGeom prst="rect">
            <a:avLst/>
          </a:prstGeom>
          <a:noFill/>
          <a:ln/>
        </p:spPr>
        <p:txBody>
          <a:bodyPr wrap="square" lIns="0" tIns="0" rIns="0" bIns="0" rtlCol="0" anchor="ctr"/>
          <a:lstStyle/>
          <a:p>
            <a:pPr indent="0" marL="0">
              <a:buNone/>
            </a:pPr>
            <a:r>
              <a:rPr lang="en-US" sz="1200" dirty="0">
                <a:solidFill>
                  <a:srgbClr val="202124"/>
                </a:solidFill>
                <a:latin typeface="Calibri" pitchFamily="34" charset="0"/>
                <a:ea typeface="Calibri" pitchFamily="34" charset="-122"/>
                <a:cs typeface="Calibri" pitchFamily="34" charset="-120"/>
              </a:rPr>
              <a:t>hidro</a:t>
            </a:r>
            <a:endParaRPr lang="en-US" sz="1200" dirty="0"/>
          </a:p>
        </p:txBody>
      </p:sp>
      <p:sp>
        <p:nvSpPr>
          <p:cNvPr id="13" name="Shape 11"/>
          <p:cNvSpPr/>
          <p:nvPr/>
        </p:nvSpPr>
        <p:spPr>
          <a:xfrm rot="10800000">
            <a:off x="11201400" y="2011680"/>
            <a:ext cx="128016" cy="82296"/>
          </a:xfrm>
          <a:prstGeom prst="triangle">
            <a:avLst/>
          </a:prstGeom>
          <a:solidFill>
            <a:srgbClr val="5F6368"/>
          </a:solidFill>
          <a:ln w="12700">
            <a:solidFill>
              <a:srgbClr val="5F6368"/>
            </a:solidFill>
            <a:prstDash val="solid"/>
          </a:ln>
        </p:spPr>
      </p:sp>
      <p:sp>
        <p:nvSpPr>
          <p:cNvPr id="14" name="Text 12"/>
          <p:cNvSpPr txBox="1"/>
          <p:nvPr/>
        </p:nvSpPr>
        <p:spPr>
          <a:xfrm>
            <a:off x="8823960" y="2350008"/>
            <a:ext cx="2651760" cy="228600"/>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region</a:t>
            </a:r>
            <a:endParaRPr lang="en-US" sz="1100" dirty="0"/>
          </a:p>
        </p:txBody>
      </p:sp>
      <p:sp>
        <p:nvSpPr>
          <p:cNvPr id="15" name="Shape 13"/>
          <p:cNvSpPr/>
          <p:nvPr/>
        </p:nvSpPr>
        <p:spPr>
          <a:xfrm>
            <a:off x="8823960" y="2606040"/>
            <a:ext cx="2651760" cy="347472"/>
          </a:xfrm>
          <a:prstGeom prst="rect">
            <a:avLst/>
          </a:prstGeom>
          <a:solidFill>
            <a:srgbClr val="FFFFFF"/>
          </a:solidFill>
          <a:ln w="12700">
            <a:solidFill>
              <a:srgbClr val="9AA0A6"/>
            </a:solidFill>
            <a:prstDash val="solid"/>
          </a:ln>
        </p:spPr>
      </p:sp>
      <p:sp>
        <p:nvSpPr>
          <p:cNvPr id="16" name="Text 14"/>
          <p:cNvSpPr txBox="1"/>
          <p:nvPr/>
        </p:nvSpPr>
        <p:spPr>
          <a:xfrm>
            <a:off x="8915400" y="2606040"/>
            <a:ext cx="2240280" cy="347472"/>
          </a:xfrm>
          <a:prstGeom prst="rect">
            <a:avLst/>
          </a:prstGeom>
          <a:noFill/>
          <a:ln/>
        </p:spPr>
        <p:txBody>
          <a:bodyPr wrap="square" lIns="0" tIns="0" rIns="0" bIns="0" rtlCol="0" anchor="ctr"/>
          <a:lstStyle/>
          <a:p>
            <a:pPr indent="0" marL="0">
              <a:buNone/>
            </a:pPr>
            <a:r>
              <a:rPr lang="en-US" sz="1200" dirty="0">
                <a:solidFill>
                  <a:srgbClr val="202124"/>
                </a:solidFill>
                <a:latin typeface="Calibri" pitchFamily="34" charset="0"/>
                <a:ea typeface="Calibri" pitchFamily="34" charset="-122"/>
                <a:cs typeface="Calibri" pitchFamily="34" charset="-120"/>
              </a:rPr>
              <a:t>Biobío</a:t>
            </a:r>
            <a:endParaRPr lang="en-US" sz="1200" dirty="0"/>
          </a:p>
        </p:txBody>
      </p:sp>
      <p:sp>
        <p:nvSpPr>
          <p:cNvPr id="17" name="Shape 15"/>
          <p:cNvSpPr/>
          <p:nvPr/>
        </p:nvSpPr>
        <p:spPr>
          <a:xfrm rot="10800000">
            <a:off x="11201400" y="2743200"/>
            <a:ext cx="128016" cy="82296"/>
          </a:xfrm>
          <a:prstGeom prst="triangle">
            <a:avLst/>
          </a:prstGeom>
          <a:solidFill>
            <a:srgbClr val="5F6368"/>
          </a:solidFill>
          <a:ln w="12700">
            <a:solidFill>
              <a:srgbClr val="5F6368"/>
            </a:solidFill>
            <a:prstDash val="solid"/>
          </a:ln>
        </p:spPr>
      </p:sp>
      <p:sp>
        <p:nvSpPr>
          <p:cNvPr id="18" name="Shape 16"/>
          <p:cNvSpPr/>
          <p:nvPr/>
        </p:nvSpPr>
        <p:spPr>
          <a:xfrm>
            <a:off x="1325880" y="4114800"/>
            <a:ext cx="10314432" cy="585216"/>
          </a:xfrm>
          <a:prstGeom prst="rect">
            <a:avLst/>
          </a:prstGeom>
          <a:solidFill>
            <a:srgbClr val="FFFFFF"/>
          </a:solidFill>
          <a:ln w="12700">
            <a:solidFill>
              <a:srgbClr val="DADCE0"/>
            </a:solidFill>
            <a:prstDash val="solid"/>
          </a:ln>
        </p:spPr>
      </p:sp>
      <p:sp>
        <p:nvSpPr>
          <p:cNvPr id="19" name="Text 17"/>
          <p:cNvSpPr txBox="1"/>
          <p:nvPr/>
        </p:nvSpPr>
        <p:spPr>
          <a:xfrm>
            <a:off x="1463040" y="4187952"/>
            <a:ext cx="10085832" cy="457200"/>
          </a:xfrm>
          <a:prstGeom prst="rect">
            <a:avLst/>
          </a:prstGeom>
          <a:noFill/>
          <a:ln/>
        </p:spPr>
        <p:txBody>
          <a:bodyPr wrap="square" lIns="0" tIns="0" rIns="0" bIns="0" rtlCol="0" anchor="t"/>
          <a:lstStyle/>
          <a:p>
            <a:pPr indent="0" marL="0">
              <a:buNone/>
            </a:pPr>
            <a:r>
              <a:rPr lang="en-US" sz="1200" dirty="0">
                <a:solidFill>
                  <a:srgbClr val="202124"/>
                </a:solidFill>
                <a:latin typeface="Courier New" pitchFamily="34" charset="0"/>
                <a:ea typeface="Courier New" pitchFamily="34" charset="-122"/>
                <a:cs typeface="Courier New" pitchFamily="34" charset="-120"/>
              </a:rPr>
              <a:t>Filas encontradas 26352</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 Generación de hidro en Biobío 4151930 MWh</a:t>
            </a:r>
            <a:endParaRPr lang="en-US" sz="1200" dirty="0"/>
          </a:p>
        </p:txBody>
      </p:sp>
      <p:sp>
        <p:nvSpPr>
          <p:cNvPr id="20" name="Shape 18"/>
          <p:cNvSpPr/>
          <p:nvPr/>
        </p:nvSpPr>
        <p:spPr>
          <a:xfrm>
            <a:off x="1325880" y="4837176"/>
            <a:ext cx="10314432" cy="566928"/>
          </a:xfrm>
          <a:prstGeom prst="roundRect">
            <a:avLst>
              <a:gd name="adj" fmla="val 9677"/>
            </a:avLst>
          </a:prstGeom>
          <a:solidFill>
            <a:srgbClr val="FFF8D6"/>
          </a:solidFill>
          <a:ln w="12700">
            <a:solidFill>
              <a:srgbClr val="FFF8D6"/>
            </a:solidFill>
            <a:prstDash val="solid"/>
          </a:ln>
        </p:spPr>
      </p:sp>
      <p:sp>
        <p:nvSpPr>
          <p:cNvPr id="21" name="Text 19"/>
          <p:cNvSpPr txBox="1"/>
          <p:nvPr/>
        </p:nvSpPr>
        <p:spPr>
          <a:xfrm>
            <a:off x="1508760" y="4837176"/>
            <a:ext cx="9948672" cy="566928"/>
          </a:xfrm>
          <a:prstGeom prst="rect">
            <a:avLst/>
          </a:prstGeom>
          <a:noFill/>
          <a:ln/>
        </p:spPr>
        <p:txBody>
          <a:bodyPr wrap="square" lIns="0" tIns="0" rIns="0" bIns="0" rtlCol="0" anchor="ctr"/>
          <a:lstStyle/>
          <a:p>
            <a:pPr indent="0" marL="0">
              <a:buNone/>
            </a:pPr>
            <a:r>
              <a:rPr lang="en-US" sz="1400" b="1" dirty="0">
                <a:solidFill>
                  <a:srgbClr val="8A6D00"/>
                </a:solidFill>
                <a:latin typeface="Calibri" pitchFamily="34" charset="0"/>
                <a:ea typeface="Calibri" pitchFamily="34" charset="-122"/>
                <a:cs typeface="Calibri" pitchFamily="34" charset="-120"/>
              </a:rPr>
              <a:t>Con &amp; la fila tiene que cumplir las dos condiciones.  </a:t>
            </a:r>
            <a:pPr indent="0" marL="0">
              <a:buNone/>
            </a:pPr>
            <a:r>
              <a:rPr lang="en-US" sz="1400" dirty="0">
                <a:solidFill>
                  <a:srgbClr val="202124"/>
                </a:solidFill>
                <a:latin typeface="Calibri" pitchFamily="34" charset="0"/>
                <a:ea typeface="Calibri" pitchFamily="34" charset="-122"/>
                <a:cs typeface="Calibri" pitchFamily="34" charset="-120"/>
              </a:rPr>
              <a:t>Cada condición va entre paréntesis, y el resultado es una sola columna de True y False.</a:t>
            </a:r>
            <a:endParaRPr lang="en-US" sz="1400" dirty="0"/>
          </a:p>
        </p:txBody>
      </p:sp>
      <p:sp>
        <p:nvSpPr>
          <p:cNvPr id="23" name="Text 20"/>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24" name="Shape 21"/>
          <p:cNvSpPr/>
          <p:nvPr/>
        </p:nvSpPr>
        <p:spPr>
          <a:xfrm>
            <a:off x="548640" y="6062472"/>
            <a:ext cx="1810512" cy="566928"/>
          </a:xfrm>
          <a:prstGeom prst="roundRect">
            <a:avLst>
              <a:gd name="adj" fmla="val 11290"/>
            </a:avLst>
          </a:prstGeom>
          <a:solidFill>
            <a:srgbClr val="E8F0FE"/>
          </a:solidFill>
          <a:ln w="28575">
            <a:solidFill>
              <a:srgbClr val="1A73E8"/>
            </a:solidFill>
            <a:prstDash val="solid"/>
          </a:ln>
        </p:spPr>
      </p:sp>
      <p:sp>
        <p:nvSpPr>
          <p:cNvPr id="25" name="Text 22"/>
          <p:cNvSpPr txBox="1"/>
          <p:nvPr/>
        </p:nvSpPr>
        <p:spPr>
          <a:xfrm>
            <a:off x="640080" y="6071616"/>
            <a:ext cx="167335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gen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175680 × 8</a:t>
            </a:r>
            <a:endParaRPr lang="en-US" sz="1200" dirty="0"/>
          </a:p>
        </p:txBody>
      </p:sp>
      <p:sp>
        <p:nvSpPr>
          <p:cNvPr id="26" name="Shape 23"/>
          <p:cNvSpPr/>
          <p:nvPr/>
        </p:nvSpPr>
        <p:spPr>
          <a:xfrm>
            <a:off x="2496312" y="6062472"/>
            <a:ext cx="1234440" cy="566928"/>
          </a:xfrm>
          <a:prstGeom prst="roundRect">
            <a:avLst>
              <a:gd name="adj" fmla="val 11290"/>
            </a:avLst>
          </a:prstGeom>
          <a:solidFill>
            <a:srgbClr val="FEF3D6"/>
          </a:solidFill>
          <a:ln w="25400">
            <a:solidFill>
              <a:srgbClr val="F9AB00"/>
            </a:solidFill>
            <a:prstDash val="solid"/>
          </a:ln>
        </p:spPr>
      </p:sp>
      <p:sp>
        <p:nvSpPr>
          <p:cNvPr id="27" name="Text 24"/>
          <p:cNvSpPr txBox="1"/>
          <p:nvPr/>
        </p:nvSpPr>
        <p:spPr>
          <a:xfrm>
            <a:off x="2587752" y="6071616"/>
            <a:ext cx="109728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tecnologia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"hidro"</a:t>
            </a:r>
            <a:endParaRPr lang="en-US" sz="1200" dirty="0"/>
          </a:p>
        </p:txBody>
      </p:sp>
      <p:sp>
        <p:nvSpPr>
          <p:cNvPr id="28" name="Shape 25"/>
          <p:cNvSpPr/>
          <p:nvPr/>
        </p:nvSpPr>
        <p:spPr>
          <a:xfrm>
            <a:off x="3867912" y="6062472"/>
            <a:ext cx="1143000" cy="566928"/>
          </a:xfrm>
          <a:prstGeom prst="roundRect">
            <a:avLst>
              <a:gd name="adj" fmla="val 11290"/>
            </a:avLst>
          </a:prstGeom>
          <a:solidFill>
            <a:srgbClr val="FEF3D6"/>
          </a:solidFill>
          <a:ln w="25400">
            <a:solidFill>
              <a:srgbClr val="F9AB00"/>
            </a:solidFill>
            <a:prstDash val="solid"/>
          </a:ln>
        </p:spPr>
      </p:sp>
      <p:sp>
        <p:nvSpPr>
          <p:cNvPr id="29" name="Text 26"/>
          <p:cNvSpPr txBox="1"/>
          <p:nvPr/>
        </p:nvSpPr>
        <p:spPr>
          <a:xfrm>
            <a:off x="3959352"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region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"Biobío"</a:t>
            </a:r>
            <a:endParaRPr lang="en-US" sz="1200" dirty="0"/>
          </a:p>
        </p:txBody>
      </p:sp>
      <p:sp>
        <p:nvSpPr>
          <p:cNvPr id="30" name="Shape 27"/>
          <p:cNvSpPr/>
          <p:nvPr/>
        </p:nvSpPr>
        <p:spPr>
          <a:xfrm>
            <a:off x="5148072" y="6062472"/>
            <a:ext cx="1714500" cy="566928"/>
          </a:xfrm>
          <a:prstGeom prst="roundRect">
            <a:avLst>
              <a:gd name="adj" fmla="val 11290"/>
            </a:avLst>
          </a:prstGeom>
          <a:solidFill>
            <a:srgbClr val="E8F0FE"/>
          </a:solidFill>
          <a:ln w="28575">
            <a:solidFill>
              <a:srgbClr val="1A73E8"/>
            </a:solidFill>
            <a:prstDash val="solid"/>
          </a:ln>
        </p:spPr>
      </p:sp>
      <p:sp>
        <p:nvSpPr>
          <p:cNvPr id="31" name="Text 28"/>
          <p:cNvSpPr txBox="1"/>
          <p:nvPr/>
        </p:nvSpPr>
        <p:spPr>
          <a:xfrm>
            <a:off x="5239512" y="6071616"/>
            <a:ext cx="15773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elegidas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26352 × 8</a:t>
            </a:r>
            <a:endParaRPr lang="en-US" sz="1200" dirty="0"/>
          </a:p>
        </p:txBody>
      </p:sp>
      <p:sp>
        <p:nvSpPr>
          <p:cNvPr id="32" name="Shape 29"/>
          <p:cNvSpPr/>
          <p:nvPr/>
        </p:nvSpPr>
        <p:spPr>
          <a:xfrm>
            <a:off x="6999732" y="6062472"/>
            <a:ext cx="1143000" cy="566928"/>
          </a:xfrm>
          <a:prstGeom prst="roundRect">
            <a:avLst>
              <a:gd name="adj" fmla="val 11290"/>
            </a:avLst>
          </a:prstGeom>
          <a:solidFill>
            <a:srgbClr val="FEF3D6"/>
          </a:solidFill>
          <a:ln w="25400">
            <a:solidFill>
              <a:srgbClr val="F9AB00"/>
            </a:solidFill>
            <a:prstDash val="solid"/>
          </a:ln>
        </p:spPr>
      </p:sp>
      <p:sp>
        <p:nvSpPr>
          <p:cNvPr id="33" name="Text 30"/>
          <p:cNvSpPr txBox="1"/>
          <p:nvPr/>
        </p:nvSpPr>
        <p:spPr>
          <a:xfrm>
            <a:off x="7091172"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total</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4151930</a:t>
            </a:r>
            <a:endParaRPr lang="en-US" sz="1200" dirty="0"/>
          </a:p>
        </p:txBody>
      </p:sp>
      <p:sp>
        <p:nvSpPr>
          <p:cNvPr id="34" name="Shape 31"/>
          <p:cNvSpPr/>
          <p:nvPr/>
        </p:nvSpPr>
        <p:spPr>
          <a:xfrm>
            <a:off x="8279892" y="6062472"/>
            <a:ext cx="1810512" cy="566928"/>
          </a:xfrm>
          <a:prstGeom prst="roundRect">
            <a:avLst>
              <a:gd name="adj" fmla="val 11290"/>
            </a:avLst>
          </a:prstGeom>
          <a:solidFill>
            <a:srgbClr val="F1F3F4"/>
          </a:solidFill>
          <a:ln w="12700">
            <a:solidFill>
              <a:srgbClr val="DADCE0"/>
            </a:solidFill>
            <a:prstDash val="solid"/>
          </a:ln>
        </p:spPr>
      </p:sp>
      <p:sp>
        <p:nvSpPr>
          <p:cNvPr id="35" name="Text 32"/>
          <p:cNvSpPr txBox="1"/>
          <p:nvPr/>
        </p:nvSpPr>
        <p:spPr>
          <a:xfrm>
            <a:off x="8371332" y="6071616"/>
            <a:ext cx="167335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generacion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175680 × 4</a:t>
            </a:r>
            <a:endParaRPr lang="en-US" sz="1200" dirty="0"/>
          </a:p>
        </p:txBody>
      </p:sp>
      <p:sp>
        <p:nvSpPr>
          <p:cNvPr id="36" name="Text 33"/>
          <p:cNvSpPr txBox="1"/>
          <p:nvPr/>
        </p:nvSpPr>
        <p:spPr>
          <a:xfrm>
            <a:off x="10227564"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3 más</a:t>
            </a:r>
            <a:endParaRPr lang="en-US" sz="1200" dirty="0"/>
          </a:p>
        </p:txBody>
      </p:sp>
      <p:sp>
        <p:nvSpPr>
          <p:cNvPr id="37" name="Text 34"/>
          <p:cNvSpPr txBox="1"/>
          <p:nvPr/>
        </p:nvSpPr>
        <p:spPr>
          <a:xfrm>
            <a:off x="548640" y="6638544"/>
            <a:ext cx="11091672" cy="237744"/>
          </a:xfrm>
          <a:prstGeom prst="rect">
            <a:avLst/>
          </a:prstGeom>
          <a:noFill/>
          <a:ln/>
        </p:spPr>
        <p:txBody>
          <a:bodyPr wrap="square" lIns="0" tIns="0" rIns="0" bIns="0" rtlCol="0" anchor="ctr"/>
          <a:lstStyle/>
          <a:p>
            <a:pPr indent="0" marL="0">
              <a:buNone/>
            </a:pPr>
            <a:r>
              <a:rPr lang="en-US" sz="1300" i="1" dirty="0">
                <a:solidFill>
                  <a:srgbClr val="0B3D62"/>
                </a:solidFill>
                <a:latin typeface="Calibri" pitchFamily="34" charset="0"/>
                <a:ea typeface="Calibri" pitchFamily="34" charset="-122"/>
                <a:cs typeface="Calibri" pitchFamily="34" charset="-120"/>
              </a:rPr>
              <a:t>La misma pregunta para otra combinación, sin escribir nada.</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3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¿cuánto generó cada grupo en el año?</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Antes de correr la celda, por qué el orden por energía no es el mismo que por potencia.</a:t>
            </a:r>
            <a:endParaRPr lang="en-US" sz="1400" dirty="0"/>
          </a:p>
        </p:txBody>
      </p:sp>
      <p:pic>
        <p:nvPicPr>
          <p:cNvPr id="6" name="Image 0" descr="../work34/modulos/modulo02/img/lab02_estudio2_potencia_energia.png">    </p:cNvPr>
          <p:cNvPicPr>
            <a:picLocks noChangeAspect="1"/>
          </p:cNvPicPr>
          <p:nvPr/>
        </p:nvPicPr>
        <p:blipFill>
          <a:blip r:embed="rId1"/>
          <a:stretch>
            <a:fillRect/>
          </a:stretch>
        </p:blipFill>
        <p:spPr>
          <a:xfrm>
            <a:off x="620337" y="1463040"/>
            <a:ext cx="10948278" cy="46177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4"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3 de 5</a:t>
            </a:r>
            <a:endParaRPr lang="en-US" sz="1400" dirty="0"/>
          </a:p>
        </p:txBody>
      </p:sp>
      <p:sp>
        <p:nvSpPr>
          <p:cNvPr id="5"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¿cuánto generó cada grupo en el año?</a:t>
            </a:r>
            <a:endParaRPr lang="en-US" sz="2400" dirty="0"/>
          </a:p>
        </p:txBody>
      </p:sp>
      <p:sp>
        <p:nvSpPr>
          <p:cNvPr id="6"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Elige cómo agrupar en la lista y vuelve a correr la celda.</a:t>
            </a:r>
            <a:endParaRPr lang="en-US" sz="1400" dirty="0"/>
          </a:p>
        </p:txBody>
      </p:sp>
      <p:sp>
        <p:nvSpPr>
          <p:cNvPr id="7" name="Shape 4"/>
          <p:cNvSpPr/>
          <p:nvPr/>
        </p:nvSpPr>
        <p:spPr>
          <a:xfrm>
            <a:off x="548640" y="1481328"/>
            <a:ext cx="11091672" cy="1714500"/>
          </a:xfrm>
          <a:prstGeom prst="roundRect">
            <a:avLst>
              <a:gd name="adj" fmla="val 3200"/>
            </a:avLst>
          </a:prstGeom>
          <a:solidFill>
            <a:srgbClr val="F8F9FA"/>
          </a:solidFill>
          <a:ln w="25400">
            <a:solidFill>
              <a:srgbClr val="F9AB00"/>
            </a:solidFill>
            <a:prstDash val="solid"/>
          </a:ln>
        </p:spPr>
      </p:sp>
      <p:sp>
        <p:nvSpPr>
          <p:cNvPr id="8" name="Shape 5"/>
          <p:cNvSpPr/>
          <p:nvPr/>
        </p:nvSpPr>
        <p:spPr>
          <a:xfrm>
            <a:off x="713232" y="1600200"/>
            <a:ext cx="420624" cy="420624"/>
          </a:xfrm>
          <a:prstGeom prst="ellipse">
            <a:avLst/>
          </a:prstGeom>
          <a:solidFill>
            <a:srgbClr val="F9AB00"/>
          </a:solidFill>
          <a:ln w="12700">
            <a:solidFill>
              <a:srgbClr val="F9AB00"/>
            </a:solidFill>
            <a:prstDash val="solid"/>
          </a:ln>
        </p:spPr>
      </p:sp>
      <p:sp>
        <p:nvSpPr>
          <p:cNvPr id="9" name="Shape 6"/>
          <p:cNvSpPr/>
          <p:nvPr/>
        </p:nvSpPr>
        <p:spPr>
          <a:xfrm rot="5400000">
            <a:off x="850392" y="1719072"/>
            <a:ext cx="182880" cy="182880"/>
          </a:xfrm>
          <a:prstGeom prst="triangle">
            <a:avLst/>
          </a:prstGeom>
          <a:solidFill>
            <a:srgbClr val="FFFFFF"/>
          </a:solidFill>
          <a:ln w="12700">
            <a:solidFill>
              <a:srgbClr val="FFFFFF"/>
            </a:solidFill>
            <a:prstDash val="solid"/>
          </a:ln>
        </p:spPr>
      </p:sp>
      <p:sp>
        <p:nvSpPr>
          <p:cNvPr id="10" name="Text 7"/>
          <p:cNvSpPr txBox="1"/>
          <p:nvPr/>
        </p:nvSpPr>
        <p:spPr>
          <a:xfrm>
            <a:off x="1325880" y="1600200"/>
            <a:ext cx="7360920" cy="1531620"/>
          </a:xfrm>
          <a:prstGeom prst="rect">
            <a:avLst/>
          </a:prstGeom>
          <a:noFill/>
          <a:ln/>
        </p:spPr>
        <p:txBody>
          <a:bodyPr wrap="square" lIns="0" tIns="0" rIns="0" bIns="0" rtlCol="0" anchor="t"/>
          <a:lstStyle/>
          <a:p>
            <a:pPr indent="0" marL="0">
              <a:buNone/>
            </a:pPr>
            <a:r>
              <a:rPr lang="en-US" sz="1300" i="1" dirty="0">
                <a:solidFill>
                  <a:srgbClr val="188038"/>
                </a:solidFill>
                <a:latin typeface="Courier New" pitchFamily="34" charset="0"/>
                <a:ea typeface="Courier New" pitchFamily="34" charset="-122"/>
                <a:cs typeface="Courier New" pitchFamily="34" charset="-120"/>
              </a:rPr>
              <a:t># Paso 3</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Agrupar es lo mismo que hace una tabla dinámica.</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Junta las filas de cada grupo y suma su generación.</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agrupar_por = </a:t>
            </a:r>
            <a:pPr indent="0" marL="0">
              <a:buNone/>
            </a:pPr>
            <a:r>
              <a:rPr lang="en-US" sz="1300" dirty="0">
                <a:solidFill>
                  <a:srgbClr val="A31515"/>
                </a:solidFill>
                <a:latin typeface="Courier New" pitchFamily="34" charset="0"/>
                <a:ea typeface="Courier New" pitchFamily="34" charset="-122"/>
                <a:cs typeface="Courier New" pitchFamily="34" charset="-120"/>
              </a:rPr>
              <a:t>"tecnologia"</a:t>
            </a:r>
            <a:pPr indent="0" marL="0">
              <a:buNone/>
            </a:pPr>
            <a:r>
              <a:rPr lang="en-US" sz="1300" dirty="0">
                <a:solidFill>
                  <a:srgbClr val="202124"/>
                </a:solidFill>
                <a:latin typeface="Courier New" pitchFamily="34" charset="0"/>
                <a:ea typeface="Courier New" pitchFamily="34" charset="-122"/>
                <a:cs typeface="Courier New" pitchFamily="34" charset="-120"/>
              </a:rPr>
              <a:t> </a:t>
            </a:r>
            <a:pPr indent="0" marL="0">
              <a:buNone/>
            </a:pPr>
            <a:r>
              <a:rPr lang="en-US" sz="1300" dirty="0">
                <a:solidFill>
                  <a:srgbClr val="80868B"/>
                </a:solidFill>
                <a:latin typeface="Courier New" pitchFamily="34" charset="0"/>
                <a:ea typeface="Courier New" pitchFamily="34" charset="-122"/>
                <a:cs typeface="Courier New" pitchFamily="34" charset="-120"/>
              </a:rPr>
              <a:t>#@param ["tecnologia", "region"]</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por_grupo = gen.groupby(agrupar_por)[</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].sum().round()</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por_grupo.sort_values(ascending=False)</a:t>
            </a:r>
            <a:endParaRPr lang="en-US" sz="1300" dirty="0"/>
          </a:p>
        </p:txBody>
      </p:sp>
      <p:sp>
        <p:nvSpPr>
          <p:cNvPr id="11" name="Text 8"/>
          <p:cNvSpPr txBox="1"/>
          <p:nvPr/>
        </p:nvSpPr>
        <p:spPr>
          <a:xfrm>
            <a:off x="8823960" y="1618488"/>
            <a:ext cx="2651760" cy="228600"/>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agrupar_por</a:t>
            </a:r>
            <a:endParaRPr lang="en-US" sz="1100" dirty="0"/>
          </a:p>
        </p:txBody>
      </p:sp>
      <p:sp>
        <p:nvSpPr>
          <p:cNvPr id="12" name="Shape 9"/>
          <p:cNvSpPr/>
          <p:nvPr/>
        </p:nvSpPr>
        <p:spPr>
          <a:xfrm>
            <a:off x="8823960" y="1874520"/>
            <a:ext cx="2651760" cy="347472"/>
          </a:xfrm>
          <a:prstGeom prst="rect">
            <a:avLst/>
          </a:prstGeom>
          <a:solidFill>
            <a:srgbClr val="FFFFFF"/>
          </a:solidFill>
          <a:ln w="12700">
            <a:solidFill>
              <a:srgbClr val="9AA0A6"/>
            </a:solidFill>
            <a:prstDash val="solid"/>
          </a:ln>
        </p:spPr>
      </p:sp>
      <p:sp>
        <p:nvSpPr>
          <p:cNvPr id="13" name="Text 10"/>
          <p:cNvSpPr txBox="1"/>
          <p:nvPr/>
        </p:nvSpPr>
        <p:spPr>
          <a:xfrm>
            <a:off x="8915400" y="1874520"/>
            <a:ext cx="2240280" cy="347472"/>
          </a:xfrm>
          <a:prstGeom prst="rect">
            <a:avLst/>
          </a:prstGeom>
          <a:noFill/>
          <a:ln/>
        </p:spPr>
        <p:txBody>
          <a:bodyPr wrap="square" lIns="0" tIns="0" rIns="0" bIns="0" rtlCol="0" anchor="ctr"/>
          <a:lstStyle/>
          <a:p>
            <a:pPr indent="0" marL="0">
              <a:buNone/>
            </a:pPr>
            <a:r>
              <a:rPr lang="en-US" sz="1200" dirty="0">
                <a:solidFill>
                  <a:srgbClr val="202124"/>
                </a:solidFill>
                <a:latin typeface="Calibri" pitchFamily="34" charset="0"/>
                <a:ea typeface="Calibri" pitchFamily="34" charset="-122"/>
                <a:cs typeface="Calibri" pitchFamily="34" charset="-120"/>
              </a:rPr>
              <a:t>tecnologia</a:t>
            </a:r>
            <a:endParaRPr lang="en-US" sz="1200" dirty="0"/>
          </a:p>
        </p:txBody>
      </p:sp>
      <p:sp>
        <p:nvSpPr>
          <p:cNvPr id="14" name="Shape 11"/>
          <p:cNvSpPr/>
          <p:nvPr/>
        </p:nvSpPr>
        <p:spPr>
          <a:xfrm rot="10800000">
            <a:off x="11201400" y="2011680"/>
            <a:ext cx="128016" cy="82296"/>
          </a:xfrm>
          <a:prstGeom prst="triangle">
            <a:avLst/>
          </a:prstGeom>
          <a:solidFill>
            <a:srgbClr val="5F6368"/>
          </a:solidFill>
          <a:ln w="12700">
            <a:solidFill>
              <a:srgbClr val="5F6368"/>
            </a:solidFill>
            <a:prstDash val="solid"/>
          </a:ln>
        </p:spPr>
      </p:sp>
      <p:sp>
        <p:nvSpPr>
          <p:cNvPr id="15" name="Text 12"/>
          <p:cNvSpPr txBox="1"/>
          <p:nvPr/>
        </p:nvSpPr>
        <p:spPr>
          <a:xfrm>
            <a:off x="1325880" y="3232404"/>
            <a:ext cx="5486400" cy="256032"/>
          </a:xfrm>
          <a:prstGeom prst="rect">
            <a:avLst/>
          </a:prstGeom>
          <a:noFill/>
          <a:ln/>
        </p:spPr>
        <p:txBody>
          <a:bodyPr wrap="square" lIns="0" tIns="0" rIns="0" bIns="0" rtlCol="0" anchor="ctr"/>
          <a:lstStyle/>
          <a:p>
            <a:pPr indent="0" marL="0">
              <a:buNone/>
            </a:pPr>
            <a:r>
              <a:rPr lang="en-US" sz="1200" b="1" dirty="0">
                <a:solidFill>
                  <a:srgbClr val="B06000"/>
                </a:solidFill>
                <a:latin typeface="Calibri" pitchFamily="34" charset="0"/>
                <a:ea typeface="Calibri" pitchFamily="34" charset="-122"/>
                <a:cs typeface="Calibri" pitchFamily="34" charset="-120"/>
              </a:rPr>
              <a:t>Clic en el botón de play para correr la celda</a:t>
            </a:r>
            <a:endParaRPr lang="en-US" sz="1200" dirty="0"/>
          </a:p>
        </p:txBody>
      </p:sp>
      <p:sp>
        <p:nvSpPr>
          <p:cNvPr id="16" name="Text 13"/>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7" name="Shape 14"/>
          <p:cNvSpPr/>
          <p:nvPr/>
        </p:nvSpPr>
        <p:spPr>
          <a:xfrm>
            <a:off x="548640" y="6062472"/>
            <a:ext cx="1143000" cy="566928"/>
          </a:xfrm>
          <a:prstGeom prst="roundRect">
            <a:avLst>
              <a:gd name="adj" fmla="val 11290"/>
            </a:avLst>
          </a:prstGeom>
          <a:solidFill>
            <a:srgbClr val="F1F3F4"/>
          </a:solidFill>
          <a:ln w="12700">
            <a:solidFill>
              <a:srgbClr val="DADCE0"/>
            </a:solidFill>
            <a:prstDash val="solid"/>
          </a:ln>
        </p:spPr>
      </p:sp>
      <p:sp>
        <p:nvSpPr>
          <p:cNvPr id="18" name="Text 15"/>
          <p:cNvSpPr txBox="1"/>
          <p:nvPr/>
        </p:nvSpPr>
        <p:spPr>
          <a:xfrm>
            <a:off x="640080"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total</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4151930</a:t>
            </a:r>
            <a:endParaRPr lang="en-US" sz="1200" dirty="0"/>
          </a:p>
        </p:txBody>
      </p:sp>
      <p:sp>
        <p:nvSpPr>
          <p:cNvPr id="19" name="Shape 16"/>
          <p:cNvSpPr/>
          <p:nvPr/>
        </p:nvSpPr>
        <p:spPr>
          <a:xfrm>
            <a:off x="1828800" y="6062472"/>
            <a:ext cx="1714500" cy="566928"/>
          </a:xfrm>
          <a:prstGeom prst="roundRect">
            <a:avLst>
              <a:gd name="adj" fmla="val 11290"/>
            </a:avLst>
          </a:prstGeom>
          <a:solidFill>
            <a:srgbClr val="F1F3F4"/>
          </a:solidFill>
          <a:ln w="12700">
            <a:solidFill>
              <a:srgbClr val="DADCE0"/>
            </a:solidFill>
            <a:prstDash val="solid"/>
          </a:ln>
        </p:spPr>
      </p:sp>
      <p:sp>
        <p:nvSpPr>
          <p:cNvPr id="20" name="Text 17"/>
          <p:cNvSpPr txBox="1"/>
          <p:nvPr/>
        </p:nvSpPr>
        <p:spPr>
          <a:xfrm>
            <a:off x="1920240" y="6071616"/>
            <a:ext cx="15773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elegidas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26352 × 8</a:t>
            </a:r>
            <a:endParaRPr lang="en-US" sz="1200" dirty="0"/>
          </a:p>
        </p:txBody>
      </p:sp>
      <p:sp>
        <p:nvSpPr>
          <p:cNvPr id="21" name="Shape 18"/>
          <p:cNvSpPr/>
          <p:nvPr/>
        </p:nvSpPr>
        <p:spPr>
          <a:xfrm>
            <a:off x="3680460" y="6062472"/>
            <a:ext cx="1143000" cy="566928"/>
          </a:xfrm>
          <a:prstGeom prst="roundRect">
            <a:avLst>
              <a:gd name="adj" fmla="val 11290"/>
            </a:avLst>
          </a:prstGeom>
          <a:solidFill>
            <a:srgbClr val="F1F3F4"/>
          </a:solidFill>
          <a:ln w="12700">
            <a:solidFill>
              <a:srgbClr val="DADCE0"/>
            </a:solidFill>
            <a:prstDash val="solid"/>
          </a:ln>
        </p:spPr>
      </p:sp>
      <p:sp>
        <p:nvSpPr>
          <p:cNvPr id="22" name="Text 19"/>
          <p:cNvSpPr txBox="1"/>
          <p:nvPr/>
        </p:nvSpPr>
        <p:spPr>
          <a:xfrm>
            <a:off x="3771900"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region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"Biobío"</a:t>
            </a:r>
            <a:endParaRPr lang="en-US" sz="1200" dirty="0"/>
          </a:p>
        </p:txBody>
      </p:sp>
      <p:sp>
        <p:nvSpPr>
          <p:cNvPr id="23" name="Shape 20"/>
          <p:cNvSpPr/>
          <p:nvPr/>
        </p:nvSpPr>
        <p:spPr>
          <a:xfrm>
            <a:off x="4960620" y="6062472"/>
            <a:ext cx="1234440" cy="566928"/>
          </a:xfrm>
          <a:prstGeom prst="roundRect">
            <a:avLst>
              <a:gd name="adj" fmla="val 11290"/>
            </a:avLst>
          </a:prstGeom>
          <a:solidFill>
            <a:srgbClr val="F1F3F4"/>
          </a:solidFill>
          <a:ln w="12700">
            <a:solidFill>
              <a:srgbClr val="DADCE0"/>
            </a:solidFill>
            <a:prstDash val="solid"/>
          </a:ln>
        </p:spPr>
      </p:sp>
      <p:sp>
        <p:nvSpPr>
          <p:cNvPr id="24" name="Text 21"/>
          <p:cNvSpPr txBox="1"/>
          <p:nvPr/>
        </p:nvSpPr>
        <p:spPr>
          <a:xfrm>
            <a:off x="5052060" y="6071616"/>
            <a:ext cx="109728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tecnologia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"hidro"</a:t>
            </a:r>
            <a:endParaRPr lang="en-US" sz="1200" dirty="0"/>
          </a:p>
        </p:txBody>
      </p:sp>
      <p:sp>
        <p:nvSpPr>
          <p:cNvPr id="25" name="Shape 22"/>
          <p:cNvSpPr/>
          <p:nvPr/>
        </p:nvSpPr>
        <p:spPr>
          <a:xfrm>
            <a:off x="6332220" y="6062472"/>
            <a:ext cx="1810512" cy="566928"/>
          </a:xfrm>
          <a:prstGeom prst="roundRect">
            <a:avLst>
              <a:gd name="adj" fmla="val 11290"/>
            </a:avLst>
          </a:prstGeom>
          <a:solidFill>
            <a:srgbClr val="F1F3F4"/>
          </a:solidFill>
          <a:ln w="12700">
            <a:solidFill>
              <a:srgbClr val="DADCE0"/>
            </a:solidFill>
            <a:prstDash val="solid"/>
          </a:ln>
        </p:spPr>
      </p:sp>
      <p:sp>
        <p:nvSpPr>
          <p:cNvPr id="26" name="Text 23"/>
          <p:cNvSpPr txBox="1"/>
          <p:nvPr/>
        </p:nvSpPr>
        <p:spPr>
          <a:xfrm>
            <a:off x="6423660" y="6071616"/>
            <a:ext cx="167335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gen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175680 × 8</a:t>
            </a:r>
            <a:endParaRPr lang="en-US" sz="1200" dirty="0"/>
          </a:p>
        </p:txBody>
      </p:sp>
      <p:sp>
        <p:nvSpPr>
          <p:cNvPr id="27" name="Shape 24"/>
          <p:cNvSpPr/>
          <p:nvPr/>
        </p:nvSpPr>
        <p:spPr>
          <a:xfrm>
            <a:off x="8279892" y="6062472"/>
            <a:ext cx="1810512" cy="566928"/>
          </a:xfrm>
          <a:prstGeom prst="roundRect">
            <a:avLst>
              <a:gd name="adj" fmla="val 11290"/>
            </a:avLst>
          </a:prstGeom>
          <a:solidFill>
            <a:srgbClr val="F1F3F4"/>
          </a:solidFill>
          <a:ln w="12700">
            <a:solidFill>
              <a:srgbClr val="DADCE0"/>
            </a:solidFill>
            <a:prstDash val="solid"/>
          </a:ln>
        </p:spPr>
      </p:sp>
      <p:sp>
        <p:nvSpPr>
          <p:cNvPr id="28" name="Text 25"/>
          <p:cNvSpPr txBox="1"/>
          <p:nvPr/>
        </p:nvSpPr>
        <p:spPr>
          <a:xfrm>
            <a:off x="8371332" y="6071616"/>
            <a:ext cx="167335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generacion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175680 × 4</a:t>
            </a:r>
            <a:endParaRPr lang="en-US" sz="1200" dirty="0"/>
          </a:p>
        </p:txBody>
      </p:sp>
      <p:sp>
        <p:nvSpPr>
          <p:cNvPr id="29" name="Text 26"/>
          <p:cNvSpPr txBox="1"/>
          <p:nvPr/>
        </p:nvSpPr>
        <p:spPr>
          <a:xfrm>
            <a:off x="10227564"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3 más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3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¿cuánto generó cada grupo en el año?</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Cómo se lee esta línea, pieza por pieza</a:t>
            </a:r>
            <a:endParaRPr lang="en-US" sz="1400" dirty="0"/>
          </a:p>
        </p:txBody>
      </p:sp>
      <p:sp>
        <p:nvSpPr>
          <p:cNvPr id="6" name="Shape 4"/>
          <p:cNvSpPr/>
          <p:nvPr/>
        </p:nvSpPr>
        <p:spPr>
          <a:xfrm>
            <a:off x="548640" y="1463040"/>
            <a:ext cx="11091672" cy="482600"/>
          </a:xfrm>
          <a:prstGeom prst="roundRect">
            <a:avLst>
              <a:gd name="adj" fmla="val 11368"/>
            </a:avLst>
          </a:prstGeom>
          <a:solidFill>
            <a:srgbClr val="F8F9FA"/>
          </a:solidFill>
          <a:ln w="12700">
            <a:solidFill>
              <a:srgbClr val="DADCE0"/>
            </a:solidFill>
            <a:prstDash val="solid"/>
          </a:ln>
        </p:spPr>
      </p:sp>
      <p:sp>
        <p:nvSpPr>
          <p:cNvPr id="7" name="Text 5"/>
          <p:cNvSpPr txBox="1"/>
          <p:nvPr/>
        </p:nvSpPr>
        <p:spPr>
          <a:xfrm>
            <a:off x="822960" y="1554480"/>
            <a:ext cx="10634472" cy="345440"/>
          </a:xfrm>
          <a:prstGeom prst="rect">
            <a:avLst/>
          </a:prstGeom>
          <a:noFill/>
          <a:ln/>
        </p:spPr>
        <p:txBody>
          <a:bodyPr wrap="square" lIns="0" tIns="0" rIns="0" bIns="0" rtlCol="0" anchor="ctr"/>
          <a:lstStyle/>
          <a:p>
            <a:pPr indent="0" marL="0">
              <a:buNone/>
            </a:pPr>
            <a:r>
              <a:rPr lang="en-US" sz="1600" dirty="0">
                <a:solidFill>
                  <a:srgbClr val="202124"/>
                </a:solidFill>
                <a:latin typeface="Courier New" pitchFamily="34" charset="0"/>
                <a:ea typeface="Courier New" pitchFamily="34" charset="-122"/>
                <a:cs typeface="Courier New" pitchFamily="34" charset="-120"/>
              </a:rPr>
              <a:t>por_grupo = gen.groupby(agrupar_por)[</a:t>
            </a:r>
            <a:pPr indent="0" marL="0">
              <a:buNone/>
            </a:pPr>
            <a:r>
              <a:rPr lang="en-US" sz="1600" dirty="0">
                <a:solidFill>
                  <a:srgbClr val="A31515"/>
                </a:solidFill>
                <a:latin typeface="Courier New" pitchFamily="34" charset="0"/>
                <a:ea typeface="Courier New" pitchFamily="34" charset="-122"/>
                <a:cs typeface="Courier New" pitchFamily="34" charset="-120"/>
              </a:rPr>
              <a:t>"mwh"</a:t>
            </a:r>
            <a:pPr indent="0" marL="0">
              <a:buNone/>
            </a:pPr>
            <a:r>
              <a:rPr lang="en-US" sz="1600" dirty="0">
                <a:solidFill>
                  <a:srgbClr val="202124"/>
                </a:solidFill>
                <a:latin typeface="Courier New" pitchFamily="34" charset="0"/>
                <a:ea typeface="Courier New" pitchFamily="34" charset="-122"/>
                <a:cs typeface="Courier New" pitchFamily="34" charset="-120"/>
              </a:rPr>
              <a:t>].sum().round()</a:t>
            </a:r>
            <a:endParaRPr lang="en-US" sz="1600" dirty="0"/>
          </a:p>
        </p:txBody>
      </p:sp>
      <p:sp>
        <p:nvSpPr>
          <p:cNvPr id="8" name="Shape 6"/>
          <p:cNvSpPr/>
          <p:nvPr/>
        </p:nvSpPr>
        <p:spPr>
          <a:xfrm>
            <a:off x="548640" y="2375408"/>
            <a:ext cx="329184" cy="329184"/>
          </a:xfrm>
          <a:prstGeom prst="ellipse">
            <a:avLst/>
          </a:prstGeom>
          <a:solidFill>
            <a:srgbClr val="1A6FD4"/>
          </a:solidFill>
          <a:ln w="12700">
            <a:solidFill>
              <a:srgbClr val="1A6FD4"/>
            </a:solidFill>
            <a:prstDash val="solid"/>
          </a:ln>
        </p:spPr>
      </p:sp>
      <p:sp>
        <p:nvSpPr>
          <p:cNvPr id="9" name="Text 7"/>
          <p:cNvSpPr txBox="1"/>
          <p:nvPr/>
        </p:nvSpPr>
        <p:spPr>
          <a:xfrm>
            <a:off x="548640" y="23754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Shape 8"/>
          <p:cNvSpPr/>
          <p:nvPr/>
        </p:nvSpPr>
        <p:spPr>
          <a:xfrm>
            <a:off x="1051560" y="2219960"/>
            <a:ext cx="4937760" cy="640080"/>
          </a:xfrm>
          <a:prstGeom prst="roundRect">
            <a:avLst>
              <a:gd name="adj" fmla="val 7143"/>
            </a:avLst>
          </a:prstGeom>
          <a:solidFill>
            <a:srgbClr val="DBE9FB"/>
          </a:solidFill>
          <a:ln w="12700">
            <a:solidFill>
              <a:srgbClr val="DBE9FB"/>
            </a:solidFill>
            <a:prstDash val="solid"/>
          </a:ln>
        </p:spPr>
      </p:sp>
      <p:sp>
        <p:nvSpPr>
          <p:cNvPr id="11" name="Text 9"/>
          <p:cNvSpPr txBox="1"/>
          <p:nvPr/>
        </p:nvSpPr>
        <p:spPr>
          <a:xfrm>
            <a:off x="1170432" y="2219960"/>
            <a:ext cx="4754880" cy="640080"/>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gen.groupby(agrupar_por)</a:t>
            </a:r>
            <a:endParaRPr lang="en-US" sz="1400" dirty="0"/>
          </a:p>
        </p:txBody>
      </p:sp>
      <p:sp>
        <p:nvSpPr>
          <p:cNvPr id="12" name="Text 10"/>
          <p:cNvSpPr txBox="1"/>
          <p:nvPr/>
        </p:nvSpPr>
        <p:spPr>
          <a:xfrm>
            <a:off x="6263640" y="2219960"/>
            <a:ext cx="5376672" cy="640080"/>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Separa las filas en grupos, según lo elegido en la lista.</a:t>
            </a:r>
            <a:endParaRPr lang="en-US" sz="1600" dirty="0"/>
          </a:p>
        </p:txBody>
      </p:sp>
      <p:sp>
        <p:nvSpPr>
          <p:cNvPr id="13" name="Shape 11"/>
          <p:cNvSpPr/>
          <p:nvPr/>
        </p:nvSpPr>
        <p:spPr>
          <a:xfrm>
            <a:off x="548640" y="3052064"/>
            <a:ext cx="329184" cy="329184"/>
          </a:xfrm>
          <a:prstGeom prst="ellipse">
            <a:avLst/>
          </a:prstGeom>
          <a:solidFill>
            <a:srgbClr val="1E8E3E"/>
          </a:solidFill>
          <a:ln w="12700">
            <a:solidFill>
              <a:srgbClr val="1E8E3E"/>
            </a:solidFill>
            <a:prstDash val="solid"/>
          </a:ln>
        </p:spPr>
      </p:sp>
      <p:sp>
        <p:nvSpPr>
          <p:cNvPr id="14" name="Text 12"/>
          <p:cNvSpPr txBox="1"/>
          <p:nvPr/>
        </p:nvSpPr>
        <p:spPr>
          <a:xfrm>
            <a:off x="548640" y="305206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Shape 13"/>
          <p:cNvSpPr/>
          <p:nvPr/>
        </p:nvSpPr>
        <p:spPr>
          <a:xfrm>
            <a:off x="1051560" y="2951480"/>
            <a:ext cx="4937760" cy="530352"/>
          </a:xfrm>
          <a:prstGeom prst="roundRect">
            <a:avLst>
              <a:gd name="adj" fmla="val 8621"/>
            </a:avLst>
          </a:prstGeom>
          <a:solidFill>
            <a:srgbClr val="DCEFE0"/>
          </a:solidFill>
          <a:ln w="12700">
            <a:solidFill>
              <a:srgbClr val="DCEFE0"/>
            </a:solidFill>
            <a:prstDash val="solid"/>
          </a:ln>
        </p:spPr>
      </p:sp>
      <p:sp>
        <p:nvSpPr>
          <p:cNvPr id="16" name="Text 14"/>
          <p:cNvSpPr txBox="1"/>
          <p:nvPr/>
        </p:nvSpPr>
        <p:spPr>
          <a:xfrm>
            <a:off x="1170432" y="2951480"/>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["mwh"]</a:t>
            </a:r>
            <a:endParaRPr lang="en-US" sz="1400" dirty="0"/>
          </a:p>
        </p:txBody>
      </p:sp>
      <p:sp>
        <p:nvSpPr>
          <p:cNvPr id="17" name="Text 15"/>
          <p:cNvSpPr txBox="1"/>
          <p:nvPr/>
        </p:nvSpPr>
        <p:spPr>
          <a:xfrm>
            <a:off x="6263640" y="2951480"/>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De cada grupo toma la columna de generación.</a:t>
            </a:r>
            <a:endParaRPr lang="en-US" sz="1600" dirty="0"/>
          </a:p>
        </p:txBody>
      </p:sp>
      <p:sp>
        <p:nvSpPr>
          <p:cNvPr id="18" name="Shape 16"/>
          <p:cNvSpPr/>
          <p:nvPr/>
        </p:nvSpPr>
        <p:spPr>
          <a:xfrm>
            <a:off x="548640" y="3673856"/>
            <a:ext cx="329184" cy="329184"/>
          </a:xfrm>
          <a:prstGeom prst="ellipse">
            <a:avLst/>
          </a:prstGeom>
          <a:solidFill>
            <a:srgbClr val="B07D00"/>
          </a:solidFill>
          <a:ln w="12700">
            <a:solidFill>
              <a:srgbClr val="B07D00"/>
            </a:solidFill>
            <a:prstDash val="solid"/>
          </a:ln>
        </p:spPr>
      </p:sp>
      <p:sp>
        <p:nvSpPr>
          <p:cNvPr id="19" name="Text 17"/>
          <p:cNvSpPr txBox="1"/>
          <p:nvPr/>
        </p:nvSpPr>
        <p:spPr>
          <a:xfrm>
            <a:off x="548640" y="36738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Shape 18"/>
          <p:cNvSpPr/>
          <p:nvPr/>
        </p:nvSpPr>
        <p:spPr>
          <a:xfrm>
            <a:off x="1051560" y="3573272"/>
            <a:ext cx="4937760" cy="530352"/>
          </a:xfrm>
          <a:prstGeom prst="roundRect">
            <a:avLst>
              <a:gd name="adj" fmla="val 8621"/>
            </a:avLst>
          </a:prstGeom>
          <a:solidFill>
            <a:srgbClr val="FDF0C8"/>
          </a:solidFill>
          <a:ln w="12700">
            <a:solidFill>
              <a:srgbClr val="FDF0C8"/>
            </a:solidFill>
            <a:prstDash val="solid"/>
          </a:ln>
        </p:spPr>
      </p:sp>
      <p:sp>
        <p:nvSpPr>
          <p:cNvPr id="21" name="Text 19"/>
          <p:cNvSpPr txBox="1"/>
          <p:nvPr/>
        </p:nvSpPr>
        <p:spPr>
          <a:xfrm>
            <a:off x="1170432" y="3573272"/>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.sum()</a:t>
            </a:r>
            <a:endParaRPr lang="en-US" sz="1400" dirty="0"/>
          </a:p>
        </p:txBody>
      </p:sp>
      <p:sp>
        <p:nvSpPr>
          <p:cNvPr id="22" name="Text 20"/>
          <p:cNvSpPr txBox="1"/>
          <p:nvPr/>
        </p:nvSpPr>
        <p:spPr>
          <a:xfrm>
            <a:off x="6263640" y="3573272"/>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Suma la generación de cada grupo.</a:t>
            </a:r>
            <a:endParaRPr lang="en-US" sz="1600" dirty="0"/>
          </a:p>
        </p:txBody>
      </p:sp>
      <p:sp>
        <p:nvSpPr>
          <p:cNvPr id="23" name="Shape 21"/>
          <p:cNvSpPr/>
          <p:nvPr/>
        </p:nvSpPr>
        <p:spPr>
          <a:xfrm>
            <a:off x="548640" y="4295648"/>
            <a:ext cx="329184" cy="329184"/>
          </a:xfrm>
          <a:prstGeom prst="ellipse">
            <a:avLst/>
          </a:prstGeom>
          <a:solidFill>
            <a:srgbClr val="7B4FC9"/>
          </a:solidFill>
          <a:ln w="12700">
            <a:solidFill>
              <a:srgbClr val="7B4FC9"/>
            </a:solidFill>
            <a:prstDash val="solid"/>
          </a:ln>
        </p:spPr>
      </p:sp>
      <p:sp>
        <p:nvSpPr>
          <p:cNvPr id="24" name="Text 22"/>
          <p:cNvSpPr txBox="1"/>
          <p:nvPr/>
        </p:nvSpPr>
        <p:spPr>
          <a:xfrm>
            <a:off x="548640" y="42956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Shape 23"/>
          <p:cNvSpPr/>
          <p:nvPr/>
        </p:nvSpPr>
        <p:spPr>
          <a:xfrm>
            <a:off x="1051560" y="4195064"/>
            <a:ext cx="4937760" cy="530352"/>
          </a:xfrm>
          <a:prstGeom prst="roundRect">
            <a:avLst>
              <a:gd name="adj" fmla="val 8621"/>
            </a:avLst>
          </a:prstGeom>
          <a:solidFill>
            <a:srgbClr val="ECE2FA"/>
          </a:solidFill>
          <a:ln w="12700">
            <a:solidFill>
              <a:srgbClr val="ECE2FA"/>
            </a:solidFill>
            <a:prstDash val="solid"/>
          </a:ln>
        </p:spPr>
      </p:sp>
      <p:sp>
        <p:nvSpPr>
          <p:cNvPr id="26" name="Text 24"/>
          <p:cNvSpPr txBox="1"/>
          <p:nvPr/>
        </p:nvSpPr>
        <p:spPr>
          <a:xfrm>
            <a:off x="1170432" y="4195064"/>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.round()</a:t>
            </a:r>
            <a:endParaRPr lang="en-US" sz="1400" dirty="0"/>
          </a:p>
        </p:txBody>
      </p:sp>
      <p:sp>
        <p:nvSpPr>
          <p:cNvPr id="27" name="Text 25"/>
          <p:cNvSpPr txBox="1"/>
          <p:nvPr/>
        </p:nvSpPr>
        <p:spPr>
          <a:xfrm>
            <a:off x="6263640" y="4195064"/>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Redondea a números enteros.</a:t>
            </a:r>
            <a:endParaRPr lang="en-US" sz="1600" dirty="0"/>
          </a:p>
        </p:txBody>
      </p:sp>
      <p:sp>
        <p:nvSpPr>
          <p:cNvPr id="28" name="Shape 26"/>
          <p:cNvSpPr/>
          <p:nvPr/>
        </p:nvSpPr>
        <p:spPr>
          <a:xfrm>
            <a:off x="548640" y="4917440"/>
            <a:ext cx="329184" cy="329184"/>
          </a:xfrm>
          <a:prstGeom prst="ellipse">
            <a:avLst/>
          </a:prstGeom>
          <a:solidFill>
            <a:srgbClr val="C5221F"/>
          </a:solidFill>
          <a:ln w="12700">
            <a:solidFill>
              <a:srgbClr val="C5221F"/>
            </a:solidFill>
            <a:prstDash val="solid"/>
          </a:ln>
        </p:spPr>
      </p:sp>
      <p:sp>
        <p:nvSpPr>
          <p:cNvPr id="29" name="Text 27"/>
          <p:cNvSpPr txBox="1"/>
          <p:nvPr/>
        </p:nvSpPr>
        <p:spPr>
          <a:xfrm>
            <a:off x="548640" y="491744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0" name="Shape 28"/>
          <p:cNvSpPr/>
          <p:nvPr/>
        </p:nvSpPr>
        <p:spPr>
          <a:xfrm>
            <a:off x="1051560" y="4816856"/>
            <a:ext cx="4937760" cy="530352"/>
          </a:xfrm>
          <a:prstGeom prst="roundRect">
            <a:avLst>
              <a:gd name="adj" fmla="val 8621"/>
            </a:avLst>
          </a:prstGeom>
          <a:solidFill>
            <a:srgbClr val="FCE8E6"/>
          </a:solidFill>
          <a:ln w="12700">
            <a:solidFill>
              <a:srgbClr val="FCE8E6"/>
            </a:solidFill>
            <a:prstDash val="solid"/>
          </a:ln>
        </p:spPr>
      </p:sp>
      <p:sp>
        <p:nvSpPr>
          <p:cNvPr id="31" name="Text 29"/>
          <p:cNvSpPr txBox="1"/>
          <p:nvPr/>
        </p:nvSpPr>
        <p:spPr>
          <a:xfrm>
            <a:off x="1170432" y="4816856"/>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por_grupo =</a:t>
            </a:r>
            <a:endParaRPr lang="en-US" sz="1400" dirty="0"/>
          </a:p>
        </p:txBody>
      </p:sp>
      <p:sp>
        <p:nvSpPr>
          <p:cNvPr id="32" name="Text 30"/>
          <p:cNvSpPr txBox="1"/>
          <p:nvPr/>
        </p:nvSpPr>
        <p:spPr>
          <a:xfrm>
            <a:off x="6263640" y="4816856"/>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Guarda el resultado, una fila por grupo.</a:t>
            </a:r>
            <a:endParaRPr lang="en-US" sz="1600" dirty="0"/>
          </a:p>
        </p:txBody>
      </p:sp>
      <p:sp>
        <p:nvSpPr>
          <p:cNvPr id="33" name="Shape 31"/>
          <p:cNvSpPr/>
          <p:nvPr/>
        </p:nvSpPr>
        <p:spPr>
          <a:xfrm>
            <a:off x="548640" y="5989320"/>
            <a:ext cx="73152" cy="548640"/>
          </a:xfrm>
          <a:prstGeom prst="rect">
            <a:avLst/>
          </a:prstGeom>
          <a:solidFill>
            <a:srgbClr val="0B3D62"/>
          </a:solidFill>
          <a:ln w="12700">
            <a:solidFill>
              <a:srgbClr val="0B3D62"/>
            </a:solidFill>
            <a:prstDash val="solid"/>
          </a:ln>
        </p:spPr>
      </p:sp>
      <p:sp>
        <p:nvSpPr>
          <p:cNvPr id="34" name="Text 32"/>
          <p:cNvSpPr txBox="1"/>
          <p:nvPr/>
        </p:nvSpPr>
        <p:spPr>
          <a:xfrm>
            <a:off x="777240" y="5989320"/>
            <a:ext cx="10863072" cy="548640"/>
          </a:xfrm>
          <a:prstGeom prst="rect">
            <a:avLst/>
          </a:prstGeom>
          <a:noFill/>
          <a:ln/>
        </p:spPr>
        <p:txBody>
          <a:bodyPr wrap="square" lIns="0" tIns="0" rIns="0" bIns="0"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Se lee así  </a:t>
            </a:r>
            <a:pPr indent="0" marL="0">
              <a:buNone/>
            </a:pPr>
            <a:r>
              <a:rPr lang="en-US" sz="1500" dirty="0">
                <a:solidFill>
                  <a:srgbClr val="202124"/>
                </a:solidFill>
                <a:latin typeface="Calibri" pitchFamily="34" charset="0"/>
                <a:ea typeface="Calibri" pitchFamily="34" charset="-122"/>
                <a:cs typeface="Calibri" pitchFamily="34" charset="-120"/>
              </a:rPr>
              <a:t>suma la generación de cada grupo y guárdala redondeada como por_grupo.</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3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¿cuánto generó cada grupo en el año?</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Elige cómo agrupar en la lista y vuelve a correr la celda.</a:t>
            </a:r>
            <a:endParaRPr lang="en-US" sz="1400" dirty="0"/>
          </a:p>
        </p:txBody>
      </p:sp>
      <p:sp>
        <p:nvSpPr>
          <p:cNvPr id="6" name="Shape 4"/>
          <p:cNvSpPr/>
          <p:nvPr/>
        </p:nvSpPr>
        <p:spPr>
          <a:xfrm>
            <a:off x="548640" y="1481328"/>
            <a:ext cx="11091672" cy="1714500"/>
          </a:xfrm>
          <a:prstGeom prst="roundRect">
            <a:avLst>
              <a:gd name="adj" fmla="val 3200"/>
            </a:avLst>
          </a:prstGeom>
          <a:solidFill>
            <a:srgbClr val="F8F9FA"/>
          </a:solidFill>
          <a:ln w="12700">
            <a:solidFill>
              <a:srgbClr val="DADCE0"/>
            </a:solidFill>
            <a:prstDash val="solid"/>
          </a:ln>
        </p:spPr>
      </p:sp>
      <p:sp>
        <p:nvSpPr>
          <p:cNvPr id="7" name="Shape 5"/>
          <p:cNvSpPr/>
          <p:nvPr/>
        </p:nvSpPr>
        <p:spPr>
          <a:xfrm>
            <a:off x="713232" y="1600200"/>
            <a:ext cx="420624" cy="420624"/>
          </a:xfrm>
          <a:prstGeom prst="ellipse">
            <a:avLst/>
          </a:prstGeom>
          <a:solidFill>
            <a:srgbClr val="E8EAED"/>
          </a:solidFill>
          <a:ln w="12700">
            <a:solidFill>
              <a:srgbClr val="E8EAED"/>
            </a:solidFill>
            <a:prstDash val="solid"/>
          </a:ln>
        </p:spPr>
      </p:sp>
      <p:sp>
        <p:nvSpPr>
          <p:cNvPr id="8" name="Shape 6"/>
          <p:cNvSpPr/>
          <p:nvPr/>
        </p:nvSpPr>
        <p:spPr>
          <a:xfrm rot="5400000">
            <a:off x="850392" y="1719072"/>
            <a:ext cx="182880" cy="182880"/>
          </a:xfrm>
          <a:prstGeom prst="triangle">
            <a:avLst/>
          </a:prstGeom>
          <a:solidFill>
            <a:srgbClr val="5F6368"/>
          </a:solidFill>
          <a:ln w="12700">
            <a:solidFill>
              <a:srgbClr val="5F6368"/>
            </a:solidFill>
            <a:prstDash val="solid"/>
          </a:ln>
        </p:spPr>
      </p:sp>
      <p:sp>
        <p:nvSpPr>
          <p:cNvPr id="9" name="Text 7"/>
          <p:cNvSpPr txBox="1"/>
          <p:nvPr/>
        </p:nvSpPr>
        <p:spPr>
          <a:xfrm>
            <a:off x="1325880" y="1600200"/>
            <a:ext cx="7360920" cy="1531620"/>
          </a:xfrm>
          <a:prstGeom prst="rect">
            <a:avLst/>
          </a:prstGeom>
          <a:noFill/>
          <a:ln/>
        </p:spPr>
        <p:txBody>
          <a:bodyPr wrap="square" lIns="0" tIns="0" rIns="0" bIns="0" rtlCol="0" anchor="t"/>
          <a:lstStyle/>
          <a:p>
            <a:pPr indent="0" marL="0">
              <a:buNone/>
            </a:pPr>
            <a:r>
              <a:rPr lang="en-US" sz="1300" i="1" dirty="0">
                <a:solidFill>
                  <a:srgbClr val="188038"/>
                </a:solidFill>
                <a:latin typeface="Courier New" pitchFamily="34" charset="0"/>
                <a:ea typeface="Courier New" pitchFamily="34" charset="-122"/>
                <a:cs typeface="Courier New" pitchFamily="34" charset="-120"/>
              </a:rPr>
              <a:t># Paso 3</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Agrupar es lo mismo que hace una tabla dinámica.</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Junta las filas de cada grupo y suma su generación.</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agrupar_por = </a:t>
            </a:r>
            <a:pPr indent="0" marL="0">
              <a:buNone/>
            </a:pPr>
            <a:r>
              <a:rPr lang="en-US" sz="1300" dirty="0">
                <a:solidFill>
                  <a:srgbClr val="A31515"/>
                </a:solidFill>
                <a:latin typeface="Courier New" pitchFamily="34" charset="0"/>
                <a:ea typeface="Courier New" pitchFamily="34" charset="-122"/>
                <a:cs typeface="Courier New" pitchFamily="34" charset="-120"/>
              </a:rPr>
              <a:t>"tecnologia"</a:t>
            </a:r>
            <a:pPr indent="0" marL="0">
              <a:buNone/>
            </a:pPr>
            <a:r>
              <a:rPr lang="en-US" sz="1300" dirty="0">
                <a:solidFill>
                  <a:srgbClr val="202124"/>
                </a:solidFill>
                <a:latin typeface="Courier New" pitchFamily="34" charset="0"/>
                <a:ea typeface="Courier New" pitchFamily="34" charset="-122"/>
                <a:cs typeface="Courier New" pitchFamily="34" charset="-120"/>
              </a:rPr>
              <a:t> </a:t>
            </a:r>
            <a:pPr indent="0" marL="0">
              <a:buNone/>
            </a:pPr>
            <a:r>
              <a:rPr lang="en-US" sz="1300" dirty="0">
                <a:solidFill>
                  <a:srgbClr val="80868B"/>
                </a:solidFill>
                <a:latin typeface="Courier New" pitchFamily="34" charset="0"/>
                <a:ea typeface="Courier New" pitchFamily="34" charset="-122"/>
                <a:cs typeface="Courier New" pitchFamily="34" charset="-120"/>
              </a:rPr>
              <a:t>#@param ["tecnologia", "region"]</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por_grupo = gen.groupby(agrupar_por)[</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].sum().round()</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por_grupo.sort_values(ascending=False)</a:t>
            </a:r>
            <a:endParaRPr lang="en-US" sz="1300" dirty="0"/>
          </a:p>
        </p:txBody>
      </p:sp>
      <p:sp>
        <p:nvSpPr>
          <p:cNvPr id="10" name="Text 8"/>
          <p:cNvSpPr txBox="1"/>
          <p:nvPr/>
        </p:nvSpPr>
        <p:spPr>
          <a:xfrm>
            <a:off x="8823960" y="1618488"/>
            <a:ext cx="2651760" cy="228600"/>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agrupar_por</a:t>
            </a:r>
            <a:endParaRPr lang="en-US" sz="1100" dirty="0"/>
          </a:p>
        </p:txBody>
      </p:sp>
      <p:sp>
        <p:nvSpPr>
          <p:cNvPr id="11" name="Shape 9"/>
          <p:cNvSpPr/>
          <p:nvPr/>
        </p:nvSpPr>
        <p:spPr>
          <a:xfrm>
            <a:off x="8823960" y="1874520"/>
            <a:ext cx="2651760" cy="347472"/>
          </a:xfrm>
          <a:prstGeom prst="rect">
            <a:avLst/>
          </a:prstGeom>
          <a:solidFill>
            <a:srgbClr val="FFFFFF"/>
          </a:solidFill>
          <a:ln w="12700">
            <a:solidFill>
              <a:srgbClr val="9AA0A6"/>
            </a:solidFill>
            <a:prstDash val="solid"/>
          </a:ln>
        </p:spPr>
      </p:sp>
      <p:sp>
        <p:nvSpPr>
          <p:cNvPr id="12" name="Text 10"/>
          <p:cNvSpPr txBox="1"/>
          <p:nvPr/>
        </p:nvSpPr>
        <p:spPr>
          <a:xfrm>
            <a:off x="8915400" y="1874520"/>
            <a:ext cx="2240280" cy="347472"/>
          </a:xfrm>
          <a:prstGeom prst="rect">
            <a:avLst/>
          </a:prstGeom>
          <a:noFill/>
          <a:ln/>
        </p:spPr>
        <p:txBody>
          <a:bodyPr wrap="square" lIns="0" tIns="0" rIns="0" bIns="0" rtlCol="0" anchor="ctr"/>
          <a:lstStyle/>
          <a:p>
            <a:pPr indent="0" marL="0">
              <a:buNone/>
            </a:pPr>
            <a:r>
              <a:rPr lang="en-US" sz="1200" dirty="0">
                <a:solidFill>
                  <a:srgbClr val="202124"/>
                </a:solidFill>
                <a:latin typeface="Calibri" pitchFamily="34" charset="0"/>
                <a:ea typeface="Calibri" pitchFamily="34" charset="-122"/>
                <a:cs typeface="Calibri" pitchFamily="34" charset="-120"/>
              </a:rPr>
              <a:t>tecnologia</a:t>
            </a:r>
            <a:endParaRPr lang="en-US" sz="1200" dirty="0"/>
          </a:p>
        </p:txBody>
      </p:sp>
      <p:sp>
        <p:nvSpPr>
          <p:cNvPr id="13" name="Shape 11"/>
          <p:cNvSpPr/>
          <p:nvPr/>
        </p:nvSpPr>
        <p:spPr>
          <a:xfrm rot="10800000">
            <a:off x="11201400" y="2011680"/>
            <a:ext cx="128016" cy="82296"/>
          </a:xfrm>
          <a:prstGeom prst="triangle">
            <a:avLst/>
          </a:prstGeom>
          <a:solidFill>
            <a:srgbClr val="5F6368"/>
          </a:solidFill>
          <a:ln w="12700">
            <a:solidFill>
              <a:srgbClr val="5F6368"/>
            </a:solidFill>
            <a:prstDash val="solid"/>
          </a:ln>
        </p:spPr>
      </p:sp>
      <p:sp>
        <p:nvSpPr>
          <p:cNvPr id="14" name="Shape 12"/>
          <p:cNvSpPr/>
          <p:nvPr/>
        </p:nvSpPr>
        <p:spPr>
          <a:xfrm>
            <a:off x="1325880" y="3305556"/>
            <a:ext cx="10314432" cy="1792224"/>
          </a:xfrm>
          <a:prstGeom prst="rect">
            <a:avLst/>
          </a:prstGeom>
          <a:solidFill>
            <a:srgbClr val="FFFFFF"/>
          </a:solidFill>
          <a:ln w="12700">
            <a:solidFill>
              <a:srgbClr val="DADCE0"/>
            </a:solidFill>
            <a:prstDash val="solid"/>
          </a:ln>
        </p:spPr>
      </p:sp>
      <p:sp>
        <p:nvSpPr>
          <p:cNvPr id="15" name="Text 13"/>
          <p:cNvSpPr txBox="1"/>
          <p:nvPr/>
        </p:nvSpPr>
        <p:spPr>
          <a:xfrm>
            <a:off x="1463040" y="3378708"/>
            <a:ext cx="10085832" cy="1664208"/>
          </a:xfrm>
          <a:prstGeom prst="rect">
            <a:avLst/>
          </a:prstGeom>
          <a:noFill/>
          <a:ln/>
        </p:spPr>
        <p:txBody>
          <a:bodyPr wrap="square" lIns="0" tIns="0" rIns="0" bIns="0" rtlCol="0" anchor="t"/>
          <a:lstStyle/>
          <a:p>
            <a:pPr indent="0" marL="0">
              <a:buNone/>
            </a:pPr>
            <a:r>
              <a:rPr lang="en-US" sz="1200" dirty="0">
                <a:solidFill>
                  <a:srgbClr val="202124"/>
                </a:solidFill>
                <a:latin typeface="Courier New" pitchFamily="34" charset="0"/>
                <a:ea typeface="Courier New" pitchFamily="34" charset="-122"/>
                <a:cs typeface="Courier New" pitchFamily="34" charset="-120"/>
              </a:rPr>
              <a:t>tecnologia</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hidro     6106351.0</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gas       5094126.0</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carbon    4666823.0</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eolica    1565899.0</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solar      671677.0</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diesel      40710.0</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Name: mwh, dtype: float64</a:t>
            </a:r>
            <a:endParaRPr lang="en-US" sz="1200" dirty="0"/>
          </a:p>
        </p:txBody>
      </p:sp>
      <p:sp>
        <p:nvSpPr>
          <p:cNvPr id="17" name="Text 14"/>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8" name="Shape 15"/>
          <p:cNvSpPr/>
          <p:nvPr/>
        </p:nvSpPr>
        <p:spPr>
          <a:xfrm>
            <a:off x="548640" y="6062472"/>
            <a:ext cx="1810512" cy="566928"/>
          </a:xfrm>
          <a:prstGeom prst="roundRect">
            <a:avLst>
              <a:gd name="adj" fmla="val 11290"/>
            </a:avLst>
          </a:prstGeom>
          <a:solidFill>
            <a:srgbClr val="E8F0FE"/>
          </a:solidFill>
          <a:ln w="28575">
            <a:solidFill>
              <a:srgbClr val="1A73E8"/>
            </a:solidFill>
            <a:prstDash val="solid"/>
          </a:ln>
        </p:spPr>
      </p:sp>
      <p:sp>
        <p:nvSpPr>
          <p:cNvPr id="19" name="Text 16"/>
          <p:cNvSpPr txBox="1"/>
          <p:nvPr/>
        </p:nvSpPr>
        <p:spPr>
          <a:xfrm>
            <a:off x="640080" y="6071616"/>
            <a:ext cx="167335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gen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175680 × 8</a:t>
            </a:r>
            <a:endParaRPr lang="en-US" sz="1200" dirty="0"/>
          </a:p>
        </p:txBody>
      </p:sp>
      <p:sp>
        <p:nvSpPr>
          <p:cNvPr id="20" name="Shape 17"/>
          <p:cNvSpPr/>
          <p:nvPr/>
        </p:nvSpPr>
        <p:spPr>
          <a:xfrm>
            <a:off x="2496312" y="6062472"/>
            <a:ext cx="1426464" cy="566928"/>
          </a:xfrm>
          <a:prstGeom prst="roundRect">
            <a:avLst>
              <a:gd name="adj" fmla="val 11290"/>
            </a:avLst>
          </a:prstGeom>
          <a:solidFill>
            <a:srgbClr val="FEF3D6"/>
          </a:solidFill>
          <a:ln w="25400">
            <a:solidFill>
              <a:srgbClr val="F9AB00"/>
            </a:solidFill>
            <a:prstDash val="solid"/>
          </a:ln>
        </p:spPr>
      </p:sp>
      <p:sp>
        <p:nvSpPr>
          <p:cNvPr id="21" name="Text 18"/>
          <p:cNvSpPr txBox="1"/>
          <p:nvPr/>
        </p:nvSpPr>
        <p:spPr>
          <a:xfrm>
            <a:off x="2587752" y="6071616"/>
            <a:ext cx="128930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agrupar_por</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"tecnologia"</a:t>
            </a:r>
            <a:endParaRPr lang="en-US" sz="1200" dirty="0"/>
          </a:p>
        </p:txBody>
      </p:sp>
      <p:sp>
        <p:nvSpPr>
          <p:cNvPr id="22" name="Shape 19"/>
          <p:cNvSpPr/>
          <p:nvPr/>
        </p:nvSpPr>
        <p:spPr>
          <a:xfrm>
            <a:off x="4059936" y="6062472"/>
            <a:ext cx="2002536" cy="566928"/>
          </a:xfrm>
          <a:prstGeom prst="roundRect">
            <a:avLst>
              <a:gd name="adj" fmla="val 11290"/>
            </a:avLst>
          </a:prstGeom>
          <a:solidFill>
            <a:srgbClr val="FEF3D6"/>
          </a:solidFill>
          <a:ln w="25400">
            <a:solidFill>
              <a:srgbClr val="F9AB00"/>
            </a:solidFill>
            <a:prstDash val="solid"/>
          </a:ln>
        </p:spPr>
      </p:sp>
      <p:sp>
        <p:nvSpPr>
          <p:cNvPr id="23" name="Text 20"/>
          <p:cNvSpPr txBox="1"/>
          <p:nvPr/>
        </p:nvSpPr>
        <p:spPr>
          <a:xfrm>
            <a:off x="4151376" y="6071616"/>
            <a:ext cx="186537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por_grupo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serie de 6 valores</a:t>
            </a:r>
            <a:endParaRPr lang="en-US" sz="1200" dirty="0"/>
          </a:p>
        </p:txBody>
      </p:sp>
      <p:sp>
        <p:nvSpPr>
          <p:cNvPr id="24" name="Shape 21"/>
          <p:cNvSpPr/>
          <p:nvPr/>
        </p:nvSpPr>
        <p:spPr>
          <a:xfrm>
            <a:off x="6199632" y="6062472"/>
            <a:ext cx="1143000" cy="566928"/>
          </a:xfrm>
          <a:prstGeom prst="roundRect">
            <a:avLst>
              <a:gd name="adj" fmla="val 11290"/>
            </a:avLst>
          </a:prstGeom>
          <a:solidFill>
            <a:srgbClr val="F1F3F4"/>
          </a:solidFill>
          <a:ln w="12700">
            <a:solidFill>
              <a:srgbClr val="DADCE0"/>
            </a:solidFill>
            <a:prstDash val="solid"/>
          </a:ln>
        </p:spPr>
      </p:sp>
      <p:sp>
        <p:nvSpPr>
          <p:cNvPr id="25" name="Text 22"/>
          <p:cNvSpPr txBox="1"/>
          <p:nvPr/>
        </p:nvSpPr>
        <p:spPr>
          <a:xfrm>
            <a:off x="6291072"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total</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4151930</a:t>
            </a:r>
            <a:endParaRPr lang="en-US" sz="1200" dirty="0"/>
          </a:p>
        </p:txBody>
      </p:sp>
      <p:sp>
        <p:nvSpPr>
          <p:cNvPr id="26" name="Shape 23"/>
          <p:cNvSpPr/>
          <p:nvPr/>
        </p:nvSpPr>
        <p:spPr>
          <a:xfrm>
            <a:off x="7479792" y="6062472"/>
            <a:ext cx="1714500" cy="566928"/>
          </a:xfrm>
          <a:prstGeom prst="roundRect">
            <a:avLst>
              <a:gd name="adj" fmla="val 11290"/>
            </a:avLst>
          </a:prstGeom>
          <a:solidFill>
            <a:srgbClr val="F1F3F4"/>
          </a:solidFill>
          <a:ln w="12700">
            <a:solidFill>
              <a:srgbClr val="DADCE0"/>
            </a:solidFill>
            <a:prstDash val="solid"/>
          </a:ln>
        </p:spPr>
      </p:sp>
      <p:sp>
        <p:nvSpPr>
          <p:cNvPr id="27" name="Text 24"/>
          <p:cNvSpPr txBox="1"/>
          <p:nvPr/>
        </p:nvSpPr>
        <p:spPr>
          <a:xfrm>
            <a:off x="7571232" y="6071616"/>
            <a:ext cx="15773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elegidas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26352 × 8</a:t>
            </a:r>
            <a:endParaRPr lang="en-US" sz="1200" dirty="0"/>
          </a:p>
        </p:txBody>
      </p:sp>
      <p:sp>
        <p:nvSpPr>
          <p:cNvPr id="28" name="Shape 25"/>
          <p:cNvSpPr/>
          <p:nvPr/>
        </p:nvSpPr>
        <p:spPr>
          <a:xfrm>
            <a:off x="9331452" y="6062472"/>
            <a:ext cx="1143000" cy="566928"/>
          </a:xfrm>
          <a:prstGeom prst="roundRect">
            <a:avLst>
              <a:gd name="adj" fmla="val 11290"/>
            </a:avLst>
          </a:prstGeom>
          <a:solidFill>
            <a:srgbClr val="F1F3F4"/>
          </a:solidFill>
          <a:ln w="12700">
            <a:solidFill>
              <a:srgbClr val="DADCE0"/>
            </a:solidFill>
            <a:prstDash val="solid"/>
          </a:ln>
        </p:spPr>
      </p:sp>
      <p:sp>
        <p:nvSpPr>
          <p:cNvPr id="29" name="Text 26"/>
          <p:cNvSpPr txBox="1"/>
          <p:nvPr/>
        </p:nvSpPr>
        <p:spPr>
          <a:xfrm>
            <a:off x="9422892"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region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"Biobío"</a:t>
            </a:r>
            <a:endParaRPr lang="en-US" sz="1200" dirty="0"/>
          </a:p>
        </p:txBody>
      </p:sp>
      <p:sp>
        <p:nvSpPr>
          <p:cNvPr id="30" name="Text 27"/>
          <p:cNvSpPr txBox="1"/>
          <p:nvPr/>
        </p:nvSpPr>
        <p:spPr>
          <a:xfrm>
            <a:off x="10611612"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5 más</a:t>
            </a:r>
            <a:endParaRPr lang="en-US" sz="1200" dirty="0"/>
          </a:p>
        </p:txBody>
      </p:sp>
      <p:sp>
        <p:nvSpPr>
          <p:cNvPr id="31" name="Text 28"/>
          <p:cNvSpPr txBox="1"/>
          <p:nvPr/>
        </p:nvSpPr>
        <p:spPr>
          <a:xfrm>
            <a:off x="548640" y="6638544"/>
            <a:ext cx="11091672" cy="237744"/>
          </a:xfrm>
          <a:prstGeom prst="rect">
            <a:avLst/>
          </a:prstGeom>
          <a:noFill/>
          <a:ln/>
        </p:spPr>
        <p:txBody>
          <a:bodyPr wrap="square" lIns="0" tIns="0" rIns="0" bIns="0" rtlCol="0" anchor="ctr"/>
          <a:lstStyle/>
          <a:p>
            <a:pPr indent="0" marL="0">
              <a:buNone/>
            </a:pPr>
            <a:r>
              <a:rPr lang="en-US" sz="1300" i="1" dirty="0">
                <a:solidFill>
                  <a:srgbClr val="0B3D62"/>
                </a:solidFill>
                <a:latin typeface="Calibri" pitchFamily="34" charset="0"/>
                <a:ea typeface="Calibri" pitchFamily="34" charset="-122"/>
                <a:cs typeface="Calibri" pitchFamily="34" charset="-120"/>
              </a:rPr>
              <a:t>Hidro genera más que todas, pero la solar queda quinta aunque es segunda en potencia instalada.</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4"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3 de 5</a:t>
            </a:r>
            <a:endParaRPr lang="en-US" sz="1400" dirty="0"/>
          </a:p>
        </p:txBody>
      </p:sp>
      <p:sp>
        <p:nvSpPr>
          <p:cNvPr id="5"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¿cuánto generó cada grupo en el año?</a:t>
            </a:r>
            <a:endParaRPr lang="en-US" sz="2400" dirty="0"/>
          </a:p>
        </p:txBody>
      </p:sp>
      <p:sp>
        <p:nvSpPr>
          <p:cNvPr id="6"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Se elige region en la lista y se vuelve a correr la celda.</a:t>
            </a:r>
            <a:endParaRPr lang="en-US" sz="1400" dirty="0"/>
          </a:p>
        </p:txBody>
      </p:sp>
      <p:sp>
        <p:nvSpPr>
          <p:cNvPr id="7" name="Shape 4"/>
          <p:cNvSpPr/>
          <p:nvPr/>
        </p:nvSpPr>
        <p:spPr>
          <a:xfrm>
            <a:off x="548640" y="1481328"/>
            <a:ext cx="11091672" cy="1714500"/>
          </a:xfrm>
          <a:prstGeom prst="roundRect">
            <a:avLst>
              <a:gd name="adj" fmla="val 3200"/>
            </a:avLst>
          </a:prstGeom>
          <a:solidFill>
            <a:srgbClr val="F8F9FA"/>
          </a:solidFill>
          <a:ln w="25400">
            <a:solidFill>
              <a:srgbClr val="F9AB00"/>
            </a:solidFill>
            <a:prstDash val="solid"/>
          </a:ln>
        </p:spPr>
      </p:sp>
      <p:sp>
        <p:nvSpPr>
          <p:cNvPr id="8" name="Shape 5"/>
          <p:cNvSpPr/>
          <p:nvPr/>
        </p:nvSpPr>
        <p:spPr>
          <a:xfrm>
            <a:off x="713232" y="1600200"/>
            <a:ext cx="420624" cy="420624"/>
          </a:xfrm>
          <a:prstGeom prst="ellipse">
            <a:avLst/>
          </a:prstGeom>
          <a:solidFill>
            <a:srgbClr val="F9AB00"/>
          </a:solidFill>
          <a:ln w="12700">
            <a:solidFill>
              <a:srgbClr val="F9AB00"/>
            </a:solidFill>
            <a:prstDash val="solid"/>
          </a:ln>
        </p:spPr>
      </p:sp>
      <p:sp>
        <p:nvSpPr>
          <p:cNvPr id="9" name="Shape 6"/>
          <p:cNvSpPr/>
          <p:nvPr/>
        </p:nvSpPr>
        <p:spPr>
          <a:xfrm rot="5400000">
            <a:off x="850392" y="1719072"/>
            <a:ext cx="182880" cy="182880"/>
          </a:xfrm>
          <a:prstGeom prst="triangle">
            <a:avLst/>
          </a:prstGeom>
          <a:solidFill>
            <a:srgbClr val="FFFFFF"/>
          </a:solidFill>
          <a:ln w="12700">
            <a:solidFill>
              <a:srgbClr val="FFFFFF"/>
            </a:solidFill>
            <a:prstDash val="solid"/>
          </a:ln>
        </p:spPr>
      </p:sp>
      <p:sp>
        <p:nvSpPr>
          <p:cNvPr id="10" name="Text 7"/>
          <p:cNvSpPr txBox="1"/>
          <p:nvPr/>
        </p:nvSpPr>
        <p:spPr>
          <a:xfrm>
            <a:off x="1325880" y="1600200"/>
            <a:ext cx="7360920" cy="1531620"/>
          </a:xfrm>
          <a:prstGeom prst="rect">
            <a:avLst/>
          </a:prstGeom>
          <a:noFill/>
          <a:ln/>
        </p:spPr>
        <p:txBody>
          <a:bodyPr wrap="square" lIns="0" tIns="0" rIns="0" bIns="0" rtlCol="0" anchor="t"/>
          <a:lstStyle/>
          <a:p>
            <a:pPr indent="0" marL="0">
              <a:buNone/>
            </a:pPr>
            <a:r>
              <a:rPr lang="en-US" sz="1300" i="1" dirty="0">
                <a:solidFill>
                  <a:srgbClr val="188038"/>
                </a:solidFill>
                <a:latin typeface="Courier New" pitchFamily="34" charset="0"/>
                <a:ea typeface="Courier New" pitchFamily="34" charset="-122"/>
                <a:cs typeface="Courier New" pitchFamily="34" charset="-120"/>
              </a:rPr>
              <a:t># Paso 3</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Agrupar es lo mismo que hace una tabla dinámica.</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Junta las filas de cada grupo y suma su generación.</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agrupar_por = </a:t>
            </a:r>
            <a:pPr indent="0" marL="0">
              <a:buNone/>
            </a:pPr>
            <a:r>
              <a:rPr lang="en-US" sz="1300" dirty="0">
                <a:solidFill>
                  <a:srgbClr val="A31515"/>
                </a:solidFill>
                <a:latin typeface="Courier New" pitchFamily="34" charset="0"/>
                <a:ea typeface="Courier New" pitchFamily="34" charset="-122"/>
                <a:cs typeface="Courier New" pitchFamily="34" charset="-120"/>
              </a:rPr>
              <a:t>"region"</a:t>
            </a:r>
            <a:pPr indent="0" marL="0">
              <a:buNone/>
            </a:pPr>
            <a:r>
              <a:rPr lang="en-US" sz="1300" dirty="0">
                <a:solidFill>
                  <a:srgbClr val="202124"/>
                </a:solidFill>
                <a:latin typeface="Courier New" pitchFamily="34" charset="0"/>
                <a:ea typeface="Courier New" pitchFamily="34" charset="-122"/>
                <a:cs typeface="Courier New" pitchFamily="34" charset="-120"/>
              </a:rPr>
              <a:t> </a:t>
            </a:r>
            <a:pPr indent="0" marL="0">
              <a:buNone/>
            </a:pPr>
            <a:r>
              <a:rPr lang="en-US" sz="1300" dirty="0">
                <a:solidFill>
                  <a:srgbClr val="80868B"/>
                </a:solidFill>
                <a:latin typeface="Courier New" pitchFamily="34" charset="0"/>
                <a:ea typeface="Courier New" pitchFamily="34" charset="-122"/>
                <a:cs typeface="Courier New" pitchFamily="34" charset="-120"/>
              </a:rPr>
              <a:t>#@param ["tecnologia", "region"]</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por_grupo = gen.groupby(agrupar_por)[</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].sum().round()</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por_grupo.sort_values(ascending=False)</a:t>
            </a:r>
            <a:endParaRPr lang="en-US" sz="1300" dirty="0"/>
          </a:p>
        </p:txBody>
      </p:sp>
      <p:sp>
        <p:nvSpPr>
          <p:cNvPr id="11" name="Text 8"/>
          <p:cNvSpPr txBox="1"/>
          <p:nvPr/>
        </p:nvSpPr>
        <p:spPr>
          <a:xfrm>
            <a:off x="8823960" y="1618488"/>
            <a:ext cx="2651760" cy="228600"/>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agrupar_por</a:t>
            </a:r>
            <a:endParaRPr lang="en-US" sz="1100" dirty="0"/>
          </a:p>
        </p:txBody>
      </p:sp>
      <p:sp>
        <p:nvSpPr>
          <p:cNvPr id="12" name="Shape 9"/>
          <p:cNvSpPr/>
          <p:nvPr/>
        </p:nvSpPr>
        <p:spPr>
          <a:xfrm>
            <a:off x="8823960" y="1874520"/>
            <a:ext cx="2651760" cy="347472"/>
          </a:xfrm>
          <a:prstGeom prst="rect">
            <a:avLst/>
          </a:prstGeom>
          <a:solidFill>
            <a:srgbClr val="FFFFFF"/>
          </a:solidFill>
          <a:ln w="25400">
            <a:solidFill>
              <a:srgbClr val="1A73E8"/>
            </a:solidFill>
            <a:prstDash val="solid"/>
          </a:ln>
        </p:spPr>
      </p:sp>
      <p:sp>
        <p:nvSpPr>
          <p:cNvPr id="13" name="Text 10"/>
          <p:cNvSpPr txBox="1"/>
          <p:nvPr/>
        </p:nvSpPr>
        <p:spPr>
          <a:xfrm>
            <a:off x="8915400" y="1874520"/>
            <a:ext cx="2240280" cy="347472"/>
          </a:xfrm>
          <a:prstGeom prst="rect">
            <a:avLst/>
          </a:prstGeom>
          <a:noFill/>
          <a:ln/>
        </p:spPr>
        <p:txBody>
          <a:bodyPr wrap="square" lIns="0" tIns="0" rIns="0" bIns="0" rtlCol="0" anchor="ctr"/>
          <a:lstStyle/>
          <a:p>
            <a:pPr indent="0" marL="0">
              <a:buNone/>
            </a:pPr>
            <a:r>
              <a:rPr lang="en-US" sz="1200" dirty="0">
                <a:solidFill>
                  <a:srgbClr val="202124"/>
                </a:solidFill>
                <a:latin typeface="Calibri" pitchFamily="34" charset="0"/>
                <a:ea typeface="Calibri" pitchFamily="34" charset="-122"/>
                <a:cs typeface="Calibri" pitchFamily="34" charset="-120"/>
              </a:rPr>
              <a:t>region</a:t>
            </a:r>
            <a:endParaRPr lang="en-US" sz="1200" dirty="0"/>
          </a:p>
        </p:txBody>
      </p:sp>
      <p:sp>
        <p:nvSpPr>
          <p:cNvPr id="14" name="Shape 11"/>
          <p:cNvSpPr/>
          <p:nvPr/>
        </p:nvSpPr>
        <p:spPr>
          <a:xfrm rot="10800000">
            <a:off x="11201400" y="2011680"/>
            <a:ext cx="128016" cy="82296"/>
          </a:xfrm>
          <a:prstGeom prst="triangle">
            <a:avLst/>
          </a:prstGeom>
          <a:solidFill>
            <a:srgbClr val="5F6368"/>
          </a:solidFill>
          <a:ln w="12700">
            <a:solidFill>
              <a:srgbClr val="5F6368"/>
            </a:solidFill>
            <a:prstDash val="solid"/>
          </a:ln>
        </p:spPr>
      </p:sp>
      <p:sp>
        <p:nvSpPr>
          <p:cNvPr id="15" name="Text 12"/>
          <p:cNvSpPr txBox="1"/>
          <p:nvPr/>
        </p:nvSpPr>
        <p:spPr>
          <a:xfrm>
            <a:off x="1325880" y="3232404"/>
            <a:ext cx="5486400" cy="256032"/>
          </a:xfrm>
          <a:prstGeom prst="rect">
            <a:avLst/>
          </a:prstGeom>
          <a:noFill/>
          <a:ln/>
        </p:spPr>
        <p:txBody>
          <a:bodyPr wrap="square" lIns="0" tIns="0" rIns="0" bIns="0" rtlCol="0" anchor="ctr"/>
          <a:lstStyle/>
          <a:p>
            <a:pPr indent="0" marL="0">
              <a:buNone/>
            </a:pPr>
            <a:r>
              <a:rPr lang="en-US" sz="1200" b="1" dirty="0">
                <a:solidFill>
                  <a:srgbClr val="B06000"/>
                </a:solidFill>
                <a:latin typeface="Calibri" pitchFamily="34" charset="0"/>
                <a:ea typeface="Calibri" pitchFamily="34" charset="-122"/>
                <a:cs typeface="Calibri" pitchFamily="34" charset="-120"/>
              </a:rPr>
              <a:t>Clic en el botón de play para correr la celda</a:t>
            </a:r>
            <a:endParaRPr lang="en-US" sz="1200" dirty="0"/>
          </a:p>
        </p:txBody>
      </p:sp>
      <p:sp>
        <p:nvSpPr>
          <p:cNvPr id="16" name="Text 13"/>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7" name="Shape 14"/>
          <p:cNvSpPr/>
          <p:nvPr/>
        </p:nvSpPr>
        <p:spPr>
          <a:xfrm>
            <a:off x="548640" y="6062472"/>
            <a:ext cx="2002536" cy="566928"/>
          </a:xfrm>
          <a:prstGeom prst="roundRect">
            <a:avLst>
              <a:gd name="adj" fmla="val 11290"/>
            </a:avLst>
          </a:prstGeom>
          <a:solidFill>
            <a:srgbClr val="F1F3F4"/>
          </a:solidFill>
          <a:ln w="12700">
            <a:solidFill>
              <a:srgbClr val="DADCE0"/>
            </a:solidFill>
            <a:prstDash val="solid"/>
          </a:ln>
        </p:spPr>
      </p:sp>
      <p:sp>
        <p:nvSpPr>
          <p:cNvPr id="18" name="Text 15"/>
          <p:cNvSpPr txBox="1"/>
          <p:nvPr/>
        </p:nvSpPr>
        <p:spPr>
          <a:xfrm>
            <a:off x="640080" y="6071616"/>
            <a:ext cx="186537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por_grupo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serie de 6 valores</a:t>
            </a:r>
            <a:endParaRPr lang="en-US" sz="1200" dirty="0"/>
          </a:p>
        </p:txBody>
      </p:sp>
      <p:sp>
        <p:nvSpPr>
          <p:cNvPr id="19" name="Shape 16"/>
          <p:cNvSpPr/>
          <p:nvPr/>
        </p:nvSpPr>
        <p:spPr>
          <a:xfrm>
            <a:off x="2688336" y="6062472"/>
            <a:ext cx="1426464" cy="566928"/>
          </a:xfrm>
          <a:prstGeom prst="roundRect">
            <a:avLst>
              <a:gd name="adj" fmla="val 11290"/>
            </a:avLst>
          </a:prstGeom>
          <a:solidFill>
            <a:srgbClr val="F1F3F4"/>
          </a:solidFill>
          <a:ln w="12700">
            <a:solidFill>
              <a:srgbClr val="DADCE0"/>
            </a:solidFill>
            <a:prstDash val="solid"/>
          </a:ln>
        </p:spPr>
      </p:sp>
      <p:sp>
        <p:nvSpPr>
          <p:cNvPr id="20" name="Text 17"/>
          <p:cNvSpPr txBox="1"/>
          <p:nvPr/>
        </p:nvSpPr>
        <p:spPr>
          <a:xfrm>
            <a:off x="2779776" y="6071616"/>
            <a:ext cx="128930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agrupar_por</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"tecnologia"</a:t>
            </a:r>
            <a:endParaRPr lang="en-US" sz="1200" dirty="0"/>
          </a:p>
        </p:txBody>
      </p:sp>
      <p:sp>
        <p:nvSpPr>
          <p:cNvPr id="21" name="Shape 18"/>
          <p:cNvSpPr/>
          <p:nvPr/>
        </p:nvSpPr>
        <p:spPr>
          <a:xfrm>
            <a:off x="4251960" y="6062472"/>
            <a:ext cx="1143000" cy="566928"/>
          </a:xfrm>
          <a:prstGeom prst="roundRect">
            <a:avLst>
              <a:gd name="adj" fmla="val 11290"/>
            </a:avLst>
          </a:prstGeom>
          <a:solidFill>
            <a:srgbClr val="F1F3F4"/>
          </a:solidFill>
          <a:ln w="12700">
            <a:solidFill>
              <a:srgbClr val="DADCE0"/>
            </a:solidFill>
            <a:prstDash val="solid"/>
          </a:ln>
        </p:spPr>
      </p:sp>
      <p:sp>
        <p:nvSpPr>
          <p:cNvPr id="22" name="Text 19"/>
          <p:cNvSpPr txBox="1"/>
          <p:nvPr/>
        </p:nvSpPr>
        <p:spPr>
          <a:xfrm>
            <a:off x="4343400"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total</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4151930</a:t>
            </a:r>
            <a:endParaRPr lang="en-US" sz="1200" dirty="0"/>
          </a:p>
        </p:txBody>
      </p:sp>
      <p:sp>
        <p:nvSpPr>
          <p:cNvPr id="23" name="Shape 20"/>
          <p:cNvSpPr/>
          <p:nvPr/>
        </p:nvSpPr>
        <p:spPr>
          <a:xfrm>
            <a:off x="5532120" y="6062472"/>
            <a:ext cx="1714500" cy="566928"/>
          </a:xfrm>
          <a:prstGeom prst="roundRect">
            <a:avLst>
              <a:gd name="adj" fmla="val 11290"/>
            </a:avLst>
          </a:prstGeom>
          <a:solidFill>
            <a:srgbClr val="F1F3F4"/>
          </a:solidFill>
          <a:ln w="12700">
            <a:solidFill>
              <a:srgbClr val="DADCE0"/>
            </a:solidFill>
            <a:prstDash val="solid"/>
          </a:ln>
        </p:spPr>
      </p:sp>
      <p:sp>
        <p:nvSpPr>
          <p:cNvPr id="24" name="Text 21"/>
          <p:cNvSpPr txBox="1"/>
          <p:nvPr/>
        </p:nvSpPr>
        <p:spPr>
          <a:xfrm>
            <a:off x="5623560" y="6071616"/>
            <a:ext cx="15773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elegidas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26352 × 8</a:t>
            </a:r>
            <a:endParaRPr lang="en-US" sz="1200" dirty="0"/>
          </a:p>
        </p:txBody>
      </p:sp>
      <p:sp>
        <p:nvSpPr>
          <p:cNvPr id="25" name="Shape 22"/>
          <p:cNvSpPr/>
          <p:nvPr/>
        </p:nvSpPr>
        <p:spPr>
          <a:xfrm>
            <a:off x="7383780" y="6062472"/>
            <a:ext cx="1143000" cy="566928"/>
          </a:xfrm>
          <a:prstGeom prst="roundRect">
            <a:avLst>
              <a:gd name="adj" fmla="val 11290"/>
            </a:avLst>
          </a:prstGeom>
          <a:solidFill>
            <a:srgbClr val="F1F3F4"/>
          </a:solidFill>
          <a:ln w="12700">
            <a:solidFill>
              <a:srgbClr val="DADCE0"/>
            </a:solidFill>
            <a:prstDash val="solid"/>
          </a:ln>
        </p:spPr>
      </p:sp>
      <p:sp>
        <p:nvSpPr>
          <p:cNvPr id="26" name="Text 23"/>
          <p:cNvSpPr txBox="1"/>
          <p:nvPr/>
        </p:nvSpPr>
        <p:spPr>
          <a:xfrm>
            <a:off x="7475220"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region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"Biobío"</a:t>
            </a:r>
            <a:endParaRPr lang="en-US" sz="1200" dirty="0"/>
          </a:p>
        </p:txBody>
      </p:sp>
      <p:sp>
        <p:nvSpPr>
          <p:cNvPr id="27" name="Shape 24"/>
          <p:cNvSpPr/>
          <p:nvPr/>
        </p:nvSpPr>
        <p:spPr>
          <a:xfrm>
            <a:off x="8663940" y="6062472"/>
            <a:ext cx="1234440" cy="566928"/>
          </a:xfrm>
          <a:prstGeom prst="roundRect">
            <a:avLst>
              <a:gd name="adj" fmla="val 11290"/>
            </a:avLst>
          </a:prstGeom>
          <a:solidFill>
            <a:srgbClr val="F1F3F4"/>
          </a:solidFill>
          <a:ln w="12700">
            <a:solidFill>
              <a:srgbClr val="DADCE0"/>
            </a:solidFill>
            <a:prstDash val="solid"/>
          </a:ln>
        </p:spPr>
      </p:sp>
      <p:sp>
        <p:nvSpPr>
          <p:cNvPr id="28" name="Text 25"/>
          <p:cNvSpPr txBox="1"/>
          <p:nvPr/>
        </p:nvSpPr>
        <p:spPr>
          <a:xfrm>
            <a:off x="8755380" y="6071616"/>
            <a:ext cx="109728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tecnologia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"hidro"</a:t>
            </a:r>
            <a:endParaRPr lang="en-US" sz="1200" dirty="0"/>
          </a:p>
        </p:txBody>
      </p:sp>
      <p:sp>
        <p:nvSpPr>
          <p:cNvPr id="29" name="Text 26"/>
          <p:cNvSpPr txBox="1"/>
          <p:nvPr/>
        </p:nvSpPr>
        <p:spPr>
          <a:xfrm>
            <a:off x="10035540"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5 más</a:t>
            </a:r>
            <a:endParaRPr lang="en-US" sz="1200" dirty="0"/>
          </a:p>
        </p:txBody>
      </p:sp>
      <p:sp>
        <p:nvSpPr>
          <p:cNvPr id="30" name="Text 27"/>
          <p:cNvSpPr txBox="1"/>
          <p:nvPr/>
        </p:nvSpPr>
        <p:spPr>
          <a:xfrm>
            <a:off x="548640" y="6638544"/>
            <a:ext cx="11091672" cy="237744"/>
          </a:xfrm>
          <a:prstGeom prst="rect">
            <a:avLst/>
          </a:prstGeom>
          <a:noFill/>
          <a:ln/>
        </p:spPr>
        <p:txBody>
          <a:bodyPr wrap="square" lIns="0" tIns="0" rIns="0" bIns="0" rtlCol="0" anchor="ctr"/>
          <a:lstStyle/>
          <a:p>
            <a:pPr indent="0" marL="0">
              <a:buNone/>
            </a:pPr>
            <a:r>
              <a:rPr lang="en-US" sz="1300" i="1" dirty="0">
                <a:solidFill>
                  <a:srgbClr val="0B3D62"/>
                </a:solidFill>
                <a:latin typeface="Calibri" pitchFamily="34" charset="0"/>
                <a:ea typeface="Calibri" pitchFamily="34" charset="-122"/>
                <a:cs typeface="Calibri" pitchFamily="34" charset="-120"/>
              </a:rPr>
              <a:t>Mientras no se corra la celda, Python sigue recordando los valores anteriores.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3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¿cuánto generó cada grupo en el año?</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Se elige region en la lista y se vuelve a correr la celda.</a:t>
            </a:r>
            <a:endParaRPr lang="en-US" sz="1400" dirty="0"/>
          </a:p>
        </p:txBody>
      </p:sp>
      <p:sp>
        <p:nvSpPr>
          <p:cNvPr id="6" name="Shape 4"/>
          <p:cNvSpPr/>
          <p:nvPr/>
        </p:nvSpPr>
        <p:spPr>
          <a:xfrm>
            <a:off x="548640" y="1481328"/>
            <a:ext cx="11091672" cy="1714500"/>
          </a:xfrm>
          <a:prstGeom prst="roundRect">
            <a:avLst>
              <a:gd name="adj" fmla="val 3200"/>
            </a:avLst>
          </a:prstGeom>
          <a:solidFill>
            <a:srgbClr val="F8F9FA"/>
          </a:solidFill>
          <a:ln w="12700">
            <a:solidFill>
              <a:srgbClr val="DADCE0"/>
            </a:solidFill>
            <a:prstDash val="solid"/>
          </a:ln>
        </p:spPr>
      </p:sp>
      <p:sp>
        <p:nvSpPr>
          <p:cNvPr id="7" name="Shape 5"/>
          <p:cNvSpPr/>
          <p:nvPr/>
        </p:nvSpPr>
        <p:spPr>
          <a:xfrm>
            <a:off x="713232" y="1600200"/>
            <a:ext cx="420624" cy="420624"/>
          </a:xfrm>
          <a:prstGeom prst="ellipse">
            <a:avLst/>
          </a:prstGeom>
          <a:solidFill>
            <a:srgbClr val="E8EAED"/>
          </a:solidFill>
          <a:ln w="12700">
            <a:solidFill>
              <a:srgbClr val="E8EAED"/>
            </a:solidFill>
            <a:prstDash val="solid"/>
          </a:ln>
        </p:spPr>
      </p:sp>
      <p:sp>
        <p:nvSpPr>
          <p:cNvPr id="8" name="Shape 6"/>
          <p:cNvSpPr/>
          <p:nvPr/>
        </p:nvSpPr>
        <p:spPr>
          <a:xfrm rot="5400000">
            <a:off x="850392" y="1719072"/>
            <a:ext cx="182880" cy="182880"/>
          </a:xfrm>
          <a:prstGeom prst="triangle">
            <a:avLst/>
          </a:prstGeom>
          <a:solidFill>
            <a:srgbClr val="5F6368"/>
          </a:solidFill>
          <a:ln w="12700">
            <a:solidFill>
              <a:srgbClr val="5F6368"/>
            </a:solidFill>
            <a:prstDash val="solid"/>
          </a:ln>
        </p:spPr>
      </p:sp>
      <p:sp>
        <p:nvSpPr>
          <p:cNvPr id="9" name="Text 7"/>
          <p:cNvSpPr txBox="1"/>
          <p:nvPr/>
        </p:nvSpPr>
        <p:spPr>
          <a:xfrm>
            <a:off x="1325880" y="1600200"/>
            <a:ext cx="7360920" cy="1531620"/>
          </a:xfrm>
          <a:prstGeom prst="rect">
            <a:avLst/>
          </a:prstGeom>
          <a:noFill/>
          <a:ln/>
        </p:spPr>
        <p:txBody>
          <a:bodyPr wrap="square" lIns="0" tIns="0" rIns="0" bIns="0" rtlCol="0" anchor="t"/>
          <a:lstStyle/>
          <a:p>
            <a:pPr indent="0" marL="0">
              <a:buNone/>
            </a:pPr>
            <a:r>
              <a:rPr lang="en-US" sz="1300" i="1" dirty="0">
                <a:solidFill>
                  <a:srgbClr val="188038"/>
                </a:solidFill>
                <a:latin typeface="Courier New" pitchFamily="34" charset="0"/>
                <a:ea typeface="Courier New" pitchFamily="34" charset="-122"/>
                <a:cs typeface="Courier New" pitchFamily="34" charset="-120"/>
              </a:rPr>
              <a:t># Paso 3</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Agrupar es lo mismo que hace una tabla dinámica.</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Junta las filas de cada grupo y suma su generación.</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agrupar_por = </a:t>
            </a:r>
            <a:pPr indent="0" marL="0">
              <a:buNone/>
            </a:pPr>
            <a:r>
              <a:rPr lang="en-US" sz="1300" dirty="0">
                <a:solidFill>
                  <a:srgbClr val="A31515"/>
                </a:solidFill>
                <a:latin typeface="Courier New" pitchFamily="34" charset="0"/>
                <a:ea typeface="Courier New" pitchFamily="34" charset="-122"/>
                <a:cs typeface="Courier New" pitchFamily="34" charset="-120"/>
              </a:rPr>
              <a:t>"region"</a:t>
            </a:r>
            <a:pPr indent="0" marL="0">
              <a:buNone/>
            </a:pPr>
            <a:r>
              <a:rPr lang="en-US" sz="1300" dirty="0">
                <a:solidFill>
                  <a:srgbClr val="202124"/>
                </a:solidFill>
                <a:latin typeface="Courier New" pitchFamily="34" charset="0"/>
                <a:ea typeface="Courier New" pitchFamily="34" charset="-122"/>
                <a:cs typeface="Courier New" pitchFamily="34" charset="-120"/>
              </a:rPr>
              <a:t> </a:t>
            </a:r>
            <a:pPr indent="0" marL="0">
              <a:buNone/>
            </a:pPr>
            <a:r>
              <a:rPr lang="en-US" sz="1300" dirty="0">
                <a:solidFill>
                  <a:srgbClr val="80868B"/>
                </a:solidFill>
                <a:latin typeface="Courier New" pitchFamily="34" charset="0"/>
                <a:ea typeface="Courier New" pitchFamily="34" charset="-122"/>
                <a:cs typeface="Courier New" pitchFamily="34" charset="-120"/>
              </a:rPr>
              <a:t>#@param ["tecnologia", "region"]</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por_grupo = gen.groupby(agrupar_por)[</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].sum().round()</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por_grupo.sort_values(ascending=False)</a:t>
            </a:r>
            <a:endParaRPr lang="en-US" sz="1300" dirty="0"/>
          </a:p>
        </p:txBody>
      </p:sp>
      <p:sp>
        <p:nvSpPr>
          <p:cNvPr id="10" name="Text 8"/>
          <p:cNvSpPr txBox="1"/>
          <p:nvPr/>
        </p:nvSpPr>
        <p:spPr>
          <a:xfrm>
            <a:off x="8823960" y="1618488"/>
            <a:ext cx="2651760" cy="228600"/>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agrupar_por</a:t>
            </a:r>
            <a:endParaRPr lang="en-US" sz="1100" dirty="0"/>
          </a:p>
        </p:txBody>
      </p:sp>
      <p:sp>
        <p:nvSpPr>
          <p:cNvPr id="11" name="Shape 9"/>
          <p:cNvSpPr/>
          <p:nvPr/>
        </p:nvSpPr>
        <p:spPr>
          <a:xfrm>
            <a:off x="8823960" y="1874520"/>
            <a:ext cx="2651760" cy="347472"/>
          </a:xfrm>
          <a:prstGeom prst="rect">
            <a:avLst/>
          </a:prstGeom>
          <a:solidFill>
            <a:srgbClr val="FFFFFF"/>
          </a:solidFill>
          <a:ln w="12700">
            <a:solidFill>
              <a:srgbClr val="9AA0A6"/>
            </a:solidFill>
            <a:prstDash val="solid"/>
          </a:ln>
        </p:spPr>
      </p:sp>
      <p:sp>
        <p:nvSpPr>
          <p:cNvPr id="12" name="Text 10"/>
          <p:cNvSpPr txBox="1"/>
          <p:nvPr/>
        </p:nvSpPr>
        <p:spPr>
          <a:xfrm>
            <a:off x="8915400" y="1874520"/>
            <a:ext cx="2240280" cy="347472"/>
          </a:xfrm>
          <a:prstGeom prst="rect">
            <a:avLst/>
          </a:prstGeom>
          <a:noFill/>
          <a:ln/>
        </p:spPr>
        <p:txBody>
          <a:bodyPr wrap="square" lIns="0" tIns="0" rIns="0" bIns="0" rtlCol="0" anchor="ctr"/>
          <a:lstStyle/>
          <a:p>
            <a:pPr indent="0" marL="0">
              <a:buNone/>
            </a:pPr>
            <a:r>
              <a:rPr lang="en-US" sz="1200" dirty="0">
                <a:solidFill>
                  <a:srgbClr val="202124"/>
                </a:solidFill>
                <a:latin typeface="Calibri" pitchFamily="34" charset="0"/>
                <a:ea typeface="Calibri" pitchFamily="34" charset="-122"/>
                <a:cs typeface="Calibri" pitchFamily="34" charset="-120"/>
              </a:rPr>
              <a:t>region</a:t>
            </a:r>
            <a:endParaRPr lang="en-US" sz="1200" dirty="0"/>
          </a:p>
        </p:txBody>
      </p:sp>
      <p:sp>
        <p:nvSpPr>
          <p:cNvPr id="13" name="Shape 11"/>
          <p:cNvSpPr/>
          <p:nvPr/>
        </p:nvSpPr>
        <p:spPr>
          <a:xfrm rot="10800000">
            <a:off x="11201400" y="2011680"/>
            <a:ext cx="128016" cy="82296"/>
          </a:xfrm>
          <a:prstGeom prst="triangle">
            <a:avLst/>
          </a:prstGeom>
          <a:solidFill>
            <a:srgbClr val="5F6368"/>
          </a:solidFill>
          <a:ln w="12700">
            <a:solidFill>
              <a:srgbClr val="5F6368"/>
            </a:solidFill>
            <a:prstDash val="solid"/>
          </a:ln>
        </p:spPr>
      </p:sp>
      <p:sp>
        <p:nvSpPr>
          <p:cNvPr id="14" name="Shape 12"/>
          <p:cNvSpPr/>
          <p:nvPr/>
        </p:nvSpPr>
        <p:spPr>
          <a:xfrm>
            <a:off x="1325880" y="3305556"/>
            <a:ext cx="10314432" cy="1993392"/>
          </a:xfrm>
          <a:prstGeom prst="rect">
            <a:avLst/>
          </a:prstGeom>
          <a:solidFill>
            <a:srgbClr val="FFFFFF"/>
          </a:solidFill>
          <a:ln w="12700">
            <a:solidFill>
              <a:srgbClr val="DADCE0"/>
            </a:solidFill>
            <a:prstDash val="solid"/>
          </a:ln>
        </p:spPr>
      </p:sp>
      <p:sp>
        <p:nvSpPr>
          <p:cNvPr id="15" name="Text 13"/>
          <p:cNvSpPr txBox="1"/>
          <p:nvPr/>
        </p:nvSpPr>
        <p:spPr>
          <a:xfrm>
            <a:off x="1463040" y="3378708"/>
            <a:ext cx="10085832" cy="1865376"/>
          </a:xfrm>
          <a:prstGeom prst="rect">
            <a:avLst/>
          </a:prstGeom>
          <a:noFill/>
          <a:ln/>
        </p:spPr>
        <p:txBody>
          <a:bodyPr wrap="square" lIns="0" tIns="0" rIns="0" bIns="0" rtlCol="0" anchor="t"/>
          <a:lstStyle/>
          <a:p>
            <a:pPr indent="0" marL="0">
              <a:buNone/>
            </a:pPr>
            <a:r>
              <a:rPr lang="en-US" sz="1200" dirty="0">
                <a:solidFill>
                  <a:srgbClr val="202124"/>
                </a:solidFill>
                <a:latin typeface="Courier New" pitchFamily="34" charset="0"/>
                <a:ea typeface="Courier New" pitchFamily="34" charset="-122"/>
                <a:cs typeface="Courier New" pitchFamily="34" charset="-120"/>
              </a:rPr>
              <a:t>region</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Biobío           8539297.0</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Antofagasta      2447591.0</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Valparaíso       2416310.0</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Los Lagos        1954422.0</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Coquimbo         1332263.0</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Metropolitana    1263708.0</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Atacama           191996.0</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Name: mwh, dtype: float64</a:t>
            </a:r>
            <a:endParaRPr lang="en-US" sz="1200" dirty="0"/>
          </a:p>
        </p:txBody>
      </p:sp>
      <p:sp>
        <p:nvSpPr>
          <p:cNvPr id="17" name="Text 14"/>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8" name="Shape 15"/>
          <p:cNvSpPr/>
          <p:nvPr/>
        </p:nvSpPr>
        <p:spPr>
          <a:xfrm>
            <a:off x="548640" y="6062472"/>
            <a:ext cx="1810512" cy="566928"/>
          </a:xfrm>
          <a:prstGeom prst="roundRect">
            <a:avLst>
              <a:gd name="adj" fmla="val 11290"/>
            </a:avLst>
          </a:prstGeom>
          <a:solidFill>
            <a:srgbClr val="E8F0FE"/>
          </a:solidFill>
          <a:ln w="28575">
            <a:solidFill>
              <a:srgbClr val="1A73E8"/>
            </a:solidFill>
            <a:prstDash val="solid"/>
          </a:ln>
        </p:spPr>
      </p:sp>
      <p:sp>
        <p:nvSpPr>
          <p:cNvPr id="19" name="Text 16"/>
          <p:cNvSpPr txBox="1"/>
          <p:nvPr/>
        </p:nvSpPr>
        <p:spPr>
          <a:xfrm>
            <a:off x="640080" y="6071616"/>
            <a:ext cx="167335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gen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175680 × 8</a:t>
            </a:r>
            <a:endParaRPr lang="en-US" sz="1200" dirty="0"/>
          </a:p>
        </p:txBody>
      </p:sp>
      <p:sp>
        <p:nvSpPr>
          <p:cNvPr id="20" name="Shape 17"/>
          <p:cNvSpPr/>
          <p:nvPr/>
        </p:nvSpPr>
        <p:spPr>
          <a:xfrm>
            <a:off x="2496312" y="6062472"/>
            <a:ext cx="1330452" cy="566928"/>
          </a:xfrm>
          <a:prstGeom prst="roundRect">
            <a:avLst>
              <a:gd name="adj" fmla="val 11290"/>
            </a:avLst>
          </a:prstGeom>
          <a:solidFill>
            <a:srgbClr val="FEF3D6"/>
          </a:solidFill>
          <a:ln w="25400">
            <a:solidFill>
              <a:srgbClr val="F9AB00"/>
            </a:solidFill>
            <a:prstDash val="solid"/>
          </a:ln>
        </p:spPr>
      </p:sp>
      <p:sp>
        <p:nvSpPr>
          <p:cNvPr id="21" name="Text 18"/>
          <p:cNvSpPr txBox="1"/>
          <p:nvPr/>
        </p:nvSpPr>
        <p:spPr>
          <a:xfrm>
            <a:off x="2587752" y="6071616"/>
            <a:ext cx="119329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agrupar_por</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"region"</a:t>
            </a:r>
            <a:endParaRPr lang="en-US" sz="1200" dirty="0"/>
          </a:p>
        </p:txBody>
      </p:sp>
      <p:sp>
        <p:nvSpPr>
          <p:cNvPr id="22" name="Shape 19"/>
          <p:cNvSpPr/>
          <p:nvPr/>
        </p:nvSpPr>
        <p:spPr>
          <a:xfrm>
            <a:off x="3963924" y="6062472"/>
            <a:ext cx="2002536" cy="566928"/>
          </a:xfrm>
          <a:prstGeom prst="roundRect">
            <a:avLst>
              <a:gd name="adj" fmla="val 11290"/>
            </a:avLst>
          </a:prstGeom>
          <a:solidFill>
            <a:srgbClr val="FEF3D6"/>
          </a:solidFill>
          <a:ln w="25400">
            <a:solidFill>
              <a:srgbClr val="F9AB00"/>
            </a:solidFill>
            <a:prstDash val="solid"/>
          </a:ln>
        </p:spPr>
      </p:sp>
      <p:sp>
        <p:nvSpPr>
          <p:cNvPr id="23" name="Text 20"/>
          <p:cNvSpPr txBox="1"/>
          <p:nvPr/>
        </p:nvSpPr>
        <p:spPr>
          <a:xfrm>
            <a:off x="4055364" y="6071616"/>
            <a:ext cx="186537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por_grupo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serie de 7 valores</a:t>
            </a:r>
            <a:endParaRPr lang="en-US" sz="1200" dirty="0"/>
          </a:p>
        </p:txBody>
      </p:sp>
      <p:sp>
        <p:nvSpPr>
          <p:cNvPr id="24" name="Shape 21"/>
          <p:cNvSpPr/>
          <p:nvPr/>
        </p:nvSpPr>
        <p:spPr>
          <a:xfrm>
            <a:off x="6103620" y="6062472"/>
            <a:ext cx="1143000" cy="566928"/>
          </a:xfrm>
          <a:prstGeom prst="roundRect">
            <a:avLst>
              <a:gd name="adj" fmla="val 11290"/>
            </a:avLst>
          </a:prstGeom>
          <a:solidFill>
            <a:srgbClr val="F1F3F4"/>
          </a:solidFill>
          <a:ln w="12700">
            <a:solidFill>
              <a:srgbClr val="DADCE0"/>
            </a:solidFill>
            <a:prstDash val="solid"/>
          </a:ln>
        </p:spPr>
      </p:sp>
      <p:sp>
        <p:nvSpPr>
          <p:cNvPr id="25" name="Text 22"/>
          <p:cNvSpPr txBox="1"/>
          <p:nvPr/>
        </p:nvSpPr>
        <p:spPr>
          <a:xfrm>
            <a:off x="6195060"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total</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4151930</a:t>
            </a:r>
            <a:endParaRPr lang="en-US" sz="1200" dirty="0"/>
          </a:p>
        </p:txBody>
      </p:sp>
      <p:sp>
        <p:nvSpPr>
          <p:cNvPr id="26" name="Shape 23"/>
          <p:cNvSpPr/>
          <p:nvPr/>
        </p:nvSpPr>
        <p:spPr>
          <a:xfrm>
            <a:off x="7383780" y="6062472"/>
            <a:ext cx="1714500" cy="566928"/>
          </a:xfrm>
          <a:prstGeom prst="roundRect">
            <a:avLst>
              <a:gd name="adj" fmla="val 11290"/>
            </a:avLst>
          </a:prstGeom>
          <a:solidFill>
            <a:srgbClr val="F1F3F4"/>
          </a:solidFill>
          <a:ln w="12700">
            <a:solidFill>
              <a:srgbClr val="DADCE0"/>
            </a:solidFill>
            <a:prstDash val="solid"/>
          </a:ln>
        </p:spPr>
      </p:sp>
      <p:sp>
        <p:nvSpPr>
          <p:cNvPr id="27" name="Text 24"/>
          <p:cNvSpPr txBox="1"/>
          <p:nvPr/>
        </p:nvSpPr>
        <p:spPr>
          <a:xfrm>
            <a:off x="7475220" y="6071616"/>
            <a:ext cx="15773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elegidas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26352 × 8</a:t>
            </a:r>
            <a:endParaRPr lang="en-US" sz="1200" dirty="0"/>
          </a:p>
        </p:txBody>
      </p:sp>
      <p:sp>
        <p:nvSpPr>
          <p:cNvPr id="28" name="Shape 25"/>
          <p:cNvSpPr/>
          <p:nvPr/>
        </p:nvSpPr>
        <p:spPr>
          <a:xfrm>
            <a:off x="9235440" y="6062472"/>
            <a:ext cx="1143000" cy="566928"/>
          </a:xfrm>
          <a:prstGeom prst="roundRect">
            <a:avLst>
              <a:gd name="adj" fmla="val 11290"/>
            </a:avLst>
          </a:prstGeom>
          <a:solidFill>
            <a:srgbClr val="F1F3F4"/>
          </a:solidFill>
          <a:ln w="12700">
            <a:solidFill>
              <a:srgbClr val="DADCE0"/>
            </a:solidFill>
            <a:prstDash val="solid"/>
          </a:ln>
        </p:spPr>
      </p:sp>
      <p:sp>
        <p:nvSpPr>
          <p:cNvPr id="29" name="Text 26"/>
          <p:cNvSpPr txBox="1"/>
          <p:nvPr/>
        </p:nvSpPr>
        <p:spPr>
          <a:xfrm>
            <a:off x="9326880"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region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"Biobío"</a:t>
            </a:r>
            <a:endParaRPr lang="en-US" sz="1200" dirty="0"/>
          </a:p>
        </p:txBody>
      </p:sp>
      <p:sp>
        <p:nvSpPr>
          <p:cNvPr id="30" name="Text 27"/>
          <p:cNvSpPr txBox="1"/>
          <p:nvPr/>
        </p:nvSpPr>
        <p:spPr>
          <a:xfrm>
            <a:off x="10515600"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5 más</a:t>
            </a:r>
            <a:endParaRPr lang="en-US" sz="1200" dirty="0"/>
          </a:p>
        </p:txBody>
      </p:sp>
      <p:sp>
        <p:nvSpPr>
          <p:cNvPr id="31" name="Text 28"/>
          <p:cNvSpPr txBox="1"/>
          <p:nvPr/>
        </p:nvSpPr>
        <p:spPr>
          <a:xfrm>
            <a:off x="548640" y="6638544"/>
            <a:ext cx="11091672" cy="237744"/>
          </a:xfrm>
          <a:prstGeom prst="rect">
            <a:avLst/>
          </a:prstGeom>
          <a:noFill/>
          <a:ln/>
        </p:spPr>
        <p:txBody>
          <a:bodyPr wrap="square" lIns="0" tIns="0" rIns="0" bIns="0" rtlCol="0" anchor="ctr"/>
          <a:lstStyle/>
          <a:p>
            <a:pPr indent="0" marL="0">
              <a:buNone/>
            </a:pPr>
            <a:r>
              <a:rPr lang="en-US" sz="1300" i="1" dirty="0">
                <a:solidFill>
                  <a:srgbClr val="0B3D62"/>
                </a:solidFill>
                <a:latin typeface="Calibri" pitchFamily="34" charset="0"/>
                <a:ea typeface="Calibri" pitchFamily="34" charset="-122"/>
                <a:cs typeface="Calibri" pitchFamily="34" charset="-120"/>
              </a:rPr>
              <a:t>El mismo resumen por región. Biobío es la que más genera.</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3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¿cuánto generó cada grupo en el año?</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 que hay que llevarse de este paso.</a:t>
            </a:r>
            <a:endParaRPr lang="en-US" sz="1400" dirty="0"/>
          </a:p>
        </p:txBody>
      </p:sp>
      <p:sp>
        <p:nvSpPr>
          <p:cNvPr id="7" name="Shape 4"/>
          <p:cNvSpPr/>
          <p:nvPr/>
        </p:nvSpPr>
        <p:spPr>
          <a:xfrm>
            <a:off x="548640" y="1828800"/>
            <a:ext cx="11091672" cy="2377440"/>
          </a:xfrm>
          <a:prstGeom prst="roundRect">
            <a:avLst>
              <a:gd name="adj" fmla="val 3846"/>
            </a:avLst>
          </a:prstGeom>
          <a:solidFill>
            <a:srgbClr val="FFF8D6"/>
          </a:solidFill>
          <a:ln w="12700">
            <a:solidFill>
              <a:srgbClr val="FFF8D6"/>
            </a:solidFill>
            <a:prstDash val="solid"/>
          </a:ln>
        </p:spPr>
      </p:sp>
      <p:sp>
        <p:nvSpPr>
          <p:cNvPr id="8" name="Text 5"/>
          <p:cNvSpPr txBox="1"/>
          <p:nvPr/>
        </p:nvSpPr>
        <p:spPr>
          <a:xfrm>
            <a:off x="1005840" y="2057400"/>
            <a:ext cx="10177272" cy="1005840"/>
          </a:xfrm>
          <a:prstGeom prst="rect">
            <a:avLst/>
          </a:prstGeom>
          <a:noFill/>
          <a:ln/>
        </p:spPr>
        <p:txBody>
          <a:bodyPr wrap="square" lIns="0" tIns="0" rIns="0" bIns="0" rtlCol="0" anchor="t"/>
          <a:lstStyle/>
          <a:p>
            <a:pPr indent="0" marL="0">
              <a:buNone/>
            </a:pPr>
            <a:r>
              <a:rPr lang="en-US" sz="2800" b="1" dirty="0">
                <a:solidFill>
                  <a:srgbClr val="8A6D00"/>
                </a:solidFill>
                <a:latin typeface="Calibri" pitchFamily="34" charset="0"/>
                <a:ea typeface="Calibri" pitchFamily="34" charset="-122"/>
                <a:cs typeface="Calibri" pitchFamily="34" charset="-120"/>
              </a:rPr>
              <a:t>Potencia instalada no es energía generada.</a:t>
            </a:r>
            <a:endParaRPr lang="en-US" sz="2800" dirty="0"/>
          </a:p>
        </p:txBody>
      </p:sp>
      <p:sp>
        <p:nvSpPr>
          <p:cNvPr id="9" name="Text 6"/>
          <p:cNvSpPr txBox="1"/>
          <p:nvPr/>
        </p:nvSpPr>
        <p:spPr>
          <a:xfrm>
            <a:off x="1005840" y="3154680"/>
            <a:ext cx="10177272" cy="914400"/>
          </a:xfrm>
          <a:prstGeom prst="rect">
            <a:avLst/>
          </a:prstGeom>
          <a:noFill/>
          <a:ln/>
        </p:spPr>
        <p:txBody>
          <a:bodyPr wrap="square" lIns="0" tIns="0" rIns="0" bIns="0" rtlCol="0" anchor="t"/>
          <a:lstStyle/>
          <a:p>
            <a:pPr indent="0" marL="0">
              <a:buNone/>
            </a:pPr>
            <a:r>
              <a:rPr lang="en-US" sz="2200" dirty="0">
                <a:solidFill>
                  <a:srgbClr val="202124"/>
                </a:solidFill>
                <a:latin typeface="Calibri" pitchFamily="34" charset="0"/>
                <a:ea typeface="Calibri" pitchFamily="34" charset="-122"/>
                <a:cs typeface="Calibri" pitchFamily="34" charset="-120"/>
              </a:rPr>
              <a:t>La solar es segunda en potencia y quinta en energía, porque de noche no genera.</a:t>
            </a:r>
            <a:endParaRPr lang="en-US" sz="2200" dirty="0"/>
          </a:p>
        </p:txBody>
      </p:sp>
      <p:sp>
        <p:nvSpPr>
          <p:cNvPr id="10" name="Text 7"/>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1" name="Shape 8"/>
          <p:cNvSpPr/>
          <p:nvPr/>
        </p:nvSpPr>
        <p:spPr>
          <a:xfrm>
            <a:off x="548640" y="6062472"/>
            <a:ext cx="1810512" cy="566928"/>
          </a:xfrm>
          <a:prstGeom prst="roundRect">
            <a:avLst>
              <a:gd name="adj" fmla="val 11290"/>
            </a:avLst>
          </a:prstGeom>
          <a:solidFill>
            <a:srgbClr val="E8F0FE"/>
          </a:solidFill>
          <a:ln w="28575">
            <a:solidFill>
              <a:srgbClr val="1A73E8"/>
            </a:solidFill>
            <a:prstDash val="solid"/>
          </a:ln>
        </p:spPr>
      </p:sp>
      <p:sp>
        <p:nvSpPr>
          <p:cNvPr id="12" name="Text 9"/>
          <p:cNvSpPr txBox="1"/>
          <p:nvPr/>
        </p:nvSpPr>
        <p:spPr>
          <a:xfrm>
            <a:off x="640080" y="6071616"/>
            <a:ext cx="167335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gen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175680 × 8</a:t>
            </a:r>
            <a:endParaRPr lang="en-US" sz="1200" dirty="0"/>
          </a:p>
        </p:txBody>
      </p:sp>
      <p:sp>
        <p:nvSpPr>
          <p:cNvPr id="13" name="Shape 10"/>
          <p:cNvSpPr/>
          <p:nvPr/>
        </p:nvSpPr>
        <p:spPr>
          <a:xfrm>
            <a:off x="2496312" y="6062472"/>
            <a:ext cx="1330452" cy="566928"/>
          </a:xfrm>
          <a:prstGeom prst="roundRect">
            <a:avLst>
              <a:gd name="adj" fmla="val 11290"/>
            </a:avLst>
          </a:prstGeom>
          <a:solidFill>
            <a:srgbClr val="FEF3D6"/>
          </a:solidFill>
          <a:ln w="25400">
            <a:solidFill>
              <a:srgbClr val="F9AB00"/>
            </a:solidFill>
            <a:prstDash val="solid"/>
          </a:ln>
        </p:spPr>
      </p:sp>
      <p:sp>
        <p:nvSpPr>
          <p:cNvPr id="14" name="Text 11"/>
          <p:cNvSpPr txBox="1"/>
          <p:nvPr/>
        </p:nvSpPr>
        <p:spPr>
          <a:xfrm>
            <a:off x="2587752" y="6071616"/>
            <a:ext cx="119329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agrupar_por</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"region"</a:t>
            </a:r>
            <a:endParaRPr lang="en-US" sz="1200" dirty="0"/>
          </a:p>
        </p:txBody>
      </p:sp>
      <p:sp>
        <p:nvSpPr>
          <p:cNvPr id="15" name="Shape 12"/>
          <p:cNvSpPr/>
          <p:nvPr/>
        </p:nvSpPr>
        <p:spPr>
          <a:xfrm>
            <a:off x="3963924" y="6062472"/>
            <a:ext cx="2002536" cy="566928"/>
          </a:xfrm>
          <a:prstGeom prst="roundRect">
            <a:avLst>
              <a:gd name="adj" fmla="val 11290"/>
            </a:avLst>
          </a:prstGeom>
          <a:solidFill>
            <a:srgbClr val="FEF3D6"/>
          </a:solidFill>
          <a:ln w="25400">
            <a:solidFill>
              <a:srgbClr val="F9AB00"/>
            </a:solidFill>
            <a:prstDash val="solid"/>
          </a:ln>
        </p:spPr>
      </p:sp>
      <p:sp>
        <p:nvSpPr>
          <p:cNvPr id="16" name="Text 13"/>
          <p:cNvSpPr txBox="1"/>
          <p:nvPr/>
        </p:nvSpPr>
        <p:spPr>
          <a:xfrm>
            <a:off x="4055364" y="6071616"/>
            <a:ext cx="186537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por_grupo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serie de 7 valores</a:t>
            </a:r>
            <a:endParaRPr lang="en-US" sz="1200" dirty="0"/>
          </a:p>
        </p:txBody>
      </p:sp>
      <p:sp>
        <p:nvSpPr>
          <p:cNvPr id="17" name="Shape 14"/>
          <p:cNvSpPr/>
          <p:nvPr/>
        </p:nvSpPr>
        <p:spPr>
          <a:xfrm>
            <a:off x="6103620" y="6062472"/>
            <a:ext cx="1143000" cy="566928"/>
          </a:xfrm>
          <a:prstGeom prst="roundRect">
            <a:avLst>
              <a:gd name="adj" fmla="val 11290"/>
            </a:avLst>
          </a:prstGeom>
          <a:solidFill>
            <a:srgbClr val="F1F3F4"/>
          </a:solidFill>
          <a:ln w="12700">
            <a:solidFill>
              <a:srgbClr val="DADCE0"/>
            </a:solidFill>
            <a:prstDash val="solid"/>
          </a:ln>
        </p:spPr>
      </p:sp>
      <p:sp>
        <p:nvSpPr>
          <p:cNvPr id="18" name="Text 15"/>
          <p:cNvSpPr txBox="1"/>
          <p:nvPr/>
        </p:nvSpPr>
        <p:spPr>
          <a:xfrm>
            <a:off x="6195060"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total</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4151930</a:t>
            </a:r>
            <a:endParaRPr lang="en-US" sz="1200" dirty="0"/>
          </a:p>
        </p:txBody>
      </p:sp>
      <p:sp>
        <p:nvSpPr>
          <p:cNvPr id="19" name="Shape 16"/>
          <p:cNvSpPr/>
          <p:nvPr/>
        </p:nvSpPr>
        <p:spPr>
          <a:xfrm>
            <a:off x="7383780" y="6062472"/>
            <a:ext cx="1714500" cy="566928"/>
          </a:xfrm>
          <a:prstGeom prst="roundRect">
            <a:avLst>
              <a:gd name="adj" fmla="val 11290"/>
            </a:avLst>
          </a:prstGeom>
          <a:solidFill>
            <a:srgbClr val="F1F3F4"/>
          </a:solidFill>
          <a:ln w="12700">
            <a:solidFill>
              <a:srgbClr val="DADCE0"/>
            </a:solidFill>
            <a:prstDash val="solid"/>
          </a:ln>
        </p:spPr>
      </p:sp>
      <p:sp>
        <p:nvSpPr>
          <p:cNvPr id="20" name="Text 17"/>
          <p:cNvSpPr txBox="1"/>
          <p:nvPr/>
        </p:nvSpPr>
        <p:spPr>
          <a:xfrm>
            <a:off x="7475220" y="6071616"/>
            <a:ext cx="15773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elegidas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26352 × 8</a:t>
            </a:r>
            <a:endParaRPr lang="en-US" sz="1200" dirty="0"/>
          </a:p>
        </p:txBody>
      </p:sp>
      <p:sp>
        <p:nvSpPr>
          <p:cNvPr id="21" name="Shape 18"/>
          <p:cNvSpPr/>
          <p:nvPr/>
        </p:nvSpPr>
        <p:spPr>
          <a:xfrm>
            <a:off x="9235440" y="6062472"/>
            <a:ext cx="1143000" cy="566928"/>
          </a:xfrm>
          <a:prstGeom prst="roundRect">
            <a:avLst>
              <a:gd name="adj" fmla="val 11290"/>
            </a:avLst>
          </a:prstGeom>
          <a:solidFill>
            <a:srgbClr val="F1F3F4"/>
          </a:solidFill>
          <a:ln w="12700">
            <a:solidFill>
              <a:srgbClr val="DADCE0"/>
            </a:solidFill>
            <a:prstDash val="solid"/>
          </a:ln>
        </p:spPr>
      </p:sp>
      <p:sp>
        <p:nvSpPr>
          <p:cNvPr id="22" name="Text 19"/>
          <p:cNvSpPr txBox="1"/>
          <p:nvPr/>
        </p:nvSpPr>
        <p:spPr>
          <a:xfrm>
            <a:off x="9326880"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region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"Biobío"</a:t>
            </a:r>
            <a:endParaRPr lang="en-US" sz="1200" dirty="0"/>
          </a:p>
        </p:txBody>
      </p:sp>
      <p:sp>
        <p:nvSpPr>
          <p:cNvPr id="23" name="Text 20"/>
          <p:cNvSpPr txBox="1"/>
          <p:nvPr/>
        </p:nvSpPr>
        <p:spPr>
          <a:xfrm>
            <a:off x="10515600"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5 más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4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¿Cuánto generó cada región con cada tecnología?</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Antes de correr la celda, cómo la tabla larga se vuelve de doble entrada.</a:t>
            </a:r>
            <a:endParaRPr lang="en-US" sz="1400" dirty="0"/>
          </a:p>
        </p:txBody>
      </p:sp>
      <p:pic>
        <p:nvPicPr>
          <p:cNvPr id="6" name="Image 0" descr="../work34/modulos/modulo02/img/lab02_paso6_pivot.png">    </p:cNvPr>
          <p:cNvPicPr>
            <a:picLocks noChangeAspect="1"/>
          </p:cNvPicPr>
          <p:nvPr/>
        </p:nvPicPr>
        <p:blipFill>
          <a:blip r:embed="rId1"/>
          <a:stretch>
            <a:fillRect/>
          </a:stretch>
        </p:blipFill>
        <p:spPr>
          <a:xfrm>
            <a:off x="548640" y="1463040"/>
            <a:ext cx="11091672" cy="4379217"/>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4"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4 de 5</a:t>
            </a:r>
            <a:endParaRPr lang="en-US" sz="1400" dirty="0"/>
          </a:p>
        </p:txBody>
      </p:sp>
      <p:sp>
        <p:nvSpPr>
          <p:cNvPr id="5"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¿Cuánto generó cada región con cada tecnología?</a:t>
            </a:r>
            <a:endParaRPr lang="en-US" sz="2400" dirty="0"/>
          </a:p>
        </p:txBody>
      </p:sp>
      <p:sp>
        <p:nvSpPr>
          <p:cNvPr id="6"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 Las regiones quedan en las filas y las tecnologías en las columnas.</a:t>
            </a:r>
            <a:endParaRPr lang="en-US" sz="1400" dirty="0"/>
          </a:p>
        </p:txBody>
      </p:sp>
      <p:sp>
        <p:nvSpPr>
          <p:cNvPr id="7" name="Shape 4"/>
          <p:cNvSpPr/>
          <p:nvPr/>
        </p:nvSpPr>
        <p:spPr>
          <a:xfrm>
            <a:off x="548640" y="1481328"/>
            <a:ext cx="11091672" cy="1508760"/>
          </a:xfrm>
          <a:prstGeom prst="roundRect">
            <a:avLst>
              <a:gd name="adj" fmla="val 3636"/>
            </a:avLst>
          </a:prstGeom>
          <a:solidFill>
            <a:srgbClr val="F8F9FA"/>
          </a:solidFill>
          <a:ln w="25400">
            <a:solidFill>
              <a:srgbClr val="F9AB00"/>
            </a:solidFill>
            <a:prstDash val="solid"/>
          </a:ln>
        </p:spPr>
      </p:sp>
      <p:sp>
        <p:nvSpPr>
          <p:cNvPr id="8" name="Shape 5"/>
          <p:cNvSpPr/>
          <p:nvPr/>
        </p:nvSpPr>
        <p:spPr>
          <a:xfrm>
            <a:off x="713232" y="1600200"/>
            <a:ext cx="420624" cy="420624"/>
          </a:xfrm>
          <a:prstGeom prst="ellipse">
            <a:avLst/>
          </a:prstGeom>
          <a:solidFill>
            <a:srgbClr val="F9AB00"/>
          </a:solidFill>
          <a:ln w="12700">
            <a:solidFill>
              <a:srgbClr val="F9AB00"/>
            </a:solidFill>
            <a:prstDash val="solid"/>
          </a:ln>
        </p:spPr>
      </p:sp>
      <p:sp>
        <p:nvSpPr>
          <p:cNvPr id="9" name="Shape 6"/>
          <p:cNvSpPr/>
          <p:nvPr/>
        </p:nvSpPr>
        <p:spPr>
          <a:xfrm rot="5400000">
            <a:off x="850392" y="1719072"/>
            <a:ext cx="182880" cy="182880"/>
          </a:xfrm>
          <a:prstGeom prst="triangle">
            <a:avLst/>
          </a:prstGeom>
          <a:solidFill>
            <a:srgbClr val="FFFFFF"/>
          </a:solidFill>
          <a:ln w="12700">
            <a:solidFill>
              <a:srgbClr val="FFFFFF"/>
            </a:solidFill>
            <a:prstDash val="solid"/>
          </a:ln>
        </p:spPr>
      </p:sp>
      <p:sp>
        <p:nvSpPr>
          <p:cNvPr id="10" name="Text 7"/>
          <p:cNvSpPr txBox="1"/>
          <p:nvPr/>
        </p:nvSpPr>
        <p:spPr>
          <a:xfrm>
            <a:off x="1325880" y="1600200"/>
            <a:ext cx="10085832" cy="1325880"/>
          </a:xfrm>
          <a:prstGeom prst="rect">
            <a:avLst/>
          </a:prstGeom>
          <a:noFill/>
          <a:ln/>
        </p:spPr>
        <p:txBody>
          <a:bodyPr wrap="square" lIns="0" tIns="0" rIns="0" bIns="0" rtlCol="0" anchor="t"/>
          <a:lstStyle/>
          <a:p>
            <a:pPr indent="0" marL="0">
              <a:buNone/>
            </a:pPr>
            <a:r>
              <a:rPr lang="en-US" sz="1300" i="1" dirty="0">
                <a:solidFill>
                  <a:srgbClr val="188038"/>
                </a:solidFill>
                <a:latin typeface="Courier New" pitchFamily="34" charset="0"/>
                <a:ea typeface="Courier New" pitchFamily="34" charset="-122"/>
                <a:cs typeface="Courier New" pitchFamily="34" charset="-120"/>
              </a:rPr>
              <a:t># Paso 4</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pivot_table arma una tabla de doble entrada, como una tabla dinámica.</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fill_value=0 pone cero donde una región no tiene esa tecnología.</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cruce = gen.pivot_table(index=</a:t>
            </a:r>
            <a:pPr indent="0" marL="0">
              <a:buNone/>
            </a:pPr>
            <a:r>
              <a:rPr lang="en-US" sz="1300" dirty="0">
                <a:solidFill>
                  <a:srgbClr val="A31515"/>
                </a:solidFill>
                <a:latin typeface="Courier New" pitchFamily="34" charset="0"/>
                <a:ea typeface="Courier New" pitchFamily="34" charset="-122"/>
                <a:cs typeface="Courier New" pitchFamily="34" charset="-120"/>
              </a:rPr>
              <a:t>"region"</a:t>
            </a:r>
            <a:pPr indent="0" marL="0">
              <a:buNone/>
            </a:pPr>
            <a:r>
              <a:rPr lang="en-US" sz="1300" dirty="0">
                <a:solidFill>
                  <a:srgbClr val="202124"/>
                </a:solidFill>
                <a:latin typeface="Courier New" pitchFamily="34" charset="0"/>
                <a:ea typeface="Courier New" pitchFamily="34" charset="-122"/>
                <a:cs typeface="Courier New" pitchFamily="34" charset="-120"/>
              </a:rPr>
              <a:t>, columns=</a:t>
            </a:r>
            <a:pPr indent="0" marL="0">
              <a:buNone/>
            </a:pPr>
            <a:r>
              <a:rPr lang="en-US" sz="1300" dirty="0">
                <a:solidFill>
                  <a:srgbClr val="A31515"/>
                </a:solidFill>
                <a:latin typeface="Courier New" pitchFamily="34" charset="0"/>
                <a:ea typeface="Courier New" pitchFamily="34" charset="-122"/>
                <a:cs typeface="Courier New" pitchFamily="34" charset="-120"/>
              </a:rPr>
              <a:t>"tecnologia"</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values=</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 aggfunc=</a:t>
            </a:r>
            <a:pPr indent="0" marL="0">
              <a:buNone/>
            </a:pPr>
            <a:r>
              <a:rPr lang="en-US" sz="1300" dirty="0">
                <a:solidFill>
                  <a:srgbClr val="A31515"/>
                </a:solidFill>
                <a:latin typeface="Courier New" pitchFamily="34" charset="0"/>
                <a:ea typeface="Courier New" pitchFamily="34" charset="-122"/>
                <a:cs typeface="Courier New" pitchFamily="34" charset="-120"/>
              </a:rPr>
              <a:t>"sum"</a:t>
            </a:r>
            <a:pPr indent="0" marL="0">
              <a:buNone/>
            </a:pPr>
            <a:r>
              <a:rPr lang="en-US" sz="1300" dirty="0">
                <a:solidFill>
                  <a:srgbClr val="202124"/>
                </a:solidFill>
                <a:latin typeface="Courier New" pitchFamily="34" charset="0"/>
                <a:ea typeface="Courier New" pitchFamily="34" charset="-122"/>
                <a:cs typeface="Courier New" pitchFamily="34" charset="-120"/>
              </a:rPr>
              <a:t>, fill_value=0)</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cruce.round()</a:t>
            </a:r>
            <a:endParaRPr lang="en-US" sz="1300" dirty="0"/>
          </a:p>
        </p:txBody>
      </p:sp>
      <p:sp>
        <p:nvSpPr>
          <p:cNvPr id="11" name="Text 8"/>
          <p:cNvSpPr txBox="1"/>
          <p:nvPr/>
        </p:nvSpPr>
        <p:spPr>
          <a:xfrm>
            <a:off x="1325880" y="3026664"/>
            <a:ext cx="5486400" cy="256032"/>
          </a:xfrm>
          <a:prstGeom prst="rect">
            <a:avLst/>
          </a:prstGeom>
          <a:noFill/>
          <a:ln/>
        </p:spPr>
        <p:txBody>
          <a:bodyPr wrap="square" lIns="0" tIns="0" rIns="0" bIns="0" rtlCol="0" anchor="ctr"/>
          <a:lstStyle/>
          <a:p>
            <a:pPr indent="0" marL="0">
              <a:buNone/>
            </a:pPr>
            <a:r>
              <a:rPr lang="en-US" sz="1200" b="1" dirty="0">
                <a:solidFill>
                  <a:srgbClr val="B06000"/>
                </a:solidFill>
                <a:latin typeface="Calibri" pitchFamily="34" charset="0"/>
                <a:ea typeface="Calibri" pitchFamily="34" charset="-122"/>
                <a:cs typeface="Calibri" pitchFamily="34" charset="-120"/>
              </a:rPr>
              <a:t>Clic en el botón de play para correr la celda</a:t>
            </a:r>
            <a:endParaRPr lang="en-US" sz="1200" dirty="0"/>
          </a:p>
        </p:txBody>
      </p:sp>
      <p:sp>
        <p:nvSpPr>
          <p:cNvPr id="12" name="Text 9"/>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3" name="Shape 10"/>
          <p:cNvSpPr/>
          <p:nvPr/>
        </p:nvSpPr>
        <p:spPr>
          <a:xfrm>
            <a:off x="548640" y="6062472"/>
            <a:ext cx="2002536" cy="566928"/>
          </a:xfrm>
          <a:prstGeom prst="roundRect">
            <a:avLst>
              <a:gd name="adj" fmla="val 11290"/>
            </a:avLst>
          </a:prstGeom>
          <a:solidFill>
            <a:srgbClr val="F1F3F4"/>
          </a:solidFill>
          <a:ln w="12700">
            <a:solidFill>
              <a:srgbClr val="DADCE0"/>
            </a:solidFill>
            <a:prstDash val="solid"/>
          </a:ln>
        </p:spPr>
      </p:sp>
      <p:sp>
        <p:nvSpPr>
          <p:cNvPr id="14" name="Text 11"/>
          <p:cNvSpPr txBox="1"/>
          <p:nvPr/>
        </p:nvSpPr>
        <p:spPr>
          <a:xfrm>
            <a:off x="640080" y="6071616"/>
            <a:ext cx="186537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por_grupo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serie de 7 valores</a:t>
            </a:r>
            <a:endParaRPr lang="en-US" sz="1200" dirty="0"/>
          </a:p>
        </p:txBody>
      </p:sp>
      <p:sp>
        <p:nvSpPr>
          <p:cNvPr id="15" name="Shape 12"/>
          <p:cNvSpPr/>
          <p:nvPr/>
        </p:nvSpPr>
        <p:spPr>
          <a:xfrm>
            <a:off x="2688336" y="6062472"/>
            <a:ext cx="1330452" cy="566928"/>
          </a:xfrm>
          <a:prstGeom prst="roundRect">
            <a:avLst>
              <a:gd name="adj" fmla="val 11290"/>
            </a:avLst>
          </a:prstGeom>
          <a:solidFill>
            <a:srgbClr val="F1F3F4"/>
          </a:solidFill>
          <a:ln w="12700">
            <a:solidFill>
              <a:srgbClr val="DADCE0"/>
            </a:solidFill>
            <a:prstDash val="solid"/>
          </a:ln>
        </p:spPr>
      </p:sp>
      <p:sp>
        <p:nvSpPr>
          <p:cNvPr id="16" name="Text 13"/>
          <p:cNvSpPr txBox="1"/>
          <p:nvPr/>
        </p:nvSpPr>
        <p:spPr>
          <a:xfrm>
            <a:off x="2779776" y="6071616"/>
            <a:ext cx="119329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agrupar_por</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"region"</a:t>
            </a:r>
            <a:endParaRPr lang="en-US" sz="1200" dirty="0"/>
          </a:p>
        </p:txBody>
      </p:sp>
      <p:sp>
        <p:nvSpPr>
          <p:cNvPr id="17" name="Shape 14"/>
          <p:cNvSpPr/>
          <p:nvPr/>
        </p:nvSpPr>
        <p:spPr>
          <a:xfrm>
            <a:off x="4155948" y="6062472"/>
            <a:ext cx="1143000" cy="566928"/>
          </a:xfrm>
          <a:prstGeom prst="roundRect">
            <a:avLst>
              <a:gd name="adj" fmla="val 11290"/>
            </a:avLst>
          </a:prstGeom>
          <a:solidFill>
            <a:srgbClr val="F1F3F4"/>
          </a:solidFill>
          <a:ln w="12700">
            <a:solidFill>
              <a:srgbClr val="DADCE0"/>
            </a:solidFill>
            <a:prstDash val="solid"/>
          </a:ln>
        </p:spPr>
      </p:sp>
      <p:sp>
        <p:nvSpPr>
          <p:cNvPr id="18" name="Text 15"/>
          <p:cNvSpPr txBox="1"/>
          <p:nvPr/>
        </p:nvSpPr>
        <p:spPr>
          <a:xfrm>
            <a:off x="4247388"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total</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4151930</a:t>
            </a:r>
            <a:endParaRPr lang="en-US" sz="1200" dirty="0"/>
          </a:p>
        </p:txBody>
      </p:sp>
      <p:sp>
        <p:nvSpPr>
          <p:cNvPr id="19" name="Shape 16"/>
          <p:cNvSpPr/>
          <p:nvPr/>
        </p:nvSpPr>
        <p:spPr>
          <a:xfrm>
            <a:off x="5436108" y="6062472"/>
            <a:ext cx="1714500" cy="566928"/>
          </a:xfrm>
          <a:prstGeom prst="roundRect">
            <a:avLst>
              <a:gd name="adj" fmla="val 11290"/>
            </a:avLst>
          </a:prstGeom>
          <a:solidFill>
            <a:srgbClr val="F1F3F4"/>
          </a:solidFill>
          <a:ln w="12700">
            <a:solidFill>
              <a:srgbClr val="DADCE0"/>
            </a:solidFill>
            <a:prstDash val="solid"/>
          </a:ln>
        </p:spPr>
      </p:sp>
      <p:sp>
        <p:nvSpPr>
          <p:cNvPr id="20" name="Text 17"/>
          <p:cNvSpPr txBox="1"/>
          <p:nvPr/>
        </p:nvSpPr>
        <p:spPr>
          <a:xfrm>
            <a:off x="5527548" y="6071616"/>
            <a:ext cx="15773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elegidas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26352 × 8</a:t>
            </a:r>
            <a:endParaRPr lang="en-US" sz="1200" dirty="0"/>
          </a:p>
        </p:txBody>
      </p:sp>
      <p:sp>
        <p:nvSpPr>
          <p:cNvPr id="21" name="Shape 18"/>
          <p:cNvSpPr/>
          <p:nvPr/>
        </p:nvSpPr>
        <p:spPr>
          <a:xfrm>
            <a:off x="7287768" y="6062472"/>
            <a:ext cx="1143000" cy="566928"/>
          </a:xfrm>
          <a:prstGeom prst="roundRect">
            <a:avLst>
              <a:gd name="adj" fmla="val 11290"/>
            </a:avLst>
          </a:prstGeom>
          <a:solidFill>
            <a:srgbClr val="F1F3F4"/>
          </a:solidFill>
          <a:ln w="12700">
            <a:solidFill>
              <a:srgbClr val="DADCE0"/>
            </a:solidFill>
            <a:prstDash val="solid"/>
          </a:ln>
        </p:spPr>
      </p:sp>
      <p:sp>
        <p:nvSpPr>
          <p:cNvPr id="22" name="Text 19"/>
          <p:cNvSpPr txBox="1"/>
          <p:nvPr/>
        </p:nvSpPr>
        <p:spPr>
          <a:xfrm>
            <a:off x="7379208"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region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"Biobío"</a:t>
            </a:r>
            <a:endParaRPr lang="en-US" sz="1200" dirty="0"/>
          </a:p>
        </p:txBody>
      </p:sp>
      <p:sp>
        <p:nvSpPr>
          <p:cNvPr id="23" name="Shape 20"/>
          <p:cNvSpPr/>
          <p:nvPr/>
        </p:nvSpPr>
        <p:spPr>
          <a:xfrm>
            <a:off x="8567928" y="6062472"/>
            <a:ext cx="1234440" cy="566928"/>
          </a:xfrm>
          <a:prstGeom prst="roundRect">
            <a:avLst>
              <a:gd name="adj" fmla="val 11290"/>
            </a:avLst>
          </a:prstGeom>
          <a:solidFill>
            <a:srgbClr val="F1F3F4"/>
          </a:solidFill>
          <a:ln w="12700">
            <a:solidFill>
              <a:srgbClr val="DADCE0"/>
            </a:solidFill>
            <a:prstDash val="solid"/>
          </a:ln>
        </p:spPr>
      </p:sp>
      <p:sp>
        <p:nvSpPr>
          <p:cNvPr id="24" name="Text 21"/>
          <p:cNvSpPr txBox="1"/>
          <p:nvPr/>
        </p:nvSpPr>
        <p:spPr>
          <a:xfrm>
            <a:off x="8659368" y="6071616"/>
            <a:ext cx="109728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tecnologia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"hidro"</a:t>
            </a:r>
            <a:endParaRPr lang="en-US" sz="1200" dirty="0"/>
          </a:p>
        </p:txBody>
      </p:sp>
      <p:sp>
        <p:nvSpPr>
          <p:cNvPr id="25" name="Text 22"/>
          <p:cNvSpPr txBox="1"/>
          <p:nvPr/>
        </p:nvSpPr>
        <p:spPr>
          <a:xfrm>
            <a:off x="9939528"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5 más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4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¿Cuánto generó cada región con cada tecnología?</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Cómo se lee esta línea, pieza por pieza</a:t>
            </a:r>
            <a:endParaRPr lang="en-US" sz="1400" dirty="0"/>
          </a:p>
        </p:txBody>
      </p:sp>
      <p:sp>
        <p:nvSpPr>
          <p:cNvPr id="6" name="Shape 4"/>
          <p:cNvSpPr/>
          <p:nvPr/>
        </p:nvSpPr>
        <p:spPr>
          <a:xfrm>
            <a:off x="548640" y="1463040"/>
            <a:ext cx="11091672" cy="736600"/>
          </a:xfrm>
          <a:prstGeom prst="roundRect">
            <a:avLst>
              <a:gd name="adj" fmla="val 7448"/>
            </a:avLst>
          </a:prstGeom>
          <a:solidFill>
            <a:srgbClr val="F8F9FA"/>
          </a:solidFill>
          <a:ln w="12700">
            <a:solidFill>
              <a:srgbClr val="DADCE0"/>
            </a:solidFill>
            <a:prstDash val="solid"/>
          </a:ln>
        </p:spPr>
      </p:sp>
      <p:sp>
        <p:nvSpPr>
          <p:cNvPr id="7" name="Text 5"/>
          <p:cNvSpPr txBox="1"/>
          <p:nvPr/>
        </p:nvSpPr>
        <p:spPr>
          <a:xfrm>
            <a:off x="822960" y="1554480"/>
            <a:ext cx="10634472" cy="599440"/>
          </a:xfrm>
          <a:prstGeom prst="rect">
            <a:avLst/>
          </a:prstGeom>
          <a:noFill/>
          <a:ln/>
        </p:spPr>
        <p:txBody>
          <a:bodyPr wrap="square" lIns="0" tIns="0" rIns="0" bIns="0" rtlCol="0" anchor="ctr"/>
          <a:lstStyle/>
          <a:p>
            <a:pPr indent="0" marL="0">
              <a:buNone/>
            </a:pPr>
            <a:r>
              <a:rPr lang="en-US" sz="1600" dirty="0">
                <a:solidFill>
                  <a:srgbClr val="202124"/>
                </a:solidFill>
                <a:latin typeface="Courier New" pitchFamily="34" charset="0"/>
                <a:ea typeface="Courier New" pitchFamily="34" charset="-122"/>
                <a:cs typeface="Courier New" pitchFamily="34" charset="-120"/>
              </a:rPr>
              <a:t>cruce = gen.pivot_table(index=</a:t>
            </a:r>
            <a:pPr indent="0" marL="0">
              <a:buNone/>
            </a:pPr>
            <a:r>
              <a:rPr lang="en-US" sz="1600" dirty="0">
                <a:solidFill>
                  <a:srgbClr val="A31515"/>
                </a:solidFill>
                <a:latin typeface="Courier New" pitchFamily="34" charset="0"/>
                <a:ea typeface="Courier New" pitchFamily="34" charset="-122"/>
                <a:cs typeface="Courier New" pitchFamily="34" charset="-120"/>
              </a:rPr>
              <a:t>"region"</a:t>
            </a:r>
            <a:pPr indent="0" marL="0">
              <a:buNone/>
            </a:pPr>
            <a:r>
              <a:rPr lang="en-US" sz="1600" dirty="0">
                <a:solidFill>
                  <a:srgbClr val="202124"/>
                </a:solidFill>
                <a:latin typeface="Courier New" pitchFamily="34" charset="0"/>
                <a:ea typeface="Courier New" pitchFamily="34" charset="-122"/>
                <a:cs typeface="Courier New" pitchFamily="34" charset="-120"/>
              </a:rPr>
              <a:t>, columns=</a:t>
            </a:r>
            <a:pPr indent="0" marL="0">
              <a:buNone/>
            </a:pPr>
            <a:r>
              <a:rPr lang="en-US" sz="1600" dirty="0">
                <a:solidFill>
                  <a:srgbClr val="A31515"/>
                </a:solidFill>
                <a:latin typeface="Courier New" pitchFamily="34" charset="0"/>
                <a:ea typeface="Courier New" pitchFamily="34" charset="-122"/>
                <a:cs typeface="Courier New" pitchFamily="34" charset="-120"/>
              </a:rPr>
              <a:t>"tecnologia"</a:t>
            </a:r>
            <a:pPr indent="0" marL="0">
              <a:buNone/>
            </a:pPr>
            <a:r>
              <a:rPr lang="en-US" sz="1600" dirty="0">
                <a:solidFill>
                  <a:srgbClr val="202124"/>
                </a:solidFill>
                <a:latin typeface="Courier New" pitchFamily="34" charset="0"/>
                <a:ea typeface="Courier New" pitchFamily="34" charset="-122"/>
                <a:cs typeface="Courier New" pitchFamily="34" charset="-120"/>
              </a:rPr>
              <a:t>,</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                        values=</a:t>
            </a:r>
            <a:pPr indent="0" marL="0">
              <a:buNone/>
            </a:pPr>
            <a:r>
              <a:rPr lang="en-US" sz="1600" dirty="0">
                <a:solidFill>
                  <a:srgbClr val="A31515"/>
                </a:solidFill>
                <a:latin typeface="Courier New" pitchFamily="34" charset="0"/>
                <a:ea typeface="Courier New" pitchFamily="34" charset="-122"/>
                <a:cs typeface="Courier New" pitchFamily="34" charset="-120"/>
              </a:rPr>
              <a:t>"mwh"</a:t>
            </a:r>
            <a:pPr indent="0" marL="0">
              <a:buNone/>
            </a:pPr>
            <a:r>
              <a:rPr lang="en-US" sz="1600" dirty="0">
                <a:solidFill>
                  <a:srgbClr val="202124"/>
                </a:solidFill>
                <a:latin typeface="Courier New" pitchFamily="34" charset="0"/>
                <a:ea typeface="Courier New" pitchFamily="34" charset="-122"/>
                <a:cs typeface="Courier New" pitchFamily="34" charset="-120"/>
              </a:rPr>
              <a:t>, aggfunc=</a:t>
            </a:r>
            <a:pPr indent="0" marL="0">
              <a:buNone/>
            </a:pPr>
            <a:r>
              <a:rPr lang="en-US" sz="1600" dirty="0">
                <a:solidFill>
                  <a:srgbClr val="A31515"/>
                </a:solidFill>
                <a:latin typeface="Courier New" pitchFamily="34" charset="0"/>
                <a:ea typeface="Courier New" pitchFamily="34" charset="-122"/>
                <a:cs typeface="Courier New" pitchFamily="34" charset="-120"/>
              </a:rPr>
              <a:t>"sum"</a:t>
            </a:r>
            <a:pPr indent="0" marL="0">
              <a:buNone/>
            </a:pPr>
            <a:r>
              <a:rPr lang="en-US" sz="1600" dirty="0">
                <a:solidFill>
                  <a:srgbClr val="202124"/>
                </a:solidFill>
                <a:latin typeface="Courier New" pitchFamily="34" charset="0"/>
                <a:ea typeface="Courier New" pitchFamily="34" charset="-122"/>
                <a:cs typeface="Courier New" pitchFamily="34" charset="-120"/>
              </a:rPr>
              <a:t>, fill_value=0)</a:t>
            </a:r>
            <a:endParaRPr lang="en-US" sz="1600" dirty="0"/>
          </a:p>
        </p:txBody>
      </p:sp>
      <p:sp>
        <p:nvSpPr>
          <p:cNvPr id="8" name="Shape 6"/>
          <p:cNvSpPr/>
          <p:nvPr/>
        </p:nvSpPr>
        <p:spPr>
          <a:xfrm>
            <a:off x="548640" y="2574544"/>
            <a:ext cx="329184" cy="329184"/>
          </a:xfrm>
          <a:prstGeom prst="ellipse">
            <a:avLst/>
          </a:prstGeom>
          <a:solidFill>
            <a:srgbClr val="1A6FD4"/>
          </a:solidFill>
          <a:ln w="12700">
            <a:solidFill>
              <a:srgbClr val="1A6FD4"/>
            </a:solidFill>
            <a:prstDash val="solid"/>
          </a:ln>
        </p:spPr>
      </p:sp>
      <p:sp>
        <p:nvSpPr>
          <p:cNvPr id="9" name="Text 7"/>
          <p:cNvSpPr txBox="1"/>
          <p:nvPr/>
        </p:nvSpPr>
        <p:spPr>
          <a:xfrm>
            <a:off x="548640" y="257454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Shape 8"/>
          <p:cNvSpPr/>
          <p:nvPr/>
        </p:nvSpPr>
        <p:spPr>
          <a:xfrm>
            <a:off x="1051560" y="2473960"/>
            <a:ext cx="4937760" cy="530352"/>
          </a:xfrm>
          <a:prstGeom prst="roundRect">
            <a:avLst>
              <a:gd name="adj" fmla="val 8621"/>
            </a:avLst>
          </a:prstGeom>
          <a:solidFill>
            <a:srgbClr val="DBE9FB"/>
          </a:solidFill>
          <a:ln w="12700">
            <a:solidFill>
              <a:srgbClr val="DBE9FB"/>
            </a:solidFill>
            <a:prstDash val="solid"/>
          </a:ln>
        </p:spPr>
      </p:sp>
      <p:sp>
        <p:nvSpPr>
          <p:cNvPr id="11" name="Text 9"/>
          <p:cNvSpPr txBox="1"/>
          <p:nvPr/>
        </p:nvSpPr>
        <p:spPr>
          <a:xfrm>
            <a:off x="1170432" y="2473960"/>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index="region"</a:t>
            </a:r>
            <a:endParaRPr lang="en-US" sz="1400" dirty="0"/>
          </a:p>
        </p:txBody>
      </p:sp>
      <p:sp>
        <p:nvSpPr>
          <p:cNvPr id="12" name="Text 10"/>
          <p:cNvSpPr txBox="1"/>
          <p:nvPr/>
        </p:nvSpPr>
        <p:spPr>
          <a:xfrm>
            <a:off x="6263640" y="2473960"/>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Lo que va en las filas.</a:t>
            </a:r>
            <a:endParaRPr lang="en-US" sz="1600" dirty="0"/>
          </a:p>
        </p:txBody>
      </p:sp>
      <p:sp>
        <p:nvSpPr>
          <p:cNvPr id="13" name="Shape 11"/>
          <p:cNvSpPr/>
          <p:nvPr/>
        </p:nvSpPr>
        <p:spPr>
          <a:xfrm>
            <a:off x="548640" y="3196336"/>
            <a:ext cx="329184" cy="329184"/>
          </a:xfrm>
          <a:prstGeom prst="ellipse">
            <a:avLst/>
          </a:prstGeom>
          <a:solidFill>
            <a:srgbClr val="1E8E3E"/>
          </a:solidFill>
          <a:ln w="12700">
            <a:solidFill>
              <a:srgbClr val="1E8E3E"/>
            </a:solidFill>
            <a:prstDash val="solid"/>
          </a:ln>
        </p:spPr>
      </p:sp>
      <p:sp>
        <p:nvSpPr>
          <p:cNvPr id="14" name="Text 12"/>
          <p:cNvSpPr txBox="1"/>
          <p:nvPr/>
        </p:nvSpPr>
        <p:spPr>
          <a:xfrm>
            <a:off x="548640" y="319633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Shape 13"/>
          <p:cNvSpPr/>
          <p:nvPr/>
        </p:nvSpPr>
        <p:spPr>
          <a:xfrm>
            <a:off x="1051560" y="3095752"/>
            <a:ext cx="4937760" cy="530352"/>
          </a:xfrm>
          <a:prstGeom prst="roundRect">
            <a:avLst>
              <a:gd name="adj" fmla="val 8621"/>
            </a:avLst>
          </a:prstGeom>
          <a:solidFill>
            <a:srgbClr val="DCEFE0"/>
          </a:solidFill>
          <a:ln w="12700">
            <a:solidFill>
              <a:srgbClr val="DCEFE0"/>
            </a:solidFill>
            <a:prstDash val="solid"/>
          </a:ln>
        </p:spPr>
      </p:sp>
      <p:sp>
        <p:nvSpPr>
          <p:cNvPr id="16" name="Text 14"/>
          <p:cNvSpPr txBox="1"/>
          <p:nvPr/>
        </p:nvSpPr>
        <p:spPr>
          <a:xfrm>
            <a:off x="1170432" y="3095752"/>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columns="tecnologia"</a:t>
            </a:r>
            <a:endParaRPr lang="en-US" sz="1400" dirty="0"/>
          </a:p>
        </p:txBody>
      </p:sp>
      <p:sp>
        <p:nvSpPr>
          <p:cNvPr id="17" name="Text 15"/>
          <p:cNvSpPr txBox="1"/>
          <p:nvPr/>
        </p:nvSpPr>
        <p:spPr>
          <a:xfrm>
            <a:off x="6263640" y="3095752"/>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Lo que va en las columnas.</a:t>
            </a:r>
            <a:endParaRPr lang="en-US" sz="1600" dirty="0"/>
          </a:p>
        </p:txBody>
      </p:sp>
      <p:sp>
        <p:nvSpPr>
          <p:cNvPr id="18" name="Shape 16"/>
          <p:cNvSpPr/>
          <p:nvPr/>
        </p:nvSpPr>
        <p:spPr>
          <a:xfrm>
            <a:off x="548640" y="3818128"/>
            <a:ext cx="329184" cy="329184"/>
          </a:xfrm>
          <a:prstGeom prst="ellipse">
            <a:avLst/>
          </a:prstGeom>
          <a:solidFill>
            <a:srgbClr val="B07D00"/>
          </a:solidFill>
          <a:ln w="12700">
            <a:solidFill>
              <a:srgbClr val="B07D00"/>
            </a:solidFill>
            <a:prstDash val="solid"/>
          </a:ln>
        </p:spPr>
      </p:sp>
      <p:sp>
        <p:nvSpPr>
          <p:cNvPr id="19" name="Text 17"/>
          <p:cNvSpPr txBox="1"/>
          <p:nvPr/>
        </p:nvSpPr>
        <p:spPr>
          <a:xfrm>
            <a:off x="548640" y="38181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Shape 18"/>
          <p:cNvSpPr/>
          <p:nvPr/>
        </p:nvSpPr>
        <p:spPr>
          <a:xfrm>
            <a:off x="1051560" y="3717544"/>
            <a:ext cx="4937760" cy="530352"/>
          </a:xfrm>
          <a:prstGeom prst="roundRect">
            <a:avLst>
              <a:gd name="adj" fmla="val 8621"/>
            </a:avLst>
          </a:prstGeom>
          <a:solidFill>
            <a:srgbClr val="FDF0C8"/>
          </a:solidFill>
          <a:ln w="12700">
            <a:solidFill>
              <a:srgbClr val="FDF0C8"/>
            </a:solidFill>
            <a:prstDash val="solid"/>
          </a:ln>
        </p:spPr>
      </p:sp>
      <p:sp>
        <p:nvSpPr>
          <p:cNvPr id="21" name="Text 19"/>
          <p:cNvSpPr txBox="1"/>
          <p:nvPr/>
        </p:nvSpPr>
        <p:spPr>
          <a:xfrm>
            <a:off x="1170432" y="3717544"/>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values="mwh"</a:t>
            </a:r>
            <a:endParaRPr lang="en-US" sz="1400" dirty="0"/>
          </a:p>
        </p:txBody>
      </p:sp>
      <p:sp>
        <p:nvSpPr>
          <p:cNvPr id="22" name="Text 20"/>
          <p:cNvSpPr txBox="1"/>
          <p:nvPr/>
        </p:nvSpPr>
        <p:spPr>
          <a:xfrm>
            <a:off x="6263640" y="3717544"/>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Lo que se calcula en cada casilla.</a:t>
            </a:r>
            <a:endParaRPr lang="en-US" sz="1600" dirty="0"/>
          </a:p>
        </p:txBody>
      </p:sp>
      <p:sp>
        <p:nvSpPr>
          <p:cNvPr id="23" name="Shape 21"/>
          <p:cNvSpPr/>
          <p:nvPr/>
        </p:nvSpPr>
        <p:spPr>
          <a:xfrm>
            <a:off x="548640" y="4439920"/>
            <a:ext cx="329184" cy="329184"/>
          </a:xfrm>
          <a:prstGeom prst="ellipse">
            <a:avLst/>
          </a:prstGeom>
          <a:solidFill>
            <a:srgbClr val="7B4FC9"/>
          </a:solidFill>
          <a:ln w="12700">
            <a:solidFill>
              <a:srgbClr val="7B4FC9"/>
            </a:solidFill>
            <a:prstDash val="solid"/>
          </a:ln>
        </p:spPr>
      </p:sp>
      <p:sp>
        <p:nvSpPr>
          <p:cNvPr id="24" name="Text 22"/>
          <p:cNvSpPr txBox="1"/>
          <p:nvPr/>
        </p:nvSpPr>
        <p:spPr>
          <a:xfrm>
            <a:off x="548640" y="443992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Shape 23"/>
          <p:cNvSpPr/>
          <p:nvPr/>
        </p:nvSpPr>
        <p:spPr>
          <a:xfrm>
            <a:off x="1051560" y="4339336"/>
            <a:ext cx="4937760" cy="530352"/>
          </a:xfrm>
          <a:prstGeom prst="roundRect">
            <a:avLst>
              <a:gd name="adj" fmla="val 8621"/>
            </a:avLst>
          </a:prstGeom>
          <a:solidFill>
            <a:srgbClr val="ECE2FA"/>
          </a:solidFill>
          <a:ln w="12700">
            <a:solidFill>
              <a:srgbClr val="ECE2FA"/>
            </a:solidFill>
            <a:prstDash val="solid"/>
          </a:ln>
        </p:spPr>
      </p:sp>
      <p:sp>
        <p:nvSpPr>
          <p:cNvPr id="26" name="Text 24"/>
          <p:cNvSpPr txBox="1"/>
          <p:nvPr/>
        </p:nvSpPr>
        <p:spPr>
          <a:xfrm>
            <a:off x="1170432" y="4339336"/>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aggfunc="sum"</a:t>
            </a:r>
            <a:endParaRPr lang="en-US" sz="1400" dirty="0"/>
          </a:p>
        </p:txBody>
      </p:sp>
      <p:sp>
        <p:nvSpPr>
          <p:cNvPr id="27" name="Text 25"/>
          <p:cNvSpPr txBox="1"/>
          <p:nvPr/>
        </p:nvSpPr>
        <p:spPr>
          <a:xfrm>
            <a:off x="6263640" y="4339336"/>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Cómo se calcula, sumando.</a:t>
            </a:r>
            <a:endParaRPr lang="en-US" sz="1600" dirty="0"/>
          </a:p>
        </p:txBody>
      </p:sp>
      <p:sp>
        <p:nvSpPr>
          <p:cNvPr id="28" name="Shape 26"/>
          <p:cNvSpPr/>
          <p:nvPr/>
        </p:nvSpPr>
        <p:spPr>
          <a:xfrm>
            <a:off x="548640" y="5061712"/>
            <a:ext cx="329184" cy="329184"/>
          </a:xfrm>
          <a:prstGeom prst="ellipse">
            <a:avLst/>
          </a:prstGeom>
          <a:solidFill>
            <a:srgbClr val="C5221F"/>
          </a:solidFill>
          <a:ln w="12700">
            <a:solidFill>
              <a:srgbClr val="C5221F"/>
            </a:solidFill>
            <a:prstDash val="solid"/>
          </a:ln>
        </p:spPr>
      </p:sp>
      <p:sp>
        <p:nvSpPr>
          <p:cNvPr id="29" name="Text 27"/>
          <p:cNvSpPr txBox="1"/>
          <p:nvPr/>
        </p:nvSpPr>
        <p:spPr>
          <a:xfrm>
            <a:off x="548640" y="506171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0" name="Shape 28"/>
          <p:cNvSpPr/>
          <p:nvPr/>
        </p:nvSpPr>
        <p:spPr>
          <a:xfrm>
            <a:off x="1051560" y="4961128"/>
            <a:ext cx="4937760" cy="530352"/>
          </a:xfrm>
          <a:prstGeom prst="roundRect">
            <a:avLst>
              <a:gd name="adj" fmla="val 8621"/>
            </a:avLst>
          </a:prstGeom>
          <a:solidFill>
            <a:srgbClr val="FCE8E6"/>
          </a:solidFill>
          <a:ln w="12700">
            <a:solidFill>
              <a:srgbClr val="FCE8E6"/>
            </a:solidFill>
            <a:prstDash val="solid"/>
          </a:ln>
        </p:spPr>
      </p:sp>
      <p:sp>
        <p:nvSpPr>
          <p:cNvPr id="31" name="Text 29"/>
          <p:cNvSpPr txBox="1"/>
          <p:nvPr/>
        </p:nvSpPr>
        <p:spPr>
          <a:xfrm>
            <a:off x="1170432" y="4961128"/>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fill_value=0</a:t>
            </a:r>
            <a:endParaRPr lang="en-US" sz="1400" dirty="0"/>
          </a:p>
        </p:txBody>
      </p:sp>
      <p:sp>
        <p:nvSpPr>
          <p:cNvPr id="32" name="Text 30"/>
          <p:cNvSpPr txBox="1"/>
          <p:nvPr/>
        </p:nvSpPr>
        <p:spPr>
          <a:xfrm>
            <a:off x="6263640" y="4961128"/>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Qué poner donde la combinación no existe.</a:t>
            </a:r>
            <a:endParaRPr lang="en-US" sz="1600" dirty="0"/>
          </a:p>
        </p:txBody>
      </p:sp>
      <p:sp>
        <p:nvSpPr>
          <p:cNvPr id="33" name="Shape 31"/>
          <p:cNvSpPr/>
          <p:nvPr/>
        </p:nvSpPr>
        <p:spPr>
          <a:xfrm>
            <a:off x="548640" y="5989320"/>
            <a:ext cx="73152" cy="548640"/>
          </a:xfrm>
          <a:prstGeom prst="rect">
            <a:avLst/>
          </a:prstGeom>
          <a:solidFill>
            <a:srgbClr val="0B3D62"/>
          </a:solidFill>
          <a:ln w="12700">
            <a:solidFill>
              <a:srgbClr val="0B3D62"/>
            </a:solidFill>
            <a:prstDash val="solid"/>
          </a:ln>
        </p:spPr>
      </p:sp>
      <p:sp>
        <p:nvSpPr>
          <p:cNvPr id="34" name="Text 32"/>
          <p:cNvSpPr txBox="1"/>
          <p:nvPr/>
        </p:nvSpPr>
        <p:spPr>
          <a:xfrm>
            <a:off x="777240" y="5989320"/>
            <a:ext cx="10863072" cy="548640"/>
          </a:xfrm>
          <a:prstGeom prst="rect">
            <a:avLst/>
          </a:prstGeom>
          <a:noFill/>
          <a:ln/>
        </p:spPr>
        <p:txBody>
          <a:bodyPr wrap="square" lIns="0" tIns="0" rIns="0" bIns="0"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Se lee así  </a:t>
            </a:r>
            <a:pPr indent="0" marL="0">
              <a:buNone/>
            </a:pPr>
            <a:r>
              <a:rPr lang="en-US" sz="1500" dirty="0">
                <a:solidFill>
                  <a:srgbClr val="202124"/>
                </a:solidFill>
                <a:latin typeface="Calibri" pitchFamily="34" charset="0"/>
                <a:ea typeface="Calibri" pitchFamily="34" charset="-122"/>
                <a:cs typeface="Calibri" pitchFamily="34" charset="-120"/>
              </a:rPr>
              <a:t>una tabla con regiones en las filas, tecnologías en las columnas y la suma de mwh en cada casilla.</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4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¿Cuánto generó cada región con cada tecnología?</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 Las regiones quedan en las filas y las tecnologías en las columnas.</a:t>
            </a:r>
            <a:endParaRPr lang="en-US" sz="1400" dirty="0"/>
          </a:p>
        </p:txBody>
      </p:sp>
      <p:sp>
        <p:nvSpPr>
          <p:cNvPr id="6" name="Shape 4"/>
          <p:cNvSpPr/>
          <p:nvPr/>
        </p:nvSpPr>
        <p:spPr>
          <a:xfrm>
            <a:off x="548640" y="1481328"/>
            <a:ext cx="11091672" cy="1399032"/>
          </a:xfrm>
          <a:prstGeom prst="roundRect">
            <a:avLst>
              <a:gd name="adj" fmla="val 3922"/>
            </a:avLst>
          </a:prstGeom>
          <a:solidFill>
            <a:srgbClr val="F8F9FA"/>
          </a:solidFill>
          <a:ln w="12700">
            <a:solidFill>
              <a:srgbClr val="DADCE0"/>
            </a:solidFill>
            <a:prstDash val="solid"/>
          </a:ln>
        </p:spPr>
      </p:sp>
      <p:sp>
        <p:nvSpPr>
          <p:cNvPr id="7" name="Shape 5"/>
          <p:cNvSpPr/>
          <p:nvPr/>
        </p:nvSpPr>
        <p:spPr>
          <a:xfrm>
            <a:off x="713232" y="1600200"/>
            <a:ext cx="420624" cy="420624"/>
          </a:xfrm>
          <a:prstGeom prst="ellipse">
            <a:avLst/>
          </a:prstGeom>
          <a:solidFill>
            <a:srgbClr val="E8EAED"/>
          </a:solidFill>
          <a:ln w="12700">
            <a:solidFill>
              <a:srgbClr val="E8EAED"/>
            </a:solidFill>
            <a:prstDash val="solid"/>
          </a:ln>
        </p:spPr>
      </p:sp>
      <p:sp>
        <p:nvSpPr>
          <p:cNvPr id="8" name="Shape 6"/>
          <p:cNvSpPr/>
          <p:nvPr/>
        </p:nvSpPr>
        <p:spPr>
          <a:xfrm rot="5400000">
            <a:off x="850392" y="1719072"/>
            <a:ext cx="182880" cy="182880"/>
          </a:xfrm>
          <a:prstGeom prst="triangle">
            <a:avLst/>
          </a:prstGeom>
          <a:solidFill>
            <a:srgbClr val="5F6368"/>
          </a:solidFill>
          <a:ln w="12700">
            <a:solidFill>
              <a:srgbClr val="5F6368"/>
            </a:solidFill>
            <a:prstDash val="solid"/>
          </a:ln>
        </p:spPr>
      </p:sp>
      <p:sp>
        <p:nvSpPr>
          <p:cNvPr id="9" name="Text 7"/>
          <p:cNvSpPr txBox="1"/>
          <p:nvPr/>
        </p:nvSpPr>
        <p:spPr>
          <a:xfrm>
            <a:off x="1325880" y="1600200"/>
            <a:ext cx="10085832" cy="1216152"/>
          </a:xfrm>
          <a:prstGeom prst="rect">
            <a:avLst/>
          </a:prstGeom>
          <a:noFill/>
          <a:ln/>
        </p:spPr>
        <p:txBody>
          <a:bodyPr wrap="square" lIns="0" tIns="0" rIns="0" bIns="0" rtlCol="0" anchor="t"/>
          <a:lstStyle/>
          <a:p>
            <a:pPr indent="0" marL="0">
              <a:buNone/>
            </a:pPr>
            <a:r>
              <a:rPr lang="en-US" sz="1200" i="1" dirty="0">
                <a:solidFill>
                  <a:srgbClr val="188038"/>
                </a:solidFill>
                <a:latin typeface="Courier New" pitchFamily="34" charset="0"/>
                <a:ea typeface="Courier New" pitchFamily="34" charset="-122"/>
                <a:cs typeface="Courier New" pitchFamily="34" charset="-120"/>
              </a:rPr>
              <a:t># Paso 4</a:t>
            </a:r>
            <a:endParaRPr lang="en-US" sz="1200" dirty="0"/>
          </a:p>
          <a:p>
            <a:pPr indent="0" marL="0">
              <a:buNone/>
            </a:pPr>
            <a:r>
              <a:rPr lang="en-US" sz="1200" i="1" dirty="0">
                <a:solidFill>
                  <a:srgbClr val="188038"/>
                </a:solidFill>
                <a:latin typeface="Courier New" pitchFamily="34" charset="0"/>
                <a:ea typeface="Courier New" pitchFamily="34" charset="-122"/>
                <a:cs typeface="Courier New" pitchFamily="34" charset="-120"/>
              </a:rPr>
              <a:t># pivot_table arma una tabla de doble entrada, como una tabla dinámica.</a:t>
            </a:r>
            <a:endParaRPr lang="en-US" sz="1200" dirty="0"/>
          </a:p>
          <a:p>
            <a:pPr indent="0" marL="0">
              <a:buNone/>
            </a:pPr>
            <a:r>
              <a:rPr lang="en-US" sz="1200" i="1" dirty="0">
                <a:solidFill>
                  <a:srgbClr val="188038"/>
                </a:solidFill>
                <a:latin typeface="Courier New" pitchFamily="34" charset="0"/>
                <a:ea typeface="Courier New" pitchFamily="34" charset="-122"/>
                <a:cs typeface="Courier New" pitchFamily="34" charset="-120"/>
              </a:rPr>
              <a:t># fill_value=0 pone cero donde una región no tiene esa tecnología.</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cruce = gen.pivot_table(index=</a:t>
            </a:r>
            <a:pPr indent="0" marL="0">
              <a:buNone/>
            </a:pPr>
            <a:r>
              <a:rPr lang="en-US" sz="1200" dirty="0">
                <a:solidFill>
                  <a:srgbClr val="A31515"/>
                </a:solidFill>
                <a:latin typeface="Courier New" pitchFamily="34" charset="0"/>
                <a:ea typeface="Courier New" pitchFamily="34" charset="-122"/>
                <a:cs typeface="Courier New" pitchFamily="34" charset="-120"/>
              </a:rPr>
              <a:t>"region"</a:t>
            </a:r>
            <a:pPr indent="0" marL="0">
              <a:buNone/>
            </a:pPr>
            <a:r>
              <a:rPr lang="en-US" sz="1200" dirty="0">
                <a:solidFill>
                  <a:srgbClr val="202124"/>
                </a:solidFill>
                <a:latin typeface="Courier New" pitchFamily="34" charset="0"/>
                <a:ea typeface="Courier New" pitchFamily="34" charset="-122"/>
                <a:cs typeface="Courier New" pitchFamily="34" charset="-120"/>
              </a:rPr>
              <a:t>, columns=</a:t>
            </a:r>
            <a:pPr indent="0" marL="0">
              <a:buNone/>
            </a:pPr>
            <a:r>
              <a:rPr lang="en-US" sz="1200" dirty="0">
                <a:solidFill>
                  <a:srgbClr val="A31515"/>
                </a:solidFill>
                <a:latin typeface="Courier New" pitchFamily="34" charset="0"/>
                <a:ea typeface="Courier New" pitchFamily="34" charset="-122"/>
                <a:cs typeface="Courier New" pitchFamily="34" charset="-120"/>
              </a:rPr>
              <a:t>"tecnologia"</a:t>
            </a:r>
            <a:pPr indent="0" marL="0">
              <a:buNone/>
            </a:pPr>
            <a:r>
              <a:rPr lang="en-US" sz="1200" dirty="0">
                <a:solidFill>
                  <a:srgbClr val="202124"/>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                        values=</a:t>
            </a:r>
            <a:pPr indent="0" marL="0">
              <a:buNone/>
            </a:pPr>
            <a:r>
              <a:rPr lang="en-US" sz="1200" dirty="0">
                <a:solidFill>
                  <a:srgbClr val="A31515"/>
                </a:solidFill>
                <a:latin typeface="Courier New" pitchFamily="34" charset="0"/>
                <a:ea typeface="Courier New" pitchFamily="34" charset="-122"/>
                <a:cs typeface="Courier New" pitchFamily="34" charset="-120"/>
              </a:rPr>
              <a:t>"mwh"</a:t>
            </a:r>
            <a:pPr indent="0" marL="0">
              <a:buNone/>
            </a:pPr>
            <a:r>
              <a:rPr lang="en-US" sz="1200" dirty="0">
                <a:solidFill>
                  <a:srgbClr val="202124"/>
                </a:solidFill>
                <a:latin typeface="Courier New" pitchFamily="34" charset="0"/>
                <a:ea typeface="Courier New" pitchFamily="34" charset="-122"/>
                <a:cs typeface="Courier New" pitchFamily="34" charset="-120"/>
              </a:rPr>
              <a:t>, aggfunc=</a:t>
            </a:r>
            <a:pPr indent="0" marL="0">
              <a:buNone/>
            </a:pPr>
            <a:r>
              <a:rPr lang="en-US" sz="1200" dirty="0">
                <a:solidFill>
                  <a:srgbClr val="A31515"/>
                </a:solidFill>
                <a:latin typeface="Courier New" pitchFamily="34" charset="0"/>
                <a:ea typeface="Courier New" pitchFamily="34" charset="-122"/>
                <a:cs typeface="Courier New" pitchFamily="34" charset="-120"/>
              </a:rPr>
              <a:t>"sum"</a:t>
            </a:r>
            <a:pPr indent="0" marL="0">
              <a:buNone/>
            </a:pPr>
            <a:r>
              <a:rPr lang="en-US" sz="1200" dirty="0">
                <a:solidFill>
                  <a:srgbClr val="202124"/>
                </a:solidFill>
                <a:latin typeface="Courier New" pitchFamily="34" charset="0"/>
                <a:ea typeface="Courier New" pitchFamily="34" charset="-122"/>
                <a:cs typeface="Courier New" pitchFamily="34" charset="-120"/>
              </a:rPr>
              <a:t>, fill_value=0)</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cruce.round()</a:t>
            </a:r>
            <a:endParaRPr lang="en-US" sz="1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1325880" y="2990088"/>
          <a:ext cx="9144000" cy="914400"/>
        </p:xfrm>
        <a:graphic>
          <a:graphicData uri="http://schemas.openxmlformats.org/drawingml/2006/table">
            <a:tbl>
              <a:tblPr/>
              <a:tblGrid>
                <a:gridCol w="1371600"/>
                <a:gridCol w="1097280"/>
                <a:gridCol w="914400"/>
                <a:gridCol w="1097280"/>
                <a:gridCol w="1097280"/>
                <a:gridCol w="1097280"/>
                <a:gridCol w="1005840"/>
              </a:tblGrid>
              <a:tr h="237744">
                <a:tc>
                  <a:txBody>
                    <a:bodyPr/>
                    <a:lstStyle/>
                    <a:p>
                      <a:pPr indent="0" marL="0">
                        <a:buNone/>
                      </a:pP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carbon</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diesel</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eolica</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gas</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hidro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solar</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Antofagasta</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1967910.0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479681.0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Atacama</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191996.0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Biobío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2698913.0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1688455.0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4151930.0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Coquimbo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1332263.0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Los Lagos</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1954422.0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Metropolitana</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40710.0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1222999.0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Valparaíso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233637.0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2182673.0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0.0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bl>
          </a:graphicData>
        </a:graphic>
      </p:graphicFrame>
      <p:sp>
        <p:nvSpPr>
          <p:cNvPr id="11" name="Shape 8"/>
          <p:cNvSpPr/>
          <p:nvPr/>
        </p:nvSpPr>
        <p:spPr>
          <a:xfrm>
            <a:off x="1325880" y="5047488"/>
            <a:ext cx="10314432" cy="566928"/>
          </a:xfrm>
          <a:prstGeom prst="roundRect">
            <a:avLst>
              <a:gd name="adj" fmla="val 9677"/>
            </a:avLst>
          </a:prstGeom>
          <a:solidFill>
            <a:srgbClr val="FFF8D6"/>
          </a:solidFill>
          <a:ln w="12700">
            <a:solidFill>
              <a:srgbClr val="FFF8D6"/>
            </a:solidFill>
            <a:prstDash val="solid"/>
          </a:ln>
        </p:spPr>
      </p:sp>
      <p:sp>
        <p:nvSpPr>
          <p:cNvPr id="12" name="Text 9"/>
          <p:cNvSpPr txBox="1"/>
          <p:nvPr/>
        </p:nvSpPr>
        <p:spPr>
          <a:xfrm>
            <a:off x="1508760" y="5047488"/>
            <a:ext cx="9948672" cy="566928"/>
          </a:xfrm>
          <a:prstGeom prst="rect">
            <a:avLst/>
          </a:prstGeom>
          <a:noFill/>
          <a:ln/>
        </p:spPr>
        <p:txBody>
          <a:bodyPr wrap="square" lIns="0" tIns="0" rIns="0" bIns="0" rtlCol="0" anchor="ctr"/>
          <a:lstStyle/>
          <a:p>
            <a:pPr indent="0" marL="0">
              <a:buNone/>
            </a:pPr>
            <a:r>
              <a:rPr lang="en-US" sz="1400" b="1" dirty="0">
                <a:solidFill>
                  <a:srgbClr val="8A6D00"/>
                </a:solidFill>
                <a:latin typeface="Calibri" pitchFamily="34" charset="0"/>
                <a:ea typeface="Calibri" pitchFamily="34" charset="-122"/>
                <a:cs typeface="Calibri" pitchFamily="34" charset="-120"/>
              </a:rPr>
              <a:t>pivot_table es una tabla dinámica escrita en código.  </a:t>
            </a:r>
            <a:pPr indent="0" marL="0">
              <a:buNone/>
            </a:pPr>
            <a:r>
              <a:rPr lang="en-US" sz="1400" dirty="0">
                <a:solidFill>
                  <a:srgbClr val="202124"/>
                </a:solidFill>
                <a:latin typeface="Calibri" pitchFamily="34" charset="0"/>
                <a:ea typeface="Calibri" pitchFamily="34" charset="-122"/>
                <a:cs typeface="Calibri" pitchFamily="34" charset="-120"/>
              </a:rPr>
              <a:t>Lo que va en las filas, lo que va en las columnas y qué se calcula en cada casilla.</a:t>
            </a:r>
            <a:endParaRPr lang="en-US" sz="1400" dirty="0"/>
          </a:p>
        </p:txBody>
      </p:sp>
      <p:sp>
        <p:nvSpPr>
          <p:cNvPr id="14" name="Text 10"/>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5" name="Shape 11"/>
          <p:cNvSpPr/>
          <p:nvPr/>
        </p:nvSpPr>
        <p:spPr>
          <a:xfrm>
            <a:off x="548640" y="6062472"/>
            <a:ext cx="1810512" cy="566928"/>
          </a:xfrm>
          <a:prstGeom prst="roundRect">
            <a:avLst>
              <a:gd name="adj" fmla="val 11290"/>
            </a:avLst>
          </a:prstGeom>
          <a:solidFill>
            <a:srgbClr val="E8F0FE"/>
          </a:solidFill>
          <a:ln w="28575">
            <a:solidFill>
              <a:srgbClr val="1A73E8"/>
            </a:solidFill>
            <a:prstDash val="solid"/>
          </a:ln>
        </p:spPr>
      </p:sp>
      <p:sp>
        <p:nvSpPr>
          <p:cNvPr id="16" name="Text 12"/>
          <p:cNvSpPr txBox="1"/>
          <p:nvPr/>
        </p:nvSpPr>
        <p:spPr>
          <a:xfrm>
            <a:off x="640080" y="6071616"/>
            <a:ext cx="167335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gen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175680 × 8</a:t>
            </a:r>
            <a:endParaRPr lang="en-US" sz="1200" dirty="0"/>
          </a:p>
        </p:txBody>
      </p:sp>
      <p:sp>
        <p:nvSpPr>
          <p:cNvPr id="17" name="Shape 13"/>
          <p:cNvSpPr/>
          <p:nvPr/>
        </p:nvSpPr>
        <p:spPr>
          <a:xfrm>
            <a:off x="2496312" y="6062472"/>
            <a:ext cx="1330452" cy="566928"/>
          </a:xfrm>
          <a:prstGeom prst="roundRect">
            <a:avLst>
              <a:gd name="adj" fmla="val 11290"/>
            </a:avLst>
          </a:prstGeom>
          <a:solidFill>
            <a:srgbClr val="FEF3D6"/>
          </a:solidFill>
          <a:ln w="25400">
            <a:solidFill>
              <a:srgbClr val="F9AB00"/>
            </a:solidFill>
            <a:prstDash val="solid"/>
          </a:ln>
        </p:spPr>
      </p:sp>
      <p:sp>
        <p:nvSpPr>
          <p:cNvPr id="18" name="Text 14"/>
          <p:cNvSpPr txBox="1"/>
          <p:nvPr/>
        </p:nvSpPr>
        <p:spPr>
          <a:xfrm>
            <a:off x="2587752" y="6071616"/>
            <a:ext cx="119329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cruce</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7 × 6</a:t>
            </a:r>
            <a:endParaRPr lang="en-US" sz="1200" dirty="0"/>
          </a:p>
        </p:txBody>
      </p:sp>
      <p:sp>
        <p:nvSpPr>
          <p:cNvPr id="19" name="Shape 15"/>
          <p:cNvSpPr/>
          <p:nvPr/>
        </p:nvSpPr>
        <p:spPr>
          <a:xfrm>
            <a:off x="3963924" y="6062472"/>
            <a:ext cx="2002536" cy="566928"/>
          </a:xfrm>
          <a:prstGeom prst="roundRect">
            <a:avLst>
              <a:gd name="adj" fmla="val 11290"/>
            </a:avLst>
          </a:prstGeom>
          <a:solidFill>
            <a:srgbClr val="F1F3F4"/>
          </a:solidFill>
          <a:ln w="12700">
            <a:solidFill>
              <a:srgbClr val="DADCE0"/>
            </a:solidFill>
            <a:prstDash val="solid"/>
          </a:ln>
        </p:spPr>
      </p:sp>
      <p:sp>
        <p:nvSpPr>
          <p:cNvPr id="20" name="Text 16"/>
          <p:cNvSpPr txBox="1"/>
          <p:nvPr/>
        </p:nvSpPr>
        <p:spPr>
          <a:xfrm>
            <a:off x="4055364" y="6071616"/>
            <a:ext cx="186537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por_grupo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serie de 7 valores</a:t>
            </a:r>
            <a:endParaRPr lang="en-US" sz="1200" dirty="0"/>
          </a:p>
        </p:txBody>
      </p:sp>
      <p:sp>
        <p:nvSpPr>
          <p:cNvPr id="21" name="Shape 17"/>
          <p:cNvSpPr/>
          <p:nvPr/>
        </p:nvSpPr>
        <p:spPr>
          <a:xfrm>
            <a:off x="6103620" y="6062472"/>
            <a:ext cx="1330452" cy="566928"/>
          </a:xfrm>
          <a:prstGeom prst="roundRect">
            <a:avLst>
              <a:gd name="adj" fmla="val 11290"/>
            </a:avLst>
          </a:prstGeom>
          <a:solidFill>
            <a:srgbClr val="F1F3F4"/>
          </a:solidFill>
          <a:ln w="12700">
            <a:solidFill>
              <a:srgbClr val="DADCE0"/>
            </a:solidFill>
            <a:prstDash val="solid"/>
          </a:ln>
        </p:spPr>
      </p:sp>
      <p:sp>
        <p:nvSpPr>
          <p:cNvPr id="22" name="Text 18"/>
          <p:cNvSpPr txBox="1"/>
          <p:nvPr/>
        </p:nvSpPr>
        <p:spPr>
          <a:xfrm>
            <a:off x="6195060" y="6071616"/>
            <a:ext cx="119329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agrupar_por</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"region"</a:t>
            </a:r>
            <a:endParaRPr lang="en-US" sz="1200" dirty="0"/>
          </a:p>
        </p:txBody>
      </p:sp>
      <p:sp>
        <p:nvSpPr>
          <p:cNvPr id="23" name="Shape 19"/>
          <p:cNvSpPr/>
          <p:nvPr/>
        </p:nvSpPr>
        <p:spPr>
          <a:xfrm>
            <a:off x="7571232" y="6062472"/>
            <a:ext cx="1143000" cy="566928"/>
          </a:xfrm>
          <a:prstGeom prst="roundRect">
            <a:avLst>
              <a:gd name="adj" fmla="val 11290"/>
            </a:avLst>
          </a:prstGeom>
          <a:solidFill>
            <a:srgbClr val="F1F3F4"/>
          </a:solidFill>
          <a:ln w="12700">
            <a:solidFill>
              <a:srgbClr val="DADCE0"/>
            </a:solidFill>
            <a:prstDash val="solid"/>
          </a:ln>
        </p:spPr>
      </p:sp>
      <p:sp>
        <p:nvSpPr>
          <p:cNvPr id="24" name="Text 20"/>
          <p:cNvSpPr txBox="1"/>
          <p:nvPr/>
        </p:nvSpPr>
        <p:spPr>
          <a:xfrm>
            <a:off x="7662672"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total</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4151930</a:t>
            </a:r>
            <a:endParaRPr lang="en-US" sz="1200" dirty="0"/>
          </a:p>
        </p:txBody>
      </p:sp>
      <p:sp>
        <p:nvSpPr>
          <p:cNvPr id="25" name="Text 21"/>
          <p:cNvSpPr txBox="1"/>
          <p:nvPr/>
        </p:nvSpPr>
        <p:spPr>
          <a:xfrm>
            <a:off x="8851392"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7 más</a:t>
            </a:r>
            <a:endParaRPr lang="en-US" sz="1200" dirty="0"/>
          </a:p>
        </p:txBody>
      </p:sp>
      <p:sp>
        <p:nvSpPr>
          <p:cNvPr id="26" name="Text 22"/>
          <p:cNvSpPr txBox="1"/>
          <p:nvPr/>
        </p:nvSpPr>
        <p:spPr>
          <a:xfrm>
            <a:off x="548640" y="6638544"/>
            <a:ext cx="11091672" cy="237744"/>
          </a:xfrm>
          <a:prstGeom prst="rect">
            <a:avLst/>
          </a:prstGeom>
          <a:noFill/>
          <a:ln/>
        </p:spPr>
        <p:txBody>
          <a:bodyPr wrap="square" lIns="0" tIns="0" rIns="0" bIns="0" rtlCol="0" anchor="ctr"/>
          <a:lstStyle/>
          <a:p>
            <a:pPr indent="0" marL="0">
              <a:buNone/>
            </a:pPr>
            <a:r>
              <a:rPr lang="en-US" sz="1300" i="1" dirty="0">
                <a:solidFill>
                  <a:srgbClr val="0B3D62"/>
                </a:solidFill>
                <a:latin typeface="Calibri" pitchFamily="34" charset="0"/>
                <a:ea typeface="Calibri" pitchFamily="34" charset="-122"/>
                <a:cs typeface="Calibri" pitchFamily="34" charset="-120"/>
              </a:rPr>
              <a:t>Una tabla de doble entrada. Los ceros son combinaciones que no existen.</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5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¿Qué tan seguido genera cada tecnología?</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Antes de correr la celda, qué mide el factor de planta.</a:t>
            </a:r>
            <a:endParaRPr lang="en-US" sz="1400" dirty="0"/>
          </a:p>
        </p:txBody>
      </p:sp>
      <p:pic>
        <p:nvPicPr>
          <p:cNvPr id="6" name="Image 0" descr="../work34/modulos/modulo02/img/lab02_estudio4_factor.png">    </p:cNvPr>
          <p:cNvPicPr>
            <a:picLocks noChangeAspect="1"/>
          </p:cNvPicPr>
          <p:nvPr/>
        </p:nvPicPr>
        <p:blipFill>
          <a:blip r:embed="rId1"/>
          <a:stretch>
            <a:fillRect/>
          </a:stretch>
        </p:blipFill>
        <p:spPr>
          <a:xfrm>
            <a:off x="548640" y="1463040"/>
            <a:ext cx="11091672" cy="4460087"/>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4"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5 de 5</a:t>
            </a:r>
            <a:endParaRPr lang="en-US" sz="1400" dirty="0"/>
          </a:p>
        </p:txBody>
      </p:sp>
      <p:sp>
        <p:nvSpPr>
          <p:cNvPr id="5"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¿Qué tan seguido genera cada tecnología?</a:t>
            </a:r>
            <a:endParaRPr lang="en-US" sz="2400" dirty="0"/>
          </a:p>
        </p:txBody>
      </p:sp>
      <p:sp>
        <p:nvSpPr>
          <p:cNvPr id="6"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 El factor de planta es lo que generó una central dividido por lo máximo que podía generar.</a:t>
            </a:r>
            <a:endParaRPr lang="en-US" sz="1400" dirty="0"/>
          </a:p>
        </p:txBody>
      </p:sp>
      <p:sp>
        <p:nvSpPr>
          <p:cNvPr id="7" name="Shape 4"/>
          <p:cNvSpPr/>
          <p:nvPr/>
        </p:nvSpPr>
        <p:spPr>
          <a:xfrm>
            <a:off x="548640" y="1481328"/>
            <a:ext cx="11091672" cy="1508760"/>
          </a:xfrm>
          <a:prstGeom prst="roundRect">
            <a:avLst>
              <a:gd name="adj" fmla="val 3636"/>
            </a:avLst>
          </a:prstGeom>
          <a:solidFill>
            <a:srgbClr val="F8F9FA"/>
          </a:solidFill>
          <a:ln w="25400">
            <a:solidFill>
              <a:srgbClr val="F9AB00"/>
            </a:solidFill>
            <a:prstDash val="solid"/>
          </a:ln>
        </p:spPr>
      </p:sp>
      <p:sp>
        <p:nvSpPr>
          <p:cNvPr id="8" name="Shape 5"/>
          <p:cNvSpPr/>
          <p:nvPr/>
        </p:nvSpPr>
        <p:spPr>
          <a:xfrm>
            <a:off x="713232" y="1600200"/>
            <a:ext cx="420624" cy="420624"/>
          </a:xfrm>
          <a:prstGeom prst="ellipse">
            <a:avLst/>
          </a:prstGeom>
          <a:solidFill>
            <a:srgbClr val="F9AB00"/>
          </a:solidFill>
          <a:ln w="12700">
            <a:solidFill>
              <a:srgbClr val="F9AB00"/>
            </a:solidFill>
            <a:prstDash val="solid"/>
          </a:ln>
        </p:spPr>
      </p:sp>
      <p:sp>
        <p:nvSpPr>
          <p:cNvPr id="9" name="Shape 6"/>
          <p:cNvSpPr/>
          <p:nvPr/>
        </p:nvSpPr>
        <p:spPr>
          <a:xfrm rot="5400000">
            <a:off x="850392" y="1719072"/>
            <a:ext cx="182880" cy="182880"/>
          </a:xfrm>
          <a:prstGeom prst="triangle">
            <a:avLst/>
          </a:prstGeom>
          <a:solidFill>
            <a:srgbClr val="FFFFFF"/>
          </a:solidFill>
          <a:ln w="12700">
            <a:solidFill>
              <a:srgbClr val="FFFFFF"/>
            </a:solidFill>
            <a:prstDash val="solid"/>
          </a:ln>
        </p:spPr>
      </p:sp>
      <p:sp>
        <p:nvSpPr>
          <p:cNvPr id="10" name="Text 7"/>
          <p:cNvSpPr txBox="1"/>
          <p:nvPr/>
        </p:nvSpPr>
        <p:spPr>
          <a:xfrm>
            <a:off x="1325880" y="1600200"/>
            <a:ext cx="10085832" cy="1325880"/>
          </a:xfrm>
          <a:prstGeom prst="rect">
            <a:avLst/>
          </a:prstGeom>
          <a:noFill/>
          <a:ln/>
        </p:spPr>
        <p:txBody>
          <a:bodyPr wrap="square" lIns="0" tIns="0" rIns="0" bIns="0" rtlCol="0" anchor="t"/>
          <a:lstStyle/>
          <a:p>
            <a:pPr indent="0" marL="0">
              <a:buNone/>
            </a:pPr>
            <a:r>
              <a:rPr lang="en-US" sz="1300" i="1" dirty="0">
                <a:solidFill>
                  <a:srgbClr val="188038"/>
                </a:solidFill>
                <a:latin typeface="Courier New" pitchFamily="34" charset="0"/>
                <a:ea typeface="Courier New" pitchFamily="34" charset="-122"/>
                <a:cs typeface="Courier New" pitchFamily="34" charset="-120"/>
              </a:rPr>
              <a:t># Paso 5</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Una columna nueva calculada para las 175.680 filas de una vez.</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gen[</a:t>
            </a:r>
            <a:pPr indent="0" marL="0">
              <a:buNone/>
            </a:pPr>
            <a:r>
              <a:rPr lang="en-US" sz="1300" dirty="0">
                <a:solidFill>
                  <a:srgbClr val="A31515"/>
                </a:solidFill>
                <a:latin typeface="Courier New" pitchFamily="34" charset="0"/>
                <a:ea typeface="Courier New" pitchFamily="34" charset="-122"/>
                <a:cs typeface="Courier New" pitchFamily="34" charset="-120"/>
              </a:rPr>
              <a:t>"factor_planta"</a:t>
            </a:r>
            <a:pPr indent="0" marL="0">
              <a:buNone/>
            </a:pPr>
            <a:r>
              <a:rPr lang="en-US" sz="1300" dirty="0">
                <a:solidFill>
                  <a:srgbClr val="202124"/>
                </a:solidFill>
                <a:latin typeface="Courier New" pitchFamily="34" charset="0"/>
                <a:ea typeface="Courier New" pitchFamily="34" charset="-122"/>
                <a:cs typeface="Courier New" pitchFamily="34" charset="-120"/>
              </a:rPr>
              <a:t>] = gen[</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 / gen[</a:t>
            </a:r>
            <a:pPr indent="0" marL="0">
              <a:buNone/>
            </a:pPr>
            <a:r>
              <a:rPr lang="en-US" sz="1300" dirty="0">
                <a:solidFill>
                  <a:srgbClr val="A31515"/>
                </a:solidFill>
                <a:latin typeface="Courier New" pitchFamily="34" charset="0"/>
                <a:ea typeface="Courier New" pitchFamily="34" charset="-122"/>
                <a:cs typeface="Courier New" pitchFamily="34" charset="-120"/>
              </a:rPr>
              <a:t>"potencia_mw"</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factor = gen.groupby(</a:t>
            </a:r>
            <a:pPr indent="0" marL="0">
              <a:buNone/>
            </a:pPr>
            <a:r>
              <a:rPr lang="en-US" sz="1300" dirty="0">
                <a:solidFill>
                  <a:srgbClr val="A31515"/>
                </a:solidFill>
                <a:latin typeface="Courier New" pitchFamily="34" charset="0"/>
                <a:ea typeface="Courier New" pitchFamily="34" charset="-122"/>
                <a:cs typeface="Courier New" pitchFamily="34" charset="-120"/>
              </a:rPr>
              <a:t>"tecnologia"</a:t>
            </a:r>
            <a:pPr indent="0" marL="0">
              <a:buNone/>
            </a:pPr>
            <a:r>
              <a:rPr lang="en-US" sz="1300" dirty="0">
                <a:solidFill>
                  <a:srgbClr val="202124"/>
                </a:solidFill>
                <a:latin typeface="Courier New" pitchFamily="34" charset="0"/>
                <a:ea typeface="Courier New" pitchFamily="34" charset="-122"/>
                <a:cs typeface="Courier New" pitchFamily="34" charset="-120"/>
              </a:rPr>
              <a:t>)[</a:t>
            </a:r>
            <a:pPr indent="0" marL="0">
              <a:buNone/>
            </a:pPr>
            <a:r>
              <a:rPr lang="en-US" sz="1300" dirty="0">
                <a:solidFill>
                  <a:srgbClr val="A31515"/>
                </a:solidFill>
                <a:latin typeface="Courier New" pitchFamily="34" charset="0"/>
                <a:ea typeface="Courier New" pitchFamily="34" charset="-122"/>
                <a:cs typeface="Courier New" pitchFamily="34" charset="-120"/>
              </a:rPr>
              <a:t>"factor_planta"</a:t>
            </a:r>
            <a:pPr indent="0" marL="0">
              <a:buNone/>
            </a:pPr>
            <a:r>
              <a:rPr lang="en-US" sz="1300" dirty="0">
                <a:solidFill>
                  <a:srgbClr val="202124"/>
                </a:solidFill>
                <a:latin typeface="Courier New" pitchFamily="34" charset="0"/>
                <a:ea typeface="Courier New" pitchFamily="34" charset="-122"/>
                <a:cs typeface="Courier New" pitchFamily="34" charset="-120"/>
              </a:rPr>
              <a:t>].mean().round(3)</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factor.sort_values(ascending=False)</a:t>
            </a:r>
            <a:endParaRPr lang="en-US" sz="1300" dirty="0"/>
          </a:p>
        </p:txBody>
      </p:sp>
      <p:sp>
        <p:nvSpPr>
          <p:cNvPr id="11" name="Text 8"/>
          <p:cNvSpPr txBox="1"/>
          <p:nvPr/>
        </p:nvSpPr>
        <p:spPr>
          <a:xfrm>
            <a:off x="1325880" y="3026664"/>
            <a:ext cx="5486400" cy="256032"/>
          </a:xfrm>
          <a:prstGeom prst="rect">
            <a:avLst/>
          </a:prstGeom>
          <a:noFill/>
          <a:ln/>
        </p:spPr>
        <p:txBody>
          <a:bodyPr wrap="square" lIns="0" tIns="0" rIns="0" bIns="0" rtlCol="0" anchor="ctr"/>
          <a:lstStyle/>
          <a:p>
            <a:pPr indent="0" marL="0">
              <a:buNone/>
            </a:pPr>
            <a:r>
              <a:rPr lang="en-US" sz="1200" b="1" dirty="0">
                <a:solidFill>
                  <a:srgbClr val="B06000"/>
                </a:solidFill>
                <a:latin typeface="Calibri" pitchFamily="34" charset="0"/>
                <a:ea typeface="Calibri" pitchFamily="34" charset="-122"/>
                <a:cs typeface="Calibri" pitchFamily="34" charset="-120"/>
              </a:rPr>
              <a:t>Clic en el botón de play para correr la celda</a:t>
            </a:r>
            <a:endParaRPr lang="en-US" sz="1200" dirty="0"/>
          </a:p>
        </p:txBody>
      </p:sp>
      <p:sp>
        <p:nvSpPr>
          <p:cNvPr id="12" name="Text 9"/>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3" name="Shape 10"/>
          <p:cNvSpPr/>
          <p:nvPr/>
        </p:nvSpPr>
        <p:spPr>
          <a:xfrm>
            <a:off x="548640" y="6062472"/>
            <a:ext cx="1330452" cy="566928"/>
          </a:xfrm>
          <a:prstGeom prst="roundRect">
            <a:avLst>
              <a:gd name="adj" fmla="val 11290"/>
            </a:avLst>
          </a:prstGeom>
          <a:solidFill>
            <a:srgbClr val="F1F3F4"/>
          </a:solidFill>
          <a:ln w="12700">
            <a:solidFill>
              <a:srgbClr val="DADCE0"/>
            </a:solidFill>
            <a:prstDash val="solid"/>
          </a:ln>
        </p:spPr>
      </p:sp>
      <p:sp>
        <p:nvSpPr>
          <p:cNvPr id="14" name="Text 11"/>
          <p:cNvSpPr txBox="1"/>
          <p:nvPr/>
        </p:nvSpPr>
        <p:spPr>
          <a:xfrm>
            <a:off x="640080" y="6071616"/>
            <a:ext cx="119329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cruce</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7 × 6</a:t>
            </a:r>
            <a:endParaRPr lang="en-US" sz="1200" dirty="0"/>
          </a:p>
        </p:txBody>
      </p:sp>
      <p:sp>
        <p:nvSpPr>
          <p:cNvPr id="15" name="Shape 12"/>
          <p:cNvSpPr/>
          <p:nvPr/>
        </p:nvSpPr>
        <p:spPr>
          <a:xfrm>
            <a:off x="2016252" y="6062472"/>
            <a:ext cx="2002536" cy="566928"/>
          </a:xfrm>
          <a:prstGeom prst="roundRect">
            <a:avLst>
              <a:gd name="adj" fmla="val 11290"/>
            </a:avLst>
          </a:prstGeom>
          <a:solidFill>
            <a:srgbClr val="F1F3F4"/>
          </a:solidFill>
          <a:ln w="12700">
            <a:solidFill>
              <a:srgbClr val="DADCE0"/>
            </a:solidFill>
            <a:prstDash val="solid"/>
          </a:ln>
        </p:spPr>
      </p:sp>
      <p:sp>
        <p:nvSpPr>
          <p:cNvPr id="16" name="Text 13"/>
          <p:cNvSpPr txBox="1"/>
          <p:nvPr/>
        </p:nvSpPr>
        <p:spPr>
          <a:xfrm>
            <a:off x="2107692" y="6071616"/>
            <a:ext cx="186537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por_grupo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serie de 7 valores</a:t>
            </a:r>
            <a:endParaRPr lang="en-US" sz="1200" dirty="0"/>
          </a:p>
        </p:txBody>
      </p:sp>
      <p:sp>
        <p:nvSpPr>
          <p:cNvPr id="17" name="Shape 14"/>
          <p:cNvSpPr/>
          <p:nvPr/>
        </p:nvSpPr>
        <p:spPr>
          <a:xfrm>
            <a:off x="4155948" y="6062472"/>
            <a:ext cx="1330452" cy="566928"/>
          </a:xfrm>
          <a:prstGeom prst="roundRect">
            <a:avLst>
              <a:gd name="adj" fmla="val 11290"/>
            </a:avLst>
          </a:prstGeom>
          <a:solidFill>
            <a:srgbClr val="F1F3F4"/>
          </a:solidFill>
          <a:ln w="12700">
            <a:solidFill>
              <a:srgbClr val="DADCE0"/>
            </a:solidFill>
            <a:prstDash val="solid"/>
          </a:ln>
        </p:spPr>
      </p:sp>
      <p:sp>
        <p:nvSpPr>
          <p:cNvPr id="18" name="Text 15"/>
          <p:cNvSpPr txBox="1"/>
          <p:nvPr/>
        </p:nvSpPr>
        <p:spPr>
          <a:xfrm>
            <a:off x="4247388" y="6071616"/>
            <a:ext cx="119329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agrupar_por</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"region"</a:t>
            </a:r>
            <a:endParaRPr lang="en-US" sz="1200" dirty="0"/>
          </a:p>
        </p:txBody>
      </p:sp>
      <p:sp>
        <p:nvSpPr>
          <p:cNvPr id="19" name="Shape 16"/>
          <p:cNvSpPr/>
          <p:nvPr/>
        </p:nvSpPr>
        <p:spPr>
          <a:xfrm>
            <a:off x="5623560" y="6062472"/>
            <a:ext cx="1143000" cy="566928"/>
          </a:xfrm>
          <a:prstGeom prst="roundRect">
            <a:avLst>
              <a:gd name="adj" fmla="val 11290"/>
            </a:avLst>
          </a:prstGeom>
          <a:solidFill>
            <a:srgbClr val="F1F3F4"/>
          </a:solidFill>
          <a:ln w="12700">
            <a:solidFill>
              <a:srgbClr val="DADCE0"/>
            </a:solidFill>
            <a:prstDash val="solid"/>
          </a:ln>
        </p:spPr>
      </p:sp>
      <p:sp>
        <p:nvSpPr>
          <p:cNvPr id="20" name="Text 17"/>
          <p:cNvSpPr txBox="1"/>
          <p:nvPr/>
        </p:nvSpPr>
        <p:spPr>
          <a:xfrm>
            <a:off x="5715000"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total</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4151930</a:t>
            </a:r>
            <a:endParaRPr lang="en-US" sz="1200" dirty="0"/>
          </a:p>
        </p:txBody>
      </p:sp>
      <p:sp>
        <p:nvSpPr>
          <p:cNvPr id="21" name="Shape 18"/>
          <p:cNvSpPr/>
          <p:nvPr/>
        </p:nvSpPr>
        <p:spPr>
          <a:xfrm>
            <a:off x="6903720" y="6062472"/>
            <a:ext cx="1714500" cy="566928"/>
          </a:xfrm>
          <a:prstGeom prst="roundRect">
            <a:avLst>
              <a:gd name="adj" fmla="val 11290"/>
            </a:avLst>
          </a:prstGeom>
          <a:solidFill>
            <a:srgbClr val="F1F3F4"/>
          </a:solidFill>
          <a:ln w="12700">
            <a:solidFill>
              <a:srgbClr val="DADCE0"/>
            </a:solidFill>
            <a:prstDash val="solid"/>
          </a:ln>
        </p:spPr>
      </p:sp>
      <p:sp>
        <p:nvSpPr>
          <p:cNvPr id="22" name="Text 19"/>
          <p:cNvSpPr txBox="1"/>
          <p:nvPr/>
        </p:nvSpPr>
        <p:spPr>
          <a:xfrm>
            <a:off x="6995160" y="6071616"/>
            <a:ext cx="15773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elegidas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26352 × 8</a:t>
            </a:r>
            <a:endParaRPr lang="en-US" sz="1200" dirty="0"/>
          </a:p>
        </p:txBody>
      </p:sp>
      <p:sp>
        <p:nvSpPr>
          <p:cNvPr id="23" name="Shape 20"/>
          <p:cNvSpPr/>
          <p:nvPr/>
        </p:nvSpPr>
        <p:spPr>
          <a:xfrm>
            <a:off x="8755380" y="6062472"/>
            <a:ext cx="1143000" cy="566928"/>
          </a:xfrm>
          <a:prstGeom prst="roundRect">
            <a:avLst>
              <a:gd name="adj" fmla="val 11290"/>
            </a:avLst>
          </a:prstGeom>
          <a:solidFill>
            <a:srgbClr val="F1F3F4"/>
          </a:solidFill>
          <a:ln w="12700">
            <a:solidFill>
              <a:srgbClr val="DADCE0"/>
            </a:solidFill>
            <a:prstDash val="solid"/>
          </a:ln>
        </p:spPr>
      </p:sp>
      <p:sp>
        <p:nvSpPr>
          <p:cNvPr id="24" name="Text 21"/>
          <p:cNvSpPr txBox="1"/>
          <p:nvPr/>
        </p:nvSpPr>
        <p:spPr>
          <a:xfrm>
            <a:off x="8846820"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region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"Biobío"</a:t>
            </a:r>
            <a:endParaRPr lang="en-US" sz="1200" dirty="0"/>
          </a:p>
        </p:txBody>
      </p:sp>
      <p:sp>
        <p:nvSpPr>
          <p:cNvPr id="25" name="Text 22"/>
          <p:cNvSpPr txBox="1"/>
          <p:nvPr/>
        </p:nvSpPr>
        <p:spPr>
          <a:xfrm>
            <a:off x="10035540"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6 más</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5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¿Qué tan seguido genera cada tecnología?</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Cómo se lee esta línea, pieza por pieza</a:t>
            </a:r>
            <a:endParaRPr lang="en-US" sz="1400" dirty="0"/>
          </a:p>
        </p:txBody>
      </p:sp>
      <p:sp>
        <p:nvSpPr>
          <p:cNvPr id="6" name="Shape 4"/>
          <p:cNvSpPr/>
          <p:nvPr/>
        </p:nvSpPr>
        <p:spPr>
          <a:xfrm>
            <a:off x="548640" y="1463040"/>
            <a:ext cx="11091672" cy="482600"/>
          </a:xfrm>
          <a:prstGeom prst="roundRect">
            <a:avLst>
              <a:gd name="adj" fmla="val 11368"/>
            </a:avLst>
          </a:prstGeom>
          <a:solidFill>
            <a:srgbClr val="F8F9FA"/>
          </a:solidFill>
          <a:ln w="12700">
            <a:solidFill>
              <a:srgbClr val="DADCE0"/>
            </a:solidFill>
            <a:prstDash val="solid"/>
          </a:ln>
        </p:spPr>
      </p:sp>
      <p:sp>
        <p:nvSpPr>
          <p:cNvPr id="7" name="Text 5"/>
          <p:cNvSpPr txBox="1"/>
          <p:nvPr/>
        </p:nvSpPr>
        <p:spPr>
          <a:xfrm>
            <a:off x="822960" y="1554480"/>
            <a:ext cx="10634472" cy="345440"/>
          </a:xfrm>
          <a:prstGeom prst="rect">
            <a:avLst/>
          </a:prstGeom>
          <a:noFill/>
          <a:ln/>
        </p:spPr>
        <p:txBody>
          <a:bodyPr wrap="square" lIns="0" tIns="0" rIns="0" bIns="0" rtlCol="0" anchor="ctr"/>
          <a:lstStyle/>
          <a:p>
            <a:pPr indent="0" marL="0">
              <a:buNone/>
            </a:pPr>
            <a:r>
              <a:rPr lang="en-US" sz="1600" dirty="0">
                <a:solidFill>
                  <a:srgbClr val="202124"/>
                </a:solidFill>
                <a:latin typeface="Courier New" pitchFamily="34" charset="0"/>
                <a:ea typeface="Courier New" pitchFamily="34" charset="-122"/>
                <a:cs typeface="Courier New" pitchFamily="34" charset="-120"/>
              </a:rPr>
              <a:t>gen[</a:t>
            </a:r>
            <a:pPr indent="0" marL="0">
              <a:buNone/>
            </a:pPr>
            <a:r>
              <a:rPr lang="en-US" sz="1600" dirty="0">
                <a:solidFill>
                  <a:srgbClr val="A31515"/>
                </a:solidFill>
                <a:latin typeface="Courier New" pitchFamily="34" charset="0"/>
                <a:ea typeface="Courier New" pitchFamily="34" charset="-122"/>
                <a:cs typeface="Courier New" pitchFamily="34" charset="-120"/>
              </a:rPr>
              <a:t>"factor_planta"</a:t>
            </a:r>
            <a:pPr indent="0" marL="0">
              <a:buNone/>
            </a:pPr>
            <a:r>
              <a:rPr lang="en-US" sz="1600" dirty="0">
                <a:solidFill>
                  <a:srgbClr val="202124"/>
                </a:solidFill>
                <a:latin typeface="Courier New" pitchFamily="34" charset="0"/>
                <a:ea typeface="Courier New" pitchFamily="34" charset="-122"/>
                <a:cs typeface="Courier New" pitchFamily="34" charset="-120"/>
              </a:rPr>
              <a:t>] = gen[</a:t>
            </a:r>
            <a:pPr indent="0" marL="0">
              <a:buNone/>
            </a:pPr>
            <a:r>
              <a:rPr lang="en-US" sz="1600" dirty="0">
                <a:solidFill>
                  <a:srgbClr val="A31515"/>
                </a:solidFill>
                <a:latin typeface="Courier New" pitchFamily="34" charset="0"/>
                <a:ea typeface="Courier New" pitchFamily="34" charset="-122"/>
                <a:cs typeface="Courier New" pitchFamily="34" charset="-120"/>
              </a:rPr>
              <a:t>"mwh"</a:t>
            </a:r>
            <a:pPr indent="0" marL="0">
              <a:buNone/>
            </a:pPr>
            <a:r>
              <a:rPr lang="en-US" sz="1600" dirty="0">
                <a:solidFill>
                  <a:srgbClr val="202124"/>
                </a:solidFill>
                <a:latin typeface="Courier New" pitchFamily="34" charset="0"/>
                <a:ea typeface="Courier New" pitchFamily="34" charset="-122"/>
                <a:cs typeface="Courier New" pitchFamily="34" charset="-120"/>
              </a:rPr>
              <a:t>] / gen[</a:t>
            </a:r>
            <a:pPr indent="0" marL="0">
              <a:buNone/>
            </a:pPr>
            <a:r>
              <a:rPr lang="en-US" sz="1600" dirty="0">
                <a:solidFill>
                  <a:srgbClr val="A31515"/>
                </a:solidFill>
                <a:latin typeface="Courier New" pitchFamily="34" charset="0"/>
                <a:ea typeface="Courier New" pitchFamily="34" charset="-122"/>
                <a:cs typeface="Courier New" pitchFamily="34" charset="-120"/>
              </a:rPr>
              <a:t>"potencia_mw"</a:t>
            </a:r>
            <a:pPr indent="0" marL="0">
              <a:buNone/>
            </a:pPr>
            <a:r>
              <a:rPr lang="en-US" sz="1600" dirty="0">
                <a:solidFill>
                  <a:srgbClr val="202124"/>
                </a:solidFill>
                <a:latin typeface="Courier New" pitchFamily="34" charset="0"/>
                <a:ea typeface="Courier New" pitchFamily="34" charset="-122"/>
                <a:cs typeface="Courier New" pitchFamily="34" charset="-120"/>
              </a:rPr>
              <a:t>]</a:t>
            </a:r>
            <a:endParaRPr lang="en-US" sz="1600" dirty="0"/>
          </a:p>
        </p:txBody>
      </p:sp>
      <p:sp>
        <p:nvSpPr>
          <p:cNvPr id="8" name="Shape 6"/>
          <p:cNvSpPr/>
          <p:nvPr/>
        </p:nvSpPr>
        <p:spPr>
          <a:xfrm>
            <a:off x="548640" y="2375408"/>
            <a:ext cx="329184" cy="329184"/>
          </a:xfrm>
          <a:prstGeom prst="ellipse">
            <a:avLst/>
          </a:prstGeom>
          <a:solidFill>
            <a:srgbClr val="1A6FD4"/>
          </a:solidFill>
          <a:ln w="12700">
            <a:solidFill>
              <a:srgbClr val="1A6FD4"/>
            </a:solidFill>
            <a:prstDash val="solid"/>
          </a:ln>
        </p:spPr>
      </p:sp>
      <p:sp>
        <p:nvSpPr>
          <p:cNvPr id="9" name="Text 7"/>
          <p:cNvSpPr txBox="1"/>
          <p:nvPr/>
        </p:nvSpPr>
        <p:spPr>
          <a:xfrm>
            <a:off x="548640" y="23754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Shape 8"/>
          <p:cNvSpPr/>
          <p:nvPr/>
        </p:nvSpPr>
        <p:spPr>
          <a:xfrm>
            <a:off x="1051560" y="2219960"/>
            <a:ext cx="4937760" cy="640080"/>
          </a:xfrm>
          <a:prstGeom prst="roundRect">
            <a:avLst>
              <a:gd name="adj" fmla="val 7143"/>
            </a:avLst>
          </a:prstGeom>
          <a:solidFill>
            <a:srgbClr val="DBE9FB"/>
          </a:solidFill>
          <a:ln w="12700">
            <a:solidFill>
              <a:srgbClr val="DBE9FB"/>
            </a:solidFill>
            <a:prstDash val="solid"/>
          </a:ln>
        </p:spPr>
      </p:sp>
      <p:sp>
        <p:nvSpPr>
          <p:cNvPr id="11" name="Text 9"/>
          <p:cNvSpPr txBox="1"/>
          <p:nvPr/>
        </p:nvSpPr>
        <p:spPr>
          <a:xfrm>
            <a:off x="1170432" y="2219960"/>
            <a:ext cx="4754880" cy="640080"/>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gen["mwh"] / gen["potencia_mw"]</a:t>
            </a:r>
            <a:endParaRPr lang="en-US" sz="1400" dirty="0"/>
          </a:p>
        </p:txBody>
      </p:sp>
      <p:sp>
        <p:nvSpPr>
          <p:cNvPr id="12" name="Text 10"/>
          <p:cNvSpPr txBox="1"/>
          <p:nvPr/>
        </p:nvSpPr>
        <p:spPr>
          <a:xfrm>
            <a:off x="6263640" y="2219960"/>
            <a:ext cx="5376672" cy="640080"/>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Divide una columna por la otra, fila por fila, en las 175.680 filas.</a:t>
            </a:r>
            <a:endParaRPr lang="en-US" sz="1600" dirty="0"/>
          </a:p>
        </p:txBody>
      </p:sp>
      <p:sp>
        <p:nvSpPr>
          <p:cNvPr id="13" name="Shape 11"/>
          <p:cNvSpPr/>
          <p:nvPr/>
        </p:nvSpPr>
        <p:spPr>
          <a:xfrm>
            <a:off x="548640" y="3052064"/>
            <a:ext cx="329184" cy="329184"/>
          </a:xfrm>
          <a:prstGeom prst="ellipse">
            <a:avLst/>
          </a:prstGeom>
          <a:solidFill>
            <a:srgbClr val="1E8E3E"/>
          </a:solidFill>
          <a:ln w="12700">
            <a:solidFill>
              <a:srgbClr val="1E8E3E"/>
            </a:solidFill>
            <a:prstDash val="solid"/>
          </a:ln>
        </p:spPr>
      </p:sp>
      <p:sp>
        <p:nvSpPr>
          <p:cNvPr id="14" name="Text 12"/>
          <p:cNvSpPr txBox="1"/>
          <p:nvPr/>
        </p:nvSpPr>
        <p:spPr>
          <a:xfrm>
            <a:off x="548640" y="305206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Shape 13"/>
          <p:cNvSpPr/>
          <p:nvPr/>
        </p:nvSpPr>
        <p:spPr>
          <a:xfrm>
            <a:off x="1051560" y="2951480"/>
            <a:ext cx="4937760" cy="530352"/>
          </a:xfrm>
          <a:prstGeom prst="roundRect">
            <a:avLst>
              <a:gd name="adj" fmla="val 8621"/>
            </a:avLst>
          </a:prstGeom>
          <a:solidFill>
            <a:srgbClr val="DCEFE0"/>
          </a:solidFill>
          <a:ln w="12700">
            <a:solidFill>
              <a:srgbClr val="DCEFE0"/>
            </a:solidFill>
            <a:prstDash val="solid"/>
          </a:ln>
        </p:spPr>
      </p:sp>
      <p:sp>
        <p:nvSpPr>
          <p:cNvPr id="16" name="Text 14"/>
          <p:cNvSpPr txBox="1"/>
          <p:nvPr/>
        </p:nvSpPr>
        <p:spPr>
          <a:xfrm>
            <a:off x="1170432" y="2951480"/>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gen["factor_planta"] =</a:t>
            </a:r>
            <a:endParaRPr lang="en-US" sz="1400" dirty="0"/>
          </a:p>
        </p:txBody>
      </p:sp>
      <p:sp>
        <p:nvSpPr>
          <p:cNvPr id="17" name="Text 15"/>
          <p:cNvSpPr txBox="1"/>
          <p:nvPr/>
        </p:nvSpPr>
        <p:spPr>
          <a:xfrm>
            <a:off x="6263640" y="2951480"/>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Guarda el resultado en una columna nueva.</a:t>
            </a:r>
            <a:endParaRPr lang="en-US" sz="1600" dirty="0"/>
          </a:p>
        </p:txBody>
      </p:sp>
      <p:sp>
        <p:nvSpPr>
          <p:cNvPr id="18" name="Shape 16"/>
          <p:cNvSpPr/>
          <p:nvPr/>
        </p:nvSpPr>
        <p:spPr>
          <a:xfrm>
            <a:off x="548640" y="5989320"/>
            <a:ext cx="73152" cy="548640"/>
          </a:xfrm>
          <a:prstGeom prst="rect">
            <a:avLst/>
          </a:prstGeom>
          <a:solidFill>
            <a:srgbClr val="0B3D62"/>
          </a:solidFill>
          <a:ln w="12700">
            <a:solidFill>
              <a:srgbClr val="0B3D62"/>
            </a:solidFill>
            <a:prstDash val="solid"/>
          </a:ln>
        </p:spPr>
      </p:sp>
      <p:sp>
        <p:nvSpPr>
          <p:cNvPr id="19" name="Text 17"/>
          <p:cNvSpPr txBox="1"/>
          <p:nvPr/>
        </p:nvSpPr>
        <p:spPr>
          <a:xfrm>
            <a:off x="777240" y="5989320"/>
            <a:ext cx="10863072" cy="548640"/>
          </a:xfrm>
          <a:prstGeom prst="rect">
            <a:avLst/>
          </a:prstGeom>
          <a:noFill/>
          <a:ln/>
        </p:spPr>
        <p:txBody>
          <a:bodyPr wrap="square" lIns="0" tIns="0" rIns="0" bIns="0"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Se lee así  </a:t>
            </a:r>
            <a:pPr indent="0" marL="0">
              <a:buNone/>
            </a:pPr>
            <a:r>
              <a:rPr lang="en-US" sz="1500" dirty="0">
                <a:solidFill>
                  <a:srgbClr val="202124"/>
                </a:solidFill>
                <a:latin typeface="Calibri" pitchFamily="34" charset="0"/>
                <a:ea typeface="Calibri" pitchFamily="34" charset="-122"/>
                <a:cs typeface="Calibri" pitchFamily="34" charset="-120"/>
              </a:rPr>
              <a:t>el factor de planta de cada hora es lo generado dividido por la potencia.</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txBox="1"/>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Paso 5 de 5</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¿Qué tan seguido genera cada tecnología?</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 El factor de planta es lo que generó una central dividido por lo máximo que podía generar.</a:t>
            </a:r>
            <a:endParaRPr lang="en-US" sz="1400" dirty="0"/>
          </a:p>
        </p:txBody>
      </p:sp>
      <p:sp>
        <p:nvSpPr>
          <p:cNvPr id="6" name="Shape 4"/>
          <p:cNvSpPr/>
          <p:nvPr/>
        </p:nvSpPr>
        <p:spPr>
          <a:xfrm>
            <a:off x="548640" y="1481328"/>
            <a:ext cx="11091672" cy="1508760"/>
          </a:xfrm>
          <a:prstGeom prst="roundRect">
            <a:avLst>
              <a:gd name="adj" fmla="val 3636"/>
            </a:avLst>
          </a:prstGeom>
          <a:solidFill>
            <a:srgbClr val="F8F9FA"/>
          </a:solidFill>
          <a:ln w="12700">
            <a:solidFill>
              <a:srgbClr val="DADCE0"/>
            </a:solidFill>
            <a:prstDash val="solid"/>
          </a:ln>
        </p:spPr>
      </p:sp>
      <p:sp>
        <p:nvSpPr>
          <p:cNvPr id="7" name="Shape 5"/>
          <p:cNvSpPr/>
          <p:nvPr/>
        </p:nvSpPr>
        <p:spPr>
          <a:xfrm>
            <a:off x="713232" y="1600200"/>
            <a:ext cx="420624" cy="420624"/>
          </a:xfrm>
          <a:prstGeom prst="ellipse">
            <a:avLst/>
          </a:prstGeom>
          <a:solidFill>
            <a:srgbClr val="E8EAED"/>
          </a:solidFill>
          <a:ln w="12700">
            <a:solidFill>
              <a:srgbClr val="E8EAED"/>
            </a:solidFill>
            <a:prstDash val="solid"/>
          </a:ln>
        </p:spPr>
      </p:sp>
      <p:sp>
        <p:nvSpPr>
          <p:cNvPr id="8" name="Shape 6"/>
          <p:cNvSpPr/>
          <p:nvPr/>
        </p:nvSpPr>
        <p:spPr>
          <a:xfrm rot="5400000">
            <a:off x="850392" y="1719072"/>
            <a:ext cx="182880" cy="182880"/>
          </a:xfrm>
          <a:prstGeom prst="triangle">
            <a:avLst/>
          </a:prstGeom>
          <a:solidFill>
            <a:srgbClr val="5F6368"/>
          </a:solidFill>
          <a:ln w="12700">
            <a:solidFill>
              <a:srgbClr val="5F6368"/>
            </a:solidFill>
            <a:prstDash val="solid"/>
          </a:ln>
        </p:spPr>
      </p:sp>
      <p:sp>
        <p:nvSpPr>
          <p:cNvPr id="9" name="Text 7"/>
          <p:cNvSpPr txBox="1"/>
          <p:nvPr/>
        </p:nvSpPr>
        <p:spPr>
          <a:xfrm>
            <a:off x="1325880" y="1600200"/>
            <a:ext cx="10085832" cy="1325880"/>
          </a:xfrm>
          <a:prstGeom prst="rect">
            <a:avLst/>
          </a:prstGeom>
          <a:noFill/>
          <a:ln/>
        </p:spPr>
        <p:txBody>
          <a:bodyPr wrap="square" lIns="0" tIns="0" rIns="0" bIns="0" rtlCol="0" anchor="t"/>
          <a:lstStyle/>
          <a:p>
            <a:pPr indent="0" marL="0">
              <a:buNone/>
            </a:pPr>
            <a:r>
              <a:rPr lang="en-US" sz="1300" i="1" dirty="0">
                <a:solidFill>
                  <a:srgbClr val="188038"/>
                </a:solidFill>
                <a:latin typeface="Courier New" pitchFamily="34" charset="0"/>
                <a:ea typeface="Courier New" pitchFamily="34" charset="-122"/>
                <a:cs typeface="Courier New" pitchFamily="34" charset="-120"/>
              </a:rPr>
              <a:t># Paso 5</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Una columna nueva calculada para las 175.680 filas de una vez.</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gen[</a:t>
            </a:r>
            <a:pPr indent="0" marL="0">
              <a:buNone/>
            </a:pPr>
            <a:r>
              <a:rPr lang="en-US" sz="1300" dirty="0">
                <a:solidFill>
                  <a:srgbClr val="A31515"/>
                </a:solidFill>
                <a:latin typeface="Courier New" pitchFamily="34" charset="0"/>
                <a:ea typeface="Courier New" pitchFamily="34" charset="-122"/>
                <a:cs typeface="Courier New" pitchFamily="34" charset="-120"/>
              </a:rPr>
              <a:t>"factor_planta"</a:t>
            </a:r>
            <a:pPr indent="0" marL="0">
              <a:buNone/>
            </a:pPr>
            <a:r>
              <a:rPr lang="en-US" sz="1300" dirty="0">
                <a:solidFill>
                  <a:srgbClr val="202124"/>
                </a:solidFill>
                <a:latin typeface="Courier New" pitchFamily="34" charset="0"/>
                <a:ea typeface="Courier New" pitchFamily="34" charset="-122"/>
                <a:cs typeface="Courier New" pitchFamily="34" charset="-120"/>
              </a:rPr>
              <a:t>] = gen[</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 / gen[</a:t>
            </a:r>
            <a:pPr indent="0" marL="0">
              <a:buNone/>
            </a:pPr>
            <a:r>
              <a:rPr lang="en-US" sz="1300" dirty="0">
                <a:solidFill>
                  <a:srgbClr val="A31515"/>
                </a:solidFill>
                <a:latin typeface="Courier New" pitchFamily="34" charset="0"/>
                <a:ea typeface="Courier New" pitchFamily="34" charset="-122"/>
                <a:cs typeface="Courier New" pitchFamily="34" charset="-120"/>
              </a:rPr>
              <a:t>"potencia_mw"</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factor = gen.groupby(</a:t>
            </a:r>
            <a:pPr indent="0" marL="0">
              <a:buNone/>
            </a:pPr>
            <a:r>
              <a:rPr lang="en-US" sz="1300" dirty="0">
                <a:solidFill>
                  <a:srgbClr val="A31515"/>
                </a:solidFill>
                <a:latin typeface="Courier New" pitchFamily="34" charset="0"/>
                <a:ea typeface="Courier New" pitchFamily="34" charset="-122"/>
                <a:cs typeface="Courier New" pitchFamily="34" charset="-120"/>
              </a:rPr>
              <a:t>"tecnologia"</a:t>
            </a:r>
            <a:pPr indent="0" marL="0">
              <a:buNone/>
            </a:pPr>
            <a:r>
              <a:rPr lang="en-US" sz="1300" dirty="0">
                <a:solidFill>
                  <a:srgbClr val="202124"/>
                </a:solidFill>
                <a:latin typeface="Courier New" pitchFamily="34" charset="0"/>
                <a:ea typeface="Courier New" pitchFamily="34" charset="-122"/>
                <a:cs typeface="Courier New" pitchFamily="34" charset="-120"/>
              </a:rPr>
              <a:t>)[</a:t>
            </a:r>
            <a:pPr indent="0" marL="0">
              <a:buNone/>
            </a:pPr>
            <a:r>
              <a:rPr lang="en-US" sz="1300" dirty="0">
                <a:solidFill>
                  <a:srgbClr val="A31515"/>
                </a:solidFill>
                <a:latin typeface="Courier New" pitchFamily="34" charset="0"/>
                <a:ea typeface="Courier New" pitchFamily="34" charset="-122"/>
                <a:cs typeface="Courier New" pitchFamily="34" charset="-120"/>
              </a:rPr>
              <a:t>"factor_planta"</a:t>
            </a:r>
            <a:pPr indent="0" marL="0">
              <a:buNone/>
            </a:pPr>
            <a:r>
              <a:rPr lang="en-US" sz="1300" dirty="0">
                <a:solidFill>
                  <a:srgbClr val="202124"/>
                </a:solidFill>
                <a:latin typeface="Courier New" pitchFamily="34" charset="0"/>
                <a:ea typeface="Courier New" pitchFamily="34" charset="-122"/>
                <a:cs typeface="Courier New" pitchFamily="34" charset="-120"/>
              </a:rPr>
              <a:t>].mean().round(3)</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factor.sort_values(ascending=False)</a:t>
            </a:r>
            <a:endParaRPr lang="en-US" sz="1300" dirty="0"/>
          </a:p>
        </p:txBody>
      </p:sp>
      <p:sp>
        <p:nvSpPr>
          <p:cNvPr id="10" name="Shape 8"/>
          <p:cNvSpPr/>
          <p:nvPr/>
        </p:nvSpPr>
        <p:spPr>
          <a:xfrm>
            <a:off x="1325880" y="3099816"/>
            <a:ext cx="10314432" cy="1792224"/>
          </a:xfrm>
          <a:prstGeom prst="rect">
            <a:avLst/>
          </a:prstGeom>
          <a:solidFill>
            <a:srgbClr val="FFFFFF"/>
          </a:solidFill>
          <a:ln w="12700">
            <a:solidFill>
              <a:srgbClr val="DADCE0"/>
            </a:solidFill>
            <a:prstDash val="solid"/>
          </a:ln>
        </p:spPr>
      </p:sp>
      <p:sp>
        <p:nvSpPr>
          <p:cNvPr id="11" name="Text 9"/>
          <p:cNvSpPr txBox="1"/>
          <p:nvPr/>
        </p:nvSpPr>
        <p:spPr>
          <a:xfrm>
            <a:off x="1463040" y="3172968"/>
            <a:ext cx="10085832" cy="1664208"/>
          </a:xfrm>
          <a:prstGeom prst="rect">
            <a:avLst/>
          </a:prstGeom>
          <a:noFill/>
          <a:ln/>
        </p:spPr>
        <p:txBody>
          <a:bodyPr wrap="square" lIns="0" tIns="0" rIns="0" bIns="0" rtlCol="0" anchor="t"/>
          <a:lstStyle/>
          <a:p>
            <a:pPr indent="0" marL="0">
              <a:buNone/>
            </a:pPr>
            <a:r>
              <a:rPr lang="en-US" sz="1200" dirty="0">
                <a:solidFill>
                  <a:srgbClr val="202124"/>
                </a:solidFill>
                <a:latin typeface="Courier New" pitchFamily="34" charset="0"/>
                <a:ea typeface="Courier New" pitchFamily="34" charset="-122"/>
                <a:cs typeface="Courier New" pitchFamily="34" charset="-120"/>
              </a:rPr>
              <a:t>tecnologia</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gas       0.663</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carbon    0.640</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hidro     0.549</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eolica    0.315</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diesel    0.103</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solar     0.080</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Name: factor_planta, dtype: float64</a:t>
            </a:r>
            <a:endParaRPr lang="en-US" sz="1200" dirty="0"/>
          </a:p>
        </p:txBody>
      </p:sp>
      <p:sp>
        <p:nvSpPr>
          <p:cNvPr id="12" name="Shape 10"/>
          <p:cNvSpPr/>
          <p:nvPr/>
        </p:nvSpPr>
        <p:spPr>
          <a:xfrm>
            <a:off x="1325880" y="5029200"/>
            <a:ext cx="10314432" cy="566928"/>
          </a:xfrm>
          <a:prstGeom prst="roundRect">
            <a:avLst>
              <a:gd name="adj" fmla="val 9677"/>
            </a:avLst>
          </a:prstGeom>
          <a:solidFill>
            <a:srgbClr val="FFF8D6"/>
          </a:solidFill>
          <a:ln w="12700">
            <a:solidFill>
              <a:srgbClr val="FFF8D6"/>
            </a:solidFill>
            <a:prstDash val="solid"/>
          </a:ln>
        </p:spPr>
      </p:sp>
      <p:sp>
        <p:nvSpPr>
          <p:cNvPr id="13" name="Text 11"/>
          <p:cNvSpPr txBox="1"/>
          <p:nvPr/>
        </p:nvSpPr>
        <p:spPr>
          <a:xfrm>
            <a:off x="1508760" y="5029200"/>
            <a:ext cx="9948672" cy="566928"/>
          </a:xfrm>
          <a:prstGeom prst="rect">
            <a:avLst/>
          </a:prstGeom>
          <a:noFill/>
          <a:ln/>
        </p:spPr>
        <p:txBody>
          <a:bodyPr wrap="square" lIns="0" tIns="0" rIns="0" bIns="0" rtlCol="0" anchor="ctr"/>
          <a:lstStyle/>
          <a:p>
            <a:pPr indent="0" marL="0">
              <a:buNone/>
            </a:pPr>
            <a:r>
              <a:rPr lang="en-US" sz="1400" b="1" dirty="0">
                <a:solidFill>
                  <a:srgbClr val="8A6D00"/>
                </a:solidFill>
                <a:latin typeface="Calibri" pitchFamily="34" charset="0"/>
                <a:ea typeface="Calibri" pitchFamily="34" charset="-122"/>
                <a:cs typeface="Calibri" pitchFamily="34" charset="-120"/>
              </a:rPr>
              <a:t>Una columna nueva se calcula para todas las filas de una vez.  </a:t>
            </a:r>
            <a:pPr indent="0" marL="0">
              <a:buNone/>
            </a:pPr>
            <a:r>
              <a:rPr lang="en-US" sz="1400" dirty="0">
                <a:solidFill>
                  <a:srgbClr val="202124"/>
                </a:solidFill>
                <a:latin typeface="Calibri" pitchFamily="34" charset="0"/>
                <a:ea typeface="Calibri" pitchFamily="34" charset="-122"/>
                <a:cs typeface="Calibri" pitchFamily="34" charset="-120"/>
              </a:rPr>
              <a:t>No hace falta recorrer las 175.680 filas una por una. Las cifras son inventadas y no se citan.</a:t>
            </a:r>
            <a:endParaRPr lang="en-US" sz="1400" dirty="0"/>
          </a:p>
        </p:txBody>
      </p:sp>
      <p:sp>
        <p:nvSpPr>
          <p:cNvPr id="15" name="Text 12"/>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6" name="Shape 13"/>
          <p:cNvSpPr/>
          <p:nvPr/>
        </p:nvSpPr>
        <p:spPr>
          <a:xfrm>
            <a:off x="548640" y="6062472"/>
            <a:ext cx="1810512" cy="566928"/>
          </a:xfrm>
          <a:prstGeom prst="roundRect">
            <a:avLst>
              <a:gd name="adj" fmla="val 11290"/>
            </a:avLst>
          </a:prstGeom>
          <a:solidFill>
            <a:srgbClr val="FEF3D6"/>
          </a:solidFill>
          <a:ln w="25400">
            <a:solidFill>
              <a:srgbClr val="F9AB00"/>
            </a:solidFill>
            <a:prstDash val="solid"/>
          </a:ln>
        </p:spPr>
      </p:sp>
      <p:sp>
        <p:nvSpPr>
          <p:cNvPr id="17" name="Text 14"/>
          <p:cNvSpPr txBox="1"/>
          <p:nvPr/>
        </p:nvSpPr>
        <p:spPr>
          <a:xfrm>
            <a:off x="640080" y="6071616"/>
            <a:ext cx="167335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gen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175680 × 9</a:t>
            </a:r>
            <a:endParaRPr lang="en-US" sz="1200" dirty="0"/>
          </a:p>
        </p:txBody>
      </p:sp>
      <p:sp>
        <p:nvSpPr>
          <p:cNvPr id="18" name="Shape 15"/>
          <p:cNvSpPr/>
          <p:nvPr/>
        </p:nvSpPr>
        <p:spPr>
          <a:xfrm>
            <a:off x="2496312" y="6062472"/>
            <a:ext cx="2002536" cy="566928"/>
          </a:xfrm>
          <a:prstGeom prst="roundRect">
            <a:avLst>
              <a:gd name="adj" fmla="val 11290"/>
            </a:avLst>
          </a:prstGeom>
          <a:solidFill>
            <a:srgbClr val="FEF3D6"/>
          </a:solidFill>
          <a:ln w="25400">
            <a:solidFill>
              <a:srgbClr val="F9AB00"/>
            </a:solidFill>
            <a:prstDash val="solid"/>
          </a:ln>
        </p:spPr>
      </p:sp>
      <p:sp>
        <p:nvSpPr>
          <p:cNvPr id="19" name="Text 16"/>
          <p:cNvSpPr txBox="1"/>
          <p:nvPr/>
        </p:nvSpPr>
        <p:spPr>
          <a:xfrm>
            <a:off x="2587752" y="6071616"/>
            <a:ext cx="186537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factor</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serie de 6 valores</a:t>
            </a:r>
            <a:endParaRPr lang="en-US" sz="1200" dirty="0"/>
          </a:p>
        </p:txBody>
      </p:sp>
      <p:sp>
        <p:nvSpPr>
          <p:cNvPr id="20" name="Shape 17"/>
          <p:cNvSpPr/>
          <p:nvPr/>
        </p:nvSpPr>
        <p:spPr>
          <a:xfrm>
            <a:off x="4636008" y="6062472"/>
            <a:ext cx="1330452" cy="566928"/>
          </a:xfrm>
          <a:prstGeom prst="roundRect">
            <a:avLst>
              <a:gd name="adj" fmla="val 11290"/>
            </a:avLst>
          </a:prstGeom>
          <a:solidFill>
            <a:srgbClr val="F1F3F4"/>
          </a:solidFill>
          <a:ln w="12700">
            <a:solidFill>
              <a:srgbClr val="DADCE0"/>
            </a:solidFill>
            <a:prstDash val="solid"/>
          </a:ln>
        </p:spPr>
      </p:sp>
      <p:sp>
        <p:nvSpPr>
          <p:cNvPr id="21" name="Text 18"/>
          <p:cNvSpPr txBox="1"/>
          <p:nvPr/>
        </p:nvSpPr>
        <p:spPr>
          <a:xfrm>
            <a:off x="4727448" y="6071616"/>
            <a:ext cx="119329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cruce</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7 × 6</a:t>
            </a:r>
            <a:endParaRPr lang="en-US" sz="1200" dirty="0"/>
          </a:p>
        </p:txBody>
      </p:sp>
      <p:sp>
        <p:nvSpPr>
          <p:cNvPr id="22" name="Shape 19"/>
          <p:cNvSpPr/>
          <p:nvPr/>
        </p:nvSpPr>
        <p:spPr>
          <a:xfrm>
            <a:off x="6103620" y="6062472"/>
            <a:ext cx="2002536" cy="566928"/>
          </a:xfrm>
          <a:prstGeom prst="roundRect">
            <a:avLst>
              <a:gd name="adj" fmla="val 11290"/>
            </a:avLst>
          </a:prstGeom>
          <a:solidFill>
            <a:srgbClr val="F1F3F4"/>
          </a:solidFill>
          <a:ln w="12700">
            <a:solidFill>
              <a:srgbClr val="DADCE0"/>
            </a:solidFill>
            <a:prstDash val="solid"/>
          </a:ln>
        </p:spPr>
      </p:sp>
      <p:sp>
        <p:nvSpPr>
          <p:cNvPr id="23" name="Text 20"/>
          <p:cNvSpPr txBox="1"/>
          <p:nvPr/>
        </p:nvSpPr>
        <p:spPr>
          <a:xfrm>
            <a:off x="6195060" y="6071616"/>
            <a:ext cx="186537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por_grupo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serie de 7 valores</a:t>
            </a:r>
            <a:endParaRPr lang="en-US" sz="1200" dirty="0"/>
          </a:p>
        </p:txBody>
      </p:sp>
      <p:sp>
        <p:nvSpPr>
          <p:cNvPr id="24" name="Shape 21"/>
          <p:cNvSpPr/>
          <p:nvPr/>
        </p:nvSpPr>
        <p:spPr>
          <a:xfrm>
            <a:off x="8243316" y="6062472"/>
            <a:ext cx="1330452" cy="566928"/>
          </a:xfrm>
          <a:prstGeom prst="roundRect">
            <a:avLst>
              <a:gd name="adj" fmla="val 11290"/>
            </a:avLst>
          </a:prstGeom>
          <a:solidFill>
            <a:srgbClr val="F1F3F4"/>
          </a:solidFill>
          <a:ln w="12700">
            <a:solidFill>
              <a:srgbClr val="DADCE0"/>
            </a:solidFill>
            <a:prstDash val="solid"/>
          </a:ln>
        </p:spPr>
      </p:sp>
      <p:sp>
        <p:nvSpPr>
          <p:cNvPr id="25" name="Text 22"/>
          <p:cNvSpPr txBox="1"/>
          <p:nvPr/>
        </p:nvSpPr>
        <p:spPr>
          <a:xfrm>
            <a:off x="8334756" y="6071616"/>
            <a:ext cx="119329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agrupar_por</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"region"</a:t>
            </a:r>
            <a:endParaRPr lang="en-US" sz="1200" dirty="0"/>
          </a:p>
        </p:txBody>
      </p:sp>
      <p:sp>
        <p:nvSpPr>
          <p:cNvPr id="26" name="Text 23"/>
          <p:cNvSpPr txBox="1"/>
          <p:nvPr/>
        </p:nvSpPr>
        <p:spPr>
          <a:xfrm>
            <a:off x="9710928"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8 más</a:t>
            </a:r>
            <a:endParaRPr lang="en-US" sz="1200" dirty="0"/>
          </a:p>
        </p:txBody>
      </p:sp>
      <p:sp>
        <p:nvSpPr>
          <p:cNvPr id="27" name="Text 24"/>
          <p:cNvSpPr txBox="1"/>
          <p:nvPr/>
        </p:nvSpPr>
        <p:spPr>
          <a:xfrm>
            <a:off x="548640" y="6638544"/>
            <a:ext cx="11091672" cy="237744"/>
          </a:xfrm>
          <a:prstGeom prst="rect">
            <a:avLst/>
          </a:prstGeom>
          <a:noFill/>
          <a:ln/>
        </p:spPr>
        <p:txBody>
          <a:bodyPr wrap="square" lIns="0" tIns="0" rIns="0" bIns="0" rtlCol="0" anchor="ctr"/>
          <a:lstStyle/>
          <a:p>
            <a:pPr indent="0" marL="0">
              <a:buNone/>
            </a:pPr>
            <a:r>
              <a:rPr lang="en-US" sz="1300" i="1" dirty="0">
                <a:solidFill>
                  <a:srgbClr val="0B3D62"/>
                </a:solidFill>
                <a:latin typeface="Calibri" pitchFamily="34" charset="0"/>
                <a:ea typeface="Calibri" pitchFamily="34" charset="-122"/>
                <a:cs typeface="Calibri" pitchFamily="34" charset="-120"/>
              </a:rPr>
              <a:t>En estos datos inventados la solar tiene el factor más bajo, porque de noche no genera.</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9AB00"/>
        </a:solidFill>
      </p:bgPr>
    </p:bg>
    <p:spTree>
      <p:nvGrpSpPr>
        <p:cNvPr id="1" name=""/>
        <p:cNvGrpSpPr/>
        <p:nvPr/>
      </p:nvGrpSpPr>
      <p:grpSpPr>
        <a:xfrm>
          <a:off x="0" y="0"/>
          <a:ext cx="0" cy="0"/>
          <a:chOff x="0" y="0"/>
          <a:chExt cx="0" cy="0"/>
        </a:xfrm>
      </p:grpSpPr>
      <p:sp>
        <p:nvSpPr>
          <p:cNvPr id="2" name="Text 0"/>
          <p:cNvSpPr txBox="1"/>
          <p:nvPr/>
        </p:nvSpPr>
        <p:spPr>
          <a:xfrm>
            <a:off x="731520" y="548640"/>
            <a:ext cx="10698480" cy="822960"/>
          </a:xfrm>
          <a:prstGeom prst="rect">
            <a:avLst/>
          </a:prstGeom>
          <a:noFill/>
          <a:ln/>
        </p:spPr>
        <p:txBody>
          <a:bodyPr wrap="square" lIns="0" tIns="0" rIns="0" bIns="0" rtlCol="0" anchor="ctr"/>
          <a:lstStyle/>
          <a:p>
            <a:pPr indent="0" marL="0">
              <a:buNone/>
            </a:pPr>
            <a:r>
              <a:rPr lang="en-US" sz="4400" b="1" dirty="0">
                <a:solidFill>
                  <a:srgbClr val="0B3D62"/>
                </a:solidFill>
                <a:latin typeface="Calibri" pitchFamily="34" charset="0"/>
                <a:ea typeface="Calibri" pitchFamily="34" charset="-122"/>
                <a:cs typeface="Calibri" pitchFamily="34" charset="-120"/>
              </a:rPr>
              <a:t>PARTE 2 · PARA LA CASA</a:t>
            </a:r>
            <a:endParaRPr lang="en-US" sz="4400" dirty="0"/>
          </a:p>
        </p:txBody>
      </p:sp>
      <p:sp>
        <p:nvSpPr>
          <p:cNvPr id="3" name="Text 1"/>
          <p:cNvSpPr txBox="1"/>
          <p:nvPr/>
        </p:nvSpPr>
        <p:spPr>
          <a:xfrm>
            <a:off x="731520" y="1371600"/>
            <a:ext cx="10698480" cy="457200"/>
          </a:xfrm>
          <a:prstGeom prst="rect">
            <a:avLst/>
          </a:prstGeom>
          <a:noFill/>
          <a:ln/>
        </p:spPr>
        <p:txBody>
          <a:bodyPr wrap="square" lIns="0" tIns="0" rIns="0" bIns="0" rtlCol="0" anchor="ctr"/>
          <a:lstStyle/>
          <a:p>
            <a:pPr indent="0" marL="0">
              <a:buNone/>
            </a:pPr>
            <a:r>
              <a:rPr lang="en-US" sz="2000" dirty="0">
                <a:solidFill>
                  <a:srgbClr val="0B3D62"/>
                </a:solidFill>
                <a:latin typeface="Calibri" pitchFamily="34" charset="0"/>
                <a:ea typeface="Calibri" pitchFamily="34" charset="-122"/>
                <a:cs typeface="Calibri" pitchFamily="34" charset="-120"/>
              </a:rPr>
              <a:t>No se ve en clase. Cada estudio viene explicado en las láminas que siguen, con la guía como apoyo.</a:t>
            </a:r>
            <a:endParaRPr lang="en-US" sz="2000" dirty="0"/>
          </a:p>
        </p:txBody>
      </p:sp>
      <p:sp>
        <p:nvSpPr>
          <p:cNvPr id="4" name="Shape 2"/>
          <p:cNvSpPr/>
          <p:nvPr/>
        </p:nvSpPr>
        <p:spPr>
          <a:xfrm>
            <a:off x="731520" y="2240280"/>
            <a:ext cx="548640" cy="548640"/>
          </a:xfrm>
          <a:prstGeom prst="ellipse">
            <a:avLst/>
          </a:prstGeom>
          <a:solidFill>
            <a:srgbClr val="0B3D62"/>
          </a:solidFill>
          <a:ln w="12700">
            <a:solidFill>
              <a:srgbClr val="0B3D62"/>
            </a:solidFill>
            <a:prstDash val="solid"/>
          </a:ln>
        </p:spPr>
      </p:sp>
      <p:sp>
        <p:nvSpPr>
          <p:cNvPr id="5" name="Text 3"/>
          <p:cNvSpPr txBox="1"/>
          <p:nvPr/>
        </p:nvSpPr>
        <p:spPr>
          <a:xfrm>
            <a:off x="731520" y="22402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txBox="1"/>
          <p:nvPr/>
        </p:nvSpPr>
        <p:spPr>
          <a:xfrm>
            <a:off x="1508760" y="2240280"/>
            <a:ext cx="9966960" cy="548640"/>
          </a:xfrm>
          <a:prstGeom prst="rect">
            <a:avLst/>
          </a:prstGeom>
          <a:noFill/>
          <a:ln/>
        </p:spPr>
        <p:txBody>
          <a:bodyPr wrap="square" lIns="0" tIns="0" rIns="0" bIns="0" rtlCol="0" anchor="ctr"/>
          <a:lstStyle/>
          <a:p>
            <a:pPr indent="0" marL="0">
              <a:buNone/>
            </a:pPr>
            <a:r>
              <a:rPr lang="en-US" sz="2400" b="1" dirty="0">
                <a:solidFill>
                  <a:srgbClr val="0B3D62"/>
                </a:solidFill>
                <a:latin typeface="Calibri" pitchFamily="34" charset="0"/>
                <a:ea typeface="Calibri" pitchFamily="34" charset="-122"/>
                <a:cs typeface="Calibri" pitchFamily="34" charset="-120"/>
              </a:rPr>
              <a:t>Estudio 1   </a:t>
            </a:r>
            <a:pPr indent="0" marL="0">
              <a:buNone/>
            </a:pPr>
            <a:r>
              <a:rPr lang="en-US" sz="2400" dirty="0">
                <a:solidFill>
                  <a:srgbClr val="0B3D62"/>
                </a:solidFill>
                <a:latin typeface="Calibri" pitchFamily="34" charset="0"/>
                <a:ea typeface="Calibri" pitchFamily="34" charset="-122"/>
                <a:cs typeface="Calibri" pitchFamily="34" charset="-120"/>
              </a:rPr>
              <a:t>¿Se consume menos el fin de semana?</a:t>
            </a:r>
            <a:endParaRPr lang="en-US" sz="2400" dirty="0"/>
          </a:p>
        </p:txBody>
      </p:sp>
      <p:sp>
        <p:nvSpPr>
          <p:cNvPr id="7" name="Shape 5"/>
          <p:cNvSpPr/>
          <p:nvPr/>
        </p:nvSpPr>
        <p:spPr>
          <a:xfrm>
            <a:off x="731520" y="3017520"/>
            <a:ext cx="548640" cy="548640"/>
          </a:xfrm>
          <a:prstGeom prst="ellipse">
            <a:avLst/>
          </a:prstGeom>
          <a:solidFill>
            <a:srgbClr val="0B3D62"/>
          </a:solidFill>
          <a:ln w="12700">
            <a:solidFill>
              <a:srgbClr val="0B3D62"/>
            </a:solidFill>
            <a:prstDash val="solid"/>
          </a:ln>
        </p:spPr>
      </p:sp>
      <p:sp>
        <p:nvSpPr>
          <p:cNvPr id="8" name="Text 6"/>
          <p:cNvSpPr txBox="1"/>
          <p:nvPr/>
        </p:nvSpPr>
        <p:spPr>
          <a:xfrm>
            <a:off x="731520" y="30175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9" name="Text 7"/>
          <p:cNvSpPr txBox="1"/>
          <p:nvPr/>
        </p:nvSpPr>
        <p:spPr>
          <a:xfrm>
            <a:off x="1508760" y="3017520"/>
            <a:ext cx="9966960" cy="548640"/>
          </a:xfrm>
          <a:prstGeom prst="rect">
            <a:avLst/>
          </a:prstGeom>
          <a:noFill/>
          <a:ln/>
        </p:spPr>
        <p:txBody>
          <a:bodyPr wrap="square" lIns="0" tIns="0" rIns="0" bIns="0" rtlCol="0" anchor="ctr"/>
          <a:lstStyle/>
          <a:p>
            <a:pPr indent="0" marL="0">
              <a:buNone/>
            </a:pPr>
            <a:r>
              <a:rPr lang="en-US" sz="2400" b="1" dirty="0">
                <a:solidFill>
                  <a:srgbClr val="0B3D62"/>
                </a:solidFill>
                <a:latin typeface="Calibri" pitchFamily="34" charset="0"/>
                <a:ea typeface="Calibri" pitchFamily="34" charset="-122"/>
                <a:cs typeface="Calibri" pitchFamily="34" charset="-120"/>
              </a:rPr>
              <a:t>Estudio 2   </a:t>
            </a:r>
            <a:pPr indent="0" marL="0">
              <a:buNone/>
            </a:pPr>
            <a:r>
              <a:rPr lang="en-US" sz="2400" dirty="0">
                <a:solidFill>
                  <a:srgbClr val="0B3D62"/>
                </a:solidFill>
                <a:latin typeface="Calibri" pitchFamily="34" charset="0"/>
                <a:ea typeface="Calibri" pitchFamily="34" charset="-122"/>
                <a:cs typeface="Calibri" pitchFamily="34" charset="-120"/>
              </a:rPr>
              <a:t>Tu turno, resume con varios cálculos</a:t>
            </a:r>
            <a:endParaRPr lang="en-US" sz="2400" dirty="0"/>
          </a:p>
        </p:txBody>
      </p:sp>
      <p:sp>
        <p:nvSpPr>
          <p:cNvPr id="10" name="Shape 8"/>
          <p:cNvSpPr/>
          <p:nvPr/>
        </p:nvSpPr>
        <p:spPr>
          <a:xfrm>
            <a:off x="731520" y="3794760"/>
            <a:ext cx="548640" cy="548640"/>
          </a:xfrm>
          <a:prstGeom prst="ellipse">
            <a:avLst/>
          </a:prstGeom>
          <a:solidFill>
            <a:srgbClr val="0B3D62"/>
          </a:solidFill>
          <a:ln w="12700">
            <a:solidFill>
              <a:srgbClr val="0B3D62"/>
            </a:solidFill>
            <a:prstDash val="solid"/>
          </a:ln>
        </p:spPr>
      </p:sp>
      <p:sp>
        <p:nvSpPr>
          <p:cNvPr id="11" name="Text 9"/>
          <p:cNvSpPr txBox="1"/>
          <p:nvPr/>
        </p:nvSpPr>
        <p:spPr>
          <a:xfrm>
            <a:off x="731520" y="37947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Text 10"/>
          <p:cNvSpPr txBox="1"/>
          <p:nvPr/>
        </p:nvSpPr>
        <p:spPr>
          <a:xfrm>
            <a:off x="1508760" y="3794760"/>
            <a:ext cx="9966960" cy="548640"/>
          </a:xfrm>
          <a:prstGeom prst="rect">
            <a:avLst/>
          </a:prstGeom>
          <a:noFill/>
          <a:ln/>
        </p:spPr>
        <p:txBody>
          <a:bodyPr wrap="square" lIns="0" tIns="0" rIns="0" bIns="0" rtlCol="0" anchor="ctr"/>
          <a:lstStyle/>
          <a:p>
            <a:pPr indent="0" marL="0">
              <a:buNone/>
            </a:pPr>
            <a:r>
              <a:rPr lang="en-US" sz="2400" b="1" dirty="0">
                <a:solidFill>
                  <a:srgbClr val="0B3D62"/>
                </a:solidFill>
                <a:latin typeface="Calibri" pitchFamily="34" charset="0"/>
                <a:ea typeface="Calibri" pitchFamily="34" charset="-122"/>
                <a:cs typeface="Calibri" pitchFamily="34" charset="-120"/>
              </a:rPr>
              <a:t>Estudio 3   </a:t>
            </a:r>
            <a:pPr indent="0" marL="0">
              <a:buNone/>
            </a:pPr>
            <a:r>
              <a:rPr lang="en-US" sz="2400" dirty="0">
                <a:solidFill>
                  <a:srgbClr val="0B3D62"/>
                </a:solidFill>
                <a:latin typeface="Calibri" pitchFamily="34" charset="0"/>
                <a:ea typeface="Calibri" pitchFamily="34" charset="-122"/>
                <a:cs typeface="Calibri" pitchFamily="34" charset="-120"/>
              </a:rPr>
              <a:t>¿Sube el precio cuando sube la demanda?</a:t>
            </a:r>
            <a:endParaRPr lang="en-US" sz="2400" dirty="0"/>
          </a:p>
        </p:txBody>
      </p:sp>
      <p:sp>
        <p:nvSpPr>
          <p:cNvPr id="13" name="Shape 11"/>
          <p:cNvSpPr/>
          <p:nvPr/>
        </p:nvSpPr>
        <p:spPr>
          <a:xfrm>
            <a:off x="731520" y="4572000"/>
            <a:ext cx="548640" cy="548640"/>
          </a:xfrm>
          <a:prstGeom prst="ellipse">
            <a:avLst/>
          </a:prstGeom>
          <a:solidFill>
            <a:srgbClr val="0B3D62"/>
          </a:solidFill>
          <a:ln w="12700">
            <a:solidFill>
              <a:srgbClr val="0B3D62"/>
            </a:solidFill>
            <a:prstDash val="solid"/>
          </a:ln>
        </p:spPr>
      </p:sp>
      <p:sp>
        <p:nvSpPr>
          <p:cNvPr id="14" name="Text 12"/>
          <p:cNvSpPr txBox="1"/>
          <p:nvPr/>
        </p:nvSpPr>
        <p:spPr>
          <a:xfrm>
            <a:off x="731520" y="45720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5" name="Text 13"/>
          <p:cNvSpPr txBox="1"/>
          <p:nvPr/>
        </p:nvSpPr>
        <p:spPr>
          <a:xfrm>
            <a:off x="1508760" y="4572000"/>
            <a:ext cx="9966960" cy="548640"/>
          </a:xfrm>
          <a:prstGeom prst="rect">
            <a:avLst/>
          </a:prstGeom>
          <a:noFill/>
          <a:ln/>
        </p:spPr>
        <p:txBody>
          <a:bodyPr wrap="square" lIns="0" tIns="0" rIns="0" bIns="0" rtlCol="0" anchor="ctr"/>
          <a:lstStyle/>
          <a:p>
            <a:pPr indent="0" marL="0">
              <a:buNone/>
            </a:pPr>
            <a:r>
              <a:rPr lang="en-US" sz="2400" b="1" dirty="0">
                <a:solidFill>
                  <a:srgbClr val="0B3D62"/>
                </a:solidFill>
                <a:latin typeface="Calibri" pitchFamily="34" charset="0"/>
                <a:ea typeface="Calibri" pitchFamily="34" charset="-122"/>
                <a:cs typeface="Calibri" pitchFamily="34" charset="-120"/>
              </a:rPr>
              <a:t>Estudio 4   </a:t>
            </a:r>
            <a:pPr indent="0" marL="0">
              <a:buNone/>
            </a:pPr>
            <a:r>
              <a:rPr lang="en-US" sz="2400" dirty="0">
                <a:solidFill>
                  <a:srgbClr val="0B3D62"/>
                </a:solidFill>
                <a:latin typeface="Calibri" pitchFamily="34" charset="0"/>
                <a:ea typeface="Calibri" pitchFamily="34" charset="-122"/>
                <a:cs typeface="Calibri" pitchFamily="34" charset="-120"/>
              </a:rPr>
              <a:t>¿Y dentro de cada región?</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1 de 4</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¿Se consume menos el fin de semana?</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Antes de correr la celda, cómo se marca el fin de semana y cómo se calcula la caída.</a:t>
            </a:r>
            <a:endParaRPr lang="en-US" sz="1400" dirty="0"/>
          </a:p>
        </p:txBody>
      </p:sp>
      <p:pic>
        <p:nvPicPr>
          <p:cNvPr id="6" name="Image 0" descr="../work34/modulos/modulo02/img/lab02_estudio1_finde.png">    </p:cNvPr>
          <p:cNvPicPr>
            <a:picLocks noChangeAspect="1"/>
          </p:cNvPicPr>
          <p:nvPr/>
        </p:nvPicPr>
        <p:blipFill>
          <a:blip r:embed="rId1"/>
          <a:stretch>
            <a:fillRect/>
          </a:stretch>
        </p:blipFill>
        <p:spPr>
          <a:xfrm>
            <a:off x="548640" y="1463040"/>
            <a:ext cx="11091672" cy="3983319"/>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4"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1 de 4</a:t>
            </a:r>
            <a:endParaRPr lang="en-US" sz="1400" dirty="0"/>
          </a:p>
        </p:txBody>
      </p:sp>
      <p:sp>
        <p:nvSpPr>
          <p:cNvPr id="5"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¿Se consume menos el fin de semana?</a:t>
            </a:r>
            <a:endParaRPr lang="en-US" sz="2400" dirty="0"/>
          </a:p>
        </p:txBody>
      </p:sp>
      <p:sp>
        <p:nvSpPr>
          <p:cNvPr id="6"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a:t>
            </a:r>
            <a:endParaRPr lang="en-US" sz="1400" dirty="0"/>
          </a:p>
        </p:txBody>
      </p:sp>
      <p:sp>
        <p:nvSpPr>
          <p:cNvPr id="7" name="Shape 4"/>
          <p:cNvSpPr/>
          <p:nvPr/>
        </p:nvSpPr>
        <p:spPr>
          <a:xfrm>
            <a:off x="548640" y="1481328"/>
            <a:ext cx="11091672" cy="2743200"/>
          </a:xfrm>
          <a:prstGeom prst="roundRect">
            <a:avLst>
              <a:gd name="adj" fmla="val 2000"/>
            </a:avLst>
          </a:prstGeom>
          <a:solidFill>
            <a:srgbClr val="F8F9FA"/>
          </a:solidFill>
          <a:ln w="25400">
            <a:solidFill>
              <a:srgbClr val="F9AB00"/>
            </a:solidFill>
            <a:prstDash val="solid"/>
          </a:ln>
        </p:spPr>
      </p:sp>
      <p:sp>
        <p:nvSpPr>
          <p:cNvPr id="8" name="Shape 5"/>
          <p:cNvSpPr/>
          <p:nvPr/>
        </p:nvSpPr>
        <p:spPr>
          <a:xfrm>
            <a:off x="713232" y="1600200"/>
            <a:ext cx="420624" cy="420624"/>
          </a:xfrm>
          <a:prstGeom prst="ellipse">
            <a:avLst/>
          </a:prstGeom>
          <a:solidFill>
            <a:srgbClr val="F9AB00"/>
          </a:solidFill>
          <a:ln w="12700">
            <a:solidFill>
              <a:srgbClr val="F9AB00"/>
            </a:solidFill>
            <a:prstDash val="solid"/>
          </a:ln>
        </p:spPr>
      </p:sp>
      <p:sp>
        <p:nvSpPr>
          <p:cNvPr id="9" name="Shape 6"/>
          <p:cNvSpPr/>
          <p:nvPr/>
        </p:nvSpPr>
        <p:spPr>
          <a:xfrm rot="5400000">
            <a:off x="850392" y="1719072"/>
            <a:ext cx="182880" cy="182880"/>
          </a:xfrm>
          <a:prstGeom prst="triangle">
            <a:avLst/>
          </a:prstGeom>
          <a:solidFill>
            <a:srgbClr val="FFFFFF"/>
          </a:solidFill>
          <a:ln w="12700">
            <a:solidFill>
              <a:srgbClr val="FFFFFF"/>
            </a:solidFill>
            <a:prstDash val="solid"/>
          </a:ln>
        </p:spPr>
      </p:sp>
      <p:sp>
        <p:nvSpPr>
          <p:cNvPr id="10" name="Text 7"/>
          <p:cNvSpPr txBox="1"/>
          <p:nvPr/>
        </p:nvSpPr>
        <p:spPr>
          <a:xfrm>
            <a:off x="1325880" y="1600200"/>
            <a:ext cx="10085832" cy="2560320"/>
          </a:xfrm>
          <a:prstGeom prst="rect">
            <a:avLst/>
          </a:prstGeom>
          <a:noFill/>
          <a:ln/>
        </p:spPr>
        <p:txBody>
          <a:bodyPr wrap="square" lIns="0" tIns="0" rIns="0" bIns="0" rtlCol="0" anchor="t"/>
          <a:lstStyle/>
          <a:p>
            <a:pPr indent="0" marL="0">
              <a:buNone/>
            </a:pPr>
            <a:r>
              <a:rPr lang="en-US" sz="1300" i="1" dirty="0">
                <a:solidFill>
                  <a:srgbClr val="188038"/>
                </a:solidFill>
                <a:latin typeface="Courier New" pitchFamily="34" charset="0"/>
                <a:ea typeface="Courier New" pitchFamily="34" charset="-122"/>
                <a:cs typeface="Courier New" pitchFamily="34" charset="-120"/>
              </a:rPr>
              <a:t># Estudio 1</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demanda = pd.read_csv(DATOS + </a:t>
            </a:r>
            <a:pPr indent="0" marL="0">
              <a:buNone/>
            </a:pPr>
            <a:r>
              <a:rPr lang="en-US" sz="1300" dirty="0">
                <a:solidFill>
                  <a:srgbClr val="A31515"/>
                </a:solidFill>
                <a:latin typeface="Courier New" pitchFamily="34" charset="0"/>
                <a:ea typeface="Courier New" pitchFamily="34" charset="-122"/>
                <a:cs typeface="Courier New" pitchFamily="34" charset="-120"/>
              </a:rPr>
              <a:t>"demanda.csv"</a:t>
            </a:r>
            <a:pPr indent="0" marL="0">
              <a:buNone/>
            </a:pPr>
            <a:r>
              <a:rPr lang="en-US" sz="1300" dirty="0">
                <a:solidFill>
                  <a:srgbClr val="202124"/>
                </a:solidFill>
                <a:latin typeface="Courier New" pitchFamily="34" charset="0"/>
                <a:ea typeface="Courier New" pitchFamily="34" charset="-122"/>
                <a:cs typeface="Courier New" pitchFamily="34" charset="-120"/>
              </a:rPr>
              <a:t>, parse_dates=[</a:t>
            </a:r>
            <a:pPr indent="0" marL="0">
              <a:buNone/>
            </a:pPr>
            <a:r>
              <a:rPr lang="en-US" sz="1300" dirty="0">
                <a:solidFill>
                  <a:srgbClr val="A31515"/>
                </a:solidFill>
                <a:latin typeface="Courier New" pitchFamily="34" charset="0"/>
                <a:ea typeface="Courier New" pitchFamily="34" charset="-122"/>
                <a:cs typeface="Courier New" pitchFamily="34" charset="-120"/>
              </a:rPr>
              <a:t>"fecha"</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Una columna nueva que dice si cada fila cae en sábado o domingo.</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dayofweek numera los días de 0, lunes, a 6, domingo.</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demanda[</a:t>
            </a:r>
            <a:pPr indent="0" marL="0">
              <a:buNone/>
            </a:pPr>
            <a:r>
              <a:rPr lang="en-US" sz="1300" dirty="0">
                <a:solidFill>
                  <a:srgbClr val="A31515"/>
                </a:solidFill>
                <a:latin typeface="Courier New" pitchFamily="34" charset="0"/>
                <a:ea typeface="Courier New" pitchFamily="34" charset="-122"/>
                <a:cs typeface="Courier New" pitchFamily="34" charset="-120"/>
              </a:rPr>
              <a:t>"es_finde"</a:t>
            </a:r>
            <a:pPr indent="0" marL="0">
              <a:buNone/>
            </a:pPr>
            <a:r>
              <a:rPr lang="en-US" sz="1300" dirty="0">
                <a:solidFill>
                  <a:srgbClr val="202124"/>
                </a:solidFill>
                <a:latin typeface="Courier New" pitchFamily="34" charset="0"/>
                <a:ea typeface="Courier New" pitchFamily="34" charset="-122"/>
                <a:cs typeface="Courier New" pitchFamily="34" charset="-120"/>
              </a:rPr>
              <a:t>] = demanda[</a:t>
            </a:r>
            <a:pPr indent="0" marL="0">
              <a:buNone/>
            </a:pPr>
            <a:r>
              <a:rPr lang="en-US" sz="1300" dirty="0">
                <a:solidFill>
                  <a:srgbClr val="A31515"/>
                </a:solidFill>
                <a:latin typeface="Courier New" pitchFamily="34" charset="0"/>
                <a:ea typeface="Courier New" pitchFamily="34" charset="-122"/>
                <a:cs typeface="Courier New" pitchFamily="34" charset="-120"/>
              </a:rPr>
              <a:t>"fecha"</a:t>
            </a:r>
            <a:pPr indent="0" marL="0">
              <a:buNone/>
            </a:pPr>
            <a:r>
              <a:rPr lang="en-US" sz="1300" dirty="0">
                <a:solidFill>
                  <a:srgbClr val="202124"/>
                </a:solidFill>
                <a:latin typeface="Courier New" pitchFamily="34" charset="0"/>
                <a:ea typeface="Courier New" pitchFamily="34" charset="-122"/>
                <a:cs typeface="Courier New" pitchFamily="34" charset="-120"/>
              </a:rPr>
              <a:t>].dt.dayofweek &gt;= 5</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promedio = demanda.groupby(</a:t>
            </a:r>
            <a:pPr indent="0" marL="0">
              <a:buNone/>
            </a:pPr>
            <a:r>
              <a:rPr lang="en-US" sz="1300" dirty="0">
                <a:solidFill>
                  <a:srgbClr val="A31515"/>
                </a:solidFill>
                <a:latin typeface="Courier New" pitchFamily="34" charset="0"/>
                <a:ea typeface="Courier New" pitchFamily="34" charset="-122"/>
                <a:cs typeface="Courier New" pitchFamily="34" charset="-120"/>
              </a:rPr>
              <a:t>"es_finde"</a:t>
            </a:r>
            <a:pPr indent="0" marL="0">
              <a:buNone/>
            </a:pPr>
            <a:r>
              <a:rPr lang="en-US" sz="1300" dirty="0">
                <a:solidFill>
                  <a:srgbClr val="202124"/>
                </a:solidFill>
                <a:latin typeface="Courier New" pitchFamily="34" charset="0"/>
                <a:ea typeface="Courier New" pitchFamily="34" charset="-122"/>
                <a:cs typeface="Courier New" pitchFamily="34" charset="-120"/>
              </a:rPr>
              <a:t>)[</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].mean()</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print(promedio.round(1))</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caida = 100 * (1 - promedio[True] / promedio[False])</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print(f</a:t>
            </a:r>
            <a:pPr indent="0" marL="0">
              <a:buNone/>
            </a:pPr>
            <a:r>
              <a:rPr lang="en-US" sz="1300" dirty="0">
                <a:solidFill>
                  <a:srgbClr val="A31515"/>
                </a:solidFill>
                <a:latin typeface="Courier New" pitchFamily="34" charset="0"/>
                <a:ea typeface="Courier New" pitchFamily="34" charset="-122"/>
                <a:cs typeface="Courier New" pitchFamily="34" charset="-120"/>
              </a:rPr>
              <a:t>"✓ El fin de semana se consume un {caida:.1f} por ciento menos"</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p:txBody>
      </p:sp>
      <p:sp>
        <p:nvSpPr>
          <p:cNvPr id="11" name="Text 8"/>
          <p:cNvSpPr txBox="1"/>
          <p:nvPr/>
        </p:nvSpPr>
        <p:spPr>
          <a:xfrm>
            <a:off x="1325880" y="4261104"/>
            <a:ext cx="5486400" cy="256032"/>
          </a:xfrm>
          <a:prstGeom prst="rect">
            <a:avLst/>
          </a:prstGeom>
          <a:noFill/>
          <a:ln/>
        </p:spPr>
        <p:txBody>
          <a:bodyPr wrap="square" lIns="0" tIns="0" rIns="0" bIns="0" rtlCol="0" anchor="ctr"/>
          <a:lstStyle/>
          <a:p>
            <a:pPr indent="0" marL="0">
              <a:buNone/>
            </a:pPr>
            <a:r>
              <a:rPr lang="en-US" sz="1200" b="1" dirty="0">
                <a:solidFill>
                  <a:srgbClr val="B06000"/>
                </a:solidFill>
                <a:latin typeface="Calibri" pitchFamily="34" charset="0"/>
                <a:ea typeface="Calibri" pitchFamily="34" charset="-122"/>
                <a:cs typeface="Calibri" pitchFamily="34" charset="-120"/>
              </a:rPr>
              <a:t>Clic en el botón de play para correr la celda</a:t>
            </a:r>
            <a:endParaRPr lang="en-US" sz="1200" dirty="0"/>
          </a:p>
        </p:txBody>
      </p:sp>
      <p:sp>
        <p:nvSpPr>
          <p:cNvPr id="12" name="Text 9"/>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3" name="Shape 10"/>
          <p:cNvSpPr/>
          <p:nvPr/>
        </p:nvSpPr>
        <p:spPr>
          <a:xfrm>
            <a:off x="548640" y="6062472"/>
            <a:ext cx="2002536" cy="566928"/>
          </a:xfrm>
          <a:prstGeom prst="roundRect">
            <a:avLst>
              <a:gd name="adj" fmla="val 11290"/>
            </a:avLst>
          </a:prstGeom>
          <a:solidFill>
            <a:srgbClr val="F1F3F4"/>
          </a:solidFill>
          <a:ln w="12700">
            <a:solidFill>
              <a:srgbClr val="DADCE0"/>
            </a:solidFill>
            <a:prstDash val="solid"/>
          </a:ln>
        </p:spPr>
      </p:sp>
      <p:sp>
        <p:nvSpPr>
          <p:cNvPr id="14" name="Text 11"/>
          <p:cNvSpPr txBox="1"/>
          <p:nvPr/>
        </p:nvSpPr>
        <p:spPr>
          <a:xfrm>
            <a:off x="640080" y="6071616"/>
            <a:ext cx="186537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factor</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serie de 6 valores</a:t>
            </a:r>
            <a:endParaRPr lang="en-US" sz="1200" dirty="0"/>
          </a:p>
        </p:txBody>
      </p:sp>
      <p:sp>
        <p:nvSpPr>
          <p:cNvPr id="15" name="Shape 12"/>
          <p:cNvSpPr/>
          <p:nvPr/>
        </p:nvSpPr>
        <p:spPr>
          <a:xfrm>
            <a:off x="2688336" y="6062472"/>
            <a:ext cx="1330452" cy="566928"/>
          </a:xfrm>
          <a:prstGeom prst="roundRect">
            <a:avLst>
              <a:gd name="adj" fmla="val 11290"/>
            </a:avLst>
          </a:prstGeom>
          <a:solidFill>
            <a:srgbClr val="F1F3F4"/>
          </a:solidFill>
          <a:ln w="12700">
            <a:solidFill>
              <a:srgbClr val="DADCE0"/>
            </a:solidFill>
            <a:prstDash val="solid"/>
          </a:ln>
        </p:spPr>
      </p:sp>
      <p:sp>
        <p:nvSpPr>
          <p:cNvPr id="16" name="Text 13"/>
          <p:cNvSpPr txBox="1"/>
          <p:nvPr/>
        </p:nvSpPr>
        <p:spPr>
          <a:xfrm>
            <a:off x="2779776" y="6071616"/>
            <a:ext cx="119329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cruce</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7 × 6</a:t>
            </a:r>
            <a:endParaRPr lang="en-US" sz="1200" dirty="0"/>
          </a:p>
        </p:txBody>
      </p:sp>
      <p:sp>
        <p:nvSpPr>
          <p:cNvPr id="17" name="Shape 14"/>
          <p:cNvSpPr/>
          <p:nvPr/>
        </p:nvSpPr>
        <p:spPr>
          <a:xfrm>
            <a:off x="4155948" y="6062472"/>
            <a:ext cx="2002536" cy="566928"/>
          </a:xfrm>
          <a:prstGeom prst="roundRect">
            <a:avLst>
              <a:gd name="adj" fmla="val 11290"/>
            </a:avLst>
          </a:prstGeom>
          <a:solidFill>
            <a:srgbClr val="F1F3F4"/>
          </a:solidFill>
          <a:ln w="12700">
            <a:solidFill>
              <a:srgbClr val="DADCE0"/>
            </a:solidFill>
            <a:prstDash val="solid"/>
          </a:ln>
        </p:spPr>
      </p:sp>
      <p:sp>
        <p:nvSpPr>
          <p:cNvPr id="18" name="Text 15"/>
          <p:cNvSpPr txBox="1"/>
          <p:nvPr/>
        </p:nvSpPr>
        <p:spPr>
          <a:xfrm>
            <a:off x="4247388" y="6071616"/>
            <a:ext cx="186537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por_grupo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serie de 7 valores</a:t>
            </a:r>
            <a:endParaRPr lang="en-US" sz="1200" dirty="0"/>
          </a:p>
        </p:txBody>
      </p:sp>
      <p:sp>
        <p:nvSpPr>
          <p:cNvPr id="19" name="Shape 16"/>
          <p:cNvSpPr/>
          <p:nvPr/>
        </p:nvSpPr>
        <p:spPr>
          <a:xfrm>
            <a:off x="6295644" y="6062472"/>
            <a:ext cx="1330452" cy="566928"/>
          </a:xfrm>
          <a:prstGeom prst="roundRect">
            <a:avLst>
              <a:gd name="adj" fmla="val 11290"/>
            </a:avLst>
          </a:prstGeom>
          <a:solidFill>
            <a:srgbClr val="F1F3F4"/>
          </a:solidFill>
          <a:ln w="12700">
            <a:solidFill>
              <a:srgbClr val="DADCE0"/>
            </a:solidFill>
            <a:prstDash val="solid"/>
          </a:ln>
        </p:spPr>
      </p:sp>
      <p:sp>
        <p:nvSpPr>
          <p:cNvPr id="20" name="Text 17"/>
          <p:cNvSpPr txBox="1"/>
          <p:nvPr/>
        </p:nvSpPr>
        <p:spPr>
          <a:xfrm>
            <a:off x="6387084" y="6071616"/>
            <a:ext cx="119329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agrupar_por</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"region"</a:t>
            </a:r>
            <a:endParaRPr lang="en-US" sz="1200" dirty="0"/>
          </a:p>
        </p:txBody>
      </p:sp>
      <p:sp>
        <p:nvSpPr>
          <p:cNvPr id="21" name="Shape 18"/>
          <p:cNvSpPr/>
          <p:nvPr/>
        </p:nvSpPr>
        <p:spPr>
          <a:xfrm>
            <a:off x="7763256" y="6062472"/>
            <a:ext cx="1143000" cy="566928"/>
          </a:xfrm>
          <a:prstGeom prst="roundRect">
            <a:avLst>
              <a:gd name="adj" fmla="val 11290"/>
            </a:avLst>
          </a:prstGeom>
          <a:solidFill>
            <a:srgbClr val="F1F3F4"/>
          </a:solidFill>
          <a:ln w="12700">
            <a:solidFill>
              <a:srgbClr val="DADCE0"/>
            </a:solidFill>
            <a:prstDash val="solid"/>
          </a:ln>
        </p:spPr>
      </p:sp>
      <p:sp>
        <p:nvSpPr>
          <p:cNvPr id="22" name="Text 19"/>
          <p:cNvSpPr txBox="1"/>
          <p:nvPr/>
        </p:nvSpPr>
        <p:spPr>
          <a:xfrm>
            <a:off x="7854696"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total</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4151930</a:t>
            </a:r>
            <a:endParaRPr lang="en-US" sz="1200" dirty="0"/>
          </a:p>
        </p:txBody>
      </p:sp>
      <p:sp>
        <p:nvSpPr>
          <p:cNvPr id="23" name="Text 20"/>
          <p:cNvSpPr txBox="1"/>
          <p:nvPr/>
        </p:nvSpPr>
        <p:spPr>
          <a:xfrm>
            <a:off x="9043416"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8 más</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1 de 4</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¿Se consume menos el fin de semana?</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Cómo se lee esta línea, pieza por pieza</a:t>
            </a:r>
            <a:endParaRPr lang="en-US" sz="1400" dirty="0"/>
          </a:p>
        </p:txBody>
      </p:sp>
      <p:sp>
        <p:nvSpPr>
          <p:cNvPr id="6" name="Shape 4"/>
          <p:cNvSpPr/>
          <p:nvPr/>
        </p:nvSpPr>
        <p:spPr>
          <a:xfrm>
            <a:off x="548640" y="1463040"/>
            <a:ext cx="11091672" cy="482600"/>
          </a:xfrm>
          <a:prstGeom prst="roundRect">
            <a:avLst>
              <a:gd name="adj" fmla="val 11368"/>
            </a:avLst>
          </a:prstGeom>
          <a:solidFill>
            <a:srgbClr val="F8F9FA"/>
          </a:solidFill>
          <a:ln w="12700">
            <a:solidFill>
              <a:srgbClr val="DADCE0"/>
            </a:solidFill>
            <a:prstDash val="solid"/>
          </a:ln>
        </p:spPr>
      </p:sp>
      <p:sp>
        <p:nvSpPr>
          <p:cNvPr id="7" name="Text 5"/>
          <p:cNvSpPr txBox="1"/>
          <p:nvPr/>
        </p:nvSpPr>
        <p:spPr>
          <a:xfrm>
            <a:off x="822960" y="1554480"/>
            <a:ext cx="10634472" cy="345440"/>
          </a:xfrm>
          <a:prstGeom prst="rect">
            <a:avLst/>
          </a:prstGeom>
          <a:noFill/>
          <a:ln/>
        </p:spPr>
        <p:txBody>
          <a:bodyPr wrap="square" lIns="0" tIns="0" rIns="0" bIns="0" rtlCol="0" anchor="ctr"/>
          <a:lstStyle/>
          <a:p>
            <a:pPr indent="0" marL="0">
              <a:buNone/>
            </a:pPr>
            <a:r>
              <a:rPr lang="en-US" sz="1600" dirty="0">
                <a:solidFill>
                  <a:srgbClr val="202124"/>
                </a:solidFill>
                <a:latin typeface="Courier New" pitchFamily="34" charset="0"/>
                <a:ea typeface="Courier New" pitchFamily="34" charset="-122"/>
                <a:cs typeface="Courier New" pitchFamily="34" charset="-120"/>
              </a:rPr>
              <a:t>demanda[</a:t>
            </a:r>
            <a:pPr indent="0" marL="0">
              <a:buNone/>
            </a:pPr>
            <a:r>
              <a:rPr lang="en-US" sz="1600" dirty="0">
                <a:solidFill>
                  <a:srgbClr val="A31515"/>
                </a:solidFill>
                <a:latin typeface="Courier New" pitchFamily="34" charset="0"/>
                <a:ea typeface="Courier New" pitchFamily="34" charset="-122"/>
                <a:cs typeface="Courier New" pitchFamily="34" charset="-120"/>
              </a:rPr>
              <a:t>"es_finde"</a:t>
            </a:r>
            <a:pPr indent="0" marL="0">
              <a:buNone/>
            </a:pPr>
            <a:r>
              <a:rPr lang="en-US" sz="1600" dirty="0">
                <a:solidFill>
                  <a:srgbClr val="202124"/>
                </a:solidFill>
                <a:latin typeface="Courier New" pitchFamily="34" charset="0"/>
                <a:ea typeface="Courier New" pitchFamily="34" charset="-122"/>
                <a:cs typeface="Courier New" pitchFamily="34" charset="-120"/>
              </a:rPr>
              <a:t>] = demanda[</a:t>
            </a:r>
            <a:pPr indent="0" marL="0">
              <a:buNone/>
            </a:pPr>
            <a:r>
              <a:rPr lang="en-US" sz="1600" dirty="0">
                <a:solidFill>
                  <a:srgbClr val="A31515"/>
                </a:solidFill>
                <a:latin typeface="Courier New" pitchFamily="34" charset="0"/>
                <a:ea typeface="Courier New" pitchFamily="34" charset="-122"/>
                <a:cs typeface="Courier New" pitchFamily="34" charset="-120"/>
              </a:rPr>
              <a:t>"fecha"</a:t>
            </a:r>
            <a:pPr indent="0" marL="0">
              <a:buNone/>
            </a:pPr>
            <a:r>
              <a:rPr lang="en-US" sz="1600" dirty="0">
                <a:solidFill>
                  <a:srgbClr val="202124"/>
                </a:solidFill>
                <a:latin typeface="Courier New" pitchFamily="34" charset="0"/>
                <a:ea typeface="Courier New" pitchFamily="34" charset="-122"/>
                <a:cs typeface="Courier New" pitchFamily="34" charset="-120"/>
              </a:rPr>
              <a:t>].dt.dayofweek &gt;= 5</a:t>
            </a:r>
            <a:endParaRPr lang="en-US" sz="1600" dirty="0"/>
          </a:p>
        </p:txBody>
      </p:sp>
      <p:sp>
        <p:nvSpPr>
          <p:cNvPr id="8" name="Shape 6"/>
          <p:cNvSpPr/>
          <p:nvPr/>
        </p:nvSpPr>
        <p:spPr>
          <a:xfrm>
            <a:off x="548640" y="2320544"/>
            <a:ext cx="329184" cy="329184"/>
          </a:xfrm>
          <a:prstGeom prst="ellipse">
            <a:avLst/>
          </a:prstGeom>
          <a:solidFill>
            <a:srgbClr val="1A6FD4"/>
          </a:solidFill>
          <a:ln w="12700">
            <a:solidFill>
              <a:srgbClr val="1A6FD4"/>
            </a:solidFill>
            <a:prstDash val="solid"/>
          </a:ln>
        </p:spPr>
      </p:sp>
      <p:sp>
        <p:nvSpPr>
          <p:cNvPr id="9" name="Text 7"/>
          <p:cNvSpPr txBox="1"/>
          <p:nvPr/>
        </p:nvSpPr>
        <p:spPr>
          <a:xfrm>
            <a:off x="548640" y="232054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Shape 8"/>
          <p:cNvSpPr/>
          <p:nvPr/>
        </p:nvSpPr>
        <p:spPr>
          <a:xfrm>
            <a:off x="1051560" y="2219960"/>
            <a:ext cx="4937760" cy="530352"/>
          </a:xfrm>
          <a:prstGeom prst="roundRect">
            <a:avLst>
              <a:gd name="adj" fmla="val 8621"/>
            </a:avLst>
          </a:prstGeom>
          <a:solidFill>
            <a:srgbClr val="DBE9FB"/>
          </a:solidFill>
          <a:ln w="12700">
            <a:solidFill>
              <a:srgbClr val="DBE9FB"/>
            </a:solidFill>
            <a:prstDash val="solid"/>
          </a:ln>
        </p:spPr>
      </p:sp>
      <p:sp>
        <p:nvSpPr>
          <p:cNvPr id="11" name="Text 9"/>
          <p:cNvSpPr txBox="1"/>
          <p:nvPr/>
        </p:nvSpPr>
        <p:spPr>
          <a:xfrm>
            <a:off x="1170432" y="2219960"/>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demanda["fecha"].dt</a:t>
            </a:r>
            <a:endParaRPr lang="en-US" sz="1400" dirty="0"/>
          </a:p>
        </p:txBody>
      </p:sp>
      <p:sp>
        <p:nvSpPr>
          <p:cNvPr id="12" name="Text 10"/>
          <p:cNvSpPr txBox="1"/>
          <p:nvPr/>
        </p:nvSpPr>
        <p:spPr>
          <a:xfrm>
            <a:off x="6263640" y="2219960"/>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dt abre las herramientas de fecha de la columna.</a:t>
            </a:r>
            <a:endParaRPr lang="en-US" sz="1600" dirty="0"/>
          </a:p>
        </p:txBody>
      </p:sp>
      <p:sp>
        <p:nvSpPr>
          <p:cNvPr id="13" name="Shape 11"/>
          <p:cNvSpPr/>
          <p:nvPr/>
        </p:nvSpPr>
        <p:spPr>
          <a:xfrm>
            <a:off x="548640" y="2997200"/>
            <a:ext cx="329184" cy="329184"/>
          </a:xfrm>
          <a:prstGeom prst="ellipse">
            <a:avLst/>
          </a:prstGeom>
          <a:solidFill>
            <a:srgbClr val="1E8E3E"/>
          </a:solidFill>
          <a:ln w="12700">
            <a:solidFill>
              <a:srgbClr val="1E8E3E"/>
            </a:solidFill>
            <a:prstDash val="solid"/>
          </a:ln>
        </p:spPr>
      </p:sp>
      <p:sp>
        <p:nvSpPr>
          <p:cNvPr id="14" name="Text 12"/>
          <p:cNvSpPr txBox="1"/>
          <p:nvPr/>
        </p:nvSpPr>
        <p:spPr>
          <a:xfrm>
            <a:off x="548640" y="29972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Shape 13"/>
          <p:cNvSpPr/>
          <p:nvPr/>
        </p:nvSpPr>
        <p:spPr>
          <a:xfrm>
            <a:off x="1051560" y="2841752"/>
            <a:ext cx="4937760" cy="640080"/>
          </a:xfrm>
          <a:prstGeom prst="roundRect">
            <a:avLst>
              <a:gd name="adj" fmla="val 7143"/>
            </a:avLst>
          </a:prstGeom>
          <a:solidFill>
            <a:srgbClr val="DCEFE0"/>
          </a:solidFill>
          <a:ln w="12700">
            <a:solidFill>
              <a:srgbClr val="DCEFE0"/>
            </a:solidFill>
            <a:prstDash val="solid"/>
          </a:ln>
        </p:spPr>
      </p:sp>
      <p:sp>
        <p:nvSpPr>
          <p:cNvPr id="16" name="Text 14"/>
          <p:cNvSpPr txBox="1"/>
          <p:nvPr/>
        </p:nvSpPr>
        <p:spPr>
          <a:xfrm>
            <a:off x="1170432" y="2841752"/>
            <a:ext cx="4754880" cy="640080"/>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.dayofweek</a:t>
            </a:r>
            <a:endParaRPr lang="en-US" sz="1400" dirty="0"/>
          </a:p>
        </p:txBody>
      </p:sp>
      <p:sp>
        <p:nvSpPr>
          <p:cNvPr id="17" name="Text 15"/>
          <p:cNvSpPr txBox="1"/>
          <p:nvPr/>
        </p:nvSpPr>
        <p:spPr>
          <a:xfrm>
            <a:off x="6263640" y="2841752"/>
            <a:ext cx="5376672" cy="640080"/>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El día de la semana como número, 0 el lunes y 6 el domingo.</a:t>
            </a:r>
            <a:endParaRPr lang="en-US" sz="1600" dirty="0"/>
          </a:p>
        </p:txBody>
      </p:sp>
      <p:sp>
        <p:nvSpPr>
          <p:cNvPr id="18" name="Shape 16"/>
          <p:cNvSpPr/>
          <p:nvPr/>
        </p:nvSpPr>
        <p:spPr>
          <a:xfrm>
            <a:off x="548640" y="3728720"/>
            <a:ext cx="329184" cy="329184"/>
          </a:xfrm>
          <a:prstGeom prst="ellipse">
            <a:avLst/>
          </a:prstGeom>
          <a:solidFill>
            <a:srgbClr val="B07D00"/>
          </a:solidFill>
          <a:ln w="12700">
            <a:solidFill>
              <a:srgbClr val="B07D00"/>
            </a:solidFill>
            <a:prstDash val="solid"/>
          </a:ln>
        </p:spPr>
      </p:sp>
      <p:sp>
        <p:nvSpPr>
          <p:cNvPr id="19" name="Text 17"/>
          <p:cNvSpPr txBox="1"/>
          <p:nvPr/>
        </p:nvSpPr>
        <p:spPr>
          <a:xfrm>
            <a:off x="548640" y="372872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Shape 18"/>
          <p:cNvSpPr/>
          <p:nvPr/>
        </p:nvSpPr>
        <p:spPr>
          <a:xfrm>
            <a:off x="1051560" y="3573272"/>
            <a:ext cx="4937760" cy="640080"/>
          </a:xfrm>
          <a:prstGeom prst="roundRect">
            <a:avLst>
              <a:gd name="adj" fmla="val 7143"/>
            </a:avLst>
          </a:prstGeom>
          <a:solidFill>
            <a:srgbClr val="FDF0C8"/>
          </a:solidFill>
          <a:ln w="12700">
            <a:solidFill>
              <a:srgbClr val="FDF0C8"/>
            </a:solidFill>
            <a:prstDash val="solid"/>
          </a:ln>
        </p:spPr>
      </p:sp>
      <p:sp>
        <p:nvSpPr>
          <p:cNvPr id="21" name="Text 19"/>
          <p:cNvSpPr txBox="1"/>
          <p:nvPr/>
        </p:nvSpPr>
        <p:spPr>
          <a:xfrm>
            <a:off x="1170432" y="3573272"/>
            <a:ext cx="4754880" cy="640080"/>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&gt;= 5</a:t>
            </a:r>
            <a:endParaRPr lang="en-US" sz="1400" dirty="0"/>
          </a:p>
        </p:txBody>
      </p:sp>
      <p:sp>
        <p:nvSpPr>
          <p:cNvPr id="22" name="Text 20"/>
          <p:cNvSpPr txBox="1"/>
          <p:nvPr/>
        </p:nvSpPr>
        <p:spPr>
          <a:xfrm>
            <a:off x="6263640" y="3573272"/>
            <a:ext cx="5376672" cy="640080"/>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Mayor o igual a 5, o sea sábado o domingo. Verdadero o falso.</a:t>
            </a:r>
            <a:endParaRPr lang="en-US" sz="1600" dirty="0"/>
          </a:p>
        </p:txBody>
      </p:sp>
      <p:sp>
        <p:nvSpPr>
          <p:cNvPr id="23" name="Shape 21"/>
          <p:cNvSpPr/>
          <p:nvPr/>
        </p:nvSpPr>
        <p:spPr>
          <a:xfrm>
            <a:off x="548640" y="4405376"/>
            <a:ext cx="329184" cy="329184"/>
          </a:xfrm>
          <a:prstGeom prst="ellipse">
            <a:avLst/>
          </a:prstGeom>
          <a:solidFill>
            <a:srgbClr val="7B4FC9"/>
          </a:solidFill>
          <a:ln w="12700">
            <a:solidFill>
              <a:srgbClr val="7B4FC9"/>
            </a:solidFill>
            <a:prstDash val="solid"/>
          </a:ln>
        </p:spPr>
      </p:sp>
      <p:sp>
        <p:nvSpPr>
          <p:cNvPr id="24" name="Text 22"/>
          <p:cNvSpPr txBox="1"/>
          <p:nvPr/>
        </p:nvSpPr>
        <p:spPr>
          <a:xfrm>
            <a:off x="548640" y="440537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Shape 23"/>
          <p:cNvSpPr/>
          <p:nvPr/>
        </p:nvSpPr>
        <p:spPr>
          <a:xfrm>
            <a:off x="1051560" y="4304792"/>
            <a:ext cx="4937760" cy="530352"/>
          </a:xfrm>
          <a:prstGeom prst="roundRect">
            <a:avLst>
              <a:gd name="adj" fmla="val 8621"/>
            </a:avLst>
          </a:prstGeom>
          <a:solidFill>
            <a:srgbClr val="ECE2FA"/>
          </a:solidFill>
          <a:ln w="12700">
            <a:solidFill>
              <a:srgbClr val="ECE2FA"/>
            </a:solidFill>
            <a:prstDash val="solid"/>
          </a:ln>
        </p:spPr>
      </p:sp>
      <p:sp>
        <p:nvSpPr>
          <p:cNvPr id="26" name="Text 24"/>
          <p:cNvSpPr txBox="1"/>
          <p:nvPr/>
        </p:nvSpPr>
        <p:spPr>
          <a:xfrm>
            <a:off x="1170432" y="4304792"/>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demanda["es_finde"] =</a:t>
            </a:r>
            <a:endParaRPr lang="en-US" sz="1400" dirty="0"/>
          </a:p>
        </p:txBody>
      </p:sp>
      <p:sp>
        <p:nvSpPr>
          <p:cNvPr id="27" name="Text 25"/>
          <p:cNvSpPr txBox="1"/>
          <p:nvPr/>
        </p:nvSpPr>
        <p:spPr>
          <a:xfrm>
            <a:off x="6263640" y="4304792"/>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Guarda la respuesta en una columna nueva.</a:t>
            </a:r>
            <a:endParaRPr lang="en-US" sz="1600" dirty="0"/>
          </a:p>
        </p:txBody>
      </p:sp>
      <p:sp>
        <p:nvSpPr>
          <p:cNvPr id="28" name="Shape 26"/>
          <p:cNvSpPr/>
          <p:nvPr/>
        </p:nvSpPr>
        <p:spPr>
          <a:xfrm>
            <a:off x="548640" y="5989320"/>
            <a:ext cx="73152" cy="548640"/>
          </a:xfrm>
          <a:prstGeom prst="rect">
            <a:avLst/>
          </a:prstGeom>
          <a:solidFill>
            <a:srgbClr val="0B3D62"/>
          </a:solidFill>
          <a:ln w="12700">
            <a:solidFill>
              <a:srgbClr val="0B3D62"/>
            </a:solidFill>
            <a:prstDash val="solid"/>
          </a:ln>
        </p:spPr>
      </p:sp>
      <p:sp>
        <p:nvSpPr>
          <p:cNvPr id="29" name="Text 27"/>
          <p:cNvSpPr txBox="1"/>
          <p:nvPr/>
        </p:nvSpPr>
        <p:spPr>
          <a:xfrm>
            <a:off x="777240" y="5989320"/>
            <a:ext cx="10863072" cy="548640"/>
          </a:xfrm>
          <a:prstGeom prst="rect">
            <a:avLst/>
          </a:prstGeom>
          <a:noFill/>
          <a:ln/>
        </p:spPr>
        <p:txBody>
          <a:bodyPr wrap="square" lIns="0" tIns="0" rIns="0" bIns="0"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Se lee así  </a:t>
            </a:r>
            <a:pPr indent="0" marL="0">
              <a:buNone/>
            </a:pPr>
            <a:r>
              <a:rPr lang="en-US" sz="1500" dirty="0">
                <a:solidFill>
                  <a:srgbClr val="202124"/>
                </a:solidFill>
                <a:latin typeface="Calibri" pitchFamily="34" charset="0"/>
                <a:ea typeface="Calibri" pitchFamily="34" charset="-122"/>
                <a:cs typeface="Calibri" pitchFamily="34" charset="-120"/>
              </a:rPr>
              <a:t>crea la columna es_finde, verdadera en las filas de sábado o domingo.</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1 de 4</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¿Se consume menos el fin de semana?</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Cómo se lee esta línea, pieza por pieza</a:t>
            </a:r>
            <a:endParaRPr lang="en-US" sz="1400" dirty="0"/>
          </a:p>
        </p:txBody>
      </p:sp>
      <p:sp>
        <p:nvSpPr>
          <p:cNvPr id="6" name="Shape 4"/>
          <p:cNvSpPr/>
          <p:nvPr/>
        </p:nvSpPr>
        <p:spPr>
          <a:xfrm>
            <a:off x="548640" y="1463040"/>
            <a:ext cx="11091672" cy="482600"/>
          </a:xfrm>
          <a:prstGeom prst="roundRect">
            <a:avLst>
              <a:gd name="adj" fmla="val 11368"/>
            </a:avLst>
          </a:prstGeom>
          <a:solidFill>
            <a:srgbClr val="F8F9FA"/>
          </a:solidFill>
          <a:ln w="12700">
            <a:solidFill>
              <a:srgbClr val="DADCE0"/>
            </a:solidFill>
            <a:prstDash val="solid"/>
          </a:ln>
        </p:spPr>
      </p:sp>
      <p:sp>
        <p:nvSpPr>
          <p:cNvPr id="7" name="Text 5"/>
          <p:cNvSpPr txBox="1"/>
          <p:nvPr/>
        </p:nvSpPr>
        <p:spPr>
          <a:xfrm>
            <a:off x="822960" y="1554480"/>
            <a:ext cx="10634472" cy="345440"/>
          </a:xfrm>
          <a:prstGeom prst="rect">
            <a:avLst/>
          </a:prstGeom>
          <a:noFill/>
          <a:ln/>
        </p:spPr>
        <p:txBody>
          <a:bodyPr wrap="square" lIns="0" tIns="0" rIns="0" bIns="0" rtlCol="0" anchor="ctr"/>
          <a:lstStyle/>
          <a:p>
            <a:pPr indent="0" marL="0">
              <a:buNone/>
            </a:pPr>
            <a:r>
              <a:rPr lang="en-US" sz="1600" dirty="0">
                <a:solidFill>
                  <a:srgbClr val="202124"/>
                </a:solidFill>
                <a:latin typeface="Courier New" pitchFamily="34" charset="0"/>
                <a:ea typeface="Courier New" pitchFamily="34" charset="-122"/>
                <a:cs typeface="Courier New" pitchFamily="34" charset="-120"/>
              </a:rPr>
              <a:t>caida = 100 * (1 - promedio[True] / promedio[False])</a:t>
            </a:r>
            <a:endParaRPr lang="en-US" sz="1600" dirty="0"/>
          </a:p>
        </p:txBody>
      </p:sp>
      <p:sp>
        <p:nvSpPr>
          <p:cNvPr id="8" name="Shape 6"/>
          <p:cNvSpPr/>
          <p:nvPr/>
        </p:nvSpPr>
        <p:spPr>
          <a:xfrm>
            <a:off x="548640" y="2375408"/>
            <a:ext cx="329184" cy="329184"/>
          </a:xfrm>
          <a:prstGeom prst="ellipse">
            <a:avLst/>
          </a:prstGeom>
          <a:solidFill>
            <a:srgbClr val="1A6FD4"/>
          </a:solidFill>
          <a:ln w="12700">
            <a:solidFill>
              <a:srgbClr val="1A6FD4"/>
            </a:solidFill>
            <a:prstDash val="solid"/>
          </a:ln>
        </p:spPr>
      </p:sp>
      <p:sp>
        <p:nvSpPr>
          <p:cNvPr id="9" name="Text 7"/>
          <p:cNvSpPr txBox="1"/>
          <p:nvPr/>
        </p:nvSpPr>
        <p:spPr>
          <a:xfrm>
            <a:off x="548640" y="23754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Shape 8"/>
          <p:cNvSpPr/>
          <p:nvPr/>
        </p:nvSpPr>
        <p:spPr>
          <a:xfrm>
            <a:off x="1051560" y="2219960"/>
            <a:ext cx="4937760" cy="640080"/>
          </a:xfrm>
          <a:prstGeom prst="roundRect">
            <a:avLst>
              <a:gd name="adj" fmla="val 7143"/>
            </a:avLst>
          </a:prstGeom>
          <a:solidFill>
            <a:srgbClr val="DBE9FB"/>
          </a:solidFill>
          <a:ln w="12700">
            <a:solidFill>
              <a:srgbClr val="DBE9FB"/>
            </a:solidFill>
            <a:prstDash val="solid"/>
          </a:ln>
        </p:spPr>
      </p:sp>
      <p:sp>
        <p:nvSpPr>
          <p:cNvPr id="11" name="Text 9"/>
          <p:cNvSpPr txBox="1"/>
          <p:nvPr/>
        </p:nvSpPr>
        <p:spPr>
          <a:xfrm>
            <a:off x="1170432" y="2219960"/>
            <a:ext cx="4754880" cy="640080"/>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promedio[True]</a:t>
            </a:r>
            <a:endParaRPr lang="en-US" sz="1400" dirty="0"/>
          </a:p>
        </p:txBody>
      </p:sp>
      <p:sp>
        <p:nvSpPr>
          <p:cNvPr id="12" name="Text 10"/>
          <p:cNvSpPr txBox="1"/>
          <p:nvPr/>
        </p:nvSpPr>
        <p:spPr>
          <a:xfrm>
            <a:off x="6263640" y="2219960"/>
            <a:ext cx="5376672" cy="640080"/>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promedio tiene dos valores, uno para True y otro para False. True es el fin de semana.</a:t>
            </a:r>
            <a:endParaRPr lang="en-US" sz="1600" dirty="0"/>
          </a:p>
        </p:txBody>
      </p:sp>
      <p:sp>
        <p:nvSpPr>
          <p:cNvPr id="13" name="Shape 11"/>
          <p:cNvSpPr/>
          <p:nvPr/>
        </p:nvSpPr>
        <p:spPr>
          <a:xfrm>
            <a:off x="548640" y="3052064"/>
            <a:ext cx="329184" cy="329184"/>
          </a:xfrm>
          <a:prstGeom prst="ellipse">
            <a:avLst/>
          </a:prstGeom>
          <a:solidFill>
            <a:srgbClr val="1E8E3E"/>
          </a:solidFill>
          <a:ln w="12700">
            <a:solidFill>
              <a:srgbClr val="1E8E3E"/>
            </a:solidFill>
            <a:prstDash val="solid"/>
          </a:ln>
        </p:spPr>
      </p:sp>
      <p:sp>
        <p:nvSpPr>
          <p:cNvPr id="14" name="Text 12"/>
          <p:cNvSpPr txBox="1"/>
          <p:nvPr/>
        </p:nvSpPr>
        <p:spPr>
          <a:xfrm>
            <a:off x="548640" y="305206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Shape 13"/>
          <p:cNvSpPr/>
          <p:nvPr/>
        </p:nvSpPr>
        <p:spPr>
          <a:xfrm>
            <a:off x="1051560" y="2951480"/>
            <a:ext cx="4937760" cy="530352"/>
          </a:xfrm>
          <a:prstGeom prst="roundRect">
            <a:avLst>
              <a:gd name="adj" fmla="val 8621"/>
            </a:avLst>
          </a:prstGeom>
          <a:solidFill>
            <a:srgbClr val="DCEFE0"/>
          </a:solidFill>
          <a:ln w="12700">
            <a:solidFill>
              <a:srgbClr val="DCEFE0"/>
            </a:solidFill>
            <a:prstDash val="solid"/>
          </a:ln>
        </p:spPr>
      </p:sp>
      <p:sp>
        <p:nvSpPr>
          <p:cNvPr id="16" name="Text 14"/>
          <p:cNvSpPr txBox="1"/>
          <p:nvPr/>
        </p:nvSpPr>
        <p:spPr>
          <a:xfrm>
            <a:off x="1170432" y="2951480"/>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promedio[False]</a:t>
            </a:r>
            <a:endParaRPr lang="en-US" sz="1400" dirty="0"/>
          </a:p>
        </p:txBody>
      </p:sp>
      <p:sp>
        <p:nvSpPr>
          <p:cNvPr id="17" name="Text 15"/>
          <p:cNvSpPr txBox="1"/>
          <p:nvPr/>
        </p:nvSpPr>
        <p:spPr>
          <a:xfrm>
            <a:off x="6263640" y="2951480"/>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El de los días hábiles.</a:t>
            </a:r>
            <a:endParaRPr lang="en-US" sz="1600" dirty="0"/>
          </a:p>
        </p:txBody>
      </p:sp>
      <p:sp>
        <p:nvSpPr>
          <p:cNvPr id="18" name="Shape 16"/>
          <p:cNvSpPr/>
          <p:nvPr/>
        </p:nvSpPr>
        <p:spPr>
          <a:xfrm>
            <a:off x="548640" y="3728720"/>
            <a:ext cx="329184" cy="329184"/>
          </a:xfrm>
          <a:prstGeom prst="ellipse">
            <a:avLst/>
          </a:prstGeom>
          <a:solidFill>
            <a:srgbClr val="B07D00"/>
          </a:solidFill>
          <a:ln w="12700">
            <a:solidFill>
              <a:srgbClr val="B07D00"/>
            </a:solidFill>
            <a:prstDash val="solid"/>
          </a:ln>
        </p:spPr>
      </p:sp>
      <p:sp>
        <p:nvSpPr>
          <p:cNvPr id="19" name="Text 17"/>
          <p:cNvSpPr txBox="1"/>
          <p:nvPr/>
        </p:nvSpPr>
        <p:spPr>
          <a:xfrm>
            <a:off x="548640" y="372872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Shape 18"/>
          <p:cNvSpPr/>
          <p:nvPr/>
        </p:nvSpPr>
        <p:spPr>
          <a:xfrm>
            <a:off x="1051560" y="3573272"/>
            <a:ext cx="4937760" cy="640080"/>
          </a:xfrm>
          <a:prstGeom prst="roundRect">
            <a:avLst>
              <a:gd name="adj" fmla="val 7143"/>
            </a:avLst>
          </a:prstGeom>
          <a:solidFill>
            <a:srgbClr val="FDF0C8"/>
          </a:solidFill>
          <a:ln w="12700">
            <a:solidFill>
              <a:srgbClr val="FDF0C8"/>
            </a:solidFill>
            <a:prstDash val="solid"/>
          </a:ln>
        </p:spPr>
      </p:sp>
      <p:sp>
        <p:nvSpPr>
          <p:cNvPr id="21" name="Text 19"/>
          <p:cNvSpPr txBox="1"/>
          <p:nvPr/>
        </p:nvSpPr>
        <p:spPr>
          <a:xfrm>
            <a:off x="1170432" y="3573272"/>
            <a:ext cx="4754880" cy="640080"/>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1 - ... / ...</a:t>
            </a:r>
            <a:endParaRPr lang="en-US" sz="1400" dirty="0"/>
          </a:p>
        </p:txBody>
      </p:sp>
      <p:sp>
        <p:nvSpPr>
          <p:cNvPr id="22" name="Text 20"/>
          <p:cNvSpPr txBox="1"/>
          <p:nvPr/>
        </p:nvSpPr>
        <p:spPr>
          <a:xfrm>
            <a:off x="6263640" y="3573272"/>
            <a:ext cx="5376672" cy="640080"/>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Uno menos la proporción entre los dos. Es cuánto baja.</a:t>
            </a:r>
            <a:endParaRPr lang="en-US" sz="1600" dirty="0"/>
          </a:p>
        </p:txBody>
      </p:sp>
      <p:sp>
        <p:nvSpPr>
          <p:cNvPr id="23" name="Shape 21"/>
          <p:cNvSpPr/>
          <p:nvPr/>
        </p:nvSpPr>
        <p:spPr>
          <a:xfrm>
            <a:off x="548640" y="4405376"/>
            <a:ext cx="329184" cy="329184"/>
          </a:xfrm>
          <a:prstGeom prst="ellipse">
            <a:avLst/>
          </a:prstGeom>
          <a:solidFill>
            <a:srgbClr val="7B4FC9"/>
          </a:solidFill>
          <a:ln w="12700">
            <a:solidFill>
              <a:srgbClr val="7B4FC9"/>
            </a:solidFill>
            <a:prstDash val="solid"/>
          </a:ln>
        </p:spPr>
      </p:sp>
      <p:sp>
        <p:nvSpPr>
          <p:cNvPr id="24" name="Text 22"/>
          <p:cNvSpPr txBox="1"/>
          <p:nvPr/>
        </p:nvSpPr>
        <p:spPr>
          <a:xfrm>
            <a:off x="548640" y="440537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Shape 23"/>
          <p:cNvSpPr/>
          <p:nvPr/>
        </p:nvSpPr>
        <p:spPr>
          <a:xfrm>
            <a:off x="1051560" y="4304792"/>
            <a:ext cx="4937760" cy="530352"/>
          </a:xfrm>
          <a:prstGeom prst="roundRect">
            <a:avLst>
              <a:gd name="adj" fmla="val 8621"/>
            </a:avLst>
          </a:prstGeom>
          <a:solidFill>
            <a:srgbClr val="ECE2FA"/>
          </a:solidFill>
          <a:ln w="12700">
            <a:solidFill>
              <a:srgbClr val="ECE2FA"/>
            </a:solidFill>
            <a:prstDash val="solid"/>
          </a:ln>
        </p:spPr>
      </p:sp>
      <p:sp>
        <p:nvSpPr>
          <p:cNvPr id="26" name="Text 24"/>
          <p:cNvSpPr txBox="1"/>
          <p:nvPr/>
        </p:nvSpPr>
        <p:spPr>
          <a:xfrm>
            <a:off x="1170432" y="4304792"/>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100 *</a:t>
            </a:r>
            <a:endParaRPr lang="en-US" sz="1400" dirty="0"/>
          </a:p>
        </p:txBody>
      </p:sp>
      <p:sp>
        <p:nvSpPr>
          <p:cNvPr id="27" name="Text 25"/>
          <p:cNvSpPr txBox="1"/>
          <p:nvPr/>
        </p:nvSpPr>
        <p:spPr>
          <a:xfrm>
            <a:off x="6263640" y="4304792"/>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Lo pasa a porcentaje.</a:t>
            </a:r>
            <a:endParaRPr lang="en-US" sz="1600" dirty="0"/>
          </a:p>
        </p:txBody>
      </p:sp>
      <p:sp>
        <p:nvSpPr>
          <p:cNvPr id="28" name="Shape 26"/>
          <p:cNvSpPr/>
          <p:nvPr/>
        </p:nvSpPr>
        <p:spPr>
          <a:xfrm>
            <a:off x="548640" y="5989320"/>
            <a:ext cx="73152" cy="548640"/>
          </a:xfrm>
          <a:prstGeom prst="rect">
            <a:avLst/>
          </a:prstGeom>
          <a:solidFill>
            <a:srgbClr val="0B3D62"/>
          </a:solidFill>
          <a:ln w="12700">
            <a:solidFill>
              <a:srgbClr val="0B3D62"/>
            </a:solidFill>
            <a:prstDash val="solid"/>
          </a:ln>
        </p:spPr>
      </p:sp>
      <p:sp>
        <p:nvSpPr>
          <p:cNvPr id="29" name="Text 27"/>
          <p:cNvSpPr txBox="1"/>
          <p:nvPr/>
        </p:nvSpPr>
        <p:spPr>
          <a:xfrm>
            <a:off x="777240" y="5989320"/>
            <a:ext cx="10863072" cy="548640"/>
          </a:xfrm>
          <a:prstGeom prst="rect">
            <a:avLst/>
          </a:prstGeom>
          <a:noFill/>
          <a:ln/>
        </p:spPr>
        <p:txBody>
          <a:bodyPr wrap="square" lIns="0" tIns="0" rIns="0" bIns="0"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Se lee así  </a:t>
            </a:r>
            <a:pPr indent="0" marL="0">
              <a:buNone/>
            </a:pPr>
            <a:r>
              <a:rPr lang="en-US" sz="1500" dirty="0">
                <a:solidFill>
                  <a:srgbClr val="202124"/>
                </a:solidFill>
                <a:latin typeface="Calibri" pitchFamily="34" charset="0"/>
                <a:ea typeface="Calibri" pitchFamily="34" charset="-122"/>
                <a:cs typeface="Calibri" pitchFamily="34" charset="-120"/>
              </a:rPr>
              <a:t>cuánto por ciento menos se consume el fin de semana que un día hábil.</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1 de 4</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¿Se consume menos el fin de semana?</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a:t>
            </a:r>
            <a:endParaRPr lang="en-US" sz="1400" dirty="0"/>
          </a:p>
        </p:txBody>
      </p:sp>
      <p:sp>
        <p:nvSpPr>
          <p:cNvPr id="6" name="Shape 4"/>
          <p:cNvSpPr/>
          <p:nvPr/>
        </p:nvSpPr>
        <p:spPr>
          <a:xfrm>
            <a:off x="548640" y="1481328"/>
            <a:ext cx="11091672" cy="2743200"/>
          </a:xfrm>
          <a:prstGeom prst="roundRect">
            <a:avLst>
              <a:gd name="adj" fmla="val 2000"/>
            </a:avLst>
          </a:prstGeom>
          <a:solidFill>
            <a:srgbClr val="F8F9FA"/>
          </a:solidFill>
          <a:ln w="12700">
            <a:solidFill>
              <a:srgbClr val="DADCE0"/>
            </a:solidFill>
            <a:prstDash val="solid"/>
          </a:ln>
        </p:spPr>
      </p:sp>
      <p:sp>
        <p:nvSpPr>
          <p:cNvPr id="7" name="Shape 5"/>
          <p:cNvSpPr/>
          <p:nvPr/>
        </p:nvSpPr>
        <p:spPr>
          <a:xfrm>
            <a:off x="713232" y="1600200"/>
            <a:ext cx="420624" cy="420624"/>
          </a:xfrm>
          <a:prstGeom prst="ellipse">
            <a:avLst/>
          </a:prstGeom>
          <a:solidFill>
            <a:srgbClr val="E8EAED"/>
          </a:solidFill>
          <a:ln w="12700">
            <a:solidFill>
              <a:srgbClr val="E8EAED"/>
            </a:solidFill>
            <a:prstDash val="solid"/>
          </a:ln>
        </p:spPr>
      </p:sp>
      <p:sp>
        <p:nvSpPr>
          <p:cNvPr id="8" name="Shape 6"/>
          <p:cNvSpPr/>
          <p:nvPr/>
        </p:nvSpPr>
        <p:spPr>
          <a:xfrm rot="5400000">
            <a:off x="850392" y="1719072"/>
            <a:ext cx="182880" cy="182880"/>
          </a:xfrm>
          <a:prstGeom prst="triangle">
            <a:avLst/>
          </a:prstGeom>
          <a:solidFill>
            <a:srgbClr val="5F6368"/>
          </a:solidFill>
          <a:ln w="12700">
            <a:solidFill>
              <a:srgbClr val="5F6368"/>
            </a:solidFill>
            <a:prstDash val="solid"/>
          </a:ln>
        </p:spPr>
      </p:sp>
      <p:sp>
        <p:nvSpPr>
          <p:cNvPr id="9" name="Text 7"/>
          <p:cNvSpPr txBox="1"/>
          <p:nvPr/>
        </p:nvSpPr>
        <p:spPr>
          <a:xfrm>
            <a:off x="1325880" y="1600200"/>
            <a:ext cx="10085832" cy="2560320"/>
          </a:xfrm>
          <a:prstGeom prst="rect">
            <a:avLst/>
          </a:prstGeom>
          <a:noFill/>
          <a:ln/>
        </p:spPr>
        <p:txBody>
          <a:bodyPr wrap="square" lIns="0" tIns="0" rIns="0" bIns="0" rtlCol="0" anchor="t"/>
          <a:lstStyle/>
          <a:p>
            <a:pPr indent="0" marL="0">
              <a:buNone/>
            </a:pPr>
            <a:r>
              <a:rPr lang="en-US" sz="1300" i="1" dirty="0">
                <a:solidFill>
                  <a:srgbClr val="188038"/>
                </a:solidFill>
                <a:latin typeface="Courier New" pitchFamily="34" charset="0"/>
                <a:ea typeface="Courier New" pitchFamily="34" charset="-122"/>
                <a:cs typeface="Courier New" pitchFamily="34" charset="-120"/>
              </a:rPr>
              <a:t># Estudio 1</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demanda = pd.read_csv(DATOS + </a:t>
            </a:r>
            <a:pPr indent="0" marL="0">
              <a:buNone/>
            </a:pPr>
            <a:r>
              <a:rPr lang="en-US" sz="1300" dirty="0">
                <a:solidFill>
                  <a:srgbClr val="A31515"/>
                </a:solidFill>
                <a:latin typeface="Courier New" pitchFamily="34" charset="0"/>
                <a:ea typeface="Courier New" pitchFamily="34" charset="-122"/>
                <a:cs typeface="Courier New" pitchFamily="34" charset="-120"/>
              </a:rPr>
              <a:t>"demanda.csv"</a:t>
            </a:r>
            <a:pPr indent="0" marL="0">
              <a:buNone/>
            </a:pPr>
            <a:r>
              <a:rPr lang="en-US" sz="1300" dirty="0">
                <a:solidFill>
                  <a:srgbClr val="202124"/>
                </a:solidFill>
                <a:latin typeface="Courier New" pitchFamily="34" charset="0"/>
                <a:ea typeface="Courier New" pitchFamily="34" charset="-122"/>
                <a:cs typeface="Courier New" pitchFamily="34" charset="-120"/>
              </a:rPr>
              <a:t>, parse_dates=[</a:t>
            </a:r>
            <a:pPr indent="0" marL="0">
              <a:buNone/>
            </a:pPr>
            <a:r>
              <a:rPr lang="en-US" sz="1300" dirty="0">
                <a:solidFill>
                  <a:srgbClr val="A31515"/>
                </a:solidFill>
                <a:latin typeface="Courier New" pitchFamily="34" charset="0"/>
                <a:ea typeface="Courier New" pitchFamily="34" charset="-122"/>
                <a:cs typeface="Courier New" pitchFamily="34" charset="-120"/>
              </a:rPr>
              <a:t>"fecha"</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Una columna nueva que dice si cada fila cae en sábado o domingo.</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dayofweek numera los días de 0, lunes, a 6, domingo.</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demanda[</a:t>
            </a:r>
            <a:pPr indent="0" marL="0">
              <a:buNone/>
            </a:pPr>
            <a:r>
              <a:rPr lang="en-US" sz="1300" dirty="0">
                <a:solidFill>
                  <a:srgbClr val="A31515"/>
                </a:solidFill>
                <a:latin typeface="Courier New" pitchFamily="34" charset="0"/>
                <a:ea typeface="Courier New" pitchFamily="34" charset="-122"/>
                <a:cs typeface="Courier New" pitchFamily="34" charset="-120"/>
              </a:rPr>
              <a:t>"es_finde"</a:t>
            </a:r>
            <a:pPr indent="0" marL="0">
              <a:buNone/>
            </a:pPr>
            <a:r>
              <a:rPr lang="en-US" sz="1300" dirty="0">
                <a:solidFill>
                  <a:srgbClr val="202124"/>
                </a:solidFill>
                <a:latin typeface="Courier New" pitchFamily="34" charset="0"/>
                <a:ea typeface="Courier New" pitchFamily="34" charset="-122"/>
                <a:cs typeface="Courier New" pitchFamily="34" charset="-120"/>
              </a:rPr>
              <a:t>] = demanda[</a:t>
            </a:r>
            <a:pPr indent="0" marL="0">
              <a:buNone/>
            </a:pPr>
            <a:r>
              <a:rPr lang="en-US" sz="1300" dirty="0">
                <a:solidFill>
                  <a:srgbClr val="A31515"/>
                </a:solidFill>
                <a:latin typeface="Courier New" pitchFamily="34" charset="0"/>
                <a:ea typeface="Courier New" pitchFamily="34" charset="-122"/>
                <a:cs typeface="Courier New" pitchFamily="34" charset="-120"/>
              </a:rPr>
              <a:t>"fecha"</a:t>
            </a:r>
            <a:pPr indent="0" marL="0">
              <a:buNone/>
            </a:pPr>
            <a:r>
              <a:rPr lang="en-US" sz="1300" dirty="0">
                <a:solidFill>
                  <a:srgbClr val="202124"/>
                </a:solidFill>
                <a:latin typeface="Courier New" pitchFamily="34" charset="0"/>
                <a:ea typeface="Courier New" pitchFamily="34" charset="-122"/>
                <a:cs typeface="Courier New" pitchFamily="34" charset="-120"/>
              </a:rPr>
              <a:t>].dt.dayofweek &gt;= 5</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promedio = demanda.groupby(</a:t>
            </a:r>
            <a:pPr indent="0" marL="0">
              <a:buNone/>
            </a:pPr>
            <a:r>
              <a:rPr lang="en-US" sz="1300" dirty="0">
                <a:solidFill>
                  <a:srgbClr val="A31515"/>
                </a:solidFill>
                <a:latin typeface="Courier New" pitchFamily="34" charset="0"/>
                <a:ea typeface="Courier New" pitchFamily="34" charset="-122"/>
                <a:cs typeface="Courier New" pitchFamily="34" charset="-120"/>
              </a:rPr>
              <a:t>"es_finde"</a:t>
            </a:r>
            <a:pPr indent="0" marL="0">
              <a:buNone/>
            </a:pPr>
            <a:r>
              <a:rPr lang="en-US" sz="1300" dirty="0">
                <a:solidFill>
                  <a:srgbClr val="202124"/>
                </a:solidFill>
                <a:latin typeface="Courier New" pitchFamily="34" charset="0"/>
                <a:ea typeface="Courier New" pitchFamily="34" charset="-122"/>
                <a:cs typeface="Courier New" pitchFamily="34" charset="-120"/>
              </a:rPr>
              <a:t>)[</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].mean()</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print(promedio.round(1))</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caida = 100 * (1 - promedio[True] / promedio[False])</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print(f</a:t>
            </a:r>
            <a:pPr indent="0" marL="0">
              <a:buNone/>
            </a:pPr>
            <a:r>
              <a:rPr lang="en-US" sz="1300" dirty="0">
                <a:solidFill>
                  <a:srgbClr val="A31515"/>
                </a:solidFill>
                <a:latin typeface="Courier New" pitchFamily="34" charset="0"/>
                <a:ea typeface="Courier New" pitchFamily="34" charset="-122"/>
                <a:cs typeface="Courier New" pitchFamily="34" charset="-120"/>
              </a:rPr>
              <a:t>"✓ El fin de semana se consume un {caida:.1f} por ciento menos"</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p:txBody>
      </p:sp>
      <p:sp>
        <p:nvSpPr>
          <p:cNvPr id="10" name="Shape 8"/>
          <p:cNvSpPr/>
          <p:nvPr/>
        </p:nvSpPr>
        <p:spPr>
          <a:xfrm>
            <a:off x="1325880" y="4334256"/>
            <a:ext cx="10314432" cy="1188720"/>
          </a:xfrm>
          <a:prstGeom prst="rect">
            <a:avLst/>
          </a:prstGeom>
          <a:solidFill>
            <a:srgbClr val="FFFFFF"/>
          </a:solidFill>
          <a:ln w="12700">
            <a:solidFill>
              <a:srgbClr val="DADCE0"/>
            </a:solidFill>
            <a:prstDash val="solid"/>
          </a:ln>
        </p:spPr>
      </p:sp>
      <p:sp>
        <p:nvSpPr>
          <p:cNvPr id="11" name="Text 9"/>
          <p:cNvSpPr txBox="1"/>
          <p:nvPr/>
        </p:nvSpPr>
        <p:spPr>
          <a:xfrm>
            <a:off x="1463040" y="4407408"/>
            <a:ext cx="10085832" cy="1060704"/>
          </a:xfrm>
          <a:prstGeom prst="rect">
            <a:avLst/>
          </a:prstGeom>
          <a:noFill/>
          <a:ln/>
        </p:spPr>
        <p:txBody>
          <a:bodyPr wrap="square" lIns="0" tIns="0" rIns="0" bIns="0" rtlCol="0" anchor="t"/>
          <a:lstStyle/>
          <a:p>
            <a:pPr indent="0" marL="0">
              <a:buNone/>
            </a:pPr>
            <a:r>
              <a:rPr lang="en-US" sz="1200" dirty="0">
                <a:solidFill>
                  <a:srgbClr val="202124"/>
                </a:solidFill>
                <a:latin typeface="Courier New" pitchFamily="34" charset="0"/>
                <a:ea typeface="Courier New" pitchFamily="34" charset="-122"/>
                <a:cs typeface="Courier New" pitchFamily="34" charset="-120"/>
              </a:rPr>
              <a:t>es_finde</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False    231.2</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True     213.1</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Name: mwh, dtype: float64</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 El fin de semana se consume un 7.8 por ciento menos</a:t>
            </a:r>
            <a:endParaRPr lang="en-US" sz="1200" dirty="0"/>
          </a:p>
        </p:txBody>
      </p:sp>
      <p:sp>
        <p:nvSpPr>
          <p:cNvPr id="13" name="Text 10"/>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4" name="Shape 11"/>
          <p:cNvSpPr/>
          <p:nvPr/>
        </p:nvSpPr>
        <p:spPr>
          <a:xfrm>
            <a:off x="548640" y="6062472"/>
            <a:ext cx="2770632" cy="566928"/>
          </a:xfrm>
          <a:prstGeom prst="roundRect">
            <a:avLst>
              <a:gd name="adj" fmla="val 11290"/>
            </a:avLst>
          </a:prstGeom>
          <a:solidFill>
            <a:srgbClr val="E8F0FE"/>
          </a:solidFill>
          <a:ln w="28575">
            <a:solidFill>
              <a:srgbClr val="1A73E8"/>
            </a:solidFill>
            <a:prstDash val="solid"/>
          </a:ln>
        </p:spPr>
      </p:sp>
      <p:sp>
        <p:nvSpPr>
          <p:cNvPr id="15" name="Text 12"/>
          <p:cNvSpPr txBox="1"/>
          <p:nvPr/>
        </p:nvSpPr>
        <p:spPr>
          <a:xfrm>
            <a:off x="640080" y="6071616"/>
            <a:ext cx="263347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DATOS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"https://raw.githubuserco…</a:t>
            </a:r>
            <a:endParaRPr lang="en-US" sz="1200" dirty="0"/>
          </a:p>
        </p:txBody>
      </p:sp>
      <p:sp>
        <p:nvSpPr>
          <p:cNvPr id="16" name="Shape 13"/>
          <p:cNvSpPr/>
          <p:nvPr/>
        </p:nvSpPr>
        <p:spPr>
          <a:xfrm>
            <a:off x="3456432" y="6062472"/>
            <a:ext cx="1143000" cy="566928"/>
          </a:xfrm>
          <a:prstGeom prst="roundRect">
            <a:avLst>
              <a:gd name="adj" fmla="val 11290"/>
            </a:avLst>
          </a:prstGeom>
          <a:solidFill>
            <a:srgbClr val="E8F0FE"/>
          </a:solidFill>
          <a:ln w="28575">
            <a:solidFill>
              <a:srgbClr val="1A73E8"/>
            </a:solidFill>
            <a:prstDash val="solid"/>
          </a:ln>
        </p:spPr>
      </p:sp>
      <p:sp>
        <p:nvSpPr>
          <p:cNvPr id="17" name="Text 14"/>
          <p:cNvSpPr txBox="1"/>
          <p:nvPr/>
        </p:nvSpPr>
        <p:spPr>
          <a:xfrm>
            <a:off x="3547872"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pandas</a:t>
            </a:r>
            <a:endParaRPr lang="en-US" sz="1200" dirty="0"/>
          </a:p>
        </p:txBody>
      </p:sp>
      <p:sp>
        <p:nvSpPr>
          <p:cNvPr id="18" name="Shape 15"/>
          <p:cNvSpPr/>
          <p:nvPr/>
        </p:nvSpPr>
        <p:spPr>
          <a:xfrm>
            <a:off x="4736592" y="6062472"/>
            <a:ext cx="1714500" cy="566928"/>
          </a:xfrm>
          <a:prstGeom prst="roundRect">
            <a:avLst>
              <a:gd name="adj" fmla="val 11290"/>
            </a:avLst>
          </a:prstGeom>
          <a:solidFill>
            <a:srgbClr val="FEF3D6"/>
          </a:solidFill>
          <a:ln w="25400">
            <a:solidFill>
              <a:srgbClr val="F9AB00"/>
            </a:solidFill>
            <a:prstDash val="solid"/>
          </a:ln>
        </p:spPr>
      </p:sp>
      <p:sp>
        <p:nvSpPr>
          <p:cNvPr id="19" name="Text 16"/>
          <p:cNvSpPr txBox="1"/>
          <p:nvPr/>
        </p:nvSpPr>
        <p:spPr>
          <a:xfrm>
            <a:off x="4828032" y="6071616"/>
            <a:ext cx="15773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demanda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61488 × 5</a:t>
            </a:r>
            <a:endParaRPr lang="en-US" sz="1200" dirty="0"/>
          </a:p>
        </p:txBody>
      </p:sp>
      <p:sp>
        <p:nvSpPr>
          <p:cNvPr id="20" name="Shape 17"/>
          <p:cNvSpPr/>
          <p:nvPr/>
        </p:nvSpPr>
        <p:spPr>
          <a:xfrm>
            <a:off x="6588252" y="6062472"/>
            <a:ext cx="2002536" cy="566928"/>
          </a:xfrm>
          <a:prstGeom prst="roundRect">
            <a:avLst>
              <a:gd name="adj" fmla="val 11290"/>
            </a:avLst>
          </a:prstGeom>
          <a:solidFill>
            <a:srgbClr val="FEF3D6"/>
          </a:solidFill>
          <a:ln w="25400">
            <a:solidFill>
              <a:srgbClr val="F9AB00"/>
            </a:solidFill>
            <a:prstDash val="solid"/>
          </a:ln>
        </p:spPr>
      </p:sp>
      <p:sp>
        <p:nvSpPr>
          <p:cNvPr id="21" name="Text 18"/>
          <p:cNvSpPr txBox="1"/>
          <p:nvPr/>
        </p:nvSpPr>
        <p:spPr>
          <a:xfrm>
            <a:off x="6679692" y="6071616"/>
            <a:ext cx="186537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promedio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serie de 2 valores</a:t>
            </a:r>
            <a:endParaRPr lang="en-US" sz="1200" dirty="0"/>
          </a:p>
        </p:txBody>
      </p:sp>
      <p:sp>
        <p:nvSpPr>
          <p:cNvPr id="22" name="Shape 19"/>
          <p:cNvSpPr/>
          <p:nvPr/>
        </p:nvSpPr>
        <p:spPr>
          <a:xfrm>
            <a:off x="8727948" y="6062472"/>
            <a:ext cx="1143000" cy="566928"/>
          </a:xfrm>
          <a:prstGeom prst="roundRect">
            <a:avLst>
              <a:gd name="adj" fmla="val 11290"/>
            </a:avLst>
          </a:prstGeom>
          <a:solidFill>
            <a:srgbClr val="FEF3D6"/>
          </a:solidFill>
          <a:ln w="25400">
            <a:solidFill>
              <a:srgbClr val="F9AB00"/>
            </a:solidFill>
            <a:prstDash val="solid"/>
          </a:ln>
        </p:spPr>
      </p:sp>
      <p:sp>
        <p:nvSpPr>
          <p:cNvPr id="23" name="Text 20"/>
          <p:cNvSpPr txBox="1"/>
          <p:nvPr/>
        </p:nvSpPr>
        <p:spPr>
          <a:xfrm>
            <a:off x="8819388"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caida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7.82…</a:t>
            </a:r>
            <a:endParaRPr lang="en-US" sz="1200" dirty="0"/>
          </a:p>
        </p:txBody>
      </p:sp>
      <p:sp>
        <p:nvSpPr>
          <p:cNvPr id="24" name="Text 21"/>
          <p:cNvSpPr txBox="1"/>
          <p:nvPr/>
        </p:nvSpPr>
        <p:spPr>
          <a:xfrm>
            <a:off x="10008108"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11 más</a:t>
            </a:r>
            <a:endParaRPr lang="en-US" sz="1200" dirty="0"/>
          </a:p>
        </p:txBody>
      </p:sp>
      <p:sp>
        <p:nvSpPr>
          <p:cNvPr id="25" name="Text 22"/>
          <p:cNvSpPr txBox="1"/>
          <p:nvPr/>
        </p:nvSpPr>
        <p:spPr>
          <a:xfrm>
            <a:off x="548640" y="6638544"/>
            <a:ext cx="11091672" cy="237744"/>
          </a:xfrm>
          <a:prstGeom prst="rect">
            <a:avLst/>
          </a:prstGeom>
          <a:noFill/>
          <a:ln/>
        </p:spPr>
        <p:txBody>
          <a:bodyPr wrap="square" lIns="0" tIns="0" rIns="0" bIns="0" rtlCol="0" anchor="ctr"/>
          <a:lstStyle/>
          <a:p>
            <a:pPr indent="0" marL="0">
              <a:buNone/>
            </a:pPr>
            <a:r>
              <a:rPr lang="en-US" sz="1300" i="1" dirty="0">
                <a:solidFill>
                  <a:srgbClr val="0B3D62"/>
                </a:solidFill>
                <a:latin typeface="Calibri" pitchFamily="34" charset="0"/>
                <a:ea typeface="Calibri" pitchFamily="34" charset="-122"/>
                <a:cs typeface="Calibri" pitchFamily="34" charset="-120"/>
              </a:rPr>
              <a:t>El fin de semana se consume cerca de un 8 por ciento menos.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1 de 4</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¿Se consume menos el fin de semana?</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 que hay que llevarse de este paso.</a:t>
            </a:r>
            <a:endParaRPr lang="en-US" sz="1400" dirty="0"/>
          </a:p>
        </p:txBody>
      </p:sp>
      <p:sp>
        <p:nvSpPr>
          <p:cNvPr id="7" name="Shape 4"/>
          <p:cNvSpPr/>
          <p:nvPr/>
        </p:nvSpPr>
        <p:spPr>
          <a:xfrm>
            <a:off x="548640" y="1828800"/>
            <a:ext cx="11091672" cy="2377440"/>
          </a:xfrm>
          <a:prstGeom prst="roundRect">
            <a:avLst>
              <a:gd name="adj" fmla="val 3846"/>
            </a:avLst>
          </a:prstGeom>
          <a:solidFill>
            <a:srgbClr val="FFF8D6"/>
          </a:solidFill>
          <a:ln w="12700">
            <a:solidFill>
              <a:srgbClr val="FFF8D6"/>
            </a:solidFill>
            <a:prstDash val="solid"/>
          </a:ln>
        </p:spPr>
      </p:sp>
      <p:sp>
        <p:nvSpPr>
          <p:cNvPr id="8" name="Text 5"/>
          <p:cNvSpPr txBox="1"/>
          <p:nvPr/>
        </p:nvSpPr>
        <p:spPr>
          <a:xfrm>
            <a:off x="1005840" y="2057400"/>
            <a:ext cx="10177272" cy="1005840"/>
          </a:xfrm>
          <a:prstGeom prst="rect">
            <a:avLst/>
          </a:prstGeom>
          <a:noFill/>
          <a:ln/>
        </p:spPr>
        <p:txBody>
          <a:bodyPr wrap="square" lIns="0" tIns="0" rIns="0" bIns="0" rtlCol="0" anchor="t"/>
          <a:lstStyle/>
          <a:p>
            <a:pPr indent="0" marL="0">
              <a:buNone/>
            </a:pPr>
            <a:r>
              <a:rPr lang="en-US" sz="2800" b="1" dirty="0">
                <a:solidFill>
                  <a:srgbClr val="8A6D00"/>
                </a:solidFill>
                <a:latin typeface="Calibri" pitchFamily="34" charset="0"/>
                <a:ea typeface="Calibri" pitchFamily="34" charset="-122"/>
                <a:cs typeface="Calibri" pitchFamily="34" charset="-120"/>
              </a:rPr>
              <a:t>Una condición sobre una columna crea una columna de True y False.</a:t>
            </a:r>
            <a:endParaRPr lang="en-US" sz="2800" dirty="0"/>
          </a:p>
        </p:txBody>
      </p:sp>
      <p:sp>
        <p:nvSpPr>
          <p:cNvPr id="9" name="Text 6"/>
          <p:cNvSpPr txBox="1"/>
          <p:nvPr/>
        </p:nvSpPr>
        <p:spPr>
          <a:xfrm>
            <a:off x="1005840" y="3154680"/>
            <a:ext cx="10177272" cy="914400"/>
          </a:xfrm>
          <a:prstGeom prst="rect">
            <a:avLst/>
          </a:prstGeom>
          <a:noFill/>
          <a:ln/>
        </p:spPr>
        <p:txBody>
          <a:bodyPr wrap="square" lIns="0" tIns="0" rIns="0" bIns="0" rtlCol="0" anchor="t"/>
          <a:lstStyle/>
          <a:p>
            <a:pPr indent="0" marL="0">
              <a:buNone/>
            </a:pPr>
            <a:r>
              <a:rPr lang="en-US" sz="2200" dirty="0">
                <a:solidFill>
                  <a:srgbClr val="202124"/>
                </a:solidFill>
                <a:latin typeface="Calibri" pitchFamily="34" charset="0"/>
                <a:ea typeface="Calibri" pitchFamily="34" charset="-122"/>
                <a:cs typeface="Calibri" pitchFamily="34" charset="-120"/>
              </a:rPr>
              <a:t>Después se puede agrupar por ella, como por cualquier otra columna.</a:t>
            </a:r>
            <a:endParaRPr lang="en-US" sz="2200" dirty="0"/>
          </a:p>
        </p:txBody>
      </p:sp>
      <p:sp>
        <p:nvSpPr>
          <p:cNvPr id="10" name="Text 7"/>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1" name="Shape 8"/>
          <p:cNvSpPr/>
          <p:nvPr/>
        </p:nvSpPr>
        <p:spPr>
          <a:xfrm>
            <a:off x="548640" y="6062472"/>
            <a:ext cx="2770632" cy="566928"/>
          </a:xfrm>
          <a:prstGeom prst="roundRect">
            <a:avLst>
              <a:gd name="adj" fmla="val 11290"/>
            </a:avLst>
          </a:prstGeom>
          <a:solidFill>
            <a:srgbClr val="E8F0FE"/>
          </a:solidFill>
          <a:ln w="28575">
            <a:solidFill>
              <a:srgbClr val="1A73E8"/>
            </a:solidFill>
            <a:prstDash val="solid"/>
          </a:ln>
        </p:spPr>
      </p:sp>
      <p:sp>
        <p:nvSpPr>
          <p:cNvPr id="12" name="Text 9"/>
          <p:cNvSpPr txBox="1"/>
          <p:nvPr/>
        </p:nvSpPr>
        <p:spPr>
          <a:xfrm>
            <a:off x="640080" y="6071616"/>
            <a:ext cx="263347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DATOS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"https://raw.githubuserco…</a:t>
            </a:r>
            <a:endParaRPr lang="en-US" sz="1200" dirty="0"/>
          </a:p>
        </p:txBody>
      </p:sp>
      <p:sp>
        <p:nvSpPr>
          <p:cNvPr id="13" name="Shape 10"/>
          <p:cNvSpPr/>
          <p:nvPr/>
        </p:nvSpPr>
        <p:spPr>
          <a:xfrm>
            <a:off x="3456432" y="6062472"/>
            <a:ext cx="1143000" cy="566928"/>
          </a:xfrm>
          <a:prstGeom prst="roundRect">
            <a:avLst>
              <a:gd name="adj" fmla="val 11290"/>
            </a:avLst>
          </a:prstGeom>
          <a:solidFill>
            <a:srgbClr val="E8F0FE"/>
          </a:solidFill>
          <a:ln w="28575">
            <a:solidFill>
              <a:srgbClr val="1A73E8"/>
            </a:solidFill>
            <a:prstDash val="solid"/>
          </a:ln>
        </p:spPr>
      </p:sp>
      <p:sp>
        <p:nvSpPr>
          <p:cNvPr id="14" name="Text 11"/>
          <p:cNvSpPr txBox="1"/>
          <p:nvPr/>
        </p:nvSpPr>
        <p:spPr>
          <a:xfrm>
            <a:off x="3547872"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pandas</a:t>
            </a:r>
            <a:endParaRPr lang="en-US" sz="1200" dirty="0"/>
          </a:p>
        </p:txBody>
      </p:sp>
      <p:sp>
        <p:nvSpPr>
          <p:cNvPr id="15" name="Shape 12"/>
          <p:cNvSpPr/>
          <p:nvPr/>
        </p:nvSpPr>
        <p:spPr>
          <a:xfrm>
            <a:off x="4736592" y="6062472"/>
            <a:ext cx="1714500" cy="566928"/>
          </a:xfrm>
          <a:prstGeom prst="roundRect">
            <a:avLst>
              <a:gd name="adj" fmla="val 11290"/>
            </a:avLst>
          </a:prstGeom>
          <a:solidFill>
            <a:srgbClr val="FEF3D6"/>
          </a:solidFill>
          <a:ln w="25400">
            <a:solidFill>
              <a:srgbClr val="F9AB00"/>
            </a:solidFill>
            <a:prstDash val="solid"/>
          </a:ln>
        </p:spPr>
      </p:sp>
      <p:sp>
        <p:nvSpPr>
          <p:cNvPr id="16" name="Text 13"/>
          <p:cNvSpPr txBox="1"/>
          <p:nvPr/>
        </p:nvSpPr>
        <p:spPr>
          <a:xfrm>
            <a:off x="4828032" y="6071616"/>
            <a:ext cx="15773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demanda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61488 × 5</a:t>
            </a:r>
            <a:endParaRPr lang="en-US" sz="1200" dirty="0"/>
          </a:p>
        </p:txBody>
      </p:sp>
      <p:sp>
        <p:nvSpPr>
          <p:cNvPr id="17" name="Shape 14"/>
          <p:cNvSpPr/>
          <p:nvPr/>
        </p:nvSpPr>
        <p:spPr>
          <a:xfrm>
            <a:off x="6588252" y="6062472"/>
            <a:ext cx="2002536" cy="566928"/>
          </a:xfrm>
          <a:prstGeom prst="roundRect">
            <a:avLst>
              <a:gd name="adj" fmla="val 11290"/>
            </a:avLst>
          </a:prstGeom>
          <a:solidFill>
            <a:srgbClr val="FEF3D6"/>
          </a:solidFill>
          <a:ln w="25400">
            <a:solidFill>
              <a:srgbClr val="F9AB00"/>
            </a:solidFill>
            <a:prstDash val="solid"/>
          </a:ln>
        </p:spPr>
      </p:sp>
      <p:sp>
        <p:nvSpPr>
          <p:cNvPr id="18" name="Text 15"/>
          <p:cNvSpPr txBox="1"/>
          <p:nvPr/>
        </p:nvSpPr>
        <p:spPr>
          <a:xfrm>
            <a:off x="6679692" y="6071616"/>
            <a:ext cx="186537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promedio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serie de 2 valores</a:t>
            </a:r>
            <a:endParaRPr lang="en-US" sz="1200" dirty="0"/>
          </a:p>
        </p:txBody>
      </p:sp>
      <p:sp>
        <p:nvSpPr>
          <p:cNvPr id="19" name="Shape 16"/>
          <p:cNvSpPr/>
          <p:nvPr/>
        </p:nvSpPr>
        <p:spPr>
          <a:xfrm>
            <a:off x="8727948" y="6062472"/>
            <a:ext cx="1143000" cy="566928"/>
          </a:xfrm>
          <a:prstGeom prst="roundRect">
            <a:avLst>
              <a:gd name="adj" fmla="val 11290"/>
            </a:avLst>
          </a:prstGeom>
          <a:solidFill>
            <a:srgbClr val="FEF3D6"/>
          </a:solidFill>
          <a:ln w="25400">
            <a:solidFill>
              <a:srgbClr val="F9AB00"/>
            </a:solidFill>
            <a:prstDash val="solid"/>
          </a:ln>
        </p:spPr>
      </p:sp>
      <p:sp>
        <p:nvSpPr>
          <p:cNvPr id="20" name="Text 17"/>
          <p:cNvSpPr txBox="1"/>
          <p:nvPr/>
        </p:nvSpPr>
        <p:spPr>
          <a:xfrm>
            <a:off x="8819388"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caida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7.82…</a:t>
            </a:r>
            <a:endParaRPr lang="en-US" sz="1200" dirty="0"/>
          </a:p>
        </p:txBody>
      </p:sp>
      <p:sp>
        <p:nvSpPr>
          <p:cNvPr id="21" name="Text 18"/>
          <p:cNvSpPr txBox="1"/>
          <p:nvPr/>
        </p:nvSpPr>
        <p:spPr>
          <a:xfrm>
            <a:off x="10008108"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11 más</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2 de 4</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resume con varios cálculos</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Antes de correr la celda, qué hace agg con un ejemplo de siete filas.</a:t>
            </a:r>
            <a:endParaRPr lang="en-US" sz="1400" dirty="0"/>
          </a:p>
        </p:txBody>
      </p:sp>
      <p:pic>
        <p:nvPicPr>
          <p:cNvPr id="6" name="Image 0" descr="../work34/modulos/modulo02/img/lab02_paso5_agg.png">    </p:cNvPr>
          <p:cNvPicPr>
            <a:picLocks noChangeAspect="1"/>
          </p:cNvPicPr>
          <p:nvPr/>
        </p:nvPicPr>
        <p:blipFill>
          <a:blip r:embed="rId1"/>
          <a:stretch>
            <a:fillRect/>
          </a:stretch>
        </p:blipFill>
        <p:spPr>
          <a:xfrm>
            <a:off x="644329" y="1463040"/>
            <a:ext cx="10900294" cy="461772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4"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2 de 4</a:t>
            </a:r>
            <a:endParaRPr lang="en-US" sz="1400" dirty="0"/>
          </a:p>
        </p:txBody>
      </p:sp>
      <p:sp>
        <p:nvSpPr>
          <p:cNvPr id="5"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resume con varios cálculos</a:t>
            </a:r>
            <a:endParaRPr lang="en-US" sz="2400" dirty="0"/>
          </a:p>
        </p:txBody>
      </p:sp>
      <p:sp>
        <p:nvSpPr>
          <p:cNvPr id="6"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Elige cómo agrupar en la lista y vuelve a correr la celda.</a:t>
            </a:r>
            <a:endParaRPr lang="en-US" sz="1400" dirty="0"/>
          </a:p>
        </p:txBody>
      </p:sp>
      <p:sp>
        <p:nvSpPr>
          <p:cNvPr id="7" name="Shape 4"/>
          <p:cNvSpPr/>
          <p:nvPr/>
        </p:nvSpPr>
        <p:spPr>
          <a:xfrm>
            <a:off x="548640" y="1481328"/>
            <a:ext cx="11091672" cy="2537460"/>
          </a:xfrm>
          <a:prstGeom prst="roundRect">
            <a:avLst>
              <a:gd name="adj" fmla="val 2162"/>
            </a:avLst>
          </a:prstGeom>
          <a:solidFill>
            <a:srgbClr val="F8F9FA"/>
          </a:solidFill>
          <a:ln w="25400">
            <a:solidFill>
              <a:srgbClr val="F9AB00"/>
            </a:solidFill>
            <a:prstDash val="solid"/>
          </a:ln>
        </p:spPr>
      </p:sp>
      <p:sp>
        <p:nvSpPr>
          <p:cNvPr id="8" name="Shape 5"/>
          <p:cNvSpPr/>
          <p:nvPr/>
        </p:nvSpPr>
        <p:spPr>
          <a:xfrm>
            <a:off x="713232" y="1600200"/>
            <a:ext cx="420624" cy="420624"/>
          </a:xfrm>
          <a:prstGeom prst="ellipse">
            <a:avLst/>
          </a:prstGeom>
          <a:solidFill>
            <a:srgbClr val="F9AB00"/>
          </a:solidFill>
          <a:ln w="12700">
            <a:solidFill>
              <a:srgbClr val="F9AB00"/>
            </a:solidFill>
            <a:prstDash val="solid"/>
          </a:ln>
        </p:spPr>
      </p:sp>
      <p:sp>
        <p:nvSpPr>
          <p:cNvPr id="9" name="Shape 6"/>
          <p:cNvSpPr/>
          <p:nvPr/>
        </p:nvSpPr>
        <p:spPr>
          <a:xfrm rot="5400000">
            <a:off x="850392" y="1719072"/>
            <a:ext cx="182880" cy="182880"/>
          </a:xfrm>
          <a:prstGeom prst="triangle">
            <a:avLst/>
          </a:prstGeom>
          <a:solidFill>
            <a:srgbClr val="FFFFFF"/>
          </a:solidFill>
          <a:ln w="12700">
            <a:solidFill>
              <a:srgbClr val="FFFFFF"/>
            </a:solidFill>
            <a:prstDash val="solid"/>
          </a:ln>
        </p:spPr>
      </p:sp>
      <p:sp>
        <p:nvSpPr>
          <p:cNvPr id="10" name="Text 7"/>
          <p:cNvSpPr txBox="1"/>
          <p:nvPr/>
        </p:nvSpPr>
        <p:spPr>
          <a:xfrm>
            <a:off x="1325880" y="1600200"/>
            <a:ext cx="7360920" cy="2354580"/>
          </a:xfrm>
          <a:prstGeom prst="rect">
            <a:avLst/>
          </a:prstGeom>
          <a:noFill/>
          <a:ln/>
        </p:spPr>
        <p:txBody>
          <a:bodyPr wrap="square" lIns="0" tIns="0" rIns="0" bIns="0" rtlCol="0" anchor="t"/>
          <a:lstStyle/>
          <a:p>
            <a:pPr indent="0" marL="0">
              <a:buNone/>
            </a:pPr>
            <a:r>
              <a:rPr lang="en-US" sz="1300" i="1" dirty="0">
                <a:solidFill>
                  <a:srgbClr val="188038"/>
                </a:solidFill>
                <a:latin typeface="Courier New" pitchFamily="34" charset="0"/>
                <a:ea typeface="Courier New" pitchFamily="34" charset="-122"/>
                <a:cs typeface="Courier New" pitchFamily="34" charset="-120"/>
              </a:rPr>
              <a:t># Estudio 2</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agrupar_por = </a:t>
            </a:r>
            <a:pPr indent="0" marL="0">
              <a:buNone/>
            </a:pPr>
            <a:r>
              <a:rPr lang="en-US" sz="1300" dirty="0">
                <a:solidFill>
                  <a:srgbClr val="A31515"/>
                </a:solidFill>
                <a:latin typeface="Courier New" pitchFamily="34" charset="0"/>
                <a:ea typeface="Courier New" pitchFamily="34" charset="-122"/>
                <a:cs typeface="Courier New" pitchFamily="34" charset="-120"/>
              </a:rPr>
              <a:t>"tecnologia"</a:t>
            </a:r>
            <a:pPr indent="0" marL="0">
              <a:buNone/>
            </a:pPr>
            <a:r>
              <a:rPr lang="en-US" sz="1300" dirty="0">
                <a:solidFill>
                  <a:srgbClr val="202124"/>
                </a:solidFill>
                <a:latin typeface="Courier New" pitchFamily="34" charset="0"/>
                <a:ea typeface="Courier New" pitchFamily="34" charset="-122"/>
                <a:cs typeface="Courier New" pitchFamily="34" charset="-120"/>
              </a:rPr>
              <a:t> </a:t>
            </a:r>
            <a:pPr indent="0" marL="0">
              <a:buNone/>
            </a:pPr>
            <a:r>
              <a:rPr lang="en-US" sz="1300" dirty="0">
                <a:solidFill>
                  <a:srgbClr val="80868B"/>
                </a:solidFill>
                <a:latin typeface="Courier New" pitchFamily="34" charset="0"/>
                <a:ea typeface="Courier New" pitchFamily="34" charset="-122"/>
                <a:cs typeface="Courier New" pitchFamily="34" charset="-120"/>
              </a:rPr>
              <a:t>#@param ["tecnologia", "region"]</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Cada línea es una columna del resumen. A la izquierda el nombre,</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a la derecha la columna y el cálculo.</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resumen = gen.groupby(agrupar_por).agg(</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total_mwh=(</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 </a:t>
            </a:r>
            <a:pPr indent="0" marL="0">
              <a:buNone/>
            </a:pPr>
            <a:r>
              <a:rPr lang="en-US" sz="1300" dirty="0">
                <a:solidFill>
                  <a:srgbClr val="A31515"/>
                </a:solidFill>
                <a:latin typeface="Courier New" pitchFamily="34" charset="0"/>
                <a:ea typeface="Courier New" pitchFamily="34" charset="-122"/>
                <a:cs typeface="Courier New" pitchFamily="34" charset="-120"/>
              </a:rPr>
              <a:t>"sum"</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promedio_hora=(</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 </a:t>
            </a:r>
            <a:pPr indent="0" marL="0">
              <a:buNone/>
            </a:pPr>
            <a:r>
              <a:rPr lang="en-US" sz="1300" dirty="0">
                <a:solidFill>
                  <a:srgbClr val="A31515"/>
                </a:solidFill>
                <a:latin typeface="Courier New" pitchFamily="34" charset="0"/>
                <a:ea typeface="Courier New" pitchFamily="34" charset="-122"/>
                <a:cs typeface="Courier New" pitchFamily="34" charset="-120"/>
              </a:rPr>
              <a:t>"mean"</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centrales=(</a:t>
            </a:r>
            <a:pPr indent="0" marL="0">
              <a:buNone/>
            </a:pPr>
            <a:r>
              <a:rPr lang="en-US" sz="1300" dirty="0">
                <a:solidFill>
                  <a:srgbClr val="A31515"/>
                </a:solidFill>
                <a:latin typeface="Courier New" pitchFamily="34" charset="0"/>
                <a:ea typeface="Courier New" pitchFamily="34" charset="-122"/>
                <a:cs typeface="Courier New" pitchFamily="34" charset="-120"/>
              </a:rPr>
              <a:t>"central"</a:t>
            </a:r>
            <a:pPr indent="0" marL="0">
              <a:buNone/>
            </a:pPr>
            <a:r>
              <a:rPr lang="en-US" sz="1300" dirty="0">
                <a:solidFill>
                  <a:srgbClr val="202124"/>
                </a:solidFill>
                <a:latin typeface="Courier New" pitchFamily="34" charset="0"/>
                <a:ea typeface="Courier New" pitchFamily="34" charset="-122"/>
                <a:cs typeface="Courier New" pitchFamily="34" charset="-120"/>
              </a:rPr>
              <a:t>, </a:t>
            </a:r>
            <a:pPr indent="0" marL="0">
              <a:buNone/>
            </a:pPr>
            <a:r>
              <a:rPr lang="en-US" sz="1300" dirty="0">
                <a:solidFill>
                  <a:srgbClr val="A31515"/>
                </a:solidFill>
                <a:latin typeface="Courier New" pitchFamily="34" charset="0"/>
                <a:ea typeface="Courier New" pitchFamily="34" charset="-122"/>
                <a:cs typeface="Courier New" pitchFamily="34" charset="-120"/>
              </a:rPr>
              <a:t>"nunique"</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resumen.round(1).sort_values(</a:t>
            </a:r>
            <a:pPr indent="0" marL="0">
              <a:buNone/>
            </a:pPr>
            <a:r>
              <a:rPr lang="en-US" sz="1300" dirty="0">
                <a:solidFill>
                  <a:srgbClr val="A31515"/>
                </a:solidFill>
                <a:latin typeface="Courier New" pitchFamily="34" charset="0"/>
                <a:ea typeface="Courier New" pitchFamily="34" charset="-122"/>
                <a:cs typeface="Courier New" pitchFamily="34" charset="-120"/>
              </a:rPr>
              <a:t>"total_mwh"</a:t>
            </a:r>
            <a:pPr indent="0" marL="0">
              <a:buNone/>
            </a:pPr>
            <a:r>
              <a:rPr lang="en-US" sz="1300" dirty="0">
                <a:solidFill>
                  <a:srgbClr val="202124"/>
                </a:solidFill>
                <a:latin typeface="Courier New" pitchFamily="34" charset="0"/>
                <a:ea typeface="Courier New" pitchFamily="34" charset="-122"/>
                <a:cs typeface="Courier New" pitchFamily="34" charset="-120"/>
              </a:rPr>
              <a:t>, ascending=False)</a:t>
            </a:r>
            <a:endParaRPr lang="en-US" sz="1300" dirty="0"/>
          </a:p>
        </p:txBody>
      </p:sp>
      <p:sp>
        <p:nvSpPr>
          <p:cNvPr id="11" name="Text 8"/>
          <p:cNvSpPr txBox="1"/>
          <p:nvPr/>
        </p:nvSpPr>
        <p:spPr>
          <a:xfrm>
            <a:off x="8823960" y="1618488"/>
            <a:ext cx="2651760" cy="228600"/>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agrupar_por</a:t>
            </a:r>
            <a:endParaRPr lang="en-US" sz="1100" dirty="0"/>
          </a:p>
        </p:txBody>
      </p:sp>
      <p:sp>
        <p:nvSpPr>
          <p:cNvPr id="12" name="Shape 9"/>
          <p:cNvSpPr/>
          <p:nvPr/>
        </p:nvSpPr>
        <p:spPr>
          <a:xfrm>
            <a:off x="8823960" y="1874520"/>
            <a:ext cx="2651760" cy="347472"/>
          </a:xfrm>
          <a:prstGeom prst="rect">
            <a:avLst/>
          </a:prstGeom>
          <a:solidFill>
            <a:srgbClr val="FFFFFF"/>
          </a:solidFill>
          <a:ln w="12700">
            <a:solidFill>
              <a:srgbClr val="9AA0A6"/>
            </a:solidFill>
            <a:prstDash val="solid"/>
          </a:ln>
        </p:spPr>
      </p:sp>
      <p:sp>
        <p:nvSpPr>
          <p:cNvPr id="13" name="Text 10"/>
          <p:cNvSpPr txBox="1"/>
          <p:nvPr/>
        </p:nvSpPr>
        <p:spPr>
          <a:xfrm>
            <a:off x="8915400" y="1874520"/>
            <a:ext cx="2240280" cy="347472"/>
          </a:xfrm>
          <a:prstGeom prst="rect">
            <a:avLst/>
          </a:prstGeom>
          <a:noFill/>
          <a:ln/>
        </p:spPr>
        <p:txBody>
          <a:bodyPr wrap="square" lIns="0" tIns="0" rIns="0" bIns="0" rtlCol="0" anchor="ctr"/>
          <a:lstStyle/>
          <a:p>
            <a:pPr indent="0" marL="0">
              <a:buNone/>
            </a:pPr>
            <a:r>
              <a:rPr lang="en-US" sz="1200" dirty="0">
                <a:solidFill>
                  <a:srgbClr val="202124"/>
                </a:solidFill>
                <a:latin typeface="Calibri" pitchFamily="34" charset="0"/>
                <a:ea typeface="Calibri" pitchFamily="34" charset="-122"/>
                <a:cs typeface="Calibri" pitchFamily="34" charset="-120"/>
              </a:rPr>
              <a:t>tecnologia</a:t>
            </a:r>
            <a:endParaRPr lang="en-US" sz="1200" dirty="0"/>
          </a:p>
        </p:txBody>
      </p:sp>
      <p:sp>
        <p:nvSpPr>
          <p:cNvPr id="14" name="Shape 11"/>
          <p:cNvSpPr/>
          <p:nvPr/>
        </p:nvSpPr>
        <p:spPr>
          <a:xfrm rot="10800000">
            <a:off x="11201400" y="2011680"/>
            <a:ext cx="128016" cy="82296"/>
          </a:xfrm>
          <a:prstGeom prst="triangle">
            <a:avLst/>
          </a:prstGeom>
          <a:solidFill>
            <a:srgbClr val="5F6368"/>
          </a:solidFill>
          <a:ln w="12700">
            <a:solidFill>
              <a:srgbClr val="5F6368"/>
            </a:solidFill>
            <a:prstDash val="solid"/>
          </a:ln>
        </p:spPr>
      </p:sp>
      <p:sp>
        <p:nvSpPr>
          <p:cNvPr id="15" name="Text 12"/>
          <p:cNvSpPr txBox="1"/>
          <p:nvPr/>
        </p:nvSpPr>
        <p:spPr>
          <a:xfrm>
            <a:off x="1325880" y="4055364"/>
            <a:ext cx="5486400" cy="256032"/>
          </a:xfrm>
          <a:prstGeom prst="rect">
            <a:avLst/>
          </a:prstGeom>
          <a:noFill/>
          <a:ln/>
        </p:spPr>
        <p:txBody>
          <a:bodyPr wrap="square" lIns="0" tIns="0" rIns="0" bIns="0" rtlCol="0" anchor="ctr"/>
          <a:lstStyle/>
          <a:p>
            <a:pPr indent="0" marL="0">
              <a:buNone/>
            </a:pPr>
            <a:r>
              <a:rPr lang="en-US" sz="1200" b="1" dirty="0">
                <a:solidFill>
                  <a:srgbClr val="B06000"/>
                </a:solidFill>
                <a:latin typeface="Calibri" pitchFamily="34" charset="0"/>
                <a:ea typeface="Calibri" pitchFamily="34" charset="-122"/>
                <a:cs typeface="Calibri" pitchFamily="34" charset="-120"/>
              </a:rPr>
              <a:t>Clic en el botón de play para correr la celda</a:t>
            </a:r>
            <a:endParaRPr lang="en-US" sz="1200" dirty="0"/>
          </a:p>
        </p:txBody>
      </p:sp>
      <p:sp>
        <p:nvSpPr>
          <p:cNvPr id="16" name="Text 13"/>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7" name="Shape 14"/>
          <p:cNvSpPr/>
          <p:nvPr/>
        </p:nvSpPr>
        <p:spPr>
          <a:xfrm>
            <a:off x="548640" y="6062472"/>
            <a:ext cx="1143000" cy="566928"/>
          </a:xfrm>
          <a:prstGeom prst="roundRect">
            <a:avLst>
              <a:gd name="adj" fmla="val 11290"/>
            </a:avLst>
          </a:prstGeom>
          <a:solidFill>
            <a:srgbClr val="F1F3F4"/>
          </a:solidFill>
          <a:ln w="12700">
            <a:solidFill>
              <a:srgbClr val="DADCE0"/>
            </a:solidFill>
            <a:prstDash val="solid"/>
          </a:ln>
        </p:spPr>
      </p:sp>
      <p:sp>
        <p:nvSpPr>
          <p:cNvPr id="18" name="Text 15"/>
          <p:cNvSpPr txBox="1"/>
          <p:nvPr/>
        </p:nvSpPr>
        <p:spPr>
          <a:xfrm>
            <a:off x="640080"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caida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7.82…</a:t>
            </a:r>
            <a:endParaRPr lang="en-US" sz="1200" dirty="0"/>
          </a:p>
        </p:txBody>
      </p:sp>
      <p:sp>
        <p:nvSpPr>
          <p:cNvPr id="19" name="Shape 16"/>
          <p:cNvSpPr/>
          <p:nvPr/>
        </p:nvSpPr>
        <p:spPr>
          <a:xfrm>
            <a:off x="1828800" y="6062472"/>
            <a:ext cx="2002536" cy="566928"/>
          </a:xfrm>
          <a:prstGeom prst="roundRect">
            <a:avLst>
              <a:gd name="adj" fmla="val 11290"/>
            </a:avLst>
          </a:prstGeom>
          <a:solidFill>
            <a:srgbClr val="F1F3F4"/>
          </a:solidFill>
          <a:ln w="12700">
            <a:solidFill>
              <a:srgbClr val="DADCE0"/>
            </a:solidFill>
            <a:prstDash val="solid"/>
          </a:ln>
        </p:spPr>
      </p:sp>
      <p:sp>
        <p:nvSpPr>
          <p:cNvPr id="20" name="Text 17"/>
          <p:cNvSpPr txBox="1"/>
          <p:nvPr/>
        </p:nvSpPr>
        <p:spPr>
          <a:xfrm>
            <a:off x="1920240" y="6071616"/>
            <a:ext cx="186537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promedio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serie de 2 valores</a:t>
            </a:r>
            <a:endParaRPr lang="en-US" sz="1200" dirty="0"/>
          </a:p>
        </p:txBody>
      </p:sp>
      <p:sp>
        <p:nvSpPr>
          <p:cNvPr id="21" name="Shape 18"/>
          <p:cNvSpPr/>
          <p:nvPr/>
        </p:nvSpPr>
        <p:spPr>
          <a:xfrm>
            <a:off x="3968496" y="6062472"/>
            <a:ext cx="1714500" cy="566928"/>
          </a:xfrm>
          <a:prstGeom prst="roundRect">
            <a:avLst>
              <a:gd name="adj" fmla="val 11290"/>
            </a:avLst>
          </a:prstGeom>
          <a:solidFill>
            <a:srgbClr val="F1F3F4"/>
          </a:solidFill>
          <a:ln w="12700">
            <a:solidFill>
              <a:srgbClr val="DADCE0"/>
            </a:solidFill>
            <a:prstDash val="solid"/>
          </a:ln>
        </p:spPr>
      </p:sp>
      <p:sp>
        <p:nvSpPr>
          <p:cNvPr id="22" name="Text 19"/>
          <p:cNvSpPr txBox="1"/>
          <p:nvPr/>
        </p:nvSpPr>
        <p:spPr>
          <a:xfrm>
            <a:off x="4059936" y="6071616"/>
            <a:ext cx="15773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demanda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61488 × 5</a:t>
            </a:r>
            <a:endParaRPr lang="en-US" sz="1200" dirty="0"/>
          </a:p>
        </p:txBody>
      </p:sp>
      <p:sp>
        <p:nvSpPr>
          <p:cNvPr id="23" name="Shape 20"/>
          <p:cNvSpPr/>
          <p:nvPr/>
        </p:nvSpPr>
        <p:spPr>
          <a:xfrm>
            <a:off x="5820156" y="6062472"/>
            <a:ext cx="2002536" cy="566928"/>
          </a:xfrm>
          <a:prstGeom prst="roundRect">
            <a:avLst>
              <a:gd name="adj" fmla="val 11290"/>
            </a:avLst>
          </a:prstGeom>
          <a:solidFill>
            <a:srgbClr val="F1F3F4"/>
          </a:solidFill>
          <a:ln w="12700">
            <a:solidFill>
              <a:srgbClr val="DADCE0"/>
            </a:solidFill>
            <a:prstDash val="solid"/>
          </a:ln>
        </p:spPr>
      </p:sp>
      <p:sp>
        <p:nvSpPr>
          <p:cNvPr id="24" name="Text 21"/>
          <p:cNvSpPr txBox="1"/>
          <p:nvPr/>
        </p:nvSpPr>
        <p:spPr>
          <a:xfrm>
            <a:off x="5911596" y="6071616"/>
            <a:ext cx="186537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factor</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serie de 6 valores</a:t>
            </a:r>
            <a:endParaRPr lang="en-US" sz="1200" dirty="0"/>
          </a:p>
        </p:txBody>
      </p:sp>
      <p:sp>
        <p:nvSpPr>
          <p:cNvPr id="25" name="Shape 22"/>
          <p:cNvSpPr/>
          <p:nvPr/>
        </p:nvSpPr>
        <p:spPr>
          <a:xfrm>
            <a:off x="7959852" y="6062472"/>
            <a:ext cx="1330452" cy="566928"/>
          </a:xfrm>
          <a:prstGeom prst="roundRect">
            <a:avLst>
              <a:gd name="adj" fmla="val 11290"/>
            </a:avLst>
          </a:prstGeom>
          <a:solidFill>
            <a:srgbClr val="F1F3F4"/>
          </a:solidFill>
          <a:ln w="12700">
            <a:solidFill>
              <a:srgbClr val="DADCE0"/>
            </a:solidFill>
            <a:prstDash val="solid"/>
          </a:ln>
        </p:spPr>
      </p:sp>
      <p:sp>
        <p:nvSpPr>
          <p:cNvPr id="26" name="Text 23"/>
          <p:cNvSpPr txBox="1"/>
          <p:nvPr/>
        </p:nvSpPr>
        <p:spPr>
          <a:xfrm>
            <a:off x="8051292" y="6071616"/>
            <a:ext cx="119329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cruce</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7 × 6</a:t>
            </a:r>
            <a:endParaRPr lang="en-US" sz="1200" dirty="0"/>
          </a:p>
        </p:txBody>
      </p:sp>
      <p:sp>
        <p:nvSpPr>
          <p:cNvPr id="27" name="Text 24"/>
          <p:cNvSpPr txBox="1"/>
          <p:nvPr/>
        </p:nvSpPr>
        <p:spPr>
          <a:xfrm>
            <a:off x="9427464"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11 más</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2 de 4</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resume con varios cálculos</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Cómo se lee esta línea, pieza por pieza</a:t>
            </a:r>
            <a:endParaRPr lang="en-US" sz="1400" dirty="0"/>
          </a:p>
        </p:txBody>
      </p:sp>
      <p:sp>
        <p:nvSpPr>
          <p:cNvPr id="6" name="Shape 4"/>
          <p:cNvSpPr/>
          <p:nvPr/>
        </p:nvSpPr>
        <p:spPr>
          <a:xfrm>
            <a:off x="548640" y="1463040"/>
            <a:ext cx="11091672" cy="1498600"/>
          </a:xfrm>
          <a:prstGeom prst="roundRect">
            <a:avLst>
              <a:gd name="adj" fmla="val 3661"/>
            </a:avLst>
          </a:prstGeom>
          <a:solidFill>
            <a:srgbClr val="F8F9FA"/>
          </a:solidFill>
          <a:ln w="12700">
            <a:solidFill>
              <a:srgbClr val="DADCE0"/>
            </a:solidFill>
            <a:prstDash val="solid"/>
          </a:ln>
        </p:spPr>
      </p:sp>
      <p:sp>
        <p:nvSpPr>
          <p:cNvPr id="7" name="Text 5"/>
          <p:cNvSpPr txBox="1"/>
          <p:nvPr/>
        </p:nvSpPr>
        <p:spPr>
          <a:xfrm>
            <a:off x="822960" y="1554480"/>
            <a:ext cx="10634472" cy="1361440"/>
          </a:xfrm>
          <a:prstGeom prst="rect">
            <a:avLst/>
          </a:prstGeom>
          <a:noFill/>
          <a:ln/>
        </p:spPr>
        <p:txBody>
          <a:bodyPr wrap="square" lIns="0" tIns="0" rIns="0" bIns="0" rtlCol="0" anchor="ctr"/>
          <a:lstStyle/>
          <a:p>
            <a:pPr indent="0" marL="0">
              <a:buNone/>
            </a:pPr>
            <a:r>
              <a:rPr lang="en-US" sz="1600" dirty="0">
                <a:solidFill>
                  <a:srgbClr val="202124"/>
                </a:solidFill>
                <a:latin typeface="Courier New" pitchFamily="34" charset="0"/>
                <a:ea typeface="Courier New" pitchFamily="34" charset="-122"/>
                <a:cs typeface="Courier New" pitchFamily="34" charset="-120"/>
              </a:rPr>
              <a:t>resumen = gen.groupby(agrupar_por).agg(</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    total_mwh=(</a:t>
            </a:r>
            <a:pPr indent="0" marL="0">
              <a:buNone/>
            </a:pPr>
            <a:r>
              <a:rPr lang="en-US" sz="1600" dirty="0">
                <a:solidFill>
                  <a:srgbClr val="A31515"/>
                </a:solidFill>
                <a:latin typeface="Courier New" pitchFamily="34" charset="0"/>
                <a:ea typeface="Courier New" pitchFamily="34" charset="-122"/>
                <a:cs typeface="Courier New" pitchFamily="34" charset="-120"/>
              </a:rPr>
              <a:t>"mwh"</a:t>
            </a:r>
            <a:pPr indent="0" marL="0">
              <a:buNone/>
            </a:pPr>
            <a:r>
              <a:rPr lang="en-US" sz="1600" dirty="0">
                <a:solidFill>
                  <a:srgbClr val="202124"/>
                </a:solidFill>
                <a:latin typeface="Courier New" pitchFamily="34" charset="0"/>
                <a:ea typeface="Courier New" pitchFamily="34" charset="-122"/>
                <a:cs typeface="Courier New" pitchFamily="34" charset="-120"/>
              </a:rPr>
              <a:t>, </a:t>
            </a:r>
            <a:pPr indent="0" marL="0">
              <a:buNone/>
            </a:pPr>
            <a:r>
              <a:rPr lang="en-US" sz="1600" dirty="0">
                <a:solidFill>
                  <a:srgbClr val="A31515"/>
                </a:solidFill>
                <a:latin typeface="Courier New" pitchFamily="34" charset="0"/>
                <a:ea typeface="Courier New" pitchFamily="34" charset="-122"/>
                <a:cs typeface="Courier New" pitchFamily="34" charset="-120"/>
              </a:rPr>
              <a:t>"sum"</a:t>
            </a:r>
            <a:pPr indent="0" marL="0">
              <a:buNone/>
            </a:pPr>
            <a:r>
              <a:rPr lang="en-US" sz="1600" dirty="0">
                <a:solidFill>
                  <a:srgbClr val="202124"/>
                </a:solidFill>
                <a:latin typeface="Courier New" pitchFamily="34" charset="0"/>
                <a:ea typeface="Courier New" pitchFamily="34" charset="-122"/>
                <a:cs typeface="Courier New" pitchFamily="34" charset="-120"/>
              </a:rPr>
              <a:t>),</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    promedio_hora=(</a:t>
            </a:r>
            <a:pPr indent="0" marL="0">
              <a:buNone/>
            </a:pPr>
            <a:r>
              <a:rPr lang="en-US" sz="1600" dirty="0">
                <a:solidFill>
                  <a:srgbClr val="A31515"/>
                </a:solidFill>
                <a:latin typeface="Courier New" pitchFamily="34" charset="0"/>
                <a:ea typeface="Courier New" pitchFamily="34" charset="-122"/>
                <a:cs typeface="Courier New" pitchFamily="34" charset="-120"/>
              </a:rPr>
              <a:t>"mwh"</a:t>
            </a:r>
            <a:pPr indent="0" marL="0">
              <a:buNone/>
            </a:pPr>
            <a:r>
              <a:rPr lang="en-US" sz="1600" dirty="0">
                <a:solidFill>
                  <a:srgbClr val="202124"/>
                </a:solidFill>
                <a:latin typeface="Courier New" pitchFamily="34" charset="0"/>
                <a:ea typeface="Courier New" pitchFamily="34" charset="-122"/>
                <a:cs typeface="Courier New" pitchFamily="34" charset="-120"/>
              </a:rPr>
              <a:t>, </a:t>
            </a:r>
            <a:pPr indent="0" marL="0">
              <a:buNone/>
            </a:pPr>
            <a:r>
              <a:rPr lang="en-US" sz="1600" dirty="0">
                <a:solidFill>
                  <a:srgbClr val="A31515"/>
                </a:solidFill>
                <a:latin typeface="Courier New" pitchFamily="34" charset="0"/>
                <a:ea typeface="Courier New" pitchFamily="34" charset="-122"/>
                <a:cs typeface="Courier New" pitchFamily="34" charset="-120"/>
              </a:rPr>
              <a:t>"mean"</a:t>
            </a:r>
            <a:pPr indent="0" marL="0">
              <a:buNone/>
            </a:pPr>
            <a:r>
              <a:rPr lang="en-US" sz="1600" dirty="0">
                <a:solidFill>
                  <a:srgbClr val="202124"/>
                </a:solidFill>
                <a:latin typeface="Courier New" pitchFamily="34" charset="0"/>
                <a:ea typeface="Courier New" pitchFamily="34" charset="-122"/>
                <a:cs typeface="Courier New" pitchFamily="34" charset="-120"/>
              </a:rPr>
              <a:t>),</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    centrales=(</a:t>
            </a:r>
            <a:pPr indent="0" marL="0">
              <a:buNone/>
            </a:pPr>
            <a:r>
              <a:rPr lang="en-US" sz="1600" dirty="0">
                <a:solidFill>
                  <a:srgbClr val="A31515"/>
                </a:solidFill>
                <a:latin typeface="Courier New" pitchFamily="34" charset="0"/>
                <a:ea typeface="Courier New" pitchFamily="34" charset="-122"/>
                <a:cs typeface="Courier New" pitchFamily="34" charset="-120"/>
              </a:rPr>
              <a:t>"central"</a:t>
            </a:r>
            <a:pPr indent="0" marL="0">
              <a:buNone/>
            </a:pPr>
            <a:r>
              <a:rPr lang="en-US" sz="1600" dirty="0">
                <a:solidFill>
                  <a:srgbClr val="202124"/>
                </a:solidFill>
                <a:latin typeface="Courier New" pitchFamily="34" charset="0"/>
                <a:ea typeface="Courier New" pitchFamily="34" charset="-122"/>
                <a:cs typeface="Courier New" pitchFamily="34" charset="-120"/>
              </a:rPr>
              <a:t>, </a:t>
            </a:r>
            <a:pPr indent="0" marL="0">
              <a:buNone/>
            </a:pPr>
            <a:r>
              <a:rPr lang="en-US" sz="1600" dirty="0">
                <a:solidFill>
                  <a:srgbClr val="A31515"/>
                </a:solidFill>
                <a:latin typeface="Courier New" pitchFamily="34" charset="0"/>
                <a:ea typeface="Courier New" pitchFamily="34" charset="-122"/>
                <a:cs typeface="Courier New" pitchFamily="34" charset="-120"/>
              </a:rPr>
              <a:t>"nunique"</a:t>
            </a:r>
            <a:pPr indent="0" marL="0">
              <a:buNone/>
            </a:pPr>
            <a:r>
              <a:rPr lang="en-US" sz="1600" dirty="0">
                <a:solidFill>
                  <a:srgbClr val="202124"/>
                </a:solidFill>
                <a:latin typeface="Courier New" pitchFamily="34" charset="0"/>
                <a:ea typeface="Courier New" pitchFamily="34" charset="-122"/>
                <a:cs typeface="Courier New" pitchFamily="34" charset="-120"/>
              </a:rPr>
              <a:t>),</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a:t>
            </a:r>
            <a:endParaRPr lang="en-US" sz="1600" dirty="0"/>
          </a:p>
        </p:txBody>
      </p:sp>
      <p:sp>
        <p:nvSpPr>
          <p:cNvPr id="8" name="Shape 6"/>
          <p:cNvSpPr/>
          <p:nvPr/>
        </p:nvSpPr>
        <p:spPr>
          <a:xfrm>
            <a:off x="548640" y="3276676"/>
            <a:ext cx="329184" cy="329184"/>
          </a:xfrm>
          <a:prstGeom prst="ellipse">
            <a:avLst/>
          </a:prstGeom>
          <a:solidFill>
            <a:srgbClr val="1A6FD4"/>
          </a:solidFill>
          <a:ln w="12700">
            <a:solidFill>
              <a:srgbClr val="1A6FD4"/>
            </a:solidFill>
            <a:prstDash val="solid"/>
          </a:ln>
        </p:spPr>
      </p:sp>
      <p:sp>
        <p:nvSpPr>
          <p:cNvPr id="9" name="Text 7"/>
          <p:cNvSpPr txBox="1"/>
          <p:nvPr/>
        </p:nvSpPr>
        <p:spPr>
          <a:xfrm>
            <a:off x="548640" y="327667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Shape 8"/>
          <p:cNvSpPr/>
          <p:nvPr/>
        </p:nvSpPr>
        <p:spPr>
          <a:xfrm>
            <a:off x="1051560" y="3235960"/>
            <a:ext cx="4937760" cy="410615"/>
          </a:xfrm>
          <a:prstGeom prst="roundRect">
            <a:avLst>
              <a:gd name="adj" fmla="val 11135"/>
            </a:avLst>
          </a:prstGeom>
          <a:solidFill>
            <a:srgbClr val="DBE9FB"/>
          </a:solidFill>
          <a:ln w="12700">
            <a:solidFill>
              <a:srgbClr val="DBE9FB"/>
            </a:solidFill>
            <a:prstDash val="solid"/>
          </a:ln>
        </p:spPr>
      </p:sp>
      <p:sp>
        <p:nvSpPr>
          <p:cNvPr id="11" name="Text 9"/>
          <p:cNvSpPr txBox="1"/>
          <p:nvPr/>
        </p:nvSpPr>
        <p:spPr>
          <a:xfrm>
            <a:off x="1170432" y="3235960"/>
            <a:ext cx="4754880" cy="410615"/>
          </a:xfrm>
          <a:prstGeom prst="rect">
            <a:avLst/>
          </a:prstGeom>
          <a:noFill/>
          <a:ln/>
        </p:spPr>
        <p:txBody>
          <a:bodyPr wrap="square" lIns="0" tIns="0" rIns="0" bIns="0" rtlCol="0" anchor="ctr"/>
          <a:lstStyle/>
          <a:p>
            <a:pPr indent="0" marL="0">
              <a:buNone/>
            </a:pPr>
            <a:r>
              <a:rPr lang="en-US" sz="1190" b="1" dirty="0">
                <a:solidFill>
                  <a:srgbClr val="202124"/>
                </a:solidFill>
                <a:latin typeface="Courier New" pitchFamily="34" charset="0"/>
                <a:ea typeface="Courier New" pitchFamily="34" charset="-122"/>
                <a:cs typeface="Courier New" pitchFamily="34" charset="-120"/>
              </a:rPr>
              <a:t>gen.groupby(agrupar_por)</a:t>
            </a:r>
            <a:endParaRPr lang="en-US" sz="1190" dirty="0"/>
          </a:p>
        </p:txBody>
      </p:sp>
      <p:sp>
        <p:nvSpPr>
          <p:cNvPr id="12" name="Text 10"/>
          <p:cNvSpPr txBox="1"/>
          <p:nvPr/>
        </p:nvSpPr>
        <p:spPr>
          <a:xfrm>
            <a:off x="6263640" y="3235960"/>
            <a:ext cx="5376672" cy="410615"/>
          </a:xfrm>
          <a:prstGeom prst="rect">
            <a:avLst/>
          </a:prstGeom>
          <a:noFill/>
          <a:ln/>
        </p:spPr>
        <p:txBody>
          <a:bodyPr wrap="square" lIns="0" tIns="0" rIns="0" bIns="0" rtlCol="0" anchor="ctr"/>
          <a:lstStyle/>
          <a:p>
            <a:pPr indent="0" marL="0">
              <a:buNone/>
            </a:pPr>
            <a:r>
              <a:rPr lang="en-US" sz="1360" dirty="0">
                <a:solidFill>
                  <a:srgbClr val="202124"/>
                </a:solidFill>
                <a:latin typeface="Calibri" pitchFamily="34" charset="0"/>
                <a:ea typeface="Calibri" pitchFamily="34" charset="-122"/>
                <a:cs typeface="Calibri" pitchFamily="34" charset="-120"/>
              </a:rPr>
              <a:t>Separa las filas en grupos.</a:t>
            </a:r>
            <a:endParaRPr lang="en-US" sz="1360" dirty="0"/>
          </a:p>
        </p:txBody>
      </p:sp>
      <p:sp>
        <p:nvSpPr>
          <p:cNvPr id="13" name="Shape 11"/>
          <p:cNvSpPr/>
          <p:nvPr/>
        </p:nvSpPr>
        <p:spPr>
          <a:xfrm>
            <a:off x="548640" y="3758087"/>
            <a:ext cx="329184" cy="329184"/>
          </a:xfrm>
          <a:prstGeom prst="ellipse">
            <a:avLst/>
          </a:prstGeom>
          <a:solidFill>
            <a:srgbClr val="1E8E3E"/>
          </a:solidFill>
          <a:ln w="12700">
            <a:solidFill>
              <a:srgbClr val="1E8E3E"/>
            </a:solidFill>
            <a:prstDash val="solid"/>
          </a:ln>
        </p:spPr>
      </p:sp>
      <p:sp>
        <p:nvSpPr>
          <p:cNvPr id="14" name="Text 12"/>
          <p:cNvSpPr txBox="1"/>
          <p:nvPr/>
        </p:nvSpPr>
        <p:spPr>
          <a:xfrm>
            <a:off x="548640" y="3758087"/>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Shape 13"/>
          <p:cNvSpPr/>
          <p:nvPr/>
        </p:nvSpPr>
        <p:spPr>
          <a:xfrm>
            <a:off x="1051560" y="3717371"/>
            <a:ext cx="4937760" cy="410615"/>
          </a:xfrm>
          <a:prstGeom prst="roundRect">
            <a:avLst>
              <a:gd name="adj" fmla="val 11135"/>
            </a:avLst>
          </a:prstGeom>
          <a:solidFill>
            <a:srgbClr val="DCEFE0"/>
          </a:solidFill>
          <a:ln w="12700">
            <a:solidFill>
              <a:srgbClr val="DCEFE0"/>
            </a:solidFill>
            <a:prstDash val="solid"/>
          </a:ln>
        </p:spPr>
      </p:sp>
      <p:sp>
        <p:nvSpPr>
          <p:cNvPr id="16" name="Text 14"/>
          <p:cNvSpPr txBox="1"/>
          <p:nvPr/>
        </p:nvSpPr>
        <p:spPr>
          <a:xfrm>
            <a:off x="1170432" y="3717371"/>
            <a:ext cx="4754880" cy="410615"/>
          </a:xfrm>
          <a:prstGeom prst="rect">
            <a:avLst/>
          </a:prstGeom>
          <a:noFill/>
          <a:ln/>
        </p:spPr>
        <p:txBody>
          <a:bodyPr wrap="square" lIns="0" tIns="0" rIns="0" bIns="0" rtlCol="0" anchor="ctr"/>
          <a:lstStyle/>
          <a:p>
            <a:pPr indent="0" marL="0">
              <a:buNone/>
            </a:pPr>
            <a:r>
              <a:rPr lang="en-US" sz="1190" b="1" dirty="0">
                <a:solidFill>
                  <a:srgbClr val="202124"/>
                </a:solidFill>
                <a:latin typeface="Courier New" pitchFamily="34" charset="0"/>
                <a:ea typeface="Courier New" pitchFamily="34" charset="-122"/>
                <a:cs typeface="Courier New" pitchFamily="34" charset="-120"/>
              </a:rPr>
              <a:t>.agg( ... )</a:t>
            </a:r>
            <a:endParaRPr lang="en-US" sz="1190" dirty="0"/>
          </a:p>
        </p:txBody>
      </p:sp>
      <p:sp>
        <p:nvSpPr>
          <p:cNvPr id="17" name="Text 15"/>
          <p:cNvSpPr txBox="1"/>
          <p:nvPr/>
        </p:nvSpPr>
        <p:spPr>
          <a:xfrm>
            <a:off x="6263640" y="3717371"/>
            <a:ext cx="5376672" cy="410615"/>
          </a:xfrm>
          <a:prstGeom prst="rect">
            <a:avLst/>
          </a:prstGeom>
          <a:noFill/>
          <a:ln/>
        </p:spPr>
        <p:txBody>
          <a:bodyPr wrap="square" lIns="0" tIns="0" rIns="0" bIns="0" rtlCol="0" anchor="ctr"/>
          <a:lstStyle/>
          <a:p>
            <a:pPr indent="0" marL="0">
              <a:buNone/>
            </a:pPr>
            <a:r>
              <a:rPr lang="en-US" sz="1360" dirty="0">
                <a:solidFill>
                  <a:srgbClr val="202124"/>
                </a:solidFill>
                <a:latin typeface="Calibri" pitchFamily="34" charset="0"/>
                <a:ea typeface="Calibri" pitchFamily="34" charset="-122"/>
                <a:cs typeface="Calibri" pitchFamily="34" charset="-120"/>
              </a:rPr>
              <a:t>Calcula varias cosas por grupo a la vez.</a:t>
            </a:r>
            <a:endParaRPr lang="en-US" sz="1360" dirty="0"/>
          </a:p>
        </p:txBody>
      </p:sp>
      <p:sp>
        <p:nvSpPr>
          <p:cNvPr id="18" name="Shape 16"/>
          <p:cNvSpPr/>
          <p:nvPr/>
        </p:nvSpPr>
        <p:spPr>
          <a:xfrm>
            <a:off x="548640" y="4281975"/>
            <a:ext cx="329184" cy="329184"/>
          </a:xfrm>
          <a:prstGeom prst="ellipse">
            <a:avLst/>
          </a:prstGeom>
          <a:solidFill>
            <a:srgbClr val="B07D00"/>
          </a:solidFill>
          <a:ln w="12700">
            <a:solidFill>
              <a:srgbClr val="B07D00"/>
            </a:solidFill>
            <a:prstDash val="solid"/>
          </a:ln>
        </p:spPr>
      </p:sp>
      <p:sp>
        <p:nvSpPr>
          <p:cNvPr id="19" name="Text 17"/>
          <p:cNvSpPr txBox="1"/>
          <p:nvPr/>
        </p:nvSpPr>
        <p:spPr>
          <a:xfrm>
            <a:off x="548640" y="4281975"/>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Shape 18"/>
          <p:cNvSpPr/>
          <p:nvPr/>
        </p:nvSpPr>
        <p:spPr>
          <a:xfrm>
            <a:off x="1051560" y="4198782"/>
            <a:ext cx="4937760" cy="495570"/>
          </a:xfrm>
          <a:prstGeom prst="roundRect">
            <a:avLst>
              <a:gd name="adj" fmla="val 9226"/>
            </a:avLst>
          </a:prstGeom>
          <a:solidFill>
            <a:srgbClr val="FDF0C8"/>
          </a:solidFill>
          <a:ln w="12700">
            <a:solidFill>
              <a:srgbClr val="FDF0C8"/>
            </a:solidFill>
            <a:prstDash val="solid"/>
          </a:ln>
        </p:spPr>
      </p:sp>
      <p:sp>
        <p:nvSpPr>
          <p:cNvPr id="21" name="Text 19"/>
          <p:cNvSpPr txBox="1"/>
          <p:nvPr/>
        </p:nvSpPr>
        <p:spPr>
          <a:xfrm>
            <a:off x="1170432" y="4198782"/>
            <a:ext cx="4754880" cy="495570"/>
          </a:xfrm>
          <a:prstGeom prst="rect">
            <a:avLst/>
          </a:prstGeom>
          <a:noFill/>
          <a:ln/>
        </p:spPr>
        <p:txBody>
          <a:bodyPr wrap="square" lIns="0" tIns="0" rIns="0" bIns="0" rtlCol="0" anchor="ctr"/>
          <a:lstStyle/>
          <a:p>
            <a:pPr indent="0" marL="0">
              <a:buNone/>
            </a:pPr>
            <a:r>
              <a:rPr lang="en-US" sz="1190" b="1" dirty="0">
                <a:solidFill>
                  <a:srgbClr val="202124"/>
                </a:solidFill>
                <a:latin typeface="Courier New" pitchFamily="34" charset="0"/>
                <a:ea typeface="Courier New" pitchFamily="34" charset="-122"/>
                <a:cs typeface="Courier New" pitchFamily="34" charset="-120"/>
              </a:rPr>
              <a:t>total_mwh=</a:t>
            </a:r>
            <a:endParaRPr lang="en-US" sz="1190" dirty="0"/>
          </a:p>
        </p:txBody>
      </p:sp>
      <p:sp>
        <p:nvSpPr>
          <p:cNvPr id="22" name="Text 20"/>
          <p:cNvSpPr txBox="1"/>
          <p:nvPr/>
        </p:nvSpPr>
        <p:spPr>
          <a:xfrm>
            <a:off x="6263640" y="4198782"/>
            <a:ext cx="5376672" cy="495570"/>
          </a:xfrm>
          <a:prstGeom prst="rect">
            <a:avLst/>
          </a:prstGeom>
          <a:noFill/>
          <a:ln/>
        </p:spPr>
        <p:txBody>
          <a:bodyPr wrap="square" lIns="0" tIns="0" rIns="0" bIns="0" rtlCol="0" anchor="ctr"/>
          <a:lstStyle/>
          <a:p>
            <a:pPr indent="0" marL="0">
              <a:buNone/>
            </a:pPr>
            <a:r>
              <a:rPr lang="en-US" sz="1360" dirty="0">
                <a:solidFill>
                  <a:srgbClr val="202124"/>
                </a:solidFill>
                <a:latin typeface="Calibri" pitchFamily="34" charset="0"/>
                <a:ea typeface="Calibri" pitchFamily="34" charset="-122"/>
                <a:cs typeface="Calibri" pitchFamily="34" charset="-120"/>
              </a:rPr>
              <a:t>A la izquierda del igual, el nombre de la columna que va a tener el resumen.</a:t>
            </a:r>
            <a:endParaRPr lang="en-US" sz="1360" dirty="0"/>
          </a:p>
        </p:txBody>
      </p:sp>
      <p:sp>
        <p:nvSpPr>
          <p:cNvPr id="23" name="Shape 21"/>
          <p:cNvSpPr/>
          <p:nvPr/>
        </p:nvSpPr>
        <p:spPr>
          <a:xfrm>
            <a:off x="548640" y="4848341"/>
            <a:ext cx="329184" cy="329184"/>
          </a:xfrm>
          <a:prstGeom prst="ellipse">
            <a:avLst/>
          </a:prstGeom>
          <a:solidFill>
            <a:srgbClr val="7B4FC9"/>
          </a:solidFill>
          <a:ln w="12700">
            <a:solidFill>
              <a:srgbClr val="7B4FC9"/>
            </a:solidFill>
            <a:prstDash val="solid"/>
          </a:ln>
        </p:spPr>
      </p:sp>
      <p:sp>
        <p:nvSpPr>
          <p:cNvPr id="24" name="Text 22"/>
          <p:cNvSpPr txBox="1"/>
          <p:nvPr/>
        </p:nvSpPr>
        <p:spPr>
          <a:xfrm>
            <a:off x="548640" y="4848341"/>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Shape 23"/>
          <p:cNvSpPr/>
          <p:nvPr/>
        </p:nvSpPr>
        <p:spPr>
          <a:xfrm>
            <a:off x="1051560" y="4765148"/>
            <a:ext cx="4937760" cy="495570"/>
          </a:xfrm>
          <a:prstGeom prst="roundRect">
            <a:avLst>
              <a:gd name="adj" fmla="val 9226"/>
            </a:avLst>
          </a:prstGeom>
          <a:solidFill>
            <a:srgbClr val="ECE2FA"/>
          </a:solidFill>
          <a:ln w="12700">
            <a:solidFill>
              <a:srgbClr val="ECE2FA"/>
            </a:solidFill>
            <a:prstDash val="solid"/>
          </a:ln>
        </p:spPr>
      </p:sp>
      <p:sp>
        <p:nvSpPr>
          <p:cNvPr id="26" name="Text 24"/>
          <p:cNvSpPr txBox="1"/>
          <p:nvPr/>
        </p:nvSpPr>
        <p:spPr>
          <a:xfrm>
            <a:off x="1170432" y="4765148"/>
            <a:ext cx="4754880" cy="495570"/>
          </a:xfrm>
          <a:prstGeom prst="rect">
            <a:avLst/>
          </a:prstGeom>
          <a:noFill/>
          <a:ln/>
        </p:spPr>
        <p:txBody>
          <a:bodyPr wrap="square" lIns="0" tIns="0" rIns="0" bIns="0" rtlCol="0" anchor="ctr"/>
          <a:lstStyle/>
          <a:p>
            <a:pPr indent="0" marL="0">
              <a:buNone/>
            </a:pPr>
            <a:r>
              <a:rPr lang="en-US" sz="1190" b="1" dirty="0">
                <a:solidFill>
                  <a:srgbClr val="202124"/>
                </a:solidFill>
                <a:latin typeface="Courier New" pitchFamily="34" charset="0"/>
                <a:ea typeface="Courier New" pitchFamily="34" charset="-122"/>
                <a:cs typeface="Courier New" pitchFamily="34" charset="-120"/>
              </a:rPr>
              <a:t>("mwh", "sum")</a:t>
            </a:r>
            <a:endParaRPr lang="en-US" sz="1190" dirty="0"/>
          </a:p>
        </p:txBody>
      </p:sp>
      <p:sp>
        <p:nvSpPr>
          <p:cNvPr id="27" name="Text 25"/>
          <p:cNvSpPr txBox="1"/>
          <p:nvPr/>
        </p:nvSpPr>
        <p:spPr>
          <a:xfrm>
            <a:off x="6263640" y="4765148"/>
            <a:ext cx="5376672" cy="495570"/>
          </a:xfrm>
          <a:prstGeom prst="rect">
            <a:avLst/>
          </a:prstGeom>
          <a:noFill/>
          <a:ln/>
        </p:spPr>
        <p:txBody>
          <a:bodyPr wrap="square" lIns="0" tIns="0" rIns="0" bIns="0" rtlCol="0" anchor="ctr"/>
          <a:lstStyle/>
          <a:p>
            <a:pPr indent="0" marL="0">
              <a:buNone/>
            </a:pPr>
            <a:r>
              <a:rPr lang="en-US" sz="1360" dirty="0">
                <a:solidFill>
                  <a:srgbClr val="202124"/>
                </a:solidFill>
                <a:latin typeface="Calibri" pitchFamily="34" charset="0"/>
                <a:ea typeface="Calibri" pitchFamily="34" charset="-122"/>
                <a:cs typeface="Calibri" pitchFamily="34" charset="-120"/>
              </a:rPr>
              <a:t>A la derecha, entre paréntesis, qué columna y qué cálculo.</a:t>
            </a:r>
            <a:endParaRPr lang="en-US" sz="1360" dirty="0"/>
          </a:p>
        </p:txBody>
      </p:sp>
      <p:sp>
        <p:nvSpPr>
          <p:cNvPr id="28" name="Shape 26"/>
          <p:cNvSpPr/>
          <p:nvPr/>
        </p:nvSpPr>
        <p:spPr>
          <a:xfrm>
            <a:off x="548640" y="5414707"/>
            <a:ext cx="329184" cy="329184"/>
          </a:xfrm>
          <a:prstGeom prst="ellipse">
            <a:avLst/>
          </a:prstGeom>
          <a:solidFill>
            <a:srgbClr val="C5221F"/>
          </a:solidFill>
          <a:ln w="12700">
            <a:solidFill>
              <a:srgbClr val="C5221F"/>
            </a:solidFill>
            <a:prstDash val="solid"/>
          </a:ln>
        </p:spPr>
      </p:sp>
      <p:sp>
        <p:nvSpPr>
          <p:cNvPr id="29" name="Text 27"/>
          <p:cNvSpPr txBox="1"/>
          <p:nvPr/>
        </p:nvSpPr>
        <p:spPr>
          <a:xfrm>
            <a:off x="548640" y="5414707"/>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0" name="Shape 28"/>
          <p:cNvSpPr/>
          <p:nvPr/>
        </p:nvSpPr>
        <p:spPr>
          <a:xfrm>
            <a:off x="1051560" y="5331514"/>
            <a:ext cx="4937760" cy="495570"/>
          </a:xfrm>
          <a:prstGeom prst="roundRect">
            <a:avLst>
              <a:gd name="adj" fmla="val 9226"/>
            </a:avLst>
          </a:prstGeom>
          <a:solidFill>
            <a:srgbClr val="FCE8E6"/>
          </a:solidFill>
          <a:ln w="12700">
            <a:solidFill>
              <a:srgbClr val="FCE8E6"/>
            </a:solidFill>
            <a:prstDash val="solid"/>
          </a:ln>
        </p:spPr>
      </p:sp>
      <p:sp>
        <p:nvSpPr>
          <p:cNvPr id="31" name="Text 29"/>
          <p:cNvSpPr txBox="1"/>
          <p:nvPr/>
        </p:nvSpPr>
        <p:spPr>
          <a:xfrm>
            <a:off x="1170432" y="5331514"/>
            <a:ext cx="4754880" cy="495570"/>
          </a:xfrm>
          <a:prstGeom prst="rect">
            <a:avLst/>
          </a:prstGeom>
          <a:noFill/>
          <a:ln/>
        </p:spPr>
        <p:txBody>
          <a:bodyPr wrap="square" lIns="0" tIns="0" rIns="0" bIns="0" rtlCol="0" anchor="ctr"/>
          <a:lstStyle/>
          <a:p>
            <a:pPr indent="0" marL="0">
              <a:buNone/>
            </a:pPr>
            <a:r>
              <a:rPr lang="en-US" sz="1190" b="1" dirty="0">
                <a:solidFill>
                  <a:srgbClr val="202124"/>
                </a:solidFill>
                <a:latin typeface="Courier New" pitchFamily="34" charset="0"/>
                <a:ea typeface="Courier New" pitchFamily="34" charset="-122"/>
                <a:cs typeface="Courier New" pitchFamily="34" charset="-120"/>
              </a:rPr>
              <a:t>("central", "nunique")</a:t>
            </a:r>
            <a:endParaRPr lang="en-US" sz="1190" dirty="0"/>
          </a:p>
        </p:txBody>
      </p:sp>
      <p:sp>
        <p:nvSpPr>
          <p:cNvPr id="32" name="Text 30"/>
          <p:cNvSpPr txBox="1"/>
          <p:nvPr/>
        </p:nvSpPr>
        <p:spPr>
          <a:xfrm>
            <a:off x="6263640" y="5331514"/>
            <a:ext cx="5376672" cy="495570"/>
          </a:xfrm>
          <a:prstGeom prst="rect">
            <a:avLst/>
          </a:prstGeom>
          <a:noFill/>
          <a:ln/>
        </p:spPr>
        <p:txBody>
          <a:bodyPr wrap="square" lIns="0" tIns="0" rIns="0" bIns="0" rtlCol="0" anchor="ctr"/>
          <a:lstStyle/>
          <a:p>
            <a:pPr indent="0" marL="0">
              <a:buNone/>
            </a:pPr>
            <a:r>
              <a:rPr lang="en-US" sz="1360" dirty="0">
                <a:solidFill>
                  <a:srgbClr val="202124"/>
                </a:solidFill>
                <a:latin typeface="Calibri" pitchFamily="34" charset="0"/>
                <a:ea typeface="Calibri" pitchFamily="34" charset="-122"/>
                <a:cs typeface="Calibri" pitchFamily="34" charset="-120"/>
              </a:rPr>
              <a:t>nunique cuenta cuántos valores distintos hay. Aquí, cuántas centrales.</a:t>
            </a:r>
            <a:endParaRPr lang="en-US" sz="1360" dirty="0"/>
          </a:p>
        </p:txBody>
      </p:sp>
      <p:sp>
        <p:nvSpPr>
          <p:cNvPr id="33" name="Shape 31"/>
          <p:cNvSpPr/>
          <p:nvPr/>
        </p:nvSpPr>
        <p:spPr>
          <a:xfrm>
            <a:off x="548640" y="5989320"/>
            <a:ext cx="73152" cy="548640"/>
          </a:xfrm>
          <a:prstGeom prst="rect">
            <a:avLst/>
          </a:prstGeom>
          <a:solidFill>
            <a:srgbClr val="0B3D62"/>
          </a:solidFill>
          <a:ln w="12700">
            <a:solidFill>
              <a:srgbClr val="0B3D62"/>
            </a:solidFill>
            <a:prstDash val="solid"/>
          </a:ln>
        </p:spPr>
      </p:sp>
      <p:sp>
        <p:nvSpPr>
          <p:cNvPr id="34" name="Text 32"/>
          <p:cNvSpPr txBox="1"/>
          <p:nvPr/>
        </p:nvSpPr>
        <p:spPr>
          <a:xfrm>
            <a:off x="777240" y="5989320"/>
            <a:ext cx="10863072" cy="548640"/>
          </a:xfrm>
          <a:prstGeom prst="rect">
            <a:avLst/>
          </a:prstGeom>
          <a:noFill/>
          <a:ln/>
        </p:spPr>
        <p:txBody>
          <a:bodyPr wrap="square" lIns="0" tIns="0" rIns="0" bIns="0"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Se lee así  </a:t>
            </a:r>
            <a:pPr indent="0" marL="0">
              <a:buNone/>
            </a:pPr>
            <a:r>
              <a:rPr lang="en-US" sz="1500" dirty="0">
                <a:solidFill>
                  <a:srgbClr val="202124"/>
                </a:solidFill>
                <a:latin typeface="Calibri" pitchFamily="34" charset="0"/>
                <a:ea typeface="Calibri" pitchFamily="34" charset="-122"/>
                <a:cs typeface="Calibri" pitchFamily="34" charset="-120"/>
              </a:rPr>
              <a:t>por cada grupo, el total de mwh, el promedio por hora y cuántas centrales distintas tiene.</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2 de 4</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resume con varios cálculos</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Elige cómo agrupar en la lista y vuelve a correr la celda.</a:t>
            </a:r>
            <a:endParaRPr lang="en-US" sz="1400" dirty="0"/>
          </a:p>
        </p:txBody>
      </p:sp>
      <p:sp>
        <p:nvSpPr>
          <p:cNvPr id="6" name="Shape 4"/>
          <p:cNvSpPr/>
          <p:nvPr/>
        </p:nvSpPr>
        <p:spPr>
          <a:xfrm>
            <a:off x="548640" y="1481328"/>
            <a:ext cx="11091672" cy="2336292"/>
          </a:xfrm>
          <a:prstGeom prst="roundRect">
            <a:avLst>
              <a:gd name="adj" fmla="val 2348"/>
            </a:avLst>
          </a:prstGeom>
          <a:solidFill>
            <a:srgbClr val="F8F9FA"/>
          </a:solidFill>
          <a:ln w="12700">
            <a:solidFill>
              <a:srgbClr val="DADCE0"/>
            </a:solidFill>
            <a:prstDash val="solid"/>
          </a:ln>
        </p:spPr>
      </p:sp>
      <p:sp>
        <p:nvSpPr>
          <p:cNvPr id="7" name="Shape 5"/>
          <p:cNvSpPr/>
          <p:nvPr/>
        </p:nvSpPr>
        <p:spPr>
          <a:xfrm>
            <a:off x="713232" y="1600200"/>
            <a:ext cx="420624" cy="420624"/>
          </a:xfrm>
          <a:prstGeom prst="ellipse">
            <a:avLst/>
          </a:prstGeom>
          <a:solidFill>
            <a:srgbClr val="E8EAED"/>
          </a:solidFill>
          <a:ln w="12700">
            <a:solidFill>
              <a:srgbClr val="E8EAED"/>
            </a:solidFill>
            <a:prstDash val="solid"/>
          </a:ln>
        </p:spPr>
      </p:sp>
      <p:sp>
        <p:nvSpPr>
          <p:cNvPr id="8" name="Shape 6"/>
          <p:cNvSpPr/>
          <p:nvPr/>
        </p:nvSpPr>
        <p:spPr>
          <a:xfrm rot="5400000">
            <a:off x="850392" y="1719072"/>
            <a:ext cx="182880" cy="182880"/>
          </a:xfrm>
          <a:prstGeom prst="triangle">
            <a:avLst/>
          </a:prstGeom>
          <a:solidFill>
            <a:srgbClr val="5F6368"/>
          </a:solidFill>
          <a:ln w="12700">
            <a:solidFill>
              <a:srgbClr val="5F6368"/>
            </a:solidFill>
            <a:prstDash val="solid"/>
          </a:ln>
        </p:spPr>
      </p:sp>
      <p:sp>
        <p:nvSpPr>
          <p:cNvPr id="9" name="Text 7"/>
          <p:cNvSpPr txBox="1"/>
          <p:nvPr/>
        </p:nvSpPr>
        <p:spPr>
          <a:xfrm>
            <a:off x="1325880" y="1600200"/>
            <a:ext cx="7360920" cy="2153412"/>
          </a:xfrm>
          <a:prstGeom prst="rect">
            <a:avLst/>
          </a:prstGeom>
          <a:noFill/>
          <a:ln/>
        </p:spPr>
        <p:txBody>
          <a:bodyPr wrap="square" lIns="0" tIns="0" rIns="0" bIns="0" rtlCol="0" anchor="t"/>
          <a:lstStyle/>
          <a:p>
            <a:pPr indent="0" marL="0">
              <a:buNone/>
            </a:pPr>
            <a:r>
              <a:rPr lang="en-US" sz="1200" i="1" dirty="0">
                <a:solidFill>
                  <a:srgbClr val="188038"/>
                </a:solidFill>
                <a:latin typeface="Courier New" pitchFamily="34" charset="0"/>
                <a:ea typeface="Courier New" pitchFamily="34" charset="-122"/>
                <a:cs typeface="Courier New" pitchFamily="34" charset="-120"/>
              </a:rPr>
              <a:t># Estudio 2</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agrupar_por = </a:t>
            </a:r>
            <a:pPr indent="0" marL="0">
              <a:buNone/>
            </a:pPr>
            <a:r>
              <a:rPr lang="en-US" sz="1200" dirty="0">
                <a:solidFill>
                  <a:srgbClr val="A31515"/>
                </a:solidFill>
                <a:latin typeface="Courier New" pitchFamily="34" charset="0"/>
                <a:ea typeface="Courier New" pitchFamily="34" charset="-122"/>
                <a:cs typeface="Courier New" pitchFamily="34" charset="-120"/>
              </a:rPr>
              <a:t>"tecnologia"</a:t>
            </a:r>
            <a:pPr indent="0" marL="0">
              <a:buNone/>
            </a:pPr>
            <a:r>
              <a:rPr lang="en-US" sz="1200" dirty="0">
                <a:solidFill>
                  <a:srgbClr val="202124"/>
                </a:solidFill>
                <a:latin typeface="Courier New" pitchFamily="34" charset="0"/>
                <a:ea typeface="Courier New" pitchFamily="34" charset="-122"/>
                <a:cs typeface="Courier New" pitchFamily="34" charset="-120"/>
              </a:rPr>
              <a:t> </a:t>
            </a:r>
            <a:pPr indent="0" marL="0">
              <a:buNone/>
            </a:pPr>
            <a:r>
              <a:rPr lang="en-US" sz="1200" dirty="0">
                <a:solidFill>
                  <a:srgbClr val="80868B"/>
                </a:solidFill>
                <a:latin typeface="Courier New" pitchFamily="34" charset="0"/>
                <a:ea typeface="Courier New" pitchFamily="34" charset="-122"/>
                <a:cs typeface="Courier New" pitchFamily="34" charset="-120"/>
              </a:rPr>
              <a:t>#@param ["tecnologia", "region"]</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 </a:t>
            </a:r>
            <a:endParaRPr lang="en-US" sz="1200" dirty="0"/>
          </a:p>
          <a:p>
            <a:pPr indent="0" marL="0">
              <a:buNone/>
            </a:pPr>
            <a:r>
              <a:rPr lang="en-US" sz="1200" i="1" dirty="0">
                <a:solidFill>
                  <a:srgbClr val="188038"/>
                </a:solidFill>
                <a:latin typeface="Courier New" pitchFamily="34" charset="0"/>
                <a:ea typeface="Courier New" pitchFamily="34" charset="-122"/>
                <a:cs typeface="Courier New" pitchFamily="34" charset="-120"/>
              </a:rPr>
              <a:t># Cada línea es una columna del resumen. A la izquierda el nombre,</a:t>
            </a:r>
            <a:endParaRPr lang="en-US" sz="1200" dirty="0"/>
          </a:p>
          <a:p>
            <a:pPr indent="0" marL="0">
              <a:buNone/>
            </a:pPr>
            <a:r>
              <a:rPr lang="en-US" sz="1200" i="1" dirty="0">
                <a:solidFill>
                  <a:srgbClr val="188038"/>
                </a:solidFill>
                <a:latin typeface="Courier New" pitchFamily="34" charset="0"/>
                <a:ea typeface="Courier New" pitchFamily="34" charset="-122"/>
                <a:cs typeface="Courier New" pitchFamily="34" charset="-120"/>
              </a:rPr>
              <a:t># a la derecha la columna y el cálculo.</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resumen = gen.groupby(agrupar_por).agg(</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    total_mwh=(</a:t>
            </a:r>
            <a:pPr indent="0" marL="0">
              <a:buNone/>
            </a:pPr>
            <a:r>
              <a:rPr lang="en-US" sz="1200" dirty="0">
                <a:solidFill>
                  <a:srgbClr val="A31515"/>
                </a:solidFill>
                <a:latin typeface="Courier New" pitchFamily="34" charset="0"/>
                <a:ea typeface="Courier New" pitchFamily="34" charset="-122"/>
                <a:cs typeface="Courier New" pitchFamily="34" charset="-120"/>
              </a:rPr>
              <a:t>"mwh"</a:t>
            </a:r>
            <a:pPr indent="0" marL="0">
              <a:buNone/>
            </a:pPr>
            <a:r>
              <a:rPr lang="en-US" sz="1200" dirty="0">
                <a:solidFill>
                  <a:srgbClr val="202124"/>
                </a:solidFill>
                <a:latin typeface="Courier New" pitchFamily="34" charset="0"/>
                <a:ea typeface="Courier New" pitchFamily="34" charset="-122"/>
                <a:cs typeface="Courier New" pitchFamily="34" charset="-120"/>
              </a:rPr>
              <a:t>, </a:t>
            </a:r>
            <a:pPr indent="0" marL="0">
              <a:buNone/>
            </a:pPr>
            <a:r>
              <a:rPr lang="en-US" sz="1200" dirty="0">
                <a:solidFill>
                  <a:srgbClr val="A31515"/>
                </a:solidFill>
                <a:latin typeface="Courier New" pitchFamily="34" charset="0"/>
                <a:ea typeface="Courier New" pitchFamily="34" charset="-122"/>
                <a:cs typeface="Courier New" pitchFamily="34" charset="-120"/>
              </a:rPr>
              <a:t>"sum"</a:t>
            </a:r>
            <a:pPr indent="0" marL="0">
              <a:buNone/>
            </a:pPr>
            <a:r>
              <a:rPr lang="en-US" sz="1200" dirty="0">
                <a:solidFill>
                  <a:srgbClr val="202124"/>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    promedio_hora=(</a:t>
            </a:r>
            <a:pPr indent="0" marL="0">
              <a:buNone/>
            </a:pPr>
            <a:r>
              <a:rPr lang="en-US" sz="1200" dirty="0">
                <a:solidFill>
                  <a:srgbClr val="A31515"/>
                </a:solidFill>
                <a:latin typeface="Courier New" pitchFamily="34" charset="0"/>
                <a:ea typeface="Courier New" pitchFamily="34" charset="-122"/>
                <a:cs typeface="Courier New" pitchFamily="34" charset="-120"/>
              </a:rPr>
              <a:t>"mwh"</a:t>
            </a:r>
            <a:pPr indent="0" marL="0">
              <a:buNone/>
            </a:pPr>
            <a:r>
              <a:rPr lang="en-US" sz="1200" dirty="0">
                <a:solidFill>
                  <a:srgbClr val="202124"/>
                </a:solidFill>
                <a:latin typeface="Courier New" pitchFamily="34" charset="0"/>
                <a:ea typeface="Courier New" pitchFamily="34" charset="-122"/>
                <a:cs typeface="Courier New" pitchFamily="34" charset="-120"/>
              </a:rPr>
              <a:t>, </a:t>
            </a:r>
            <a:pPr indent="0" marL="0">
              <a:buNone/>
            </a:pPr>
            <a:r>
              <a:rPr lang="en-US" sz="1200" dirty="0">
                <a:solidFill>
                  <a:srgbClr val="A31515"/>
                </a:solidFill>
                <a:latin typeface="Courier New" pitchFamily="34" charset="0"/>
                <a:ea typeface="Courier New" pitchFamily="34" charset="-122"/>
                <a:cs typeface="Courier New" pitchFamily="34" charset="-120"/>
              </a:rPr>
              <a:t>"mean"</a:t>
            </a:r>
            <a:pPr indent="0" marL="0">
              <a:buNone/>
            </a:pPr>
            <a:r>
              <a:rPr lang="en-US" sz="1200" dirty="0">
                <a:solidFill>
                  <a:srgbClr val="202124"/>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    centrales=(</a:t>
            </a:r>
            <a:pPr indent="0" marL="0">
              <a:buNone/>
            </a:pPr>
            <a:r>
              <a:rPr lang="en-US" sz="1200" dirty="0">
                <a:solidFill>
                  <a:srgbClr val="A31515"/>
                </a:solidFill>
                <a:latin typeface="Courier New" pitchFamily="34" charset="0"/>
                <a:ea typeface="Courier New" pitchFamily="34" charset="-122"/>
                <a:cs typeface="Courier New" pitchFamily="34" charset="-120"/>
              </a:rPr>
              <a:t>"central"</a:t>
            </a:r>
            <a:pPr indent="0" marL="0">
              <a:buNone/>
            </a:pPr>
            <a:r>
              <a:rPr lang="en-US" sz="1200" dirty="0">
                <a:solidFill>
                  <a:srgbClr val="202124"/>
                </a:solidFill>
                <a:latin typeface="Courier New" pitchFamily="34" charset="0"/>
                <a:ea typeface="Courier New" pitchFamily="34" charset="-122"/>
                <a:cs typeface="Courier New" pitchFamily="34" charset="-120"/>
              </a:rPr>
              <a:t>, </a:t>
            </a:r>
            <a:pPr indent="0" marL="0">
              <a:buNone/>
            </a:pPr>
            <a:r>
              <a:rPr lang="en-US" sz="1200" dirty="0">
                <a:solidFill>
                  <a:srgbClr val="A31515"/>
                </a:solidFill>
                <a:latin typeface="Courier New" pitchFamily="34" charset="0"/>
                <a:ea typeface="Courier New" pitchFamily="34" charset="-122"/>
                <a:cs typeface="Courier New" pitchFamily="34" charset="-120"/>
              </a:rPr>
              <a:t>"nunique"</a:t>
            </a:r>
            <a:pPr indent="0" marL="0">
              <a:buNone/>
            </a:pPr>
            <a:r>
              <a:rPr lang="en-US" sz="1200" dirty="0">
                <a:solidFill>
                  <a:srgbClr val="202124"/>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resumen.round(1).sort_values(</a:t>
            </a:r>
            <a:pPr indent="0" marL="0">
              <a:buNone/>
            </a:pPr>
            <a:r>
              <a:rPr lang="en-US" sz="1200" dirty="0">
                <a:solidFill>
                  <a:srgbClr val="A31515"/>
                </a:solidFill>
                <a:latin typeface="Courier New" pitchFamily="34" charset="0"/>
                <a:ea typeface="Courier New" pitchFamily="34" charset="-122"/>
                <a:cs typeface="Courier New" pitchFamily="34" charset="-120"/>
              </a:rPr>
              <a:t>"total_mwh"</a:t>
            </a:r>
            <a:pPr indent="0" marL="0">
              <a:buNone/>
            </a:pPr>
            <a:r>
              <a:rPr lang="en-US" sz="1200" dirty="0">
                <a:solidFill>
                  <a:srgbClr val="202124"/>
                </a:solidFill>
                <a:latin typeface="Courier New" pitchFamily="34" charset="0"/>
                <a:ea typeface="Courier New" pitchFamily="34" charset="-122"/>
                <a:cs typeface="Courier New" pitchFamily="34" charset="-120"/>
              </a:rPr>
              <a:t>, ascending=False)</a:t>
            </a:r>
            <a:endParaRPr lang="en-US" sz="1200" dirty="0"/>
          </a:p>
        </p:txBody>
      </p:sp>
      <p:sp>
        <p:nvSpPr>
          <p:cNvPr id="10" name="Text 8"/>
          <p:cNvSpPr txBox="1"/>
          <p:nvPr/>
        </p:nvSpPr>
        <p:spPr>
          <a:xfrm>
            <a:off x="8823960" y="1618488"/>
            <a:ext cx="2651760" cy="228600"/>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agrupar_por</a:t>
            </a:r>
            <a:endParaRPr lang="en-US" sz="1100" dirty="0"/>
          </a:p>
        </p:txBody>
      </p:sp>
      <p:sp>
        <p:nvSpPr>
          <p:cNvPr id="11" name="Shape 9"/>
          <p:cNvSpPr/>
          <p:nvPr/>
        </p:nvSpPr>
        <p:spPr>
          <a:xfrm>
            <a:off x="8823960" y="1874520"/>
            <a:ext cx="2651760" cy="347472"/>
          </a:xfrm>
          <a:prstGeom prst="rect">
            <a:avLst/>
          </a:prstGeom>
          <a:solidFill>
            <a:srgbClr val="FFFFFF"/>
          </a:solidFill>
          <a:ln w="12700">
            <a:solidFill>
              <a:srgbClr val="9AA0A6"/>
            </a:solidFill>
            <a:prstDash val="solid"/>
          </a:ln>
        </p:spPr>
      </p:sp>
      <p:sp>
        <p:nvSpPr>
          <p:cNvPr id="12" name="Text 10"/>
          <p:cNvSpPr txBox="1"/>
          <p:nvPr/>
        </p:nvSpPr>
        <p:spPr>
          <a:xfrm>
            <a:off x="8915400" y="1874520"/>
            <a:ext cx="2240280" cy="347472"/>
          </a:xfrm>
          <a:prstGeom prst="rect">
            <a:avLst/>
          </a:prstGeom>
          <a:noFill/>
          <a:ln/>
        </p:spPr>
        <p:txBody>
          <a:bodyPr wrap="square" lIns="0" tIns="0" rIns="0" bIns="0" rtlCol="0" anchor="ctr"/>
          <a:lstStyle/>
          <a:p>
            <a:pPr indent="0" marL="0">
              <a:buNone/>
            </a:pPr>
            <a:r>
              <a:rPr lang="en-US" sz="1200" dirty="0">
                <a:solidFill>
                  <a:srgbClr val="202124"/>
                </a:solidFill>
                <a:latin typeface="Calibri" pitchFamily="34" charset="0"/>
                <a:ea typeface="Calibri" pitchFamily="34" charset="-122"/>
                <a:cs typeface="Calibri" pitchFamily="34" charset="-120"/>
              </a:rPr>
              <a:t>tecnologia</a:t>
            </a:r>
            <a:endParaRPr lang="en-US" sz="1200" dirty="0"/>
          </a:p>
        </p:txBody>
      </p:sp>
      <p:sp>
        <p:nvSpPr>
          <p:cNvPr id="13" name="Shape 11"/>
          <p:cNvSpPr/>
          <p:nvPr/>
        </p:nvSpPr>
        <p:spPr>
          <a:xfrm rot="10800000">
            <a:off x="11201400" y="2011680"/>
            <a:ext cx="128016" cy="82296"/>
          </a:xfrm>
          <a:prstGeom prst="triangle">
            <a:avLst/>
          </a:prstGeom>
          <a:solidFill>
            <a:srgbClr val="5F6368"/>
          </a:solidFill>
          <a:ln w="12700">
            <a:solidFill>
              <a:srgbClr val="5F6368"/>
            </a:solidFill>
            <a:prstDash val="solid"/>
          </a:ln>
        </p:spPr>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1325880" y="3927348"/>
          <a:ext cx="9144000" cy="914400"/>
        </p:xfrm>
        <a:graphic>
          <a:graphicData uri="http://schemas.openxmlformats.org/drawingml/2006/table">
            <a:tbl>
              <a:tblPr/>
              <a:tblGrid>
                <a:gridCol w="731520"/>
                <a:gridCol w="1097280"/>
                <a:gridCol w="1463040"/>
                <a:gridCol w="1097280"/>
              </a:tblGrid>
              <a:tr h="237744">
                <a:tc>
                  <a:txBody>
                    <a:bodyPr/>
                    <a:lstStyle/>
                    <a:p>
                      <a:pPr indent="0" marL="0">
                        <a:buNone/>
                      </a:pP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total_mwh</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promedio_hora</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centrales</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hidro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6106351.4</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139.0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5</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gas</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5094126.1</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193.3</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3</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carbon</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4666823.0</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265.6</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eolica</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1565899.4</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44.6</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solar</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671677.2</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15.3</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5</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diesel</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40709.5</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4.6</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bl>
          </a:graphicData>
        </a:graphic>
      </p:graphicFrame>
      <p:sp>
        <p:nvSpPr>
          <p:cNvPr id="16" name="Text 12"/>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7" name="Shape 13"/>
          <p:cNvSpPr/>
          <p:nvPr/>
        </p:nvSpPr>
        <p:spPr>
          <a:xfrm>
            <a:off x="548640" y="6062472"/>
            <a:ext cx="1810512" cy="566928"/>
          </a:xfrm>
          <a:prstGeom prst="roundRect">
            <a:avLst>
              <a:gd name="adj" fmla="val 11290"/>
            </a:avLst>
          </a:prstGeom>
          <a:solidFill>
            <a:srgbClr val="E8F0FE"/>
          </a:solidFill>
          <a:ln w="28575">
            <a:solidFill>
              <a:srgbClr val="1A73E8"/>
            </a:solidFill>
            <a:prstDash val="solid"/>
          </a:ln>
        </p:spPr>
      </p:sp>
      <p:sp>
        <p:nvSpPr>
          <p:cNvPr id="18" name="Text 14"/>
          <p:cNvSpPr txBox="1"/>
          <p:nvPr/>
        </p:nvSpPr>
        <p:spPr>
          <a:xfrm>
            <a:off x="640080" y="6071616"/>
            <a:ext cx="167335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gen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175680 × 9</a:t>
            </a:r>
            <a:endParaRPr lang="en-US" sz="1200" dirty="0"/>
          </a:p>
        </p:txBody>
      </p:sp>
      <p:sp>
        <p:nvSpPr>
          <p:cNvPr id="19" name="Shape 15"/>
          <p:cNvSpPr/>
          <p:nvPr/>
        </p:nvSpPr>
        <p:spPr>
          <a:xfrm>
            <a:off x="2496312" y="6062472"/>
            <a:ext cx="1426464" cy="566928"/>
          </a:xfrm>
          <a:prstGeom prst="roundRect">
            <a:avLst>
              <a:gd name="adj" fmla="val 11290"/>
            </a:avLst>
          </a:prstGeom>
          <a:solidFill>
            <a:srgbClr val="FEF3D6"/>
          </a:solidFill>
          <a:ln w="25400">
            <a:solidFill>
              <a:srgbClr val="F9AB00"/>
            </a:solidFill>
            <a:prstDash val="solid"/>
          </a:ln>
        </p:spPr>
      </p:sp>
      <p:sp>
        <p:nvSpPr>
          <p:cNvPr id="20" name="Text 16"/>
          <p:cNvSpPr txBox="1"/>
          <p:nvPr/>
        </p:nvSpPr>
        <p:spPr>
          <a:xfrm>
            <a:off x="2587752" y="6071616"/>
            <a:ext cx="128930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agrupar_por</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"tecnologia"</a:t>
            </a:r>
            <a:endParaRPr lang="en-US" sz="1200" dirty="0"/>
          </a:p>
        </p:txBody>
      </p:sp>
      <p:sp>
        <p:nvSpPr>
          <p:cNvPr id="21" name="Shape 17"/>
          <p:cNvSpPr/>
          <p:nvPr/>
        </p:nvSpPr>
        <p:spPr>
          <a:xfrm>
            <a:off x="4059936" y="6062472"/>
            <a:ext cx="1330452" cy="566928"/>
          </a:xfrm>
          <a:prstGeom prst="roundRect">
            <a:avLst>
              <a:gd name="adj" fmla="val 11290"/>
            </a:avLst>
          </a:prstGeom>
          <a:solidFill>
            <a:srgbClr val="FEF3D6"/>
          </a:solidFill>
          <a:ln w="25400">
            <a:solidFill>
              <a:srgbClr val="F9AB00"/>
            </a:solidFill>
            <a:prstDash val="solid"/>
          </a:ln>
        </p:spPr>
      </p:sp>
      <p:sp>
        <p:nvSpPr>
          <p:cNvPr id="22" name="Text 18"/>
          <p:cNvSpPr txBox="1"/>
          <p:nvPr/>
        </p:nvSpPr>
        <p:spPr>
          <a:xfrm>
            <a:off x="4151376" y="6071616"/>
            <a:ext cx="119329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resumen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 × 3</a:t>
            </a:r>
            <a:endParaRPr lang="en-US" sz="1200" dirty="0"/>
          </a:p>
        </p:txBody>
      </p:sp>
      <p:sp>
        <p:nvSpPr>
          <p:cNvPr id="23" name="Shape 19"/>
          <p:cNvSpPr/>
          <p:nvPr/>
        </p:nvSpPr>
        <p:spPr>
          <a:xfrm>
            <a:off x="5527548" y="6062472"/>
            <a:ext cx="1143000" cy="566928"/>
          </a:xfrm>
          <a:prstGeom prst="roundRect">
            <a:avLst>
              <a:gd name="adj" fmla="val 11290"/>
            </a:avLst>
          </a:prstGeom>
          <a:solidFill>
            <a:srgbClr val="F1F3F4"/>
          </a:solidFill>
          <a:ln w="12700">
            <a:solidFill>
              <a:srgbClr val="DADCE0"/>
            </a:solidFill>
            <a:prstDash val="solid"/>
          </a:ln>
        </p:spPr>
      </p:sp>
      <p:sp>
        <p:nvSpPr>
          <p:cNvPr id="24" name="Text 20"/>
          <p:cNvSpPr txBox="1"/>
          <p:nvPr/>
        </p:nvSpPr>
        <p:spPr>
          <a:xfrm>
            <a:off x="5618988"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caida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7.82…</a:t>
            </a:r>
            <a:endParaRPr lang="en-US" sz="1200" dirty="0"/>
          </a:p>
        </p:txBody>
      </p:sp>
      <p:sp>
        <p:nvSpPr>
          <p:cNvPr id="25" name="Shape 21"/>
          <p:cNvSpPr/>
          <p:nvPr/>
        </p:nvSpPr>
        <p:spPr>
          <a:xfrm>
            <a:off x="6807708" y="6062472"/>
            <a:ext cx="2002536" cy="566928"/>
          </a:xfrm>
          <a:prstGeom prst="roundRect">
            <a:avLst>
              <a:gd name="adj" fmla="val 11290"/>
            </a:avLst>
          </a:prstGeom>
          <a:solidFill>
            <a:srgbClr val="F1F3F4"/>
          </a:solidFill>
          <a:ln w="12700">
            <a:solidFill>
              <a:srgbClr val="DADCE0"/>
            </a:solidFill>
            <a:prstDash val="solid"/>
          </a:ln>
        </p:spPr>
      </p:sp>
      <p:sp>
        <p:nvSpPr>
          <p:cNvPr id="26" name="Text 22"/>
          <p:cNvSpPr txBox="1"/>
          <p:nvPr/>
        </p:nvSpPr>
        <p:spPr>
          <a:xfrm>
            <a:off x="6899148" y="6071616"/>
            <a:ext cx="186537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promedio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serie de 2 valores</a:t>
            </a:r>
            <a:endParaRPr lang="en-US" sz="1200" dirty="0"/>
          </a:p>
        </p:txBody>
      </p:sp>
      <p:sp>
        <p:nvSpPr>
          <p:cNvPr id="27" name="Text 23"/>
          <p:cNvSpPr txBox="1"/>
          <p:nvPr/>
        </p:nvSpPr>
        <p:spPr>
          <a:xfrm>
            <a:off x="8947404"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12 más</a:t>
            </a:r>
            <a:endParaRPr lang="en-US" sz="1200" dirty="0"/>
          </a:p>
        </p:txBody>
      </p:sp>
      <p:sp>
        <p:nvSpPr>
          <p:cNvPr id="28" name="Text 24"/>
          <p:cNvSpPr txBox="1"/>
          <p:nvPr/>
        </p:nvSpPr>
        <p:spPr>
          <a:xfrm>
            <a:off x="548640" y="6638544"/>
            <a:ext cx="11091672" cy="237744"/>
          </a:xfrm>
          <a:prstGeom prst="rect">
            <a:avLst/>
          </a:prstGeom>
          <a:noFill/>
          <a:ln/>
        </p:spPr>
        <p:txBody>
          <a:bodyPr wrap="square" lIns="0" tIns="0" rIns="0" bIns="0" rtlCol="0" anchor="ctr"/>
          <a:lstStyle/>
          <a:p>
            <a:pPr indent="0" marL="0">
              <a:buNone/>
            </a:pPr>
            <a:r>
              <a:rPr lang="en-US" sz="1300" i="1" dirty="0">
                <a:solidFill>
                  <a:srgbClr val="0B3D62"/>
                </a:solidFill>
                <a:latin typeface="Calibri" pitchFamily="34" charset="0"/>
                <a:ea typeface="Calibri" pitchFamily="34" charset="-122"/>
                <a:cs typeface="Calibri" pitchFamily="34" charset="-120"/>
              </a:rPr>
              <a:t>Un resumen con el total, el promedio y el conteo de centrales de cada grupo.</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4"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2 de 4</a:t>
            </a:r>
            <a:endParaRPr lang="en-US" sz="1400" dirty="0"/>
          </a:p>
        </p:txBody>
      </p:sp>
      <p:sp>
        <p:nvSpPr>
          <p:cNvPr id="5"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resume con varios cálculos</a:t>
            </a:r>
            <a:endParaRPr lang="en-US" sz="2400" dirty="0"/>
          </a:p>
        </p:txBody>
      </p:sp>
      <p:sp>
        <p:nvSpPr>
          <p:cNvPr id="6"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Se elige region en la lista y se vuelve a correr la celda.</a:t>
            </a:r>
            <a:endParaRPr lang="en-US" sz="1400" dirty="0"/>
          </a:p>
        </p:txBody>
      </p:sp>
      <p:sp>
        <p:nvSpPr>
          <p:cNvPr id="7" name="Shape 4"/>
          <p:cNvSpPr/>
          <p:nvPr/>
        </p:nvSpPr>
        <p:spPr>
          <a:xfrm>
            <a:off x="548640" y="1481328"/>
            <a:ext cx="11091672" cy="2537460"/>
          </a:xfrm>
          <a:prstGeom prst="roundRect">
            <a:avLst>
              <a:gd name="adj" fmla="val 2162"/>
            </a:avLst>
          </a:prstGeom>
          <a:solidFill>
            <a:srgbClr val="F8F9FA"/>
          </a:solidFill>
          <a:ln w="25400">
            <a:solidFill>
              <a:srgbClr val="F9AB00"/>
            </a:solidFill>
            <a:prstDash val="solid"/>
          </a:ln>
        </p:spPr>
      </p:sp>
      <p:sp>
        <p:nvSpPr>
          <p:cNvPr id="8" name="Shape 5"/>
          <p:cNvSpPr/>
          <p:nvPr/>
        </p:nvSpPr>
        <p:spPr>
          <a:xfrm>
            <a:off x="713232" y="1600200"/>
            <a:ext cx="420624" cy="420624"/>
          </a:xfrm>
          <a:prstGeom prst="ellipse">
            <a:avLst/>
          </a:prstGeom>
          <a:solidFill>
            <a:srgbClr val="F9AB00"/>
          </a:solidFill>
          <a:ln w="12700">
            <a:solidFill>
              <a:srgbClr val="F9AB00"/>
            </a:solidFill>
            <a:prstDash val="solid"/>
          </a:ln>
        </p:spPr>
      </p:sp>
      <p:sp>
        <p:nvSpPr>
          <p:cNvPr id="9" name="Shape 6"/>
          <p:cNvSpPr/>
          <p:nvPr/>
        </p:nvSpPr>
        <p:spPr>
          <a:xfrm rot="5400000">
            <a:off x="850392" y="1719072"/>
            <a:ext cx="182880" cy="182880"/>
          </a:xfrm>
          <a:prstGeom prst="triangle">
            <a:avLst/>
          </a:prstGeom>
          <a:solidFill>
            <a:srgbClr val="FFFFFF"/>
          </a:solidFill>
          <a:ln w="12700">
            <a:solidFill>
              <a:srgbClr val="FFFFFF"/>
            </a:solidFill>
            <a:prstDash val="solid"/>
          </a:ln>
        </p:spPr>
      </p:sp>
      <p:sp>
        <p:nvSpPr>
          <p:cNvPr id="10" name="Text 7"/>
          <p:cNvSpPr txBox="1"/>
          <p:nvPr/>
        </p:nvSpPr>
        <p:spPr>
          <a:xfrm>
            <a:off x="1325880" y="1600200"/>
            <a:ext cx="7360920" cy="2354580"/>
          </a:xfrm>
          <a:prstGeom prst="rect">
            <a:avLst/>
          </a:prstGeom>
          <a:noFill/>
          <a:ln/>
        </p:spPr>
        <p:txBody>
          <a:bodyPr wrap="square" lIns="0" tIns="0" rIns="0" bIns="0" rtlCol="0" anchor="t"/>
          <a:lstStyle/>
          <a:p>
            <a:pPr indent="0" marL="0">
              <a:buNone/>
            </a:pPr>
            <a:r>
              <a:rPr lang="en-US" sz="1300" i="1" dirty="0">
                <a:solidFill>
                  <a:srgbClr val="188038"/>
                </a:solidFill>
                <a:latin typeface="Courier New" pitchFamily="34" charset="0"/>
                <a:ea typeface="Courier New" pitchFamily="34" charset="-122"/>
                <a:cs typeface="Courier New" pitchFamily="34" charset="-120"/>
              </a:rPr>
              <a:t># Estudio 2</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agrupar_por = </a:t>
            </a:r>
            <a:pPr indent="0" marL="0">
              <a:buNone/>
            </a:pPr>
            <a:r>
              <a:rPr lang="en-US" sz="1300" dirty="0">
                <a:solidFill>
                  <a:srgbClr val="A31515"/>
                </a:solidFill>
                <a:latin typeface="Courier New" pitchFamily="34" charset="0"/>
                <a:ea typeface="Courier New" pitchFamily="34" charset="-122"/>
                <a:cs typeface="Courier New" pitchFamily="34" charset="-120"/>
              </a:rPr>
              <a:t>"region"</a:t>
            </a:r>
            <a:pPr indent="0" marL="0">
              <a:buNone/>
            </a:pPr>
            <a:r>
              <a:rPr lang="en-US" sz="1300" dirty="0">
                <a:solidFill>
                  <a:srgbClr val="202124"/>
                </a:solidFill>
                <a:latin typeface="Courier New" pitchFamily="34" charset="0"/>
                <a:ea typeface="Courier New" pitchFamily="34" charset="-122"/>
                <a:cs typeface="Courier New" pitchFamily="34" charset="-120"/>
              </a:rPr>
              <a:t> </a:t>
            </a:r>
            <a:pPr indent="0" marL="0">
              <a:buNone/>
            </a:pPr>
            <a:r>
              <a:rPr lang="en-US" sz="1300" dirty="0">
                <a:solidFill>
                  <a:srgbClr val="80868B"/>
                </a:solidFill>
                <a:latin typeface="Courier New" pitchFamily="34" charset="0"/>
                <a:ea typeface="Courier New" pitchFamily="34" charset="-122"/>
                <a:cs typeface="Courier New" pitchFamily="34" charset="-120"/>
              </a:rPr>
              <a:t>#@param ["tecnologia", "region"]</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Cada línea es una columna del resumen. A la izquierda el nombre,</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a la derecha la columna y el cálculo.</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resumen = gen.groupby(agrupar_por).agg(</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total_mwh=(</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 </a:t>
            </a:r>
            <a:pPr indent="0" marL="0">
              <a:buNone/>
            </a:pPr>
            <a:r>
              <a:rPr lang="en-US" sz="1300" dirty="0">
                <a:solidFill>
                  <a:srgbClr val="A31515"/>
                </a:solidFill>
                <a:latin typeface="Courier New" pitchFamily="34" charset="0"/>
                <a:ea typeface="Courier New" pitchFamily="34" charset="-122"/>
                <a:cs typeface="Courier New" pitchFamily="34" charset="-120"/>
              </a:rPr>
              <a:t>"sum"</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promedio_hora=(</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 </a:t>
            </a:r>
            <a:pPr indent="0" marL="0">
              <a:buNone/>
            </a:pPr>
            <a:r>
              <a:rPr lang="en-US" sz="1300" dirty="0">
                <a:solidFill>
                  <a:srgbClr val="A31515"/>
                </a:solidFill>
                <a:latin typeface="Courier New" pitchFamily="34" charset="0"/>
                <a:ea typeface="Courier New" pitchFamily="34" charset="-122"/>
                <a:cs typeface="Courier New" pitchFamily="34" charset="-120"/>
              </a:rPr>
              <a:t>"mean"</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centrales=(</a:t>
            </a:r>
            <a:pPr indent="0" marL="0">
              <a:buNone/>
            </a:pPr>
            <a:r>
              <a:rPr lang="en-US" sz="1300" dirty="0">
                <a:solidFill>
                  <a:srgbClr val="A31515"/>
                </a:solidFill>
                <a:latin typeface="Courier New" pitchFamily="34" charset="0"/>
                <a:ea typeface="Courier New" pitchFamily="34" charset="-122"/>
                <a:cs typeface="Courier New" pitchFamily="34" charset="-120"/>
              </a:rPr>
              <a:t>"central"</a:t>
            </a:r>
            <a:pPr indent="0" marL="0">
              <a:buNone/>
            </a:pPr>
            <a:r>
              <a:rPr lang="en-US" sz="1300" dirty="0">
                <a:solidFill>
                  <a:srgbClr val="202124"/>
                </a:solidFill>
                <a:latin typeface="Courier New" pitchFamily="34" charset="0"/>
                <a:ea typeface="Courier New" pitchFamily="34" charset="-122"/>
                <a:cs typeface="Courier New" pitchFamily="34" charset="-120"/>
              </a:rPr>
              <a:t>, </a:t>
            </a:r>
            <a:pPr indent="0" marL="0">
              <a:buNone/>
            </a:pPr>
            <a:r>
              <a:rPr lang="en-US" sz="1300" dirty="0">
                <a:solidFill>
                  <a:srgbClr val="A31515"/>
                </a:solidFill>
                <a:latin typeface="Courier New" pitchFamily="34" charset="0"/>
                <a:ea typeface="Courier New" pitchFamily="34" charset="-122"/>
                <a:cs typeface="Courier New" pitchFamily="34" charset="-120"/>
              </a:rPr>
              <a:t>"nunique"</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resumen.round(1).sort_values(</a:t>
            </a:r>
            <a:pPr indent="0" marL="0">
              <a:buNone/>
            </a:pPr>
            <a:r>
              <a:rPr lang="en-US" sz="1300" dirty="0">
                <a:solidFill>
                  <a:srgbClr val="A31515"/>
                </a:solidFill>
                <a:latin typeface="Courier New" pitchFamily="34" charset="0"/>
                <a:ea typeface="Courier New" pitchFamily="34" charset="-122"/>
                <a:cs typeface="Courier New" pitchFamily="34" charset="-120"/>
              </a:rPr>
              <a:t>"total_mwh"</a:t>
            </a:r>
            <a:pPr indent="0" marL="0">
              <a:buNone/>
            </a:pPr>
            <a:r>
              <a:rPr lang="en-US" sz="1300" dirty="0">
                <a:solidFill>
                  <a:srgbClr val="202124"/>
                </a:solidFill>
                <a:latin typeface="Courier New" pitchFamily="34" charset="0"/>
                <a:ea typeface="Courier New" pitchFamily="34" charset="-122"/>
                <a:cs typeface="Courier New" pitchFamily="34" charset="-120"/>
              </a:rPr>
              <a:t>, ascending=False)</a:t>
            </a:r>
            <a:endParaRPr lang="en-US" sz="1300" dirty="0"/>
          </a:p>
        </p:txBody>
      </p:sp>
      <p:sp>
        <p:nvSpPr>
          <p:cNvPr id="11" name="Text 8"/>
          <p:cNvSpPr txBox="1"/>
          <p:nvPr/>
        </p:nvSpPr>
        <p:spPr>
          <a:xfrm>
            <a:off x="8823960" y="1618488"/>
            <a:ext cx="2651760" cy="228600"/>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agrupar_por</a:t>
            </a:r>
            <a:endParaRPr lang="en-US" sz="1100" dirty="0"/>
          </a:p>
        </p:txBody>
      </p:sp>
      <p:sp>
        <p:nvSpPr>
          <p:cNvPr id="12" name="Shape 9"/>
          <p:cNvSpPr/>
          <p:nvPr/>
        </p:nvSpPr>
        <p:spPr>
          <a:xfrm>
            <a:off x="8823960" y="1874520"/>
            <a:ext cx="2651760" cy="347472"/>
          </a:xfrm>
          <a:prstGeom prst="rect">
            <a:avLst/>
          </a:prstGeom>
          <a:solidFill>
            <a:srgbClr val="FFFFFF"/>
          </a:solidFill>
          <a:ln w="25400">
            <a:solidFill>
              <a:srgbClr val="1A73E8"/>
            </a:solidFill>
            <a:prstDash val="solid"/>
          </a:ln>
        </p:spPr>
      </p:sp>
      <p:sp>
        <p:nvSpPr>
          <p:cNvPr id="13" name="Text 10"/>
          <p:cNvSpPr txBox="1"/>
          <p:nvPr/>
        </p:nvSpPr>
        <p:spPr>
          <a:xfrm>
            <a:off x="8915400" y="1874520"/>
            <a:ext cx="2240280" cy="347472"/>
          </a:xfrm>
          <a:prstGeom prst="rect">
            <a:avLst/>
          </a:prstGeom>
          <a:noFill/>
          <a:ln/>
        </p:spPr>
        <p:txBody>
          <a:bodyPr wrap="square" lIns="0" tIns="0" rIns="0" bIns="0" rtlCol="0" anchor="ctr"/>
          <a:lstStyle/>
          <a:p>
            <a:pPr indent="0" marL="0">
              <a:buNone/>
            </a:pPr>
            <a:r>
              <a:rPr lang="en-US" sz="1200" dirty="0">
                <a:solidFill>
                  <a:srgbClr val="202124"/>
                </a:solidFill>
                <a:latin typeface="Calibri" pitchFamily="34" charset="0"/>
                <a:ea typeface="Calibri" pitchFamily="34" charset="-122"/>
                <a:cs typeface="Calibri" pitchFamily="34" charset="-120"/>
              </a:rPr>
              <a:t>region</a:t>
            </a:r>
            <a:endParaRPr lang="en-US" sz="1200" dirty="0"/>
          </a:p>
        </p:txBody>
      </p:sp>
      <p:sp>
        <p:nvSpPr>
          <p:cNvPr id="14" name="Shape 11"/>
          <p:cNvSpPr/>
          <p:nvPr/>
        </p:nvSpPr>
        <p:spPr>
          <a:xfrm rot="10800000">
            <a:off x="11201400" y="2011680"/>
            <a:ext cx="128016" cy="82296"/>
          </a:xfrm>
          <a:prstGeom prst="triangle">
            <a:avLst/>
          </a:prstGeom>
          <a:solidFill>
            <a:srgbClr val="5F6368"/>
          </a:solidFill>
          <a:ln w="12700">
            <a:solidFill>
              <a:srgbClr val="5F6368"/>
            </a:solidFill>
            <a:prstDash val="solid"/>
          </a:ln>
        </p:spPr>
      </p:sp>
      <p:sp>
        <p:nvSpPr>
          <p:cNvPr id="15" name="Text 12"/>
          <p:cNvSpPr txBox="1"/>
          <p:nvPr/>
        </p:nvSpPr>
        <p:spPr>
          <a:xfrm>
            <a:off x="1325880" y="4055364"/>
            <a:ext cx="5486400" cy="256032"/>
          </a:xfrm>
          <a:prstGeom prst="rect">
            <a:avLst/>
          </a:prstGeom>
          <a:noFill/>
          <a:ln/>
        </p:spPr>
        <p:txBody>
          <a:bodyPr wrap="square" lIns="0" tIns="0" rIns="0" bIns="0" rtlCol="0" anchor="ctr"/>
          <a:lstStyle/>
          <a:p>
            <a:pPr indent="0" marL="0">
              <a:buNone/>
            </a:pPr>
            <a:r>
              <a:rPr lang="en-US" sz="1200" b="1" dirty="0">
                <a:solidFill>
                  <a:srgbClr val="B06000"/>
                </a:solidFill>
                <a:latin typeface="Calibri" pitchFamily="34" charset="0"/>
                <a:ea typeface="Calibri" pitchFamily="34" charset="-122"/>
                <a:cs typeface="Calibri" pitchFamily="34" charset="-120"/>
              </a:rPr>
              <a:t>Clic en el botón de play para correr la celda</a:t>
            </a:r>
            <a:endParaRPr lang="en-US" sz="1200" dirty="0"/>
          </a:p>
        </p:txBody>
      </p:sp>
      <p:sp>
        <p:nvSpPr>
          <p:cNvPr id="16" name="Text 13"/>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7" name="Shape 14"/>
          <p:cNvSpPr/>
          <p:nvPr/>
        </p:nvSpPr>
        <p:spPr>
          <a:xfrm>
            <a:off x="548640" y="6062472"/>
            <a:ext cx="1330452" cy="566928"/>
          </a:xfrm>
          <a:prstGeom prst="roundRect">
            <a:avLst>
              <a:gd name="adj" fmla="val 11290"/>
            </a:avLst>
          </a:prstGeom>
          <a:solidFill>
            <a:srgbClr val="F1F3F4"/>
          </a:solidFill>
          <a:ln w="12700">
            <a:solidFill>
              <a:srgbClr val="DADCE0"/>
            </a:solidFill>
            <a:prstDash val="solid"/>
          </a:ln>
        </p:spPr>
      </p:sp>
      <p:sp>
        <p:nvSpPr>
          <p:cNvPr id="18" name="Text 15"/>
          <p:cNvSpPr txBox="1"/>
          <p:nvPr/>
        </p:nvSpPr>
        <p:spPr>
          <a:xfrm>
            <a:off x="640080" y="6071616"/>
            <a:ext cx="119329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resumen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 × 3</a:t>
            </a:r>
            <a:endParaRPr lang="en-US" sz="1200" dirty="0"/>
          </a:p>
        </p:txBody>
      </p:sp>
      <p:sp>
        <p:nvSpPr>
          <p:cNvPr id="19" name="Shape 16"/>
          <p:cNvSpPr/>
          <p:nvPr/>
        </p:nvSpPr>
        <p:spPr>
          <a:xfrm>
            <a:off x="2016252" y="6062472"/>
            <a:ext cx="1143000" cy="566928"/>
          </a:xfrm>
          <a:prstGeom prst="roundRect">
            <a:avLst>
              <a:gd name="adj" fmla="val 11290"/>
            </a:avLst>
          </a:prstGeom>
          <a:solidFill>
            <a:srgbClr val="F1F3F4"/>
          </a:solidFill>
          <a:ln w="12700">
            <a:solidFill>
              <a:srgbClr val="DADCE0"/>
            </a:solidFill>
            <a:prstDash val="solid"/>
          </a:ln>
        </p:spPr>
      </p:sp>
      <p:sp>
        <p:nvSpPr>
          <p:cNvPr id="20" name="Text 17"/>
          <p:cNvSpPr txBox="1"/>
          <p:nvPr/>
        </p:nvSpPr>
        <p:spPr>
          <a:xfrm>
            <a:off x="2107692"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caida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7.82…</a:t>
            </a:r>
            <a:endParaRPr lang="en-US" sz="1200" dirty="0"/>
          </a:p>
        </p:txBody>
      </p:sp>
      <p:sp>
        <p:nvSpPr>
          <p:cNvPr id="21" name="Shape 18"/>
          <p:cNvSpPr/>
          <p:nvPr/>
        </p:nvSpPr>
        <p:spPr>
          <a:xfrm>
            <a:off x="3296412" y="6062472"/>
            <a:ext cx="2002536" cy="566928"/>
          </a:xfrm>
          <a:prstGeom prst="roundRect">
            <a:avLst>
              <a:gd name="adj" fmla="val 11290"/>
            </a:avLst>
          </a:prstGeom>
          <a:solidFill>
            <a:srgbClr val="F1F3F4"/>
          </a:solidFill>
          <a:ln w="12700">
            <a:solidFill>
              <a:srgbClr val="DADCE0"/>
            </a:solidFill>
            <a:prstDash val="solid"/>
          </a:ln>
        </p:spPr>
      </p:sp>
      <p:sp>
        <p:nvSpPr>
          <p:cNvPr id="22" name="Text 19"/>
          <p:cNvSpPr txBox="1"/>
          <p:nvPr/>
        </p:nvSpPr>
        <p:spPr>
          <a:xfrm>
            <a:off x="3387852" y="6071616"/>
            <a:ext cx="186537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promedio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serie de 2 valores</a:t>
            </a:r>
            <a:endParaRPr lang="en-US" sz="1200" dirty="0"/>
          </a:p>
        </p:txBody>
      </p:sp>
      <p:sp>
        <p:nvSpPr>
          <p:cNvPr id="23" name="Shape 20"/>
          <p:cNvSpPr/>
          <p:nvPr/>
        </p:nvSpPr>
        <p:spPr>
          <a:xfrm>
            <a:off x="5436108" y="6062472"/>
            <a:ext cx="1714500" cy="566928"/>
          </a:xfrm>
          <a:prstGeom prst="roundRect">
            <a:avLst>
              <a:gd name="adj" fmla="val 11290"/>
            </a:avLst>
          </a:prstGeom>
          <a:solidFill>
            <a:srgbClr val="F1F3F4"/>
          </a:solidFill>
          <a:ln w="12700">
            <a:solidFill>
              <a:srgbClr val="DADCE0"/>
            </a:solidFill>
            <a:prstDash val="solid"/>
          </a:ln>
        </p:spPr>
      </p:sp>
      <p:sp>
        <p:nvSpPr>
          <p:cNvPr id="24" name="Text 21"/>
          <p:cNvSpPr txBox="1"/>
          <p:nvPr/>
        </p:nvSpPr>
        <p:spPr>
          <a:xfrm>
            <a:off x="5527548" y="6071616"/>
            <a:ext cx="15773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demanda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61488 × 5</a:t>
            </a:r>
            <a:endParaRPr lang="en-US" sz="1200" dirty="0"/>
          </a:p>
        </p:txBody>
      </p:sp>
      <p:sp>
        <p:nvSpPr>
          <p:cNvPr id="25" name="Shape 22"/>
          <p:cNvSpPr/>
          <p:nvPr/>
        </p:nvSpPr>
        <p:spPr>
          <a:xfrm>
            <a:off x="7287768" y="6062472"/>
            <a:ext cx="2002536" cy="566928"/>
          </a:xfrm>
          <a:prstGeom prst="roundRect">
            <a:avLst>
              <a:gd name="adj" fmla="val 11290"/>
            </a:avLst>
          </a:prstGeom>
          <a:solidFill>
            <a:srgbClr val="F1F3F4"/>
          </a:solidFill>
          <a:ln w="12700">
            <a:solidFill>
              <a:srgbClr val="DADCE0"/>
            </a:solidFill>
            <a:prstDash val="solid"/>
          </a:ln>
        </p:spPr>
      </p:sp>
      <p:sp>
        <p:nvSpPr>
          <p:cNvPr id="26" name="Text 23"/>
          <p:cNvSpPr txBox="1"/>
          <p:nvPr/>
        </p:nvSpPr>
        <p:spPr>
          <a:xfrm>
            <a:off x="7379208" y="6071616"/>
            <a:ext cx="186537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factor</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serie de 6 valores</a:t>
            </a:r>
            <a:endParaRPr lang="en-US" sz="1200" dirty="0"/>
          </a:p>
        </p:txBody>
      </p:sp>
      <p:sp>
        <p:nvSpPr>
          <p:cNvPr id="27" name="Text 24"/>
          <p:cNvSpPr txBox="1"/>
          <p:nvPr/>
        </p:nvSpPr>
        <p:spPr>
          <a:xfrm>
            <a:off x="9427464"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12 más</a:t>
            </a:r>
            <a:endParaRPr lang="en-US" sz="1200" dirty="0"/>
          </a:p>
        </p:txBody>
      </p:sp>
      <p:sp>
        <p:nvSpPr>
          <p:cNvPr id="28" name="Text 25"/>
          <p:cNvSpPr txBox="1"/>
          <p:nvPr/>
        </p:nvSpPr>
        <p:spPr>
          <a:xfrm>
            <a:off x="548640" y="6638544"/>
            <a:ext cx="11091672" cy="237744"/>
          </a:xfrm>
          <a:prstGeom prst="rect">
            <a:avLst/>
          </a:prstGeom>
          <a:noFill/>
          <a:ln/>
        </p:spPr>
        <p:txBody>
          <a:bodyPr wrap="square" lIns="0" tIns="0" rIns="0" bIns="0" rtlCol="0" anchor="ctr"/>
          <a:lstStyle/>
          <a:p>
            <a:pPr indent="0" marL="0">
              <a:buNone/>
            </a:pPr>
            <a:r>
              <a:rPr lang="en-US" sz="1300" i="1" dirty="0">
                <a:solidFill>
                  <a:srgbClr val="0B3D62"/>
                </a:solidFill>
                <a:latin typeface="Calibri" pitchFamily="34" charset="0"/>
                <a:ea typeface="Calibri" pitchFamily="34" charset="-122"/>
                <a:cs typeface="Calibri" pitchFamily="34" charset="-120"/>
              </a:rPr>
              <a:t>Mientras no se corra la celda, Python sigue recordando los valores anteriores.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2 de 4</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resume con varios cálculos</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Se elige region en la lista y se vuelve a correr la celda.</a:t>
            </a:r>
            <a:endParaRPr lang="en-US" sz="1400" dirty="0"/>
          </a:p>
        </p:txBody>
      </p:sp>
      <p:sp>
        <p:nvSpPr>
          <p:cNvPr id="6" name="Text 4"/>
          <p:cNvSpPr txBox="1"/>
          <p:nvPr/>
        </p:nvSpPr>
        <p:spPr>
          <a:xfrm>
            <a:off x="548640" y="1481328"/>
            <a:ext cx="5486400" cy="274320"/>
          </a:xfrm>
          <a:prstGeom prst="rect">
            <a:avLst/>
          </a:prstGeom>
          <a:noFill/>
          <a:ln/>
        </p:spPr>
        <p:txBody>
          <a:bodyPr wrap="square" lIns="0" tIns="0" rIns="0" bIns="0" rtlCol="0" anchor="ctr"/>
          <a:lstStyle/>
          <a:p>
            <a:pPr indent="0" marL="0">
              <a:buNone/>
            </a:pPr>
            <a:r>
              <a:rPr lang="en-US" sz="1300" b="1" dirty="0">
                <a:solidFill>
                  <a:srgbClr val="5F6368"/>
                </a:solidFill>
                <a:latin typeface="Calibri" pitchFamily="34" charset="0"/>
                <a:ea typeface="Calibri" pitchFamily="34" charset="-122"/>
                <a:cs typeface="Calibri" pitchFamily="34" charset="-120"/>
              </a:rPr>
              <a:t>Respuesta de la celda</a:t>
            </a:r>
            <a:endParaRPr lang="en-US" sz="13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1325880" y="1828800"/>
          <a:ext cx="9144000" cy="914400"/>
        </p:xfrm>
        <a:graphic>
          <a:graphicData uri="http://schemas.openxmlformats.org/drawingml/2006/table">
            <a:tbl>
              <a:tblPr/>
              <a:tblGrid>
                <a:gridCol w="1371600"/>
                <a:gridCol w="1097280"/>
                <a:gridCol w="1463040"/>
                <a:gridCol w="1097280"/>
              </a:tblGrid>
              <a:tr h="237744">
                <a:tc>
                  <a:txBody>
                    <a:bodyPr/>
                    <a:lstStyle/>
                    <a:p>
                      <a:pPr indent="0" marL="0">
                        <a:buNone/>
                      </a:pP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total_mwh</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promedio_hora</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c>
                  <a:txBody>
                    <a:bodyPr/>
                    <a:lstStyle/>
                    <a:p>
                      <a:pPr indent="0" marL="0">
                        <a:buNone/>
                      </a:pPr>
                      <a:r>
                        <a:rPr lang="en-US" sz="1100" b="1" dirty="0">
                          <a:solidFill>
                            <a:srgbClr val="202124"/>
                          </a:solidFill>
                          <a:latin typeface="Courier New" pitchFamily="34" charset="0"/>
                          <a:ea typeface="Courier New" pitchFamily="34" charset="-122"/>
                          <a:cs typeface="Courier New" pitchFamily="34" charset="-120"/>
                        </a:rPr>
                        <a:t>centrales</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1F3F4"/>
                    </a:solidFill>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Biobío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8539297.1</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194.4</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5</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Antofagasta</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2447591.2</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69.7</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4</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Valparaíso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2416309.5</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137.5</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Los Lagos</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1954421.7</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111.2</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Coquimbo</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1332262.6</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50.6</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3</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Metropolitana</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1263708.1</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71.9</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r h="237744">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Atacama</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191996.3</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10.9</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1100" dirty="0">
                          <a:solidFill>
                            <a:srgbClr val="202124"/>
                          </a:solidFill>
                          <a:latin typeface="Courier New" pitchFamily="34" charset="0"/>
                          <a:ea typeface="Courier New" pitchFamily="34" charset="-122"/>
                          <a:cs typeface="Courier New" pitchFamily="34" charset="-120"/>
                        </a:rPr>
                        <a:t>2</a:t>
                      </a:r>
                      <a:endParaRPr lang="en-US" sz="1100" dirty="0">
                        <a:latin typeface="Courier New" charset="0"/>
                        <a:ea typeface="Courier New" charset="0"/>
                        <a:cs typeface="Courier New" charset="0"/>
                      </a:endParaRPr>
                    </a:p>
                  </a:txBody>
                  <a:tcPr marL="54864" marR="54864" marT="18288" marB="18288">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r>
            </a:tbl>
          </a:graphicData>
        </a:graphic>
      </p:graphicFrame>
      <p:sp>
        <p:nvSpPr>
          <p:cNvPr id="9" name="Text 5"/>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0" name="Shape 6"/>
          <p:cNvSpPr/>
          <p:nvPr/>
        </p:nvSpPr>
        <p:spPr>
          <a:xfrm>
            <a:off x="548640" y="6062472"/>
            <a:ext cx="1810512" cy="566928"/>
          </a:xfrm>
          <a:prstGeom prst="roundRect">
            <a:avLst>
              <a:gd name="adj" fmla="val 11290"/>
            </a:avLst>
          </a:prstGeom>
          <a:solidFill>
            <a:srgbClr val="E8F0FE"/>
          </a:solidFill>
          <a:ln w="28575">
            <a:solidFill>
              <a:srgbClr val="1A73E8"/>
            </a:solidFill>
            <a:prstDash val="solid"/>
          </a:ln>
        </p:spPr>
      </p:sp>
      <p:sp>
        <p:nvSpPr>
          <p:cNvPr id="11" name="Text 7"/>
          <p:cNvSpPr txBox="1"/>
          <p:nvPr/>
        </p:nvSpPr>
        <p:spPr>
          <a:xfrm>
            <a:off x="640080" y="6071616"/>
            <a:ext cx="167335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gen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175680 × 9</a:t>
            </a:r>
            <a:endParaRPr lang="en-US" sz="1200" dirty="0"/>
          </a:p>
        </p:txBody>
      </p:sp>
      <p:sp>
        <p:nvSpPr>
          <p:cNvPr id="12" name="Shape 8"/>
          <p:cNvSpPr/>
          <p:nvPr/>
        </p:nvSpPr>
        <p:spPr>
          <a:xfrm>
            <a:off x="2496312" y="6062472"/>
            <a:ext cx="1330452" cy="566928"/>
          </a:xfrm>
          <a:prstGeom prst="roundRect">
            <a:avLst>
              <a:gd name="adj" fmla="val 11290"/>
            </a:avLst>
          </a:prstGeom>
          <a:solidFill>
            <a:srgbClr val="FEF3D6"/>
          </a:solidFill>
          <a:ln w="25400">
            <a:solidFill>
              <a:srgbClr val="F9AB00"/>
            </a:solidFill>
            <a:prstDash val="solid"/>
          </a:ln>
        </p:spPr>
      </p:sp>
      <p:sp>
        <p:nvSpPr>
          <p:cNvPr id="13" name="Text 9"/>
          <p:cNvSpPr txBox="1"/>
          <p:nvPr/>
        </p:nvSpPr>
        <p:spPr>
          <a:xfrm>
            <a:off x="2587752" y="6071616"/>
            <a:ext cx="119329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agrupar_por</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"region"</a:t>
            </a:r>
            <a:endParaRPr lang="en-US" sz="1200" dirty="0"/>
          </a:p>
        </p:txBody>
      </p:sp>
      <p:sp>
        <p:nvSpPr>
          <p:cNvPr id="14" name="Shape 10"/>
          <p:cNvSpPr/>
          <p:nvPr/>
        </p:nvSpPr>
        <p:spPr>
          <a:xfrm>
            <a:off x="3963924" y="6062472"/>
            <a:ext cx="1330452" cy="566928"/>
          </a:xfrm>
          <a:prstGeom prst="roundRect">
            <a:avLst>
              <a:gd name="adj" fmla="val 11290"/>
            </a:avLst>
          </a:prstGeom>
          <a:solidFill>
            <a:srgbClr val="FEF3D6"/>
          </a:solidFill>
          <a:ln w="25400">
            <a:solidFill>
              <a:srgbClr val="F9AB00"/>
            </a:solidFill>
            <a:prstDash val="solid"/>
          </a:ln>
        </p:spPr>
      </p:sp>
      <p:sp>
        <p:nvSpPr>
          <p:cNvPr id="15" name="Text 11"/>
          <p:cNvSpPr txBox="1"/>
          <p:nvPr/>
        </p:nvSpPr>
        <p:spPr>
          <a:xfrm>
            <a:off x="4055364" y="6071616"/>
            <a:ext cx="119329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resumen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7 × 3</a:t>
            </a:r>
            <a:endParaRPr lang="en-US" sz="1200" dirty="0"/>
          </a:p>
        </p:txBody>
      </p:sp>
      <p:sp>
        <p:nvSpPr>
          <p:cNvPr id="16" name="Shape 12"/>
          <p:cNvSpPr/>
          <p:nvPr/>
        </p:nvSpPr>
        <p:spPr>
          <a:xfrm>
            <a:off x="5431536" y="6062472"/>
            <a:ext cx="1143000" cy="566928"/>
          </a:xfrm>
          <a:prstGeom prst="roundRect">
            <a:avLst>
              <a:gd name="adj" fmla="val 11290"/>
            </a:avLst>
          </a:prstGeom>
          <a:solidFill>
            <a:srgbClr val="F1F3F4"/>
          </a:solidFill>
          <a:ln w="12700">
            <a:solidFill>
              <a:srgbClr val="DADCE0"/>
            </a:solidFill>
            <a:prstDash val="solid"/>
          </a:ln>
        </p:spPr>
      </p:sp>
      <p:sp>
        <p:nvSpPr>
          <p:cNvPr id="17" name="Text 13"/>
          <p:cNvSpPr txBox="1"/>
          <p:nvPr/>
        </p:nvSpPr>
        <p:spPr>
          <a:xfrm>
            <a:off x="5522976"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caida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7.82…</a:t>
            </a:r>
            <a:endParaRPr lang="en-US" sz="1200" dirty="0"/>
          </a:p>
        </p:txBody>
      </p:sp>
      <p:sp>
        <p:nvSpPr>
          <p:cNvPr id="18" name="Shape 14"/>
          <p:cNvSpPr/>
          <p:nvPr/>
        </p:nvSpPr>
        <p:spPr>
          <a:xfrm>
            <a:off x="6711696" y="6062472"/>
            <a:ext cx="2002536" cy="566928"/>
          </a:xfrm>
          <a:prstGeom prst="roundRect">
            <a:avLst>
              <a:gd name="adj" fmla="val 11290"/>
            </a:avLst>
          </a:prstGeom>
          <a:solidFill>
            <a:srgbClr val="F1F3F4"/>
          </a:solidFill>
          <a:ln w="12700">
            <a:solidFill>
              <a:srgbClr val="DADCE0"/>
            </a:solidFill>
            <a:prstDash val="solid"/>
          </a:ln>
        </p:spPr>
      </p:sp>
      <p:sp>
        <p:nvSpPr>
          <p:cNvPr id="19" name="Text 15"/>
          <p:cNvSpPr txBox="1"/>
          <p:nvPr/>
        </p:nvSpPr>
        <p:spPr>
          <a:xfrm>
            <a:off x="6803136" y="6071616"/>
            <a:ext cx="186537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promedio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serie de 2 valores</a:t>
            </a:r>
            <a:endParaRPr lang="en-US" sz="1200" dirty="0"/>
          </a:p>
        </p:txBody>
      </p:sp>
      <p:sp>
        <p:nvSpPr>
          <p:cNvPr id="20" name="Text 16"/>
          <p:cNvSpPr txBox="1"/>
          <p:nvPr/>
        </p:nvSpPr>
        <p:spPr>
          <a:xfrm>
            <a:off x="8851392"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12 más</a:t>
            </a:r>
            <a:endParaRPr lang="en-US" sz="1200" dirty="0"/>
          </a:p>
        </p:txBody>
      </p:sp>
      <p:sp>
        <p:nvSpPr>
          <p:cNvPr id="21" name="Text 17"/>
          <p:cNvSpPr txBox="1"/>
          <p:nvPr/>
        </p:nvSpPr>
        <p:spPr>
          <a:xfrm>
            <a:off x="548640" y="6638544"/>
            <a:ext cx="11091672" cy="237744"/>
          </a:xfrm>
          <a:prstGeom prst="rect">
            <a:avLst/>
          </a:prstGeom>
          <a:noFill/>
          <a:ln/>
        </p:spPr>
        <p:txBody>
          <a:bodyPr wrap="square" lIns="0" tIns="0" rIns="0" bIns="0" rtlCol="0" anchor="ctr"/>
          <a:lstStyle/>
          <a:p>
            <a:pPr indent="0" marL="0">
              <a:buNone/>
            </a:pPr>
            <a:r>
              <a:rPr lang="en-US" sz="1300" i="1" dirty="0">
                <a:solidFill>
                  <a:srgbClr val="0B3D62"/>
                </a:solidFill>
                <a:latin typeface="Calibri" pitchFamily="34" charset="0"/>
                <a:ea typeface="Calibri" pitchFamily="34" charset="-122"/>
                <a:cs typeface="Calibri" pitchFamily="34" charset="-120"/>
              </a:rPr>
              <a:t>El mismo resumen por región. Biobío tiene 5 centrales y la mayor generación.</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2 de 4</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Tu turno, resume con varios cálculos</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 que hay que llevarse de este paso.</a:t>
            </a:r>
            <a:endParaRPr lang="en-US" sz="1400" dirty="0"/>
          </a:p>
        </p:txBody>
      </p:sp>
      <p:sp>
        <p:nvSpPr>
          <p:cNvPr id="7" name="Shape 4"/>
          <p:cNvSpPr/>
          <p:nvPr/>
        </p:nvSpPr>
        <p:spPr>
          <a:xfrm>
            <a:off x="548640" y="1828800"/>
            <a:ext cx="11091672" cy="2377440"/>
          </a:xfrm>
          <a:prstGeom prst="roundRect">
            <a:avLst>
              <a:gd name="adj" fmla="val 3846"/>
            </a:avLst>
          </a:prstGeom>
          <a:solidFill>
            <a:srgbClr val="FFF8D6"/>
          </a:solidFill>
          <a:ln w="12700">
            <a:solidFill>
              <a:srgbClr val="FFF8D6"/>
            </a:solidFill>
            <a:prstDash val="solid"/>
          </a:ln>
        </p:spPr>
      </p:sp>
      <p:sp>
        <p:nvSpPr>
          <p:cNvPr id="8" name="Text 5"/>
          <p:cNvSpPr txBox="1"/>
          <p:nvPr/>
        </p:nvSpPr>
        <p:spPr>
          <a:xfrm>
            <a:off x="1005840" y="2057400"/>
            <a:ext cx="10177272" cy="1005840"/>
          </a:xfrm>
          <a:prstGeom prst="rect">
            <a:avLst/>
          </a:prstGeom>
          <a:noFill/>
          <a:ln/>
        </p:spPr>
        <p:txBody>
          <a:bodyPr wrap="square" lIns="0" tIns="0" rIns="0" bIns="0" rtlCol="0" anchor="t"/>
          <a:lstStyle/>
          <a:p>
            <a:pPr indent="0" marL="0">
              <a:buNone/>
            </a:pPr>
            <a:r>
              <a:rPr lang="en-US" sz="2800" b="1" dirty="0">
                <a:solidFill>
                  <a:srgbClr val="8A6D00"/>
                </a:solidFill>
                <a:latin typeface="Calibri" pitchFamily="34" charset="0"/>
                <a:ea typeface="Calibri" pitchFamily="34" charset="-122"/>
                <a:cs typeface="Calibri" pitchFamily="34" charset="-120"/>
              </a:rPr>
              <a:t>Un resumen puede traer varios cálculos por grupo.</a:t>
            </a:r>
            <a:endParaRPr lang="en-US" sz="2800" dirty="0"/>
          </a:p>
        </p:txBody>
      </p:sp>
      <p:sp>
        <p:nvSpPr>
          <p:cNvPr id="9" name="Text 6"/>
          <p:cNvSpPr txBox="1"/>
          <p:nvPr/>
        </p:nvSpPr>
        <p:spPr>
          <a:xfrm>
            <a:off x="1005840" y="3154680"/>
            <a:ext cx="10177272" cy="914400"/>
          </a:xfrm>
          <a:prstGeom prst="rect">
            <a:avLst/>
          </a:prstGeom>
          <a:noFill/>
          <a:ln/>
        </p:spPr>
        <p:txBody>
          <a:bodyPr wrap="square" lIns="0" tIns="0" rIns="0" bIns="0" rtlCol="0" anchor="t"/>
          <a:lstStyle/>
          <a:p>
            <a:pPr indent="0" marL="0">
              <a:buNone/>
            </a:pPr>
            <a:r>
              <a:rPr lang="en-US" sz="2200" dirty="0">
                <a:solidFill>
                  <a:srgbClr val="202124"/>
                </a:solidFill>
                <a:latin typeface="Calibri" pitchFamily="34" charset="0"/>
                <a:ea typeface="Calibri" pitchFamily="34" charset="-122"/>
                <a:cs typeface="Calibri" pitchFamily="34" charset="-120"/>
              </a:rPr>
              <a:t>Conviene que uno sea el conteo, para saber cuántos datos hay detrás de cada cifra.</a:t>
            </a:r>
            <a:endParaRPr lang="en-US" sz="2200" dirty="0"/>
          </a:p>
        </p:txBody>
      </p:sp>
      <p:sp>
        <p:nvSpPr>
          <p:cNvPr id="10" name="Text 7"/>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1" name="Shape 8"/>
          <p:cNvSpPr/>
          <p:nvPr/>
        </p:nvSpPr>
        <p:spPr>
          <a:xfrm>
            <a:off x="548640" y="6062472"/>
            <a:ext cx="1810512" cy="566928"/>
          </a:xfrm>
          <a:prstGeom prst="roundRect">
            <a:avLst>
              <a:gd name="adj" fmla="val 11290"/>
            </a:avLst>
          </a:prstGeom>
          <a:solidFill>
            <a:srgbClr val="E8F0FE"/>
          </a:solidFill>
          <a:ln w="28575">
            <a:solidFill>
              <a:srgbClr val="1A73E8"/>
            </a:solidFill>
            <a:prstDash val="solid"/>
          </a:ln>
        </p:spPr>
      </p:sp>
      <p:sp>
        <p:nvSpPr>
          <p:cNvPr id="12" name="Text 9"/>
          <p:cNvSpPr txBox="1"/>
          <p:nvPr/>
        </p:nvSpPr>
        <p:spPr>
          <a:xfrm>
            <a:off x="640080" y="6071616"/>
            <a:ext cx="167335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gen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175680 × 9</a:t>
            </a:r>
            <a:endParaRPr lang="en-US" sz="1200" dirty="0"/>
          </a:p>
        </p:txBody>
      </p:sp>
      <p:sp>
        <p:nvSpPr>
          <p:cNvPr id="13" name="Shape 10"/>
          <p:cNvSpPr/>
          <p:nvPr/>
        </p:nvSpPr>
        <p:spPr>
          <a:xfrm>
            <a:off x="2496312" y="6062472"/>
            <a:ext cx="1330452" cy="566928"/>
          </a:xfrm>
          <a:prstGeom prst="roundRect">
            <a:avLst>
              <a:gd name="adj" fmla="val 11290"/>
            </a:avLst>
          </a:prstGeom>
          <a:solidFill>
            <a:srgbClr val="FEF3D6"/>
          </a:solidFill>
          <a:ln w="25400">
            <a:solidFill>
              <a:srgbClr val="F9AB00"/>
            </a:solidFill>
            <a:prstDash val="solid"/>
          </a:ln>
        </p:spPr>
      </p:sp>
      <p:sp>
        <p:nvSpPr>
          <p:cNvPr id="14" name="Text 11"/>
          <p:cNvSpPr txBox="1"/>
          <p:nvPr/>
        </p:nvSpPr>
        <p:spPr>
          <a:xfrm>
            <a:off x="2587752" y="6071616"/>
            <a:ext cx="119329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agrupar_por</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"region"</a:t>
            </a:r>
            <a:endParaRPr lang="en-US" sz="1200" dirty="0"/>
          </a:p>
        </p:txBody>
      </p:sp>
      <p:sp>
        <p:nvSpPr>
          <p:cNvPr id="15" name="Shape 12"/>
          <p:cNvSpPr/>
          <p:nvPr/>
        </p:nvSpPr>
        <p:spPr>
          <a:xfrm>
            <a:off x="3963924" y="6062472"/>
            <a:ext cx="1330452" cy="566928"/>
          </a:xfrm>
          <a:prstGeom prst="roundRect">
            <a:avLst>
              <a:gd name="adj" fmla="val 11290"/>
            </a:avLst>
          </a:prstGeom>
          <a:solidFill>
            <a:srgbClr val="FEF3D6"/>
          </a:solidFill>
          <a:ln w="25400">
            <a:solidFill>
              <a:srgbClr val="F9AB00"/>
            </a:solidFill>
            <a:prstDash val="solid"/>
          </a:ln>
        </p:spPr>
      </p:sp>
      <p:sp>
        <p:nvSpPr>
          <p:cNvPr id="16" name="Text 13"/>
          <p:cNvSpPr txBox="1"/>
          <p:nvPr/>
        </p:nvSpPr>
        <p:spPr>
          <a:xfrm>
            <a:off x="4055364" y="6071616"/>
            <a:ext cx="119329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resumen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7 × 3</a:t>
            </a:r>
            <a:endParaRPr lang="en-US" sz="1200" dirty="0"/>
          </a:p>
        </p:txBody>
      </p:sp>
      <p:sp>
        <p:nvSpPr>
          <p:cNvPr id="17" name="Shape 14"/>
          <p:cNvSpPr/>
          <p:nvPr/>
        </p:nvSpPr>
        <p:spPr>
          <a:xfrm>
            <a:off x="5431536" y="6062472"/>
            <a:ext cx="1143000" cy="566928"/>
          </a:xfrm>
          <a:prstGeom prst="roundRect">
            <a:avLst>
              <a:gd name="adj" fmla="val 11290"/>
            </a:avLst>
          </a:prstGeom>
          <a:solidFill>
            <a:srgbClr val="F1F3F4"/>
          </a:solidFill>
          <a:ln w="12700">
            <a:solidFill>
              <a:srgbClr val="DADCE0"/>
            </a:solidFill>
            <a:prstDash val="solid"/>
          </a:ln>
        </p:spPr>
      </p:sp>
      <p:sp>
        <p:nvSpPr>
          <p:cNvPr id="18" name="Text 15"/>
          <p:cNvSpPr txBox="1"/>
          <p:nvPr/>
        </p:nvSpPr>
        <p:spPr>
          <a:xfrm>
            <a:off x="5522976"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caida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7.82…</a:t>
            </a:r>
            <a:endParaRPr lang="en-US" sz="1200" dirty="0"/>
          </a:p>
        </p:txBody>
      </p:sp>
      <p:sp>
        <p:nvSpPr>
          <p:cNvPr id="19" name="Shape 16"/>
          <p:cNvSpPr/>
          <p:nvPr/>
        </p:nvSpPr>
        <p:spPr>
          <a:xfrm>
            <a:off x="6711696" y="6062472"/>
            <a:ext cx="2002536" cy="566928"/>
          </a:xfrm>
          <a:prstGeom prst="roundRect">
            <a:avLst>
              <a:gd name="adj" fmla="val 11290"/>
            </a:avLst>
          </a:prstGeom>
          <a:solidFill>
            <a:srgbClr val="F1F3F4"/>
          </a:solidFill>
          <a:ln w="12700">
            <a:solidFill>
              <a:srgbClr val="DADCE0"/>
            </a:solidFill>
            <a:prstDash val="solid"/>
          </a:ln>
        </p:spPr>
      </p:sp>
      <p:sp>
        <p:nvSpPr>
          <p:cNvPr id="20" name="Text 17"/>
          <p:cNvSpPr txBox="1"/>
          <p:nvPr/>
        </p:nvSpPr>
        <p:spPr>
          <a:xfrm>
            <a:off x="6803136" y="6071616"/>
            <a:ext cx="186537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promedio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serie de 2 valores</a:t>
            </a:r>
            <a:endParaRPr lang="en-US" sz="1200" dirty="0"/>
          </a:p>
        </p:txBody>
      </p:sp>
      <p:sp>
        <p:nvSpPr>
          <p:cNvPr id="21" name="Text 18"/>
          <p:cNvSpPr txBox="1"/>
          <p:nvPr/>
        </p:nvSpPr>
        <p:spPr>
          <a:xfrm>
            <a:off x="8851392"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12 más</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3 de 4</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¿Sube el precio cuando sube la demanda?</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Antes de correr la celda. Que respondan en el chat o en voz alta.</a:t>
            </a:r>
            <a:endParaRPr lang="en-US" sz="1400" dirty="0"/>
          </a:p>
        </p:txBody>
      </p:sp>
      <p:sp>
        <p:nvSpPr>
          <p:cNvPr id="6" name="Shape 4"/>
          <p:cNvSpPr/>
          <p:nvPr/>
        </p:nvSpPr>
        <p:spPr>
          <a:xfrm>
            <a:off x="548640" y="1600200"/>
            <a:ext cx="11091672" cy="502920"/>
          </a:xfrm>
          <a:prstGeom prst="roundRect">
            <a:avLst>
              <a:gd name="adj" fmla="val 10909"/>
            </a:avLst>
          </a:prstGeom>
          <a:solidFill>
            <a:srgbClr val="0B3D62"/>
          </a:solidFill>
          <a:ln w="12700">
            <a:solidFill>
              <a:srgbClr val="0B3D62"/>
            </a:solidFill>
            <a:prstDash val="solid"/>
          </a:ln>
        </p:spPr>
      </p:sp>
      <p:sp>
        <p:nvSpPr>
          <p:cNvPr id="7" name="Text 5"/>
          <p:cNvSpPr txBox="1"/>
          <p:nvPr/>
        </p:nvSpPr>
        <p:spPr>
          <a:xfrm>
            <a:off x="822960" y="1600200"/>
            <a:ext cx="10543032" cy="502920"/>
          </a:xfrm>
          <a:prstGeom prst="rect">
            <a:avLst/>
          </a:prstGeom>
          <a:noFill/>
          <a:ln/>
        </p:spPr>
        <p:txBody>
          <a:bodyPr wrap="square" lIns="0" tIns="0" rIns="0" bIns="0" rtlCol="0" anchor="ctr"/>
          <a:lstStyle/>
          <a:p>
            <a:pPr indent="0" marL="0">
              <a:buNone/>
            </a:pPr>
            <a:r>
              <a:rPr lang="en-US" sz="1600" b="1" spc="200" kern="0" dirty="0">
                <a:solidFill>
                  <a:srgbClr val="FFFFFF"/>
                </a:solidFill>
                <a:latin typeface="Calibri" pitchFamily="34" charset="0"/>
                <a:ea typeface="Calibri" pitchFamily="34" charset="-122"/>
                <a:cs typeface="Calibri" pitchFamily="34" charset="-120"/>
              </a:rPr>
              <a:t>¿QUÉ CREEN QUE VA A SALIR?</a:t>
            </a:r>
            <a:endParaRPr lang="en-US" sz="1600" dirty="0"/>
          </a:p>
        </p:txBody>
      </p:sp>
      <p:sp>
        <p:nvSpPr>
          <p:cNvPr id="8" name="Text 6"/>
          <p:cNvSpPr txBox="1"/>
          <p:nvPr/>
        </p:nvSpPr>
        <p:spPr>
          <a:xfrm>
            <a:off x="548640" y="2331720"/>
            <a:ext cx="11091672" cy="822960"/>
          </a:xfrm>
          <a:prstGeom prst="rect">
            <a:avLst/>
          </a:prstGeom>
          <a:noFill/>
          <a:ln/>
        </p:spPr>
        <p:txBody>
          <a:bodyPr wrap="square" lIns="0" tIns="0" rIns="0" bIns="0" rtlCol="0" anchor="t"/>
          <a:lstStyle/>
          <a:p>
            <a:pPr indent="0" marL="0">
              <a:buNone/>
            </a:pPr>
            <a:r>
              <a:rPr lang="en-US" sz="2000" dirty="0">
                <a:solidFill>
                  <a:srgbClr val="5F6368"/>
                </a:solidFill>
                <a:latin typeface="Calibri" pitchFamily="34" charset="0"/>
                <a:ea typeface="Calibri" pitchFamily="34" charset="-122"/>
                <a:cs typeface="Calibri" pitchFamily="34" charset="-120"/>
              </a:rPr>
              <a:t>La correlación va de -1 a 1. Cerca de 1, cuando la demanda sube el precio también sube. Cerca de 0, no hay relación.</a:t>
            </a:r>
            <a:endParaRPr lang="en-US" sz="2000" dirty="0"/>
          </a:p>
        </p:txBody>
      </p:sp>
      <p:sp>
        <p:nvSpPr>
          <p:cNvPr id="9" name="Text 7"/>
          <p:cNvSpPr txBox="1"/>
          <p:nvPr/>
        </p:nvSpPr>
        <p:spPr>
          <a:xfrm>
            <a:off x="548640" y="3154680"/>
            <a:ext cx="11091672" cy="1097280"/>
          </a:xfrm>
          <a:prstGeom prst="rect">
            <a:avLst/>
          </a:prstGeom>
          <a:noFill/>
          <a:ln/>
        </p:spPr>
        <p:txBody>
          <a:bodyPr wrap="square" lIns="0" tIns="0" rIns="0" bIns="0" rtlCol="0" anchor="t"/>
          <a:lstStyle/>
          <a:p>
            <a:pPr indent="0" marL="0">
              <a:buNone/>
            </a:pPr>
            <a:r>
              <a:rPr lang="en-US" sz="3000" b="1" dirty="0">
                <a:solidFill>
                  <a:srgbClr val="202124"/>
                </a:solidFill>
                <a:latin typeface="Calibri" pitchFamily="34" charset="0"/>
                <a:ea typeface="Calibri" pitchFamily="34" charset="-122"/>
                <a:cs typeface="Calibri" pitchFamily="34" charset="-120"/>
              </a:rPr>
              <a:t>Con todas las regiones de enero juntas, ¿cerca de qué número va a quedar?</a:t>
            </a:r>
            <a:endParaRPr lang="en-US" sz="3000" dirty="0"/>
          </a:p>
        </p:txBody>
      </p:sp>
      <p:sp>
        <p:nvSpPr>
          <p:cNvPr id="10" name="Shape 8"/>
          <p:cNvSpPr/>
          <p:nvPr/>
        </p:nvSpPr>
        <p:spPr>
          <a:xfrm>
            <a:off x="548640" y="4572000"/>
            <a:ext cx="3514344" cy="822960"/>
          </a:xfrm>
          <a:prstGeom prst="roundRect">
            <a:avLst>
              <a:gd name="adj" fmla="val 8889"/>
            </a:avLst>
          </a:prstGeom>
          <a:solidFill>
            <a:srgbClr val="FEF3D6"/>
          </a:solidFill>
          <a:ln w="19050">
            <a:solidFill>
              <a:srgbClr val="F9AB00"/>
            </a:solidFill>
            <a:prstDash val="solid"/>
          </a:ln>
        </p:spPr>
      </p:sp>
      <p:sp>
        <p:nvSpPr>
          <p:cNvPr id="11" name="Text 9"/>
          <p:cNvSpPr txBox="1"/>
          <p:nvPr/>
        </p:nvSpPr>
        <p:spPr>
          <a:xfrm>
            <a:off x="548640" y="4572000"/>
            <a:ext cx="3514344" cy="822960"/>
          </a:xfrm>
          <a:prstGeom prst="rect">
            <a:avLst/>
          </a:prstGeom>
          <a:noFill/>
          <a:ln/>
        </p:spPr>
        <p:txBody>
          <a:bodyPr wrap="square" lIns="0" tIns="0" rIns="0" bIns="0" rtlCol="0" anchor="ctr"/>
          <a:lstStyle/>
          <a:p>
            <a:pPr algn="ctr" indent="0" marL="0">
              <a:buNone/>
            </a:pPr>
            <a:r>
              <a:rPr lang="en-US" sz="2000" b="1" dirty="0">
                <a:solidFill>
                  <a:srgbClr val="202124"/>
                </a:solidFill>
                <a:latin typeface="Calibri" pitchFamily="34" charset="0"/>
                <a:ea typeface="Calibri" pitchFamily="34" charset="-122"/>
                <a:cs typeface="Calibri" pitchFamily="34" charset="-120"/>
              </a:rPr>
              <a:t>Cerca de 0</a:t>
            </a:r>
            <a:endParaRPr lang="en-US" sz="2000" dirty="0"/>
          </a:p>
        </p:txBody>
      </p:sp>
      <p:sp>
        <p:nvSpPr>
          <p:cNvPr id="12" name="Shape 10"/>
          <p:cNvSpPr/>
          <p:nvPr/>
        </p:nvSpPr>
        <p:spPr>
          <a:xfrm>
            <a:off x="4337304" y="4572000"/>
            <a:ext cx="3514344" cy="822960"/>
          </a:xfrm>
          <a:prstGeom prst="roundRect">
            <a:avLst>
              <a:gd name="adj" fmla="val 8889"/>
            </a:avLst>
          </a:prstGeom>
          <a:solidFill>
            <a:srgbClr val="FEF3D6"/>
          </a:solidFill>
          <a:ln w="19050">
            <a:solidFill>
              <a:srgbClr val="F9AB00"/>
            </a:solidFill>
            <a:prstDash val="solid"/>
          </a:ln>
        </p:spPr>
      </p:sp>
      <p:sp>
        <p:nvSpPr>
          <p:cNvPr id="13" name="Text 11"/>
          <p:cNvSpPr txBox="1"/>
          <p:nvPr/>
        </p:nvSpPr>
        <p:spPr>
          <a:xfrm>
            <a:off x="4337304" y="4572000"/>
            <a:ext cx="3514344" cy="822960"/>
          </a:xfrm>
          <a:prstGeom prst="rect">
            <a:avLst/>
          </a:prstGeom>
          <a:noFill/>
          <a:ln/>
        </p:spPr>
        <p:txBody>
          <a:bodyPr wrap="square" lIns="0" tIns="0" rIns="0" bIns="0" rtlCol="0" anchor="ctr"/>
          <a:lstStyle/>
          <a:p>
            <a:pPr algn="ctr" indent="0" marL="0">
              <a:buNone/>
            </a:pPr>
            <a:r>
              <a:rPr lang="en-US" sz="2000" b="1" dirty="0">
                <a:solidFill>
                  <a:srgbClr val="202124"/>
                </a:solidFill>
                <a:latin typeface="Calibri" pitchFamily="34" charset="0"/>
                <a:ea typeface="Calibri" pitchFamily="34" charset="-122"/>
                <a:cs typeface="Calibri" pitchFamily="34" charset="-120"/>
              </a:rPr>
              <a:t>Cerca de 0,5</a:t>
            </a:r>
            <a:endParaRPr lang="en-US" sz="2000" dirty="0"/>
          </a:p>
        </p:txBody>
      </p:sp>
      <p:sp>
        <p:nvSpPr>
          <p:cNvPr id="14" name="Shape 12"/>
          <p:cNvSpPr/>
          <p:nvPr/>
        </p:nvSpPr>
        <p:spPr>
          <a:xfrm>
            <a:off x="8125968" y="4572000"/>
            <a:ext cx="3514344" cy="822960"/>
          </a:xfrm>
          <a:prstGeom prst="roundRect">
            <a:avLst>
              <a:gd name="adj" fmla="val 8889"/>
            </a:avLst>
          </a:prstGeom>
          <a:solidFill>
            <a:srgbClr val="FEF3D6"/>
          </a:solidFill>
          <a:ln w="19050">
            <a:solidFill>
              <a:srgbClr val="F9AB00"/>
            </a:solidFill>
            <a:prstDash val="solid"/>
          </a:ln>
        </p:spPr>
      </p:sp>
      <p:sp>
        <p:nvSpPr>
          <p:cNvPr id="15" name="Text 13"/>
          <p:cNvSpPr txBox="1"/>
          <p:nvPr/>
        </p:nvSpPr>
        <p:spPr>
          <a:xfrm>
            <a:off x="8125968" y="4572000"/>
            <a:ext cx="3514344" cy="822960"/>
          </a:xfrm>
          <a:prstGeom prst="rect">
            <a:avLst/>
          </a:prstGeom>
          <a:noFill/>
          <a:ln/>
        </p:spPr>
        <p:txBody>
          <a:bodyPr wrap="square" lIns="0" tIns="0" rIns="0" bIns="0" rtlCol="0" anchor="ctr"/>
          <a:lstStyle/>
          <a:p>
            <a:pPr algn="ctr" indent="0" marL="0">
              <a:buNone/>
            </a:pPr>
            <a:r>
              <a:rPr lang="en-US" sz="2000" b="1" dirty="0">
                <a:solidFill>
                  <a:srgbClr val="202124"/>
                </a:solidFill>
                <a:latin typeface="Calibri" pitchFamily="34" charset="0"/>
                <a:ea typeface="Calibri" pitchFamily="34" charset="-122"/>
                <a:cs typeface="Calibri" pitchFamily="34" charset="-120"/>
              </a:rPr>
              <a:t>Cerca de 1</a:t>
            </a:r>
            <a:endParaRPr lang="en-US" sz="2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3 de 4</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¿Sube el precio cuando sube la demanda?</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Antes de correr la celda, cómo se unen dos tablas por tres columnas a la vez.</a:t>
            </a:r>
            <a:endParaRPr lang="en-US" sz="1400" dirty="0"/>
          </a:p>
        </p:txBody>
      </p:sp>
      <p:pic>
        <p:nvPicPr>
          <p:cNvPr id="6" name="Image 0" descr="../work34/modulos/modulo02/img/lab02_paso8_merge.png">    </p:cNvPr>
          <p:cNvPicPr>
            <a:picLocks noChangeAspect="1"/>
          </p:cNvPicPr>
          <p:nvPr/>
        </p:nvPicPr>
        <p:blipFill>
          <a:blip r:embed="rId1"/>
          <a:stretch>
            <a:fillRect/>
          </a:stretch>
        </p:blipFill>
        <p:spPr>
          <a:xfrm>
            <a:off x="1471870" y="1463040"/>
            <a:ext cx="9245213" cy="461772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4"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3 de 4</a:t>
            </a:r>
            <a:endParaRPr lang="en-US" sz="1400" dirty="0"/>
          </a:p>
        </p:txBody>
      </p:sp>
      <p:sp>
        <p:nvSpPr>
          <p:cNvPr id="5"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¿Sube el precio cuando sube la demanda?</a:t>
            </a:r>
            <a:endParaRPr lang="en-US" sz="2400" dirty="0"/>
          </a:p>
        </p:txBody>
      </p:sp>
      <p:sp>
        <p:nvSpPr>
          <p:cNvPr id="6"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 Une los precios de enero con la demanda de enero.</a:t>
            </a:r>
            <a:endParaRPr lang="en-US" sz="1400" dirty="0"/>
          </a:p>
        </p:txBody>
      </p:sp>
      <p:sp>
        <p:nvSpPr>
          <p:cNvPr id="7" name="Shape 4"/>
          <p:cNvSpPr/>
          <p:nvPr/>
        </p:nvSpPr>
        <p:spPr>
          <a:xfrm>
            <a:off x="548640" y="1481328"/>
            <a:ext cx="11091672" cy="3771900"/>
          </a:xfrm>
          <a:prstGeom prst="roundRect">
            <a:avLst>
              <a:gd name="adj" fmla="val 1455"/>
            </a:avLst>
          </a:prstGeom>
          <a:solidFill>
            <a:srgbClr val="F8F9FA"/>
          </a:solidFill>
          <a:ln w="25400">
            <a:solidFill>
              <a:srgbClr val="F9AB00"/>
            </a:solidFill>
            <a:prstDash val="solid"/>
          </a:ln>
        </p:spPr>
      </p:sp>
      <p:sp>
        <p:nvSpPr>
          <p:cNvPr id="8" name="Shape 5"/>
          <p:cNvSpPr/>
          <p:nvPr/>
        </p:nvSpPr>
        <p:spPr>
          <a:xfrm>
            <a:off x="713232" y="1600200"/>
            <a:ext cx="420624" cy="420624"/>
          </a:xfrm>
          <a:prstGeom prst="ellipse">
            <a:avLst/>
          </a:prstGeom>
          <a:solidFill>
            <a:srgbClr val="F9AB00"/>
          </a:solidFill>
          <a:ln w="12700">
            <a:solidFill>
              <a:srgbClr val="F9AB00"/>
            </a:solidFill>
            <a:prstDash val="solid"/>
          </a:ln>
        </p:spPr>
      </p:sp>
      <p:sp>
        <p:nvSpPr>
          <p:cNvPr id="9" name="Shape 6"/>
          <p:cNvSpPr/>
          <p:nvPr/>
        </p:nvSpPr>
        <p:spPr>
          <a:xfrm rot="5400000">
            <a:off x="850392" y="1719072"/>
            <a:ext cx="182880" cy="182880"/>
          </a:xfrm>
          <a:prstGeom prst="triangle">
            <a:avLst/>
          </a:prstGeom>
          <a:solidFill>
            <a:srgbClr val="FFFFFF"/>
          </a:solidFill>
          <a:ln w="12700">
            <a:solidFill>
              <a:srgbClr val="FFFFFF"/>
            </a:solidFill>
            <a:prstDash val="solid"/>
          </a:ln>
        </p:spPr>
      </p:sp>
      <p:sp>
        <p:nvSpPr>
          <p:cNvPr id="10" name="Text 7"/>
          <p:cNvSpPr txBox="1"/>
          <p:nvPr/>
        </p:nvSpPr>
        <p:spPr>
          <a:xfrm>
            <a:off x="1325880" y="1600200"/>
            <a:ext cx="10085832" cy="3589020"/>
          </a:xfrm>
          <a:prstGeom prst="rect">
            <a:avLst/>
          </a:prstGeom>
          <a:noFill/>
          <a:ln/>
        </p:spPr>
        <p:txBody>
          <a:bodyPr wrap="square" lIns="0" tIns="0" rIns="0" bIns="0" rtlCol="0" anchor="t"/>
          <a:lstStyle/>
          <a:p>
            <a:pPr indent="0" marL="0">
              <a:buNone/>
            </a:pPr>
            <a:r>
              <a:rPr lang="en-US" sz="1300" i="1" dirty="0">
                <a:solidFill>
                  <a:srgbClr val="188038"/>
                </a:solidFill>
                <a:latin typeface="Courier New" pitchFamily="34" charset="0"/>
                <a:ea typeface="Courier New" pitchFamily="34" charset="-122"/>
                <a:cs typeface="Courier New" pitchFamily="34" charset="-120"/>
              </a:rPr>
              <a:t># Estudio 3</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Los precios vienen de un servicio web, como en el Estudio 4 del Lab 01.</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import requests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respuesta = requests.get(DATOS + </a:t>
            </a:r>
            <a:pPr indent="0" marL="0">
              <a:buNone/>
            </a:pPr>
            <a:r>
              <a:rPr lang="en-US" sz="1300" dirty="0">
                <a:solidFill>
                  <a:srgbClr val="A31515"/>
                </a:solidFill>
                <a:latin typeface="Courier New" pitchFamily="34" charset="0"/>
                <a:ea typeface="Courier New" pitchFamily="34" charset="-122"/>
                <a:cs typeface="Courier New" pitchFamily="34" charset="-120"/>
              </a:rPr>
              <a:t>"precios_nudo.json"</a:t>
            </a:r>
            <a:pPr indent="0" marL="0">
              <a:buNone/>
            </a:pPr>
            <a:r>
              <a:rPr lang="en-US" sz="1300" dirty="0">
                <a:solidFill>
                  <a:srgbClr val="202124"/>
                </a:solidFill>
                <a:latin typeface="Courier New" pitchFamily="34" charset="0"/>
                <a:ea typeface="Courier New" pitchFamily="34" charset="-122"/>
                <a:cs typeface="Courier New" pitchFamily="34" charset="-120"/>
              </a:rPr>
              <a:t>).json()</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precios = pd.DataFrame(respuesta[</a:t>
            </a:r>
            <a:pPr indent="0" marL="0">
              <a:buNone/>
            </a:pPr>
            <a:r>
              <a:rPr lang="en-US" sz="1300" dirty="0">
                <a:solidFill>
                  <a:srgbClr val="A31515"/>
                </a:solidFill>
                <a:latin typeface="Courier New" pitchFamily="34" charset="0"/>
                <a:ea typeface="Courier New" pitchFamily="34" charset="-122"/>
                <a:cs typeface="Courier New" pitchFamily="34" charset="-120"/>
              </a:rPr>
              <a:t>"datos"</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La demanda se lee sin parse_dates. Así su fecha queda como texto,</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igual que la de los precios, y las dos columnas calzan.</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demanda = pd.read_csv(DATOS + </a:t>
            </a:r>
            <a:pPr indent="0" marL="0">
              <a:buNone/>
            </a:pPr>
            <a:r>
              <a:rPr lang="en-US" sz="1300" dirty="0">
                <a:solidFill>
                  <a:srgbClr val="A31515"/>
                </a:solidFill>
                <a:latin typeface="Courier New" pitchFamily="34" charset="0"/>
                <a:ea typeface="Courier New" pitchFamily="34" charset="-122"/>
                <a:cs typeface="Courier New" pitchFamily="34" charset="-120"/>
              </a:rPr>
              <a:t>"demanda.csv"</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Se unen por fecha, hora y región a la vez.</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mix = pd.merge(precios, demanda, on=[</a:t>
            </a:r>
            <a:pPr indent="0" marL="0">
              <a:buNone/>
            </a:pPr>
            <a:r>
              <a:rPr lang="en-US" sz="1300" dirty="0">
                <a:solidFill>
                  <a:srgbClr val="A31515"/>
                </a:solidFill>
                <a:latin typeface="Courier New" pitchFamily="34" charset="0"/>
                <a:ea typeface="Courier New" pitchFamily="34" charset="-122"/>
                <a:cs typeface="Courier New" pitchFamily="34" charset="-120"/>
              </a:rPr>
              <a:t>"fecha"</a:t>
            </a:r>
            <a:pPr indent="0" marL="0">
              <a:buNone/>
            </a:pPr>
            <a:r>
              <a:rPr lang="en-US" sz="1300" dirty="0">
                <a:solidFill>
                  <a:srgbClr val="202124"/>
                </a:solidFill>
                <a:latin typeface="Courier New" pitchFamily="34" charset="0"/>
                <a:ea typeface="Courier New" pitchFamily="34" charset="-122"/>
                <a:cs typeface="Courier New" pitchFamily="34" charset="-120"/>
              </a:rPr>
              <a:t>, </a:t>
            </a:r>
            <a:pPr indent="0" marL="0">
              <a:buNone/>
            </a:pPr>
            <a:r>
              <a:rPr lang="en-US" sz="1300" dirty="0">
                <a:solidFill>
                  <a:srgbClr val="A31515"/>
                </a:solidFill>
                <a:latin typeface="Courier New" pitchFamily="34" charset="0"/>
                <a:ea typeface="Courier New" pitchFamily="34" charset="-122"/>
                <a:cs typeface="Courier New" pitchFamily="34" charset="-120"/>
              </a:rPr>
              <a:t>"hora"</a:t>
            </a:r>
            <a:pPr indent="0" marL="0">
              <a:buNone/>
            </a:pPr>
            <a:r>
              <a:rPr lang="en-US" sz="1300" dirty="0">
                <a:solidFill>
                  <a:srgbClr val="202124"/>
                </a:solidFill>
                <a:latin typeface="Courier New" pitchFamily="34" charset="0"/>
                <a:ea typeface="Courier New" pitchFamily="34" charset="-122"/>
                <a:cs typeface="Courier New" pitchFamily="34" charset="-120"/>
              </a:rPr>
              <a:t>, </a:t>
            </a:r>
            <a:pPr indent="0" marL="0">
              <a:buNone/>
            </a:pPr>
            <a:r>
              <a:rPr lang="en-US" sz="1300" dirty="0">
                <a:solidFill>
                  <a:srgbClr val="A31515"/>
                </a:solidFill>
                <a:latin typeface="Courier New" pitchFamily="34" charset="0"/>
                <a:ea typeface="Courier New" pitchFamily="34" charset="-122"/>
                <a:cs typeface="Courier New" pitchFamily="34" charset="-120"/>
              </a:rPr>
              <a:t>"region"</a:t>
            </a:r>
            <a:pPr indent="0" marL="0">
              <a:buNone/>
            </a:pPr>
            <a:r>
              <a:rPr lang="en-US" sz="1300" dirty="0">
                <a:solidFill>
                  <a:srgbClr val="202124"/>
                </a:solidFill>
                <a:latin typeface="Courier New" pitchFamily="34" charset="0"/>
                <a:ea typeface="Courier New" pitchFamily="34" charset="-122"/>
                <a:cs typeface="Courier New" pitchFamily="34" charset="-120"/>
              </a:rPr>
              <a:t>], how=</a:t>
            </a:r>
            <a:pPr indent="0" marL="0">
              <a:buNone/>
            </a:pPr>
            <a:r>
              <a:rPr lang="en-US" sz="1300" dirty="0">
                <a:solidFill>
                  <a:srgbClr val="A31515"/>
                </a:solidFill>
                <a:latin typeface="Courier New" pitchFamily="34" charset="0"/>
                <a:ea typeface="Courier New" pitchFamily="34" charset="-122"/>
                <a:cs typeface="Courier New" pitchFamily="34" charset="-120"/>
              </a:rPr>
              <a:t>"inner"</a:t>
            </a:r>
            <a:pPr indent="0" marL="0">
              <a:buNone/>
            </a:pPr>
            <a:r>
              <a:rPr lang="en-US" sz="1300" dirty="0">
                <a:solidFill>
                  <a:srgbClr val="202124"/>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"Filas unidas"</a:t>
            </a:r>
            <a:pPr indent="0" marL="0">
              <a:buNone/>
            </a:pPr>
            <a:r>
              <a:rPr lang="en-US" sz="1300" dirty="0">
                <a:solidFill>
                  <a:srgbClr val="202124"/>
                </a:solidFill>
                <a:latin typeface="Courier New" pitchFamily="34" charset="0"/>
                <a:ea typeface="Courier New" pitchFamily="34" charset="-122"/>
                <a:cs typeface="Courier New" pitchFamily="34" charset="-120"/>
              </a:rPr>
              <a:t>, len(mix))</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i="1" dirty="0">
                <a:solidFill>
                  <a:srgbClr val="188038"/>
                </a:solidFill>
                <a:latin typeface="Courier New" pitchFamily="34" charset="0"/>
                <a:ea typeface="Courier New" pitchFamily="34" charset="-122"/>
                <a:cs typeface="Courier New" pitchFamily="34" charset="-120"/>
              </a:rPr>
              <a:t># La correlación va de -1 a 1. Cerca de 1 es que suben juntos.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correlacion_total = round(mix[</a:t>
            </a:r>
            <a:pPr indent="0" marL="0">
              <a:buNone/>
            </a:pPr>
            <a:r>
              <a:rPr lang="en-US" sz="1300" dirty="0">
                <a:solidFill>
                  <a:srgbClr val="A31515"/>
                </a:solidFill>
                <a:latin typeface="Courier New" pitchFamily="34" charset="0"/>
                <a:ea typeface="Courier New" pitchFamily="34" charset="-122"/>
                <a:cs typeface="Courier New" pitchFamily="34" charset="-120"/>
              </a:rPr>
              <a:t>"precio_usd_mwh"</a:t>
            </a:r>
            <a:pPr indent="0" marL="0">
              <a:buNone/>
            </a:pPr>
            <a:r>
              <a:rPr lang="en-US" sz="1300" dirty="0">
                <a:solidFill>
                  <a:srgbClr val="202124"/>
                </a:solidFill>
                <a:latin typeface="Courier New" pitchFamily="34" charset="0"/>
                <a:ea typeface="Courier New" pitchFamily="34" charset="-122"/>
                <a:cs typeface="Courier New" pitchFamily="34" charset="-120"/>
              </a:rPr>
              <a:t>].corr(mix[</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 3)</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 Correlación con todas las regiones"</a:t>
            </a:r>
            <a:pPr indent="0" marL="0">
              <a:buNone/>
            </a:pPr>
            <a:r>
              <a:rPr lang="en-US" sz="1300" dirty="0">
                <a:solidFill>
                  <a:srgbClr val="202124"/>
                </a:solidFill>
                <a:latin typeface="Courier New" pitchFamily="34" charset="0"/>
                <a:ea typeface="Courier New" pitchFamily="34" charset="-122"/>
                <a:cs typeface="Courier New" pitchFamily="34" charset="-120"/>
              </a:rPr>
              <a:t>, correlacion_total)</a:t>
            </a:r>
            <a:endParaRPr lang="en-US" sz="1300" dirty="0"/>
          </a:p>
        </p:txBody>
      </p:sp>
      <p:sp>
        <p:nvSpPr>
          <p:cNvPr id="11" name="Text 8"/>
          <p:cNvSpPr txBox="1"/>
          <p:nvPr/>
        </p:nvSpPr>
        <p:spPr>
          <a:xfrm>
            <a:off x="1325880" y="5289804"/>
            <a:ext cx="5486400" cy="256032"/>
          </a:xfrm>
          <a:prstGeom prst="rect">
            <a:avLst/>
          </a:prstGeom>
          <a:noFill/>
          <a:ln/>
        </p:spPr>
        <p:txBody>
          <a:bodyPr wrap="square" lIns="0" tIns="0" rIns="0" bIns="0" rtlCol="0" anchor="ctr"/>
          <a:lstStyle/>
          <a:p>
            <a:pPr indent="0" marL="0">
              <a:buNone/>
            </a:pPr>
            <a:r>
              <a:rPr lang="en-US" sz="1200" b="1" dirty="0">
                <a:solidFill>
                  <a:srgbClr val="B06000"/>
                </a:solidFill>
                <a:latin typeface="Calibri" pitchFamily="34" charset="0"/>
                <a:ea typeface="Calibri" pitchFamily="34" charset="-122"/>
                <a:cs typeface="Calibri" pitchFamily="34" charset="-120"/>
              </a:rPr>
              <a:t>Clic en el botón de play para correr la celda</a:t>
            </a:r>
            <a:endParaRPr lang="en-US" sz="1200" dirty="0"/>
          </a:p>
        </p:txBody>
      </p:sp>
      <p:sp>
        <p:nvSpPr>
          <p:cNvPr id="12" name="Text 9"/>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3" name="Shape 10"/>
          <p:cNvSpPr/>
          <p:nvPr/>
        </p:nvSpPr>
        <p:spPr>
          <a:xfrm>
            <a:off x="548640" y="6062472"/>
            <a:ext cx="1330452" cy="566928"/>
          </a:xfrm>
          <a:prstGeom prst="roundRect">
            <a:avLst>
              <a:gd name="adj" fmla="val 11290"/>
            </a:avLst>
          </a:prstGeom>
          <a:solidFill>
            <a:srgbClr val="F1F3F4"/>
          </a:solidFill>
          <a:ln w="12700">
            <a:solidFill>
              <a:srgbClr val="DADCE0"/>
            </a:solidFill>
            <a:prstDash val="solid"/>
          </a:ln>
        </p:spPr>
      </p:sp>
      <p:sp>
        <p:nvSpPr>
          <p:cNvPr id="14" name="Text 11"/>
          <p:cNvSpPr txBox="1"/>
          <p:nvPr/>
        </p:nvSpPr>
        <p:spPr>
          <a:xfrm>
            <a:off x="640080" y="6071616"/>
            <a:ext cx="119329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resumen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7 × 3</a:t>
            </a:r>
            <a:endParaRPr lang="en-US" sz="1200" dirty="0"/>
          </a:p>
        </p:txBody>
      </p:sp>
      <p:sp>
        <p:nvSpPr>
          <p:cNvPr id="15" name="Shape 12"/>
          <p:cNvSpPr/>
          <p:nvPr/>
        </p:nvSpPr>
        <p:spPr>
          <a:xfrm>
            <a:off x="2016252" y="6062472"/>
            <a:ext cx="1143000" cy="566928"/>
          </a:xfrm>
          <a:prstGeom prst="roundRect">
            <a:avLst>
              <a:gd name="adj" fmla="val 11290"/>
            </a:avLst>
          </a:prstGeom>
          <a:solidFill>
            <a:srgbClr val="F1F3F4"/>
          </a:solidFill>
          <a:ln w="12700">
            <a:solidFill>
              <a:srgbClr val="DADCE0"/>
            </a:solidFill>
            <a:prstDash val="solid"/>
          </a:ln>
        </p:spPr>
      </p:sp>
      <p:sp>
        <p:nvSpPr>
          <p:cNvPr id="16" name="Text 13"/>
          <p:cNvSpPr txBox="1"/>
          <p:nvPr/>
        </p:nvSpPr>
        <p:spPr>
          <a:xfrm>
            <a:off x="2107692"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caida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7.82…</a:t>
            </a:r>
            <a:endParaRPr lang="en-US" sz="1200" dirty="0"/>
          </a:p>
        </p:txBody>
      </p:sp>
      <p:sp>
        <p:nvSpPr>
          <p:cNvPr id="17" name="Shape 14"/>
          <p:cNvSpPr/>
          <p:nvPr/>
        </p:nvSpPr>
        <p:spPr>
          <a:xfrm>
            <a:off x="3296412" y="6062472"/>
            <a:ext cx="2002536" cy="566928"/>
          </a:xfrm>
          <a:prstGeom prst="roundRect">
            <a:avLst>
              <a:gd name="adj" fmla="val 11290"/>
            </a:avLst>
          </a:prstGeom>
          <a:solidFill>
            <a:srgbClr val="F1F3F4"/>
          </a:solidFill>
          <a:ln w="12700">
            <a:solidFill>
              <a:srgbClr val="DADCE0"/>
            </a:solidFill>
            <a:prstDash val="solid"/>
          </a:ln>
        </p:spPr>
      </p:sp>
      <p:sp>
        <p:nvSpPr>
          <p:cNvPr id="18" name="Text 15"/>
          <p:cNvSpPr txBox="1"/>
          <p:nvPr/>
        </p:nvSpPr>
        <p:spPr>
          <a:xfrm>
            <a:off x="3387852" y="6071616"/>
            <a:ext cx="186537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promedio</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serie de 2 valores</a:t>
            </a:r>
            <a:endParaRPr lang="en-US" sz="1200" dirty="0"/>
          </a:p>
        </p:txBody>
      </p:sp>
      <p:sp>
        <p:nvSpPr>
          <p:cNvPr id="19" name="Shape 16"/>
          <p:cNvSpPr/>
          <p:nvPr/>
        </p:nvSpPr>
        <p:spPr>
          <a:xfrm>
            <a:off x="5436108" y="6062472"/>
            <a:ext cx="1714500" cy="566928"/>
          </a:xfrm>
          <a:prstGeom prst="roundRect">
            <a:avLst>
              <a:gd name="adj" fmla="val 11290"/>
            </a:avLst>
          </a:prstGeom>
          <a:solidFill>
            <a:srgbClr val="F1F3F4"/>
          </a:solidFill>
          <a:ln w="12700">
            <a:solidFill>
              <a:srgbClr val="DADCE0"/>
            </a:solidFill>
            <a:prstDash val="solid"/>
          </a:ln>
        </p:spPr>
      </p:sp>
      <p:sp>
        <p:nvSpPr>
          <p:cNvPr id="20" name="Text 17"/>
          <p:cNvSpPr txBox="1"/>
          <p:nvPr/>
        </p:nvSpPr>
        <p:spPr>
          <a:xfrm>
            <a:off x="5527548" y="6071616"/>
            <a:ext cx="15773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demanda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61488 × 5</a:t>
            </a:r>
            <a:endParaRPr lang="en-US" sz="1200" dirty="0"/>
          </a:p>
        </p:txBody>
      </p:sp>
      <p:sp>
        <p:nvSpPr>
          <p:cNvPr id="21" name="Shape 18"/>
          <p:cNvSpPr/>
          <p:nvPr/>
        </p:nvSpPr>
        <p:spPr>
          <a:xfrm>
            <a:off x="7287768" y="6062472"/>
            <a:ext cx="2002536" cy="566928"/>
          </a:xfrm>
          <a:prstGeom prst="roundRect">
            <a:avLst>
              <a:gd name="adj" fmla="val 11290"/>
            </a:avLst>
          </a:prstGeom>
          <a:solidFill>
            <a:srgbClr val="F1F3F4"/>
          </a:solidFill>
          <a:ln w="12700">
            <a:solidFill>
              <a:srgbClr val="DADCE0"/>
            </a:solidFill>
            <a:prstDash val="solid"/>
          </a:ln>
        </p:spPr>
      </p:sp>
      <p:sp>
        <p:nvSpPr>
          <p:cNvPr id="22" name="Text 19"/>
          <p:cNvSpPr txBox="1"/>
          <p:nvPr/>
        </p:nvSpPr>
        <p:spPr>
          <a:xfrm>
            <a:off x="7379208" y="6071616"/>
            <a:ext cx="186537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factor</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serie de 6 valores</a:t>
            </a:r>
            <a:endParaRPr lang="en-US" sz="1200" dirty="0"/>
          </a:p>
        </p:txBody>
      </p:sp>
      <p:sp>
        <p:nvSpPr>
          <p:cNvPr id="23" name="Text 20"/>
          <p:cNvSpPr txBox="1"/>
          <p:nvPr/>
        </p:nvSpPr>
        <p:spPr>
          <a:xfrm>
            <a:off x="9427464"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12 más</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3 de 4</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¿Sube el precio cuando sube la demanda?</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Cómo se lee esta línea, pieza por pieza</a:t>
            </a:r>
            <a:endParaRPr lang="en-US" sz="1400" dirty="0"/>
          </a:p>
        </p:txBody>
      </p:sp>
      <p:sp>
        <p:nvSpPr>
          <p:cNvPr id="6" name="Shape 4"/>
          <p:cNvSpPr/>
          <p:nvPr/>
        </p:nvSpPr>
        <p:spPr>
          <a:xfrm>
            <a:off x="548640" y="1463040"/>
            <a:ext cx="11091672" cy="482600"/>
          </a:xfrm>
          <a:prstGeom prst="roundRect">
            <a:avLst>
              <a:gd name="adj" fmla="val 11368"/>
            </a:avLst>
          </a:prstGeom>
          <a:solidFill>
            <a:srgbClr val="F8F9FA"/>
          </a:solidFill>
          <a:ln w="12700">
            <a:solidFill>
              <a:srgbClr val="DADCE0"/>
            </a:solidFill>
            <a:prstDash val="solid"/>
          </a:ln>
        </p:spPr>
      </p:sp>
      <p:sp>
        <p:nvSpPr>
          <p:cNvPr id="7" name="Text 5"/>
          <p:cNvSpPr txBox="1"/>
          <p:nvPr/>
        </p:nvSpPr>
        <p:spPr>
          <a:xfrm>
            <a:off x="822960" y="1554480"/>
            <a:ext cx="10634472" cy="345440"/>
          </a:xfrm>
          <a:prstGeom prst="rect">
            <a:avLst/>
          </a:prstGeom>
          <a:noFill/>
          <a:ln/>
        </p:spPr>
        <p:txBody>
          <a:bodyPr wrap="square" lIns="0" tIns="0" rIns="0" bIns="0" rtlCol="0" anchor="ctr"/>
          <a:lstStyle/>
          <a:p>
            <a:pPr indent="0" marL="0">
              <a:buNone/>
            </a:pPr>
            <a:r>
              <a:rPr lang="en-US" sz="1600" dirty="0">
                <a:solidFill>
                  <a:srgbClr val="202124"/>
                </a:solidFill>
                <a:latin typeface="Courier New" pitchFamily="34" charset="0"/>
                <a:ea typeface="Courier New" pitchFamily="34" charset="-122"/>
                <a:cs typeface="Courier New" pitchFamily="34" charset="-120"/>
              </a:rPr>
              <a:t>mix = pd.merge(precios, demanda, on=[</a:t>
            </a:r>
            <a:pPr indent="0" marL="0">
              <a:buNone/>
            </a:pPr>
            <a:r>
              <a:rPr lang="en-US" sz="1600" dirty="0">
                <a:solidFill>
                  <a:srgbClr val="A31515"/>
                </a:solidFill>
                <a:latin typeface="Courier New" pitchFamily="34" charset="0"/>
                <a:ea typeface="Courier New" pitchFamily="34" charset="-122"/>
                <a:cs typeface="Courier New" pitchFamily="34" charset="-120"/>
              </a:rPr>
              <a:t>"fecha"</a:t>
            </a:r>
            <a:pPr indent="0" marL="0">
              <a:buNone/>
            </a:pPr>
            <a:r>
              <a:rPr lang="en-US" sz="1600" dirty="0">
                <a:solidFill>
                  <a:srgbClr val="202124"/>
                </a:solidFill>
                <a:latin typeface="Courier New" pitchFamily="34" charset="0"/>
                <a:ea typeface="Courier New" pitchFamily="34" charset="-122"/>
                <a:cs typeface="Courier New" pitchFamily="34" charset="-120"/>
              </a:rPr>
              <a:t>, </a:t>
            </a:r>
            <a:pPr indent="0" marL="0">
              <a:buNone/>
            </a:pPr>
            <a:r>
              <a:rPr lang="en-US" sz="1600" dirty="0">
                <a:solidFill>
                  <a:srgbClr val="A31515"/>
                </a:solidFill>
                <a:latin typeface="Courier New" pitchFamily="34" charset="0"/>
                <a:ea typeface="Courier New" pitchFamily="34" charset="-122"/>
                <a:cs typeface="Courier New" pitchFamily="34" charset="-120"/>
              </a:rPr>
              <a:t>"hora"</a:t>
            </a:r>
            <a:pPr indent="0" marL="0">
              <a:buNone/>
            </a:pPr>
            <a:r>
              <a:rPr lang="en-US" sz="1600" dirty="0">
                <a:solidFill>
                  <a:srgbClr val="202124"/>
                </a:solidFill>
                <a:latin typeface="Courier New" pitchFamily="34" charset="0"/>
                <a:ea typeface="Courier New" pitchFamily="34" charset="-122"/>
                <a:cs typeface="Courier New" pitchFamily="34" charset="-120"/>
              </a:rPr>
              <a:t>, </a:t>
            </a:r>
            <a:pPr indent="0" marL="0">
              <a:buNone/>
            </a:pPr>
            <a:r>
              <a:rPr lang="en-US" sz="1600" dirty="0">
                <a:solidFill>
                  <a:srgbClr val="A31515"/>
                </a:solidFill>
                <a:latin typeface="Courier New" pitchFamily="34" charset="0"/>
                <a:ea typeface="Courier New" pitchFamily="34" charset="-122"/>
                <a:cs typeface="Courier New" pitchFamily="34" charset="-120"/>
              </a:rPr>
              <a:t>"region"</a:t>
            </a:r>
            <a:pPr indent="0" marL="0">
              <a:buNone/>
            </a:pPr>
            <a:r>
              <a:rPr lang="en-US" sz="1600" dirty="0">
                <a:solidFill>
                  <a:srgbClr val="202124"/>
                </a:solidFill>
                <a:latin typeface="Courier New" pitchFamily="34" charset="0"/>
                <a:ea typeface="Courier New" pitchFamily="34" charset="-122"/>
                <a:cs typeface="Courier New" pitchFamily="34" charset="-120"/>
              </a:rPr>
              <a:t>], how=</a:t>
            </a:r>
            <a:pPr indent="0" marL="0">
              <a:buNone/>
            </a:pPr>
            <a:r>
              <a:rPr lang="en-US" sz="1600" dirty="0">
                <a:solidFill>
                  <a:srgbClr val="A31515"/>
                </a:solidFill>
                <a:latin typeface="Courier New" pitchFamily="34" charset="0"/>
                <a:ea typeface="Courier New" pitchFamily="34" charset="-122"/>
                <a:cs typeface="Courier New" pitchFamily="34" charset="-120"/>
              </a:rPr>
              <a:t>"inner"</a:t>
            </a:r>
            <a:pPr indent="0" marL="0">
              <a:buNone/>
            </a:pPr>
            <a:r>
              <a:rPr lang="en-US" sz="1600" dirty="0">
                <a:solidFill>
                  <a:srgbClr val="202124"/>
                </a:solidFill>
                <a:latin typeface="Courier New" pitchFamily="34" charset="0"/>
                <a:ea typeface="Courier New" pitchFamily="34" charset="-122"/>
                <a:cs typeface="Courier New" pitchFamily="34" charset="-120"/>
              </a:rPr>
              <a:t>)</a:t>
            </a:r>
            <a:endParaRPr lang="en-US" sz="1600" dirty="0"/>
          </a:p>
        </p:txBody>
      </p:sp>
      <p:sp>
        <p:nvSpPr>
          <p:cNvPr id="8" name="Shape 6"/>
          <p:cNvSpPr/>
          <p:nvPr/>
        </p:nvSpPr>
        <p:spPr>
          <a:xfrm>
            <a:off x="548640" y="2375408"/>
            <a:ext cx="329184" cy="329184"/>
          </a:xfrm>
          <a:prstGeom prst="ellipse">
            <a:avLst/>
          </a:prstGeom>
          <a:solidFill>
            <a:srgbClr val="1A6FD4"/>
          </a:solidFill>
          <a:ln w="12700">
            <a:solidFill>
              <a:srgbClr val="1A6FD4"/>
            </a:solidFill>
            <a:prstDash val="solid"/>
          </a:ln>
        </p:spPr>
      </p:sp>
      <p:sp>
        <p:nvSpPr>
          <p:cNvPr id="9" name="Text 7"/>
          <p:cNvSpPr txBox="1"/>
          <p:nvPr/>
        </p:nvSpPr>
        <p:spPr>
          <a:xfrm>
            <a:off x="548640" y="23754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Shape 8"/>
          <p:cNvSpPr/>
          <p:nvPr/>
        </p:nvSpPr>
        <p:spPr>
          <a:xfrm>
            <a:off x="1051560" y="2219960"/>
            <a:ext cx="4937760" cy="640080"/>
          </a:xfrm>
          <a:prstGeom prst="roundRect">
            <a:avLst>
              <a:gd name="adj" fmla="val 7143"/>
            </a:avLst>
          </a:prstGeom>
          <a:solidFill>
            <a:srgbClr val="DBE9FB"/>
          </a:solidFill>
          <a:ln w="12700">
            <a:solidFill>
              <a:srgbClr val="DBE9FB"/>
            </a:solidFill>
            <a:prstDash val="solid"/>
          </a:ln>
        </p:spPr>
      </p:sp>
      <p:sp>
        <p:nvSpPr>
          <p:cNvPr id="11" name="Text 9"/>
          <p:cNvSpPr txBox="1"/>
          <p:nvPr/>
        </p:nvSpPr>
        <p:spPr>
          <a:xfrm>
            <a:off x="1170432" y="2219960"/>
            <a:ext cx="4754880" cy="640080"/>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on=["fecha", "hora", "region"]</a:t>
            </a:r>
            <a:endParaRPr lang="en-US" sz="1400" dirty="0"/>
          </a:p>
        </p:txBody>
      </p:sp>
      <p:sp>
        <p:nvSpPr>
          <p:cNvPr id="12" name="Text 10"/>
          <p:cNvSpPr txBox="1"/>
          <p:nvPr/>
        </p:nvSpPr>
        <p:spPr>
          <a:xfrm>
            <a:off x="6263640" y="2219960"/>
            <a:ext cx="5376672" cy="640080"/>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Una lista de columnas. La pareja se busca con las tres a la vez.</a:t>
            </a:r>
            <a:endParaRPr lang="en-US" sz="1600" dirty="0"/>
          </a:p>
        </p:txBody>
      </p:sp>
      <p:sp>
        <p:nvSpPr>
          <p:cNvPr id="13" name="Shape 11"/>
          <p:cNvSpPr/>
          <p:nvPr/>
        </p:nvSpPr>
        <p:spPr>
          <a:xfrm>
            <a:off x="548640" y="3239516"/>
            <a:ext cx="329184" cy="329184"/>
          </a:xfrm>
          <a:prstGeom prst="ellipse">
            <a:avLst/>
          </a:prstGeom>
          <a:solidFill>
            <a:srgbClr val="1E8E3E"/>
          </a:solidFill>
          <a:ln w="12700">
            <a:solidFill>
              <a:srgbClr val="1E8E3E"/>
            </a:solidFill>
            <a:prstDash val="solid"/>
          </a:ln>
        </p:spPr>
      </p:sp>
      <p:sp>
        <p:nvSpPr>
          <p:cNvPr id="14" name="Text 12"/>
          <p:cNvSpPr txBox="1"/>
          <p:nvPr/>
        </p:nvSpPr>
        <p:spPr>
          <a:xfrm>
            <a:off x="548640" y="323951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Shape 13"/>
          <p:cNvSpPr/>
          <p:nvPr/>
        </p:nvSpPr>
        <p:spPr>
          <a:xfrm>
            <a:off x="1051560" y="2951480"/>
            <a:ext cx="4937760" cy="905256"/>
          </a:xfrm>
          <a:prstGeom prst="roundRect">
            <a:avLst>
              <a:gd name="adj" fmla="val 5051"/>
            </a:avLst>
          </a:prstGeom>
          <a:solidFill>
            <a:srgbClr val="DCEFE0"/>
          </a:solidFill>
          <a:ln w="12700">
            <a:solidFill>
              <a:srgbClr val="DCEFE0"/>
            </a:solidFill>
            <a:prstDash val="solid"/>
          </a:ln>
        </p:spPr>
      </p:sp>
      <p:sp>
        <p:nvSpPr>
          <p:cNvPr id="16" name="Text 14"/>
          <p:cNvSpPr txBox="1"/>
          <p:nvPr/>
        </p:nvSpPr>
        <p:spPr>
          <a:xfrm>
            <a:off x="1170432" y="2951480"/>
            <a:ext cx="4754880" cy="905256"/>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how="inner"</a:t>
            </a:r>
            <a:endParaRPr lang="en-US" sz="1400" dirty="0"/>
          </a:p>
        </p:txBody>
      </p:sp>
      <p:sp>
        <p:nvSpPr>
          <p:cNvPr id="17" name="Text 15"/>
          <p:cNvSpPr txBox="1"/>
          <p:nvPr/>
        </p:nvSpPr>
        <p:spPr>
          <a:xfrm>
            <a:off x="6263640" y="2951480"/>
            <a:ext cx="5376672" cy="905256"/>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Quedan solo las combinaciones que están en las dos tablas. Los precios son de enero, así que queda enero.</a:t>
            </a:r>
            <a:endParaRPr lang="en-US" sz="1600" dirty="0"/>
          </a:p>
        </p:txBody>
      </p:sp>
      <p:sp>
        <p:nvSpPr>
          <p:cNvPr id="18" name="Shape 16"/>
          <p:cNvSpPr/>
          <p:nvPr/>
        </p:nvSpPr>
        <p:spPr>
          <a:xfrm>
            <a:off x="548640" y="5989320"/>
            <a:ext cx="73152" cy="548640"/>
          </a:xfrm>
          <a:prstGeom prst="rect">
            <a:avLst/>
          </a:prstGeom>
          <a:solidFill>
            <a:srgbClr val="0B3D62"/>
          </a:solidFill>
          <a:ln w="12700">
            <a:solidFill>
              <a:srgbClr val="0B3D62"/>
            </a:solidFill>
            <a:prstDash val="solid"/>
          </a:ln>
        </p:spPr>
      </p:sp>
      <p:sp>
        <p:nvSpPr>
          <p:cNvPr id="19" name="Text 17"/>
          <p:cNvSpPr txBox="1"/>
          <p:nvPr/>
        </p:nvSpPr>
        <p:spPr>
          <a:xfrm>
            <a:off x="777240" y="5989320"/>
            <a:ext cx="10863072" cy="548640"/>
          </a:xfrm>
          <a:prstGeom prst="rect">
            <a:avLst/>
          </a:prstGeom>
          <a:noFill/>
          <a:ln/>
        </p:spPr>
        <p:txBody>
          <a:bodyPr wrap="square" lIns="0" tIns="0" rIns="0" bIns="0"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Se lee así  </a:t>
            </a:r>
            <a:pPr indent="0" marL="0">
              <a:buNone/>
            </a:pPr>
            <a:r>
              <a:rPr lang="en-US" sz="1500" dirty="0">
                <a:solidFill>
                  <a:srgbClr val="202124"/>
                </a:solidFill>
                <a:latin typeface="Calibri" pitchFamily="34" charset="0"/>
                <a:ea typeface="Calibri" pitchFamily="34" charset="-122"/>
                <a:cs typeface="Calibri" pitchFamily="34" charset="-120"/>
              </a:rPr>
              <a:t>une precios y demanda donde coinciden fecha, hora y región.</a:t>
            </a:r>
            <a:endParaRPr lang="en-US" sz="15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3 de 4</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¿Sube el precio cuando sube la demanda?</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Cómo se lee esta línea, pieza por pieza</a:t>
            </a:r>
            <a:endParaRPr lang="en-US" sz="1400" dirty="0"/>
          </a:p>
        </p:txBody>
      </p:sp>
      <p:sp>
        <p:nvSpPr>
          <p:cNvPr id="6" name="Shape 4"/>
          <p:cNvSpPr/>
          <p:nvPr/>
        </p:nvSpPr>
        <p:spPr>
          <a:xfrm>
            <a:off x="548640" y="1463040"/>
            <a:ext cx="11091672" cy="482600"/>
          </a:xfrm>
          <a:prstGeom prst="roundRect">
            <a:avLst>
              <a:gd name="adj" fmla="val 11368"/>
            </a:avLst>
          </a:prstGeom>
          <a:solidFill>
            <a:srgbClr val="F8F9FA"/>
          </a:solidFill>
          <a:ln w="12700">
            <a:solidFill>
              <a:srgbClr val="DADCE0"/>
            </a:solidFill>
            <a:prstDash val="solid"/>
          </a:ln>
        </p:spPr>
      </p:sp>
      <p:sp>
        <p:nvSpPr>
          <p:cNvPr id="7" name="Text 5"/>
          <p:cNvSpPr txBox="1"/>
          <p:nvPr/>
        </p:nvSpPr>
        <p:spPr>
          <a:xfrm>
            <a:off x="822960" y="1554480"/>
            <a:ext cx="10634472" cy="345440"/>
          </a:xfrm>
          <a:prstGeom prst="rect">
            <a:avLst/>
          </a:prstGeom>
          <a:noFill/>
          <a:ln/>
        </p:spPr>
        <p:txBody>
          <a:bodyPr wrap="square" lIns="0" tIns="0" rIns="0" bIns="0" rtlCol="0" anchor="ctr"/>
          <a:lstStyle/>
          <a:p>
            <a:pPr indent="0" marL="0">
              <a:buNone/>
            </a:pPr>
            <a:r>
              <a:rPr lang="en-US" sz="1600" dirty="0">
                <a:solidFill>
                  <a:srgbClr val="202124"/>
                </a:solidFill>
                <a:latin typeface="Courier New" pitchFamily="34" charset="0"/>
                <a:ea typeface="Courier New" pitchFamily="34" charset="-122"/>
                <a:cs typeface="Courier New" pitchFamily="34" charset="-120"/>
              </a:rPr>
              <a:t>mix[</a:t>
            </a:r>
            <a:pPr indent="0" marL="0">
              <a:buNone/>
            </a:pPr>
            <a:r>
              <a:rPr lang="en-US" sz="1600" dirty="0">
                <a:solidFill>
                  <a:srgbClr val="A31515"/>
                </a:solidFill>
                <a:latin typeface="Courier New" pitchFamily="34" charset="0"/>
                <a:ea typeface="Courier New" pitchFamily="34" charset="-122"/>
                <a:cs typeface="Courier New" pitchFamily="34" charset="-120"/>
              </a:rPr>
              <a:t>"precio_usd_mwh"</a:t>
            </a:r>
            <a:pPr indent="0" marL="0">
              <a:buNone/>
            </a:pPr>
            <a:r>
              <a:rPr lang="en-US" sz="1600" dirty="0">
                <a:solidFill>
                  <a:srgbClr val="202124"/>
                </a:solidFill>
                <a:latin typeface="Courier New" pitchFamily="34" charset="0"/>
                <a:ea typeface="Courier New" pitchFamily="34" charset="-122"/>
                <a:cs typeface="Courier New" pitchFamily="34" charset="-120"/>
              </a:rPr>
              <a:t>].corr(mix[</a:t>
            </a:r>
            <a:pPr indent="0" marL="0">
              <a:buNone/>
            </a:pPr>
            <a:r>
              <a:rPr lang="en-US" sz="1600" dirty="0">
                <a:solidFill>
                  <a:srgbClr val="A31515"/>
                </a:solidFill>
                <a:latin typeface="Courier New" pitchFamily="34" charset="0"/>
                <a:ea typeface="Courier New" pitchFamily="34" charset="-122"/>
                <a:cs typeface="Courier New" pitchFamily="34" charset="-120"/>
              </a:rPr>
              <a:t>"mwh"</a:t>
            </a:r>
            <a:pPr indent="0" marL="0">
              <a:buNone/>
            </a:pPr>
            <a:r>
              <a:rPr lang="en-US" sz="1600" dirty="0">
                <a:solidFill>
                  <a:srgbClr val="202124"/>
                </a:solidFill>
                <a:latin typeface="Courier New" pitchFamily="34" charset="0"/>
                <a:ea typeface="Courier New" pitchFamily="34" charset="-122"/>
                <a:cs typeface="Courier New" pitchFamily="34" charset="-120"/>
              </a:rPr>
              <a:t>])</a:t>
            </a:r>
            <a:endParaRPr lang="en-US" sz="1600" dirty="0"/>
          </a:p>
        </p:txBody>
      </p:sp>
      <p:sp>
        <p:nvSpPr>
          <p:cNvPr id="8" name="Shape 6"/>
          <p:cNvSpPr/>
          <p:nvPr/>
        </p:nvSpPr>
        <p:spPr>
          <a:xfrm>
            <a:off x="548640" y="2320544"/>
            <a:ext cx="329184" cy="329184"/>
          </a:xfrm>
          <a:prstGeom prst="ellipse">
            <a:avLst/>
          </a:prstGeom>
          <a:solidFill>
            <a:srgbClr val="1A6FD4"/>
          </a:solidFill>
          <a:ln w="12700">
            <a:solidFill>
              <a:srgbClr val="1A6FD4"/>
            </a:solidFill>
            <a:prstDash val="solid"/>
          </a:ln>
        </p:spPr>
      </p:sp>
      <p:sp>
        <p:nvSpPr>
          <p:cNvPr id="9" name="Text 7"/>
          <p:cNvSpPr txBox="1"/>
          <p:nvPr/>
        </p:nvSpPr>
        <p:spPr>
          <a:xfrm>
            <a:off x="548640" y="232054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Shape 8"/>
          <p:cNvSpPr/>
          <p:nvPr/>
        </p:nvSpPr>
        <p:spPr>
          <a:xfrm>
            <a:off x="1051560" y="2219960"/>
            <a:ext cx="4937760" cy="530352"/>
          </a:xfrm>
          <a:prstGeom prst="roundRect">
            <a:avLst>
              <a:gd name="adj" fmla="val 8621"/>
            </a:avLst>
          </a:prstGeom>
          <a:solidFill>
            <a:srgbClr val="DBE9FB"/>
          </a:solidFill>
          <a:ln w="12700">
            <a:solidFill>
              <a:srgbClr val="DBE9FB"/>
            </a:solidFill>
            <a:prstDash val="solid"/>
          </a:ln>
        </p:spPr>
      </p:sp>
      <p:sp>
        <p:nvSpPr>
          <p:cNvPr id="11" name="Text 9"/>
          <p:cNvSpPr txBox="1"/>
          <p:nvPr/>
        </p:nvSpPr>
        <p:spPr>
          <a:xfrm>
            <a:off x="1170432" y="2219960"/>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mix["precio_usd_mwh"]</a:t>
            </a:r>
            <a:endParaRPr lang="en-US" sz="1400" dirty="0"/>
          </a:p>
        </p:txBody>
      </p:sp>
      <p:sp>
        <p:nvSpPr>
          <p:cNvPr id="12" name="Text 10"/>
          <p:cNvSpPr txBox="1"/>
          <p:nvPr/>
        </p:nvSpPr>
        <p:spPr>
          <a:xfrm>
            <a:off x="6263640" y="2219960"/>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La columna de precios.</a:t>
            </a:r>
            <a:endParaRPr lang="en-US" sz="1600" dirty="0"/>
          </a:p>
        </p:txBody>
      </p:sp>
      <p:sp>
        <p:nvSpPr>
          <p:cNvPr id="13" name="Shape 11"/>
          <p:cNvSpPr/>
          <p:nvPr/>
        </p:nvSpPr>
        <p:spPr>
          <a:xfrm>
            <a:off x="548640" y="2997200"/>
            <a:ext cx="329184" cy="329184"/>
          </a:xfrm>
          <a:prstGeom prst="ellipse">
            <a:avLst/>
          </a:prstGeom>
          <a:solidFill>
            <a:srgbClr val="1E8E3E"/>
          </a:solidFill>
          <a:ln w="12700">
            <a:solidFill>
              <a:srgbClr val="1E8E3E"/>
            </a:solidFill>
            <a:prstDash val="solid"/>
          </a:ln>
        </p:spPr>
      </p:sp>
      <p:sp>
        <p:nvSpPr>
          <p:cNvPr id="14" name="Text 12"/>
          <p:cNvSpPr txBox="1"/>
          <p:nvPr/>
        </p:nvSpPr>
        <p:spPr>
          <a:xfrm>
            <a:off x="548640" y="29972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Shape 13"/>
          <p:cNvSpPr/>
          <p:nvPr/>
        </p:nvSpPr>
        <p:spPr>
          <a:xfrm>
            <a:off x="1051560" y="2841752"/>
            <a:ext cx="4937760" cy="640080"/>
          </a:xfrm>
          <a:prstGeom prst="roundRect">
            <a:avLst>
              <a:gd name="adj" fmla="val 7143"/>
            </a:avLst>
          </a:prstGeom>
          <a:solidFill>
            <a:srgbClr val="DCEFE0"/>
          </a:solidFill>
          <a:ln w="12700">
            <a:solidFill>
              <a:srgbClr val="DCEFE0"/>
            </a:solidFill>
            <a:prstDash val="solid"/>
          </a:ln>
        </p:spPr>
      </p:sp>
      <p:sp>
        <p:nvSpPr>
          <p:cNvPr id="16" name="Text 14"/>
          <p:cNvSpPr txBox="1"/>
          <p:nvPr/>
        </p:nvSpPr>
        <p:spPr>
          <a:xfrm>
            <a:off x="1170432" y="2841752"/>
            <a:ext cx="4754880" cy="640080"/>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.corr( ... )</a:t>
            </a:r>
            <a:endParaRPr lang="en-US" sz="1400" dirty="0"/>
          </a:p>
        </p:txBody>
      </p:sp>
      <p:sp>
        <p:nvSpPr>
          <p:cNvPr id="17" name="Text 15"/>
          <p:cNvSpPr txBox="1"/>
          <p:nvPr/>
        </p:nvSpPr>
        <p:spPr>
          <a:xfrm>
            <a:off x="6263640" y="2841752"/>
            <a:ext cx="5376672" cy="640080"/>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Calcula la correlación con la columna que va adentro, la demanda. Va de -1 a 1.</a:t>
            </a:r>
            <a:endParaRPr lang="en-US" sz="1600" dirty="0"/>
          </a:p>
        </p:txBody>
      </p:sp>
      <p:sp>
        <p:nvSpPr>
          <p:cNvPr id="18" name="Shape 16"/>
          <p:cNvSpPr/>
          <p:nvPr/>
        </p:nvSpPr>
        <p:spPr>
          <a:xfrm>
            <a:off x="548640" y="5989320"/>
            <a:ext cx="73152" cy="548640"/>
          </a:xfrm>
          <a:prstGeom prst="rect">
            <a:avLst/>
          </a:prstGeom>
          <a:solidFill>
            <a:srgbClr val="0B3D62"/>
          </a:solidFill>
          <a:ln w="12700">
            <a:solidFill>
              <a:srgbClr val="0B3D62"/>
            </a:solidFill>
            <a:prstDash val="solid"/>
          </a:ln>
        </p:spPr>
      </p:sp>
      <p:sp>
        <p:nvSpPr>
          <p:cNvPr id="19" name="Text 17"/>
          <p:cNvSpPr txBox="1"/>
          <p:nvPr/>
        </p:nvSpPr>
        <p:spPr>
          <a:xfrm>
            <a:off x="777240" y="5989320"/>
            <a:ext cx="10863072" cy="548640"/>
          </a:xfrm>
          <a:prstGeom prst="rect">
            <a:avLst/>
          </a:prstGeom>
          <a:noFill/>
          <a:ln/>
        </p:spPr>
        <p:txBody>
          <a:bodyPr wrap="square" lIns="0" tIns="0" rIns="0" bIns="0"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Se lee así  </a:t>
            </a:r>
            <a:pPr indent="0" marL="0">
              <a:buNone/>
            </a:pPr>
            <a:r>
              <a:rPr lang="en-US" sz="1500" dirty="0">
                <a:solidFill>
                  <a:srgbClr val="202124"/>
                </a:solidFill>
                <a:latin typeface="Calibri" pitchFamily="34" charset="0"/>
                <a:ea typeface="Calibri" pitchFamily="34" charset="-122"/>
                <a:cs typeface="Calibri" pitchFamily="34" charset="-120"/>
              </a:rPr>
              <a:t>cuánto se mueven juntos el precio y la demanda.</a:t>
            </a:r>
            <a:endParaRPr lang="en-US" sz="15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3 de 4</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¿Sube el precio cuando sube la demanda?</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Corre la celda. Une los precios de enero con la demanda de enero.</a:t>
            </a:r>
            <a:endParaRPr lang="en-US" sz="1400" dirty="0"/>
          </a:p>
        </p:txBody>
      </p:sp>
      <p:sp>
        <p:nvSpPr>
          <p:cNvPr id="6" name="Shape 4"/>
          <p:cNvSpPr/>
          <p:nvPr/>
        </p:nvSpPr>
        <p:spPr>
          <a:xfrm>
            <a:off x="548640" y="1481328"/>
            <a:ext cx="11091672" cy="3227832"/>
          </a:xfrm>
          <a:prstGeom prst="roundRect">
            <a:avLst>
              <a:gd name="adj" fmla="val 1700"/>
            </a:avLst>
          </a:prstGeom>
          <a:solidFill>
            <a:srgbClr val="F8F9FA"/>
          </a:solidFill>
          <a:ln w="12700">
            <a:solidFill>
              <a:srgbClr val="DADCE0"/>
            </a:solidFill>
            <a:prstDash val="solid"/>
          </a:ln>
        </p:spPr>
      </p:sp>
      <p:sp>
        <p:nvSpPr>
          <p:cNvPr id="7" name="Shape 5"/>
          <p:cNvSpPr/>
          <p:nvPr/>
        </p:nvSpPr>
        <p:spPr>
          <a:xfrm>
            <a:off x="713232" y="1600200"/>
            <a:ext cx="420624" cy="420624"/>
          </a:xfrm>
          <a:prstGeom prst="ellipse">
            <a:avLst/>
          </a:prstGeom>
          <a:solidFill>
            <a:srgbClr val="E8EAED"/>
          </a:solidFill>
          <a:ln w="12700">
            <a:solidFill>
              <a:srgbClr val="E8EAED"/>
            </a:solidFill>
            <a:prstDash val="solid"/>
          </a:ln>
        </p:spPr>
      </p:sp>
      <p:sp>
        <p:nvSpPr>
          <p:cNvPr id="8" name="Shape 6"/>
          <p:cNvSpPr/>
          <p:nvPr/>
        </p:nvSpPr>
        <p:spPr>
          <a:xfrm rot="5400000">
            <a:off x="850392" y="1719072"/>
            <a:ext cx="182880" cy="182880"/>
          </a:xfrm>
          <a:prstGeom prst="triangle">
            <a:avLst/>
          </a:prstGeom>
          <a:solidFill>
            <a:srgbClr val="5F6368"/>
          </a:solidFill>
          <a:ln w="12700">
            <a:solidFill>
              <a:srgbClr val="5F6368"/>
            </a:solidFill>
            <a:prstDash val="solid"/>
          </a:ln>
        </p:spPr>
      </p:sp>
      <p:sp>
        <p:nvSpPr>
          <p:cNvPr id="9" name="Text 7"/>
          <p:cNvSpPr txBox="1"/>
          <p:nvPr/>
        </p:nvSpPr>
        <p:spPr>
          <a:xfrm>
            <a:off x="1325880" y="1600200"/>
            <a:ext cx="10085832" cy="3044952"/>
          </a:xfrm>
          <a:prstGeom prst="rect">
            <a:avLst/>
          </a:prstGeom>
          <a:noFill/>
          <a:ln/>
        </p:spPr>
        <p:txBody>
          <a:bodyPr wrap="square" lIns="0" tIns="0" rIns="0" bIns="0" rtlCol="0" anchor="t"/>
          <a:lstStyle/>
          <a:p>
            <a:pPr indent="0" marL="0">
              <a:buNone/>
            </a:pPr>
            <a:r>
              <a:rPr lang="en-US" sz="1100" i="1" dirty="0">
                <a:solidFill>
                  <a:srgbClr val="188038"/>
                </a:solidFill>
                <a:latin typeface="Courier New" pitchFamily="34" charset="0"/>
                <a:ea typeface="Courier New" pitchFamily="34" charset="-122"/>
                <a:cs typeface="Courier New" pitchFamily="34" charset="-120"/>
              </a:rPr>
              <a:t># Estudio 3</a:t>
            </a:r>
            <a:endParaRPr lang="en-US" sz="1100" dirty="0"/>
          </a:p>
          <a:p>
            <a:pPr indent="0" marL="0">
              <a:buNone/>
            </a:pPr>
            <a:r>
              <a:rPr lang="en-US" sz="1100" i="1" dirty="0">
                <a:solidFill>
                  <a:srgbClr val="188038"/>
                </a:solidFill>
                <a:latin typeface="Courier New" pitchFamily="34" charset="0"/>
                <a:ea typeface="Courier New" pitchFamily="34" charset="-122"/>
                <a:cs typeface="Courier New" pitchFamily="34" charset="-120"/>
              </a:rPr>
              <a:t># Los precios vienen de un servicio web, como en el Estudio 4 del Lab 01.</a:t>
            </a:r>
            <a:endParaRPr lang="en-US" sz="1100" dirty="0"/>
          </a:p>
          <a:p>
            <a:pPr indent="0" marL="0">
              <a:buNone/>
            </a:pPr>
            <a:r>
              <a:rPr lang="en-US" sz="1100" dirty="0">
                <a:solidFill>
                  <a:srgbClr val="202124"/>
                </a:solidFill>
                <a:latin typeface="Courier New" pitchFamily="34" charset="0"/>
                <a:ea typeface="Courier New" pitchFamily="34" charset="-122"/>
                <a:cs typeface="Courier New" pitchFamily="34" charset="-120"/>
              </a:rPr>
              <a:t>import requests</a:t>
            </a:r>
            <a:endParaRPr lang="en-US" sz="1100" dirty="0"/>
          </a:p>
          <a:p>
            <a:pPr indent="0" marL="0">
              <a:buNone/>
            </a:pPr>
            <a:r>
              <a:rPr lang="en-US" sz="1100" dirty="0">
                <a:solidFill>
                  <a:srgbClr val="202124"/>
                </a:solidFill>
                <a:latin typeface="Courier New" pitchFamily="34" charset="0"/>
                <a:ea typeface="Courier New" pitchFamily="34" charset="-122"/>
                <a:cs typeface="Courier New" pitchFamily="34" charset="-120"/>
              </a:rPr>
              <a:t>respuesta = requests.get(DATOS + </a:t>
            </a:r>
            <a:pPr indent="0" marL="0">
              <a:buNone/>
            </a:pPr>
            <a:r>
              <a:rPr lang="en-US" sz="1100" dirty="0">
                <a:solidFill>
                  <a:srgbClr val="A31515"/>
                </a:solidFill>
                <a:latin typeface="Courier New" pitchFamily="34" charset="0"/>
                <a:ea typeface="Courier New" pitchFamily="34" charset="-122"/>
                <a:cs typeface="Courier New" pitchFamily="34" charset="-120"/>
              </a:rPr>
              <a:t>"precios_nudo.json"</a:t>
            </a:r>
            <a:pPr indent="0" marL="0">
              <a:buNone/>
            </a:pPr>
            <a:r>
              <a:rPr lang="en-US" sz="1100" dirty="0">
                <a:solidFill>
                  <a:srgbClr val="202124"/>
                </a:solidFill>
                <a:latin typeface="Courier New" pitchFamily="34" charset="0"/>
                <a:ea typeface="Courier New" pitchFamily="34" charset="-122"/>
                <a:cs typeface="Courier New" pitchFamily="34" charset="-120"/>
              </a:rPr>
              <a:t>).json()</a:t>
            </a:r>
            <a:endParaRPr lang="en-US" sz="1100" dirty="0"/>
          </a:p>
          <a:p>
            <a:pPr indent="0" marL="0">
              <a:buNone/>
            </a:pPr>
            <a:r>
              <a:rPr lang="en-US" sz="1100" dirty="0">
                <a:solidFill>
                  <a:srgbClr val="202124"/>
                </a:solidFill>
                <a:latin typeface="Courier New" pitchFamily="34" charset="0"/>
                <a:ea typeface="Courier New" pitchFamily="34" charset="-122"/>
                <a:cs typeface="Courier New" pitchFamily="34" charset="-120"/>
              </a:rPr>
              <a:t>precios = pd.DataFrame(respuesta[</a:t>
            </a:r>
            <a:pPr indent="0" marL="0">
              <a:buNone/>
            </a:pPr>
            <a:r>
              <a:rPr lang="en-US" sz="1100" dirty="0">
                <a:solidFill>
                  <a:srgbClr val="A31515"/>
                </a:solidFill>
                <a:latin typeface="Courier New" pitchFamily="34" charset="0"/>
                <a:ea typeface="Courier New" pitchFamily="34" charset="-122"/>
                <a:cs typeface="Courier New" pitchFamily="34" charset="-120"/>
              </a:rPr>
              <a:t>"datos"</a:t>
            </a:r>
            <a:pPr indent="0" marL="0">
              <a:buNone/>
            </a:pPr>
            <a:r>
              <a:rPr lang="en-US" sz="1100" dirty="0">
                <a:solidFill>
                  <a:srgbClr val="202124"/>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202124"/>
                </a:solidFill>
                <a:latin typeface="Courier New" pitchFamily="34" charset="0"/>
                <a:ea typeface="Courier New" pitchFamily="34" charset="-122"/>
                <a:cs typeface="Courier New" pitchFamily="34" charset="-120"/>
              </a:rPr>
              <a:t> </a:t>
            </a:r>
            <a:endParaRPr lang="en-US" sz="1100" dirty="0"/>
          </a:p>
          <a:p>
            <a:pPr indent="0" marL="0">
              <a:buNone/>
            </a:pPr>
            <a:r>
              <a:rPr lang="en-US" sz="1100" i="1" dirty="0">
                <a:solidFill>
                  <a:srgbClr val="188038"/>
                </a:solidFill>
                <a:latin typeface="Courier New" pitchFamily="34" charset="0"/>
                <a:ea typeface="Courier New" pitchFamily="34" charset="-122"/>
                <a:cs typeface="Courier New" pitchFamily="34" charset="-120"/>
              </a:rPr>
              <a:t># La demanda se lee sin parse_dates. Así su fecha queda como texto,</a:t>
            </a:r>
            <a:endParaRPr lang="en-US" sz="1100" dirty="0"/>
          </a:p>
          <a:p>
            <a:pPr indent="0" marL="0">
              <a:buNone/>
            </a:pPr>
            <a:r>
              <a:rPr lang="en-US" sz="1100" i="1" dirty="0">
                <a:solidFill>
                  <a:srgbClr val="188038"/>
                </a:solidFill>
                <a:latin typeface="Courier New" pitchFamily="34" charset="0"/>
                <a:ea typeface="Courier New" pitchFamily="34" charset="-122"/>
                <a:cs typeface="Courier New" pitchFamily="34" charset="-120"/>
              </a:rPr>
              <a:t># igual que la de los precios, y las dos columnas calzan.</a:t>
            </a:r>
            <a:endParaRPr lang="en-US" sz="1100" dirty="0"/>
          </a:p>
          <a:p>
            <a:pPr indent="0" marL="0">
              <a:buNone/>
            </a:pPr>
            <a:r>
              <a:rPr lang="en-US" sz="1100" dirty="0">
                <a:solidFill>
                  <a:srgbClr val="202124"/>
                </a:solidFill>
                <a:latin typeface="Courier New" pitchFamily="34" charset="0"/>
                <a:ea typeface="Courier New" pitchFamily="34" charset="-122"/>
                <a:cs typeface="Courier New" pitchFamily="34" charset="-120"/>
              </a:rPr>
              <a:t>demanda = pd.read_csv(DATOS + </a:t>
            </a:r>
            <a:pPr indent="0" marL="0">
              <a:buNone/>
            </a:pPr>
            <a:r>
              <a:rPr lang="en-US" sz="1100" dirty="0">
                <a:solidFill>
                  <a:srgbClr val="A31515"/>
                </a:solidFill>
                <a:latin typeface="Courier New" pitchFamily="34" charset="0"/>
                <a:ea typeface="Courier New" pitchFamily="34" charset="-122"/>
                <a:cs typeface="Courier New" pitchFamily="34" charset="-120"/>
              </a:rPr>
              <a:t>"demanda.csv"</a:t>
            </a:r>
            <a:pPr indent="0" marL="0">
              <a:buNone/>
            </a:pPr>
            <a:r>
              <a:rPr lang="en-US" sz="1100" dirty="0">
                <a:solidFill>
                  <a:srgbClr val="202124"/>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202124"/>
                </a:solidFill>
                <a:latin typeface="Courier New" pitchFamily="34" charset="0"/>
                <a:ea typeface="Courier New" pitchFamily="34" charset="-122"/>
                <a:cs typeface="Courier New" pitchFamily="34" charset="-120"/>
              </a:rPr>
              <a:t> </a:t>
            </a:r>
            <a:endParaRPr lang="en-US" sz="1100" dirty="0"/>
          </a:p>
          <a:p>
            <a:pPr indent="0" marL="0">
              <a:buNone/>
            </a:pPr>
            <a:r>
              <a:rPr lang="en-US" sz="1100" i="1" dirty="0">
                <a:solidFill>
                  <a:srgbClr val="188038"/>
                </a:solidFill>
                <a:latin typeface="Courier New" pitchFamily="34" charset="0"/>
                <a:ea typeface="Courier New" pitchFamily="34" charset="-122"/>
                <a:cs typeface="Courier New" pitchFamily="34" charset="-120"/>
              </a:rPr>
              <a:t># Se unen por fecha, hora y región a la vez.</a:t>
            </a:r>
            <a:endParaRPr lang="en-US" sz="1100" dirty="0"/>
          </a:p>
          <a:p>
            <a:pPr indent="0" marL="0">
              <a:buNone/>
            </a:pPr>
            <a:r>
              <a:rPr lang="en-US" sz="1100" dirty="0">
                <a:solidFill>
                  <a:srgbClr val="202124"/>
                </a:solidFill>
                <a:latin typeface="Courier New" pitchFamily="34" charset="0"/>
                <a:ea typeface="Courier New" pitchFamily="34" charset="-122"/>
                <a:cs typeface="Courier New" pitchFamily="34" charset="-120"/>
              </a:rPr>
              <a:t>mix = pd.merge(precios, demanda, on=[</a:t>
            </a:r>
            <a:pPr indent="0" marL="0">
              <a:buNone/>
            </a:pPr>
            <a:r>
              <a:rPr lang="en-US" sz="1100" dirty="0">
                <a:solidFill>
                  <a:srgbClr val="A31515"/>
                </a:solidFill>
                <a:latin typeface="Courier New" pitchFamily="34" charset="0"/>
                <a:ea typeface="Courier New" pitchFamily="34" charset="-122"/>
                <a:cs typeface="Courier New" pitchFamily="34" charset="-120"/>
              </a:rPr>
              <a:t>"fecha"</a:t>
            </a:r>
            <a:pPr indent="0" marL="0">
              <a:buNone/>
            </a:pPr>
            <a:r>
              <a:rPr lang="en-US" sz="1100" dirty="0">
                <a:solidFill>
                  <a:srgbClr val="202124"/>
                </a:solidFill>
                <a:latin typeface="Courier New" pitchFamily="34" charset="0"/>
                <a:ea typeface="Courier New" pitchFamily="34" charset="-122"/>
                <a:cs typeface="Courier New" pitchFamily="34" charset="-120"/>
              </a:rPr>
              <a:t>, </a:t>
            </a:r>
            <a:pPr indent="0" marL="0">
              <a:buNone/>
            </a:pPr>
            <a:r>
              <a:rPr lang="en-US" sz="1100" dirty="0">
                <a:solidFill>
                  <a:srgbClr val="A31515"/>
                </a:solidFill>
                <a:latin typeface="Courier New" pitchFamily="34" charset="0"/>
                <a:ea typeface="Courier New" pitchFamily="34" charset="-122"/>
                <a:cs typeface="Courier New" pitchFamily="34" charset="-120"/>
              </a:rPr>
              <a:t>"hora"</a:t>
            </a:r>
            <a:pPr indent="0" marL="0">
              <a:buNone/>
            </a:pPr>
            <a:r>
              <a:rPr lang="en-US" sz="1100" dirty="0">
                <a:solidFill>
                  <a:srgbClr val="202124"/>
                </a:solidFill>
                <a:latin typeface="Courier New" pitchFamily="34" charset="0"/>
                <a:ea typeface="Courier New" pitchFamily="34" charset="-122"/>
                <a:cs typeface="Courier New" pitchFamily="34" charset="-120"/>
              </a:rPr>
              <a:t>, </a:t>
            </a:r>
            <a:pPr indent="0" marL="0">
              <a:buNone/>
            </a:pPr>
            <a:r>
              <a:rPr lang="en-US" sz="1100" dirty="0">
                <a:solidFill>
                  <a:srgbClr val="A31515"/>
                </a:solidFill>
                <a:latin typeface="Courier New" pitchFamily="34" charset="0"/>
                <a:ea typeface="Courier New" pitchFamily="34" charset="-122"/>
                <a:cs typeface="Courier New" pitchFamily="34" charset="-120"/>
              </a:rPr>
              <a:t>"region"</a:t>
            </a:r>
            <a:pPr indent="0" marL="0">
              <a:buNone/>
            </a:pPr>
            <a:r>
              <a:rPr lang="en-US" sz="1100" dirty="0">
                <a:solidFill>
                  <a:srgbClr val="202124"/>
                </a:solidFill>
                <a:latin typeface="Courier New" pitchFamily="34" charset="0"/>
                <a:ea typeface="Courier New" pitchFamily="34" charset="-122"/>
                <a:cs typeface="Courier New" pitchFamily="34" charset="-120"/>
              </a:rPr>
              <a:t>], how=</a:t>
            </a:r>
            <a:pPr indent="0" marL="0">
              <a:buNone/>
            </a:pPr>
            <a:r>
              <a:rPr lang="en-US" sz="1100" dirty="0">
                <a:solidFill>
                  <a:srgbClr val="A31515"/>
                </a:solidFill>
                <a:latin typeface="Courier New" pitchFamily="34" charset="0"/>
                <a:ea typeface="Courier New" pitchFamily="34" charset="-122"/>
                <a:cs typeface="Courier New" pitchFamily="34" charset="-120"/>
              </a:rPr>
              <a:t>"inner"</a:t>
            </a:r>
            <a:pPr indent="0" marL="0">
              <a:buNone/>
            </a:pPr>
            <a:r>
              <a:rPr lang="en-US" sz="1100" dirty="0">
                <a:solidFill>
                  <a:srgbClr val="202124"/>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202124"/>
                </a:solidFill>
                <a:latin typeface="Courier New" pitchFamily="34" charset="0"/>
                <a:ea typeface="Courier New" pitchFamily="34" charset="-122"/>
                <a:cs typeface="Courier New" pitchFamily="34" charset="-120"/>
              </a:rPr>
              <a:t>print(</a:t>
            </a:r>
            <a:pPr indent="0" marL="0">
              <a:buNone/>
            </a:pPr>
            <a:r>
              <a:rPr lang="en-US" sz="1100" dirty="0">
                <a:solidFill>
                  <a:srgbClr val="A31515"/>
                </a:solidFill>
                <a:latin typeface="Courier New" pitchFamily="34" charset="0"/>
                <a:ea typeface="Courier New" pitchFamily="34" charset="-122"/>
                <a:cs typeface="Courier New" pitchFamily="34" charset="-120"/>
              </a:rPr>
              <a:t>"Filas unidas"</a:t>
            </a:r>
            <a:pPr indent="0" marL="0">
              <a:buNone/>
            </a:pPr>
            <a:r>
              <a:rPr lang="en-US" sz="1100" dirty="0">
                <a:solidFill>
                  <a:srgbClr val="202124"/>
                </a:solidFill>
                <a:latin typeface="Courier New" pitchFamily="34" charset="0"/>
                <a:ea typeface="Courier New" pitchFamily="34" charset="-122"/>
                <a:cs typeface="Courier New" pitchFamily="34" charset="-120"/>
              </a:rPr>
              <a:t>, len(mix))</a:t>
            </a:r>
            <a:endParaRPr lang="en-US" sz="1100" dirty="0"/>
          </a:p>
          <a:p>
            <a:pPr indent="0" marL="0">
              <a:buNone/>
            </a:pPr>
            <a:r>
              <a:rPr lang="en-US" sz="1100" dirty="0">
                <a:solidFill>
                  <a:srgbClr val="202124"/>
                </a:solidFill>
                <a:latin typeface="Courier New" pitchFamily="34" charset="0"/>
                <a:ea typeface="Courier New" pitchFamily="34" charset="-122"/>
                <a:cs typeface="Courier New" pitchFamily="34" charset="-120"/>
              </a:rPr>
              <a:t> </a:t>
            </a:r>
            <a:endParaRPr lang="en-US" sz="1100" dirty="0"/>
          </a:p>
          <a:p>
            <a:pPr indent="0" marL="0">
              <a:buNone/>
            </a:pPr>
            <a:r>
              <a:rPr lang="en-US" sz="1100" i="1" dirty="0">
                <a:solidFill>
                  <a:srgbClr val="188038"/>
                </a:solidFill>
                <a:latin typeface="Courier New" pitchFamily="34" charset="0"/>
                <a:ea typeface="Courier New" pitchFamily="34" charset="-122"/>
                <a:cs typeface="Courier New" pitchFamily="34" charset="-120"/>
              </a:rPr>
              <a:t># La correlación va de -1 a 1. Cerca de 1 es que suben juntos.</a:t>
            </a:r>
            <a:endParaRPr lang="en-US" sz="1100" dirty="0"/>
          </a:p>
          <a:p>
            <a:pPr indent="0" marL="0">
              <a:buNone/>
            </a:pPr>
            <a:r>
              <a:rPr lang="en-US" sz="1100" dirty="0">
                <a:solidFill>
                  <a:srgbClr val="202124"/>
                </a:solidFill>
                <a:latin typeface="Courier New" pitchFamily="34" charset="0"/>
                <a:ea typeface="Courier New" pitchFamily="34" charset="-122"/>
                <a:cs typeface="Courier New" pitchFamily="34" charset="-120"/>
              </a:rPr>
              <a:t>correlacion_total = round(mix[</a:t>
            </a:r>
            <a:pPr indent="0" marL="0">
              <a:buNone/>
            </a:pPr>
            <a:r>
              <a:rPr lang="en-US" sz="1100" dirty="0">
                <a:solidFill>
                  <a:srgbClr val="A31515"/>
                </a:solidFill>
                <a:latin typeface="Courier New" pitchFamily="34" charset="0"/>
                <a:ea typeface="Courier New" pitchFamily="34" charset="-122"/>
                <a:cs typeface="Courier New" pitchFamily="34" charset="-120"/>
              </a:rPr>
              <a:t>"precio_usd_mwh"</a:t>
            </a:r>
            <a:pPr indent="0" marL="0">
              <a:buNone/>
            </a:pPr>
            <a:r>
              <a:rPr lang="en-US" sz="1100" dirty="0">
                <a:solidFill>
                  <a:srgbClr val="202124"/>
                </a:solidFill>
                <a:latin typeface="Courier New" pitchFamily="34" charset="0"/>
                <a:ea typeface="Courier New" pitchFamily="34" charset="-122"/>
                <a:cs typeface="Courier New" pitchFamily="34" charset="-120"/>
              </a:rPr>
              <a:t>].corr(mix[</a:t>
            </a:r>
            <a:pPr indent="0" marL="0">
              <a:buNone/>
            </a:pPr>
            <a:r>
              <a:rPr lang="en-US" sz="1100" dirty="0">
                <a:solidFill>
                  <a:srgbClr val="A31515"/>
                </a:solidFill>
                <a:latin typeface="Courier New" pitchFamily="34" charset="0"/>
                <a:ea typeface="Courier New" pitchFamily="34" charset="-122"/>
                <a:cs typeface="Courier New" pitchFamily="34" charset="-120"/>
              </a:rPr>
              <a:t>"mwh"</a:t>
            </a:r>
            <a:pPr indent="0" marL="0">
              <a:buNone/>
            </a:pPr>
            <a:r>
              <a:rPr lang="en-US" sz="1100" dirty="0">
                <a:solidFill>
                  <a:srgbClr val="202124"/>
                </a:solidFill>
                <a:latin typeface="Courier New" pitchFamily="34" charset="0"/>
                <a:ea typeface="Courier New" pitchFamily="34" charset="-122"/>
                <a:cs typeface="Courier New" pitchFamily="34" charset="-120"/>
              </a:rPr>
              <a:t>]), 3)</a:t>
            </a:r>
            <a:endParaRPr lang="en-US" sz="1100" dirty="0"/>
          </a:p>
          <a:p>
            <a:pPr indent="0" marL="0">
              <a:buNone/>
            </a:pPr>
            <a:r>
              <a:rPr lang="en-US" sz="1100" dirty="0">
                <a:solidFill>
                  <a:srgbClr val="202124"/>
                </a:solidFill>
                <a:latin typeface="Courier New" pitchFamily="34" charset="0"/>
                <a:ea typeface="Courier New" pitchFamily="34" charset="-122"/>
                <a:cs typeface="Courier New" pitchFamily="34" charset="-120"/>
              </a:rPr>
              <a:t>print(</a:t>
            </a:r>
            <a:pPr indent="0" marL="0">
              <a:buNone/>
            </a:pPr>
            <a:r>
              <a:rPr lang="en-US" sz="1100" dirty="0">
                <a:solidFill>
                  <a:srgbClr val="A31515"/>
                </a:solidFill>
                <a:latin typeface="Courier New" pitchFamily="34" charset="0"/>
                <a:ea typeface="Courier New" pitchFamily="34" charset="-122"/>
                <a:cs typeface="Courier New" pitchFamily="34" charset="-120"/>
              </a:rPr>
              <a:t>"✓ Correlación con todas las regiones"</a:t>
            </a:r>
            <a:pPr indent="0" marL="0">
              <a:buNone/>
            </a:pPr>
            <a:r>
              <a:rPr lang="en-US" sz="1100" dirty="0">
                <a:solidFill>
                  <a:srgbClr val="202124"/>
                </a:solidFill>
                <a:latin typeface="Courier New" pitchFamily="34" charset="0"/>
                <a:ea typeface="Courier New" pitchFamily="34" charset="-122"/>
                <a:cs typeface="Courier New" pitchFamily="34" charset="-120"/>
              </a:rPr>
              <a:t>, correlacion_total)</a:t>
            </a:r>
            <a:endParaRPr lang="en-US" sz="1100" dirty="0"/>
          </a:p>
        </p:txBody>
      </p:sp>
      <p:sp>
        <p:nvSpPr>
          <p:cNvPr id="10" name="Shape 8"/>
          <p:cNvSpPr/>
          <p:nvPr/>
        </p:nvSpPr>
        <p:spPr>
          <a:xfrm>
            <a:off x="1325880" y="4818888"/>
            <a:ext cx="10314432" cy="585216"/>
          </a:xfrm>
          <a:prstGeom prst="rect">
            <a:avLst/>
          </a:prstGeom>
          <a:solidFill>
            <a:srgbClr val="FFFFFF"/>
          </a:solidFill>
          <a:ln w="12700">
            <a:solidFill>
              <a:srgbClr val="DADCE0"/>
            </a:solidFill>
            <a:prstDash val="solid"/>
          </a:ln>
        </p:spPr>
      </p:sp>
      <p:sp>
        <p:nvSpPr>
          <p:cNvPr id="11" name="Text 9"/>
          <p:cNvSpPr txBox="1"/>
          <p:nvPr/>
        </p:nvSpPr>
        <p:spPr>
          <a:xfrm>
            <a:off x="1463040" y="4892040"/>
            <a:ext cx="10085832" cy="457200"/>
          </a:xfrm>
          <a:prstGeom prst="rect">
            <a:avLst/>
          </a:prstGeom>
          <a:noFill/>
          <a:ln/>
        </p:spPr>
        <p:txBody>
          <a:bodyPr wrap="square" lIns="0" tIns="0" rIns="0" bIns="0" rtlCol="0" anchor="t"/>
          <a:lstStyle/>
          <a:p>
            <a:pPr indent="0" marL="0">
              <a:buNone/>
            </a:pPr>
            <a:r>
              <a:rPr lang="en-US" sz="1200" dirty="0">
                <a:solidFill>
                  <a:srgbClr val="202124"/>
                </a:solidFill>
                <a:latin typeface="Courier New" pitchFamily="34" charset="0"/>
                <a:ea typeface="Courier New" pitchFamily="34" charset="-122"/>
                <a:cs typeface="Courier New" pitchFamily="34" charset="-120"/>
              </a:rPr>
              <a:t>Filas unidas 5208</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 Correlación con todas las regiones 0.979</a:t>
            </a:r>
            <a:endParaRPr lang="en-US" sz="1200" dirty="0"/>
          </a:p>
        </p:txBody>
      </p:sp>
      <p:sp>
        <p:nvSpPr>
          <p:cNvPr id="13" name="Text 10"/>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4" name="Shape 11"/>
          <p:cNvSpPr/>
          <p:nvPr/>
        </p:nvSpPr>
        <p:spPr>
          <a:xfrm>
            <a:off x="548640" y="6062472"/>
            <a:ext cx="2770632" cy="566928"/>
          </a:xfrm>
          <a:prstGeom prst="roundRect">
            <a:avLst>
              <a:gd name="adj" fmla="val 11290"/>
            </a:avLst>
          </a:prstGeom>
          <a:solidFill>
            <a:srgbClr val="E8F0FE"/>
          </a:solidFill>
          <a:ln w="28575">
            <a:solidFill>
              <a:srgbClr val="1A73E8"/>
            </a:solidFill>
            <a:prstDash val="solid"/>
          </a:ln>
        </p:spPr>
      </p:sp>
      <p:sp>
        <p:nvSpPr>
          <p:cNvPr id="15" name="Text 12"/>
          <p:cNvSpPr txBox="1"/>
          <p:nvPr/>
        </p:nvSpPr>
        <p:spPr>
          <a:xfrm>
            <a:off x="640080" y="6071616"/>
            <a:ext cx="263347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DATOS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"https://raw.githubuserco…</a:t>
            </a:r>
            <a:endParaRPr lang="en-US" sz="1200" dirty="0"/>
          </a:p>
        </p:txBody>
      </p:sp>
      <p:sp>
        <p:nvSpPr>
          <p:cNvPr id="16" name="Shape 13"/>
          <p:cNvSpPr/>
          <p:nvPr/>
        </p:nvSpPr>
        <p:spPr>
          <a:xfrm>
            <a:off x="3456432" y="6062472"/>
            <a:ext cx="1143000" cy="566928"/>
          </a:xfrm>
          <a:prstGeom prst="roundRect">
            <a:avLst>
              <a:gd name="adj" fmla="val 11290"/>
            </a:avLst>
          </a:prstGeom>
          <a:solidFill>
            <a:srgbClr val="E8F0FE"/>
          </a:solidFill>
          <a:ln w="28575">
            <a:solidFill>
              <a:srgbClr val="1A73E8"/>
            </a:solidFill>
            <a:prstDash val="solid"/>
          </a:ln>
        </p:spPr>
      </p:sp>
      <p:sp>
        <p:nvSpPr>
          <p:cNvPr id="17" name="Text 14"/>
          <p:cNvSpPr txBox="1"/>
          <p:nvPr/>
        </p:nvSpPr>
        <p:spPr>
          <a:xfrm>
            <a:off x="3547872"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pandas</a:t>
            </a:r>
            <a:endParaRPr lang="en-US" sz="1200" dirty="0"/>
          </a:p>
        </p:txBody>
      </p:sp>
      <p:sp>
        <p:nvSpPr>
          <p:cNvPr id="18" name="Shape 15"/>
          <p:cNvSpPr/>
          <p:nvPr/>
        </p:nvSpPr>
        <p:spPr>
          <a:xfrm>
            <a:off x="4736592" y="6062472"/>
            <a:ext cx="1714500" cy="566928"/>
          </a:xfrm>
          <a:prstGeom prst="roundRect">
            <a:avLst>
              <a:gd name="adj" fmla="val 11290"/>
            </a:avLst>
          </a:prstGeom>
          <a:solidFill>
            <a:srgbClr val="FEF3D6"/>
          </a:solidFill>
          <a:ln w="25400">
            <a:solidFill>
              <a:srgbClr val="F9AB00"/>
            </a:solidFill>
            <a:prstDash val="solid"/>
          </a:ln>
        </p:spPr>
      </p:sp>
      <p:sp>
        <p:nvSpPr>
          <p:cNvPr id="19" name="Text 16"/>
          <p:cNvSpPr txBox="1"/>
          <p:nvPr/>
        </p:nvSpPr>
        <p:spPr>
          <a:xfrm>
            <a:off x="4828032" y="6071616"/>
            <a:ext cx="15773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demanda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61488 × 4</a:t>
            </a:r>
            <a:endParaRPr lang="en-US" sz="1200" dirty="0"/>
          </a:p>
        </p:txBody>
      </p:sp>
      <p:sp>
        <p:nvSpPr>
          <p:cNvPr id="20" name="Shape 17"/>
          <p:cNvSpPr/>
          <p:nvPr/>
        </p:nvSpPr>
        <p:spPr>
          <a:xfrm>
            <a:off x="6588252" y="6062472"/>
            <a:ext cx="2002536" cy="566928"/>
          </a:xfrm>
          <a:prstGeom prst="roundRect">
            <a:avLst>
              <a:gd name="adj" fmla="val 11290"/>
            </a:avLst>
          </a:prstGeom>
          <a:solidFill>
            <a:srgbClr val="FEF3D6"/>
          </a:solidFill>
          <a:ln w="25400">
            <a:solidFill>
              <a:srgbClr val="F9AB00"/>
            </a:solidFill>
            <a:prstDash val="solid"/>
          </a:ln>
        </p:spPr>
      </p:sp>
      <p:sp>
        <p:nvSpPr>
          <p:cNvPr id="21" name="Text 18"/>
          <p:cNvSpPr txBox="1"/>
          <p:nvPr/>
        </p:nvSpPr>
        <p:spPr>
          <a:xfrm>
            <a:off x="6679692" y="6071616"/>
            <a:ext cx="186537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respuesta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datos con 2 partes</a:t>
            </a:r>
            <a:endParaRPr lang="en-US" sz="1200" dirty="0"/>
          </a:p>
        </p:txBody>
      </p:sp>
      <p:sp>
        <p:nvSpPr>
          <p:cNvPr id="22" name="Shape 19"/>
          <p:cNvSpPr/>
          <p:nvPr/>
        </p:nvSpPr>
        <p:spPr>
          <a:xfrm>
            <a:off x="8727948" y="6062472"/>
            <a:ext cx="1618488" cy="566928"/>
          </a:xfrm>
          <a:prstGeom prst="roundRect">
            <a:avLst>
              <a:gd name="adj" fmla="val 11290"/>
            </a:avLst>
          </a:prstGeom>
          <a:solidFill>
            <a:srgbClr val="FEF3D6"/>
          </a:solidFill>
          <a:ln w="25400">
            <a:solidFill>
              <a:srgbClr val="F9AB00"/>
            </a:solidFill>
            <a:prstDash val="solid"/>
          </a:ln>
        </p:spPr>
      </p:sp>
      <p:sp>
        <p:nvSpPr>
          <p:cNvPr id="23" name="Text 20"/>
          <p:cNvSpPr txBox="1"/>
          <p:nvPr/>
        </p:nvSpPr>
        <p:spPr>
          <a:xfrm>
            <a:off x="8819388" y="6071616"/>
            <a:ext cx="1481328"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precios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5208 × 4</a:t>
            </a:r>
            <a:endParaRPr lang="en-US" sz="1200" dirty="0"/>
          </a:p>
        </p:txBody>
      </p:sp>
      <p:sp>
        <p:nvSpPr>
          <p:cNvPr id="24" name="Text 21"/>
          <p:cNvSpPr txBox="1"/>
          <p:nvPr/>
        </p:nvSpPr>
        <p:spPr>
          <a:xfrm>
            <a:off x="10483596"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16 más</a:t>
            </a:r>
            <a:endParaRPr lang="en-US" sz="1200" dirty="0"/>
          </a:p>
        </p:txBody>
      </p:sp>
      <p:sp>
        <p:nvSpPr>
          <p:cNvPr id="25" name="Text 22"/>
          <p:cNvSpPr txBox="1"/>
          <p:nvPr/>
        </p:nvSpPr>
        <p:spPr>
          <a:xfrm>
            <a:off x="548640" y="6638544"/>
            <a:ext cx="11091672" cy="237744"/>
          </a:xfrm>
          <a:prstGeom prst="rect">
            <a:avLst/>
          </a:prstGeom>
          <a:noFill/>
          <a:ln/>
        </p:spPr>
        <p:txBody>
          <a:bodyPr wrap="square" lIns="0" tIns="0" rIns="0" bIns="0" rtlCol="0" anchor="ctr"/>
          <a:lstStyle/>
          <a:p>
            <a:pPr indent="0" marL="0">
              <a:buNone/>
            </a:pPr>
            <a:r>
              <a:rPr lang="en-US" sz="1300" i="1" dirty="0">
                <a:solidFill>
                  <a:srgbClr val="0B3D62"/>
                </a:solidFill>
                <a:latin typeface="Calibri" pitchFamily="34" charset="0"/>
                <a:ea typeface="Calibri" pitchFamily="34" charset="-122"/>
                <a:cs typeface="Calibri" pitchFamily="34" charset="-120"/>
              </a:rPr>
              <a:t>0,979 parece decir que precio y demanda suben juntos casi siempre.</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3 de 4</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¿Sube el precio cuando sube la demanda?</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 que hay que llevarse de este paso.</a:t>
            </a:r>
            <a:endParaRPr lang="en-US" sz="1400" dirty="0"/>
          </a:p>
        </p:txBody>
      </p:sp>
      <p:sp>
        <p:nvSpPr>
          <p:cNvPr id="7" name="Shape 4"/>
          <p:cNvSpPr/>
          <p:nvPr/>
        </p:nvSpPr>
        <p:spPr>
          <a:xfrm>
            <a:off x="548640" y="1828800"/>
            <a:ext cx="11091672" cy="2377440"/>
          </a:xfrm>
          <a:prstGeom prst="roundRect">
            <a:avLst>
              <a:gd name="adj" fmla="val 3846"/>
            </a:avLst>
          </a:prstGeom>
          <a:solidFill>
            <a:srgbClr val="FFF8D6"/>
          </a:solidFill>
          <a:ln w="12700">
            <a:solidFill>
              <a:srgbClr val="FFF8D6"/>
            </a:solidFill>
            <a:prstDash val="solid"/>
          </a:ln>
        </p:spPr>
      </p:sp>
      <p:sp>
        <p:nvSpPr>
          <p:cNvPr id="8" name="Text 5"/>
          <p:cNvSpPr txBox="1"/>
          <p:nvPr/>
        </p:nvSpPr>
        <p:spPr>
          <a:xfrm>
            <a:off x="1005840" y="2057400"/>
            <a:ext cx="10177272" cy="1005840"/>
          </a:xfrm>
          <a:prstGeom prst="rect">
            <a:avLst/>
          </a:prstGeom>
          <a:noFill/>
          <a:ln/>
        </p:spPr>
        <p:txBody>
          <a:bodyPr wrap="square" lIns="0" tIns="0" rIns="0" bIns="0" rtlCol="0" anchor="t"/>
          <a:lstStyle/>
          <a:p>
            <a:pPr indent="0" marL="0">
              <a:buNone/>
            </a:pPr>
            <a:r>
              <a:rPr lang="en-US" sz="2800" b="1" dirty="0">
                <a:solidFill>
                  <a:srgbClr val="8A6D00"/>
                </a:solidFill>
                <a:latin typeface="Calibri" pitchFamily="34" charset="0"/>
                <a:ea typeface="Calibri" pitchFamily="34" charset="-122"/>
                <a:cs typeface="Calibri" pitchFamily="34" charset="-120"/>
              </a:rPr>
              <a:t>Para unir por varias columnas, se pasan todas en on.</a:t>
            </a:r>
            <a:endParaRPr lang="en-US" sz="2800" dirty="0"/>
          </a:p>
        </p:txBody>
      </p:sp>
      <p:sp>
        <p:nvSpPr>
          <p:cNvPr id="9" name="Text 6"/>
          <p:cNvSpPr txBox="1"/>
          <p:nvPr/>
        </p:nvSpPr>
        <p:spPr>
          <a:xfrm>
            <a:off x="1005840" y="3154680"/>
            <a:ext cx="10177272" cy="914400"/>
          </a:xfrm>
          <a:prstGeom prst="rect">
            <a:avLst/>
          </a:prstGeom>
          <a:noFill/>
          <a:ln/>
        </p:spPr>
        <p:txBody>
          <a:bodyPr wrap="square" lIns="0" tIns="0" rIns="0" bIns="0" rtlCol="0" anchor="t"/>
          <a:lstStyle/>
          <a:p>
            <a:pPr indent="0" marL="0">
              <a:buNone/>
            </a:pPr>
            <a:r>
              <a:rPr lang="en-US" sz="2200" dirty="0">
                <a:solidFill>
                  <a:srgbClr val="202124"/>
                </a:solidFill>
                <a:latin typeface="Calibri" pitchFamily="34" charset="0"/>
                <a:ea typeface="Calibri" pitchFamily="34" charset="-122"/>
                <a:cs typeface="Calibri" pitchFamily="34" charset="-120"/>
              </a:rPr>
              <a:t>Una fila de precios calza con la demanda solo si coinciden la fecha, la hora y la región.</a:t>
            </a:r>
            <a:endParaRPr lang="en-US" sz="2200" dirty="0"/>
          </a:p>
        </p:txBody>
      </p:sp>
      <p:sp>
        <p:nvSpPr>
          <p:cNvPr id="10" name="Text 7"/>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1" name="Shape 8"/>
          <p:cNvSpPr/>
          <p:nvPr/>
        </p:nvSpPr>
        <p:spPr>
          <a:xfrm>
            <a:off x="548640" y="6062472"/>
            <a:ext cx="2770632" cy="566928"/>
          </a:xfrm>
          <a:prstGeom prst="roundRect">
            <a:avLst>
              <a:gd name="adj" fmla="val 11290"/>
            </a:avLst>
          </a:prstGeom>
          <a:solidFill>
            <a:srgbClr val="E8F0FE"/>
          </a:solidFill>
          <a:ln w="28575">
            <a:solidFill>
              <a:srgbClr val="1A73E8"/>
            </a:solidFill>
            <a:prstDash val="solid"/>
          </a:ln>
        </p:spPr>
      </p:sp>
      <p:sp>
        <p:nvSpPr>
          <p:cNvPr id="12" name="Text 9"/>
          <p:cNvSpPr txBox="1"/>
          <p:nvPr/>
        </p:nvSpPr>
        <p:spPr>
          <a:xfrm>
            <a:off x="640080" y="6071616"/>
            <a:ext cx="263347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DATOS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"https://raw.githubuserco…</a:t>
            </a:r>
            <a:endParaRPr lang="en-US" sz="1200" dirty="0"/>
          </a:p>
        </p:txBody>
      </p:sp>
      <p:sp>
        <p:nvSpPr>
          <p:cNvPr id="13" name="Shape 10"/>
          <p:cNvSpPr/>
          <p:nvPr/>
        </p:nvSpPr>
        <p:spPr>
          <a:xfrm>
            <a:off x="3456432" y="6062472"/>
            <a:ext cx="1143000" cy="566928"/>
          </a:xfrm>
          <a:prstGeom prst="roundRect">
            <a:avLst>
              <a:gd name="adj" fmla="val 11290"/>
            </a:avLst>
          </a:prstGeom>
          <a:solidFill>
            <a:srgbClr val="E8F0FE"/>
          </a:solidFill>
          <a:ln w="28575">
            <a:solidFill>
              <a:srgbClr val="1A73E8"/>
            </a:solidFill>
            <a:prstDash val="solid"/>
          </a:ln>
        </p:spPr>
      </p:sp>
      <p:sp>
        <p:nvSpPr>
          <p:cNvPr id="14" name="Text 11"/>
          <p:cNvSpPr txBox="1"/>
          <p:nvPr/>
        </p:nvSpPr>
        <p:spPr>
          <a:xfrm>
            <a:off x="3547872"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pd</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pandas</a:t>
            </a:r>
            <a:endParaRPr lang="en-US" sz="1200" dirty="0"/>
          </a:p>
        </p:txBody>
      </p:sp>
      <p:sp>
        <p:nvSpPr>
          <p:cNvPr id="15" name="Shape 12"/>
          <p:cNvSpPr/>
          <p:nvPr/>
        </p:nvSpPr>
        <p:spPr>
          <a:xfrm>
            <a:off x="4736592" y="6062472"/>
            <a:ext cx="1714500" cy="566928"/>
          </a:xfrm>
          <a:prstGeom prst="roundRect">
            <a:avLst>
              <a:gd name="adj" fmla="val 11290"/>
            </a:avLst>
          </a:prstGeom>
          <a:solidFill>
            <a:srgbClr val="FEF3D6"/>
          </a:solidFill>
          <a:ln w="25400">
            <a:solidFill>
              <a:srgbClr val="F9AB00"/>
            </a:solidFill>
            <a:prstDash val="solid"/>
          </a:ln>
        </p:spPr>
      </p:sp>
      <p:sp>
        <p:nvSpPr>
          <p:cNvPr id="16" name="Text 13"/>
          <p:cNvSpPr txBox="1"/>
          <p:nvPr/>
        </p:nvSpPr>
        <p:spPr>
          <a:xfrm>
            <a:off x="4828032" y="6071616"/>
            <a:ext cx="15773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demanda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61488 × 4</a:t>
            </a:r>
            <a:endParaRPr lang="en-US" sz="1200" dirty="0"/>
          </a:p>
        </p:txBody>
      </p:sp>
      <p:sp>
        <p:nvSpPr>
          <p:cNvPr id="17" name="Shape 14"/>
          <p:cNvSpPr/>
          <p:nvPr/>
        </p:nvSpPr>
        <p:spPr>
          <a:xfrm>
            <a:off x="6588252" y="6062472"/>
            <a:ext cx="2002536" cy="566928"/>
          </a:xfrm>
          <a:prstGeom prst="roundRect">
            <a:avLst>
              <a:gd name="adj" fmla="val 11290"/>
            </a:avLst>
          </a:prstGeom>
          <a:solidFill>
            <a:srgbClr val="FEF3D6"/>
          </a:solidFill>
          <a:ln w="25400">
            <a:solidFill>
              <a:srgbClr val="F9AB00"/>
            </a:solidFill>
            <a:prstDash val="solid"/>
          </a:ln>
        </p:spPr>
      </p:sp>
      <p:sp>
        <p:nvSpPr>
          <p:cNvPr id="18" name="Text 15"/>
          <p:cNvSpPr txBox="1"/>
          <p:nvPr/>
        </p:nvSpPr>
        <p:spPr>
          <a:xfrm>
            <a:off x="6679692" y="6071616"/>
            <a:ext cx="186537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respuesta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datos con 2 partes</a:t>
            </a:r>
            <a:endParaRPr lang="en-US" sz="1200" dirty="0"/>
          </a:p>
        </p:txBody>
      </p:sp>
      <p:sp>
        <p:nvSpPr>
          <p:cNvPr id="19" name="Shape 16"/>
          <p:cNvSpPr/>
          <p:nvPr/>
        </p:nvSpPr>
        <p:spPr>
          <a:xfrm>
            <a:off x="8727948" y="6062472"/>
            <a:ext cx="1618488" cy="566928"/>
          </a:xfrm>
          <a:prstGeom prst="roundRect">
            <a:avLst>
              <a:gd name="adj" fmla="val 11290"/>
            </a:avLst>
          </a:prstGeom>
          <a:solidFill>
            <a:srgbClr val="FEF3D6"/>
          </a:solidFill>
          <a:ln w="25400">
            <a:solidFill>
              <a:srgbClr val="F9AB00"/>
            </a:solidFill>
            <a:prstDash val="solid"/>
          </a:ln>
        </p:spPr>
      </p:sp>
      <p:sp>
        <p:nvSpPr>
          <p:cNvPr id="20" name="Text 17"/>
          <p:cNvSpPr txBox="1"/>
          <p:nvPr/>
        </p:nvSpPr>
        <p:spPr>
          <a:xfrm>
            <a:off x="8819388" y="6071616"/>
            <a:ext cx="1481328"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precios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5208 × 4</a:t>
            </a:r>
            <a:endParaRPr lang="en-US" sz="1200" dirty="0"/>
          </a:p>
        </p:txBody>
      </p:sp>
      <p:sp>
        <p:nvSpPr>
          <p:cNvPr id="21" name="Text 18"/>
          <p:cNvSpPr txBox="1"/>
          <p:nvPr/>
        </p:nvSpPr>
        <p:spPr>
          <a:xfrm>
            <a:off x="10483596"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16 más</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4 de 4</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¿Y dentro de cada región?</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 que acabamos de calcular, dibujado. Cada punto es una hora de una región.</a:t>
            </a:r>
            <a:endParaRPr lang="en-US" sz="1400" dirty="0"/>
          </a:p>
        </p:txBody>
      </p:sp>
      <p:pic>
        <p:nvPicPr>
          <p:cNvPr id="6" name="Image 0" descr="../work34/modulos/modulo02/img/lab02_paso5_a_todas.png">    </p:cNvPr>
          <p:cNvPicPr>
            <a:picLocks noChangeAspect="1"/>
          </p:cNvPicPr>
          <p:nvPr/>
        </p:nvPicPr>
        <p:blipFill>
          <a:blip r:embed="rId1"/>
          <a:stretch>
            <a:fillRect/>
          </a:stretch>
        </p:blipFill>
        <p:spPr>
          <a:xfrm>
            <a:off x="947521" y="1463040"/>
            <a:ext cx="10293910" cy="461772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4 de 4</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¿Y dentro de cada región?</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Antes de correr la celda. Que respondan en el chat o en voz alta.</a:t>
            </a:r>
            <a:endParaRPr lang="en-US" sz="1400" dirty="0"/>
          </a:p>
        </p:txBody>
      </p:sp>
      <p:sp>
        <p:nvSpPr>
          <p:cNvPr id="6" name="Shape 4"/>
          <p:cNvSpPr/>
          <p:nvPr/>
        </p:nvSpPr>
        <p:spPr>
          <a:xfrm>
            <a:off x="548640" y="1600200"/>
            <a:ext cx="11091672" cy="502920"/>
          </a:xfrm>
          <a:prstGeom prst="roundRect">
            <a:avLst>
              <a:gd name="adj" fmla="val 10909"/>
            </a:avLst>
          </a:prstGeom>
          <a:solidFill>
            <a:srgbClr val="0B3D62"/>
          </a:solidFill>
          <a:ln w="12700">
            <a:solidFill>
              <a:srgbClr val="0B3D62"/>
            </a:solidFill>
            <a:prstDash val="solid"/>
          </a:ln>
        </p:spPr>
      </p:sp>
      <p:sp>
        <p:nvSpPr>
          <p:cNvPr id="7" name="Text 5"/>
          <p:cNvSpPr txBox="1"/>
          <p:nvPr/>
        </p:nvSpPr>
        <p:spPr>
          <a:xfrm>
            <a:off x="822960" y="1600200"/>
            <a:ext cx="10543032" cy="502920"/>
          </a:xfrm>
          <a:prstGeom prst="rect">
            <a:avLst/>
          </a:prstGeom>
          <a:noFill/>
          <a:ln/>
        </p:spPr>
        <p:txBody>
          <a:bodyPr wrap="square" lIns="0" tIns="0" rIns="0" bIns="0" rtlCol="0" anchor="ctr"/>
          <a:lstStyle/>
          <a:p>
            <a:pPr indent="0" marL="0">
              <a:buNone/>
            </a:pPr>
            <a:r>
              <a:rPr lang="en-US" sz="1600" b="1" spc="200" kern="0" dirty="0">
                <a:solidFill>
                  <a:srgbClr val="FFFFFF"/>
                </a:solidFill>
                <a:latin typeface="Calibri" pitchFamily="34" charset="0"/>
                <a:ea typeface="Calibri" pitchFamily="34" charset="-122"/>
                <a:cs typeface="Calibri" pitchFamily="34" charset="-120"/>
              </a:rPr>
              <a:t>¿QUÉ CREEN QUE VA A SALIR?</a:t>
            </a:r>
            <a:endParaRPr lang="en-US" sz="1600" dirty="0"/>
          </a:p>
        </p:txBody>
      </p:sp>
      <p:sp>
        <p:nvSpPr>
          <p:cNvPr id="8" name="Text 6"/>
          <p:cNvSpPr txBox="1"/>
          <p:nvPr/>
        </p:nvSpPr>
        <p:spPr>
          <a:xfrm>
            <a:off x="548640" y="2331720"/>
            <a:ext cx="11091672" cy="822960"/>
          </a:xfrm>
          <a:prstGeom prst="rect">
            <a:avLst/>
          </a:prstGeom>
          <a:noFill/>
          <a:ln/>
        </p:spPr>
        <p:txBody>
          <a:bodyPr wrap="square" lIns="0" tIns="0" rIns="0" bIns="0" rtlCol="0" anchor="t"/>
          <a:lstStyle/>
          <a:p>
            <a:pPr indent="0" marL="0">
              <a:buNone/>
            </a:pPr>
            <a:r>
              <a:rPr lang="en-US" sz="2000" dirty="0">
                <a:solidFill>
                  <a:srgbClr val="5F6368"/>
                </a:solidFill>
                <a:latin typeface="Calibri" pitchFamily="34" charset="0"/>
                <a:ea typeface="Calibri" pitchFamily="34" charset="-122"/>
                <a:cs typeface="Calibri" pitchFamily="34" charset="-120"/>
              </a:rPr>
              <a:t>Todas las regiones juntas dan 0,979.</a:t>
            </a:r>
            <a:endParaRPr lang="en-US" sz="2000" dirty="0"/>
          </a:p>
        </p:txBody>
      </p:sp>
      <p:sp>
        <p:nvSpPr>
          <p:cNvPr id="9" name="Text 7"/>
          <p:cNvSpPr txBox="1"/>
          <p:nvPr/>
        </p:nvSpPr>
        <p:spPr>
          <a:xfrm>
            <a:off x="548640" y="3154680"/>
            <a:ext cx="11091672" cy="1097280"/>
          </a:xfrm>
          <a:prstGeom prst="rect">
            <a:avLst/>
          </a:prstGeom>
          <a:noFill/>
          <a:ln/>
        </p:spPr>
        <p:txBody>
          <a:bodyPr wrap="square" lIns="0" tIns="0" rIns="0" bIns="0" rtlCol="0" anchor="t"/>
          <a:lstStyle/>
          <a:p>
            <a:pPr indent="0" marL="0">
              <a:buNone/>
            </a:pPr>
            <a:r>
              <a:rPr lang="en-US" sz="3000" b="1" dirty="0">
                <a:solidFill>
                  <a:srgbClr val="202124"/>
                </a:solidFill>
                <a:latin typeface="Calibri" pitchFamily="34" charset="0"/>
                <a:ea typeface="Calibri" pitchFamily="34" charset="-122"/>
                <a:cs typeface="Calibri" pitchFamily="34" charset="-120"/>
              </a:rPr>
              <a:t>Si miramos solo una región, por ejemplo Atacama, ¿va a dar parecido?</a:t>
            </a:r>
            <a:endParaRPr lang="en-US" sz="3000" dirty="0"/>
          </a:p>
        </p:txBody>
      </p:sp>
      <p:sp>
        <p:nvSpPr>
          <p:cNvPr id="10" name="Shape 8"/>
          <p:cNvSpPr/>
          <p:nvPr/>
        </p:nvSpPr>
        <p:spPr>
          <a:xfrm>
            <a:off x="548640" y="4572000"/>
            <a:ext cx="3514344" cy="822960"/>
          </a:xfrm>
          <a:prstGeom prst="roundRect">
            <a:avLst>
              <a:gd name="adj" fmla="val 8889"/>
            </a:avLst>
          </a:prstGeom>
          <a:solidFill>
            <a:srgbClr val="FEF3D6"/>
          </a:solidFill>
          <a:ln w="19050">
            <a:solidFill>
              <a:srgbClr val="F9AB00"/>
            </a:solidFill>
            <a:prstDash val="solid"/>
          </a:ln>
        </p:spPr>
      </p:sp>
      <p:sp>
        <p:nvSpPr>
          <p:cNvPr id="11" name="Text 9"/>
          <p:cNvSpPr txBox="1"/>
          <p:nvPr/>
        </p:nvSpPr>
        <p:spPr>
          <a:xfrm>
            <a:off x="548640" y="4572000"/>
            <a:ext cx="3514344" cy="822960"/>
          </a:xfrm>
          <a:prstGeom prst="rect">
            <a:avLst/>
          </a:prstGeom>
          <a:noFill/>
          <a:ln/>
        </p:spPr>
        <p:txBody>
          <a:bodyPr wrap="square" lIns="0" tIns="0" rIns="0" bIns="0" rtlCol="0" anchor="ctr"/>
          <a:lstStyle/>
          <a:p>
            <a:pPr algn="ctr" indent="0" marL="0">
              <a:buNone/>
            </a:pPr>
            <a:r>
              <a:rPr lang="en-US" sz="2000" b="1" dirty="0">
                <a:solidFill>
                  <a:srgbClr val="202124"/>
                </a:solidFill>
                <a:latin typeface="Calibri" pitchFamily="34" charset="0"/>
                <a:ea typeface="Calibri" pitchFamily="34" charset="-122"/>
                <a:cs typeface="Calibri" pitchFamily="34" charset="-120"/>
              </a:rPr>
              <a:t>Parecido, cerca de 1</a:t>
            </a:r>
            <a:endParaRPr lang="en-US" sz="2000" dirty="0"/>
          </a:p>
        </p:txBody>
      </p:sp>
      <p:sp>
        <p:nvSpPr>
          <p:cNvPr id="12" name="Shape 10"/>
          <p:cNvSpPr/>
          <p:nvPr/>
        </p:nvSpPr>
        <p:spPr>
          <a:xfrm>
            <a:off x="4337304" y="4572000"/>
            <a:ext cx="3514344" cy="822960"/>
          </a:xfrm>
          <a:prstGeom prst="roundRect">
            <a:avLst>
              <a:gd name="adj" fmla="val 8889"/>
            </a:avLst>
          </a:prstGeom>
          <a:solidFill>
            <a:srgbClr val="FEF3D6"/>
          </a:solidFill>
          <a:ln w="19050">
            <a:solidFill>
              <a:srgbClr val="F9AB00"/>
            </a:solidFill>
            <a:prstDash val="solid"/>
          </a:ln>
        </p:spPr>
      </p:sp>
      <p:sp>
        <p:nvSpPr>
          <p:cNvPr id="13" name="Text 11"/>
          <p:cNvSpPr txBox="1"/>
          <p:nvPr/>
        </p:nvSpPr>
        <p:spPr>
          <a:xfrm>
            <a:off x="4337304" y="4572000"/>
            <a:ext cx="3514344" cy="822960"/>
          </a:xfrm>
          <a:prstGeom prst="rect">
            <a:avLst/>
          </a:prstGeom>
          <a:noFill/>
          <a:ln/>
        </p:spPr>
        <p:txBody>
          <a:bodyPr wrap="square" lIns="0" tIns="0" rIns="0" bIns="0" rtlCol="0" anchor="ctr"/>
          <a:lstStyle/>
          <a:p>
            <a:pPr algn="ctr" indent="0" marL="0">
              <a:buNone/>
            </a:pPr>
            <a:r>
              <a:rPr lang="en-US" sz="2000" b="1" dirty="0">
                <a:solidFill>
                  <a:srgbClr val="202124"/>
                </a:solidFill>
                <a:latin typeface="Calibri" pitchFamily="34" charset="0"/>
                <a:ea typeface="Calibri" pitchFamily="34" charset="-122"/>
                <a:cs typeface="Calibri" pitchFamily="34" charset="-120"/>
              </a:rPr>
              <a:t>Bastante menos</a:t>
            </a:r>
            <a:endParaRPr lang="en-US" sz="2000" dirty="0"/>
          </a:p>
        </p:txBody>
      </p:sp>
      <p:sp>
        <p:nvSpPr>
          <p:cNvPr id="14" name="Shape 12"/>
          <p:cNvSpPr/>
          <p:nvPr/>
        </p:nvSpPr>
        <p:spPr>
          <a:xfrm>
            <a:off x="8125968" y="4572000"/>
            <a:ext cx="3514344" cy="822960"/>
          </a:xfrm>
          <a:prstGeom prst="roundRect">
            <a:avLst>
              <a:gd name="adj" fmla="val 8889"/>
            </a:avLst>
          </a:prstGeom>
          <a:solidFill>
            <a:srgbClr val="FEF3D6"/>
          </a:solidFill>
          <a:ln w="19050">
            <a:solidFill>
              <a:srgbClr val="F9AB00"/>
            </a:solidFill>
            <a:prstDash val="solid"/>
          </a:ln>
        </p:spPr>
      </p:sp>
      <p:sp>
        <p:nvSpPr>
          <p:cNvPr id="15" name="Text 13"/>
          <p:cNvSpPr txBox="1"/>
          <p:nvPr/>
        </p:nvSpPr>
        <p:spPr>
          <a:xfrm>
            <a:off x="8125968" y="4572000"/>
            <a:ext cx="3514344" cy="822960"/>
          </a:xfrm>
          <a:prstGeom prst="rect">
            <a:avLst/>
          </a:prstGeom>
          <a:noFill/>
          <a:ln/>
        </p:spPr>
        <p:txBody>
          <a:bodyPr wrap="square" lIns="0" tIns="0" rIns="0" bIns="0" rtlCol="0" anchor="ctr"/>
          <a:lstStyle/>
          <a:p>
            <a:pPr algn="ctr" indent="0" marL="0">
              <a:buNone/>
            </a:pPr>
            <a:r>
              <a:rPr lang="en-US" sz="2000" b="1" dirty="0">
                <a:solidFill>
                  <a:srgbClr val="202124"/>
                </a:solidFill>
                <a:latin typeface="Calibri" pitchFamily="34" charset="0"/>
                <a:ea typeface="Calibri" pitchFamily="34" charset="-122"/>
                <a:cs typeface="Calibri" pitchFamily="34" charset="-120"/>
              </a:rPr>
              <a:t>Cerca de 0</a:t>
            </a:r>
            <a:endParaRPr lang="en-US" sz="2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4"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4 de 4</a:t>
            </a:r>
            <a:endParaRPr lang="en-US" sz="1400" dirty="0"/>
          </a:p>
        </p:txBody>
      </p:sp>
      <p:sp>
        <p:nvSpPr>
          <p:cNvPr id="5"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¿Y dentro de cada región?</a:t>
            </a:r>
            <a:endParaRPr lang="en-US" sz="2400" dirty="0"/>
          </a:p>
        </p:txBody>
      </p:sp>
      <p:sp>
        <p:nvSpPr>
          <p:cNvPr id="6"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Elige una región en la lista y vuelve a correr la celda. Compara con el número del estudio anterior.</a:t>
            </a:r>
            <a:endParaRPr lang="en-US" sz="1400" dirty="0"/>
          </a:p>
        </p:txBody>
      </p:sp>
      <p:sp>
        <p:nvSpPr>
          <p:cNvPr id="7" name="Shape 4"/>
          <p:cNvSpPr/>
          <p:nvPr/>
        </p:nvSpPr>
        <p:spPr>
          <a:xfrm>
            <a:off x="548640" y="1481328"/>
            <a:ext cx="11091672" cy="1920240"/>
          </a:xfrm>
          <a:prstGeom prst="roundRect">
            <a:avLst>
              <a:gd name="adj" fmla="val 2857"/>
            </a:avLst>
          </a:prstGeom>
          <a:solidFill>
            <a:srgbClr val="F8F9FA"/>
          </a:solidFill>
          <a:ln w="25400">
            <a:solidFill>
              <a:srgbClr val="F9AB00"/>
            </a:solidFill>
            <a:prstDash val="solid"/>
          </a:ln>
        </p:spPr>
      </p:sp>
      <p:sp>
        <p:nvSpPr>
          <p:cNvPr id="8" name="Shape 5"/>
          <p:cNvSpPr/>
          <p:nvPr/>
        </p:nvSpPr>
        <p:spPr>
          <a:xfrm>
            <a:off x="713232" y="1600200"/>
            <a:ext cx="420624" cy="420624"/>
          </a:xfrm>
          <a:prstGeom prst="ellipse">
            <a:avLst/>
          </a:prstGeom>
          <a:solidFill>
            <a:srgbClr val="F9AB00"/>
          </a:solidFill>
          <a:ln w="12700">
            <a:solidFill>
              <a:srgbClr val="F9AB00"/>
            </a:solidFill>
            <a:prstDash val="solid"/>
          </a:ln>
        </p:spPr>
      </p:sp>
      <p:sp>
        <p:nvSpPr>
          <p:cNvPr id="9" name="Shape 6"/>
          <p:cNvSpPr/>
          <p:nvPr/>
        </p:nvSpPr>
        <p:spPr>
          <a:xfrm rot="5400000">
            <a:off x="850392" y="1719072"/>
            <a:ext cx="182880" cy="182880"/>
          </a:xfrm>
          <a:prstGeom prst="triangle">
            <a:avLst/>
          </a:prstGeom>
          <a:solidFill>
            <a:srgbClr val="FFFFFF"/>
          </a:solidFill>
          <a:ln w="12700">
            <a:solidFill>
              <a:srgbClr val="FFFFFF"/>
            </a:solidFill>
            <a:prstDash val="solid"/>
          </a:ln>
        </p:spPr>
      </p:sp>
      <p:sp>
        <p:nvSpPr>
          <p:cNvPr id="10" name="Text 7"/>
          <p:cNvSpPr txBox="1"/>
          <p:nvPr/>
        </p:nvSpPr>
        <p:spPr>
          <a:xfrm>
            <a:off x="1325880" y="1600200"/>
            <a:ext cx="7360920" cy="1737360"/>
          </a:xfrm>
          <a:prstGeom prst="rect">
            <a:avLst/>
          </a:prstGeom>
          <a:noFill/>
          <a:ln/>
        </p:spPr>
        <p:txBody>
          <a:bodyPr wrap="square" lIns="0" tIns="0" rIns="0" bIns="0" rtlCol="0" anchor="t"/>
          <a:lstStyle/>
          <a:p>
            <a:pPr indent="0" marL="0">
              <a:buNone/>
            </a:pPr>
            <a:r>
              <a:rPr lang="en-US" sz="1300" i="1" dirty="0">
                <a:solidFill>
                  <a:srgbClr val="188038"/>
                </a:solidFill>
                <a:latin typeface="Courier New" pitchFamily="34" charset="0"/>
                <a:ea typeface="Courier New" pitchFamily="34" charset="-122"/>
                <a:cs typeface="Courier New" pitchFamily="34" charset="-120"/>
              </a:rPr>
              <a:t># Estudio 4</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region = </a:t>
            </a:r>
            <a:pPr indent="0" marL="0">
              <a:buNone/>
            </a:pPr>
            <a:r>
              <a:rPr lang="en-US" sz="1300" dirty="0">
                <a:solidFill>
                  <a:srgbClr val="A31515"/>
                </a:solidFill>
                <a:latin typeface="Courier New" pitchFamily="34" charset="0"/>
                <a:ea typeface="Courier New" pitchFamily="34" charset="-122"/>
                <a:cs typeface="Courier New" pitchFamily="34" charset="-120"/>
              </a:rPr>
              <a:t>"Metropolitana"</a:t>
            </a:r>
            <a:pPr indent="0" marL="0">
              <a:buNone/>
            </a:pPr>
            <a:r>
              <a:rPr lang="en-US" sz="1300" dirty="0">
                <a:solidFill>
                  <a:srgbClr val="202124"/>
                </a:solidFill>
                <a:latin typeface="Courier New" pitchFamily="34" charset="0"/>
                <a:ea typeface="Courier New" pitchFamily="34" charset="-122"/>
                <a:cs typeface="Courier New" pitchFamily="34" charset="-120"/>
              </a:rPr>
              <a:t> </a:t>
            </a:r>
            <a:pPr indent="0" marL="0">
              <a:buNone/>
            </a:pPr>
            <a:r>
              <a:rPr lang="en-US" sz="1300" dirty="0">
                <a:solidFill>
                  <a:srgbClr val="80868B"/>
                </a:solidFill>
                <a:latin typeface="Courier New" pitchFamily="34" charset="0"/>
                <a:ea typeface="Courier New" pitchFamily="34" charset="-122"/>
                <a:cs typeface="Courier New" pitchFamily="34" charset="-120"/>
              </a:rPr>
              <a:t>#@param ["Antofagasta", "Atacama", "Coquimbo", "Valparaíso", "Metropolitana", "Biobío", "Los Lagos"]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una = mix[mix[</a:t>
            </a:r>
            <a:pPr indent="0" marL="0">
              <a:buNone/>
            </a:pPr>
            <a:r>
              <a:rPr lang="en-US" sz="1300" dirty="0">
                <a:solidFill>
                  <a:srgbClr val="A31515"/>
                </a:solidFill>
                <a:latin typeface="Courier New" pitchFamily="34" charset="0"/>
                <a:ea typeface="Courier New" pitchFamily="34" charset="-122"/>
                <a:cs typeface="Courier New" pitchFamily="34" charset="-120"/>
              </a:rPr>
              <a:t>"region"</a:t>
            </a:r>
            <a:pPr indent="0" marL="0">
              <a:buNone/>
            </a:pPr>
            <a:r>
              <a:rPr lang="en-US" sz="1300" dirty="0">
                <a:solidFill>
                  <a:srgbClr val="202124"/>
                </a:solidFill>
                <a:latin typeface="Courier New" pitchFamily="34" charset="0"/>
                <a:ea typeface="Courier New" pitchFamily="34" charset="-122"/>
                <a:cs typeface="Courier New" pitchFamily="34" charset="-120"/>
              </a:rPr>
              <a:t>] == region]</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correlacion = round(una[</a:t>
            </a:r>
            <a:pPr indent="0" marL="0">
              <a:buNone/>
            </a:pPr>
            <a:r>
              <a:rPr lang="en-US" sz="1300" dirty="0">
                <a:solidFill>
                  <a:srgbClr val="A31515"/>
                </a:solidFill>
                <a:latin typeface="Courier New" pitchFamily="34" charset="0"/>
                <a:ea typeface="Courier New" pitchFamily="34" charset="-122"/>
                <a:cs typeface="Courier New" pitchFamily="34" charset="-120"/>
              </a:rPr>
              <a:t>"precio_usd_mwh"</a:t>
            </a:r>
            <a:pPr indent="0" marL="0">
              <a:buNone/>
            </a:pPr>
            <a:r>
              <a:rPr lang="en-US" sz="1300" dirty="0">
                <a:solidFill>
                  <a:srgbClr val="202124"/>
                </a:solidFill>
                <a:latin typeface="Courier New" pitchFamily="34" charset="0"/>
                <a:ea typeface="Courier New" pitchFamily="34" charset="-122"/>
                <a:cs typeface="Courier New" pitchFamily="34" charset="-120"/>
              </a:rPr>
              <a:t>].corr(una[</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 3)</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print(f</a:t>
            </a:r>
            <a:pPr indent="0" marL="0">
              <a:buNone/>
            </a:pPr>
            <a:r>
              <a:rPr lang="en-US" sz="1300" dirty="0">
                <a:solidFill>
                  <a:srgbClr val="A31515"/>
                </a:solidFill>
                <a:latin typeface="Courier New" pitchFamily="34" charset="0"/>
                <a:ea typeface="Courier New" pitchFamily="34" charset="-122"/>
                <a:cs typeface="Courier New" pitchFamily="34" charset="-120"/>
              </a:rPr>
              <a:t>"Correlación dentro de {region}"</a:t>
            </a:r>
            <a:pPr indent="0" marL="0">
              <a:buNone/>
            </a:pPr>
            <a:r>
              <a:rPr lang="en-US" sz="1300" dirty="0">
                <a:solidFill>
                  <a:srgbClr val="202124"/>
                </a:solidFill>
                <a:latin typeface="Courier New" pitchFamily="34" charset="0"/>
                <a:ea typeface="Courier New" pitchFamily="34" charset="-122"/>
                <a:cs typeface="Courier New" pitchFamily="34" charset="-120"/>
              </a:rPr>
              <a:t>, correlacion)</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"Correlación con todas las regiones"</a:t>
            </a:r>
            <a:pPr indent="0" marL="0">
              <a:buNone/>
            </a:pPr>
            <a:r>
              <a:rPr lang="en-US" sz="1300" dirty="0">
                <a:solidFill>
                  <a:srgbClr val="202124"/>
                </a:solidFill>
                <a:latin typeface="Courier New" pitchFamily="34" charset="0"/>
                <a:ea typeface="Courier New" pitchFamily="34" charset="-122"/>
                <a:cs typeface="Courier New" pitchFamily="34" charset="-120"/>
              </a:rPr>
              <a:t>, correlacion_total)</a:t>
            </a:r>
            <a:endParaRPr lang="en-US" sz="1300" dirty="0"/>
          </a:p>
        </p:txBody>
      </p:sp>
      <p:sp>
        <p:nvSpPr>
          <p:cNvPr id="11" name="Text 8"/>
          <p:cNvSpPr txBox="1"/>
          <p:nvPr/>
        </p:nvSpPr>
        <p:spPr>
          <a:xfrm>
            <a:off x="8823960" y="1618488"/>
            <a:ext cx="2651760" cy="228600"/>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region</a:t>
            </a:r>
            <a:endParaRPr lang="en-US" sz="1100" dirty="0"/>
          </a:p>
        </p:txBody>
      </p:sp>
      <p:sp>
        <p:nvSpPr>
          <p:cNvPr id="12" name="Shape 9"/>
          <p:cNvSpPr/>
          <p:nvPr/>
        </p:nvSpPr>
        <p:spPr>
          <a:xfrm>
            <a:off x="8823960" y="1874520"/>
            <a:ext cx="2651760" cy="347472"/>
          </a:xfrm>
          <a:prstGeom prst="rect">
            <a:avLst/>
          </a:prstGeom>
          <a:solidFill>
            <a:srgbClr val="FFFFFF"/>
          </a:solidFill>
          <a:ln w="12700">
            <a:solidFill>
              <a:srgbClr val="9AA0A6"/>
            </a:solidFill>
            <a:prstDash val="solid"/>
          </a:ln>
        </p:spPr>
      </p:sp>
      <p:sp>
        <p:nvSpPr>
          <p:cNvPr id="13" name="Text 10"/>
          <p:cNvSpPr txBox="1"/>
          <p:nvPr/>
        </p:nvSpPr>
        <p:spPr>
          <a:xfrm>
            <a:off x="8915400" y="1874520"/>
            <a:ext cx="2240280" cy="347472"/>
          </a:xfrm>
          <a:prstGeom prst="rect">
            <a:avLst/>
          </a:prstGeom>
          <a:noFill/>
          <a:ln/>
        </p:spPr>
        <p:txBody>
          <a:bodyPr wrap="square" lIns="0" tIns="0" rIns="0" bIns="0" rtlCol="0" anchor="ctr"/>
          <a:lstStyle/>
          <a:p>
            <a:pPr indent="0" marL="0">
              <a:buNone/>
            </a:pPr>
            <a:r>
              <a:rPr lang="en-US" sz="1200" dirty="0">
                <a:solidFill>
                  <a:srgbClr val="202124"/>
                </a:solidFill>
                <a:latin typeface="Calibri" pitchFamily="34" charset="0"/>
                <a:ea typeface="Calibri" pitchFamily="34" charset="-122"/>
                <a:cs typeface="Calibri" pitchFamily="34" charset="-120"/>
              </a:rPr>
              <a:t>Metropolitana</a:t>
            </a:r>
            <a:endParaRPr lang="en-US" sz="1200" dirty="0"/>
          </a:p>
        </p:txBody>
      </p:sp>
      <p:sp>
        <p:nvSpPr>
          <p:cNvPr id="14" name="Shape 11"/>
          <p:cNvSpPr/>
          <p:nvPr/>
        </p:nvSpPr>
        <p:spPr>
          <a:xfrm rot="10800000">
            <a:off x="11201400" y="2011680"/>
            <a:ext cx="128016" cy="82296"/>
          </a:xfrm>
          <a:prstGeom prst="triangle">
            <a:avLst/>
          </a:prstGeom>
          <a:solidFill>
            <a:srgbClr val="5F6368"/>
          </a:solidFill>
          <a:ln w="12700">
            <a:solidFill>
              <a:srgbClr val="5F6368"/>
            </a:solidFill>
            <a:prstDash val="solid"/>
          </a:ln>
        </p:spPr>
      </p:sp>
      <p:sp>
        <p:nvSpPr>
          <p:cNvPr id="15" name="Text 12"/>
          <p:cNvSpPr txBox="1"/>
          <p:nvPr/>
        </p:nvSpPr>
        <p:spPr>
          <a:xfrm>
            <a:off x="1325880" y="3438144"/>
            <a:ext cx="5486400" cy="256032"/>
          </a:xfrm>
          <a:prstGeom prst="rect">
            <a:avLst/>
          </a:prstGeom>
          <a:noFill/>
          <a:ln/>
        </p:spPr>
        <p:txBody>
          <a:bodyPr wrap="square" lIns="0" tIns="0" rIns="0" bIns="0" rtlCol="0" anchor="ctr"/>
          <a:lstStyle/>
          <a:p>
            <a:pPr indent="0" marL="0">
              <a:buNone/>
            </a:pPr>
            <a:r>
              <a:rPr lang="en-US" sz="1200" b="1" dirty="0">
                <a:solidFill>
                  <a:srgbClr val="B06000"/>
                </a:solidFill>
                <a:latin typeface="Calibri" pitchFamily="34" charset="0"/>
                <a:ea typeface="Calibri" pitchFamily="34" charset="-122"/>
                <a:cs typeface="Calibri" pitchFamily="34" charset="-120"/>
              </a:rPr>
              <a:t>Clic en el botón de play para correr la celda</a:t>
            </a:r>
            <a:endParaRPr lang="en-US" sz="1200" dirty="0"/>
          </a:p>
        </p:txBody>
      </p:sp>
      <p:sp>
        <p:nvSpPr>
          <p:cNvPr id="16" name="Text 13"/>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7" name="Shape 14"/>
          <p:cNvSpPr/>
          <p:nvPr/>
        </p:nvSpPr>
        <p:spPr>
          <a:xfrm>
            <a:off x="548640" y="6062472"/>
            <a:ext cx="1906524" cy="566928"/>
          </a:xfrm>
          <a:prstGeom prst="roundRect">
            <a:avLst>
              <a:gd name="adj" fmla="val 11290"/>
            </a:avLst>
          </a:prstGeom>
          <a:solidFill>
            <a:srgbClr val="F1F3F4"/>
          </a:solidFill>
          <a:ln w="12700">
            <a:solidFill>
              <a:srgbClr val="DADCE0"/>
            </a:solidFill>
            <a:prstDash val="solid"/>
          </a:ln>
        </p:spPr>
      </p:sp>
      <p:sp>
        <p:nvSpPr>
          <p:cNvPr id="18" name="Text 15"/>
          <p:cNvSpPr txBox="1"/>
          <p:nvPr/>
        </p:nvSpPr>
        <p:spPr>
          <a:xfrm>
            <a:off x="640080" y="6071616"/>
            <a:ext cx="176936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correlacion_total</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0.979</a:t>
            </a:r>
            <a:endParaRPr lang="en-US" sz="1200" dirty="0"/>
          </a:p>
        </p:txBody>
      </p:sp>
      <p:sp>
        <p:nvSpPr>
          <p:cNvPr id="19" name="Shape 16"/>
          <p:cNvSpPr/>
          <p:nvPr/>
        </p:nvSpPr>
        <p:spPr>
          <a:xfrm>
            <a:off x="2592324" y="6062472"/>
            <a:ext cx="1618488" cy="566928"/>
          </a:xfrm>
          <a:prstGeom prst="roundRect">
            <a:avLst>
              <a:gd name="adj" fmla="val 11290"/>
            </a:avLst>
          </a:prstGeom>
          <a:solidFill>
            <a:srgbClr val="F1F3F4"/>
          </a:solidFill>
          <a:ln w="12700">
            <a:solidFill>
              <a:srgbClr val="DADCE0"/>
            </a:solidFill>
            <a:prstDash val="solid"/>
          </a:ln>
        </p:spPr>
      </p:sp>
      <p:sp>
        <p:nvSpPr>
          <p:cNvPr id="20" name="Text 17"/>
          <p:cNvSpPr txBox="1"/>
          <p:nvPr/>
        </p:nvSpPr>
        <p:spPr>
          <a:xfrm>
            <a:off x="2683764" y="6071616"/>
            <a:ext cx="1481328"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mix</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5208 × 5</a:t>
            </a:r>
            <a:endParaRPr lang="en-US" sz="1200" dirty="0"/>
          </a:p>
        </p:txBody>
      </p:sp>
      <p:sp>
        <p:nvSpPr>
          <p:cNvPr id="21" name="Shape 18"/>
          <p:cNvSpPr/>
          <p:nvPr/>
        </p:nvSpPr>
        <p:spPr>
          <a:xfrm>
            <a:off x="4347972" y="6062472"/>
            <a:ext cx="1618488" cy="566928"/>
          </a:xfrm>
          <a:prstGeom prst="roundRect">
            <a:avLst>
              <a:gd name="adj" fmla="val 11290"/>
            </a:avLst>
          </a:prstGeom>
          <a:solidFill>
            <a:srgbClr val="F1F3F4"/>
          </a:solidFill>
          <a:ln w="12700">
            <a:solidFill>
              <a:srgbClr val="DADCE0"/>
            </a:solidFill>
            <a:prstDash val="solid"/>
          </a:ln>
        </p:spPr>
      </p:sp>
      <p:sp>
        <p:nvSpPr>
          <p:cNvPr id="22" name="Text 19"/>
          <p:cNvSpPr txBox="1"/>
          <p:nvPr/>
        </p:nvSpPr>
        <p:spPr>
          <a:xfrm>
            <a:off x="4439412" y="6071616"/>
            <a:ext cx="1481328"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precios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5208 × 4</a:t>
            </a:r>
            <a:endParaRPr lang="en-US" sz="1200" dirty="0"/>
          </a:p>
        </p:txBody>
      </p:sp>
      <p:sp>
        <p:nvSpPr>
          <p:cNvPr id="23" name="Shape 20"/>
          <p:cNvSpPr/>
          <p:nvPr/>
        </p:nvSpPr>
        <p:spPr>
          <a:xfrm>
            <a:off x="6103620" y="6062472"/>
            <a:ext cx="2002536" cy="566928"/>
          </a:xfrm>
          <a:prstGeom prst="roundRect">
            <a:avLst>
              <a:gd name="adj" fmla="val 11290"/>
            </a:avLst>
          </a:prstGeom>
          <a:solidFill>
            <a:srgbClr val="F1F3F4"/>
          </a:solidFill>
          <a:ln w="12700">
            <a:solidFill>
              <a:srgbClr val="DADCE0"/>
            </a:solidFill>
            <a:prstDash val="solid"/>
          </a:ln>
        </p:spPr>
      </p:sp>
      <p:sp>
        <p:nvSpPr>
          <p:cNvPr id="24" name="Text 21"/>
          <p:cNvSpPr txBox="1"/>
          <p:nvPr/>
        </p:nvSpPr>
        <p:spPr>
          <a:xfrm>
            <a:off x="6195060" y="6071616"/>
            <a:ext cx="186537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respuesta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datos con 2 partes</a:t>
            </a:r>
            <a:endParaRPr lang="en-US" sz="1200" dirty="0"/>
          </a:p>
        </p:txBody>
      </p:sp>
      <p:sp>
        <p:nvSpPr>
          <p:cNvPr id="25" name="Shape 22"/>
          <p:cNvSpPr/>
          <p:nvPr/>
        </p:nvSpPr>
        <p:spPr>
          <a:xfrm>
            <a:off x="8243316" y="6062472"/>
            <a:ext cx="1330452" cy="566928"/>
          </a:xfrm>
          <a:prstGeom prst="roundRect">
            <a:avLst>
              <a:gd name="adj" fmla="val 11290"/>
            </a:avLst>
          </a:prstGeom>
          <a:solidFill>
            <a:srgbClr val="F1F3F4"/>
          </a:solidFill>
          <a:ln w="12700">
            <a:solidFill>
              <a:srgbClr val="DADCE0"/>
            </a:solidFill>
            <a:prstDash val="solid"/>
          </a:ln>
        </p:spPr>
      </p:sp>
      <p:sp>
        <p:nvSpPr>
          <p:cNvPr id="26" name="Text 23"/>
          <p:cNvSpPr txBox="1"/>
          <p:nvPr/>
        </p:nvSpPr>
        <p:spPr>
          <a:xfrm>
            <a:off x="8334756" y="6071616"/>
            <a:ext cx="119329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resumen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7 × 3</a:t>
            </a:r>
            <a:endParaRPr lang="en-US" sz="1200" dirty="0"/>
          </a:p>
        </p:txBody>
      </p:sp>
      <p:sp>
        <p:nvSpPr>
          <p:cNvPr id="27" name="Text 24"/>
          <p:cNvSpPr txBox="1"/>
          <p:nvPr/>
        </p:nvSpPr>
        <p:spPr>
          <a:xfrm>
            <a:off x="9710928"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16 más</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4 de 4</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¿Y dentro de cada región?</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Cómo se lee esta línea, pieza por pieza</a:t>
            </a:r>
            <a:endParaRPr lang="en-US" sz="1400" dirty="0"/>
          </a:p>
        </p:txBody>
      </p:sp>
      <p:sp>
        <p:nvSpPr>
          <p:cNvPr id="6" name="Shape 4"/>
          <p:cNvSpPr/>
          <p:nvPr/>
        </p:nvSpPr>
        <p:spPr>
          <a:xfrm>
            <a:off x="548640" y="1463040"/>
            <a:ext cx="11091672" cy="482600"/>
          </a:xfrm>
          <a:prstGeom prst="roundRect">
            <a:avLst>
              <a:gd name="adj" fmla="val 11368"/>
            </a:avLst>
          </a:prstGeom>
          <a:solidFill>
            <a:srgbClr val="F8F9FA"/>
          </a:solidFill>
          <a:ln w="12700">
            <a:solidFill>
              <a:srgbClr val="DADCE0"/>
            </a:solidFill>
            <a:prstDash val="solid"/>
          </a:ln>
        </p:spPr>
      </p:sp>
      <p:sp>
        <p:nvSpPr>
          <p:cNvPr id="7" name="Text 5"/>
          <p:cNvSpPr txBox="1"/>
          <p:nvPr/>
        </p:nvSpPr>
        <p:spPr>
          <a:xfrm>
            <a:off x="822960" y="1554480"/>
            <a:ext cx="10634472" cy="345440"/>
          </a:xfrm>
          <a:prstGeom prst="rect">
            <a:avLst/>
          </a:prstGeom>
          <a:noFill/>
          <a:ln/>
        </p:spPr>
        <p:txBody>
          <a:bodyPr wrap="square" lIns="0" tIns="0" rIns="0" bIns="0" rtlCol="0" anchor="ctr"/>
          <a:lstStyle/>
          <a:p>
            <a:pPr indent="0" marL="0">
              <a:buNone/>
            </a:pPr>
            <a:r>
              <a:rPr lang="en-US" sz="1600" dirty="0">
                <a:solidFill>
                  <a:srgbClr val="202124"/>
                </a:solidFill>
                <a:latin typeface="Courier New" pitchFamily="34" charset="0"/>
                <a:ea typeface="Courier New" pitchFamily="34" charset="-122"/>
                <a:cs typeface="Courier New" pitchFamily="34" charset="-120"/>
              </a:rPr>
              <a:t>una = mix[mix[</a:t>
            </a:r>
            <a:pPr indent="0" marL="0">
              <a:buNone/>
            </a:pPr>
            <a:r>
              <a:rPr lang="en-US" sz="1600" dirty="0">
                <a:solidFill>
                  <a:srgbClr val="A31515"/>
                </a:solidFill>
                <a:latin typeface="Courier New" pitchFamily="34" charset="0"/>
                <a:ea typeface="Courier New" pitchFamily="34" charset="-122"/>
                <a:cs typeface="Courier New" pitchFamily="34" charset="-120"/>
              </a:rPr>
              <a:t>"region"</a:t>
            </a:r>
            <a:pPr indent="0" marL="0">
              <a:buNone/>
            </a:pPr>
            <a:r>
              <a:rPr lang="en-US" sz="1600" dirty="0">
                <a:solidFill>
                  <a:srgbClr val="202124"/>
                </a:solidFill>
                <a:latin typeface="Courier New" pitchFamily="34" charset="0"/>
                <a:ea typeface="Courier New" pitchFamily="34" charset="-122"/>
                <a:cs typeface="Courier New" pitchFamily="34" charset="-120"/>
              </a:rPr>
              <a:t>] == region]</a:t>
            </a:r>
            <a:endParaRPr lang="en-US" sz="1600" dirty="0"/>
          </a:p>
        </p:txBody>
      </p:sp>
      <p:sp>
        <p:nvSpPr>
          <p:cNvPr id="8" name="Shape 6"/>
          <p:cNvSpPr/>
          <p:nvPr/>
        </p:nvSpPr>
        <p:spPr>
          <a:xfrm>
            <a:off x="548640" y="2375408"/>
            <a:ext cx="329184" cy="329184"/>
          </a:xfrm>
          <a:prstGeom prst="ellipse">
            <a:avLst/>
          </a:prstGeom>
          <a:solidFill>
            <a:srgbClr val="1A6FD4"/>
          </a:solidFill>
          <a:ln w="12700">
            <a:solidFill>
              <a:srgbClr val="1A6FD4"/>
            </a:solidFill>
            <a:prstDash val="solid"/>
          </a:ln>
        </p:spPr>
      </p:sp>
      <p:sp>
        <p:nvSpPr>
          <p:cNvPr id="9" name="Text 7"/>
          <p:cNvSpPr txBox="1"/>
          <p:nvPr/>
        </p:nvSpPr>
        <p:spPr>
          <a:xfrm>
            <a:off x="548640" y="23754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Shape 8"/>
          <p:cNvSpPr/>
          <p:nvPr/>
        </p:nvSpPr>
        <p:spPr>
          <a:xfrm>
            <a:off x="1051560" y="2219960"/>
            <a:ext cx="4937760" cy="640080"/>
          </a:xfrm>
          <a:prstGeom prst="roundRect">
            <a:avLst>
              <a:gd name="adj" fmla="val 7143"/>
            </a:avLst>
          </a:prstGeom>
          <a:solidFill>
            <a:srgbClr val="DBE9FB"/>
          </a:solidFill>
          <a:ln w="12700">
            <a:solidFill>
              <a:srgbClr val="DBE9FB"/>
            </a:solidFill>
            <a:prstDash val="solid"/>
          </a:ln>
        </p:spPr>
      </p:sp>
      <p:sp>
        <p:nvSpPr>
          <p:cNvPr id="11" name="Text 9"/>
          <p:cNvSpPr txBox="1"/>
          <p:nvPr/>
        </p:nvSpPr>
        <p:spPr>
          <a:xfrm>
            <a:off x="1170432" y="2219960"/>
            <a:ext cx="4754880" cy="640080"/>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mix["region"] == region</a:t>
            </a:r>
            <a:endParaRPr lang="en-US" sz="1400" dirty="0"/>
          </a:p>
        </p:txBody>
      </p:sp>
      <p:sp>
        <p:nvSpPr>
          <p:cNvPr id="12" name="Text 10"/>
          <p:cNvSpPr txBox="1"/>
          <p:nvPr/>
        </p:nvSpPr>
        <p:spPr>
          <a:xfrm>
            <a:off x="6263640" y="2219960"/>
            <a:ext cx="5376672" cy="640080"/>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Pregunta fila por fila si la región es la elegida. Da True o False.</a:t>
            </a:r>
            <a:endParaRPr lang="en-US" sz="1600" dirty="0"/>
          </a:p>
        </p:txBody>
      </p:sp>
      <p:sp>
        <p:nvSpPr>
          <p:cNvPr id="13" name="Shape 11"/>
          <p:cNvSpPr/>
          <p:nvPr/>
        </p:nvSpPr>
        <p:spPr>
          <a:xfrm>
            <a:off x="548640" y="3052064"/>
            <a:ext cx="329184" cy="329184"/>
          </a:xfrm>
          <a:prstGeom prst="ellipse">
            <a:avLst/>
          </a:prstGeom>
          <a:solidFill>
            <a:srgbClr val="1E8E3E"/>
          </a:solidFill>
          <a:ln w="12700">
            <a:solidFill>
              <a:srgbClr val="1E8E3E"/>
            </a:solidFill>
            <a:prstDash val="solid"/>
          </a:ln>
        </p:spPr>
      </p:sp>
      <p:sp>
        <p:nvSpPr>
          <p:cNvPr id="14" name="Text 12"/>
          <p:cNvSpPr txBox="1"/>
          <p:nvPr/>
        </p:nvSpPr>
        <p:spPr>
          <a:xfrm>
            <a:off x="548640" y="305206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Shape 13"/>
          <p:cNvSpPr/>
          <p:nvPr/>
        </p:nvSpPr>
        <p:spPr>
          <a:xfrm>
            <a:off x="1051560" y="2951480"/>
            <a:ext cx="4937760" cy="530352"/>
          </a:xfrm>
          <a:prstGeom prst="roundRect">
            <a:avLst>
              <a:gd name="adj" fmla="val 8621"/>
            </a:avLst>
          </a:prstGeom>
          <a:solidFill>
            <a:srgbClr val="DCEFE0"/>
          </a:solidFill>
          <a:ln w="12700">
            <a:solidFill>
              <a:srgbClr val="DCEFE0"/>
            </a:solidFill>
            <a:prstDash val="solid"/>
          </a:ln>
        </p:spPr>
      </p:sp>
      <p:sp>
        <p:nvSpPr>
          <p:cNvPr id="16" name="Text 14"/>
          <p:cNvSpPr txBox="1"/>
          <p:nvPr/>
        </p:nvSpPr>
        <p:spPr>
          <a:xfrm>
            <a:off x="1170432" y="2951480"/>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mix[ ... ]</a:t>
            </a:r>
            <a:endParaRPr lang="en-US" sz="1400" dirty="0"/>
          </a:p>
        </p:txBody>
      </p:sp>
      <p:sp>
        <p:nvSpPr>
          <p:cNvPr id="17" name="Text 15"/>
          <p:cNvSpPr txBox="1"/>
          <p:nvPr/>
        </p:nvSpPr>
        <p:spPr>
          <a:xfrm>
            <a:off x="6263640" y="2951480"/>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Deja pasar solo las filas con True.</a:t>
            </a:r>
            <a:endParaRPr lang="en-US" sz="1600" dirty="0"/>
          </a:p>
        </p:txBody>
      </p:sp>
      <p:sp>
        <p:nvSpPr>
          <p:cNvPr id="18" name="Shape 16"/>
          <p:cNvSpPr/>
          <p:nvPr/>
        </p:nvSpPr>
        <p:spPr>
          <a:xfrm>
            <a:off x="548640" y="3673856"/>
            <a:ext cx="329184" cy="329184"/>
          </a:xfrm>
          <a:prstGeom prst="ellipse">
            <a:avLst/>
          </a:prstGeom>
          <a:solidFill>
            <a:srgbClr val="B07D00"/>
          </a:solidFill>
          <a:ln w="12700">
            <a:solidFill>
              <a:srgbClr val="B07D00"/>
            </a:solidFill>
            <a:prstDash val="solid"/>
          </a:ln>
        </p:spPr>
      </p:sp>
      <p:sp>
        <p:nvSpPr>
          <p:cNvPr id="19" name="Text 17"/>
          <p:cNvSpPr txBox="1"/>
          <p:nvPr/>
        </p:nvSpPr>
        <p:spPr>
          <a:xfrm>
            <a:off x="548640" y="36738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Shape 18"/>
          <p:cNvSpPr/>
          <p:nvPr/>
        </p:nvSpPr>
        <p:spPr>
          <a:xfrm>
            <a:off x="1051560" y="3573272"/>
            <a:ext cx="4937760" cy="530352"/>
          </a:xfrm>
          <a:prstGeom prst="roundRect">
            <a:avLst>
              <a:gd name="adj" fmla="val 8621"/>
            </a:avLst>
          </a:prstGeom>
          <a:solidFill>
            <a:srgbClr val="FDF0C8"/>
          </a:solidFill>
          <a:ln w="12700">
            <a:solidFill>
              <a:srgbClr val="FDF0C8"/>
            </a:solidFill>
            <a:prstDash val="solid"/>
          </a:ln>
        </p:spPr>
      </p:sp>
      <p:sp>
        <p:nvSpPr>
          <p:cNvPr id="21" name="Text 19"/>
          <p:cNvSpPr txBox="1"/>
          <p:nvPr/>
        </p:nvSpPr>
        <p:spPr>
          <a:xfrm>
            <a:off x="1170432" y="3573272"/>
            <a:ext cx="4754880" cy="530352"/>
          </a:xfrm>
          <a:prstGeom prst="rect">
            <a:avLst/>
          </a:prstGeom>
          <a:noFill/>
          <a:ln/>
        </p:spPr>
        <p:txBody>
          <a:bodyPr wrap="square" lIns="0" tIns="0" rIns="0" bIns="0" rtlCol="0" anchor="ctr"/>
          <a:lstStyle/>
          <a:p>
            <a:pPr indent="0" marL="0">
              <a:buNone/>
            </a:pPr>
            <a:r>
              <a:rPr lang="en-US" sz="1400" b="1" dirty="0">
                <a:solidFill>
                  <a:srgbClr val="202124"/>
                </a:solidFill>
                <a:latin typeface="Courier New" pitchFamily="34" charset="0"/>
                <a:ea typeface="Courier New" pitchFamily="34" charset="-122"/>
                <a:cs typeface="Courier New" pitchFamily="34" charset="-120"/>
              </a:rPr>
              <a:t>una =</a:t>
            </a:r>
            <a:endParaRPr lang="en-US" sz="1400" dirty="0"/>
          </a:p>
        </p:txBody>
      </p:sp>
      <p:sp>
        <p:nvSpPr>
          <p:cNvPr id="22" name="Text 20"/>
          <p:cNvSpPr txBox="1"/>
          <p:nvPr/>
        </p:nvSpPr>
        <p:spPr>
          <a:xfrm>
            <a:off x="6263640" y="3573272"/>
            <a:ext cx="5376672" cy="530352"/>
          </a:xfrm>
          <a:prstGeom prst="rect">
            <a:avLst/>
          </a:prstGeom>
          <a:noFill/>
          <a:ln/>
        </p:spPr>
        <p:txBody>
          <a:bodyPr wrap="square" lIns="0" tIns="0" rIns="0" bIns="0" rtlCol="0" anchor="ctr"/>
          <a:lstStyle/>
          <a:p>
            <a:pPr indent="0" marL="0">
              <a:buNone/>
            </a:pPr>
            <a:r>
              <a:rPr lang="en-US" sz="1600" dirty="0">
                <a:solidFill>
                  <a:srgbClr val="202124"/>
                </a:solidFill>
                <a:latin typeface="Calibri" pitchFamily="34" charset="0"/>
                <a:ea typeface="Calibri" pitchFamily="34" charset="-122"/>
                <a:cs typeface="Calibri" pitchFamily="34" charset="-120"/>
              </a:rPr>
              <a:t>Guarda esas filas con el nombre una.</a:t>
            </a:r>
            <a:endParaRPr lang="en-US" sz="1600" dirty="0"/>
          </a:p>
        </p:txBody>
      </p:sp>
      <p:sp>
        <p:nvSpPr>
          <p:cNvPr id="23" name="Shape 21"/>
          <p:cNvSpPr/>
          <p:nvPr/>
        </p:nvSpPr>
        <p:spPr>
          <a:xfrm>
            <a:off x="548640" y="5989320"/>
            <a:ext cx="73152" cy="548640"/>
          </a:xfrm>
          <a:prstGeom prst="rect">
            <a:avLst/>
          </a:prstGeom>
          <a:solidFill>
            <a:srgbClr val="0B3D62"/>
          </a:solidFill>
          <a:ln w="12700">
            <a:solidFill>
              <a:srgbClr val="0B3D62"/>
            </a:solidFill>
            <a:prstDash val="solid"/>
          </a:ln>
        </p:spPr>
      </p:sp>
      <p:sp>
        <p:nvSpPr>
          <p:cNvPr id="24" name="Text 22"/>
          <p:cNvSpPr txBox="1"/>
          <p:nvPr/>
        </p:nvSpPr>
        <p:spPr>
          <a:xfrm>
            <a:off x="777240" y="5989320"/>
            <a:ext cx="10863072" cy="548640"/>
          </a:xfrm>
          <a:prstGeom prst="rect">
            <a:avLst/>
          </a:prstGeom>
          <a:noFill/>
          <a:ln/>
        </p:spPr>
        <p:txBody>
          <a:bodyPr wrap="square" lIns="0" tIns="0" rIns="0" bIns="0"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Se lee así  </a:t>
            </a:r>
            <a:pPr indent="0" marL="0">
              <a:buNone/>
            </a:pPr>
            <a:r>
              <a:rPr lang="en-US" sz="1500" dirty="0">
                <a:solidFill>
                  <a:srgbClr val="202124"/>
                </a:solidFill>
                <a:latin typeface="Calibri" pitchFamily="34" charset="0"/>
                <a:ea typeface="Calibri" pitchFamily="34" charset="-122"/>
                <a:cs typeface="Calibri" pitchFamily="34" charset="-120"/>
              </a:rPr>
              <a:t>una son las filas de mix que son de la región elegida.</a:t>
            </a:r>
            <a:endParaRPr lang="en-US" sz="15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4 de 4</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¿Y dentro de cada región?</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Elige una región en la lista y vuelve a correr la celda. Compara con el número del estudio anterior.</a:t>
            </a:r>
            <a:endParaRPr lang="en-US" sz="1400" dirty="0"/>
          </a:p>
        </p:txBody>
      </p:sp>
      <p:sp>
        <p:nvSpPr>
          <p:cNvPr id="6" name="Shape 4"/>
          <p:cNvSpPr/>
          <p:nvPr/>
        </p:nvSpPr>
        <p:spPr>
          <a:xfrm>
            <a:off x="548640" y="1481328"/>
            <a:ext cx="11091672" cy="1920240"/>
          </a:xfrm>
          <a:prstGeom prst="roundRect">
            <a:avLst>
              <a:gd name="adj" fmla="val 2857"/>
            </a:avLst>
          </a:prstGeom>
          <a:solidFill>
            <a:srgbClr val="F8F9FA"/>
          </a:solidFill>
          <a:ln w="12700">
            <a:solidFill>
              <a:srgbClr val="DADCE0"/>
            </a:solidFill>
            <a:prstDash val="solid"/>
          </a:ln>
        </p:spPr>
      </p:sp>
      <p:sp>
        <p:nvSpPr>
          <p:cNvPr id="7" name="Shape 5"/>
          <p:cNvSpPr/>
          <p:nvPr/>
        </p:nvSpPr>
        <p:spPr>
          <a:xfrm>
            <a:off x="713232" y="1600200"/>
            <a:ext cx="420624" cy="420624"/>
          </a:xfrm>
          <a:prstGeom prst="ellipse">
            <a:avLst/>
          </a:prstGeom>
          <a:solidFill>
            <a:srgbClr val="E8EAED"/>
          </a:solidFill>
          <a:ln w="12700">
            <a:solidFill>
              <a:srgbClr val="E8EAED"/>
            </a:solidFill>
            <a:prstDash val="solid"/>
          </a:ln>
        </p:spPr>
      </p:sp>
      <p:sp>
        <p:nvSpPr>
          <p:cNvPr id="8" name="Shape 6"/>
          <p:cNvSpPr/>
          <p:nvPr/>
        </p:nvSpPr>
        <p:spPr>
          <a:xfrm rot="5400000">
            <a:off x="850392" y="1719072"/>
            <a:ext cx="182880" cy="182880"/>
          </a:xfrm>
          <a:prstGeom prst="triangle">
            <a:avLst/>
          </a:prstGeom>
          <a:solidFill>
            <a:srgbClr val="5F6368"/>
          </a:solidFill>
          <a:ln w="12700">
            <a:solidFill>
              <a:srgbClr val="5F6368"/>
            </a:solidFill>
            <a:prstDash val="solid"/>
          </a:ln>
        </p:spPr>
      </p:sp>
      <p:sp>
        <p:nvSpPr>
          <p:cNvPr id="9" name="Text 7"/>
          <p:cNvSpPr txBox="1"/>
          <p:nvPr/>
        </p:nvSpPr>
        <p:spPr>
          <a:xfrm>
            <a:off x="1325880" y="1600200"/>
            <a:ext cx="7360920" cy="1737360"/>
          </a:xfrm>
          <a:prstGeom prst="rect">
            <a:avLst/>
          </a:prstGeom>
          <a:noFill/>
          <a:ln/>
        </p:spPr>
        <p:txBody>
          <a:bodyPr wrap="square" lIns="0" tIns="0" rIns="0" bIns="0" rtlCol="0" anchor="t"/>
          <a:lstStyle/>
          <a:p>
            <a:pPr indent="0" marL="0">
              <a:buNone/>
            </a:pPr>
            <a:r>
              <a:rPr lang="en-US" sz="1300" i="1" dirty="0">
                <a:solidFill>
                  <a:srgbClr val="188038"/>
                </a:solidFill>
                <a:latin typeface="Courier New" pitchFamily="34" charset="0"/>
                <a:ea typeface="Courier New" pitchFamily="34" charset="-122"/>
                <a:cs typeface="Courier New" pitchFamily="34" charset="-120"/>
              </a:rPr>
              <a:t># Estudio 4</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region = </a:t>
            </a:r>
            <a:pPr indent="0" marL="0">
              <a:buNone/>
            </a:pPr>
            <a:r>
              <a:rPr lang="en-US" sz="1300" dirty="0">
                <a:solidFill>
                  <a:srgbClr val="A31515"/>
                </a:solidFill>
                <a:latin typeface="Courier New" pitchFamily="34" charset="0"/>
                <a:ea typeface="Courier New" pitchFamily="34" charset="-122"/>
                <a:cs typeface="Courier New" pitchFamily="34" charset="-120"/>
              </a:rPr>
              <a:t>"Metropolitana"</a:t>
            </a:r>
            <a:pPr indent="0" marL="0">
              <a:buNone/>
            </a:pPr>
            <a:r>
              <a:rPr lang="en-US" sz="1300" dirty="0">
                <a:solidFill>
                  <a:srgbClr val="202124"/>
                </a:solidFill>
                <a:latin typeface="Courier New" pitchFamily="34" charset="0"/>
                <a:ea typeface="Courier New" pitchFamily="34" charset="-122"/>
                <a:cs typeface="Courier New" pitchFamily="34" charset="-120"/>
              </a:rPr>
              <a:t> </a:t>
            </a:r>
            <a:pPr indent="0" marL="0">
              <a:buNone/>
            </a:pPr>
            <a:r>
              <a:rPr lang="en-US" sz="1300" dirty="0">
                <a:solidFill>
                  <a:srgbClr val="80868B"/>
                </a:solidFill>
                <a:latin typeface="Courier New" pitchFamily="34" charset="0"/>
                <a:ea typeface="Courier New" pitchFamily="34" charset="-122"/>
                <a:cs typeface="Courier New" pitchFamily="34" charset="-120"/>
              </a:rPr>
              <a:t>#@param ["Antofagasta", "Atacama", "Coquimbo", "Valparaíso", "Metropolitana", "Biobío", "Los Lagos"]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una = mix[mix[</a:t>
            </a:r>
            <a:pPr indent="0" marL="0">
              <a:buNone/>
            </a:pPr>
            <a:r>
              <a:rPr lang="en-US" sz="1300" dirty="0">
                <a:solidFill>
                  <a:srgbClr val="A31515"/>
                </a:solidFill>
                <a:latin typeface="Courier New" pitchFamily="34" charset="0"/>
                <a:ea typeface="Courier New" pitchFamily="34" charset="-122"/>
                <a:cs typeface="Courier New" pitchFamily="34" charset="-120"/>
              </a:rPr>
              <a:t>"region"</a:t>
            </a:r>
            <a:pPr indent="0" marL="0">
              <a:buNone/>
            </a:pPr>
            <a:r>
              <a:rPr lang="en-US" sz="1300" dirty="0">
                <a:solidFill>
                  <a:srgbClr val="202124"/>
                </a:solidFill>
                <a:latin typeface="Courier New" pitchFamily="34" charset="0"/>
                <a:ea typeface="Courier New" pitchFamily="34" charset="-122"/>
                <a:cs typeface="Courier New" pitchFamily="34" charset="-120"/>
              </a:rPr>
              <a:t>] == region]</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correlacion = round(una[</a:t>
            </a:r>
            <a:pPr indent="0" marL="0">
              <a:buNone/>
            </a:pPr>
            <a:r>
              <a:rPr lang="en-US" sz="1300" dirty="0">
                <a:solidFill>
                  <a:srgbClr val="A31515"/>
                </a:solidFill>
                <a:latin typeface="Courier New" pitchFamily="34" charset="0"/>
                <a:ea typeface="Courier New" pitchFamily="34" charset="-122"/>
                <a:cs typeface="Courier New" pitchFamily="34" charset="-120"/>
              </a:rPr>
              <a:t>"precio_usd_mwh"</a:t>
            </a:r>
            <a:pPr indent="0" marL="0">
              <a:buNone/>
            </a:pPr>
            <a:r>
              <a:rPr lang="en-US" sz="1300" dirty="0">
                <a:solidFill>
                  <a:srgbClr val="202124"/>
                </a:solidFill>
                <a:latin typeface="Courier New" pitchFamily="34" charset="0"/>
                <a:ea typeface="Courier New" pitchFamily="34" charset="-122"/>
                <a:cs typeface="Courier New" pitchFamily="34" charset="-120"/>
              </a:rPr>
              <a:t>].corr(una[</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 3)</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print(f</a:t>
            </a:r>
            <a:pPr indent="0" marL="0">
              <a:buNone/>
            </a:pPr>
            <a:r>
              <a:rPr lang="en-US" sz="1300" dirty="0">
                <a:solidFill>
                  <a:srgbClr val="A31515"/>
                </a:solidFill>
                <a:latin typeface="Courier New" pitchFamily="34" charset="0"/>
                <a:ea typeface="Courier New" pitchFamily="34" charset="-122"/>
                <a:cs typeface="Courier New" pitchFamily="34" charset="-120"/>
              </a:rPr>
              <a:t>"Correlación dentro de {region}"</a:t>
            </a:r>
            <a:pPr indent="0" marL="0">
              <a:buNone/>
            </a:pPr>
            <a:r>
              <a:rPr lang="en-US" sz="1300" dirty="0">
                <a:solidFill>
                  <a:srgbClr val="202124"/>
                </a:solidFill>
                <a:latin typeface="Courier New" pitchFamily="34" charset="0"/>
                <a:ea typeface="Courier New" pitchFamily="34" charset="-122"/>
                <a:cs typeface="Courier New" pitchFamily="34" charset="-120"/>
              </a:rPr>
              <a:t>, correlacion)</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"Correlación con todas las regiones"</a:t>
            </a:r>
            <a:pPr indent="0" marL="0">
              <a:buNone/>
            </a:pPr>
            <a:r>
              <a:rPr lang="en-US" sz="1300" dirty="0">
                <a:solidFill>
                  <a:srgbClr val="202124"/>
                </a:solidFill>
                <a:latin typeface="Courier New" pitchFamily="34" charset="0"/>
                <a:ea typeface="Courier New" pitchFamily="34" charset="-122"/>
                <a:cs typeface="Courier New" pitchFamily="34" charset="-120"/>
              </a:rPr>
              <a:t>, correlacion_total)</a:t>
            </a:r>
            <a:endParaRPr lang="en-US" sz="1300" dirty="0"/>
          </a:p>
        </p:txBody>
      </p:sp>
      <p:sp>
        <p:nvSpPr>
          <p:cNvPr id="10" name="Text 8"/>
          <p:cNvSpPr txBox="1"/>
          <p:nvPr/>
        </p:nvSpPr>
        <p:spPr>
          <a:xfrm>
            <a:off x="8823960" y="1618488"/>
            <a:ext cx="2651760" cy="228600"/>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region</a:t>
            </a:r>
            <a:endParaRPr lang="en-US" sz="1100" dirty="0"/>
          </a:p>
        </p:txBody>
      </p:sp>
      <p:sp>
        <p:nvSpPr>
          <p:cNvPr id="11" name="Shape 9"/>
          <p:cNvSpPr/>
          <p:nvPr/>
        </p:nvSpPr>
        <p:spPr>
          <a:xfrm>
            <a:off x="8823960" y="1874520"/>
            <a:ext cx="2651760" cy="347472"/>
          </a:xfrm>
          <a:prstGeom prst="rect">
            <a:avLst/>
          </a:prstGeom>
          <a:solidFill>
            <a:srgbClr val="FFFFFF"/>
          </a:solidFill>
          <a:ln w="12700">
            <a:solidFill>
              <a:srgbClr val="9AA0A6"/>
            </a:solidFill>
            <a:prstDash val="solid"/>
          </a:ln>
        </p:spPr>
      </p:sp>
      <p:sp>
        <p:nvSpPr>
          <p:cNvPr id="12" name="Text 10"/>
          <p:cNvSpPr txBox="1"/>
          <p:nvPr/>
        </p:nvSpPr>
        <p:spPr>
          <a:xfrm>
            <a:off x="8915400" y="1874520"/>
            <a:ext cx="2240280" cy="347472"/>
          </a:xfrm>
          <a:prstGeom prst="rect">
            <a:avLst/>
          </a:prstGeom>
          <a:noFill/>
          <a:ln/>
        </p:spPr>
        <p:txBody>
          <a:bodyPr wrap="square" lIns="0" tIns="0" rIns="0" bIns="0" rtlCol="0" anchor="ctr"/>
          <a:lstStyle/>
          <a:p>
            <a:pPr indent="0" marL="0">
              <a:buNone/>
            </a:pPr>
            <a:r>
              <a:rPr lang="en-US" sz="1200" dirty="0">
                <a:solidFill>
                  <a:srgbClr val="202124"/>
                </a:solidFill>
                <a:latin typeface="Calibri" pitchFamily="34" charset="0"/>
                <a:ea typeface="Calibri" pitchFamily="34" charset="-122"/>
                <a:cs typeface="Calibri" pitchFamily="34" charset="-120"/>
              </a:rPr>
              <a:t>Metropolitana</a:t>
            </a:r>
            <a:endParaRPr lang="en-US" sz="1200" dirty="0"/>
          </a:p>
        </p:txBody>
      </p:sp>
      <p:sp>
        <p:nvSpPr>
          <p:cNvPr id="13" name="Shape 11"/>
          <p:cNvSpPr/>
          <p:nvPr/>
        </p:nvSpPr>
        <p:spPr>
          <a:xfrm rot="10800000">
            <a:off x="11201400" y="2011680"/>
            <a:ext cx="128016" cy="82296"/>
          </a:xfrm>
          <a:prstGeom prst="triangle">
            <a:avLst/>
          </a:prstGeom>
          <a:solidFill>
            <a:srgbClr val="5F6368"/>
          </a:solidFill>
          <a:ln w="12700">
            <a:solidFill>
              <a:srgbClr val="5F6368"/>
            </a:solidFill>
            <a:prstDash val="solid"/>
          </a:ln>
        </p:spPr>
      </p:sp>
      <p:sp>
        <p:nvSpPr>
          <p:cNvPr id="14" name="Shape 12"/>
          <p:cNvSpPr/>
          <p:nvPr/>
        </p:nvSpPr>
        <p:spPr>
          <a:xfrm>
            <a:off x="1325880" y="3511296"/>
            <a:ext cx="10314432" cy="585216"/>
          </a:xfrm>
          <a:prstGeom prst="rect">
            <a:avLst/>
          </a:prstGeom>
          <a:solidFill>
            <a:srgbClr val="FFFFFF"/>
          </a:solidFill>
          <a:ln w="12700">
            <a:solidFill>
              <a:srgbClr val="DADCE0"/>
            </a:solidFill>
            <a:prstDash val="solid"/>
          </a:ln>
        </p:spPr>
      </p:sp>
      <p:sp>
        <p:nvSpPr>
          <p:cNvPr id="15" name="Text 13"/>
          <p:cNvSpPr txBox="1"/>
          <p:nvPr/>
        </p:nvSpPr>
        <p:spPr>
          <a:xfrm>
            <a:off x="1463040" y="3584448"/>
            <a:ext cx="10085832" cy="457200"/>
          </a:xfrm>
          <a:prstGeom prst="rect">
            <a:avLst/>
          </a:prstGeom>
          <a:noFill/>
          <a:ln/>
        </p:spPr>
        <p:txBody>
          <a:bodyPr wrap="square" lIns="0" tIns="0" rIns="0" bIns="0" rtlCol="0" anchor="t"/>
          <a:lstStyle/>
          <a:p>
            <a:pPr indent="0" marL="0">
              <a:buNone/>
            </a:pPr>
            <a:r>
              <a:rPr lang="en-US" sz="1200" dirty="0">
                <a:solidFill>
                  <a:srgbClr val="202124"/>
                </a:solidFill>
                <a:latin typeface="Courier New" pitchFamily="34" charset="0"/>
                <a:ea typeface="Courier New" pitchFamily="34" charset="-122"/>
                <a:cs typeface="Courier New" pitchFamily="34" charset="-120"/>
              </a:rPr>
              <a:t>Correlación dentro de Metropolitana 0.917</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Correlación con todas las regiones 0.979</a:t>
            </a:r>
            <a:endParaRPr lang="en-US" sz="1200" dirty="0"/>
          </a:p>
        </p:txBody>
      </p:sp>
      <p:sp>
        <p:nvSpPr>
          <p:cNvPr id="17" name="Text 14"/>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8" name="Shape 15"/>
          <p:cNvSpPr/>
          <p:nvPr/>
        </p:nvSpPr>
        <p:spPr>
          <a:xfrm>
            <a:off x="548640" y="6062472"/>
            <a:ext cx="1714500" cy="566928"/>
          </a:xfrm>
          <a:prstGeom prst="roundRect">
            <a:avLst>
              <a:gd name="adj" fmla="val 11290"/>
            </a:avLst>
          </a:prstGeom>
          <a:solidFill>
            <a:srgbClr val="FEF3D6"/>
          </a:solidFill>
          <a:ln w="25400">
            <a:solidFill>
              <a:srgbClr val="F9AB00"/>
            </a:solidFill>
            <a:prstDash val="solid"/>
          </a:ln>
        </p:spPr>
      </p:sp>
      <p:sp>
        <p:nvSpPr>
          <p:cNvPr id="19" name="Text 16"/>
          <p:cNvSpPr txBox="1"/>
          <p:nvPr/>
        </p:nvSpPr>
        <p:spPr>
          <a:xfrm>
            <a:off x="640080" y="6071616"/>
            <a:ext cx="15773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region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"Metropolitana"</a:t>
            </a:r>
            <a:endParaRPr lang="en-US" sz="1200" dirty="0"/>
          </a:p>
        </p:txBody>
      </p:sp>
      <p:sp>
        <p:nvSpPr>
          <p:cNvPr id="20" name="Shape 17"/>
          <p:cNvSpPr/>
          <p:nvPr/>
        </p:nvSpPr>
        <p:spPr>
          <a:xfrm>
            <a:off x="2400300" y="6062472"/>
            <a:ext cx="1618488" cy="566928"/>
          </a:xfrm>
          <a:prstGeom prst="roundRect">
            <a:avLst>
              <a:gd name="adj" fmla="val 11290"/>
            </a:avLst>
          </a:prstGeom>
          <a:solidFill>
            <a:srgbClr val="E8F0FE"/>
          </a:solidFill>
          <a:ln w="28575">
            <a:solidFill>
              <a:srgbClr val="1A73E8"/>
            </a:solidFill>
            <a:prstDash val="solid"/>
          </a:ln>
        </p:spPr>
      </p:sp>
      <p:sp>
        <p:nvSpPr>
          <p:cNvPr id="21" name="Text 18"/>
          <p:cNvSpPr txBox="1"/>
          <p:nvPr/>
        </p:nvSpPr>
        <p:spPr>
          <a:xfrm>
            <a:off x="2491740" y="6071616"/>
            <a:ext cx="1481328"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mix</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5208 × 5</a:t>
            </a:r>
            <a:endParaRPr lang="en-US" sz="1200" dirty="0"/>
          </a:p>
        </p:txBody>
      </p:sp>
      <p:sp>
        <p:nvSpPr>
          <p:cNvPr id="22" name="Shape 19"/>
          <p:cNvSpPr/>
          <p:nvPr/>
        </p:nvSpPr>
        <p:spPr>
          <a:xfrm>
            <a:off x="4155948" y="6062472"/>
            <a:ext cx="1906524" cy="566928"/>
          </a:xfrm>
          <a:prstGeom prst="roundRect">
            <a:avLst>
              <a:gd name="adj" fmla="val 11290"/>
            </a:avLst>
          </a:prstGeom>
          <a:solidFill>
            <a:srgbClr val="E8F0FE"/>
          </a:solidFill>
          <a:ln w="28575">
            <a:solidFill>
              <a:srgbClr val="1A73E8"/>
            </a:solidFill>
            <a:prstDash val="solid"/>
          </a:ln>
        </p:spPr>
      </p:sp>
      <p:sp>
        <p:nvSpPr>
          <p:cNvPr id="23" name="Text 20"/>
          <p:cNvSpPr txBox="1"/>
          <p:nvPr/>
        </p:nvSpPr>
        <p:spPr>
          <a:xfrm>
            <a:off x="4247388" y="6071616"/>
            <a:ext cx="176936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correlacion_total</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0.979</a:t>
            </a:r>
            <a:endParaRPr lang="en-US" sz="1200" dirty="0"/>
          </a:p>
        </p:txBody>
      </p:sp>
      <p:sp>
        <p:nvSpPr>
          <p:cNvPr id="24" name="Shape 21"/>
          <p:cNvSpPr/>
          <p:nvPr/>
        </p:nvSpPr>
        <p:spPr>
          <a:xfrm>
            <a:off x="6199632" y="6062472"/>
            <a:ext cx="1522476" cy="566928"/>
          </a:xfrm>
          <a:prstGeom prst="roundRect">
            <a:avLst>
              <a:gd name="adj" fmla="val 11290"/>
            </a:avLst>
          </a:prstGeom>
          <a:solidFill>
            <a:srgbClr val="FEF3D6"/>
          </a:solidFill>
          <a:ln w="25400">
            <a:solidFill>
              <a:srgbClr val="F9AB00"/>
            </a:solidFill>
            <a:prstDash val="solid"/>
          </a:ln>
        </p:spPr>
      </p:sp>
      <p:sp>
        <p:nvSpPr>
          <p:cNvPr id="25" name="Text 22"/>
          <p:cNvSpPr txBox="1"/>
          <p:nvPr/>
        </p:nvSpPr>
        <p:spPr>
          <a:xfrm>
            <a:off x="6291072" y="6071616"/>
            <a:ext cx="138531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una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744 × 5</a:t>
            </a:r>
            <a:endParaRPr lang="en-US" sz="1200" dirty="0"/>
          </a:p>
        </p:txBody>
      </p:sp>
      <p:sp>
        <p:nvSpPr>
          <p:cNvPr id="26" name="Shape 23"/>
          <p:cNvSpPr/>
          <p:nvPr/>
        </p:nvSpPr>
        <p:spPr>
          <a:xfrm>
            <a:off x="7859268" y="6062472"/>
            <a:ext cx="1330452" cy="566928"/>
          </a:xfrm>
          <a:prstGeom prst="roundRect">
            <a:avLst>
              <a:gd name="adj" fmla="val 11290"/>
            </a:avLst>
          </a:prstGeom>
          <a:solidFill>
            <a:srgbClr val="FEF3D6"/>
          </a:solidFill>
          <a:ln w="25400">
            <a:solidFill>
              <a:srgbClr val="F9AB00"/>
            </a:solidFill>
            <a:prstDash val="solid"/>
          </a:ln>
        </p:spPr>
      </p:sp>
      <p:sp>
        <p:nvSpPr>
          <p:cNvPr id="27" name="Text 24"/>
          <p:cNvSpPr txBox="1"/>
          <p:nvPr/>
        </p:nvSpPr>
        <p:spPr>
          <a:xfrm>
            <a:off x="7950708" y="6071616"/>
            <a:ext cx="119329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correlacion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0.917</a:t>
            </a:r>
            <a:endParaRPr lang="en-US" sz="1200" dirty="0"/>
          </a:p>
        </p:txBody>
      </p:sp>
      <p:sp>
        <p:nvSpPr>
          <p:cNvPr id="28" name="Text 25"/>
          <p:cNvSpPr txBox="1"/>
          <p:nvPr/>
        </p:nvSpPr>
        <p:spPr>
          <a:xfrm>
            <a:off x="9326880"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18 más</a:t>
            </a:r>
            <a:endParaRPr lang="en-US" sz="1200" dirty="0"/>
          </a:p>
        </p:txBody>
      </p:sp>
      <p:sp>
        <p:nvSpPr>
          <p:cNvPr id="29" name="Text 26"/>
          <p:cNvSpPr txBox="1"/>
          <p:nvPr/>
        </p:nvSpPr>
        <p:spPr>
          <a:xfrm>
            <a:off x="548640" y="6638544"/>
            <a:ext cx="11091672" cy="237744"/>
          </a:xfrm>
          <a:prstGeom prst="rect">
            <a:avLst/>
          </a:prstGeom>
          <a:noFill/>
          <a:ln/>
        </p:spPr>
        <p:txBody>
          <a:bodyPr wrap="square" lIns="0" tIns="0" rIns="0" bIns="0" rtlCol="0" anchor="ctr"/>
          <a:lstStyle/>
          <a:p>
            <a:pPr indent="0" marL="0">
              <a:buNone/>
            </a:pPr>
            <a:r>
              <a:rPr lang="en-US" sz="1300" i="1" dirty="0">
                <a:solidFill>
                  <a:srgbClr val="0B3D62"/>
                </a:solidFill>
                <a:latin typeface="Calibri" pitchFamily="34" charset="0"/>
                <a:ea typeface="Calibri" pitchFamily="34" charset="-122"/>
                <a:cs typeface="Calibri" pitchFamily="34" charset="-120"/>
              </a:rPr>
              <a:t>Dentro de la Metropolitana la correlación es 0,917.</a:t>
            </a:r>
            <a:endParaRPr lang="en-US" sz="13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4"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4 de 4</a:t>
            </a:r>
            <a:endParaRPr lang="en-US" sz="1400" dirty="0"/>
          </a:p>
        </p:txBody>
      </p:sp>
      <p:sp>
        <p:nvSpPr>
          <p:cNvPr id="5"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¿Y dentro de cada región?</a:t>
            </a:r>
            <a:endParaRPr lang="en-US" sz="2400" dirty="0"/>
          </a:p>
        </p:txBody>
      </p:sp>
      <p:sp>
        <p:nvSpPr>
          <p:cNvPr id="6"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Se elige Atacama en la lista y se vuelve a correr la celda.</a:t>
            </a:r>
            <a:endParaRPr lang="en-US" sz="1400" dirty="0"/>
          </a:p>
        </p:txBody>
      </p:sp>
      <p:sp>
        <p:nvSpPr>
          <p:cNvPr id="7" name="Shape 4"/>
          <p:cNvSpPr/>
          <p:nvPr/>
        </p:nvSpPr>
        <p:spPr>
          <a:xfrm>
            <a:off x="548640" y="1481328"/>
            <a:ext cx="11091672" cy="1920240"/>
          </a:xfrm>
          <a:prstGeom prst="roundRect">
            <a:avLst>
              <a:gd name="adj" fmla="val 2857"/>
            </a:avLst>
          </a:prstGeom>
          <a:solidFill>
            <a:srgbClr val="F8F9FA"/>
          </a:solidFill>
          <a:ln w="25400">
            <a:solidFill>
              <a:srgbClr val="F9AB00"/>
            </a:solidFill>
            <a:prstDash val="solid"/>
          </a:ln>
        </p:spPr>
      </p:sp>
      <p:sp>
        <p:nvSpPr>
          <p:cNvPr id="8" name="Shape 5"/>
          <p:cNvSpPr/>
          <p:nvPr/>
        </p:nvSpPr>
        <p:spPr>
          <a:xfrm>
            <a:off x="713232" y="1600200"/>
            <a:ext cx="420624" cy="420624"/>
          </a:xfrm>
          <a:prstGeom prst="ellipse">
            <a:avLst/>
          </a:prstGeom>
          <a:solidFill>
            <a:srgbClr val="F9AB00"/>
          </a:solidFill>
          <a:ln w="12700">
            <a:solidFill>
              <a:srgbClr val="F9AB00"/>
            </a:solidFill>
            <a:prstDash val="solid"/>
          </a:ln>
        </p:spPr>
      </p:sp>
      <p:sp>
        <p:nvSpPr>
          <p:cNvPr id="9" name="Shape 6"/>
          <p:cNvSpPr/>
          <p:nvPr/>
        </p:nvSpPr>
        <p:spPr>
          <a:xfrm rot="5400000">
            <a:off x="850392" y="1719072"/>
            <a:ext cx="182880" cy="182880"/>
          </a:xfrm>
          <a:prstGeom prst="triangle">
            <a:avLst/>
          </a:prstGeom>
          <a:solidFill>
            <a:srgbClr val="FFFFFF"/>
          </a:solidFill>
          <a:ln w="12700">
            <a:solidFill>
              <a:srgbClr val="FFFFFF"/>
            </a:solidFill>
            <a:prstDash val="solid"/>
          </a:ln>
        </p:spPr>
      </p:sp>
      <p:sp>
        <p:nvSpPr>
          <p:cNvPr id="10" name="Text 7"/>
          <p:cNvSpPr txBox="1"/>
          <p:nvPr/>
        </p:nvSpPr>
        <p:spPr>
          <a:xfrm>
            <a:off x="1325880" y="1600200"/>
            <a:ext cx="7360920" cy="1737360"/>
          </a:xfrm>
          <a:prstGeom prst="rect">
            <a:avLst/>
          </a:prstGeom>
          <a:noFill/>
          <a:ln/>
        </p:spPr>
        <p:txBody>
          <a:bodyPr wrap="square" lIns="0" tIns="0" rIns="0" bIns="0" rtlCol="0" anchor="t"/>
          <a:lstStyle/>
          <a:p>
            <a:pPr indent="0" marL="0">
              <a:buNone/>
            </a:pPr>
            <a:r>
              <a:rPr lang="en-US" sz="1300" i="1" dirty="0">
                <a:solidFill>
                  <a:srgbClr val="188038"/>
                </a:solidFill>
                <a:latin typeface="Courier New" pitchFamily="34" charset="0"/>
                <a:ea typeface="Courier New" pitchFamily="34" charset="-122"/>
                <a:cs typeface="Courier New" pitchFamily="34" charset="-120"/>
              </a:rPr>
              <a:t># Estudio 4</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region = </a:t>
            </a:r>
            <a:pPr indent="0" marL="0">
              <a:buNone/>
            </a:pPr>
            <a:r>
              <a:rPr lang="en-US" sz="1300" dirty="0">
                <a:solidFill>
                  <a:srgbClr val="A31515"/>
                </a:solidFill>
                <a:latin typeface="Courier New" pitchFamily="34" charset="0"/>
                <a:ea typeface="Courier New" pitchFamily="34" charset="-122"/>
                <a:cs typeface="Courier New" pitchFamily="34" charset="-120"/>
              </a:rPr>
              <a:t>"Atacama"</a:t>
            </a:r>
            <a:pPr indent="0" marL="0">
              <a:buNone/>
            </a:pPr>
            <a:r>
              <a:rPr lang="en-US" sz="1300" dirty="0">
                <a:solidFill>
                  <a:srgbClr val="202124"/>
                </a:solidFill>
                <a:latin typeface="Courier New" pitchFamily="34" charset="0"/>
                <a:ea typeface="Courier New" pitchFamily="34" charset="-122"/>
                <a:cs typeface="Courier New" pitchFamily="34" charset="-120"/>
              </a:rPr>
              <a:t> </a:t>
            </a:r>
            <a:pPr indent="0" marL="0">
              <a:buNone/>
            </a:pPr>
            <a:r>
              <a:rPr lang="en-US" sz="1300" dirty="0">
                <a:solidFill>
                  <a:srgbClr val="80868B"/>
                </a:solidFill>
                <a:latin typeface="Courier New" pitchFamily="34" charset="0"/>
                <a:ea typeface="Courier New" pitchFamily="34" charset="-122"/>
                <a:cs typeface="Courier New" pitchFamily="34" charset="-120"/>
              </a:rPr>
              <a:t>#@param ["Antofagasta", "Atacama", "Coquimbo", "Valparaíso", "Metropolitana", "Biobío", "Los Lagos"]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una = mix[mix[</a:t>
            </a:r>
            <a:pPr indent="0" marL="0">
              <a:buNone/>
            </a:pPr>
            <a:r>
              <a:rPr lang="en-US" sz="1300" dirty="0">
                <a:solidFill>
                  <a:srgbClr val="A31515"/>
                </a:solidFill>
                <a:latin typeface="Courier New" pitchFamily="34" charset="0"/>
                <a:ea typeface="Courier New" pitchFamily="34" charset="-122"/>
                <a:cs typeface="Courier New" pitchFamily="34" charset="-120"/>
              </a:rPr>
              <a:t>"region"</a:t>
            </a:r>
            <a:pPr indent="0" marL="0">
              <a:buNone/>
            </a:pPr>
            <a:r>
              <a:rPr lang="en-US" sz="1300" dirty="0">
                <a:solidFill>
                  <a:srgbClr val="202124"/>
                </a:solidFill>
                <a:latin typeface="Courier New" pitchFamily="34" charset="0"/>
                <a:ea typeface="Courier New" pitchFamily="34" charset="-122"/>
                <a:cs typeface="Courier New" pitchFamily="34" charset="-120"/>
              </a:rPr>
              <a:t>] == region]</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correlacion = round(una[</a:t>
            </a:r>
            <a:pPr indent="0" marL="0">
              <a:buNone/>
            </a:pPr>
            <a:r>
              <a:rPr lang="en-US" sz="1300" dirty="0">
                <a:solidFill>
                  <a:srgbClr val="A31515"/>
                </a:solidFill>
                <a:latin typeface="Courier New" pitchFamily="34" charset="0"/>
                <a:ea typeface="Courier New" pitchFamily="34" charset="-122"/>
                <a:cs typeface="Courier New" pitchFamily="34" charset="-120"/>
              </a:rPr>
              <a:t>"precio_usd_mwh"</a:t>
            </a:r>
            <a:pPr indent="0" marL="0">
              <a:buNone/>
            </a:pPr>
            <a:r>
              <a:rPr lang="en-US" sz="1300" dirty="0">
                <a:solidFill>
                  <a:srgbClr val="202124"/>
                </a:solidFill>
                <a:latin typeface="Courier New" pitchFamily="34" charset="0"/>
                <a:ea typeface="Courier New" pitchFamily="34" charset="-122"/>
                <a:cs typeface="Courier New" pitchFamily="34" charset="-120"/>
              </a:rPr>
              <a:t>].corr(una[</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 3)</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print(f</a:t>
            </a:r>
            <a:pPr indent="0" marL="0">
              <a:buNone/>
            </a:pPr>
            <a:r>
              <a:rPr lang="en-US" sz="1300" dirty="0">
                <a:solidFill>
                  <a:srgbClr val="A31515"/>
                </a:solidFill>
                <a:latin typeface="Courier New" pitchFamily="34" charset="0"/>
                <a:ea typeface="Courier New" pitchFamily="34" charset="-122"/>
                <a:cs typeface="Courier New" pitchFamily="34" charset="-120"/>
              </a:rPr>
              <a:t>"Correlación dentro de {region}"</a:t>
            </a:r>
            <a:pPr indent="0" marL="0">
              <a:buNone/>
            </a:pPr>
            <a:r>
              <a:rPr lang="en-US" sz="1300" dirty="0">
                <a:solidFill>
                  <a:srgbClr val="202124"/>
                </a:solidFill>
                <a:latin typeface="Courier New" pitchFamily="34" charset="0"/>
                <a:ea typeface="Courier New" pitchFamily="34" charset="-122"/>
                <a:cs typeface="Courier New" pitchFamily="34" charset="-120"/>
              </a:rPr>
              <a:t>, correlacion)</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"Correlación con todas las regiones"</a:t>
            </a:r>
            <a:pPr indent="0" marL="0">
              <a:buNone/>
            </a:pPr>
            <a:r>
              <a:rPr lang="en-US" sz="1300" dirty="0">
                <a:solidFill>
                  <a:srgbClr val="202124"/>
                </a:solidFill>
                <a:latin typeface="Courier New" pitchFamily="34" charset="0"/>
                <a:ea typeface="Courier New" pitchFamily="34" charset="-122"/>
                <a:cs typeface="Courier New" pitchFamily="34" charset="-120"/>
              </a:rPr>
              <a:t>, correlacion_total)</a:t>
            </a:r>
            <a:endParaRPr lang="en-US" sz="1300" dirty="0"/>
          </a:p>
        </p:txBody>
      </p:sp>
      <p:sp>
        <p:nvSpPr>
          <p:cNvPr id="11" name="Text 8"/>
          <p:cNvSpPr txBox="1"/>
          <p:nvPr/>
        </p:nvSpPr>
        <p:spPr>
          <a:xfrm>
            <a:off x="8823960" y="1618488"/>
            <a:ext cx="2651760" cy="228600"/>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region</a:t>
            </a:r>
            <a:endParaRPr lang="en-US" sz="1100" dirty="0"/>
          </a:p>
        </p:txBody>
      </p:sp>
      <p:sp>
        <p:nvSpPr>
          <p:cNvPr id="12" name="Shape 9"/>
          <p:cNvSpPr/>
          <p:nvPr/>
        </p:nvSpPr>
        <p:spPr>
          <a:xfrm>
            <a:off x="8823960" y="1874520"/>
            <a:ext cx="2651760" cy="347472"/>
          </a:xfrm>
          <a:prstGeom prst="rect">
            <a:avLst/>
          </a:prstGeom>
          <a:solidFill>
            <a:srgbClr val="FFFFFF"/>
          </a:solidFill>
          <a:ln w="25400">
            <a:solidFill>
              <a:srgbClr val="1A73E8"/>
            </a:solidFill>
            <a:prstDash val="solid"/>
          </a:ln>
        </p:spPr>
      </p:sp>
      <p:sp>
        <p:nvSpPr>
          <p:cNvPr id="13" name="Text 10"/>
          <p:cNvSpPr txBox="1"/>
          <p:nvPr/>
        </p:nvSpPr>
        <p:spPr>
          <a:xfrm>
            <a:off x="8915400" y="1874520"/>
            <a:ext cx="2240280" cy="347472"/>
          </a:xfrm>
          <a:prstGeom prst="rect">
            <a:avLst/>
          </a:prstGeom>
          <a:noFill/>
          <a:ln/>
        </p:spPr>
        <p:txBody>
          <a:bodyPr wrap="square" lIns="0" tIns="0" rIns="0" bIns="0" rtlCol="0" anchor="ctr"/>
          <a:lstStyle/>
          <a:p>
            <a:pPr indent="0" marL="0">
              <a:buNone/>
            </a:pPr>
            <a:r>
              <a:rPr lang="en-US" sz="1200" dirty="0">
                <a:solidFill>
                  <a:srgbClr val="202124"/>
                </a:solidFill>
                <a:latin typeface="Calibri" pitchFamily="34" charset="0"/>
                <a:ea typeface="Calibri" pitchFamily="34" charset="-122"/>
                <a:cs typeface="Calibri" pitchFamily="34" charset="-120"/>
              </a:rPr>
              <a:t>Atacama</a:t>
            </a:r>
            <a:endParaRPr lang="en-US" sz="1200" dirty="0"/>
          </a:p>
        </p:txBody>
      </p:sp>
      <p:sp>
        <p:nvSpPr>
          <p:cNvPr id="14" name="Shape 11"/>
          <p:cNvSpPr/>
          <p:nvPr/>
        </p:nvSpPr>
        <p:spPr>
          <a:xfrm rot="10800000">
            <a:off x="11201400" y="2011680"/>
            <a:ext cx="128016" cy="82296"/>
          </a:xfrm>
          <a:prstGeom prst="triangle">
            <a:avLst/>
          </a:prstGeom>
          <a:solidFill>
            <a:srgbClr val="5F6368"/>
          </a:solidFill>
          <a:ln w="12700">
            <a:solidFill>
              <a:srgbClr val="5F6368"/>
            </a:solidFill>
            <a:prstDash val="solid"/>
          </a:ln>
        </p:spPr>
      </p:sp>
      <p:sp>
        <p:nvSpPr>
          <p:cNvPr id="15" name="Text 12"/>
          <p:cNvSpPr txBox="1"/>
          <p:nvPr/>
        </p:nvSpPr>
        <p:spPr>
          <a:xfrm>
            <a:off x="1325880" y="3438144"/>
            <a:ext cx="5486400" cy="256032"/>
          </a:xfrm>
          <a:prstGeom prst="rect">
            <a:avLst/>
          </a:prstGeom>
          <a:noFill/>
          <a:ln/>
        </p:spPr>
        <p:txBody>
          <a:bodyPr wrap="square" lIns="0" tIns="0" rIns="0" bIns="0" rtlCol="0" anchor="ctr"/>
          <a:lstStyle/>
          <a:p>
            <a:pPr indent="0" marL="0">
              <a:buNone/>
            </a:pPr>
            <a:r>
              <a:rPr lang="en-US" sz="1200" b="1" dirty="0">
                <a:solidFill>
                  <a:srgbClr val="B06000"/>
                </a:solidFill>
                <a:latin typeface="Calibri" pitchFamily="34" charset="0"/>
                <a:ea typeface="Calibri" pitchFamily="34" charset="-122"/>
                <a:cs typeface="Calibri" pitchFamily="34" charset="-120"/>
              </a:rPr>
              <a:t>Clic en el botón de play para correr la celda</a:t>
            </a:r>
            <a:endParaRPr lang="en-US" sz="1200" dirty="0"/>
          </a:p>
        </p:txBody>
      </p:sp>
      <p:sp>
        <p:nvSpPr>
          <p:cNvPr id="16" name="Text 13"/>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17" name="Shape 14"/>
          <p:cNvSpPr/>
          <p:nvPr/>
        </p:nvSpPr>
        <p:spPr>
          <a:xfrm>
            <a:off x="548640" y="6062472"/>
            <a:ext cx="1330452" cy="566928"/>
          </a:xfrm>
          <a:prstGeom prst="roundRect">
            <a:avLst>
              <a:gd name="adj" fmla="val 11290"/>
            </a:avLst>
          </a:prstGeom>
          <a:solidFill>
            <a:srgbClr val="F1F3F4"/>
          </a:solidFill>
          <a:ln w="12700">
            <a:solidFill>
              <a:srgbClr val="DADCE0"/>
            </a:solidFill>
            <a:prstDash val="solid"/>
          </a:ln>
        </p:spPr>
      </p:sp>
      <p:sp>
        <p:nvSpPr>
          <p:cNvPr id="18" name="Text 15"/>
          <p:cNvSpPr txBox="1"/>
          <p:nvPr/>
        </p:nvSpPr>
        <p:spPr>
          <a:xfrm>
            <a:off x="640080" y="6071616"/>
            <a:ext cx="119329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correlacion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0.917</a:t>
            </a:r>
            <a:endParaRPr lang="en-US" sz="1200" dirty="0"/>
          </a:p>
        </p:txBody>
      </p:sp>
      <p:sp>
        <p:nvSpPr>
          <p:cNvPr id="19" name="Shape 16"/>
          <p:cNvSpPr/>
          <p:nvPr/>
        </p:nvSpPr>
        <p:spPr>
          <a:xfrm>
            <a:off x="2016252" y="6062472"/>
            <a:ext cx="1522476" cy="566928"/>
          </a:xfrm>
          <a:prstGeom prst="roundRect">
            <a:avLst>
              <a:gd name="adj" fmla="val 11290"/>
            </a:avLst>
          </a:prstGeom>
          <a:solidFill>
            <a:srgbClr val="F1F3F4"/>
          </a:solidFill>
          <a:ln w="12700">
            <a:solidFill>
              <a:srgbClr val="DADCE0"/>
            </a:solidFill>
            <a:prstDash val="solid"/>
          </a:ln>
        </p:spPr>
      </p:sp>
      <p:sp>
        <p:nvSpPr>
          <p:cNvPr id="20" name="Text 17"/>
          <p:cNvSpPr txBox="1"/>
          <p:nvPr/>
        </p:nvSpPr>
        <p:spPr>
          <a:xfrm>
            <a:off x="2107692" y="6071616"/>
            <a:ext cx="138531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una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744 × 5</a:t>
            </a:r>
            <a:endParaRPr lang="en-US" sz="1200" dirty="0"/>
          </a:p>
        </p:txBody>
      </p:sp>
      <p:sp>
        <p:nvSpPr>
          <p:cNvPr id="21" name="Shape 18"/>
          <p:cNvSpPr/>
          <p:nvPr/>
        </p:nvSpPr>
        <p:spPr>
          <a:xfrm>
            <a:off x="3675888" y="6062472"/>
            <a:ext cx="1906524" cy="566928"/>
          </a:xfrm>
          <a:prstGeom prst="roundRect">
            <a:avLst>
              <a:gd name="adj" fmla="val 11290"/>
            </a:avLst>
          </a:prstGeom>
          <a:solidFill>
            <a:srgbClr val="F1F3F4"/>
          </a:solidFill>
          <a:ln w="12700">
            <a:solidFill>
              <a:srgbClr val="DADCE0"/>
            </a:solidFill>
            <a:prstDash val="solid"/>
          </a:ln>
        </p:spPr>
      </p:sp>
      <p:sp>
        <p:nvSpPr>
          <p:cNvPr id="22" name="Text 19"/>
          <p:cNvSpPr txBox="1"/>
          <p:nvPr/>
        </p:nvSpPr>
        <p:spPr>
          <a:xfrm>
            <a:off x="3767328" y="6071616"/>
            <a:ext cx="176936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correlacion_total</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0.979</a:t>
            </a:r>
            <a:endParaRPr lang="en-US" sz="1200" dirty="0"/>
          </a:p>
        </p:txBody>
      </p:sp>
      <p:sp>
        <p:nvSpPr>
          <p:cNvPr id="23" name="Shape 20"/>
          <p:cNvSpPr/>
          <p:nvPr/>
        </p:nvSpPr>
        <p:spPr>
          <a:xfrm>
            <a:off x="5719572" y="6062472"/>
            <a:ext cx="1618488" cy="566928"/>
          </a:xfrm>
          <a:prstGeom prst="roundRect">
            <a:avLst>
              <a:gd name="adj" fmla="val 11290"/>
            </a:avLst>
          </a:prstGeom>
          <a:solidFill>
            <a:srgbClr val="F1F3F4"/>
          </a:solidFill>
          <a:ln w="12700">
            <a:solidFill>
              <a:srgbClr val="DADCE0"/>
            </a:solidFill>
            <a:prstDash val="solid"/>
          </a:ln>
        </p:spPr>
      </p:sp>
      <p:sp>
        <p:nvSpPr>
          <p:cNvPr id="24" name="Text 21"/>
          <p:cNvSpPr txBox="1"/>
          <p:nvPr/>
        </p:nvSpPr>
        <p:spPr>
          <a:xfrm>
            <a:off x="5811012" y="6071616"/>
            <a:ext cx="1481328"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mix</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5208 × 5</a:t>
            </a:r>
            <a:endParaRPr lang="en-US" sz="1200" dirty="0"/>
          </a:p>
        </p:txBody>
      </p:sp>
      <p:sp>
        <p:nvSpPr>
          <p:cNvPr id="25" name="Shape 22"/>
          <p:cNvSpPr/>
          <p:nvPr/>
        </p:nvSpPr>
        <p:spPr>
          <a:xfrm>
            <a:off x="7475220" y="6062472"/>
            <a:ext cx="1618488" cy="566928"/>
          </a:xfrm>
          <a:prstGeom prst="roundRect">
            <a:avLst>
              <a:gd name="adj" fmla="val 11290"/>
            </a:avLst>
          </a:prstGeom>
          <a:solidFill>
            <a:srgbClr val="F1F3F4"/>
          </a:solidFill>
          <a:ln w="12700">
            <a:solidFill>
              <a:srgbClr val="DADCE0"/>
            </a:solidFill>
            <a:prstDash val="solid"/>
          </a:ln>
        </p:spPr>
      </p:sp>
      <p:sp>
        <p:nvSpPr>
          <p:cNvPr id="26" name="Text 23"/>
          <p:cNvSpPr txBox="1"/>
          <p:nvPr/>
        </p:nvSpPr>
        <p:spPr>
          <a:xfrm>
            <a:off x="7566660" y="6071616"/>
            <a:ext cx="1481328"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precios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5208 × 4</a:t>
            </a:r>
            <a:endParaRPr lang="en-US" sz="1200" dirty="0"/>
          </a:p>
        </p:txBody>
      </p:sp>
      <p:sp>
        <p:nvSpPr>
          <p:cNvPr id="27" name="Text 24"/>
          <p:cNvSpPr txBox="1"/>
          <p:nvPr/>
        </p:nvSpPr>
        <p:spPr>
          <a:xfrm>
            <a:off x="9230868"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18 más</a:t>
            </a:r>
            <a:endParaRPr lang="en-US" sz="1200" dirty="0"/>
          </a:p>
        </p:txBody>
      </p:sp>
      <p:sp>
        <p:nvSpPr>
          <p:cNvPr id="28" name="Text 25"/>
          <p:cNvSpPr txBox="1"/>
          <p:nvPr/>
        </p:nvSpPr>
        <p:spPr>
          <a:xfrm>
            <a:off x="548640" y="6638544"/>
            <a:ext cx="11091672" cy="237744"/>
          </a:xfrm>
          <a:prstGeom prst="rect">
            <a:avLst/>
          </a:prstGeom>
          <a:noFill/>
          <a:ln/>
        </p:spPr>
        <p:txBody>
          <a:bodyPr wrap="square" lIns="0" tIns="0" rIns="0" bIns="0" rtlCol="0" anchor="ctr"/>
          <a:lstStyle/>
          <a:p>
            <a:pPr indent="0" marL="0">
              <a:buNone/>
            </a:pPr>
            <a:r>
              <a:rPr lang="en-US" sz="1300" i="1" dirty="0">
                <a:solidFill>
                  <a:srgbClr val="0B3D62"/>
                </a:solidFill>
                <a:latin typeface="Calibri" pitchFamily="34" charset="0"/>
                <a:ea typeface="Calibri" pitchFamily="34" charset="-122"/>
                <a:cs typeface="Calibri" pitchFamily="34" charset="-120"/>
              </a:rPr>
              <a:t>Mientras no se corra la celda, Python sigue recordando los valores anteriores.</a:t>
            </a:r>
            <a:endParaRPr lang="en-US" sz="13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4 de 4</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¿Y dentro de cada región?</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Se elige Atacama en la lista y se vuelve a correr la celda.</a:t>
            </a:r>
            <a:endParaRPr lang="en-US" sz="1400" dirty="0"/>
          </a:p>
        </p:txBody>
      </p:sp>
      <p:sp>
        <p:nvSpPr>
          <p:cNvPr id="6" name="Shape 4"/>
          <p:cNvSpPr/>
          <p:nvPr/>
        </p:nvSpPr>
        <p:spPr>
          <a:xfrm>
            <a:off x="548640" y="1481328"/>
            <a:ext cx="11091672" cy="1920240"/>
          </a:xfrm>
          <a:prstGeom prst="roundRect">
            <a:avLst>
              <a:gd name="adj" fmla="val 2857"/>
            </a:avLst>
          </a:prstGeom>
          <a:solidFill>
            <a:srgbClr val="F8F9FA"/>
          </a:solidFill>
          <a:ln w="12700">
            <a:solidFill>
              <a:srgbClr val="DADCE0"/>
            </a:solidFill>
            <a:prstDash val="solid"/>
          </a:ln>
        </p:spPr>
      </p:sp>
      <p:sp>
        <p:nvSpPr>
          <p:cNvPr id="7" name="Shape 5"/>
          <p:cNvSpPr/>
          <p:nvPr/>
        </p:nvSpPr>
        <p:spPr>
          <a:xfrm>
            <a:off x="713232" y="1600200"/>
            <a:ext cx="420624" cy="420624"/>
          </a:xfrm>
          <a:prstGeom prst="ellipse">
            <a:avLst/>
          </a:prstGeom>
          <a:solidFill>
            <a:srgbClr val="E8EAED"/>
          </a:solidFill>
          <a:ln w="12700">
            <a:solidFill>
              <a:srgbClr val="E8EAED"/>
            </a:solidFill>
            <a:prstDash val="solid"/>
          </a:ln>
        </p:spPr>
      </p:sp>
      <p:sp>
        <p:nvSpPr>
          <p:cNvPr id="8" name="Shape 6"/>
          <p:cNvSpPr/>
          <p:nvPr/>
        </p:nvSpPr>
        <p:spPr>
          <a:xfrm rot="5400000">
            <a:off x="850392" y="1719072"/>
            <a:ext cx="182880" cy="182880"/>
          </a:xfrm>
          <a:prstGeom prst="triangle">
            <a:avLst/>
          </a:prstGeom>
          <a:solidFill>
            <a:srgbClr val="5F6368"/>
          </a:solidFill>
          <a:ln w="12700">
            <a:solidFill>
              <a:srgbClr val="5F6368"/>
            </a:solidFill>
            <a:prstDash val="solid"/>
          </a:ln>
        </p:spPr>
      </p:sp>
      <p:sp>
        <p:nvSpPr>
          <p:cNvPr id="9" name="Text 7"/>
          <p:cNvSpPr txBox="1"/>
          <p:nvPr/>
        </p:nvSpPr>
        <p:spPr>
          <a:xfrm>
            <a:off x="1325880" y="1600200"/>
            <a:ext cx="7360920" cy="1737360"/>
          </a:xfrm>
          <a:prstGeom prst="rect">
            <a:avLst/>
          </a:prstGeom>
          <a:noFill/>
          <a:ln/>
        </p:spPr>
        <p:txBody>
          <a:bodyPr wrap="square" lIns="0" tIns="0" rIns="0" bIns="0" rtlCol="0" anchor="t"/>
          <a:lstStyle/>
          <a:p>
            <a:pPr indent="0" marL="0">
              <a:buNone/>
            </a:pPr>
            <a:r>
              <a:rPr lang="en-US" sz="1300" i="1" dirty="0">
                <a:solidFill>
                  <a:srgbClr val="188038"/>
                </a:solidFill>
                <a:latin typeface="Courier New" pitchFamily="34" charset="0"/>
                <a:ea typeface="Courier New" pitchFamily="34" charset="-122"/>
                <a:cs typeface="Courier New" pitchFamily="34" charset="-120"/>
              </a:rPr>
              <a:t># Estudio 4</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region = </a:t>
            </a:r>
            <a:pPr indent="0" marL="0">
              <a:buNone/>
            </a:pPr>
            <a:r>
              <a:rPr lang="en-US" sz="1300" dirty="0">
                <a:solidFill>
                  <a:srgbClr val="A31515"/>
                </a:solidFill>
                <a:latin typeface="Courier New" pitchFamily="34" charset="0"/>
                <a:ea typeface="Courier New" pitchFamily="34" charset="-122"/>
                <a:cs typeface="Courier New" pitchFamily="34" charset="-120"/>
              </a:rPr>
              <a:t>"Atacama"</a:t>
            </a:r>
            <a:pPr indent="0" marL="0">
              <a:buNone/>
            </a:pPr>
            <a:r>
              <a:rPr lang="en-US" sz="1300" dirty="0">
                <a:solidFill>
                  <a:srgbClr val="202124"/>
                </a:solidFill>
                <a:latin typeface="Courier New" pitchFamily="34" charset="0"/>
                <a:ea typeface="Courier New" pitchFamily="34" charset="-122"/>
                <a:cs typeface="Courier New" pitchFamily="34" charset="-120"/>
              </a:rPr>
              <a:t> </a:t>
            </a:r>
            <a:pPr indent="0" marL="0">
              <a:buNone/>
            </a:pPr>
            <a:r>
              <a:rPr lang="en-US" sz="1300" dirty="0">
                <a:solidFill>
                  <a:srgbClr val="80868B"/>
                </a:solidFill>
                <a:latin typeface="Courier New" pitchFamily="34" charset="0"/>
                <a:ea typeface="Courier New" pitchFamily="34" charset="-122"/>
                <a:cs typeface="Courier New" pitchFamily="34" charset="-120"/>
              </a:rPr>
              <a:t>#@param ["Antofagasta", "Atacama", "Coquimbo", "Valparaíso", "Metropolitana", "Biobío", "Los Lagos"]</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una = mix[mix[</a:t>
            </a:r>
            <a:pPr indent="0" marL="0">
              <a:buNone/>
            </a:pPr>
            <a:r>
              <a:rPr lang="en-US" sz="1300" dirty="0">
                <a:solidFill>
                  <a:srgbClr val="A31515"/>
                </a:solidFill>
                <a:latin typeface="Courier New" pitchFamily="34" charset="0"/>
                <a:ea typeface="Courier New" pitchFamily="34" charset="-122"/>
                <a:cs typeface="Courier New" pitchFamily="34" charset="-120"/>
              </a:rPr>
              <a:t>"region"</a:t>
            </a:r>
            <a:pPr indent="0" marL="0">
              <a:buNone/>
            </a:pPr>
            <a:r>
              <a:rPr lang="en-US" sz="1300" dirty="0">
                <a:solidFill>
                  <a:srgbClr val="202124"/>
                </a:solidFill>
                <a:latin typeface="Courier New" pitchFamily="34" charset="0"/>
                <a:ea typeface="Courier New" pitchFamily="34" charset="-122"/>
                <a:cs typeface="Courier New" pitchFamily="34" charset="-120"/>
              </a:rPr>
              <a:t>] == region]</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correlacion = round(una[</a:t>
            </a:r>
            <a:pPr indent="0" marL="0">
              <a:buNone/>
            </a:pPr>
            <a:r>
              <a:rPr lang="en-US" sz="1300" dirty="0">
                <a:solidFill>
                  <a:srgbClr val="A31515"/>
                </a:solidFill>
                <a:latin typeface="Courier New" pitchFamily="34" charset="0"/>
                <a:ea typeface="Courier New" pitchFamily="34" charset="-122"/>
                <a:cs typeface="Courier New" pitchFamily="34" charset="-120"/>
              </a:rPr>
              <a:t>"precio_usd_mwh"</a:t>
            </a:r>
            <a:pPr indent="0" marL="0">
              <a:buNone/>
            </a:pPr>
            <a:r>
              <a:rPr lang="en-US" sz="1300" dirty="0">
                <a:solidFill>
                  <a:srgbClr val="202124"/>
                </a:solidFill>
                <a:latin typeface="Courier New" pitchFamily="34" charset="0"/>
                <a:ea typeface="Courier New" pitchFamily="34" charset="-122"/>
                <a:cs typeface="Courier New" pitchFamily="34" charset="-120"/>
              </a:rPr>
              <a:t>].corr(una[</a:t>
            </a:r>
            <a:pPr indent="0" marL="0">
              <a:buNone/>
            </a:pPr>
            <a:r>
              <a:rPr lang="en-US" sz="1300" dirty="0">
                <a:solidFill>
                  <a:srgbClr val="A31515"/>
                </a:solidFill>
                <a:latin typeface="Courier New" pitchFamily="34" charset="0"/>
                <a:ea typeface="Courier New" pitchFamily="34" charset="-122"/>
                <a:cs typeface="Courier New" pitchFamily="34" charset="-120"/>
              </a:rPr>
              <a:t>"mwh"</a:t>
            </a:r>
            <a:pPr indent="0" marL="0">
              <a:buNone/>
            </a:pPr>
            <a:r>
              <a:rPr lang="en-US" sz="1300" dirty="0">
                <a:solidFill>
                  <a:srgbClr val="202124"/>
                </a:solidFill>
                <a:latin typeface="Courier New" pitchFamily="34" charset="0"/>
                <a:ea typeface="Courier New" pitchFamily="34" charset="-122"/>
                <a:cs typeface="Courier New" pitchFamily="34" charset="-120"/>
              </a:rPr>
              <a:t>]), 3)</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print(f</a:t>
            </a:r>
            <a:pPr indent="0" marL="0">
              <a:buNone/>
            </a:pPr>
            <a:r>
              <a:rPr lang="en-US" sz="1300" dirty="0">
                <a:solidFill>
                  <a:srgbClr val="A31515"/>
                </a:solidFill>
                <a:latin typeface="Courier New" pitchFamily="34" charset="0"/>
                <a:ea typeface="Courier New" pitchFamily="34" charset="-122"/>
                <a:cs typeface="Courier New" pitchFamily="34" charset="-120"/>
              </a:rPr>
              <a:t>"Correlación dentro de {region}"</a:t>
            </a:r>
            <a:pPr indent="0" marL="0">
              <a:buNone/>
            </a:pPr>
            <a:r>
              <a:rPr lang="en-US" sz="1300" dirty="0">
                <a:solidFill>
                  <a:srgbClr val="202124"/>
                </a:solidFill>
                <a:latin typeface="Courier New" pitchFamily="34" charset="0"/>
                <a:ea typeface="Courier New" pitchFamily="34" charset="-122"/>
                <a:cs typeface="Courier New" pitchFamily="34" charset="-120"/>
              </a:rPr>
              <a:t>, correlacion)</a:t>
            </a:r>
            <a:endParaRPr lang="en-US" sz="1300" dirty="0"/>
          </a:p>
          <a:p>
            <a:pPr indent="0" marL="0">
              <a:buNone/>
            </a:pPr>
            <a:r>
              <a:rPr lang="en-US" sz="1300" dirty="0">
                <a:solidFill>
                  <a:srgbClr val="202124"/>
                </a:solidFill>
                <a:latin typeface="Courier New" pitchFamily="34" charset="0"/>
                <a:ea typeface="Courier New" pitchFamily="34" charset="-122"/>
                <a:cs typeface="Courier New" pitchFamily="34" charset="-120"/>
              </a:rPr>
              <a:t>print(</a:t>
            </a:r>
            <a:pPr indent="0" marL="0">
              <a:buNone/>
            </a:pPr>
            <a:r>
              <a:rPr lang="en-US" sz="1300" dirty="0">
                <a:solidFill>
                  <a:srgbClr val="A31515"/>
                </a:solidFill>
                <a:latin typeface="Courier New" pitchFamily="34" charset="0"/>
                <a:ea typeface="Courier New" pitchFamily="34" charset="-122"/>
                <a:cs typeface="Courier New" pitchFamily="34" charset="-120"/>
              </a:rPr>
              <a:t>"Correlación con todas las regiones"</a:t>
            </a:r>
            <a:pPr indent="0" marL="0">
              <a:buNone/>
            </a:pPr>
            <a:r>
              <a:rPr lang="en-US" sz="1300" dirty="0">
                <a:solidFill>
                  <a:srgbClr val="202124"/>
                </a:solidFill>
                <a:latin typeface="Courier New" pitchFamily="34" charset="0"/>
                <a:ea typeface="Courier New" pitchFamily="34" charset="-122"/>
                <a:cs typeface="Courier New" pitchFamily="34" charset="-120"/>
              </a:rPr>
              <a:t>, correlacion_total)</a:t>
            </a:r>
            <a:endParaRPr lang="en-US" sz="1300" dirty="0"/>
          </a:p>
        </p:txBody>
      </p:sp>
      <p:sp>
        <p:nvSpPr>
          <p:cNvPr id="10" name="Text 8"/>
          <p:cNvSpPr txBox="1"/>
          <p:nvPr/>
        </p:nvSpPr>
        <p:spPr>
          <a:xfrm>
            <a:off x="8823960" y="1618488"/>
            <a:ext cx="2651760" cy="228600"/>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region</a:t>
            </a:r>
            <a:endParaRPr lang="en-US" sz="1100" dirty="0"/>
          </a:p>
        </p:txBody>
      </p:sp>
      <p:sp>
        <p:nvSpPr>
          <p:cNvPr id="11" name="Shape 9"/>
          <p:cNvSpPr/>
          <p:nvPr/>
        </p:nvSpPr>
        <p:spPr>
          <a:xfrm>
            <a:off x="8823960" y="1874520"/>
            <a:ext cx="2651760" cy="347472"/>
          </a:xfrm>
          <a:prstGeom prst="rect">
            <a:avLst/>
          </a:prstGeom>
          <a:solidFill>
            <a:srgbClr val="FFFFFF"/>
          </a:solidFill>
          <a:ln w="12700">
            <a:solidFill>
              <a:srgbClr val="9AA0A6"/>
            </a:solidFill>
            <a:prstDash val="solid"/>
          </a:ln>
        </p:spPr>
      </p:sp>
      <p:sp>
        <p:nvSpPr>
          <p:cNvPr id="12" name="Text 10"/>
          <p:cNvSpPr txBox="1"/>
          <p:nvPr/>
        </p:nvSpPr>
        <p:spPr>
          <a:xfrm>
            <a:off x="8915400" y="1874520"/>
            <a:ext cx="2240280" cy="347472"/>
          </a:xfrm>
          <a:prstGeom prst="rect">
            <a:avLst/>
          </a:prstGeom>
          <a:noFill/>
          <a:ln/>
        </p:spPr>
        <p:txBody>
          <a:bodyPr wrap="square" lIns="0" tIns="0" rIns="0" bIns="0" rtlCol="0" anchor="ctr"/>
          <a:lstStyle/>
          <a:p>
            <a:pPr indent="0" marL="0">
              <a:buNone/>
            </a:pPr>
            <a:r>
              <a:rPr lang="en-US" sz="1200" dirty="0">
                <a:solidFill>
                  <a:srgbClr val="202124"/>
                </a:solidFill>
                <a:latin typeface="Calibri" pitchFamily="34" charset="0"/>
                <a:ea typeface="Calibri" pitchFamily="34" charset="-122"/>
                <a:cs typeface="Calibri" pitchFamily="34" charset="-120"/>
              </a:rPr>
              <a:t>Atacama</a:t>
            </a:r>
            <a:endParaRPr lang="en-US" sz="1200" dirty="0"/>
          </a:p>
        </p:txBody>
      </p:sp>
      <p:sp>
        <p:nvSpPr>
          <p:cNvPr id="13" name="Shape 11"/>
          <p:cNvSpPr/>
          <p:nvPr/>
        </p:nvSpPr>
        <p:spPr>
          <a:xfrm rot="10800000">
            <a:off x="11201400" y="2011680"/>
            <a:ext cx="128016" cy="82296"/>
          </a:xfrm>
          <a:prstGeom prst="triangle">
            <a:avLst/>
          </a:prstGeom>
          <a:solidFill>
            <a:srgbClr val="5F6368"/>
          </a:solidFill>
          <a:ln w="12700">
            <a:solidFill>
              <a:srgbClr val="5F6368"/>
            </a:solidFill>
            <a:prstDash val="solid"/>
          </a:ln>
        </p:spPr>
      </p:sp>
      <p:sp>
        <p:nvSpPr>
          <p:cNvPr id="14" name="Shape 12"/>
          <p:cNvSpPr/>
          <p:nvPr/>
        </p:nvSpPr>
        <p:spPr>
          <a:xfrm>
            <a:off x="1325880" y="3511296"/>
            <a:ext cx="10314432" cy="585216"/>
          </a:xfrm>
          <a:prstGeom prst="rect">
            <a:avLst/>
          </a:prstGeom>
          <a:solidFill>
            <a:srgbClr val="FFFFFF"/>
          </a:solidFill>
          <a:ln w="12700">
            <a:solidFill>
              <a:srgbClr val="DADCE0"/>
            </a:solidFill>
            <a:prstDash val="solid"/>
          </a:ln>
        </p:spPr>
      </p:sp>
      <p:sp>
        <p:nvSpPr>
          <p:cNvPr id="15" name="Text 13"/>
          <p:cNvSpPr txBox="1"/>
          <p:nvPr/>
        </p:nvSpPr>
        <p:spPr>
          <a:xfrm>
            <a:off x="1463040" y="3584448"/>
            <a:ext cx="10085832" cy="457200"/>
          </a:xfrm>
          <a:prstGeom prst="rect">
            <a:avLst/>
          </a:prstGeom>
          <a:noFill/>
          <a:ln/>
        </p:spPr>
        <p:txBody>
          <a:bodyPr wrap="square" lIns="0" tIns="0" rIns="0" bIns="0" rtlCol="0" anchor="t"/>
          <a:lstStyle/>
          <a:p>
            <a:pPr indent="0" marL="0">
              <a:buNone/>
            </a:pPr>
            <a:r>
              <a:rPr lang="en-US" sz="1200" dirty="0">
                <a:solidFill>
                  <a:srgbClr val="202124"/>
                </a:solidFill>
                <a:latin typeface="Courier New" pitchFamily="34" charset="0"/>
                <a:ea typeface="Courier New" pitchFamily="34" charset="-122"/>
                <a:cs typeface="Courier New" pitchFamily="34" charset="-120"/>
              </a:rPr>
              <a:t>Correlación dentro de Atacama 0.125</a:t>
            </a:r>
            <a:endParaRPr lang="en-US" sz="1200" dirty="0"/>
          </a:p>
          <a:p>
            <a:pPr indent="0" marL="0">
              <a:buNone/>
            </a:pPr>
            <a:r>
              <a:rPr lang="en-US" sz="1200" dirty="0">
                <a:solidFill>
                  <a:srgbClr val="202124"/>
                </a:solidFill>
                <a:latin typeface="Courier New" pitchFamily="34" charset="0"/>
                <a:ea typeface="Courier New" pitchFamily="34" charset="-122"/>
                <a:cs typeface="Courier New" pitchFamily="34" charset="-120"/>
              </a:rPr>
              <a:t>Correlación con todas las regiones 0.979</a:t>
            </a:r>
            <a:endParaRPr lang="en-US" sz="1200" dirty="0"/>
          </a:p>
        </p:txBody>
      </p:sp>
      <p:sp>
        <p:nvSpPr>
          <p:cNvPr id="16" name="Shape 14"/>
          <p:cNvSpPr/>
          <p:nvPr/>
        </p:nvSpPr>
        <p:spPr>
          <a:xfrm>
            <a:off x="1325880" y="4233672"/>
            <a:ext cx="10314432" cy="566928"/>
          </a:xfrm>
          <a:prstGeom prst="roundRect">
            <a:avLst>
              <a:gd name="adj" fmla="val 9677"/>
            </a:avLst>
          </a:prstGeom>
          <a:solidFill>
            <a:srgbClr val="FFF8D6"/>
          </a:solidFill>
          <a:ln w="12700">
            <a:solidFill>
              <a:srgbClr val="FFF8D6"/>
            </a:solidFill>
            <a:prstDash val="solid"/>
          </a:ln>
        </p:spPr>
      </p:sp>
      <p:sp>
        <p:nvSpPr>
          <p:cNvPr id="17" name="Text 15"/>
          <p:cNvSpPr txBox="1"/>
          <p:nvPr/>
        </p:nvSpPr>
        <p:spPr>
          <a:xfrm>
            <a:off x="1508760" y="4233672"/>
            <a:ext cx="9948672" cy="566928"/>
          </a:xfrm>
          <a:prstGeom prst="rect">
            <a:avLst/>
          </a:prstGeom>
          <a:noFill/>
          <a:ln/>
        </p:spPr>
        <p:txBody>
          <a:bodyPr wrap="square" lIns="0" tIns="0" rIns="0" bIns="0" rtlCol="0" anchor="ctr"/>
          <a:lstStyle/>
          <a:p>
            <a:pPr indent="0" marL="0">
              <a:buNone/>
            </a:pPr>
            <a:r>
              <a:rPr lang="en-US" sz="1400" b="1" dirty="0">
                <a:solidFill>
                  <a:srgbClr val="8A6D00"/>
                </a:solidFill>
                <a:latin typeface="Calibri" pitchFamily="34" charset="0"/>
                <a:ea typeface="Calibri" pitchFamily="34" charset="-122"/>
                <a:cs typeface="Calibri" pitchFamily="34" charset="-120"/>
              </a:rPr>
              <a:t>Un total puede engañar.  </a:t>
            </a:r>
            <a:pPr indent="0" marL="0">
              <a:buNone/>
            </a:pPr>
            <a:r>
              <a:rPr lang="en-US" sz="1400" dirty="0">
                <a:solidFill>
                  <a:srgbClr val="202124"/>
                </a:solidFill>
                <a:latin typeface="Calibri" pitchFamily="34" charset="0"/>
                <a:ea typeface="Calibri" pitchFamily="34" charset="-122"/>
                <a:cs typeface="Calibri" pitchFamily="34" charset="-120"/>
              </a:rPr>
              <a:t>Con todas las regiones juntas da 0,979. Región por región va de 0,125 a 0,917. Antes de informar una cifra global, se mira por grupo.</a:t>
            </a:r>
            <a:endParaRPr lang="en-US" sz="1400" dirty="0"/>
          </a:p>
        </p:txBody>
      </p:sp>
      <p:sp>
        <p:nvSpPr>
          <p:cNvPr id="19" name="Text 16"/>
          <p:cNvSpPr txBox="1"/>
          <p:nvPr/>
        </p:nvSpPr>
        <p:spPr>
          <a:xfrm>
            <a:off x="548640" y="5788152"/>
            <a:ext cx="4572000" cy="228600"/>
          </a:xfrm>
          <a:prstGeom prst="rect">
            <a:avLst/>
          </a:prstGeom>
          <a:noFill/>
          <a:ln/>
        </p:spPr>
        <p:txBody>
          <a:bodyPr wrap="square" lIns="0" tIns="0" rIns="0" bIns="0" rtlCol="0" anchor="ctr"/>
          <a:lstStyle/>
          <a:p>
            <a:pPr indent="0" marL="0">
              <a:buNone/>
            </a:pPr>
            <a:r>
              <a:rPr lang="en-US" sz="1100" b="1" spc="200" kern="0" dirty="0">
                <a:solidFill>
                  <a:srgbClr val="5F6368"/>
                </a:solidFill>
                <a:latin typeface="Calibri" pitchFamily="34" charset="0"/>
                <a:ea typeface="Calibri" pitchFamily="34" charset="-122"/>
                <a:cs typeface="Calibri" pitchFamily="34" charset="-120"/>
              </a:rPr>
              <a:t>LO QUE PYTHON RECUERDA</a:t>
            </a:r>
            <a:endParaRPr lang="en-US" sz="1100" dirty="0"/>
          </a:p>
        </p:txBody>
      </p:sp>
      <p:sp>
        <p:nvSpPr>
          <p:cNvPr id="20" name="Shape 17"/>
          <p:cNvSpPr/>
          <p:nvPr/>
        </p:nvSpPr>
        <p:spPr>
          <a:xfrm>
            <a:off x="548640" y="6062472"/>
            <a:ext cx="1143000" cy="566928"/>
          </a:xfrm>
          <a:prstGeom prst="roundRect">
            <a:avLst>
              <a:gd name="adj" fmla="val 11290"/>
            </a:avLst>
          </a:prstGeom>
          <a:solidFill>
            <a:srgbClr val="FEF3D6"/>
          </a:solidFill>
          <a:ln w="25400">
            <a:solidFill>
              <a:srgbClr val="F9AB00"/>
            </a:solidFill>
            <a:prstDash val="solid"/>
          </a:ln>
        </p:spPr>
      </p:sp>
      <p:sp>
        <p:nvSpPr>
          <p:cNvPr id="21" name="Text 18"/>
          <p:cNvSpPr txBox="1"/>
          <p:nvPr/>
        </p:nvSpPr>
        <p:spPr>
          <a:xfrm>
            <a:off x="640080" y="6071616"/>
            <a:ext cx="1005840"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region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"Atacama"</a:t>
            </a:r>
            <a:endParaRPr lang="en-US" sz="1200" dirty="0"/>
          </a:p>
        </p:txBody>
      </p:sp>
      <p:sp>
        <p:nvSpPr>
          <p:cNvPr id="22" name="Shape 19"/>
          <p:cNvSpPr/>
          <p:nvPr/>
        </p:nvSpPr>
        <p:spPr>
          <a:xfrm>
            <a:off x="1828800" y="6062472"/>
            <a:ext cx="1618488" cy="566928"/>
          </a:xfrm>
          <a:prstGeom prst="roundRect">
            <a:avLst>
              <a:gd name="adj" fmla="val 11290"/>
            </a:avLst>
          </a:prstGeom>
          <a:solidFill>
            <a:srgbClr val="E8F0FE"/>
          </a:solidFill>
          <a:ln w="28575">
            <a:solidFill>
              <a:srgbClr val="1A73E8"/>
            </a:solidFill>
            <a:prstDash val="solid"/>
          </a:ln>
        </p:spPr>
      </p:sp>
      <p:sp>
        <p:nvSpPr>
          <p:cNvPr id="23" name="Text 20"/>
          <p:cNvSpPr txBox="1"/>
          <p:nvPr/>
        </p:nvSpPr>
        <p:spPr>
          <a:xfrm>
            <a:off x="1920240" y="6071616"/>
            <a:ext cx="1481328"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mix</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5208 × 5</a:t>
            </a:r>
            <a:endParaRPr lang="en-US" sz="1200" dirty="0"/>
          </a:p>
        </p:txBody>
      </p:sp>
      <p:sp>
        <p:nvSpPr>
          <p:cNvPr id="24" name="Shape 21"/>
          <p:cNvSpPr/>
          <p:nvPr/>
        </p:nvSpPr>
        <p:spPr>
          <a:xfrm>
            <a:off x="3584448" y="6062472"/>
            <a:ext cx="1906524" cy="566928"/>
          </a:xfrm>
          <a:prstGeom prst="roundRect">
            <a:avLst>
              <a:gd name="adj" fmla="val 11290"/>
            </a:avLst>
          </a:prstGeom>
          <a:solidFill>
            <a:srgbClr val="E8F0FE"/>
          </a:solidFill>
          <a:ln w="28575">
            <a:solidFill>
              <a:srgbClr val="1A73E8"/>
            </a:solidFill>
            <a:prstDash val="solid"/>
          </a:ln>
        </p:spPr>
      </p:sp>
      <p:sp>
        <p:nvSpPr>
          <p:cNvPr id="25" name="Text 22"/>
          <p:cNvSpPr txBox="1"/>
          <p:nvPr/>
        </p:nvSpPr>
        <p:spPr>
          <a:xfrm>
            <a:off x="3675888" y="6071616"/>
            <a:ext cx="1769364"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correlacion_total</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0.979</a:t>
            </a:r>
            <a:endParaRPr lang="en-US" sz="1200" dirty="0"/>
          </a:p>
        </p:txBody>
      </p:sp>
      <p:sp>
        <p:nvSpPr>
          <p:cNvPr id="26" name="Shape 23"/>
          <p:cNvSpPr/>
          <p:nvPr/>
        </p:nvSpPr>
        <p:spPr>
          <a:xfrm>
            <a:off x="5628132" y="6062472"/>
            <a:ext cx="1522476" cy="566928"/>
          </a:xfrm>
          <a:prstGeom prst="roundRect">
            <a:avLst>
              <a:gd name="adj" fmla="val 11290"/>
            </a:avLst>
          </a:prstGeom>
          <a:solidFill>
            <a:srgbClr val="E8F0FE"/>
          </a:solidFill>
          <a:ln w="28575">
            <a:solidFill>
              <a:srgbClr val="1A73E8"/>
            </a:solidFill>
            <a:prstDash val="solid"/>
          </a:ln>
        </p:spPr>
      </p:sp>
      <p:sp>
        <p:nvSpPr>
          <p:cNvPr id="27" name="Text 24"/>
          <p:cNvSpPr txBox="1"/>
          <p:nvPr/>
        </p:nvSpPr>
        <p:spPr>
          <a:xfrm>
            <a:off x="5719572" y="6071616"/>
            <a:ext cx="1385316"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una</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744 × 5</a:t>
            </a:r>
            <a:endParaRPr lang="en-US" sz="1200" dirty="0"/>
          </a:p>
        </p:txBody>
      </p:sp>
      <p:sp>
        <p:nvSpPr>
          <p:cNvPr id="28" name="Shape 25"/>
          <p:cNvSpPr/>
          <p:nvPr/>
        </p:nvSpPr>
        <p:spPr>
          <a:xfrm>
            <a:off x="7287768" y="6062472"/>
            <a:ext cx="1330452" cy="566928"/>
          </a:xfrm>
          <a:prstGeom prst="roundRect">
            <a:avLst>
              <a:gd name="adj" fmla="val 11290"/>
            </a:avLst>
          </a:prstGeom>
          <a:solidFill>
            <a:srgbClr val="FEF3D6"/>
          </a:solidFill>
          <a:ln w="25400">
            <a:solidFill>
              <a:srgbClr val="F9AB00"/>
            </a:solidFill>
            <a:prstDash val="solid"/>
          </a:ln>
        </p:spPr>
      </p:sp>
      <p:sp>
        <p:nvSpPr>
          <p:cNvPr id="29" name="Text 26"/>
          <p:cNvSpPr txBox="1"/>
          <p:nvPr/>
        </p:nvSpPr>
        <p:spPr>
          <a:xfrm>
            <a:off x="7379208" y="6071616"/>
            <a:ext cx="1193292"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correlacion</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0.125</a:t>
            </a:r>
            <a:endParaRPr lang="en-US" sz="1200" dirty="0"/>
          </a:p>
        </p:txBody>
      </p:sp>
      <p:sp>
        <p:nvSpPr>
          <p:cNvPr id="30" name="Shape 27"/>
          <p:cNvSpPr/>
          <p:nvPr/>
        </p:nvSpPr>
        <p:spPr>
          <a:xfrm>
            <a:off x="8755380" y="6062472"/>
            <a:ext cx="1618488" cy="566928"/>
          </a:xfrm>
          <a:prstGeom prst="roundRect">
            <a:avLst>
              <a:gd name="adj" fmla="val 11290"/>
            </a:avLst>
          </a:prstGeom>
          <a:solidFill>
            <a:srgbClr val="F1F3F4"/>
          </a:solidFill>
          <a:ln w="12700">
            <a:solidFill>
              <a:srgbClr val="DADCE0"/>
            </a:solidFill>
            <a:prstDash val="solid"/>
          </a:ln>
        </p:spPr>
      </p:sp>
      <p:sp>
        <p:nvSpPr>
          <p:cNvPr id="31" name="Text 28"/>
          <p:cNvSpPr txBox="1"/>
          <p:nvPr/>
        </p:nvSpPr>
        <p:spPr>
          <a:xfrm>
            <a:off x="8846820" y="6071616"/>
            <a:ext cx="1481328" cy="548640"/>
          </a:xfrm>
          <a:prstGeom prst="rect">
            <a:avLst/>
          </a:prstGeom>
          <a:noFill/>
          <a:ln/>
        </p:spPr>
        <p:txBody>
          <a:bodyPr wrap="square" lIns="0" tIns="0" rIns="0" bIns="0" rtlCol="0" anchor="ctr"/>
          <a:lstStyle/>
          <a:p>
            <a:pPr indent="0" marL="0">
              <a:buNone/>
            </a:pPr>
            <a:r>
              <a:rPr lang="en-US" sz="1200" b="1" dirty="0">
                <a:solidFill>
                  <a:srgbClr val="202124"/>
                </a:solidFill>
                <a:latin typeface="Courier New" pitchFamily="34" charset="0"/>
                <a:ea typeface="Courier New" pitchFamily="34" charset="-122"/>
                <a:cs typeface="Courier New" pitchFamily="34" charset="-120"/>
              </a:rPr>
              <a:t>precios</a:t>
            </a:r>
            <a:endParaRPr lang="en-US" sz="1200" dirty="0"/>
          </a:p>
          <a:p>
            <a:pPr indent="0" marL="0">
              <a:buNone/>
            </a:pPr>
            <a:r>
              <a:rPr lang="en-US" sz="1100" dirty="0">
                <a:solidFill>
                  <a:srgbClr val="5F6368"/>
                </a:solidFill>
                <a:latin typeface="Courier New" pitchFamily="34" charset="0"/>
                <a:ea typeface="Courier New" pitchFamily="34" charset="-122"/>
                <a:cs typeface="Courier New" pitchFamily="34" charset="-120"/>
              </a:rPr>
              <a:t>tabla 5208 × 4</a:t>
            </a:r>
            <a:endParaRPr lang="en-US" sz="1200" dirty="0"/>
          </a:p>
        </p:txBody>
      </p:sp>
      <p:sp>
        <p:nvSpPr>
          <p:cNvPr id="32" name="Text 29"/>
          <p:cNvSpPr txBox="1"/>
          <p:nvPr/>
        </p:nvSpPr>
        <p:spPr>
          <a:xfrm>
            <a:off x="10511028" y="6062472"/>
            <a:ext cx="1005840" cy="566928"/>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y 17 más</a:t>
            </a:r>
            <a:endParaRPr lang="en-US" sz="1200" dirty="0"/>
          </a:p>
        </p:txBody>
      </p:sp>
      <p:sp>
        <p:nvSpPr>
          <p:cNvPr id="33" name="Text 30"/>
          <p:cNvSpPr txBox="1"/>
          <p:nvPr/>
        </p:nvSpPr>
        <p:spPr>
          <a:xfrm>
            <a:off x="548640" y="6638544"/>
            <a:ext cx="11091672" cy="237744"/>
          </a:xfrm>
          <a:prstGeom prst="rect">
            <a:avLst/>
          </a:prstGeom>
          <a:noFill/>
          <a:ln/>
        </p:spPr>
        <p:txBody>
          <a:bodyPr wrap="square" lIns="0" tIns="0" rIns="0" bIns="0" rtlCol="0" anchor="ctr"/>
          <a:lstStyle/>
          <a:p>
            <a:pPr indent="0" marL="0">
              <a:buNone/>
            </a:pPr>
            <a:r>
              <a:rPr lang="en-US" sz="1300" i="1" dirty="0">
                <a:solidFill>
                  <a:srgbClr val="0B3D62"/>
                </a:solidFill>
                <a:latin typeface="Calibri" pitchFamily="34" charset="0"/>
                <a:ea typeface="Calibri" pitchFamily="34" charset="-122"/>
                <a:cs typeface="Calibri" pitchFamily="34" charset="-120"/>
              </a:rPr>
              <a:t>Dentro de Atacama es 0,125. Casi no hay relación.</a:t>
            </a:r>
            <a:endParaRPr lang="en-US" sz="13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4 de 4</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¿Y dentro de cada región?</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Los mismos puntos de antes, ahora con un color por región.</a:t>
            </a:r>
            <a:endParaRPr lang="en-US" sz="1400" dirty="0"/>
          </a:p>
        </p:txBody>
      </p:sp>
      <p:pic>
        <p:nvPicPr>
          <p:cNvPr id="6" name="Image 0" descr="../work34/modulos/modulo02/img/lab02_paso5_b_regiones.png">    </p:cNvPr>
          <p:cNvPicPr>
            <a:picLocks noChangeAspect="1"/>
          </p:cNvPicPr>
          <p:nvPr/>
        </p:nvPicPr>
        <p:blipFill>
          <a:blip r:embed="rId1"/>
          <a:stretch>
            <a:fillRect/>
          </a:stretch>
        </p:blipFill>
        <p:spPr>
          <a:xfrm>
            <a:off x="947521" y="1463040"/>
            <a:ext cx="10293910" cy="461772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3383280" cy="329184"/>
          </a:xfrm>
          <a:prstGeom prst="roundRect">
            <a:avLst>
              <a:gd name="adj" fmla="val 22222"/>
            </a:avLst>
          </a:prstGeom>
          <a:solidFill>
            <a:srgbClr val="F9AB00"/>
          </a:solidFill>
          <a:ln w="12700">
            <a:solidFill>
              <a:srgbClr val="F9AB00"/>
            </a:solidFill>
            <a:prstDash val="solid"/>
          </a:ln>
        </p:spPr>
      </p:sp>
      <p:sp>
        <p:nvSpPr>
          <p:cNvPr id="3" name="Text 1"/>
          <p:cNvSpPr txBox="1"/>
          <p:nvPr/>
        </p:nvSpPr>
        <p:spPr>
          <a:xfrm>
            <a:off x="548640" y="109728"/>
            <a:ext cx="3383280" cy="329184"/>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PARA LA CASA · Estudio 4 de 4</a:t>
            </a:r>
            <a:endParaRPr lang="en-US" sz="1400" dirty="0"/>
          </a:p>
        </p:txBody>
      </p:sp>
      <p:sp>
        <p:nvSpPr>
          <p:cNvPr id="4" name="Text 2"/>
          <p:cNvSpPr txBox="1"/>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¿Y dentro de cada región?</a:t>
            </a:r>
            <a:endParaRPr lang="en-US" sz="2400" dirty="0"/>
          </a:p>
        </p:txBody>
      </p:sp>
      <p:sp>
        <p:nvSpPr>
          <p:cNvPr id="5" name="Text 3"/>
          <p:cNvSpPr txBox="1"/>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La correlación de cada región, comparada con la de todas juntas.</a:t>
            </a:r>
            <a:endParaRPr lang="en-US" sz="1400" dirty="0"/>
          </a:p>
        </p:txBody>
      </p:sp>
      <p:pic>
        <p:nvPicPr>
          <p:cNvPr id="6" name="Image 0" descr="../work34/modulos/modulo02/img/lab02_paso5_c_correlaciones.png">    </p:cNvPr>
          <p:cNvPicPr>
            <a:picLocks noChangeAspect="1"/>
          </p:cNvPicPr>
          <p:nvPr/>
        </p:nvPicPr>
        <p:blipFill>
          <a:blip r:embed="rId1"/>
          <a:stretch>
            <a:fillRect/>
          </a:stretch>
        </p:blipFill>
        <p:spPr>
          <a:xfrm>
            <a:off x="548640" y="1463040"/>
            <a:ext cx="11091672" cy="4535731"/>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0B3D62"/>
        </a:solidFill>
      </p:bgPr>
    </p:bg>
    <p:spTree>
      <p:nvGrpSpPr>
        <p:cNvPr id="1" name=""/>
        <p:cNvGrpSpPr/>
        <p:nvPr/>
      </p:nvGrpSpPr>
      <p:grpSpPr>
        <a:xfrm>
          <a:off x="0" y="0"/>
          <a:ext cx="0" cy="0"/>
          <a:chOff x="0" y="0"/>
          <a:chExt cx="0" cy="0"/>
        </a:xfrm>
      </p:grpSpPr>
      <p:sp>
        <p:nvSpPr>
          <p:cNvPr id="3" name="Text 0"/>
          <p:cNvSpPr txBox="1"/>
          <p:nvPr/>
        </p:nvSpPr>
        <p:spPr>
          <a:xfrm>
            <a:off x="731520" y="1645920"/>
            <a:ext cx="1069848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Ahora en Colab</a:t>
            </a:r>
            <a:endParaRPr lang="en-US" sz="4000" dirty="0"/>
          </a:p>
        </p:txBody>
      </p:sp>
      <p:sp>
        <p:nvSpPr>
          <p:cNvPr id="4" name="Text 1"/>
          <p:cNvSpPr txBox="1"/>
          <p:nvPr/>
        </p:nvSpPr>
        <p:spPr>
          <a:xfrm>
            <a:off x="731520" y="2560320"/>
            <a:ext cx="10698480" cy="82296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Ahora abran el Lab 02 guiado y hagan los 5 pasos de la Parte 1. La Parte 2 queda para la casa, con la guía y estas láminas.</a:t>
            </a:r>
            <a:endParaRPr lang="en-US" sz="2000" dirty="0"/>
          </a:p>
        </p:txBody>
      </p:sp>
      <p:sp>
        <p:nvSpPr>
          <p:cNvPr id="5" name="Text 2"/>
          <p:cNvSpPr txBox="1"/>
          <p:nvPr/>
        </p:nvSpPr>
        <p:spPr>
          <a:xfrm>
            <a:off x="731520" y="3611880"/>
            <a:ext cx="10698480" cy="457200"/>
          </a:xfrm>
          <a:prstGeom prst="rect">
            <a:avLst/>
          </a:prstGeom>
          <a:noFill/>
          <a:ln/>
        </p:spPr>
        <p:txBody>
          <a:bodyPr wrap="square" lIns="0" tIns="0" rIns="0" bIns="0" rtlCol="0" anchor="ctr"/>
          <a:lstStyle/>
          <a:p>
            <a:pPr indent="0" marL="0">
              <a:buNone/>
            </a:pPr>
            <a:r>
              <a:rPr lang="en-US" sz="1800" dirty="0">
                <a:solidFill>
                  <a:srgbClr val="F9AB00"/>
                </a:solidFill>
                <a:latin typeface="Calibri" pitchFamily="34" charset="0"/>
                <a:ea typeface="Calibri" pitchFamily="34" charset="-122"/>
                <a:cs typeface="Calibri" pitchFamily="34" charset="-120"/>
              </a:rPr>
              <a:t>Si algo no calza, escriban en el chat el número del paso.</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59</Slides>
  <Notes>59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59</vt:i4>
      </vt:variant>
    </vt:vector>
  </HeadingPairs>
  <TitlesOfParts>
    <vt:vector size="6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 02 guiado · Manipulación de datos</dc:title>
  <dc:subject>PptxGenJS Presentation</dc:subject>
  <dc:creator>PptxGenJS</dc:creator>
  <cp:lastModifiedBy>PptxGenJS</cp:lastModifiedBy>
  <cp:revision>1</cp:revision>
  <dcterms:created xsi:type="dcterms:W3CDTF">2026-10-15T10:37:52Z</dcterms:created>
  <dcterms:modified xsi:type="dcterms:W3CDTF">2026-10-15T10:37:52Z</dcterms:modified>
</cp:coreProperties>
</file>