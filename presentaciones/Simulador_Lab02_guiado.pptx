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TIEMPOS SUGERIDOS
Esta presentación 25 min y el Lab 02 guiado en Colab 45 min.
ESTA LÁMINA
Tres ideas. Elegir las filas que interesan, resumir una tabla grande en pocas cifras y desconfiar de una cifra global. La tercera es el corazón del lab y la que más les sirve para leer informes.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esta lámina al comienzo. Hoy se ven solo estos 5 pasos, que son la Parte 1 del cuaderno. La Parte 2 está al final del mismo cuaderno y queda para la casa, con la guía en PDF. Se muestra en la última lámina.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Arriba las dos tablas que se unen. Abajo gen, con las cuatro columnas de la generación en azul y las cuatro de la ficha en amarillo.
DECIR
central no se repite porque es la columna con que se une. Las filas siguen siendo 175.680.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DATOS y import pandas as pd
Igual que en el Lab 01, la dirección de la carpeta de datos y la herramienta de tablas.
Las tres líneas con read_csv
Leen las centrales, la generación de cada hora y la demanda de cada hora por región. parse_dates avisa que la columna fecha trae fechas.
gen = pd.merge(generacion, centrales, on="central", how="left")
La unión que aprendieron en el Lab 01. A cada fila de generación le pega la ficha de su central, con su tecnología, región y potencia.
Los print
Muestran filas y columnas de las dos tablas con que vamos a trabajar.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
Divide.
sangría
Las líneas corridas hacia la derecha dependen de la línea de arriba que termina en dos puntos. En Python la sangría es obligatoria.
import
Trae una herramienta que no viene cargada desde el comienzo. import pandas as pd la trae y le pone el apodo pd, para escribir menos.
as
Le da un apodo a lo que se importa. Desde ahí se usa el apodo.
pd.read_csv( ... )
Lee un archivo separado por comas y lo convierte en tabla. pd es pandas.
+
Suma números. Con textos, los junta uno detrás del otro.
parse_dates=[ ... ]
Las columnas que hay que leer como fecha y no como texto.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print( ... )
Muestra en pantalla lo que va dentro. Si van varias cosas separadas por coma, las muestra en una línea con un espacio entre ellas.
.shape
Filas y columnas de la tabla.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lámina explica cada pieza de esta línea. Abajo está la sintaxis de toda la celda.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
Divide.
sangría
Las líneas corridas hacia la derecha dependen de la línea de arriba que termina en dos puntos. En Python la sangría es obligatoria.
import
Trae una herramienta que no viene cargada desde el comienzo. import pandas as pd la trae y le pone el apodo pd, para escribir menos.
as
Le da un apodo a lo que se importa. Desde ahí se usa el apodo.
pd.read_csv( ... )
Lee un archivo separado por comas y lo convierte en tabla. pd es pandas.
+
Suma números. Con textos, los junta uno detrás del otro.
parse_dates=[ ... ]
Las columnas que hay que leer como fecha y no como texto.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print( ... )
Muestra en pantalla lo que va dentro. Si van varias cosas separadas por coma, las muestra en una línea con un espacio entre ellas.
.shape
Filas y columnas de la tabla.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gen tiene 175.680 filas y 8 columnas. La demanda tiene 61.488 filas, que son 7 regiones por 24 horas por 366 días.
DECIR
El punto de partida de este lab es el punto de llegada del anterior.
DECIR
Es la misma unión del Lab 01, con todo el año y no con un solo día. demanda queda aparte y se usa más adelante.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
Divide.
sangría
Las líneas corridas hacia la derecha dependen de la línea de arriba que termina en dos puntos. En Python la sangría es obligatoria.
import
Trae una herramienta que no viene cargada desde el comienzo. import pandas as pd la trae y le pone el apodo pd, para escribir menos.
as
Le da un apodo a lo que se importa. Desde ahí se usa el apodo.
pd.read_csv( ... )
Lee un archivo separado por comas y lo convierte en tabla. pd es pandas.
+
Suma números. Con textos, los junta uno detrás del otro.
parse_dates=[ ... ]
Las columnas que hay que leer como fecha y no como texto.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print( ... )
Muestra en pantalla lo que va dentro. Si van varias cosas separadas por coma, las muestra en una línea con un espacio entre ellas.
.shape
Filas y columnas de la tabla.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Cada condición da su propia columna de True y False. &amp; las combina y la fila pasa solo si las dos dicen True.
DECIR
Llano Seco es solar pero está en Atacama, y Roca Gris está en Antofagasta pero es carbón. Ninguna de las dos pasa.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tecnologia y region con #@param
Dos desplegables.
elegidas = gen[(gen["tecnologia"] == tecnologia) &amp; (gen["region"] == region)]
Un filtro con dos condiciones. El &amp; se lee como y, así que pasan solo las filas que cumplen las dos. Cada condición va entre paréntesis, es obligatorio en pandas.
len(elegidas)
Cuenta las filas.
round(elegidas["mwh"].sum())
Suma la generación de esas filas y redondea.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&amp;
Se lee y. Con columnas de True y False, queda True solo donde las dos son verdaderas. Cada condición tiene que ir entre paréntesis.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print( ... )
Muestra en pantalla lo que va dentro. Si van varias cosas separadas por coma, las muestra en una línea con un espacio entre ellas.
len( ... )
Cuenta cuántos elementos tiene una lista o cuántas filas tiene una tabla.
round(valor, n)
Redondea un número a n decimales. Sin n, al entero más cercano.
.sum()
Suma la columna. En una columna de True y False, cuenta los True.
f"... {nombre} ..."
Texto con una f delante. Lo que va entre llaves se reemplaza por su valor al mostrarse.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filtro del Lab 01 con dos condiciones. Si en vez de y se quisiera o, el signo es la barra vertical.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&amp;
Se lee y. Con columnas de True y False, queda True solo donde las dos son verdaderas. Cada condición tiene que ir entre paréntesis.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print( ... )
Muestra en pantalla lo que va dentro. Si van varias cosas separadas por coma, las muestra en una línea con un espacio entre ellas.
len( ... )
Cuenta cuántos elementos tiene una lista o cuántas filas tiene una tabla.
round(valor, n)
Redondea un número a n decimales. Sin n, al entero más cercano.
.sum()
Suma la columna. En una columna de True y False, cuenta los True.
f"... {nombre} ..."
Texto con una f delante. Lo que va entre llaves se reemplaza por su valor al mostrarse.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La solar de Antofagasta generó 479.681 MWh en el año.
SI PREGUNTAN POR UNA COMBINACIÓN QUE DA CERO
Esa región no tiene centrales de esa tecnología. Por ejemplo, no hay solar en Biobío.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&amp;
Se lee y. Con columnas de True y False, queda True solo donde las dos son verdaderas. Cada condición tiene que ir entre paréntesis.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print( ... )
Muestra en pantalla lo que va dentro. Si van varias cosas separadas por coma, las muestra en una línea con un espacio entre ellas.
len( ... )
Cuenta cuántos elementos tiene una lista o cuántas filas tiene una tabla.
round(valor, n)
Redondea un número a n decimales. Sin n, al entero más cercano.
.sum()
Suma la columna. En una columna de True y False, cuenta los True.
f"... {nombre} ..."
Texto con una f delante. Lo que va entre llaves se reemplaza por su valor al mostrarse.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eligió hidro y Biobío.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&amp;
Se lee y. Con columnas de True y False, queda True solo donde las dos son verdaderas. Cada condición tiene que ir entre paréntesis.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print( ... )
Muestra en pantalla lo que va dentro. Si van varias cosas separadas por coma, las muestra en una línea con un espacio entre ellas.
len( ... )
Cuenta cuántos elementos tiene una lista o cuántas filas tiene una tabla.
round(valor, n)
Redondea un número a n decimales. Sin n, al entero más cercano.
.sum()
Suma la columna. En una columna de True y False, cuenta los True.
f"... {nombre} ..."
Texto con una f delante. Lo que va entre llaves se reemplaza por su valor al mostrarse.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4.151.930 MWh. Por coincidencia también son 26.352 filas, porque son tres centrales en las dos combinaciones.
DECIR
Si se olvidan los paréntesis, Python da error, porque &amp; se evalúa antes que ==. Por eso cada condición va entre paréntesis.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&amp;
Se lee y. Con columnas de True y False, queda True solo donde las dos son verdaderas. Cada condición tiene que ir entre paréntesis.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print( ... )
Muestra en pantalla lo que va dentro. Si van varias cosas separadas por coma, las muestra en una línea con un espacio entre ellas.
len( ... )
Cuenta cuántos elementos tiene una lista o cuántas filas tiene una tabla.
round(valor, n)
Redondea un número a n decimales. Sin n, al entero más cercano.
.sum()
Suma la columna. En una columna de True y False, cuenta los True.
f"... {nombre} ..."
Texto con una f delante. Lo que va entre llaves se reemplaza por su valor al mostrarse.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A la izquierda, una fila por cada combinación de región y tecnología. A la derecha, las tecnologías pasan a ser columnas. Cada color sigue a su región. Las casillas grises no tenían fila y quedan en cero.
DECIR
Es exactamente lo que hace una tabla dinámica de Excel.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cruce = gen.pivot_table(index="region", columns="tecnologia", values="mwh", aggfunc="sum", fill_value=0)
Arma una tabla de doble entrada, igual que una tabla dinámica con dos dimensiones.
index son las filas, columns las columnas, values lo que se calcula y aggfunc cómo se calcula. fill_value=0 pone cero donde la combinación no existe.
cruce.round()
Redondea y muestra.
SINTAXIS DE TODO EL CÓDIGO DE ESTA CELDA
# comentario
Todo lo que va después del signo # es un comentario. Python no lo ejecuta, sirve para explicar el código a quien lo lee.
fill_value=
Qué poner donde la combinación no existe.
nombre = valor
Un solo signo igual guarda. A la izquierda va el nombre y a la derecha lo que se guarda. Si el nombre ya existía, su valor anterior se reemplaza.
.pivot_table( ... )
Tabla de doble entrada, como una tabla dinámica.
index=
Lo que va en las filas.
"texto"
Lo que va entre comillas es texto. Sin comillas, Python lo entiende como un nombre o un número.
columns=
Lo que va en las columnas.
sangría
Las líneas corridas hacia la derecha dependen de la línea de arriba que termina en dos puntos. En Python la sangría es obligatoria.
values=
La columna que se calcula en cada casilla.
aggfunc=
Cómo se calcula, por ejemplo sum o mean.
.round(n)
Redondea a n decimales.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 los mismos cuatro casilleros que se arrastran en una tabla dinámica, filas, columnas, valores y la función.
SINTAXIS DE TODO EL CÓDIGO DE ESTA CELDA
# comentario
Todo lo que va después del signo # es un comentario. Python no lo ejecuta, sirve para explicar el código a quien lo lee.
fill_value=
Qué poner donde la combinación no existe.
nombre = valor
Un solo signo igual guarda. A la izquierda va el nombre y a la derecha lo que se guarda. Si el nombre ya existía, su valor anterior se reemplaza.
.pivot_table( ... )
Tabla de doble entrada, como una tabla dinámica.
index=
Lo que va en las filas.
"texto"
Lo que va entre comillas es texto. Sin comillas, Python lo entiende como un nombre o un número.
columns=
Lo que va en las columnas.
sangría
Las líneas corridas hacia la derecha dependen de la línea de arriba que termina en dos puntos. En Python la sangría es obligatoria.
values=
La columna que se calcula en cada casilla.
aggfunc=
Cómo se calcula, por ejemplo sum o mean.
.round(n)
Redondea a n decimales.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Siete regiones por seis tecnologías. La mayoría de las celdas son cero, porque cada región tiene pocas tecnologías.
DECIR
Esta forma de tabla sirve para mostrar en un informe. Para seguir calculando conviene la tabla larga.
DECIR
fill_value=0 pone cero donde una región no tiene esa tecnología. Sin eso aparecería NaN, que significa sin dato.
SINTAXIS DE TODO EL CÓDIGO DE ESTA CELDA
# comentario
Todo lo que va después del signo # es un comentario. Python no lo ejecuta, sirve para explicar el código a quien lo lee.
fill_value=
Qué poner donde la combinación no existe.
nombre = valor
Un solo signo igual guarda. A la izquierda va el nombre y a la derecha lo que se guarda. Si el nombre ya existía, su valor anterior se reemplaza.
.pivot_table( ... )
Tabla de doble entrada, como una tabla dinámica.
index=
Lo que va en las filas.
"texto"
Lo que va entre comillas es texto. Sin comillas, Python lo entiende como un nombre o un número.
columns=
Lo que va en las columnas.
sangría
Las líneas corridas hacia la derecha dependen de la línea de arriba que termina en dos puntos. En Python la sangría es obligatoria.
values=
La columna que se calcula en cada casilla.
aggfunc=
Cómo se calcula, por ejemplo sum o mean.
.round(n)
Redondea a n decimales.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Precios y demanda vienen en distinto orden. Cada flecha une la fila de precios con la de demanda que tiene la misma fecha, la misma hora y la misma región. El color sigue a cada combinación.
DECIR
La hora 0 de Antofagasta no se junta con la hora 0 de Atacama. Tienen que coincidir las 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requests.get(...).json() y pd.json_normalize(...)
Leen los precios desde el servicio web, igual que en el Lab 01.
precios["fecha"] = pd.to_datetime(precios["fecha"])
Convierte la fecha de texto a fecha, para poder unirla con la demanda.
mix = pd.merge(precios, demanda, on=["fecha", "hora", "region"], how="inner")
Une por tres columnas a la vez. Una fila de precio se junta con la fila de demanda de la misma fecha, hora y región. Los precios son solo de enero, así que quedan las horas de enero.
mix["precio_usd_mwh"].corr(mix["mwh"])
La correlación mide si dos columnas se mueven juntas. Va de -1 a 1. Cerca de 1 quiere decir que cuando una sube, la otra también.
SINTAXIS DE TODO EL CÓDIGO DE ESTA CELDA
# comentario
Todo lo que va después del signo # es un comentario. Python no lo ejecuta, sirve para explicar el código a quien lo lee.
import
Trae una herramienta que no viene cargada desde el comienzo. import pandas as pd la trae y le pone el apodo pd, para escribir menos.
nombre = valor
Un solo signo igual guarda. A la izquierda va el nombre y a la derecha lo que se guarda. Si el nombre ya existía, su valor anterior se reemplaza.
requests.get(dirección)
Pide una dirección a internet, como cuando se abre una página.
a.b().c()
Cadena de pasos. Cada punto toma lo que salió a su izquierda y le aplica algo más. Se lee de izquierda a derecha.
+
Suma números. Con textos, los junta uno detrás del otro.
"texto"
Lo que va entre comillas es texto. Sin comillas, Python lo entiende como un nombre o un número.
.json()
Convierte la respuesta en datos de Python, diccionarios y listas.
pd.json_normalize( ... )
Convierte una lista de registros, como los que entrega un servicio web, en una tabla.
tabla["columna"]
Corchetes con un nombre entre comillas eligen una columna de la tabla. También eligen una llave de un diccionario.
tabla["nueva"] = ...
Guarda el resultado como una columna. Si no existía, la crea.
pd.to_datetime( ... )
Convierte texto en fecha.
pd.merge(izquierda, derecha, ...)
Une dos tablas buscando la pareja de cada fila, como el BUSCARV.
on=
La columna, o la lista de columnas, que tienen en común las dos tablas y que se usa para buscar la pareja.
[a, b, c]
Una lista. Varios valores entre corchetes, separados por comas, guardados bajo un solo nombre.
["a", "b"]
Una lista de textos. Dentro de una instrucción de pandas suele indicar varias columnas a la vez.
how=
Qué hacer con las filas que no encuentran pareja. inner deja solo las que están en las dos tablas y left conserva todas las de la tabla izquierda.
print( ... )
Muestra en pantalla lo que va dentro. Si van varias cosas separadas por coma, las muestra en una línea con un espacio entre ellas.
len( ... )
Cuenta cuántos elementos tiene una lista o cuántas filas tiene una tabla.
round(valor, n)
Redondea un número a n decimales. Sin n, al entero más cercano.
.corr(otra)
Correlación entre dos columnas, de -1 a 1. Cerca de 1 suben juntas, cerca de 0 no hay relación.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lámina explica cada pieza de esta línea. Abajo está la sintaxis de toda la celda.
SINTAXIS DE TODO EL CÓDIGO DE ESTA CELDA
# comentario
Todo lo que va después del signo # es un comentario. Python no lo ejecuta, sirve para explicar el código a quien lo lee.
import
Trae una herramienta que no viene cargada desde el comienzo. import pandas as pd la trae y le pone el apodo pd, para escribir menos.
nombre = valor
Un solo signo igual guarda. A la izquierda va el nombre y a la derecha lo que se guarda. Si el nombre ya existía, su valor anterior se reemplaza.
requests.get(dirección)
Pide una dirección a internet, como cuando se abre una página.
a.b().c()
Cadena de pasos. Cada punto toma lo que salió a su izquierda y le aplica algo más. Se lee de izquierda a derecha.
+
Suma números. Con textos, los junta uno detrás del otro.
"texto"
Lo que va entre comillas es texto. Sin comillas, Python lo entiende como un nombre o un número.
.json()
Convierte la respuesta en datos de Python, diccionarios y listas.
pd.json_normalize( ... )
Convierte una lista de registros, como los que entrega un servicio web, en una tabla.
tabla["columna"]
Corchetes con un nombre entre comillas eligen una columna de la tabla. También eligen una llave de un diccionario.
tabla["nueva"] = ...
Guarda el resultado como una columna. Si no existía, la crea.
pd.to_datetime( ... )
Convierte texto en fecha.
pd.merge(izquierda, derecha, ...)
Une dos tablas buscando la pareja de cada fila, como el BUSCARV.
on=
La columna, o la lista de columnas, que tienen en común las dos tablas y que se usa para buscar la pareja.
[a, b, c]
Una lista. Varios valores entre corchetes, separados por comas, guardados bajo un solo nombre.
["a", "b"]
Una lista de textos. Dentro de una instrucción de pandas suele indicar varias columnas a la vez.
how=
Qué hacer con las filas que no encuentran pareja. inner deja solo las que están en las dos tablas y left conserva todas las de la tabla izquierda.
print( ... )
Muestra en pantalla lo que va dentro. Si van varias cosas separadas por coma, las muestra en una línea con un espacio entre ellas.
len( ... )
Cuenta cuántos elementos tiene una lista o cuántas filas tiene una tabla.
round(valor, n)
Redondea un número a n decimales. Sin n, al entero más cercano.
.corr(otra)
Correlación entre dos columnas, de -1 a 1. Cerca de 1 suben juntas, cerca de 0 no hay relación.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Cerca de 1, suben juntos. Cerca de 0, no hay relación. Cerca de -1, cuando uno sube el otro baja.
SINTAXIS DE TODO EL CÓDIGO DE ESTA CELDA
# comentario
Todo lo que va después del signo # es un comentario. Python no lo ejecuta, sirve para explicar el código a quien lo lee.
import
Trae una herramienta que no viene cargada desde el comienzo. import pandas as pd la trae y le pone el apodo pd, para escribir menos.
nombre = valor
Un solo signo igual guarda. A la izquierda va el nombre y a la derecha lo que se guarda. Si el nombre ya existía, su valor anterior se reemplaza.
requests.get(dirección)
Pide una dirección a internet, como cuando se abre una página.
a.b().c()
Cadena de pasos. Cada punto toma lo que salió a su izquierda y le aplica algo más. Se lee de izquierda a derecha.
+
Suma números. Con textos, los junta uno detrás del otro.
"texto"
Lo que va entre comillas es texto. Sin comillas, Python lo entiende como un nombre o un número.
.json()
Convierte la respuesta en datos de Python, diccionarios y listas.
pd.json_normalize( ... )
Convierte una lista de registros, como los que entrega un servicio web, en una tabla.
tabla["columna"]
Corchetes con un nombre entre comillas eligen una columna de la tabla. También eligen una llave de un diccionario.
tabla["nueva"] = ...
Guarda el resultado como una columna. Si no existía, la crea.
pd.to_datetime( ... )
Convierte texto en fecha.
pd.merge(izquierda, derecha, ...)
Une dos tablas buscando la pareja de cada fila, como el BUSCARV.
on=
La columna, o la lista de columnas, que tienen en común las dos tablas y que se usa para buscar la pareja.
[a, b, c]
Una lista. Varios valores entre corchetes, separados por comas, guardados bajo un solo nombre.
["a", "b"]
Una lista de textos. Dentro de una instrucción de pandas suele indicar varias columnas a la vez.
how=
Qué hacer con las filas que no encuentran pareja. inner deja solo las que están en las dos tablas y left conserva todas las de la tabla izquierda.
print( ... )
Muestra en pantalla lo que va dentro. Si van varias cosas separadas por coma, las muestra en una línea con un espacio entre ellas.
len( ... )
Cuenta cuántos elementos tiene una lista o cuántas filas tiene una tabla.
round(valor, n)
Redondea un número a n decimales. Sin n, al entero más cercano.
.corr(otra)
Correlación entre dos columnas, de -1 a 1. Cerca de 1 suben juntas, cerca de 0 no hay relación.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5.208 filas, que son las horas de enero por las siete regiones. La correlación es 0,979, casi perfecta.
PREGUNTAR ANTES DE PASAR AL SIGUIENTE
¿Qué cifra pondrían en un informe? Dejar que respondan. La mayoría va a decir 0,979.
DECIR
Si se uniera solo por fecha, cada precio calzaría con todas las horas y todas las regiones de ese día, y las filas se multiplicarían. Por eso se une por las tres columnas a la vez.
SINTAXIS DE TODO EL CÓDIGO DE ESTA CELDA
# comentario
Todo lo que va después del signo # es un comentario. Python no lo ejecuta, sirve para explicar el código a quien lo lee.
import
Trae una herramienta que no viene cargada desde el comienzo. import pandas as pd la trae y le pone el apodo pd, para escribir menos.
nombre = valor
Un solo signo igual guarda. A la izquierda va el nombre y a la derecha lo que se guarda. Si el nombre ya existía, su valor anterior se reemplaza.
requests.get(dirección)
Pide una dirección a internet, como cuando se abre una página.
a.b().c()
Cadena de pasos. Cada punto toma lo que salió a su izquierda y le aplica algo más. Se lee de izquierda a derecha.
+
Suma números. Con textos, los junta uno detrás del otro.
"texto"
Lo que va entre comillas es texto. Sin comillas, Python lo entiende como un nombre o un número.
.json()
Convierte la respuesta en datos de Python, diccionarios y listas.
pd.json_normalize( ... )
Convierte una lista de registros, como los que entrega un servicio web, en una tabla.
tabla["columna"]
Corchetes con un nombre entre comillas eligen una columna de la tabla. También eligen una llave de un diccionario.
tabla["nueva"] = ...
Guarda el resultado como una columna. Si no existía, la crea.
pd.to_datetime( ... )
Convierte texto en fecha.
pd.merge(izquierda, derecha, ...)
Une dos tablas buscando la pareja de cada fila, como el BUSCARV.
on=
La columna, o la lista de columnas, que tienen en común las dos tablas y que se usa para buscar la pareja.
[a, b, c]
Una lista. Varios valores entre corchetes, separados por comas, guardados bajo un solo nombre.
["a", "b"]
Una lista de textos. Dentro de una instrucción de pandas suele indicar varias columnas a la vez.
how=
Qué hacer con las filas que no encuentran pareja. inner deja solo las que están en las dos tablas y left conserva todas las de la tabla izquierda.
print( ... )
Muestra en pantalla lo que va dentro. Si van varias cosas separadas por coma, las muestra en una línea con un espacio entre ellas.
len( ... )
Cuenta cuántos elementos tiene una lista o cuántas filas tiene una tabla.
round(valor, n)
Redondea un número a n decimales. Sin n, al entero más cercano.
.corr(otra)
Correlación entre dos columnas, de -1 a 1. Cerca de 1 suben juntas, cerca de 0 no hay relación.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A la izquierda todas las regiones juntas. La Metropolitana queda arriba a la derecha y las demás amontonadas abajo, y eso dibuja una línea. A la derecha solo Atacama, una nube sin forma.
DECIR
La línea de la izquierda no sale de que el precio siga a la demanda. Sale de juntar regiones de tamaños muy distintos.
SUGERENCIA
Se puede mostrar esta lámina después de correr las dos variantes, como cierre.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region con #@param
Desplegable con las siete regiones.
una = mix[mix["region"] == region]
Deja solo las filas de la región elegida.
correlacion = round(una["precio_usd_mwh"].corr(una["mwh"]), 3)
La misma correlación del paso anterior, pero dentro de una sola región.
Los print
Muestran la correlación de la región al lado de la de todas juntas, para compararlas.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round(valor, n)
Redondea un número a n decimales. Sin n, al entero más cercano.
.corr(otra)
Correlación entre dos columnas, de -1 a 1. Cerca de 1 suben juntas, cerca de 0 no hay relación.
print( ... )
Muestra en pantalla lo que va dentro. Si van varias cosas separadas por coma, las muestra en una línea con un espacio entre ellas.
f"... {nombre} ..."
Texto con una f delante. Lo que va entre llaves se reemplaza por su valor al mostrarse.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mismo filtro del Paso 2, con una sola condición.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round(valor, n)
Redondea un número a n decimales. Sin n, al entero más cercano.
.corr(otra)
Correlación entre dos columnas, de -1 a 1. Cerca de 1 suben juntas, cerca de 0 no hay relación.
print( ... )
Muestra en pantalla lo que va dentro. Si van varias cosas separadas por coma, las muestra en una línea con un espacio entre ellas.
f"... {nombre} ..."
Texto con una f delante. Lo que va entre llaves se reemplaza por su valor al mostrarse.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Dentro de la Metropolitana es 0,917. Sigue alta, pero ya no es 0,979.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round(valor, n)
Redondea un número a n decimales. Sin n, al entero más cercano.
.corr(otra)
Correlación entre dos columnas, de -1 a 1. Cerca de 1 suben juntas, cerca de 0 no hay relación.
print( ... )
Muestra en pantalla lo que va dentro. Si van varias cosas separadas por coma, las muestra en una línea con un espacio entre ellas.
f"... {nombre} ..."
Texto con una f delante. Lo que va entre llaves se reemplaza por su valor al mostrarse.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eligió Atacama.
PREGUNTAR ANTES DE CORRER
¿Creen que va a dar parecido a 0,979?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round(valor, n)
Redondea un número a n decimales. Sin n, al entero más cercano.
.corr(otra)
Correlación entre dos columnas, de -1 a 1. Cerca de 1 suben juntas, cerca de 0 no hay relación.
print( ... )
Muestra en pantalla lo que va dentro. Si van varias cosas separadas por coma, las muestra en una línea con un espacio entre ellas.
f"... {nombre} ..."
Texto con una f delante. Lo que va entre llaves se reemplaza por su valor al mostrarse.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Dentro de Atacama es 0,125. Casi no hay relación.
EXPLICAR
Las regiones grandes tienen a la vez más demanda y precios más altos. Al juntarlas todas, esa diferencia de tamaño dibuja una línea casi recta, aunque dentro de cada región la relación sea débil.
Este es el momento más importante del módulo. El número no está mal calculado, está mal leído.
Preguntar si en su trabajo han visto cifras globales que esconden diferencias entre regiones, áreas o productos.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round(valor, n)
Redondea un número a n decimales. Sin n, al entero más cercano.
.corr(otra)
Correlación entre dos columnas, de -1 a 1. Cerca de 1 suben juntas, cerca de 0 no hay relación.
print( ... )
Muestra en pantalla lo que va dentro. Si van varias cosas separadas por coma, las muestra en una línea con un espacio entre ellas.
f"... {nombre} ..."
Texto con una f delante. Lo que va entre llaves se reemplaza por su valor al mostrarse.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PASAR ESTA LÁMINA
Aquí termina lo que se ve en clase. Desde esta lámina vienen los estudios de la Parte 2, explicados igual que los pasos, para que los alumnos los repasen en la casa. Cada lámina lleva arriba la etiqueta naranja PARA LA CASA.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dayofweek da un número por día, de 0 a 6. Con &gt;= 5 quedan en True el sábado y el domingo. Después se agrupa por esa columna y se comparan los dos promedios.
DECIR
La caída se calcula sobre el promedio de semana. Por eso se divide por el promedio de False.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demanda["es_finde"] = demanda["fecha"].dt.dayofweek &gt;= 5
Crea una columna nueva. dayofweek da el día de la semana como número, del 0 para lunes al 6 para domingo. Mayor o igual a 5 es sábado o domingo. La columna queda con verdadero o falso en cada fila.
promedio = demanda.groupby("es_finde")["mwh"].mean()
Separa las filas en dos grupos, día hábil y fin de semana, y saca el promedio de cada uno.
caida = 100 * (1 - promedio[True] / promedio[False])
La diferencia en porcentaje. promedio[True] es el fin de semana y promedio[False] los días hábiles.
{caida:.1f}
Muestra el número con un decimal.
SINTAXIS DE TODO EL CÓDIGO DE ESTA CELDA
# comentario
Todo lo que va después del signo # es un comentario. Python no lo ejecuta, sirve para explicar el código a quien lo lee.
tabla["columna"]
Corchetes con un nombre entre comillas eligen una columna de la tabla. También eligen una llave de un diccionario.
tabla["nueva"] = ...
Guarda el resultado como una columna. Si no existía, la crea.
"texto"
Lo que va entre comillas es texto. Sin comillas, Python lo entiende como un nombre o un número.
nombre = valor
Un solo signo igual guarda. A la izquierda va el nombre y a la derecha lo que se guarda. Si el nombre ya existía, su valor anterior se reemplaza.
.dt.
Abre las herramientas de fecha de la columna.
.dt.dayofweek
El día de la semana como número, 0 el lunes y 6 el domingo.
&lt; &gt; &lt;= &gt;=
Menor, mayor, menor o igual, mayor o igual. Dan True o False. Con una columna, comparan fila por fila.
.groupby(columna)
Separa las filas en grupos según los valores de la columna. Con una lista, por varias columnas a la vez. Lo que viene después se calcula por grupo.
.mean()
El promedio. En una columna de True y False, la proporción de True.
print( ... )
Muestra en pantalla lo que va dentro. Si van varias cosas separadas por coma, las muestra en una línea con un espacio entre ellas.
.round(n)
Redondea a n decimales.
*
Multiplica.
-
Resta. Restar dos fechas da el tiempo que pasó entre ellas.
True y False
Verdadero y falso. Al sumarlos, True vale 1 y False vale 0, por eso sumar una columna de True y False cuenta los verdaderos.
/
Divide.
f"... {nombre} ..."
Texto con una f delante. Lo que va entre llaves se reemplaza por su valor al mostrarse.
{valor:.1f}
Dentro de las llaves de un texto con f, los dos puntos y .1f muestran el número con un decimal. .2f serían dos decimales.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lámina explica cada pieza de esta línea. Abajo está la sintaxis de toda la celda.
SINTAXIS DE TODO EL CÓDIGO DE ESTA CELDA
# comentario
Todo lo que va después del signo # es un comentario. Python no lo ejecuta, sirve para explicar el código a quien lo lee.
tabla["columna"]
Corchetes con un nombre entre comillas eligen una columna de la tabla. También eligen una llave de un diccionario.
tabla["nueva"] = ...
Guarda el resultado como una columna. Si no existía, la crea.
"texto"
Lo que va entre comillas es texto. Sin comillas, Python lo entiende como un nombre o un número.
nombre = valor
Un solo signo igual guarda. A la izquierda va el nombre y a la derecha lo que se guarda. Si el nombre ya existía, su valor anterior se reemplaza.
.dt.
Abre las herramientas de fecha de la columna.
.dt.dayofweek
El día de la semana como número, 0 el lunes y 6 el domingo.
&lt; &gt; &lt;= &gt;=
Menor, mayor, menor o igual, mayor o igual. Dan True o False. Con una columna, comparan fila por fila.
.groupby(columna)
Separa las filas en grupos según los valores de la columna. Con una lista, por varias columnas a la vez. Lo que viene después se calcula por grupo.
.mean()
El promedio. En una columna de True y False, la proporción de True.
print( ... )
Muestra en pantalla lo que va dentro. Si van varias cosas separadas por coma, las muestra en una línea con un espacio entre ellas.
.round(n)
Redondea a n decimales.
*
Multiplica.
-
Resta. Restar dos fechas da el tiempo que pasó entre ellas.
True y False
Verdadero y falso. Al sumarlos, True vale 1 y False vale 0, por eso sumar una columna de True y False cuenta los verdaderos.
/
Divide.
f"... {nombre} ..."
Texto con una f delante. Lo que va entre llaves se reemplaza por su valor al mostrarse.
{valor:.1f}
Dentro de las llaves de un texto con f, los dos puntos y .1f muestran el número con un decimal. .2f serían dos decimales.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corchetes eligen por nombre. Aquí los nombres son True y False, sin comillas.
SINTAXIS DE TODO EL CÓDIGO DE ESTA CELDA
# comentario
Todo lo que va después del signo # es un comentario. Python no lo ejecuta, sirve para explicar el código a quien lo lee.
tabla["columna"]
Corchetes con un nombre entre comillas eligen una columna de la tabla. También eligen una llave de un diccionario.
tabla["nueva"] = ...
Guarda el resultado como una columna. Si no existía, la crea.
"texto"
Lo que va entre comillas es texto. Sin comillas, Python lo entiende como un nombre o un número.
nombre = valor
Un solo signo igual guarda. A la izquierda va el nombre y a la derecha lo que se guarda. Si el nombre ya existía, su valor anterior se reemplaza.
.dt.
Abre las herramientas de fecha de la columna.
.dt.dayofweek
El día de la semana como número, 0 el lunes y 6 el domingo.
&lt; &gt; &lt;= &gt;=
Menor, mayor, menor o igual, mayor o igual. Dan True o False. Con una columna, comparan fila por fila.
.groupby(columna)
Separa las filas en grupos según los valores de la columna. Con una lista, por varias columnas a la vez. Lo que viene después se calcula por grupo.
.mean()
El promedio. En una columna de True y False, la proporción de True.
print( ... )
Muestra en pantalla lo que va dentro. Si van varias cosas separadas por coma, las muestra en una línea con un espacio entre ellas.
.round(n)
Redondea a n decimales.
*
Multiplica.
-
Resta. Restar dos fechas da el tiempo que pasó entre ellas.
True y False
Verdadero y falso. Al sumarlos, True vale 1 y False vale 0, por eso sumar una columna de True y False cuenta los verdaderos.
/
Divide.
f"... {nombre} ..."
Texto con una f delante. Lo que va entre llaves se reemplaza por su valor al mostrarse.
{valor:.1f}
Dentro de las llaves de un texto con f, los dos puntos y .1f muestran el número con un decimal. .2f serían dos decimales.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Día hábil 231,2 MWh por hora y fin de semana 213,1. Un 7,8 por ciento menos.
DECIR
Esto es una pregunta de negocio respondida en cuatro líneas, con un año completo de datos.
DECIR
Es el mismo truco del filtro del Paso 2. La diferencia es que aquí la columna de True y False se guarda en la tabla.
SINTAXIS DE TODO EL CÓDIGO DE ESTA CELDA
# comentario
Todo lo que va después del signo # es un comentario. Python no lo ejecuta, sirve para explicar el código a quien lo lee.
tabla["columna"]
Corchetes con un nombre entre comillas eligen una columna de la tabla. También eligen una llave de un diccionario.
tabla["nueva"] = ...
Guarda el resultado como una columna. Si no existía, la crea.
"texto"
Lo que va entre comillas es texto. Sin comillas, Python lo entiende como un nombre o un número.
nombre = valor
Un solo signo igual guarda. A la izquierda va el nombre y a la derecha lo que se guarda. Si el nombre ya existía, su valor anterior se reemplaza.
.dt.
Abre las herramientas de fecha de la columna.
.dt.dayofweek
El día de la semana como número, 0 el lunes y 6 el domingo.
&lt; &gt; &lt;= &gt;=
Menor, mayor, menor o igual, mayor o igual. Dan True o False. Con una columna, comparan fila por fila.
.groupby(columna)
Separa las filas en grupos según los valores de la columna. Con una lista, por varias columnas a la vez. Lo que viene después se calcula por grupo.
.mean()
El promedio. En una columna de True y False, la proporción de True.
print( ... )
Muestra en pantalla lo que va dentro. Si van varias cosas separadas por coma, las muestra en una línea con un espacio entre ellas.
.round(n)
Redondea a n decimales.
*
Multiplica.
-
Resta. Restar dos fechas da el tiempo que pasó entre ellas.
True y False
Verdadero y falso. Al sumarlos, True vale 1 y False vale 0, por eso sumar una columna de True y False cuenta los verdaderos.
/
Divide.
f"... {nombre} ..."
Texto con una f delante. Lo que va entre llaves se reemplaza por su valor al mostrarse.
{valor:.1f}
Dentro de las llaves de un texto con f, los dos puntos y .1f muestran el número con un decimal. .2f serían dos decimales.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A la izquierda el orden por potencia instalada del Lab 01. A la derecha el orden por energía generada en el año. La línea gruesa es la solar, que baja del segundo al quinto lugar.
DECIR
Potencia es lo máximo que puede dar una central. Energía es lo que de verdad generó.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por_tecnologia = gen.groupby("tecnologia")["mwh"].sum().round()
Junta las filas de cada tecnología y suma su generación. Es lo mismo que una tabla dinámica con tecnología en las filas y suma de mwh en los valores.
por_tecnologia.sort_values(ascending=False)
Ordena de mayor a menor.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.groupby(columna)
Separa las filas en grupos según los valores de la columna. Con una lista, por varias columnas a la vez. Lo que viene después se calcula por grupo.
"texto"
Lo que va entre comillas es texto. Sin comillas, Python lo entiende como un nombre o un número.
a.b().c()
Cadena de pasos. Cada punto toma lo que salió a su izquierda y le aplica algo más. Se lee de izquierda a derecha.
.sum()
Suma la columna. En una columna de True y False, cuenta los True.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Después la celda ordena con sort_values(ascending=False), de mayor a menor.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.groupby(columna)
Separa las filas en grupos según los valores de la columna. Con una lista, por varias columnas a la vez. Lo que viene después se calcula por grupo.
"texto"
Lo que va entre comillas es texto. Sin comillas, Python lo entiende como un nombre o un número.
a.b().c()
Cadena de pasos. Cada punto toma lo que salió a su izquierda y le aplica algo más. Se lee de izquierda a derecha.
.sum()
Suma la columna. En una columna de True y False, cuenta los True.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Hidro 6,1 millones de MWh, gas 5,1 y carbón 4,7. La solar queda quinta con 0,7.
PREGUNTAR
La solar es segunda en potencia instalada. ¿Por qué queda quinta en energía? Porque de noche no genera. Potencia y energía no son lo mismo, como vimos en el Lab 00.
DECIR
Es lo mismo que mostró el Lab 01 con la potencia. Aquí se ve con la energía de todo el año.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.groupby(columna)
Separa las filas en grupos según los valores de la columna. Con una lista, por varias columnas a la vez. Lo que viene después se calcula por grupo.
"texto"
Lo que va entre comillas es texto. Sin comillas, Python lo entiende como un nombre o un número.
a.b().c()
Cadena de pasos. Cada punto toma lo que salió a su izquierda y le aplica algo más. Se lee de izquierda a derecha.
.sum()
Suma la columna. En una columna de True y False, cuenta los True.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Siete filas reales de un mediodía. Primero se separan por tecnología, cada color con su grupo. Después cada grupo queda en una fila con tres cálculos, el total, el promedio y cuántas centrales.
DECIR
En Colab se hace lo mismo con las 175.680 filas del año.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agrupar_por con #@param
Se elige si agrupar por tecnología o por región.
resumen = gen.groupby(agrupar_por).agg(...)
agg calcula varias cosas a la vez. Cada línea de adentro es una columna del resultado. A la izquierda va el nombre que queremos y a la derecha qué columna y qué cálculo.
total_mwh suma la generación, promedio_hora saca el promedio y centrales cuenta cuántas centrales distintas hay con nunique.
resumen.round(1).sort_values("total_mwh", ascending=False)
Redondea y ordena por el total.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a.b().c()
Cadena de pasos. Cada punto toma lo que salió a su izquierda y le aplica algo más. Se lee de izquierda a derecha.
.groupby(columna)
Separa las filas en grupos según los valores de la columna. Con una lista, por varias columnas a la vez. Lo que viene después se calcula por grupo.
.agg(nombre=("columna", "cálculo"))
Calcula varias cosas por grupo. Cada argumento es una columna del resultado. Con un solo texto a la derecha, el cálculo es sobre la columna ya elegida.
sangría
Las líneas corridas hacia la derecha dependen de la línea de arriba que termina en dos puntos. En Python la sangría es obligatoria.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línea por columna del resumen. Volver al diagrama, que tiene escritas las mismas tres líneas.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a.b().c()
Cadena de pasos. Cada punto toma lo que salió a su izquierda y le aplica algo más. Se lee de izquierda a derecha.
.groupby(columna)
Separa las filas en grupos según los valores de la columna. Con una lista, por varias columnas a la vez. Lo que viene después se calcula por grupo.
.agg(nombre=("columna", "cálculo"))
Calcula varias cosas por grupo. Cada argumento es una columna del resultado. Con un solo texto a la derecha, el cálculo es sobre la columna ya elegida.
sangría
Las líneas corridas hacia la derecha dependen de la línea de arriba que termina en dos puntos. En Python la sangría es obligatoria.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Por tecnología, hidro tiene 5 centrales y el mayor total.
DECIR
Siempre conviene que un resumen incluya el conteo. Un promedio de dos centrales y uno de cinco se ven iguales en la tabla, y solo el conteo los distingue.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a.b().c()
Cadena de pasos. Cada punto toma lo que salió a su izquierda y le aplica algo más. Se lee de izquierda a derecha.
.groupby(columna)
Separa las filas en grupos según los valores de la columna. Con una lista, por varias columnas a la vez. Lo que viene después se calcula por grupo.
.agg(nombre=("columna", "cálculo"))
Calcula varias cosas por grupo. Cada argumento es una columna del resultado. Con un solo texto a la derecha, el cálculo es sobre la columna ya elegida.
sangría
Las líneas corridas hacia la derecha dependen de la línea de arriba que termina en dos puntos. En Python la sangría es obligatoria.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eligió region. La misma celda resume por región.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a.b().c()
Cadena de pasos. Cada punto toma lo que salió a su izquierda y le aplica algo más. Se lee de izquierda a derecha.
.groupby(columna)
Separa las filas en grupos según los valores de la columna. Con una lista, por varias columnas a la vez. Lo que viene después se calcula por grupo.
.agg(nombre=("columna", "cálculo"))
Calcula varias cosas por grupo. Cada argumento es una columna del resultado. Con un solo texto a la derecha, el cálculo es sobre la columna ya elegida.
sangría
Las líneas corridas hacia la derecha dependen de la línea de arriba que termina en dos puntos. En Python la sangría es obligatoria.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Biobío encabeza con 5 centrales y 8,5 millones de MWh.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a.b().c()
Cadena de pasos. Cada punto toma lo que salió a su izquierda y le aplica algo más. Se lee de izquierda a derecha.
.groupby(columna)
Separa las filas en grupos según los valores de la columna. Con una lista, por varias columnas a la vez. Lo que viene después se calcula por grupo.
.agg(nombre=("columna", "cálculo"))
Calcula varias cosas por grupo. Cada argumento es una columna del resultado. Con un solo texto a la derecha, el cálculo es sobre la columna ya elegida.
sangría
Las líneas corridas hacia la derecha dependen de la línea de arriba que termina en dos puntos. En Python la sangría es obligatoria.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nunique cuenta centrales distintas. Si un grupo tiene una sola central, su promedio depende de esa sola central.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Una central solar y una a gas en un mismo día. La solar parte en cero de noche y sube al mediodía. La de gas está pareja todo el día.
DECIR
Por eso al promediar todas las horas del año la solar queda en 0,080 y el gas en 0,663.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gen["factor_planta"] = gen["mwh"] / gen["potencia_mw"]
Crea una columna nueva dividiendo lo que generó cada central en cada hora por su potencia. Se calcula para las 175.680 filas de una vez, sin ningún for.
factor = gen.groupby("tecnologia")["factor_planta"].mean().round(3)
El promedio del factor de planta de cada tecnología.
factor.sort_values(ascending=False)
Ordena de mayor a menor.
SINTAXIS DE TODO EL CÓDIGO DE ESTA CELDA
# comentario
Todo lo que va después del signo # es un comentario. Python no lo ejecuta, sirve para explicar el código a quien lo lee.
número decimal
Los decimales se escriben con punto, no con coma. 0.56 es cero coma cincuenta y seis.
tabla["columna"]
Corchetes con un nombre entre comillas eligen una columna de la tabla. También eligen una llave de un diccionario.
tabla["nueva"] = ...
Guarda el resultado como una columna. Si no existía, la crea.
"texto"
Lo que va entre comillas es texto. Sin comillas, Python lo entiende como un nombre o un número.
nombre = valor
Un solo signo igual guarda. A la izquierda va el nombre y a la derecha lo que se guarda. Si el nombre ya existía, su valor anterior se reemplaza.
/
Divide.
.groupby(columna)
Separa las filas en grupos según los valores de la columna. Con una lista, por varias columnas a la vez. Lo que viene después se calcula por grupo.
a.b().c()
Cadena de pasos. Cada punto toma lo que salió a su izquierda y le aplica algo más. Se lee de izquierda a derecha.
.mean()
El promedio. En una columna de True y False, la proporción de True.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en el Lab 00, sin ningún for. pandas aplica la cuenta a todas las filas.
SINTAXIS DE TODO EL CÓDIGO DE ESTA CELDA
# comentario
Todo lo que va después del signo # es un comentario. Python no lo ejecuta, sirve para explicar el código a quien lo lee.
número decimal
Los decimales se escriben con punto, no con coma. 0.56 es cero coma cincuenta y seis.
tabla["columna"]
Corchetes con un nombre entre comillas eligen una columna de la tabla. También eligen una llave de un diccionario.
tabla["nueva"] = ...
Guarda el resultado como una columna. Si no existía, la crea.
"texto"
Lo que va entre comillas es texto. Sin comillas, Python lo entiende como un nombre o un número.
nombre = valor
Un solo signo igual guarda. A la izquierda va el nombre y a la derecha lo que se guarda. Si el nombre ya existía, su valor anterior se reemplaza.
/
Divide.
.groupby(columna)
Separa las filas en grupos según los valores de la columna. Con una lista, por varias columnas a la vez. Lo que viene después se calcula por grupo.
a.b().c()
Cadena de pasos. Cada punto toma lo que salió a su izquierda y le aplica algo más. Se lee de izquierda a derecha.
.mean()
El promedio. En una columna de True y False, la proporción de True.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Gas 0,663, carbón 0,640 e hidro 0,549. La solar queda última con 0,080.
OJO
En el Lab 00 usamos 0,25 para la solar, que era un valor de ejemplo. Aquí sale 0,080 porque los datos son inventados. No hay que citar estas cifras como datos del sistema real.
DECIR
Lo dice el recuadro amarillo del cuaderno. Sirven para aprender la técnica, no describen el sistema eléctrico real.
SINTAXIS DE TODO EL CÓDIGO DE ESTA CELDA
# comentario
Todo lo que va después del signo # es un comentario. Python no lo ejecuta, sirve para explicar el código a quien lo lee.
número decimal
Los decimales se escriben con punto, no con coma. 0.56 es cero coma cincuenta y seis.
tabla["columna"]
Corchetes con un nombre entre comillas eligen una columna de la tabla. También eligen una llave de un diccionario.
tabla["nueva"] = ...
Guarda el resultado como una columna. Si no existía, la crea.
"texto"
Lo que va entre comillas es texto. Sin comillas, Python lo entiende como un nombre o un número.
nombre = valor
Un solo signo igual guarda. A la izquierda va el nombre y a la derecha lo que se guarda. Si el nombre ya existía, su valor anterior se reemplaza.
/
Divide.
.groupby(columna)
Separa las filas en grupos según los valores de la columna. Con una lista, por varias columnas a la vez. Lo que viene después se calcula por grupo.
a.b().c()
Cadena de pasos. Cada punto toma lo que salió a su izquierda y le aplica algo más. Se lee de izquierda a derecha.
.mean()
El promedio. En una columna de True y False, la proporción de True.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Pegar en el chat el enlace del Lab 02 guiado. El Paso 1 demora unos segundos porque lee la generación de todo el año.
CIERRE
La idea que se tienen que llevar es que antes de informar una cifra global hay que mirarla por grupo.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D62"/>
        </a:solidFill>
      </p:bgPr>
    </p:bg>
    <p:spTree>
      <p:nvGrpSpPr>
        <p:cNvPr id="1" name=""/>
        <p:cNvGrpSpPr/>
        <p:nvPr/>
      </p:nvGrpSpPr>
      <p:grpSpPr>
        <a:xfrm>
          <a:off x="0" y="0"/>
          <a:ext cx="0" cy="0"/>
          <a:chOff x="0" y="0"/>
          <a:chExt cx="0" cy="0"/>
        </a:xfrm>
      </p:grpSpPr>
      <p:sp>
        <p:nvSpPr>
          <p:cNvPr id="2" name="Text 0"/>
          <p:cNvSpPr txBox="1"/>
          <p:nvPr/>
        </p:nvSpPr>
        <p:spPr>
          <a:xfrm>
            <a:off x="731520" y="1280160"/>
            <a:ext cx="1069848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Lab 02 guiado · Manipulación de datos</a:t>
            </a:r>
            <a:endParaRPr lang="en-US" sz="4000" dirty="0"/>
          </a:p>
        </p:txBody>
      </p:sp>
      <p:sp>
        <p:nvSpPr>
          <p:cNvPr id="3" name="Text 1"/>
          <p:cNvSpPr txBox="1"/>
          <p:nvPr/>
        </p:nvSpPr>
        <p:spPr>
          <a:xfrm>
            <a:off x="731520" y="2148840"/>
            <a:ext cx="10698480" cy="45720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Parte 1 en clase, 5 pasos · Parte 2 para la casa, 4 estudios</a:t>
            </a:r>
            <a:endParaRPr lang="en-US" sz="2000" dirty="0"/>
          </a:p>
        </p:txBody>
      </p:sp>
      <p:sp>
        <p:nvSpPr>
          <p:cNvPr id="4" name="Shape 2"/>
          <p:cNvSpPr/>
          <p:nvPr/>
        </p:nvSpPr>
        <p:spPr>
          <a:xfrm>
            <a:off x="731520" y="3200400"/>
            <a:ext cx="502920" cy="502920"/>
          </a:xfrm>
          <a:prstGeom prst="ellipse">
            <a:avLst/>
          </a:prstGeom>
          <a:solidFill>
            <a:srgbClr val="F9AB00"/>
          </a:solidFill>
          <a:ln w="12700">
            <a:solidFill>
              <a:srgbClr val="F9AB00"/>
            </a:solidFill>
            <a:prstDash val="solid"/>
          </a:ln>
        </p:spPr>
      </p:sp>
      <p:sp>
        <p:nvSpPr>
          <p:cNvPr id="5" name="Text 3"/>
          <p:cNvSpPr txBox="1"/>
          <p:nvPr/>
        </p:nvSpPr>
        <p:spPr>
          <a:xfrm>
            <a:off x="731520" y="3200400"/>
            <a:ext cx="502920" cy="502920"/>
          </a:xfrm>
          <a:prstGeom prst="rect">
            <a:avLst/>
          </a:prstGeom>
          <a:noFill/>
          <a:ln/>
        </p:spPr>
        <p:txBody>
          <a:bodyPr wrap="square" lIns="0" tIns="0" rIns="0" bIns="0" rtlCol="0" anchor="ctr"/>
          <a:lstStyle/>
          <a:p>
            <a:pPr algn="ctr" indent="0" marL="0">
              <a:buNone/>
            </a:pPr>
            <a:r>
              <a:rPr lang="en-US" sz="1600" b="1" dirty="0">
                <a:solidFill>
                  <a:srgbClr val="0B3D62"/>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463040" y="3200400"/>
            <a:ext cx="9601200" cy="5029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Cada paso se muestra primero aquí. Un clic avanza.</a:t>
            </a:r>
            <a:endParaRPr lang="en-US" sz="1800" dirty="0"/>
          </a:p>
        </p:txBody>
      </p:sp>
      <p:sp>
        <p:nvSpPr>
          <p:cNvPr id="7" name="Shape 5"/>
          <p:cNvSpPr/>
          <p:nvPr/>
        </p:nvSpPr>
        <p:spPr>
          <a:xfrm>
            <a:off x="731520" y="3977640"/>
            <a:ext cx="502920" cy="502920"/>
          </a:xfrm>
          <a:prstGeom prst="ellipse">
            <a:avLst/>
          </a:prstGeom>
          <a:solidFill>
            <a:srgbClr val="F9AB00"/>
          </a:solidFill>
          <a:ln w="12700">
            <a:solidFill>
              <a:srgbClr val="F9AB00"/>
            </a:solidFill>
            <a:prstDash val="solid"/>
          </a:ln>
        </p:spPr>
      </p:sp>
      <p:sp>
        <p:nvSpPr>
          <p:cNvPr id="8" name="Text 6"/>
          <p:cNvSpPr txBox="1"/>
          <p:nvPr/>
        </p:nvSpPr>
        <p:spPr>
          <a:xfrm>
            <a:off x="731520" y="3977640"/>
            <a:ext cx="502920" cy="502920"/>
          </a:xfrm>
          <a:prstGeom prst="rect">
            <a:avLst/>
          </a:prstGeom>
          <a:noFill/>
          <a:ln/>
        </p:spPr>
        <p:txBody>
          <a:bodyPr wrap="square" lIns="0" tIns="0" rIns="0" bIns="0" rtlCol="0" anchor="ctr"/>
          <a:lstStyle/>
          <a:p>
            <a:pPr algn="ctr" indent="0" marL="0">
              <a:buNone/>
            </a:pPr>
            <a:r>
              <a:rPr lang="en-US" sz="1600" b="1" dirty="0">
                <a:solidFill>
                  <a:srgbClr val="0B3D62"/>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463040" y="3977640"/>
            <a:ext cx="9601200" cy="5029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Abajo aparece lo que Python recuerda, que en Colab no se ve.</a:t>
            </a:r>
            <a:endParaRPr lang="en-US" sz="1800" dirty="0"/>
          </a:p>
        </p:txBody>
      </p:sp>
      <p:sp>
        <p:nvSpPr>
          <p:cNvPr id="10" name="Shape 8"/>
          <p:cNvSpPr/>
          <p:nvPr/>
        </p:nvSpPr>
        <p:spPr>
          <a:xfrm>
            <a:off x="731520" y="4754880"/>
            <a:ext cx="502920" cy="502920"/>
          </a:xfrm>
          <a:prstGeom prst="ellipse">
            <a:avLst/>
          </a:prstGeom>
          <a:solidFill>
            <a:srgbClr val="F9AB00"/>
          </a:solidFill>
          <a:ln w="12700">
            <a:solidFill>
              <a:srgbClr val="F9AB00"/>
            </a:solidFill>
            <a:prstDash val="solid"/>
          </a:ln>
        </p:spPr>
      </p:sp>
      <p:sp>
        <p:nvSpPr>
          <p:cNvPr id="11" name="Text 9"/>
          <p:cNvSpPr txBox="1"/>
          <p:nvPr/>
        </p:nvSpPr>
        <p:spPr>
          <a:xfrm>
            <a:off x="731520" y="4754880"/>
            <a:ext cx="502920" cy="502920"/>
          </a:xfrm>
          <a:prstGeom prst="rect">
            <a:avLst/>
          </a:prstGeom>
          <a:noFill/>
          <a:ln/>
        </p:spPr>
        <p:txBody>
          <a:bodyPr wrap="square" lIns="0" tIns="0" rIns="0" bIns="0" rtlCol="0" anchor="ctr"/>
          <a:lstStyle/>
          <a:p>
            <a:pPr algn="ctr" indent="0" marL="0">
              <a:buNone/>
            </a:pPr>
            <a:r>
              <a:rPr lang="en-US" sz="1600" b="1" dirty="0">
                <a:solidFill>
                  <a:srgbClr val="0B3D62"/>
                </a:solidFill>
                <a:latin typeface="Calibri" pitchFamily="34" charset="0"/>
                <a:ea typeface="Calibri" pitchFamily="34" charset="-122"/>
                <a:cs typeface="Calibri" pitchFamily="34" charset="-120"/>
              </a:rPr>
              <a:t>3</a:t>
            </a:r>
            <a:endParaRPr lang="en-US" sz="1600" dirty="0"/>
          </a:p>
        </p:txBody>
      </p:sp>
      <p:sp>
        <p:nvSpPr>
          <p:cNvPr id="12" name="Text 10"/>
          <p:cNvSpPr txBox="1"/>
          <p:nvPr/>
        </p:nvSpPr>
        <p:spPr>
          <a:xfrm>
            <a:off x="1463040" y="4754880"/>
            <a:ext cx="9601200" cy="5029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Después lo hacen en Colab, y les tiene que salir igual.</a:t>
            </a:r>
            <a:endParaRPr lang="en-US" sz="1800" dirty="0"/>
          </a:p>
        </p:txBody>
      </p:sp>
      <p:sp>
        <p:nvSpPr>
          <p:cNvPr id="14" name="Text 11"/>
          <p:cNvSpPr txBox="1"/>
          <p:nvPr/>
        </p:nvSpPr>
        <p:spPr>
          <a:xfrm>
            <a:off x="731520" y="6126480"/>
            <a:ext cx="106984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Análisis Avanzado de Datos con Python · Subsecretaría de Energía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3D62"/>
        </a:solidFill>
      </p:bgPr>
    </p:bg>
    <p:spTree>
      <p:nvGrpSpPr>
        <p:cNvPr id="1" name=""/>
        <p:cNvGrpSpPr/>
        <p:nvPr/>
      </p:nvGrpSpPr>
      <p:grpSpPr>
        <a:xfrm>
          <a:off x="0" y="0"/>
          <a:ext cx="0" cy="0"/>
          <a:chOff x="0" y="0"/>
          <a:chExt cx="0" cy="0"/>
        </a:xfrm>
      </p:grpSpPr>
      <p:sp>
        <p:nvSpPr>
          <p:cNvPr id="2" name="Text 0"/>
          <p:cNvSpPr txBox="1"/>
          <p:nvPr/>
        </p:nvSpPr>
        <p:spPr>
          <a:xfrm>
            <a:off x="731520" y="548640"/>
            <a:ext cx="10698480" cy="82296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PARTE 1 · EN CLASE</a:t>
            </a:r>
            <a:endParaRPr lang="en-US" sz="4400" dirty="0"/>
          </a:p>
        </p:txBody>
      </p:sp>
      <p:sp>
        <p:nvSpPr>
          <p:cNvPr id="3" name="Text 1"/>
          <p:cNvSpPr txBox="1"/>
          <p:nvPr/>
        </p:nvSpPr>
        <p:spPr>
          <a:xfrm>
            <a:off x="731520" y="1371600"/>
            <a:ext cx="10698480" cy="45720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Hoy hacemos estos 5 pasos, juntos, con estas láminas y después en Colab.</a:t>
            </a:r>
            <a:endParaRPr lang="en-US" sz="2000" dirty="0"/>
          </a:p>
        </p:txBody>
      </p:sp>
      <p:sp>
        <p:nvSpPr>
          <p:cNvPr id="4" name="Shape 2"/>
          <p:cNvSpPr/>
          <p:nvPr/>
        </p:nvSpPr>
        <p:spPr>
          <a:xfrm>
            <a:off x="731520" y="2240280"/>
            <a:ext cx="548640" cy="548640"/>
          </a:xfrm>
          <a:prstGeom prst="ellipse">
            <a:avLst/>
          </a:prstGeom>
          <a:solidFill>
            <a:srgbClr val="F9AB00"/>
          </a:solidFill>
          <a:ln w="12700">
            <a:solidFill>
              <a:srgbClr val="F9AB00"/>
            </a:solidFill>
            <a:prstDash val="solid"/>
          </a:ln>
        </p:spPr>
      </p:sp>
      <p:sp>
        <p:nvSpPr>
          <p:cNvPr id="5" name="Text 3"/>
          <p:cNvSpPr txBox="1"/>
          <p:nvPr/>
        </p:nvSpPr>
        <p:spPr>
          <a:xfrm>
            <a:off x="731520" y="224028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1</a:t>
            </a:r>
            <a:endParaRPr lang="en-US" sz="2000" dirty="0"/>
          </a:p>
        </p:txBody>
      </p:sp>
      <p:sp>
        <p:nvSpPr>
          <p:cNvPr id="6" name="Text 4"/>
          <p:cNvSpPr txBox="1"/>
          <p:nvPr/>
        </p:nvSpPr>
        <p:spPr>
          <a:xfrm>
            <a:off x="1508760" y="224028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1   </a:t>
            </a:r>
            <a:pPr indent="0" marL="0">
              <a:buNone/>
            </a:pPr>
            <a:r>
              <a:rPr lang="en-US" sz="2400" dirty="0">
                <a:solidFill>
                  <a:srgbClr val="FFFFFF"/>
                </a:solidFill>
                <a:latin typeface="Calibri" pitchFamily="34" charset="0"/>
                <a:ea typeface="Calibri" pitchFamily="34" charset="-122"/>
                <a:cs typeface="Calibri" pitchFamily="34" charset="-120"/>
              </a:rPr>
              <a:t>¿Con qué datos vamos a trabajar?</a:t>
            </a:r>
            <a:endParaRPr lang="en-US" sz="2400" dirty="0"/>
          </a:p>
        </p:txBody>
      </p:sp>
      <p:sp>
        <p:nvSpPr>
          <p:cNvPr id="7" name="Shape 5"/>
          <p:cNvSpPr/>
          <p:nvPr/>
        </p:nvSpPr>
        <p:spPr>
          <a:xfrm>
            <a:off x="731520" y="3017520"/>
            <a:ext cx="548640" cy="548640"/>
          </a:xfrm>
          <a:prstGeom prst="ellipse">
            <a:avLst/>
          </a:prstGeom>
          <a:solidFill>
            <a:srgbClr val="F9AB00"/>
          </a:solidFill>
          <a:ln w="12700">
            <a:solidFill>
              <a:srgbClr val="F9AB00"/>
            </a:solidFill>
            <a:prstDash val="solid"/>
          </a:ln>
        </p:spPr>
      </p:sp>
      <p:sp>
        <p:nvSpPr>
          <p:cNvPr id="8" name="Text 6"/>
          <p:cNvSpPr txBox="1"/>
          <p:nvPr/>
        </p:nvSpPr>
        <p:spPr>
          <a:xfrm>
            <a:off x="731520" y="301752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2</a:t>
            </a:r>
            <a:endParaRPr lang="en-US" sz="2000" dirty="0"/>
          </a:p>
        </p:txBody>
      </p:sp>
      <p:sp>
        <p:nvSpPr>
          <p:cNvPr id="9" name="Text 7"/>
          <p:cNvSpPr txBox="1"/>
          <p:nvPr/>
        </p:nvSpPr>
        <p:spPr>
          <a:xfrm>
            <a:off x="1508760" y="301752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2   </a:t>
            </a:r>
            <a:pPr indent="0" marL="0">
              <a:buNone/>
            </a:pPr>
            <a:r>
              <a:rPr lang="en-US" sz="2400" dirty="0">
                <a:solidFill>
                  <a:srgbClr val="FFFFFF"/>
                </a:solidFill>
                <a:latin typeface="Calibri" pitchFamily="34" charset="0"/>
                <a:ea typeface="Calibri" pitchFamily="34" charset="-122"/>
                <a:cs typeface="Calibri" pitchFamily="34" charset="-120"/>
              </a:rPr>
              <a:t>Tu turno, filtra con dos condiciones</a:t>
            </a:r>
            <a:endParaRPr lang="en-US" sz="2400" dirty="0"/>
          </a:p>
        </p:txBody>
      </p:sp>
      <p:sp>
        <p:nvSpPr>
          <p:cNvPr id="10" name="Shape 8"/>
          <p:cNvSpPr/>
          <p:nvPr/>
        </p:nvSpPr>
        <p:spPr>
          <a:xfrm>
            <a:off x="731520" y="3794760"/>
            <a:ext cx="548640" cy="548640"/>
          </a:xfrm>
          <a:prstGeom prst="ellipse">
            <a:avLst/>
          </a:prstGeom>
          <a:solidFill>
            <a:srgbClr val="F9AB00"/>
          </a:solidFill>
          <a:ln w="12700">
            <a:solidFill>
              <a:srgbClr val="F9AB00"/>
            </a:solidFill>
            <a:prstDash val="solid"/>
          </a:ln>
        </p:spPr>
      </p:sp>
      <p:sp>
        <p:nvSpPr>
          <p:cNvPr id="11" name="Text 9"/>
          <p:cNvSpPr txBox="1"/>
          <p:nvPr/>
        </p:nvSpPr>
        <p:spPr>
          <a:xfrm>
            <a:off x="731520" y="379476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3</a:t>
            </a:r>
            <a:endParaRPr lang="en-US" sz="2000" dirty="0"/>
          </a:p>
        </p:txBody>
      </p:sp>
      <p:sp>
        <p:nvSpPr>
          <p:cNvPr id="12" name="Text 10"/>
          <p:cNvSpPr txBox="1"/>
          <p:nvPr/>
        </p:nvSpPr>
        <p:spPr>
          <a:xfrm>
            <a:off x="1508760" y="379476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3   </a:t>
            </a:r>
            <a:pPr indent="0" marL="0">
              <a:buNone/>
            </a:pPr>
            <a:r>
              <a:rPr lang="en-US" sz="2400" dirty="0">
                <a:solidFill>
                  <a:srgbClr val="FFFFFF"/>
                </a:solidFill>
                <a:latin typeface="Calibri" pitchFamily="34" charset="0"/>
                <a:ea typeface="Calibri" pitchFamily="34" charset="-122"/>
                <a:cs typeface="Calibri" pitchFamily="34" charset="-120"/>
              </a:rPr>
              <a:t>¿Cuánto generó cada región con cada tecnología?</a:t>
            </a:r>
            <a:endParaRPr lang="en-US" sz="2400" dirty="0"/>
          </a:p>
        </p:txBody>
      </p:sp>
      <p:sp>
        <p:nvSpPr>
          <p:cNvPr id="13" name="Shape 11"/>
          <p:cNvSpPr/>
          <p:nvPr/>
        </p:nvSpPr>
        <p:spPr>
          <a:xfrm>
            <a:off x="731520" y="4572000"/>
            <a:ext cx="548640" cy="548640"/>
          </a:xfrm>
          <a:prstGeom prst="ellipse">
            <a:avLst/>
          </a:prstGeom>
          <a:solidFill>
            <a:srgbClr val="F9AB00"/>
          </a:solidFill>
          <a:ln w="12700">
            <a:solidFill>
              <a:srgbClr val="F9AB00"/>
            </a:solidFill>
            <a:prstDash val="solid"/>
          </a:ln>
        </p:spPr>
      </p:sp>
      <p:sp>
        <p:nvSpPr>
          <p:cNvPr id="14" name="Text 12"/>
          <p:cNvSpPr txBox="1"/>
          <p:nvPr/>
        </p:nvSpPr>
        <p:spPr>
          <a:xfrm>
            <a:off x="731520" y="457200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4</a:t>
            </a:r>
            <a:endParaRPr lang="en-US" sz="2000" dirty="0"/>
          </a:p>
        </p:txBody>
      </p:sp>
      <p:sp>
        <p:nvSpPr>
          <p:cNvPr id="15" name="Text 13"/>
          <p:cNvSpPr txBox="1"/>
          <p:nvPr/>
        </p:nvSpPr>
        <p:spPr>
          <a:xfrm>
            <a:off x="1508760" y="457200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4   </a:t>
            </a:r>
            <a:pPr indent="0" marL="0">
              <a:buNone/>
            </a:pPr>
            <a:r>
              <a:rPr lang="en-US" sz="2400" dirty="0">
                <a:solidFill>
                  <a:srgbClr val="FFFFFF"/>
                </a:solidFill>
                <a:latin typeface="Calibri" pitchFamily="34" charset="0"/>
                <a:ea typeface="Calibri" pitchFamily="34" charset="-122"/>
                <a:cs typeface="Calibri" pitchFamily="34" charset="-120"/>
              </a:rPr>
              <a:t>¿Sube el precio cuando sube la demanda?</a:t>
            </a:r>
            <a:endParaRPr lang="en-US" sz="2400" dirty="0"/>
          </a:p>
        </p:txBody>
      </p:sp>
      <p:sp>
        <p:nvSpPr>
          <p:cNvPr id="16" name="Shape 14"/>
          <p:cNvSpPr/>
          <p:nvPr/>
        </p:nvSpPr>
        <p:spPr>
          <a:xfrm>
            <a:off x="731520" y="5349240"/>
            <a:ext cx="548640" cy="548640"/>
          </a:xfrm>
          <a:prstGeom prst="ellipse">
            <a:avLst/>
          </a:prstGeom>
          <a:solidFill>
            <a:srgbClr val="F9AB00"/>
          </a:solidFill>
          <a:ln w="12700">
            <a:solidFill>
              <a:srgbClr val="F9AB00"/>
            </a:solidFill>
            <a:prstDash val="solid"/>
          </a:ln>
        </p:spPr>
      </p:sp>
      <p:sp>
        <p:nvSpPr>
          <p:cNvPr id="17" name="Text 15"/>
          <p:cNvSpPr txBox="1"/>
          <p:nvPr/>
        </p:nvSpPr>
        <p:spPr>
          <a:xfrm>
            <a:off x="731520" y="534924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5</a:t>
            </a:r>
            <a:endParaRPr lang="en-US" sz="2000" dirty="0"/>
          </a:p>
        </p:txBody>
      </p:sp>
      <p:sp>
        <p:nvSpPr>
          <p:cNvPr id="18" name="Text 16"/>
          <p:cNvSpPr txBox="1"/>
          <p:nvPr/>
        </p:nvSpPr>
        <p:spPr>
          <a:xfrm>
            <a:off x="1508760" y="534924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5   </a:t>
            </a:r>
            <a:pPr indent="0" marL="0">
              <a:buNone/>
            </a:pPr>
            <a:r>
              <a:rPr lang="en-US" sz="2400" dirty="0">
                <a:solidFill>
                  <a:srgbClr val="FFFFFF"/>
                </a:solidFill>
                <a:latin typeface="Calibri" pitchFamily="34" charset="0"/>
                <a:ea typeface="Calibri" pitchFamily="34" charset="-122"/>
                <a:cs typeface="Calibri" pitchFamily="34" charset="-120"/>
              </a:rPr>
              <a:t>¿Y dentro de cada región?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¿Con qué datos vamos a trabajar?</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qué tablas se leen y qué queda en gen.</a:t>
            </a:r>
            <a:endParaRPr lang="en-US" sz="1400" dirty="0"/>
          </a:p>
        </p:txBody>
      </p:sp>
      <p:pic>
        <p:nvPicPr>
          <p:cNvPr id="6" name="Image 0" descr="../../repo/modulos/../../diag/lab02_paso1_tablas.png">    </p:cNvPr>
          <p:cNvPicPr>
            <a:picLocks noChangeAspect="1"/>
          </p:cNvPicPr>
          <p:nvPr/>
        </p:nvPicPr>
        <p:blipFill>
          <a:blip r:embed="rId1"/>
          <a:stretch>
            <a:fillRect/>
          </a:stretch>
        </p:blipFill>
        <p:spPr>
          <a:xfrm>
            <a:off x="1040554" y="1463040"/>
            <a:ext cx="10107843" cy="461772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¿Con qué datos vamos a trabajar?</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Lee tres tablas y une la generación con la ficha de cada central, como en el Lab 01.</a:t>
            </a:r>
            <a:endParaRPr lang="en-US" sz="1400" dirty="0"/>
          </a:p>
        </p:txBody>
      </p:sp>
      <p:sp>
        <p:nvSpPr>
          <p:cNvPr id="7" name="Shape 4"/>
          <p:cNvSpPr/>
          <p:nvPr/>
        </p:nvSpPr>
        <p:spPr>
          <a:xfrm>
            <a:off x="548640" y="1481328"/>
            <a:ext cx="11091672" cy="2948940"/>
          </a:xfrm>
          <a:prstGeom prst="roundRect">
            <a:avLst>
              <a:gd name="adj" fmla="val 1860"/>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10085832" cy="276606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DATOS = (</a:t>
            </a:r>
            <a:pPr indent="0" marL="0">
              <a:buNone/>
            </a:pPr>
            <a:r>
              <a:rPr lang="en-US" sz="1300" dirty="0">
                <a:solidFill>
                  <a:srgbClr val="A31515"/>
                </a:solidFill>
                <a:latin typeface="Courier New" pitchFamily="34" charset="0"/>
                <a:ea typeface="Courier New" pitchFamily="34" charset="-122"/>
                <a:cs typeface="Courier New" pitchFamily="34" charset="-120"/>
              </a:rPr>
              <a:t>"https://raw.githubusercontent.com/RodrigoMSB/"</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"curso-python-minergia/main/datos/"</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import pandas as pd</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centrales = pd.read_csv(DATOS + </a:t>
            </a:r>
            <a:pPr indent="0" marL="0">
              <a:buNone/>
            </a:pPr>
            <a:r>
              <a:rPr lang="en-US" sz="1300" dirty="0">
                <a:solidFill>
                  <a:srgbClr val="A31515"/>
                </a:solidFill>
                <a:latin typeface="Courier New" pitchFamily="34" charset="0"/>
                <a:ea typeface="Courier New" pitchFamily="34" charset="-122"/>
                <a:cs typeface="Courier New" pitchFamily="34" charset="-120"/>
              </a:rPr>
              <a:t>"centrales.csv"</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generacion = pd.read_csv(DATOS + </a:t>
            </a:r>
            <a:pPr indent="0" marL="0">
              <a:buNone/>
            </a:pPr>
            <a:r>
              <a:rPr lang="en-US" sz="1300" dirty="0">
                <a:solidFill>
                  <a:srgbClr val="A31515"/>
                </a:solidFill>
                <a:latin typeface="Courier New" pitchFamily="34" charset="0"/>
                <a:ea typeface="Courier New" pitchFamily="34" charset="-122"/>
                <a:cs typeface="Courier New" pitchFamily="34" charset="-120"/>
              </a:rPr>
              <a:t>"generacion.csv"</a:t>
            </a:r>
            <a:pPr indent="0" marL="0">
              <a:buNone/>
            </a:pPr>
            <a:r>
              <a:rPr lang="en-US" sz="1300" dirty="0">
                <a:solidFill>
                  <a:srgbClr val="202124"/>
                </a:solidFill>
                <a:latin typeface="Courier New" pitchFamily="34" charset="0"/>
                <a:ea typeface="Courier New" pitchFamily="34" charset="-122"/>
                <a:cs typeface="Courier New" pitchFamily="34" charset="-120"/>
              </a:rPr>
              <a:t>, parse_dates=[</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demanda = pd.read_csv(DATOS + </a:t>
            </a:r>
            <a:pPr indent="0" marL="0">
              <a:buNone/>
            </a:pPr>
            <a:r>
              <a:rPr lang="en-US" sz="1300" dirty="0">
                <a:solidFill>
                  <a:srgbClr val="A31515"/>
                </a:solidFill>
                <a:latin typeface="Courier New" pitchFamily="34" charset="0"/>
                <a:ea typeface="Courier New" pitchFamily="34" charset="-122"/>
                <a:cs typeface="Courier New" pitchFamily="34" charset="-120"/>
              </a:rPr>
              <a:t>"demanda.csv"</a:t>
            </a:r>
            <a:pPr indent="0" marL="0">
              <a:buNone/>
            </a:pPr>
            <a:r>
              <a:rPr lang="en-US" sz="1300" dirty="0">
                <a:solidFill>
                  <a:srgbClr val="202124"/>
                </a:solidFill>
                <a:latin typeface="Courier New" pitchFamily="34" charset="0"/>
                <a:ea typeface="Courier New" pitchFamily="34" charset="-122"/>
                <a:cs typeface="Courier New" pitchFamily="34" charset="-120"/>
              </a:rPr>
              <a:t>, parse_dates=[</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La generación de cada hora con la ficha de su central al lado.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gen = pd.merge(generacion, centrales, on=</a:t>
            </a:r>
            <a:pPr indent="0" marL="0">
              <a:buNone/>
            </a:pPr>
            <a:r>
              <a:rPr lang="en-US" sz="1300" dirty="0">
                <a:solidFill>
                  <a:srgbClr val="A31515"/>
                </a:solidFill>
                <a:latin typeface="Courier New" pitchFamily="34" charset="0"/>
                <a:ea typeface="Courier New" pitchFamily="34" charset="-122"/>
                <a:cs typeface="Courier New" pitchFamily="34" charset="-120"/>
              </a:rPr>
              <a:t>"central"</a:t>
            </a:r>
            <a:pPr indent="0" marL="0">
              <a:buNone/>
            </a:pPr>
            <a:r>
              <a:rPr lang="en-US" sz="1300" dirty="0">
                <a:solidFill>
                  <a:srgbClr val="202124"/>
                </a:solidFill>
                <a:latin typeface="Courier New" pitchFamily="34" charset="0"/>
                <a:ea typeface="Courier New" pitchFamily="34" charset="-122"/>
                <a:cs typeface="Courier New" pitchFamily="34" charset="-120"/>
              </a:rPr>
              <a:t>, how=</a:t>
            </a:r>
            <a:pPr indent="0" marL="0">
              <a:buNone/>
            </a:pPr>
            <a:r>
              <a:rPr lang="en-US" sz="1300" dirty="0">
                <a:solidFill>
                  <a:srgbClr val="A31515"/>
                </a:solidFill>
                <a:latin typeface="Courier New" pitchFamily="34" charset="0"/>
                <a:ea typeface="Courier New" pitchFamily="34" charset="-122"/>
                <a:cs typeface="Courier New" pitchFamily="34" charset="-120"/>
              </a:rPr>
              <a:t>"left"</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"Generación con ficha"</a:t>
            </a:r>
            <a:pPr indent="0" marL="0">
              <a:buNone/>
            </a:pPr>
            <a:r>
              <a:rPr lang="en-US" sz="1300" dirty="0">
                <a:solidFill>
                  <a:srgbClr val="202124"/>
                </a:solidFill>
                <a:latin typeface="Courier New" pitchFamily="34" charset="0"/>
                <a:ea typeface="Courier New" pitchFamily="34" charset="-122"/>
                <a:cs typeface="Courier New" pitchFamily="34" charset="-120"/>
              </a:rPr>
              <a:t>, gen.shape)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"Demanda             "</a:t>
            </a:r>
            <a:pPr indent="0" marL="0">
              <a:buNone/>
            </a:pPr>
            <a:r>
              <a:rPr lang="en-US" sz="1300" dirty="0">
                <a:solidFill>
                  <a:srgbClr val="202124"/>
                </a:solidFill>
                <a:latin typeface="Courier New" pitchFamily="34" charset="0"/>
                <a:ea typeface="Courier New" pitchFamily="34" charset="-122"/>
                <a:cs typeface="Courier New" pitchFamily="34" charset="-120"/>
              </a:rPr>
              <a:t>, demanda.shape)</a:t>
            </a:r>
            <a:endParaRPr lang="en-US" sz="1300" dirty="0"/>
          </a:p>
        </p:txBody>
      </p:sp>
      <p:sp>
        <p:nvSpPr>
          <p:cNvPr id="11" name="Text 8"/>
          <p:cNvSpPr txBox="1"/>
          <p:nvPr/>
        </p:nvSpPr>
        <p:spPr>
          <a:xfrm>
            <a:off x="1325880" y="446684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Text 10"/>
          <p:cNvSpPr txBox="1"/>
          <p:nvPr/>
        </p:nvSpPr>
        <p:spPr>
          <a:xfrm>
            <a:off x="548640" y="6089904"/>
            <a:ext cx="7315200" cy="457200"/>
          </a:xfrm>
          <a:prstGeom prst="rect">
            <a:avLst/>
          </a:prstGeom>
          <a:noFill/>
          <a:ln/>
        </p:spPr>
        <p:txBody>
          <a:bodyPr wrap="square" lIns="0" tIns="0" rIns="0" bIns="0" rtlCol="0" anchor="ctr"/>
          <a:lstStyle/>
          <a:p>
            <a:pPr indent="0" marL="0">
              <a:buNone/>
            </a:pPr>
            <a:r>
              <a:rPr lang="en-US" sz="1300" i="1" dirty="0">
                <a:solidFill>
                  <a:srgbClr val="5F6368"/>
                </a:solidFill>
                <a:latin typeface="Calibri" pitchFamily="34" charset="0"/>
                <a:ea typeface="Calibri" pitchFamily="34" charset="-122"/>
                <a:cs typeface="Calibri" pitchFamily="34" charset="-120"/>
              </a:rPr>
              <a:t>Todavía nada. La memoria está vacía.</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¿Con qué datos vamos a trabajar?</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gen = pd.merge(generacion, centrales, on=</a:t>
            </a:r>
            <a:pPr indent="0" marL="0">
              <a:buNone/>
            </a:pPr>
            <a:r>
              <a:rPr lang="en-US" sz="1600" dirty="0">
                <a:solidFill>
                  <a:srgbClr val="A31515"/>
                </a:solidFill>
                <a:latin typeface="Courier New" pitchFamily="34" charset="0"/>
                <a:ea typeface="Courier New" pitchFamily="34" charset="-122"/>
                <a:cs typeface="Courier New" pitchFamily="34" charset="-120"/>
              </a:rPr>
              <a:t>"central"</a:t>
            </a:r>
            <a:pPr indent="0" marL="0">
              <a:buNone/>
            </a:pPr>
            <a:r>
              <a:rPr lang="en-US" sz="1600" dirty="0">
                <a:solidFill>
                  <a:srgbClr val="202124"/>
                </a:solidFill>
                <a:latin typeface="Courier New" pitchFamily="34" charset="0"/>
                <a:ea typeface="Courier New" pitchFamily="34" charset="-122"/>
                <a:cs typeface="Courier New" pitchFamily="34" charset="-120"/>
              </a:rPr>
              <a:t>, how=</a:t>
            </a:r>
            <a:pPr indent="0" marL="0">
              <a:buNone/>
            </a:pPr>
            <a:r>
              <a:rPr lang="en-US" sz="1600" dirty="0">
                <a:solidFill>
                  <a:srgbClr val="A31515"/>
                </a:solidFill>
                <a:latin typeface="Courier New" pitchFamily="34" charset="0"/>
                <a:ea typeface="Courier New" pitchFamily="34" charset="-122"/>
                <a:cs typeface="Courier New" pitchFamily="34" charset="-120"/>
              </a:rPr>
              <a:t>"left"</a:t>
            </a:r>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p:txBody>
      </p:sp>
      <p:sp>
        <p:nvSpPr>
          <p:cNvPr id="8" name="Shape 6"/>
          <p:cNvSpPr/>
          <p:nvPr/>
        </p:nvSpPr>
        <p:spPr>
          <a:xfrm>
            <a:off x="548640" y="2375408"/>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754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1996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pd.merge(generacion, centrales, ...)</a:t>
            </a:r>
            <a:endParaRPr lang="en-US" sz="1400" dirty="0"/>
          </a:p>
        </p:txBody>
      </p:sp>
      <p:sp>
        <p:nvSpPr>
          <p:cNvPr id="12" name="Text 10"/>
          <p:cNvSpPr txBox="1"/>
          <p:nvPr/>
        </p:nvSpPr>
        <p:spPr>
          <a:xfrm>
            <a:off x="6263640" y="221996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Une la generación de cada hora con la tabla de centrales.</a:t>
            </a:r>
            <a:endParaRPr lang="en-US" sz="1600" dirty="0"/>
          </a:p>
        </p:txBody>
      </p:sp>
      <p:sp>
        <p:nvSpPr>
          <p:cNvPr id="13" name="Shape 11"/>
          <p:cNvSpPr/>
          <p:nvPr/>
        </p:nvSpPr>
        <p:spPr>
          <a:xfrm>
            <a:off x="548640" y="3052064"/>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05206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51480"/>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295148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on="central"</a:t>
            </a:r>
            <a:endParaRPr lang="en-US" sz="1400" dirty="0"/>
          </a:p>
        </p:txBody>
      </p:sp>
      <p:sp>
        <p:nvSpPr>
          <p:cNvPr id="17" name="Text 15"/>
          <p:cNvSpPr txBox="1"/>
          <p:nvPr/>
        </p:nvSpPr>
        <p:spPr>
          <a:xfrm>
            <a:off x="6263640" y="295148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Busca la pareja por el nombre de la central.</a:t>
            </a:r>
            <a:endParaRPr lang="en-US" sz="1600" dirty="0"/>
          </a:p>
        </p:txBody>
      </p:sp>
      <p:sp>
        <p:nvSpPr>
          <p:cNvPr id="18" name="Shape 16"/>
          <p:cNvSpPr/>
          <p:nvPr/>
        </p:nvSpPr>
        <p:spPr>
          <a:xfrm>
            <a:off x="548640" y="3728720"/>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7287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573272"/>
            <a:ext cx="4937760" cy="640080"/>
          </a:xfrm>
          <a:prstGeom prst="roundRect">
            <a:avLst>
              <a:gd name="adj" fmla="val 7143"/>
            </a:avLst>
          </a:prstGeom>
          <a:solidFill>
            <a:srgbClr val="FDF0C8"/>
          </a:solidFill>
          <a:ln w="12700">
            <a:solidFill>
              <a:srgbClr val="FDF0C8"/>
            </a:solidFill>
            <a:prstDash val="solid"/>
          </a:ln>
        </p:spPr>
      </p:sp>
      <p:sp>
        <p:nvSpPr>
          <p:cNvPr id="21" name="Text 19"/>
          <p:cNvSpPr txBox="1"/>
          <p:nvPr/>
        </p:nvSpPr>
        <p:spPr>
          <a:xfrm>
            <a:off x="1170432" y="357327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how="left"</a:t>
            </a:r>
            <a:endParaRPr lang="en-US" sz="1400" dirty="0"/>
          </a:p>
        </p:txBody>
      </p:sp>
      <p:sp>
        <p:nvSpPr>
          <p:cNvPr id="22" name="Text 20"/>
          <p:cNvSpPr txBox="1"/>
          <p:nvPr/>
        </p:nvSpPr>
        <p:spPr>
          <a:xfrm>
            <a:off x="6263640" y="357327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Conserva toda la generación, aunque alguna central no tuviera ficha. Lo vimos en el Lab 01.</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a cada hora de generación le pega la ficha de su central y lo guarda como gen.</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¿Con qué datos vamos a trabajar?</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Lee tres tablas y une la generación con la ficha de cada central, como en el Lab 01.</a:t>
            </a:r>
            <a:endParaRPr lang="en-US" sz="1400" dirty="0"/>
          </a:p>
        </p:txBody>
      </p:sp>
      <p:sp>
        <p:nvSpPr>
          <p:cNvPr id="6" name="Shape 4"/>
          <p:cNvSpPr/>
          <p:nvPr/>
        </p:nvSpPr>
        <p:spPr>
          <a:xfrm>
            <a:off x="548640" y="1481328"/>
            <a:ext cx="11091672" cy="2711196"/>
          </a:xfrm>
          <a:prstGeom prst="roundRect">
            <a:avLst>
              <a:gd name="adj" fmla="val 2024"/>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10085832" cy="2528316"/>
          </a:xfrm>
          <a:prstGeom prst="rect">
            <a:avLst/>
          </a:prstGeom>
          <a:noFill/>
          <a:ln/>
        </p:spPr>
        <p:txBody>
          <a:bodyPr wrap="square" lIns="0" tIns="0" rIns="0" bIns="0" rtlCol="0" anchor="t"/>
          <a:lstStyle/>
          <a:p>
            <a:pPr indent="0" marL="0">
              <a:buNone/>
            </a:pPr>
            <a:r>
              <a:rPr lang="en-US" sz="1200" i="1" dirty="0">
                <a:solidFill>
                  <a:srgbClr val="188038"/>
                </a:solidFill>
                <a:latin typeface="Courier New" pitchFamily="34" charset="0"/>
                <a:ea typeface="Courier New" pitchFamily="34" charset="-122"/>
                <a:cs typeface="Courier New" pitchFamily="34" charset="-120"/>
              </a:rPr>
              <a:t># Paso 1</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DATOS = (</a:t>
            </a:r>
            <a:pPr indent="0" marL="0">
              <a:buNone/>
            </a:pPr>
            <a:r>
              <a:rPr lang="en-US" sz="1200" dirty="0">
                <a:solidFill>
                  <a:srgbClr val="A31515"/>
                </a:solidFill>
                <a:latin typeface="Courier New" pitchFamily="34" charset="0"/>
                <a:ea typeface="Courier New" pitchFamily="34" charset="-122"/>
                <a:cs typeface="Courier New" pitchFamily="34" charset="-120"/>
              </a:rPr>
              <a:t>"https://raw.githubusercontent.com/RodrigoMSB/"</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t>
            </a:r>
            <a:pPr indent="0" marL="0">
              <a:buNone/>
            </a:pPr>
            <a:r>
              <a:rPr lang="en-US" sz="1200" dirty="0">
                <a:solidFill>
                  <a:srgbClr val="A31515"/>
                </a:solidFill>
                <a:latin typeface="Courier New" pitchFamily="34" charset="0"/>
                <a:ea typeface="Courier New" pitchFamily="34" charset="-122"/>
                <a:cs typeface="Courier New" pitchFamily="34" charset="-120"/>
              </a:rPr>
              <a:t>"curso-python-minergia/main/datos/"</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import pandas as pd</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centrales = pd.read_csv(DATOS + </a:t>
            </a:r>
            <a:pPr indent="0" marL="0">
              <a:buNone/>
            </a:pPr>
            <a:r>
              <a:rPr lang="en-US" sz="1200" dirty="0">
                <a:solidFill>
                  <a:srgbClr val="A31515"/>
                </a:solidFill>
                <a:latin typeface="Courier New" pitchFamily="34" charset="0"/>
                <a:ea typeface="Courier New" pitchFamily="34" charset="-122"/>
                <a:cs typeface="Courier New" pitchFamily="34" charset="-120"/>
              </a:rPr>
              <a:t>"centrales.csv"</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generacion = pd.read_csv(DATOS + </a:t>
            </a:r>
            <a:pPr indent="0" marL="0">
              <a:buNone/>
            </a:pPr>
            <a:r>
              <a:rPr lang="en-US" sz="1200" dirty="0">
                <a:solidFill>
                  <a:srgbClr val="A31515"/>
                </a:solidFill>
                <a:latin typeface="Courier New" pitchFamily="34" charset="0"/>
                <a:ea typeface="Courier New" pitchFamily="34" charset="-122"/>
                <a:cs typeface="Courier New" pitchFamily="34" charset="-120"/>
              </a:rPr>
              <a:t>"generacion.csv"</a:t>
            </a:r>
            <a:pPr indent="0" marL="0">
              <a:buNone/>
            </a:pPr>
            <a:r>
              <a:rPr lang="en-US" sz="1200" dirty="0">
                <a:solidFill>
                  <a:srgbClr val="202124"/>
                </a:solidFill>
                <a:latin typeface="Courier New" pitchFamily="34" charset="0"/>
                <a:ea typeface="Courier New" pitchFamily="34" charset="-122"/>
                <a:cs typeface="Courier New" pitchFamily="34" charset="-120"/>
              </a:rPr>
              <a:t>, parse_dates=[</a:t>
            </a:r>
            <a:pPr indent="0" marL="0">
              <a:buNone/>
            </a:pPr>
            <a:r>
              <a:rPr lang="en-US" sz="1200" dirty="0">
                <a:solidFill>
                  <a:srgbClr val="A31515"/>
                </a:solidFill>
                <a:latin typeface="Courier New" pitchFamily="34" charset="0"/>
                <a:ea typeface="Courier New" pitchFamily="34" charset="-122"/>
                <a:cs typeface="Courier New" pitchFamily="34" charset="-120"/>
              </a:rPr>
              <a:t>"fecha"</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demanda = pd.read_csv(DATOS + </a:t>
            </a:r>
            <a:pPr indent="0" marL="0">
              <a:buNone/>
            </a:pPr>
            <a:r>
              <a:rPr lang="en-US" sz="1200" dirty="0">
                <a:solidFill>
                  <a:srgbClr val="A31515"/>
                </a:solidFill>
                <a:latin typeface="Courier New" pitchFamily="34" charset="0"/>
                <a:ea typeface="Courier New" pitchFamily="34" charset="-122"/>
                <a:cs typeface="Courier New" pitchFamily="34" charset="-120"/>
              </a:rPr>
              <a:t>"demanda.csv"</a:t>
            </a:r>
            <a:pPr indent="0" marL="0">
              <a:buNone/>
            </a:pPr>
            <a:r>
              <a:rPr lang="en-US" sz="1200" dirty="0">
                <a:solidFill>
                  <a:srgbClr val="202124"/>
                </a:solidFill>
                <a:latin typeface="Courier New" pitchFamily="34" charset="0"/>
                <a:ea typeface="Courier New" pitchFamily="34" charset="-122"/>
                <a:cs typeface="Courier New" pitchFamily="34" charset="-120"/>
              </a:rPr>
              <a:t>, parse_dates=[</a:t>
            </a:r>
            <a:pPr indent="0" marL="0">
              <a:buNone/>
            </a:pPr>
            <a:r>
              <a:rPr lang="en-US" sz="1200" dirty="0">
                <a:solidFill>
                  <a:srgbClr val="A31515"/>
                </a:solidFill>
                <a:latin typeface="Courier New" pitchFamily="34" charset="0"/>
                <a:ea typeface="Courier New" pitchFamily="34" charset="-122"/>
                <a:cs typeface="Courier New" pitchFamily="34" charset="-120"/>
              </a:rPr>
              <a:t>"fecha"</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t>
            </a:r>
            <a:endParaRPr lang="en-US" sz="1200" dirty="0"/>
          </a:p>
          <a:p>
            <a:pPr indent="0" marL="0">
              <a:buNone/>
            </a:pPr>
            <a:r>
              <a:rPr lang="en-US" sz="1200" i="1" dirty="0">
                <a:solidFill>
                  <a:srgbClr val="188038"/>
                </a:solidFill>
                <a:latin typeface="Courier New" pitchFamily="34" charset="0"/>
                <a:ea typeface="Courier New" pitchFamily="34" charset="-122"/>
                <a:cs typeface="Courier New" pitchFamily="34" charset="-120"/>
              </a:rPr>
              <a:t># La generación de cada hora con la ficha de su central al lado.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gen = pd.merge(generacion, centrales, on=</a:t>
            </a:r>
            <a:pPr indent="0" marL="0">
              <a:buNone/>
            </a:pPr>
            <a:r>
              <a:rPr lang="en-US" sz="1200" dirty="0">
                <a:solidFill>
                  <a:srgbClr val="A31515"/>
                </a:solidFill>
                <a:latin typeface="Courier New" pitchFamily="34" charset="0"/>
                <a:ea typeface="Courier New" pitchFamily="34" charset="-122"/>
                <a:cs typeface="Courier New" pitchFamily="34" charset="-120"/>
              </a:rPr>
              <a:t>"central"</a:t>
            </a:r>
            <a:pPr indent="0" marL="0">
              <a:buNone/>
            </a:pPr>
            <a:r>
              <a:rPr lang="en-US" sz="1200" dirty="0">
                <a:solidFill>
                  <a:srgbClr val="202124"/>
                </a:solidFill>
                <a:latin typeface="Courier New" pitchFamily="34" charset="0"/>
                <a:ea typeface="Courier New" pitchFamily="34" charset="-122"/>
                <a:cs typeface="Courier New" pitchFamily="34" charset="-120"/>
              </a:rPr>
              <a:t>, how=</a:t>
            </a:r>
            <a:pPr indent="0" marL="0">
              <a:buNone/>
            </a:pPr>
            <a:r>
              <a:rPr lang="en-US" sz="1200" dirty="0">
                <a:solidFill>
                  <a:srgbClr val="A31515"/>
                </a:solidFill>
                <a:latin typeface="Courier New" pitchFamily="34" charset="0"/>
                <a:ea typeface="Courier New" pitchFamily="34" charset="-122"/>
                <a:cs typeface="Courier New" pitchFamily="34" charset="-120"/>
              </a:rPr>
              <a:t>"left"</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"Generación con ficha"</a:t>
            </a:r>
            <a:pPr indent="0" marL="0">
              <a:buNone/>
            </a:pPr>
            <a:r>
              <a:rPr lang="en-US" sz="1200" dirty="0">
                <a:solidFill>
                  <a:srgbClr val="202124"/>
                </a:solidFill>
                <a:latin typeface="Courier New" pitchFamily="34" charset="0"/>
                <a:ea typeface="Courier New" pitchFamily="34" charset="-122"/>
                <a:cs typeface="Courier New" pitchFamily="34" charset="-120"/>
              </a:rPr>
              <a:t>, gen.shape)</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"Demanda             "</a:t>
            </a:r>
            <a:pPr indent="0" marL="0">
              <a:buNone/>
            </a:pPr>
            <a:r>
              <a:rPr lang="en-US" sz="1200" dirty="0">
                <a:solidFill>
                  <a:srgbClr val="202124"/>
                </a:solidFill>
                <a:latin typeface="Courier New" pitchFamily="34" charset="0"/>
                <a:ea typeface="Courier New" pitchFamily="34" charset="-122"/>
                <a:cs typeface="Courier New" pitchFamily="34" charset="-120"/>
              </a:rPr>
              <a:t>, demanda.shape)</a:t>
            </a:r>
            <a:endParaRPr lang="en-US" sz="1200" dirty="0"/>
          </a:p>
        </p:txBody>
      </p:sp>
      <p:sp>
        <p:nvSpPr>
          <p:cNvPr id="10" name="Shape 8"/>
          <p:cNvSpPr/>
          <p:nvPr/>
        </p:nvSpPr>
        <p:spPr>
          <a:xfrm>
            <a:off x="1325880" y="4302252"/>
            <a:ext cx="10314432" cy="585216"/>
          </a:xfrm>
          <a:prstGeom prst="rect">
            <a:avLst/>
          </a:prstGeom>
          <a:solidFill>
            <a:srgbClr val="FFFFFF"/>
          </a:solidFill>
          <a:ln w="12700">
            <a:solidFill>
              <a:srgbClr val="DADCE0"/>
            </a:solidFill>
            <a:prstDash val="solid"/>
          </a:ln>
        </p:spPr>
      </p:sp>
      <p:sp>
        <p:nvSpPr>
          <p:cNvPr id="11" name="Text 9"/>
          <p:cNvSpPr txBox="1"/>
          <p:nvPr/>
        </p:nvSpPr>
        <p:spPr>
          <a:xfrm>
            <a:off x="1463040" y="4375404"/>
            <a:ext cx="10085832" cy="457200"/>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Generación con ficha (175680, 8)</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Demanda              (61488, 4)</a:t>
            </a:r>
            <a:endParaRPr lang="en-US" sz="1200" dirty="0"/>
          </a:p>
        </p:txBody>
      </p:sp>
      <p:sp>
        <p:nvSpPr>
          <p:cNvPr id="12" name="Shape 10"/>
          <p:cNvSpPr/>
          <p:nvPr/>
        </p:nvSpPr>
        <p:spPr>
          <a:xfrm>
            <a:off x="1325880" y="5024628"/>
            <a:ext cx="10314432" cy="566928"/>
          </a:xfrm>
          <a:prstGeom prst="roundRect">
            <a:avLst>
              <a:gd name="adj" fmla="val 9677"/>
            </a:avLst>
          </a:prstGeom>
          <a:solidFill>
            <a:srgbClr val="FFF8D6"/>
          </a:solidFill>
          <a:ln w="12700">
            <a:solidFill>
              <a:srgbClr val="FFF8D6"/>
            </a:solidFill>
            <a:prstDash val="solid"/>
          </a:ln>
        </p:spPr>
      </p:sp>
      <p:sp>
        <p:nvSpPr>
          <p:cNvPr id="13" name="Text 11"/>
          <p:cNvSpPr txBox="1"/>
          <p:nvPr/>
        </p:nvSpPr>
        <p:spPr>
          <a:xfrm>
            <a:off x="1508760" y="5024628"/>
            <a:ext cx="9948672" cy="566928"/>
          </a:xfrm>
          <a:prstGeom prst="rect">
            <a:avLst/>
          </a:prstGeom>
          <a:noFill/>
          <a:ln/>
        </p:spPr>
        <p:txBody>
          <a:bodyPr wrap="square" lIns="0" tIns="0" rIns="0" bIns="0" rtlCol="0" anchor="ctr"/>
          <a:lstStyle/>
          <a:p>
            <a:pPr indent="0" marL="0">
              <a:buNone/>
            </a:pPr>
            <a:r>
              <a:rPr lang="en-US" sz="1400" b="1" dirty="0">
                <a:solidFill>
                  <a:srgbClr val="8A6D00"/>
                </a:solidFill>
                <a:latin typeface="Calibri" pitchFamily="34" charset="0"/>
                <a:ea typeface="Calibri" pitchFamily="34" charset="-122"/>
                <a:cs typeface="Calibri" pitchFamily="34" charset="-120"/>
              </a:rPr>
              <a:t>gen es la generación de cada hora con la ficha de su central.  </a:t>
            </a:r>
            <a:pPr indent="0" marL="0">
              <a:buNone/>
            </a:pPr>
            <a:r>
              <a:rPr lang="en-US" sz="1400" dirty="0">
                <a:solidFill>
                  <a:srgbClr val="202124"/>
                </a:solidFill>
                <a:latin typeface="Calibri" pitchFamily="34" charset="0"/>
                <a:ea typeface="Calibri" pitchFamily="34" charset="-122"/>
                <a:cs typeface="Calibri" pitchFamily="34" charset="-120"/>
              </a:rPr>
              <a:t>Se arma una vez al comienzo y todos los pasos siguientes trabajan sobre ella.</a:t>
            </a:r>
            <a:endParaRPr lang="en-US" sz="1400" dirty="0"/>
          </a:p>
        </p:txBody>
      </p:sp>
      <p:sp>
        <p:nvSpPr>
          <p:cNvPr id="15" name="Text 12"/>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6" name="Shape 13"/>
          <p:cNvSpPr/>
          <p:nvPr/>
        </p:nvSpPr>
        <p:spPr>
          <a:xfrm>
            <a:off x="548640" y="6062472"/>
            <a:ext cx="2770632" cy="566928"/>
          </a:xfrm>
          <a:prstGeom prst="roundRect">
            <a:avLst>
              <a:gd name="adj" fmla="val 11290"/>
            </a:avLst>
          </a:prstGeom>
          <a:solidFill>
            <a:srgbClr val="FEF3D6"/>
          </a:solidFill>
          <a:ln w="25400">
            <a:solidFill>
              <a:srgbClr val="F9AB00"/>
            </a:solidFill>
            <a:prstDash val="solid"/>
          </a:ln>
        </p:spPr>
      </p:sp>
      <p:sp>
        <p:nvSpPr>
          <p:cNvPr id="17" name="Text 14"/>
          <p:cNvSpPr txBox="1"/>
          <p:nvPr/>
        </p:nvSpPr>
        <p:spPr>
          <a:xfrm>
            <a:off x="64008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8" name="Shape 15"/>
          <p:cNvSpPr/>
          <p:nvPr/>
        </p:nvSpPr>
        <p:spPr>
          <a:xfrm>
            <a:off x="3456432" y="6062472"/>
            <a:ext cx="1143000" cy="566928"/>
          </a:xfrm>
          <a:prstGeom prst="roundRect">
            <a:avLst>
              <a:gd name="adj" fmla="val 11290"/>
            </a:avLst>
          </a:prstGeom>
          <a:solidFill>
            <a:srgbClr val="FEF3D6"/>
          </a:solidFill>
          <a:ln w="25400">
            <a:solidFill>
              <a:srgbClr val="F9AB00"/>
            </a:solidFill>
            <a:prstDash val="solid"/>
          </a:ln>
        </p:spPr>
      </p:sp>
      <p:sp>
        <p:nvSpPr>
          <p:cNvPr id="19" name="Text 16"/>
          <p:cNvSpPr txBox="1"/>
          <p:nvPr/>
        </p:nvSpPr>
        <p:spPr>
          <a:xfrm>
            <a:off x="35478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20" name="Shape 17"/>
          <p:cNvSpPr/>
          <p:nvPr/>
        </p:nvSpPr>
        <p:spPr>
          <a:xfrm>
            <a:off x="4736592" y="6062472"/>
            <a:ext cx="1426464" cy="566928"/>
          </a:xfrm>
          <a:prstGeom prst="roundRect">
            <a:avLst>
              <a:gd name="adj" fmla="val 11290"/>
            </a:avLst>
          </a:prstGeom>
          <a:solidFill>
            <a:srgbClr val="FEF3D6"/>
          </a:solidFill>
          <a:ln w="25400">
            <a:solidFill>
              <a:srgbClr val="F9AB00"/>
            </a:solidFill>
            <a:prstDash val="solid"/>
          </a:ln>
        </p:spPr>
      </p:sp>
      <p:sp>
        <p:nvSpPr>
          <p:cNvPr id="21" name="Text 18"/>
          <p:cNvSpPr txBox="1"/>
          <p:nvPr/>
        </p:nvSpPr>
        <p:spPr>
          <a:xfrm>
            <a:off x="4828032"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22" name="Shape 19"/>
          <p:cNvSpPr/>
          <p:nvPr/>
        </p:nvSpPr>
        <p:spPr>
          <a:xfrm>
            <a:off x="6300216" y="6062472"/>
            <a:ext cx="1810512" cy="566928"/>
          </a:xfrm>
          <a:prstGeom prst="roundRect">
            <a:avLst>
              <a:gd name="adj" fmla="val 11290"/>
            </a:avLst>
          </a:prstGeom>
          <a:solidFill>
            <a:srgbClr val="FEF3D6"/>
          </a:solidFill>
          <a:ln w="25400">
            <a:solidFill>
              <a:srgbClr val="F9AB00"/>
            </a:solidFill>
            <a:prstDash val="solid"/>
          </a:ln>
        </p:spPr>
      </p:sp>
      <p:sp>
        <p:nvSpPr>
          <p:cNvPr id="23" name="Text 20"/>
          <p:cNvSpPr txBox="1"/>
          <p:nvPr/>
        </p:nvSpPr>
        <p:spPr>
          <a:xfrm>
            <a:off x="6391656"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generacion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175680 × 4</a:t>
            </a:r>
            <a:endParaRPr lang="en-US" sz="1200" dirty="0"/>
          </a:p>
        </p:txBody>
      </p:sp>
      <p:sp>
        <p:nvSpPr>
          <p:cNvPr id="24" name="Shape 21"/>
          <p:cNvSpPr/>
          <p:nvPr/>
        </p:nvSpPr>
        <p:spPr>
          <a:xfrm>
            <a:off x="8247888" y="6062472"/>
            <a:ext cx="1714500" cy="566928"/>
          </a:xfrm>
          <a:prstGeom prst="roundRect">
            <a:avLst>
              <a:gd name="adj" fmla="val 11290"/>
            </a:avLst>
          </a:prstGeom>
          <a:solidFill>
            <a:srgbClr val="FEF3D6"/>
          </a:solidFill>
          <a:ln w="25400">
            <a:solidFill>
              <a:srgbClr val="F9AB00"/>
            </a:solidFill>
            <a:prstDash val="solid"/>
          </a:ln>
        </p:spPr>
      </p:sp>
      <p:sp>
        <p:nvSpPr>
          <p:cNvPr id="25" name="Text 22"/>
          <p:cNvSpPr txBox="1"/>
          <p:nvPr/>
        </p:nvSpPr>
        <p:spPr>
          <a:xfrm>
            <a:off x="8339328"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demanda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26" name="Text 23"/>
          <p:cNvSpPr txBox="1"/>
          <p:nvPr/>
        </p:nvSpPr>
        <p:spPr>
          <a:xfrm>
            <a:off x="10099548"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 más</a:t>
            </a:r>
            <a:endParaRPr lang="en-US" sz="1200" dirty="0"/>
          </a:p>
        </p:txBody>
      </p:sp>
      <p:sp>
        <p:nvSpPr>
          <p:cNvPr id="27" name="Text 24"/>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Tres tablas leídas y una unión. gen tiene la generación de cada hora con la ficha de su central.</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filtra con dos condiciones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cómo se combinan las dos condiciones.</a:t>
            </a:r>
            <a:endParaRPr lang="en-US" sz="1400" dirty="0"/>
          </a:p>
        </p:txBody>
      </p:sp>
      <p:pic>
        <p:nvPicPr>
          <p:cNvPr id="6" name="Image 0" descr="../../repo/modulos/../../diag/lab02_paso2_dos_condiciones.png">    </p:cNvPr>
          <p:cNvPicPr>
            <a:picLocks noChangeAspect="1"/>
          </p:cNvPicPr>
          <p:nvPr/>
        </p:nvPicPr>
        <p:blipFill>
          <a:blip r:embed="rId1"/>
          <a:stretch>
            <a:fillRect/>
          </a:stretch>
        </p:blipFill>
        <p:spPr>
          <a:xfrm>
            <a:off x="548640" y="1463040"/>
            <a:ext cx="11091672" cy="438495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filtra con dos condiciones</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una tecnología y una región en las listas y vuelve a correr la celda.</a:t>
            </a:r>
            <a:endParaRPr lang="en-US" sz="1400" dirty="0"/>
          </a:p>
        </p:txBody>
      </p:sp>
      <p:sp>
        <p:nvSpPr>
          <p:cNvPr id="7" name="Shape 4"/>
          <p:cNvSpPr/>
          <p:nvPr/>
        </p:nvSpPr>
        <p:spPr>
          <a:xfrm>
            <a:off x="548640" y="1481328"/>
            <a:ext cx="11091672" cy="2948940"/>
          </a:xfrm>
          <a:prstGeom prst="roundRect">
            <a:avLst>
              <a:gd name="adj" fmla="val 1860"/>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276606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2</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tecnologia = </a:t>
            </a:r>
            <a:pPr indent="0" marL="0">
              <a:buNone/>
            </a:pPr>
            <a:r>
              <a:rPr lang="en-US" sz="1300" dirty="0">
                <a:solidFill>
                  <a:srgbClr val="A31515"/>
                </a:solidFill>
                <a:latin typeface="Courier New" pitchFamily="34" charset="0"/>
                <a:ea typeface="Courier New" pitchFamily="34" charset="-122"/>
                <a:cs typeface="Courier New" pitchFamily="34" charset="-120"/>
              </a:rPr>
              <a:t>"solar"</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["hidro", "solar", "eolica", "gas", "carbon", "diesel"]</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region = </a:t>
            </a:r>
            <a:pPr indent="0" marL="0">
              <a:buNone/>
            </a:pPr>
            <a:r>
              <a:rPr lang="en-US" sz="1300" dirty="0">
                <a:solidFill>
                  <a:srgbClr val="A31515"/>
                </a:solidFill>
                <a:latin typeface="Courier New" pitchFamily="34" charset="0"/>
                <a:ea typeface="Courier New" pitchFamily="34" charset="-122"/>
                <a:cs typeface="Courier New" pitchFamily="34" charset="-120"/>
              </a:rPr>
              <a:t>"Antofagasta"</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["Antofagasta", "Atacama", "Coquimbo", "Valparaíso", "Metropolitana", "Biobío", "Los Lagos"]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El signo &amp; se lee como "y". Cada condición va entre paréntesis.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elegidas = gen[(gen[</a:t>
            </a:r>
            <a:pPr indent="0" marL="0">
              <a:buNone/>
            </a:pPr>
            <a:r>
              <a:rPr lang="en-US" sz="1300" dirty="0">
                <a:solidFill>
                  <a:srgbClr val="A31515"/>
                </a:solidFill>
                <a:latin typeface="Courier New" pitchFamily="34" charset="0"/>
                <a:ea typeface="Courier New" pitchFamily="34" charset="-122"/>
                <a:cs typeface="Courier New" pitchFamily="34" charset="-120"/>
              </a:rPr>
              <a:t>"tecnologia"</a:t>
            </a:r>
            <a:pPr indent="0" marL="0">
              <a:buNone/>
            </a:pPr>
            <a:r>
              <a:rPr lang="en-US" sz="1300" dirty="0">
                <a:solidFill>
                  <a:srgbClr val="202124"/>
                </a:solidFill>
                <a:latin typeface="Courier New" pitchFamily="34" charset="0"/>
                <a:ea typeface="Courier New" pitchFamily="34" charset="-122"/>
                <a:cs typeface="Courier New" pitchFamily="34" charset="-120"/>
              </a:rPr>
              <a:t>] == tecnologia) &amp; (gen[</a:t>
            </a:r>
            <a:pPr indent="0" marL="0">
              <a:buNone/>
            </a:pPr>
            <a:r>
              <a:rPr lang="en-US" sz="1300" dirty="0">
                <a:solidFill>
                  <a:srgbClr val="A31515"/>
                </a:solidFill>
                <a:latin typeface="Courier New" pitchFamily="34" charset="0"/>
                <a:ea typeface="Courier New" pitchFamily="34" charset="-122"/>
                <a:cs typeface="Courier New" pitchFamily="34" charset="-120"/>
              </a:rPr>
              <a:t>"region"</a:t>
            </a:r>
            <a:pPr indent="0" marL="0">
              <a:buNone/>
            </a:pPr>
            <a:r>
              <a:rPr lang="en-US" sz="1300" dirty="0">
                <a:solidFill>
                  <a:srgbClr val="202124"/>
                </a:solidFill>
                <a:latin typeface="Courier New" pitchFamily="34" charset="0"/>
                <a:ea typeface="Courier New" pitchFamily="34" charset="-122"/>
                <a:cs typeface="Courier New" pitchFamily="34" charset="-120"/>
              </a:rPr>
              <a:t>] == region)]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"Filas encontradas"</a:t>
            </a:r>
            <a:pPr indent="0" marL="0">
              <a:buNone/>
            </a:pPr>
            <a:r>
              <a:rPr lang="en-US" sz="1300" dirty="0">
                <a:solidFill>
                  <a:srgbClr val="202124"/>
                </a:solidFill>
                <a:latin typeface="Courier New" pitchFamily="34" charset="0"/>
                <a:ea typeface="Courier New" pitchFamily="34" charset="-122"/>
                <a:cs typeface="Courier New" pitchFamily="34" charset="-120"/>
              </a:rPr>
              <a:t>, len(elegidas))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total = round(elegidas[</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].sum())</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 Generación de {tecnologia} en {region}"</a:t>
            </a:r>
            <a:pPr indent="0" marL="0">
              <a:buNone/>
            </a:pPr>
            <a:r>
              <a:rPr lang="en-US" sz="1300" dirty="0">
                <a:solidFill>
                  <a:srgbClr val="202124"/>
                </a:solidFill>
                <a:latin typeface="Courier New" pitchFamily="34" charset="0"/>
                <a:ea typeface="Courier New" pitchFamily="34" charset="-122"/>
                <a:cs typeface="Courier New" pitchFamily="34" charset="-120"/>
              </a:rPr>
              <a:t>, total, </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tecnologia</a:t>
            </a:r>
            <a:endParaRPr lang="en-US" sz="1100" dirty="0"/>
          </a:p>
        </p:txBody>
      </p:sp>
      <p:sp>
        <p:nvSpPr>
          <p:cNvPr id="12"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3"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solar</a:t>
            </a:r>
            <a:endParaRPr lang="en-US" sz="1200" dirty="0"/>
          </a:p>
        </p:txBody>
      </p:sp>
      <p:sp>
        <p:nvSpPr>
          <p:cNvPr id="14"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5" name="Text 12"/>
          <p:cNvSpPr txBox="1"/>
          <p:nvPr/>
        </p:nvSpPr>
        <p:spPr>
          <a:xfrm>
            <a:off x="8823960" y="235000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region</a:t>
            </a:r>
            <a:endParaRPr lang="en-US" sz="1100" dirty="0"/>
          </a:p>
        </p:txBody>
      </p:sp>
      <p:sp>
        <p:nvSpPr>
          <p:cNvPr id="16" name="Shape 13"/>
          <p:cNvSpPr/>
          <p:nvPr/>
        </p:nvSpPr>
        <p:spPr>
          <a:xfrm>
            <a:off x="8823960" y="2606040"/>
            <a:ext cx="2651760" cy="347472"/>
          </a:xfrm>
          <a:prstGeom prst="rect">
            <a:avLst/>
          </a:prstGeom>
          <a:solidFill>
            <a:srgbClr val="FFFFFF"/>
          </a:solidFill>
          <a:ln w="12700">
            <a:solidFill>
              <a:srgbClr val="9AA0A6"/>
            </a:solidFill>
            <a:prstDash val="solid"/>
          </a:ln>
        </p:spPr>
      </p:sp>
      <p:sp>
        <p:nvSpPr>
          <p:cNvPr id="17" name="Text 14"/>
          <p:cNvSpPr txBox="1"/>
          <p:nvPr/>
        </p:nvSpPr>
        <p:spPr>
          <a:xfrm>
            <a:off x="8915400" y="260604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Antofagasta</a:t>
            </a:r>
            <a:endParaRPr lang="en-US" sz="1200" dirty="0"/>
          </a:p>
        </p:txBody>
      </p:sp>
      <p:sp>
        <p:nvSpPr>
          <p:cNvPr id="18" name="Shape 15"/>
          <p:cNvSpPr/>
          <p:nvPr/>
        </p:nvSpPr>
        <p:spPr>
          <a:xfrm rot="10800000">
            <a:off x="11201400" y="2743200"/>
            <a:ext cx="128016" cy="82296"/>
          </a:xfrm>
          <a:prstGeom prst="triangle">
            <a:avLst/>
          </a:prstGeom>
          <a:solidFill>
            <a:srgbClr val="5F6368"/>
          </a:solidFill>
          <a:ln w="12700">
            <a:solidFill>
              <a:srgbClr val="5F6368"/>
            </a:solidFill>
            <a:prstDash val="solid"/>
          </a:ln>
        </p:spPr>
      </p:sp>
      <p:sp>
        <p:nvSpPr>
          <p:cNvPr id="19" name="Text 16"/>
          <p:cNvSpPr txBox="1"/>
          <p:nvPr/>
        </p:nvSpPr>
        <p:spPr>
          <a:xfrm>
            <a:off x="1325880" y="446684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20" name="Text 1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21" name="Shape 18"/>
          <p:cNvSpPr/>
          <p:nvPr/>
        </p:nvSpPr>
        <p:spPr>
          <a:xfrm>
            <a:off x="548640" y="6062472"/>
            <a:ext cx="1810512"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640080"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gen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175680 × 8</a:t>
            </a:r>
            <a:endParaRPr lang="en-US" sz="1200" dirty="0"/>
          </a:p>
        </p:txBody>
      </p:sp>
      <p:sp>
        <p:nvSpPr>
          <p:cNvPr id="23" name="Shape 20"/>
          <p:cNvSpPr/>
          <p:nvPr/>
        </p:nvSpPr>
        <p:spPr>
          <a:xfrm>
            <a:off x="2496312" y="6062472"/>
            <a:ext cx="1714500"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2587752"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demanda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25" name="Shape 22"/>
          <p:cNvSpPr/>
          <p:nvPr/>
        </p:nvSpPr>
        <p:spPr>
          <a:xfrm>
            <a:off x="4347972" y="6062472"/>
            <a:ext cx="1810512" cy="566928"/>
          </a:xfrm>
          <a:prstGeom prst="roundRect">
            <a:avLst>
              <a:gd name="adj" fmla="val 11290"/>
            </a:avLst>
          </a:prstGeom>
          <a:solidFill>
            <a:srgbClr val="F1F3F4"/>
          </a:solidFill>
          <a:ln w="12700">
            <a:solidFill>
              <a:srgbClr val="DADCE0"/>
            </a:solidFill>
            <a:prstDash val="solid"/>
          </a:ln>
        </p:spPr>
      </p:sp>
      <p:sp>
        <p:nvSpPr>
          <p:cNvPr id="26" name="Text 23"/>
          <p:cNvSpPr txBox="1"/>
          <p:nvPr/>
        </p:nvSpPr>
        <p:spPr>
          <a:xfrm>
            <a:off x="4439412"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generacion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175680 × 4</a:t>
            </a:r>
            <a:endParaRPr lang="en-US" sz="1200" dirty="0"/>
          </a:p>
        </p:txBody>
      </p:sp>
      <p:sp>
        <p:nvSpPr>
          <p:cNvPr id="27" name="Shape 24"/>
          <p:cNvSpPr/>
          <p:nvPr/>
        </p:nvSpPr>
        <p:spPr>
          <a:xfrm>
            <a:off x="6295644" y="6062472"/>
            <a:ext cx="1426464" cy="566928"/>
          </a:xfrm>
          <a:prstGeom prst="roundRect">
            <a:avLst>
              <a:gd name="adj" fmla="val 11290"/>
            </a:avLst>
          </a:prstGeom>
          <a:solidFill>
            <a:srgbClr val="F1F3F4"/>
          </a:solidFill>
          <a:ln w="12700">
            <a:solidFill>
              <a:srgbClr val="DADCE0"/>
            </a:solidFill>
            <a:prstDash val="solid"/>
          </a:ln>
        </p:spPr>
      </p:sp>
      <p:sp>
        <p:nvSpPr>
          <p:cNvPr id="28" name="Text 25"/>
          <p:cNvSpPr txBox="1"/>
          <p:nvPr/>
        </p:nvSpPr>
        <p:spPr>
          <a:xfrm>
            <a:off x="6387084"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29" name="Shape 26"/>
          <p:cNvSpPr/>
          <p:nvPr/>
        </p:nvSpPr>
        <p:spPr>
          <a:xfrm>
            <a:off x="7859268" y="6062472"/>
            <a:ext cx="1143000" cy="566928"/>
          </a:xfrm>
          <a:prstGeom prst="roundRect">
            <a:avLst>
              <a:gd name="adj" fmla="val 11290"/>
            </a:avLst>
          </a:prstGeom>
          <a:solidFill>
            <a:srgbClr val="F1F3F4"/>
          </a:solidFill>
          <a:ln w="12700">
            <a:solidFill>
              <a:srgbClr val="DADCE0"/>
            </a:solidFill>
            <a:prstDash val="solid"/>
          </a:ln>
        </p:spPr>
      </p:sp>
      <p:sp>
        <p:nvSpPr>
          <p:cNvPr id="30" name="Text 27"/>
          <p:cNvSpPr txBox="1"/>
          <p:nvPr/>
        </p:nvSpPr>
        <p:spPr>
          <a:xfrm>
            <a:off x="7950708"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31" name="Text 28"/>
          <p:cNvSpPr txBox="1"/>
          <p:nvPr/>
        </p:nvSpPr>
        <p:spPr>
          <a:xfrm>
            <a:off x="9139428"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 más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filtra con dos condiciones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elegidas = gen[(gen[</a:t>
            </a:r>
            <a:pPr indent="0" marL="0">
              <a:buNone/>
            </a:pPr>
            <a:r>
              <a:rPr lang="en-US" sz="1600" dirty="0">
                <a:solidFill>
                  <a:srgbClr val="A31515"/>
                </a:solidFill>
                <a:latin typeface="Courier New" pitchFamily="34" charset="0"/>
                <a:ea typeface="Courier New" pitchFamily="34" charset="-122"/>
                <a:cs typeface="Courier New" pitchFamily="34" charset="-120"/>
              </a:rPr>
              <a:t>"tecnologia"</a:t>
            </a:r>
            <a:pPr indent="0" marL="0">
              <a:buNone/>
            </a:pPr>
            <a:r>
              <a:rPr lang="en-US" sz="1600" dirty="0">
                <a:solidFill>
                  <a:srgbClr val="202124"/>
                </a:solidFill>
                <a:latin typeface="Courier New" pitchFamily="34" charset="0"/>
                <a:ea typeface="Courier New" pitchFamily="34" charset="-122"/>
                <a:cs typeface="Courier New" pitchFamily="34" charset="-120"/>
              </a:rPr>
              <a:t>] == tecnologia) &amp; (gen[</a:t>
            </a:r>
            <a:pPr indent="0" marL="0">
              <a:buNone/>
            </a:pPr>
            <a:r>
              <a:rPr lang="en-US" sz="1600" dirty="0">
                <a:solidFill>
                  <a:srgbClr val="A31515"/>
                </a:solidFill>
                <a:latin typeface="Courier New" pitchFamily="34" charset="0"/>
                <a:ea typeface="Courier New" pitchFamily="34" charset="-122"/>
                <a:cs typeface="Courier New" pitchFamily="34" charset="-120"/>
              </a:rPr>
              <a:t>"region"</a:t>
            </a:r>
            <a:pPr indent="0" marL="0">
              <a:buNone/>
            </a:pPr>
            <a:r>
              <a:rPr lang="en-US" sz="1600" dirty="0">
                <a:solidFill>
                  <a:srgbClr val="202124"/>
                </a:solidFill>
                <a:latin typeface="Courier New" pitchFamily="34" charset="0"/>
                <a:ea typeface="Courier New" pitchFamily="34" charset="-122"/>
                <a:cs typeface="Courier New" pitchFamily="34" charset="-120"/>
              </a:rPr>
              <a:t>] == region)]</a:t>
            </a:r>
            <a:endParaRPr lang="en-US" sz="1600" dirty="0"/>
          </a:p>
        </p:txBody>
      </p:sp>
      <p:sp>
        <p:nvSpPr>
          <p:cNvPr id="8" name="Shape 6"/>
          <p:cNvSpPr/>
          <p:nvPr/>
        </p:nvSpPr>
        <p:spPr>
          <a:xfrm>
            <a:off x="548640" y="2375408"/>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754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1996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gen["tecnologia"] == tecnologia</a:t>
            </a:r>
            <a:endParaRPr lang="en-US" sz="1400" dirty="0"/>
          </a:p>
        </p:txBody>
      </p:sp>
      <p:sp>
        <p:nvSpPr>
          <p:cNvPr id="12" name="Text 10"/>
          <p:cNvSpPr txBox="1"/>
          <p:nvPr/>
        </p:nvSpPr>
        <p:spPr>
          <a:xfrm>
            <a:off x="6263640" y="221996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Primera condición. Verdadero en las filas de la tecnología elegida.</a:t>
            </a:r>
            <a:endParaRPr lang="en-US" sz="1600" dirty="0"/>
          </a:p>
        </p:txBody>
      </p:sp>
      <p:sp>
        <p:nvSpPr>
          <p:cNvPr id="13" name="Shape 11"/>
          <p:cNvSpPr/>
          <p:nvPr/>
        </p:nvSpPr>
        <p:spPr>
          <a:xfrm>
            <a:off x="548640" y="3106928"/>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1069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51480"/>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295148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gen["region"] == region</a:t>
            </a:r>
            <a:endParaRPr lang="en-US" sz="1400" dirty="0"/>
          </a:p>
        </p:txBody>
      </p:sp>
      <p:sp>
        <p:nvSpPr>
          <p:cNvPr id="17" name="Text 15"/>
          <p:cNvSpPr txBox="1"/>
          <p:nvPr/>
        </p:nvSpPr>
        <p:spPr>
          <a:xfrm>
            <a:off x="6263640" y="295148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Segunda condición. Verdadero en las filas de la región elegida.</a:t>
            </a:r>
            <a:endParaRPr lang="en-US" sz="1600" dirty="0"/>
          </a:p>
        </p:txBody>
      </p:sp>
      <p:sp>
        <p:nvSpPr>
          <p:cNvPr id="18" name="Shape 16"/>
          <p:cNvSpPr/>
          <p:nvPr/>
        </p:nvSpPr>
        <p:spPr>
          <a:xfrm>
            <a:off x="548640" y="3971036"/>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9710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683000"/>
            <a:ext cx="4937760" cy="905256"/>
          </a:xfrm>
          <a:prstGeom prst="roundRect">
            <a:avLst>
              <a:gd name="adj" fmla="val 5051"/>
            </a:avLst>
          </a:prstGeom>
          <a:solidFill>
            <a:srgbClr val="FDF0C8"/>
          </a:solidFill>
          <a:ln w="12700">
            <a:solidFill>
              <a:srgbClr val="FDF0C8"/>
            </a:solidFill>
            <a:prstDash val="solid"/>
          </a:ln>
        </p:spPr>
      </p:sp>
      <p:sp>
        <p:nvSpPr>
          <p:cNvPr id="21" name="Text 19"/>
          <p:cNvSpPr txBox="1"/>
          <p:nvPr/>
        </p:nvSpPr>
        <p:spPr>
          <a:xfrm>
            <a:off x="1170432" y="3683000"/>
            <a:ext cx="4754880" cy="905256"/>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 ... ) &amp; ( ... )</a:t>
            </a:r>
            <a:endParaRPr lang="en-US" sz="1400" dirty="0"/>
          </a:p>
        </p:txBody>
      </p:sp>
      <p:sp>
        <p:nvSpPr>
          <p:cNvPr id="22" name="Text 20"/>
          <p:cNvSpPr txBox="1"/>
          <p:nvPr/>
        </p:nvSpPr>
        <p:spPr>
          <a:xfrm>
            <a:off x="6263640" y="3683000"/>
            <a:ext cx="5376672" cy="905256"/>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El &amp; se lee y. Verdadero solo donde se cumplen las dos. Cada condición va entre paréntesis, si no, Python da error.</a:t>
            </a:r>
            <a:endParaRPr lang="en-US" sz="1600" dirty="0"/>
          </a:p>
        </p:txBody>
      </p:sp>
      <p:sp>
        <p:nvSpPr>
          <p:cNvPr id="23" name="Shape 21"/>
          <p:cNvSpPr/>
          <p:nvPr/>
        </p:nvSpPr>
        <p:spPr>
          <a:xfrm>
            <a:off x="548640" y="4780280"/>
            <a:ext cx="329184" cy="329184"/>
          </a:xfrm>
          <a:prstGeom prst="ellipse">
            <a:avLst/>
          </a:prstGeom>
          <a:solidFill>
            <a:srgbClr val="7B4FC9"/>
          </a:solidFill>
          <a:ln w="12700">
            <a:solidFill>
              <a:srgbClr val="7B4FC9"/>
            </a:solidFill>
            <a:prstDash val="solid"/>
          </a:ln>
        </p:spPr>
      </p:sp>
      <p:sp>
        <p:nvSpPr>
          <p:cNvPr id="24" name="Text 22"/>
          <p:cNvSpPr txBox="1"/>
          <p:nvPr/>
        </p:nvSpPr>
        <p:spPr>
          <a:xfrm>
            <a:off x="548640" y="478028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Shape 23"/>
          <p:cNvSpPr/>
          <p:nvPr/>
        </p:nvSpPr>
        <p:spPr>
          <a:xfrm>
            <a:off x="1051560" y="4679696"/>
            <a:ext cx="4937760" cy="530352"/>
          </a:xfrm>
          <a:prstGeom prst="roundRect">
            <a:avLst>
              <a:gd name="adj" fmla="val 8621"/>
            </a:avLst>
          </a:prstGeom>
          <a:solidFill>
            <a:srgbClr val="ECE2FA"/>
          </a:solidFill>
          <a:ln w="12700">
            <a:solidFill>
              <a:srgbClr val="ECE2FA"/>
            </a:solidFill>
            <a:prstDash val="solid"/>
          </a:ln>
        </p:spPr>
      </p:sp>
      <p:sp>
        <p:nvSpPr>
          <p:cNvPr id="26" name="Text 24"/>
          <p:cNvSpPr txBox="1"/>
          <p:nvPr/>
        </p:nvSpPr>
        <p:spPr>
          <a:xfrm>
            <a:off x="1170432" y="4679696"/>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gen[ ... ]</a:t>
            </a:r>
            <a:endParaRPr lang="en-US" sz="1400" dirty="0"/>
          </a:p>
        </p:txBody>
      </p:sp>
      <p:sp>
        <p:nvSpPr>
          <p:cNvPr id="27" name="Text 25"/>
          <p:cNvSpPr txBox="1"/>
          <p:nvPr/>
        </p:nvSpPr>
        <p:spPr>
          <a:xfrm>
            <a:off x="6263640" y="4679696"/>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tabla deja pasar solo las filas con verdadero.</a:t>
            </a:r>
            <a:endParaRPr lang="en-US" sz="1600" dirty="0"/>
          </a:p>
        </p:txBody>
      </p:sp>
      <p:sp>
        <p:nvSpPr>
          <p:cNvPr id="28" name="Shape 26"/>
          <p:cNvSpPr/>
          <p:nvPr/>
        </p:nvSpPr>
        <p:spPr>
          <a:xfrm>
            <a:off x="548640" y="5989320"/>
            <a:ext cx="73152" cy="548640"/>
          </a:xfrm>
          <a:prstGeom prst="rect">
            <a:avLst/>
          </a:prstGeom>
          <a:solidFill>
            <a:srgbClr val="0B3D62"/>
          </a:solidFill>
          <a:ln w="12700">
            <a:solidFill>
              <a:srgbClr val="0B3D62"/>
            </a:solidFill>
            <a:prstDash val="solid"/>
          </a:ln>
        </p:spPr>
      </p:sp>
      <p:sp>
        <p:nvSpPr>
          <p:cNvPr id="29" name="Text 2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elegidas son las filas de gen de esa tecnología y de esa región a la vez.</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filtra con dos condiciones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una tecnología y una región en las listas y vuelve a correr la celda.</a:t>
            </a:r>
            <a:endParaRPr lang="en-US" sz="1400" dirty="0"/>
          </a:p>
        </p:txBody>
      </p:sp>
      <p:sp>
        <p:nvSpPr>
          <p:cNvPr id="6" name="Shape 4"/>
          <p:cNvSpPr/>
          <p:nvPr/>
        </p:nvSpPr>
        <p:spPr>
          <a:xfrm>
            <a:off x="548640" y="1481328"/>
            <a:ext cx="11091672" cy="2948940"/>
          </a:xfrm>
          <a:prstGeom prst="roundRect">
            <a:avLst>
              <a:gd name="adj" fmla="val 1860"/>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7360920" cy="276606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2</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tecnologia = </a:t>
            </a:r>
            <a:pPr indent="0" marL="0">
              <a:buNone/>
            </a:pPr>
            <a:r>
              <a:rPr lang="en-US" sz="1300" dirty="0">
                <a:solidFill>
                  <a:srgbClr val="A31515"/>
                </a:solidFill>
                <a:latin typeface="Courier New" pitchFamily="34" charset="0"/>
                <a:ea typeface="Courier New" pitchFamily="34" charset="-122"/>
                <a:cs typeface="Courier New" pitchFamily="34" charset="-120"/>
              </a:rPr>
              <a:t>"solar"</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["hidro", "solar", "eolica", "gas", "carbon", "diesel"]</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region = </a:t>
            </a:r>
            <a:pPr indent="0" marL="0">
              <a:buNone/>
            </a:pPr>
            <a:r>
              <a:rPr lang="en-US" sz="1300" dirty="0">
                <a:solidFill>
                  <a:srgbClr val="A31515"/>
                </a:solidFill>
                <a:latin typeface="Courier New" pitchFamily="34" charset="0"/>
                <a:ea typeface="Courier New" pitchFamily="34" charset="-122"/>
                <a:cs typeface="Courier New" pitchFamily="34" charset="-120"/>
              </a:rPr>
              <a:t>"Antofagasta"</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["Antofagasta", "Atacama", "Coquimbo", "Valparaíso", "Metropolitana", "Biobío", "Los Lagos"]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El signo &amp; se lee como "y". Cada condición va entre paréntesis.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elegidas = gen[(gen[</a:t>
            </a:r>
            <a:pPr indent="0" marL="0">
              <a:buNone/>
            </a:pPr>
            <a:r>
              <a:rPr lang="en-US" sz="1300" dirty="0">
                <a:solidFill>
                  <a:srgbClr val="A31515"/>
                </a:solidFill>
                <a:latin typeface="Courier New" pitchFamily="34" charset="0"/>
                <a:ea typeface="Courier New" pitchFamily="34" charset="-122"/>
                <a:cs typeface="Courier New" pitchFamily="34" charset="-120"/>
              </a:rPr>
              <a:t>"tecnologia"</a:t>
            </a:r>
            <a:pPr indent="0" marL="0">
              <a:buNone/>
            </a:pPr>
            <a:r>
              <a:rPr lang="en-US" sz="1300" dirty="0">
                <a:solidFill>
                  <a:srgbClr val="202124"/>
                </a:solidFill>
                <a:latin typeface="Courier New" pitchFamily="34" charset="0"/>
                <a:ea typeface="Courier New" pitchFamily="34" charset="-122"/>
                <a:cs typeface="Courier New" pitchFamily="34" charset="-120"/>
              </a:rPr>
              <a:t>] == tecnologia) &amp; (gen[</a:t>
            </a:r>
            <a:pPr indent="0" marL="0">
              <a:buNone/>
            </a:pPr>
            <a:r>
              <a:rPr lang="en-US" sz="1300" dirty="0">
                <a:solidFill>
                  <a:srgbClr val="A31515"/>
                </a:solidFill>
                <a:latin typeface="Courier New" pitchFamily="34" charset="0"/>
                <a:ea typeface="Courier New" pitchFamily="34" charset="-122"/>
                <a:cs typeface="Courier New" pitchFamily="34" charset="-120"/>
              </a:rPr>
              <a:t>"region"</a:t>
            </a:r>
            <a:pPr indent="0" marL="0">
              <a:buNone/>
            </a:pPr>
            <a:r>
              <a:rPr lang="en-US" sz="1300" dirty="0">
                <a:solidFill>
                  <a:srgbClr val="202124"/>
                </a:solidFill>
                <a:latin typeface="Courier New" pitchFamily="34" charset="0"/>
                <a:ea typeface="Courier New" pitchFamily="34" charset="-122"/>
                <a:cs typeface="Courier New" pitchFamily="34" charset="-120"/>
              </a:rPr>
              <a:t>] == region)]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"Filas encontradas"</a:t>
            </a:r>
            <a:pPr indent="0" marL="0">
              <a:buNone/>
            </a:pPr>
            <a:r>
              <a:rPr lang="en-US" sz="1300" dirty="0">
                <a:solidFill>
                  <a:srgbClr val="202124"/>
                </a:solidFill>
                <a:latin typeface="Courier New" pitchFamily="34" charset="0"/>
                <a:ea typeface="Courier New" pitchFamily="34" charset="-122"/>
                <a:cs typeface="Courier New" pitchFamily="34" charset="-120"/>
              </a:rPr>
              <a:t>, len(elegidas))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total = round(elegidas[</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].sum())</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 Generación de {tecnologia} en {region}"</a:t>
            </a:r>
            <a:pPr indent="0" marL="0">
              <a:buNone/>
            </a:pPr>
            <a:r>
              <a:rPr lang="en-US" sz="1300" dirty="0">
                <a:solidFill>
                  <a:srgbClr val="202124"/>
                </a:solidFill>
                <a:latin typeface="Courier New" pitchFamily="34" charset="0"/>
                <a:ea typeface="Courier New" pitchFamily="34" charset="-122"/>
                <a:cs typeface="Courier New" pitchFamily="34" charset="-120"/>
              </a:rPr>
              <a:t>, total, </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tecnologia</a:t>
            </a:r>
            <a:endParaRPr lang="en-US" sz="1100" dirty="0"/>
          </a:p>
        </p:txBody>
      </p:sp>
      <p:sp>
        <p:nvSpPr>
          <p:cNvPr id="11"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2"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solar</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Text 12"/>
          <p:cNvSpPr txBox="1"/>
          <p:nvPr/>
        </p:nvSpPr>
        <p:spPr>
          <a:xfrm>
            <a:off x="8823960" y="235000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region</a:t>
            </a:r>
            <a:endParaRPr lang="en-US" sz="1100" dirty="0"/>
          </a:p>
        </p:txBody>
      </p:sp>
      <p:sp>
        <p:nvSpPr>
          <p:cNvPr id="15" name="Shape 13"/>
          <p:cNvSpPr/>
          <p:nvPr/>
        </p:nvSpPr>
        <p:spPr>
          <a:xfrm>
            <a:off x="8823960" y="2606040"/>
            <a:ext cx="2651760" cy="347472"/>
          </a:xfrm>
          <a:prstGeom prst="rect">
            <a:avLst/>
          </a:prstGeom>
          <a:solidFill>
            <a:srgbClr val="FFFFFF"/>
          </a:solidFill>
          <a:ln w="12700">
            <a:solidFill>
              <a:srgbClr val="9AA0A6"/>
            </a:solidFill>
            <a:prstDash val="solid"/>
          </a:ln>
        </p:spPr>
      </p:sp>
      <p:sp>
        <p:nvSpPr>
          <p:cNvPr id="16" name="Text 14"/>
          <p:cNvSpPr txBox="1"/>
          <p:nvPr/>
        </p:nvSpPr>
        <p:spPr>
          <a:xfrm>
            <a:off x="8915400" y="260604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Antofagasta</a:t>
            </a:r>
            <a:endParaRPr lang="en-US" sz="1200" dirty="0"/>
          </a:p>
        </p:txBody>
      </p:sp>
      <p:sp>
        <p:nvSpPr>
          <p:cNvPr id="17" name="Shape 15"/>
          <p:cNvSpPr/>
          <p:nvPr/>
        </p:nvSpPr>
        <p:spPr>
          <a:xfrm rot="10800000">
            <a:off x="11201400" y="2743200"/>
            <a:ext cx="128016" cy="82296"/>
          </a:xfrm>
          <a:prstGeom prst="triangle">
            <a:avLst/>
          </a:prstGeom>
          <a:solidFill>
            <a:srgbClr val="5F6368"/>
          </a:solidFill>
          <a:ln w="12700">
            <a:solidFill>
              <a:srgbClr val="5F6368"/>
            </a:solidFill>
            <a:prstDash val="solid"/>
          </a:ln>
        </p:spPr>
      </p:sp>
      <p:sp>
        <p:nvSpPr>
          <p:cNvPr id="18" name="Shape 16"/>
          <p:cNvSpPr/>
          <p:nvPr/>
        </p:nvSpPr>
        <p:spPr>
          <a:xfrm>
            <a:off x="1325880" y="4539996"/>
            <a:ext cx="10314432" cy="585216"/>
          </a:xfrm>
          <a:prstGeom prst="rect">
            <a:avLst/>
          </a:prstGeom>
          <a:solidFill>
            <a:srgbClr val="FFFFFF"/>
          </a:solidFill>
          <a:ln w="12700">
            <a:solidFill>
              <a:srgbClr val="DADCE0"/>
            </a:solidFill>
            <a:prstDash val="solid"/>
          </a:ln>
        </p:spPr>
      </p:sp>
      <p:sp>
        <p:nvSpPr>
          <p:cNvPr id="19" name="Text 17"/>
          <p:cNvSpPr txBox="1"/>
          <p:nvPr/>
        </p:nvSpPr>
        <p:spPr>
          <a:xfrm>
            <a:off x="1463040" y="4613148"/>
            <a:ext cx="10085832" cy="457200"/>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Filas encontradas 26352</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Generación de solar en Antofagasta 479681 MWh</a:t>
            </a:r>
            <a:endParaRPr lang="en-US" sz="1200" dirty="0"/>
          </a:p>
        </p:txBody>
      </p:sp>
      <p:sp>
        <p:nvSpPr>
          <p:cNvPr id="21" name="Text 18"/>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22" name="Shape 19"/>
          <p:cNvSpPr/>
          <p:nvPr/>
        </p:nvSpPr>
        <p:spPr>
          <a:xfrm>
            <a:off x="548640" y="6062472"/>
            <a:ext cx="1810512" cy="566928"/>
          </a:xfrm>
          <a:prstGeom prst="roundRect">
            <a:avLst>
              <a:gd name="adj" fmla="val 11290"/>
            </a:avLst>
          </a:prstGeom>
          <a:solidFill>
            <a:srgbClr val="E8F0FE"/>
          </a:solidFill>
          <a:ln w="28575">
            <a:solidFill>
              <a:srgbClr val="1A73E8"/>
            </a:solidFill>
            <a:prstDash val="solid"/>
          </a:ln>
        </p:spPr>
      </p:sp>
      <p:sp>
        <p:nvSpPr>
          <p:cNvPr id="23" name="Text 20"/>
          <p:cNvSpPr txBox="1"/>
          <p:nvPr/>
        </p:nvSpPr>
        <p:spPr>
          <a:xfrm>
            <a:off x="640080"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gen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175680 × 8</a:t>
            </a:r>
            <a:endParaRPr lang="en-US" sz="1200" dirty="0"/>
          </a:p>
        </p:txBody>
      </p:sp>
      <p:sp>
        <p:nvSpPr>
          <p:cNvPr id="24" name="Shape 21"/>
          <p:cNvSpPr/>
          <p:nvPr/>
        </p:nvSpPr>
        <p:spPr>
          <a:xfrm>
            <a:off x="2496312" y="6062472"/>
            <a:ext cx="1234440" cy="566928"/>
          </a:xfrm>
          <a:prstGeom prst="roundRect">
            <a:avLst>
              <a:gd name="adj" fmla="val 11290"/>
            </a:avLst>
          </a:prstGeom>
          <a:solidFill>
            <a:srgbClr val="FEF3D6"/>
          </a:solidFill>
          <a:ln w="25400">
            <a:solidFill>
              <a:srgbClr val="F9AB00"/>
            </a:solidFill>
            <a:prstDash val="solid"/>
          </a:ln>
        </p:spPr>
      </p:sp>
      <p:sp>
        <p:nvSpPr>
          <p:cNvPr id="25" name="Text 22"/>
          <p:cNvSpPr txBox="1"/>
          <p:nvPr/>
        </p:nvSpPr>
        <p:spPr>
          <a:xfrm>
            <a:off x="2587752" y="6071616"/>
            <a:ext cx="109728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"solar"</a:t>
            </a:r>
            <a:endParaRPr lang="en-US" sz="1200" dirty="0"/>
          </a:p>
        </p:txBody>
      </p:sp>
      <p:sp>
        <p:nvSpPr>
          <p:cNvPr id="26" name="Shape 23"/>
          <p:cNvSpPr/>
          <p:nvPr/>
        </p:nvSpPr>
        <p:spPr>
          <a:xfrm>
            <a:off x="3867912" y="6062472"/>
            <a:ext cx="1522476" cy="566928"/>
          </a:xfrm>
          <a:prstGeom prst="roundRect">
            <a:avLst>
              <a:gd name="adj" fmla="val 11290"/>
            </a:avLst>
          </a:prstGeom>
          <a:solidFill>
            <a:srgbClr val="FEF3D6"/>
          </a:solidFill>
          <a:ln w="25400">
            <a:solidFill>
              <a:srgbClr val="F9AB00"/>
            </a:solidFill>
            <a:prstDash val="solid"/>
          </a:ln>
        </p:spPr>
      </p:sp>
      <p:sp>
        <p:nvSpPr>
          <p:cNvPr id="27" name="Text 24"/>
          <p:cNvSpPr txBox="1"/>
          <p:nvPr/>
        </p:nvSpPr>
        <p:spPr>
          <a:xfrm>
            <a:off x="3959352"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region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"Antofagasta"</a:t>
            </a:r>
            <a:endParaRPr lang="en-US" sz="1200" dirty="0"/>
          </a:p>
        </p:txBody>
      </p:sp>
      <p:sp>
        <p:nvSpPr>
          <p:cNvPr id="28" name="Shape 25"/>
          <p:cNvSpPr/>
          <p:nvPr/>
        </p:nvSpPr>
        <p:spPr>
          <a:xfrm>
            <a:off x="5527548" y="6062472"/>
            <a:ext cx="1714500" cy="566928"/>
          </a:xfrm>
          <a:prstGeom prst="roundRect">
            <a:avLst>
              <a:gd name="adj" fmla="val 11290"/>
            </a:avLst>
          </a:prstGeom>
          <a:solidFill>
            <a:srgbClr val="FEF3D6"/>
          </a:solidFill>
          <a:ln w="25400">
            <a:solidFill>
              <a:srgbClr val="F9AB00"/>
            </a:solidFill>
            <a:prstDash val="solid"/>
          </a:ln>
        </p:spPr>
      </p:sp>
      <p:sp>
        <p:nvSpPr>
          <p:cNvPr id="29" name="Text 26"/>
          <p:cNvSpPr txBox="1"/>
          <p:nvPr/>
        </p:nvSpPr>
        <p:spPr>
          <a:xfrm>
            <a:off x="5618988"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26352 × 8</a:t>
            </a:r>
            <a:endParaRPr lang="en-US" sz="1200" dirty="0"/>
          </a:p>
        </p:txBody>
      </p:sp>
      <p:sp>
        <p:nvSpPr>
          <p:cNvPr id="30" name="Shape 27"/>
          <p:cNvSpPr/>
          <p:nvPr/>
        </p:nvSpPr>
        <p:spPr>
          <a:xfrm>
            <a:off x="7379208" y="6062472"/>
            <a:ext cx="1143000" cy="566928"/>
          </a:xfrm>
          <a:prstGeom prst="roundRect">
            <a:avLst>
              <a:gd name="adj" fmla="val 11290"/>
            </a:avLst>
          </a:prstGeom>
          <a:solidFill>
            <a:srgbClr val="FEF3D6"/>
          </a:solidFill>
          <a:ln w="25400">
            <a:solidFill>
              <a:srgbClr val="F9AB00"/>
            </a:solidFill>
            <a:prstDash val="solid"/>
          </a:ln>
        </p:spPr>
      </p:sp>
      <p:sp>
        <p:nvSpPr>
          <p:cNvPr id="31" name="Text 28"/>
          <p:cNvSpPr txBox="1"/>
          <p:nvPr/>
        </p:nvSpPr>
        <p:spPr>
          <a:xfrm>
            <a:off x="7470648"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total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479681</a:t>
            </a:r>
            <a:endParaRPr lang="en-US" sz="1200" dirty="0"/>
          </a:p>
        </p:txBody>
      </p:sp>
      <p:sp>
        <p:nvSpPr>
          <p:cNvPr id="32" name="Shape 29"/>
          <p:cNvSpPr/>
          <p:nvPr/>
        </p:nvSpPr>
        <p:spPr>
          <a:xfrm>
            <a:off x="8659368" y="6062472"/>
            <a:ext cx="1714500" cy="566928"/>
          </a:xfrm>
          <a:prstGeom prst="roundRect">
            <a:avLst>
              <a:gd name="adj" fmla="val 11290"/>
            </a:avLst>
          </a:prstGeom>
          <a:solidFill>
            <a:srgbClr val="F1F3F4"/>
          </a:solidFill>
          <a:ln w="12700">
            <a:solidFill>
              <a:srgbClr val="DADCE0"/>
            </a:solidFill>
            <a:prstDash val="solid"/>
          </a:ln>
        </p:spPr>
      </p:sp>
      <p:sp>
        <p:nvSpPr>
          <p:cNvPr id="33" name="Text 30"/>
          <p:cNvSpPr txBox="1"/>
          <p:nvPr/>
        </p:nvSpPr>
        <p:spPr>
          <a:xfrm>
            <a:off x="8750808"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demanda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34" name="Text 31"/>
          <p:cNvSpPr txBox="1"/>
          <p:nvPr/>
        </p:nvSpPr>
        <p:spPr>
          <a:xfrm>
            <a:off x="10511028"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4 más</a:t>
            </a:r>
            <a:endParaRPr lang="en-US" sz="1200" dirty="0"/>
          </a:p>
        </p:txBody>
      </p:sp>
      <p:sp>
        <p:nvSpPr>
          <p:cNvPr id="35" name="Text 32"/>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Las dos condiciones se cumplen a la vez en 26.352 filas.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filtra con dos condiciones</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hidro y Biobío y se vuelve a correr la celda.</a:t>
            </a:r>
            <a:endParaRPr lang="en-US" sz="1400" dirty="0"/>
          </a:p>
        </p:txBody>
      </p:sp>
      <p:sp>
        <p:nvSpPr>
          <p:cNvPr id="7" name="Shape 4"/>
          <p:cNvSpPr/>
          <p:nvPr/>
        </p:nvSpPr>
        <p:spPr>
          <a:xfrm>
            <a:off x="548640" y="1481328"/>
            <a:ext cx="11091672" cy="2948940"/>
          </a:xfrm>
          <a:prstGeom prst="roundRect">
            <a:avLst>
              <a:gd name="adj" fmla="val 1860"/>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276606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2</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tecnologia = </a:t>
            </a:r>
            <a:pPr indent="0" marL="0">
              <a:buNone/>
            </a:pPr>
            <a:r>
              <a:rPr lang="en-US" sz="1300" dirty="0">
                <a:solidFill>
                  <a:srgbClr val="A31515"/>
                </a:solidFill>
                <a:latin typeface="Courier New" pitchFamily="34" charset="0"/>
                <a:ea typeface="Courier New" pitchFamily="34" charset="-122"/>
                <a:cs typeface="Courier New" pitchFamily="34" charset="-120"/>
              </a:rPr>
              <a:t>"hidro"</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["hidro", "solar", "eolica", "gas", "carbon", "diesel"]</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region = </a:t>
            </a:r>
            <a:pPr indent="0" marL="0">
              <a:buNone/>
            </a:pPr>
            <a:r>
              <a:rPr lang="en-US" sz="1300" dirty="0">
                <a:solidFill>
                  <a:srgbClr val="A31515"/>
                </a:solidFill>
                <a:latin typeface="Courier New" pitchFamily="34" charset="0"/>
                <a:ea typeface="Courier New" pitchFamily="34" charset="-122"/>
                <a:cs typeface="Courier New" pitchFamily="34" charset="-120"/>
              </a:rPr>
              <a:t>"Biobío"</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["Antofagasta", "Atacama", "Coquimbo", "Valparaíso", "Metropolitana", "Biobío", "Los Lagos"]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El signo &amp; se lee como "y". Cada condición va entre paréntesis.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elegidas = gen[(gen[</a:t>
            </a:r>
            <a:pPr indent="0" marL="0">
              <a:buNone/>
            </a:pPr>
            <a:r>
              <a:rPr lang="en-US" sz="1300" dirty="0">
                <a:solidFill>
                  <a:srgbClr val="A31515"/>
                </a:solidFill>
                <a:latin typeface="Courier New" pitchFamily="34" charset="0"/>
                <a:ea typeface="Courier New" pitchFamily="34" charset="-122"/>
                <a:cs typeface="Courier New" pitchFamily="34" charset="-120"/>
              </a:rPr>
              <a:t>"tecnologia"</a:t>
            </a:r>
            <a:pPr indent="0" marL="0">
              <a:buNone/>
            </a:pPr>
            <a:r>
              <a:rPr lang="en-US" sz="1300" dirty="0">
                <a:solidFill>
                  <a:srgbClr val="202124"/>
                </a:solidFill>
                <a:latin typeface="Courier New" pitchFamily="34" charset="0"/>
                <a:ea typeface="Courier New" pitchFamily="34" charset="-122"/>
                <a:cs typeface="Courier New" pitchFamily="34" charset="-120"/>
              </a:rPr>
              <a:t>] == tecnologia) &amp; (gen[</a:t>
            </a:r>
            <a:pPr indent="0" marL="0">
              <a:buNone/>
            </a:pPr>
            <a:r>
              <a:rPr lang="en-US" sz="1300" dirty="0">
                <a:solidFill>
                  <a:srgbClr val="A31515"/>
                </a:solidFill>
                <a:latin typeface="Courier New" pitchFamily="34" charset="0"/>
                <a:ea typeface="Courier New" pitchFamily="34" charset="-122"/>
                <a:cs typeface="Courier New" pitchFamily="34" charset="-120"/>
              </a:rPr>
              <a:t>"region"</a:t>
            </a:r>
            <a:pPr indent="0" marL="0">
              <a:buNone/>
            </a:pPr>
            <a:r>
              <a:rPr lang="en-US" sz="1300" dirty="0">
                <a:solidFill>
                  <a:srgbClr val="202124"/>
                </a:solidFill>
                <a:latin typeface="Courier New" pitchFamily="34" charset="0"/>
                <a:ea typeface="Courier New" pitchFamily="34" charset="-122"/>
                <a:cs typeface="Courier New" pitchFamily="34" charset="-120"/>
              </a:rPr>
              <a:t>] == region)]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"Filas encontradas"</a:t>
            </a:r>
            <a:pPr indent="0" marL="0">
              <a:buNone/>
            </a:pPr>
            <a:r>
              <a:rPr lang="en-US" sz="1300" dirty="0">
                <a:solidFill>
                  <a:srgbClr val="202124"/>
                </a:solidFill>
                <a:latin typeface="Courier New" pitchFamily="34" charset="0"/>
                <a:ea typeface="Courier New" pitchFamily="34" charset="-122"/>
                <a:cs typeface="Courier New" pitchFamily="34" charset="-120"/>
              </a:rPr>
              <a:t>, len(elegidas))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total = round(elegidas[</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].sum())</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 Generación de {tecnologia} en {region}"</a:t>
            </a:r>
            <a:pPr indent="0" marL="0">
              <a:buNone/>
            </a:pPr>
            <a:r>
              <a:rPr lang="en-US" sz="1300" dirty="0">
                <a:solidFill>
                  <a:srgbClr val="202124"/>
                </a:solidFill>
                <a:latin typeface="Courier New" pitchFamily="34" charset="0"/>
                <a:ea typeface="Courier New" pitchFamily="34" charset="-122"/>
                <a:cs typeface="Courier New" pitchFamily="34" charset="-120"/>
              </a:rPr>
              <a:t>, total, </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tecnologia</a:t>
            </a:r>
            <a:endParaRPr lang="en-US" sz="1100" dirty="0"/>
          </a:p>
        </p:txBody>
      </p:sp>
      <p:sp>
        <p:nvSpPr>
          <p:cNvPr id="12" name="Shape 9"/>
          <p:cNvSpPr/>
          <p:nvPr/>
        </p:nvSpPr>
        <p:spPr>
          <a:xfrm>
            <a:off x="8823960" y="1874520"/>
            <a:ext cx="2651760" cy="347472"/>
          </a:xfrm>
          <a:prstGeom prst="rect">
            <a:avLst/>
          </a:prstGeom>
          <a:solidFill>
            <a:srgbClr val="FFFFFF"/>
          </a:solidFill>
          <a:ln w="25400">
            <a:solidFill>
              <a:srgbClr val="1A73E8"/>
            </a:solidFill>
            <a:prstDash val="solid"/>
          </a:ln>
        </p:spPr>
      </p:sp>
      <p:sp>
        <p:nvSpPr>
          <p:cNvPr id="13"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hidro</a:t>
            </a:r>
            <a:endParaRPr lang="en-US" sz="1200" dirty="0"/>
          </a:p>
        </p:txBody>
      </p:sp>
      <p:sp>
        <p:nvSpPr>
          <p:cNvPr id="14"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5" name="Text 12"/>
          <p:cNvSpPr txBox="1"/>
          <p:nvPr/>
        </p:nvSpPr>
        <p:spPr>
          <a:xfrm>
            <a:off x="8823960" y="235000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region</a:t>
            </a:r>
            <a:endParaRPr lang="en-US" sz="1100" dirty="0"/>
          </a:p>
        </p:txBody>
      </p:sp>
      <p:sp>
        <p:nvSpPr>
          <p:cNvPr id="16" name="Shape 13"/>
          <p:cNvSpPr/>
          <p:nvPr/>
        </p:nvSpPr>
        <p:spPr>
          <a:xfrm>
            <a:off x="8823960" y="2606040"/>
            <a:ext cx="2651760" cy="347472"/>
          </a:xfrm>
          <a:prstGeom prst="rect">
            <a:avLst/>
          </a:prstGeom>
          <a:solidFill>
            <a:srgbClr val="FFFFFF"/>
          </a:solidFill>
          <a:ln w="25400">
            <a:solidFill>
              <a:srgbClr val="1A73E8"/>
            </a:solidFill>
            <a:prstDash val="solid"/>
          </a:ln>
        </p:spPr>
      </p:sp>
      <p:sp>
        <p:nvSpPr>
          <p:cNvPr id="17" name="Text 14"/>
          <p:cNvSpPr txBox="1"/>
          <p:nvPr/>
        </p:nvSpPr>
        <p:spPr>
          <a:xfrm>
            <a:off x="8915400" y="260604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Biobío</a:t>
            </a:r>
            <a:endParaRPr lang="en-US" sz="1200" dirty="0"/>
          </a:p>
        </p:txBody>
      </p:sp>
      <p:sp>
        <p:nvSpPr>
          <p:cNvPr id="18" name="Shape 15"/>
          <p:cNvSpPr/>
          <p:nvPr/>
        </p:nvSpPr>
        <p:spPr>
          <a:xfrm rot="10800000">
            <a:off x="11201400" y="2743200"/>
            <a:ext cx="128016" cy="82296"/>
          </a:xfrm>
          <a:prstGeom prst="triangle">
            <a:avLst/>
          </a:prstGeom>
          <a:solidFill>
            <a:srgbClr val="5F6368"/>
          </a:solidFill>
          <a:ln w="12700">
            <a:solidFill>
              <a:srgbClr val="5F6368"/>
            </a:solidFill>
            <a:prstDash val="solid"/>
          </a:ln>
        </p:spPr>
      </p:sp>
      <p:sp>
        <p:nvSpPr>
          <p:cNvPr id="19" name="Text 16"/>
          <p:cNvSpPr txBox="1"/>
          <p:nvPr/>
        </p:nvSpPr>
        <p:spPr>
          <a:xfrm>
            <a:off x="1325880" y="446684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20" name="Text 1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21" name="Shape 18"/>
          <p:cNvSpPr/>
          <p:nvPr/>
        </p:nvSpPr>
        <p:spPr>
          <a:xfrm>
            <a:off x="548640" y="6062472"/>
            <a:ext cx="1143000"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total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479681</a:t>
            </a:r>
            <a:endParaRPr lang="en-US" sz="1200" dirty="0"/>
          </a:p>
        </p:txBody>
      </p:sp>
      <p:sp>
        <p:nvSpPr>
          <p:cNvPr id="23" name="Shape 20"/>
          <p:cNvSpPr/>
          <p:nvPr/>
        </p:nvSpPr>
        <p:spPr>
          <a:xfrm>
            <a:off x="1828800" y="6062472"/>
            <a:ext cx="1714500"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192024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26352 × 8</a:t>
            </a:r>
            <a:endParaRPr lang="en-US" sz="1200" dirty="0"/>
          </a:p>
        </p:txBody>
      </p:sp>
      <p:sp>
        <p:nvSpPr>
          <p:cNvPr id="25" name="Shape 22"/>
          <p:cNvSpPr/>
          <p:nvPr/>
        </p:nvSpPr>
        <p:spPr>
          <a:xfrm>
            <a:off x="3680460" y="6062472"/>
            <a:ext cx="1522476" cy="566928"/>
          </a:xfrm>
          <a:prstGeom prst="roundRect">
            <a:avLst>
              <a:gd name="adj" fmla="val 11290"/>
            </a:avLst>
          </a:prstGeom>
          <a:solidFill>
            <a:srgbClr val="F1F3F4"/>
          </a:solidFill>
          <a:ln w="12700">
            <a:solidFill>
              <a:srgbClr val="DADCE0"/>
            </a:solidFill>
            <a:prstDash val="solid"/>
          </a:ln>
        </p:spPr>
      </p:sp>
      <p:sp>
        <p:nvSpPr>
          <p:cNvPr id="26" name="Text 23"/>
          <p:cNvSpPr txBox="1"/>
          <p:nvPr/>
        </p:nvSpPr>
        <p:spPr>
          <a:xfrm>
            <a:off x="377190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region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"Antofagasta"</a:t>
            </a:r>
            <a:endParaRPr lang="en-US" sz="1200" dirty="0"/>
          </a:p>
        </p:txBody>
      </p:sp>
      <p:sp>
        <p:nvSpPr>
          <p:cNvPr id="27" name="Shape 24"/>
          <p:cNvSpPr/>
          <p:nvPr/>
        </p:nvSpPr>
        <p:spPr>
          <a:xfrm>
            <a:off x="5340096" y="6062472"/>
            <a:ext cx="1234440" cy="566928"/>
          </a:xfrm>
          <a:prstGeom prst="roundRect">
            <a:avLst>
              <a:gd name="adj" fmla="val 11290"/>
            </a:avLst>
          </a:prstGeom>
          <a:solidFill>
            <a:srgbClr val="F1F3F4"/>
          </a:solidFill>
          <a:ln w="12700">
            <a:solidFill>
              <a:srgbClr val="DADCE0"/>
            </a:solidFill>
            <a:prstDash val="solid"/>
          </a:ln>
        </p:spPr>
      </p:sp>
      <p:sp>
        <p:nvSpPr>
          <p:cNvPr id="28" name="Text 25"/>
          <p:cNvSpPr txBox="1"/>
          <p:nvPr/>
        </p:nvSpPr>
        <p:spPr>
          <a:xfrm>
            <a:off x="5431536" y="6071616"/>
            <a:ext cx="109728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"solar"</a:t>
            </a:r>
            <a:endParaRPr lang="en-US" sz="1200" dirty="0"/>
          </a:p>
        </p:txBody>
      </p:sp>
      <p:sp>
        <p:nvSpPr>
          <p:cNvPr id="29" name="Shape 26"/>
          <p:cNvSpPr/>
          <p:nvPr/>
        </p:nvSpPr>
        <p:spPr>
          <a:xfrm>
            <a:off x="6711696" y="6062472"/>
            <a:ext cx="1810512" cy="566928"/>
          </a:xfrm>
          <a:prstGeom prst="roundRect">
            <a:avLst>
              <a:gd name="adj" fmla="val 11290"/>
            </a:avLst>
          </a:prstGeom>
          <a:solidFill>
            <a:srgbClr val="F1F3F4"/>
          </a:solidFill>
          <a:ln w="12700">
            <a:solidFill>
              <a:srgbClr val="DADCE0"/>
            </a:solidFill>
            <a:prstDash val="solid"/>
          </a:ln>
        </p:spPr>
      </p:sp>
      <p:sp>
        <p:nvSpPr>
          <p:cNvPr id="30" name="Text 27"/>
          <p:cNvSpPr txBox="1"/>
          <p:nvPr/>
        </p:nvSpPr>
        <p:spPr>
          <a:xfrm>
            <a:off x="6803136"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gen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175680 × 8</a:t>
            </a:r>
            <a:endParaRPr lang="en-US" sz="1200" dirty="0"/>
          </a:p>
        </p:txBody>
      </p:sp>
      <p:sp>
        <p:nvSpPr>
          <p:cNvPr id="31" name="Shape 28"/>
          <p:cNvSpPr/>
          <p:nvPr/>
        </p:nvSpPr>
        <p:spPr>
          <a:xfrm>
            <a:off x="8659368" y="6062472"/>
            <a:ext cx="1714500" cy="566928"/>
          </a:xfrm>
          <a:prstGeom prst="roundRect">
            <a:avLst>
              <a:gd name="adj" fmla="val 11290"/>
            </a:avLst>
          </a:prstGeom>
          <a:solidFill>
            <a:srgbClr val="F1F3F4"/>
          </a:solidFill>
          <a:ln w="12700">
            <a:solidFill>
              <a:srgbClr val="DADCE0"/>
            </a:solidFill>
            <a:prstDash val="solid"/>
          </a:ln>
        </p:spPr>
      </p:sp>
      <p:sp>
        <p:nvSpPr>
          <p:cNvPr id="32" name="Text 29"/>
          <p:cNvSpPr txBox="1"/>
          <p:nvPr/>
        </p:nvSpPr>
        <p:spPr>
          <a:xfrm>
            <a:off x="8750808"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demanda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33" name="Text 30"/>
          <p:cNvSpPr txBox="1"/>
          <p:nvPr/>
        </p:nvSpPr>
        <p:spPr>
          <a:xfrm>
            <a:off x="10511028"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4 más</a:t>
            </a:r>
            <a:endParaRPr lang="en-US" sz="1200" dirty="0"/>
          </a:p>
        </p:txBody>
      </p:sp>
      <p:sp>
        <p:nvSpPr>
          <p:cNvPr id="34" name="Text 31"/>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filtra con dos condiciones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hidro y Biobío y se vuelve a correr la celda.</a:t>
            </a:r>
            <a:endParaRPr lang="en-US" sz="1400" dirty="0"/>
          </a:p>
        </p:txBody>
      </p:sp>
      <p:sp>
        <p:nvSpPr>
          <p:cNvPr id="6" name="Shape 4"/>
          <p:cNvSpPr/>
          <p:nvPr/>
        </p:nvSpPr>
        <p:spPr>
          <a:xfrm>
            <a:off x="548640" y="1481328"/>
            <a:ext cx="11091672" cy="2523744"/>
          </a:xfrm>
          <a:prstGeom prst="roundRect">
            <a:avLst>
              <a:gd name="adj" fmla="val 2174"/>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7360920" cy="2340864"/>
          </a:xfrm>
          <a:prstGeom prst="rect">
            <a:avLst/>
          </a:prstGeom>
          <a:noFill/>
          <a:ln/>
        </p:spPr>
        <p:txBody>
          <a:bodyPr wrap="square" lIns="0" tIns="0" rIns="0" bIns="0" rtlCol="0" anchor="t"/>
          <a:lstStyle/>
          <a:p>
            <a:pPr indent="0" marL="0">
              <a:buNone/>
            </a:pPr>
            <a:r>
              <a:rPr lang="en-US" sz="1200" i="1" dirty="0">
                <a:solidFill>
                  <a:srgbClr val="188038"/>
                </a:solidFill>
                <a:latin typeface="Courier New" pitchFamily="34" charset="0"/>
                <a:ea typeface="Courier New" pitchFamily="34" charset="-122"/>
                <a:cs typeface="Courier New" pitchFamily="34" charset="-120"/>
              </a:rPr>
              <a:t># Paso 2</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tecnologia = </a:t>
            </a:r>
            <a:pPr indent="0" marL="0">
              <a:buNone/>
            </a:pPr>
            <a:r>
              <a:rPr lang="en-US" sz="1200" dirty="0">
                <a:solidFill>
                  <a:srgbClr val="A31515"/>
                </a:solidFill>
                <a:latin typeface="Courier New" pitchFamily="34" charset="0"/>
                <a:ea typeface="Courier New" pitchFamily="34" charset="-122"/>
                <a:cs typeface="Courier New" pitchFamily="34" charset="-120"/>
              </a:rPr>
              <a:t>"hidro"</a:t>
            </a:r>
            <a:pPr indent="0" marL="0">
              <a:buNone/>
            </a:pPr>
            <a:r>
              <a:rPr lang="en-US" sz="1200" dirty="0">
                <a:solidFill>
                  <a:srgbClr val="202124"/>
                </a:solidFill>
                <a:latin typeface="Courier New" pitchFamily="34" charset="0"/>
                <a:ea typeface="Courier New" pitchFamily="34" charset="-122"/>
                <a:cs typeface="Courier New" pitchFamily="34" charset="-120"/>
              </a:rPr>
              <a:t> </a:t>
            </a:r>
            <a:pPr indent="0" marL="0">
              <a:buNone/>
            </a:pPr>
            <a:r>
              <a:rPr lang="en-US" sz="1200" dirty="0">
                <a:solidFill>
                  <a:srgbClr val="80868B"/>
                </a:solidFill>
                <a:latin typeface="Courier New" pitchFamily="34" charset="0"/>
                <a:ea typeface="Courier New" pitchFamily="34" charset="-122"/>
                <a:cs typeface="Courier New" pitchFamily="34" charset="-120"/>
              </a:rPr>
              <a:t>#@param ["hidro", "solar", "eolica", "gas", "carbon", "diesel"]</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region = </a:t>
            </a:r>
            <a:pPr indent="0" marL="0">
              <a:buNone/>
            </a:pPr>
            <a:r>
              <a:rPr lang="en-US" sz="1200" dirty="0">
                <a:solidFill>
                  <a:srgbClr val="A31515"/>
                </a:solidFill>
                <a:latin typeface="Courier New" pitchFamily="34" charset="0"/>
                <a:ea typeface="Courier New" pitchFamily="34" charset="-122"/>
                <a:cs typeface="Courier New" pitchFamily="34" charset="-120"/>
              </a:rPr>
              <a:t>"Biobío"</a:t>
            </a:r>
            <a:pPr indent="0" marL="0">
              <a:buNone/>
            </a:pPr>
            <a:r>
              <a:rPr lang="en-US" sz="1200" dirty="0">
                <a:solidFill>
                  <a:srgbClr val="202124"/>
                </a:solidFill>
                <a:latin typeface="Courier New" pitchFamily="34" charset="0"/>
                <a:ea typeface="Courier New" pitchFamily="34" charset="-122"/>
                <a:cs typeface="Courier New" pitchFamily="34" charset="-120"/>
              </a:rPr>
              <a:t> </a:t>
            </a:r>
            <a:pPr indent="0" marL="0">
              <a:buNone/>
            </a:pPr>
            <a:r>
              <a:rPr lang="en-US" sz="1200" dirty="0">
                <a:solidFill>
                  <a:srgbClr val="80868B"/>
                </a:solidFill>
                <a:latin typeface="Courier New" pitchFamily="34" charset="0"/>
                <a:ea typeface="Courier New" pitchFamily="34" charset="-122"/>
                <a:cs typeface="Courier New" pitchFamily="34" charset="-120"/>
              </a:rPr>
              <a:t>#@param ["Antofagasta", "Atacama", "Coquimbo", "Valparaíso", "Metropolitana", "Biobío", "Los Lagos"]</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t>
            </a:r>
            <a:endParaRPr lang="en-US" sz="1200" dirty="0"/>
          </a:p>
          <a:p>
            <a:pPr indent="0" marL="0">
              <a:buNone/>
            </a:pPr>
            <a:r>
              <a:rPr lang="en-US" sz="1200" i="1" dirty="0">
                <a:solidFill>
                  <a:srgbClr val="188038"/>
                </a:solidFill>
                <a:latin typeface="Courier New" pitchFamily="34" charset="0"/>
                <a:ea typeface="Courier New" pitchFamily="34" charset="-122"/>
                <a:cs typeface="Courier New" pitchFamily="34" charset="-120"/>
              </a:rPr>
              <a:t># El signo &amp; se lee como "y". Cada condición va entre paréntesis.</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elegidas = gen[(gen[</a:t>
            </a:r>
            <a:pPr indent="0" marL="0">
              <a:buNone/>
            </a:pPr>
            <a:r>
              <a:rPr lang="en-US" sz="1200" dirty="0">
                <a:solidFill>
                  <a:srgbClr val="A31515"/>
                </a:solidFill>
                <a:latin typeface="Courier New" pitchFamily="34" charset="0"/>
                <a:ea typeface="Courier New" pitchFamily="34" charset="-122"/>
                <a:cs typeface="Courier New" pitchFamily="34" charset="-120"/>
              </a:rPr>
              <a:t>"tecnologia"</a:t>
            </a:r>
            <a:pPr indent="0" marL="0">
              <a:buNone/>
            </a:pPr>
            <a:r>
              <a:rPr lang="en-US" sz="1200" dirty="0">
                <a:solidFill>
                  <a:srgbClr val="202124"/>
                </a:solidFill>
                <a:latin typeface="Courier New" pitchFamily="34" charset="0"/>
                <a:ea typeface="Courier New" pitchFamily="34" charset="-122"/>
                <a:cs typeface="Courier New" pitchFamily="34" charset="-120"/>
              </a:rPr>
              <a:t>] == tecnologia) &amp; (gen[</a:t>
            </a:r>
            <a:pPr indent="0" marL="0">
              <a:buNone/>
            </a:pPr>
            <a:r>
              <a:rPr lang="en-US" sz="1200" dirty="0">
                <a:solidFill>
                  <a:srgbClr val="A31515"/>
                </a:solidFill>
                <a:latin typeface="Courier New" pitchFamily="34" charset="0"/>
                <a:ea typeface="Courier New" pitchFamily="34" charset="-122"/>
                <a:cs typeface="Courier New" pitchFamily="34" charset="-120"/>
              </a:rPr>
              <a:t>"region"</a:t>
            </a:r>
            <a:pPr indent="0" marL="0">
              <a:buNone/>
            </a:pPr>
            <a:r>
              <a:rPr lang="en-US" sz="1200" dirty="0">
                <a:solidFill>
                  <a:srgbClr val="202124"/>
                </a:solidFill>
                <a:latin typeface="Courier New" pitchFamily="34" charset="0"/>
                <a:ea typeface="Courier New" pitchFamily="34" charset="-122"/>
                <a:cs typeface="Courier New" pitchFamily="34" charset="-120"/>
              </a:rPr>
              <a:t>] == region)]</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"Filas encontradas"</a:t>
            </a:r>
            <a:pPr indent="0" marL="0">
              <a:buNone/>
            </a:pPr>
            <a:r>
              <a:rPr lang="en-US" sz="1200" dirty="0">
                <a:solidFill>
                  <a:srgbClr val="202124"/>
                </a:solidFill>
                <a:latin typeface="Courier New" pitchFamily="34" charset="0"/>
                <a:ea typeface="Courier New" pitchFamily="34" charset="-122"/>
                <a:cs typeface="Courier New" pitchFamily="34" charset="-120"/>
              </a:rPr>
              <a:t>, len(elegidas))</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total = round(elegidas[</a:t>
            </a:r>
            <a:pPr indent="0" marL="0">
              <a:buNone/>
            </a:pPr>
            <a:r>
              <a:rPr lang="en-US" sz="1200" dirty="0">
                <a:solidFill>
                  <a:srgbClr val="A31515"/>
                </a:solidFill>
                <a:latin typeface="Courier New" pitchFamily="34" charset="0"/>
                <a:ea typeface="Courier New" pitchFamily="34" charset="-122"/>
                <a:cs typeface="Courier New" pitchFamily="34" charset="-120"/>
              </a:rPr>
              <a:t>"mwh"</a:t>
            </a:r>
            <a:pPr indent="0" marL="0">
              <a:buNone/>
            </a:pPr>
            <a:r>
              <a:rPr lang="en-US" sz="1200" dirty="0">
                <a:solidFill>
                  <a:srgbClr val="202124"/>
                </a:solidFill>
                <a:latin typeface="Courier New" pitchFamily="34" charset="0"/>
                <a:ea typeface="Courier New" pitchFamily="34" charset="-122"/>
                <a:cs typeface="Courier New" pitchFamily="34" charset="-120"/>
              </a:rPr>
              <a:t>].sum())</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print(f</a:t>
            </a:r>
            <a:pPr indent="0" marL="0">
              <a:buNone/>
            </a:pPr>
            <a:r>
              <a:rPr lang="en-US" sz="1200" dirty="0">
                <a:solidFill>
                  <a:srgbClr val="A31515"/>
                </a:solidFill>
                <a:latin typeface="Courier New" pitchFamily="34" charset="0"/>
                <a:ea typeface="Courier New" pitchFamily="34" charset="-122"/>
                <a:cs typeface="Courier New" pitchFamily="34" charset="-120"/>
              </a:rPr>
              <a:t>"✓ Generación de {tecnologia} en {region}"</a:t>
            </a:r>
            <a:pPr indent="0" marL="0">
              <a:buNone/>
            </a:pPr>
            <a:r>
              <a:rPr lang="en-US" sz="1200" dirty="0">
                <a:solidFill>
                  <a:srgbClr val="202124"/>
                </a:solidFill>
                <a:latin typeface="Courier New" pitchFamily="34" charset="0"/>
                <a:ea typeface="Courier New" pitchFamily="34" charset="-122"/>
                <a:cs typeface="Courier New" pitchFamily="34" charset="-120"/>
              </a:rPr>
              <a:t>, total, </a:t>
            </a:r>
            <a:pPr indent="0" marL="0">
              <a:buNone/>
            </a:pPr>
            <a:r>
              <a:rPr lang="en-US" sz="1200" dirty="0">
                <a:solidFill>
                  <a:srgbClr val="A31515"/>
                </a:solidFill>
                <a:latin typeface="Courier New" pitchFamily="34" charset="0"/>
                <a:ea typeface="Courier New" pitchFamily="34" charset="-122"/>
                <a:cs typeface="Courier New" pitchFamily="34" charset="-120"/>
              </a:rPr>
              <a:t>"MWh"</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p:txBody>
      </p:sp>
      <p:sp>
        <p:nvSpPr>
          <p:cNvPr id="10"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tecnologia</a:t>
            </a:r>
            <a:endParaRPr lang="en-US" sz="1100" dirty="0"/>
          </a:p>
        </p:txBody>
      </p:sp>
      <p:sp>
        <p:nvSpPr>
          <p:cNvPr id="11"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2"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hidro</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Text 12"/>
          <p:cNvSpPr txBox="1"/>
          <p:nvPr/>
        </p:nvSpPr>
        <p:spPr>
          <a:xfrm>
            <a:off x="8823960" y="235000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region</a:t>
            </a:r>
            <a:endParaRPr lang="en-US" sz="1100" dirty="0"/>
          </a:p>
        </p:txBody>
      </p:sp>
      <p:sp>
        <p:nvSpPr>
          <p:cNvPr id="15" name="Shape 13"/>
          <p:cNvSpPr/>
          <p:nvPr/>
        </p:nvSpPr>
        <p:spPr>
          <a:xfrm>
            <a:off x="8823960" y="2606040"/>
            <a:ext cx="2651760" cy="347472"/>
          </a:xfrm>
          <a:prstGeom prst="rect">
            <a:avLst/>
          </a:prstGeom>
          <a:solidFill>
            <a:srgbClr val="FFFFFF"/>
          </a:solidFill>
          <a:ln w="12700">
            <a:solidFill>
              <a:srgbClr val="9AA0A6"/>
            </a:solidFill>
            <a:prstDash val="solid"/>
          </a:ln>
        </p:spPr>
      </p:sp>
      <p:sp>
        <p:nvSpPr>
          <p:cNvPr id="16" name="Text 14"/>
          <p:cNvSpPr txBox="1"/>
          <p:nvPr/>
        </p:nvSpPr>
        <p:spPr>
          <a:xfrm>
            <a:off x="8915400" y="260604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Biobío</a:t>
            </a:r>
            <a:endParaRPr lang="en-US" sz="1200" dirty="0"/>
          </a:p>
        </p:txBody>
      </p:sp>
      <p:sp>
        <p:nvSpPr>
          <p:cNvPr id="17" name="Shape 15"/>
          <p:cNvSpPr/>
          <p:nvPr/>
        </p:nvSpPr>
        <p:spPr>
          <a:xfrm rot="10800000">
            <a:off x="11201400" y="2743200"/>
            <a:ext cx="128016" cy="82296"/>
          </a:xfrm>
          <a:prstGeom prst="triangle">
            <a:avLst/>
          </a:prstGeom>
          <a:solidFill>
            <a:srgbClr val="5F6368"/>
          </a:solidFill>
          <a:ln w="12700">
            <a:solidFill>
              <a:srgbClr val="5F6368"/>
            </a:solidFill>
            <a:prstDash val="solid"/>
          </a:ln>
        </p:spPr>
      </p:sp>
      <p:sp>
        <p:nvSpPr>
          <p:cNvPr id="18" name="Shape 16"/>
          <p:cNvSpPr/>
          <p:nvPr/>
        </p:nvSpPr>
        <p:spPr>
          <a:xfrm>
            <a:off x="1325880" y="4114800"/>
            <a:ext cx="10314432" cy="585216"/>
          </a:xfrm>
          <a:prstGeom prst="rect">
            <a:avLst/>
          </a:prstGeom>
          <a:solidFill>
            <a:srgbClr val="FFFFFF"/>
          </a:solidFill>
          <a:ln w="12700">
            <a:solidFill>
              <a:srgbClr val="DADCE0"/>
            </a:solidFill>
            <a:prstDash val="solid"/>
          </a:ln>
        </p:spPr>
      </p:sp>
      <p:sp>
        <p:nvSpPr>
          <p:cNvPr id="19" name="Text 17"/>
          <p:cNvSpPr txBox="1"/>
          <p:nvPr/>
        </p:nvSpPr>
        <p:spPr>
          <a:xfrm>
            <a:off x="1463040" y="4187952"/>
            <a:ext cx="10085832" cy="457200"/>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Filas encontradas 26352</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Generación de hidro en Biobío 4151930 MWh</a:t>
            </a:r>
            <a:endParaRPr lang="en-US" sz="1200" dirty="0"/>
          </a:p>
        </p:txBody>
      </p:sp>
      <p:sp>
        <p:nvSpPr>
          <p:cNvPr id="20" name="Shape 18"/>
          <p:cNvSpPr/>
          <p:nvPr/>
        </p:nvSpPr>
        <p:spPr>
          <a:xfrm>
            <a:off x="1325880" y="4837176"/>
            <a:ext cx="10314432" cy="566928"/>
          </a:xfrm>
          <a:prstGeom prst="roundRect">
            <a:avLst>
              <a:gd name="adj" fmla="val 9677"/>
            </a:avLst>
          </a:prstGeom>
          <a:solidFill>
            <a:srgbClr val="FFF8D6"/>
          </a:solidFill>
          <a:ln w="12700">
            <a:solidFill>
              <a:srgbClr val="FFF8D6"/>
            </a:solidFill>
            <a:prstDash val="solid"/>
          </a:ln>
        </p:spPr>
      </p:sp>
      <p:sp>
        <p:nvSpPr>
          <p:cNvPr id="21" name="Text 19"/>
          <p:cNvSpPr txBox="1"/>
          <p:nvPr/>
        </p:nvSpPr>
        <p:spPr>
          <a:xfrm>
            <a:off x="1508760" y="4837176"/>
            <a:ext cx="9948672" cy="566928"/>
          </a:xfrm>
          <a:prstGeom prst="rect">
            <a:avLst/>
          </a:prstGeom>
          <a:noFill/>
          <a:ln/>
        </p:spPr>
        <p:txBody>
          <a:bodyPr wrap="square" lIns="0" tIns="0" rIns="0" bIns="0" rtlCol="0" anchor="ctr"/>
          <a:lstStyle/>
          <a:p>
            <a:pPr indent="0" marL="0">
              <a:buNone/>
            </a:pPr>
            <a:r>
              <a:rPr lang="en-US" sz="1400" b="1" dirty="0">
                <a:solidFill>
                  <a:srgbClr val="8A6D00"/>
                </a:solidFill>
                <a:latin typeface="Calibri" pitchFamily="34" charset="0"/>
                <a:ea typeface="Calibri" pitchFamily="34" charset="-122"/>
                <a:cs typeface="Calibri" pitchFamily="34" charset="-120"/>
              </a:rPr>
              <a:t>Con &amp; la fila tiene que cumplir las dos condiciones.  </a:t>
            </a:r>
            <a:pPr indent="0" marL="0">
              <a:buNone/>
            </a:pPr>
            <a:r>
              <a:rPr lang="en-US" sz="1400" dirty="0">
                <a:solidFill>
                  <a:srgbClr val="202124"/>
                </a:solidFill>
                <a:latin typeface="Calibri" pitchFamily="34" charset="0"/>
                <a:ea typeface="Calibri" pitchFamily="34" charset="-122"/>
                <a:cs typeface="Calibri" pitchFamily="34" charset="-120"/>
              </a:rPr>
              <a:t>Cada condición va entre paréntesis, y el resultado es una sola columna de True y False.</a:t>
            </a:r>
            <a:endParaRPr lang="en-US" sz="1400" dirty="0"/>
          </a:p>
        </p:txBody>
      </p:sp>
      <p:sp>
        <p:nvSpPr>
          <p:cNvPr id="23" name="Text 20"/>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24" name="Shape 21"/>
          <p:cNvSpPr/>
          <p:nvPr/>
        </p:nvSpPr>
        <p:spPr>
          <a:xfrm>
            <a:off x="548640" y="6062472"/>
            <a:ext cx="1810512" cy="566928"/>
          </a:xfrm>
          <a:prstGeom prst="roundRect">
            <a:avLst>
              <a:gd name="adj" fmla="val 11290"/>
            </a:avLst>
          </a:prstGeom>
          <a:solidFill>
            <a:srgbClr val="E8F0FE"/>
          </a:solidFill>
          <a:ln w="28575">
            <a:solidFill>
              <a:srgbClr val="1A73E8"/>
            </a:solidFill>
            <a:prstDash val="solid"/>
          </a:ln>
        </p:spPr>
      </p:sp>
      <p:sp>
        <p:nvSpPr>
          <p:cNvPr id="25" name="Text 22"/>
          <p:cNvSpPr txBox="1"/>
          <p:nvPr/>
        </p:nvSpPr>
        <p:spPr>
          <a:xfrm>
            <a:off x="640080"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gen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175680 × 8</a:t>
            </a:r>
            <a:endParaRPr lang="en-US" sz="1200" dirty="0"/>
          </a:p>
        </p:txBody>
      </p:sp>
      <p:sp>
        <p:nvSpPr>
          <p:cNvPr id="26" name="Shape 23"/>
          <p:cNvSpPr/>
          <p:nvPr/>
        </p:nvSpPr>
        <p:spPr>
          <a:xfrm>
            <a:off x="2496312" y="6062472"/>
            <a:ext cx="1234440" cy="566928"/>
          </a:xfrm>
          <a:prstGeom prst="roundRect">
            <a:avLst>
              <a:gd name="adj" fmla="val 11290"/>
            </a:avLst>
          </a:prstGeom>
          <a:solidFill>
            <a:srgbClr val="FEF3D6"/>
          </a:solidFill>
          <a:ln w="25400">
            <a:solidFill>
              <a:srgbClr val="F9AB00"/>
            </a:solidFill>
            <a:prstDash val="solid"/>
          </a:ln>
        </p:spPr>
      </p:sp>
      <p:sp>
        <p:nvSpPr>
          <p:cNvPr id="27" name="Text 24"/>
          <p:cNvSpPr txBox="1"/>
          <p:nvPr/>
        </p:nvSpPr>
        <p:spPr>
          <a:xfrm>
            <a:off x="2587752" y="6071616"/>
            <a:ext cx="109728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"hidro"</a:t>
            </a:r>
            <a:endParaRPr lang="en-US" sz="1200" dirty="0"/>
          </a:p>
        </p:txBody>
      </p:sp>
      <p:sp>
        <p:nvSpPr>
          <p:cNvPr id="28" name="Shape 25"/>
          <p:cNvSpPr/>
          <p:nvPr/>
        </p:nvSpPr>
        <p:spPr>
          <a:xfrm>
            <a:off x="3867912" y="6062472"/>
            <a:ext cx="1143000" cy="566928"/>
          </a:xfrm>
          <a:prstGeom prst="roundRect">
            <a:avLst>
              <a:gd name="adj" fmla="val 11290"/>
            </a:avLst>
          </a:prstGeom>
          <a:solidFill>
            <a:srgbClr val="FEF3D6"/>
          </a:solidFill>
          <a:ln w="25400">
            <a:solidFill>
              <a:srgbClr val="F9AB00"/>
            </a:solidFill>
            <a:prstDash val="solid"/>
          </a:ln>
        </p:spPr>
      </p:sp>
      <p:sp>
        <p:nvSpPr>
          <p:cNvPr id="29" name="Text 26"/>
          <p:cNvSpPr txBox="1"/>
          <p:nvPr/>
        </p:nvSpPr>
        <p:spPr>
          <a:xfrm>
            <a:off x="395935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region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"Biobío"</a:t>
            </a:r>
            <a:endParaRPr lang="en-US" sz="1200" dirty="0"/>
          </a:p>
        </p:txBody>
      </p:sp>
      <p:sp>
        <p:nvSpPr>
          <p:cNvPr id="30" name="Shape 27"/>
          <p:cNvSpPr/>
          <p:nvPr/>
        </p:nvSpPr>
        <p:spPr>
          <a:xfrm>
            <a:off x="5148072" y="6062472"/>
            <a:ext cx="1714500" cy="566928"/>
          </a:xfrm>
          <a:prstGeom prst="roundRect">
            <a:avLst>
              <a:gd name="adj" fmla="val 11290"/>
            </a:avLst>
          </a:prstGeom>
          <a:solidFill>
            <a:srgbClr val="E8F0FE"/>
          </a:solidFill>
          <a:ln w="28575">
            <a:solidFill>
              <a:srgbClr val="1A73E8"/>
            </a:solidFill>
            <a:prstDash val="solid"/>
          </a:ln>
        </p:spPr>
      </p:sp>
      <p:sp>
        <p:nvSpPr>
          <p:cNvPr id="31" name="Text 28"/>
          <p:cNvSpPr txBox="1"/>
          <p:nvPr/>
        </p:nvSpPr>
        <p:spPr>
          <a:xfrm>
            <a:off x="5239512"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26352 × 8</a:t>
            </a:r>
            <a:endParaRPr lang="en-US" sz="1200" dirty="0"/>
          </a:p>
        </p:txBody>
      </p:sp>
      <p:sp>
        <p:nvSpPr>
          <p:cNvPr id="32" name="Shape 29"/>
          <p:cNvSpPr/>
          <p:nvPr/>
        </p:nvSpPr>
        <p:spPr>
          <a:xfrm>
            <a:off x="6999732" y="6062472"/>
            <a:ext cx="1143000" cy="566928"/>
          </a:xfrm>
          <a:prstGeom prst="roundRect">
            <a:avLst>
              <a:gd name="adj" fmla="val 11290"/>
            </a:avLst>
          </a:prstGeom>
          <a:solidFill>
            <a:srgbClr val="FEF3D6"/>
          </a:solidFill>
          <a:ln w="25400">
            <a:solidFill>
              <a:srgbClr val="F9AB00"/>
            </a:solidFill>
            <a:prstDash val="solid"/>
          </a:ln>
        </p:spPr>
      </p:sp>
      <p:sp>
        <p:nvSpPr>
          <p:cNvPr id="33" name="Text 30"/>
          <p:cNvSpPr txBox="1"/>
          <p:nvPr/>
        </p:nvSpPr>
        <p:spPr>
          <a:xfrm>
            <a:off x="70911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total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4151930</a:t>
            </a:r>
            <a:endParaRPr lang="en-US" sz="1200" dirty="0"/>
          </a:p>
        </p:txBody>
      </p:sp>
      <p:sp>
        <p:nvSpPr>
          <p:cNvPr id="34" name="Shape 31"/>
          <p:cNvSpPr/>
          <p:nvPr/>
        </p:nvSpPr>
        <p:spPr>
          <a:xfrm>
            <a:off x="8279892" y="6062472"/>
            <a:ext cx="1714500" cy="566928"/>
          </a:xfrm>
          <a:prstGeom prst="roundRect">
            <a:avLst>
              <a:gd name="adj" fmla="val 11290"/>
            </a:avLst>
          </a:prstGeom>
          <a:solidFill>
            <a:srgbClr val="F1F3F4"/>
          </a:solidFill>
          <a:ln w="12700">
            <a:solidFill>
              <a:srgbClr val="DADCE0"/>
            </a:solidFill>
            <a:prstDash val="solid"/>
          </a:ln>
        </p:spPr>
      </p:sp>
      <p:sp>
        <p:nvSpPr>
          <p:cNvPr id="35" name="Text 32"/>
          <p:cNvSpPr txBox="1"/>
          <p:nvPr/>
        </p:nvSpPr>
        <p:spPr>
          <a:xfrm>
            <a:off x="8371332"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demanda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36" name="Text 33"/>
          <p:cNvSpPr txBox="1"/>
          <p:nvPr/>
        </p:nvSpPr>
        <p:spPr>
          <a:xfrm>
            <a:off x="10131552"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4 más</a:t>
            </a:r>
            <a:endParaRPr lang="en-US" sz="1200" dirty="0"/>
          </a:p>
        </p:txBody>
      </p:sp>
      <p:sp>
        <p:nvSpPr>
          <p:cNvPr id="37" name="Text 34"/>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La misma pregunta para otra combinación, sin escribir nada.</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¿Cuánto generó cada región con cada tecnología?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cómo la tabla larga se vuelve de doble entrada.</a:t>
            </a:r>
            <a:endParaRPr lang="en-US" sz="1400" dirty="0"/>
          </a:p>
        </p:txBody>
      </p:sp>
      <p:pic>
        <p:nvPicPr>
          <p:cNvPr id="6" name="Image 0" descr="../../repo/modulos/modulo02/img/lab02_paso6_pivot.png">    </p:cNvPr>
          <p:cNvPicPr>
            <a:picLocks noChangeAspect="1"/>
          </p:cNvPicPr>
          <p:nvPr/>
        </p:nvPicPr>
        <p:blipFill>
          <a:blip r:embed="rId1"/>
          <a:stretch>
            <a:fillRect/>
          </a:stretch>
        </p:blipFill>
        <p:spPr>
          <a:xfrm>
            <a:off x="548640" y="1463040"/>
            <a:ext cx="11091672" cy="4379217"/>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¿Cuánto generó cada región con cada tecnología?</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Las regiones quedan en las filas y las tecnologías en las columnas.</a:t>
            </a:r>
            <a:endParaRPr lang="en-US" sz="1400" dirty="0"/>
          </a:p>
        </p:txBody>
      </p:sp>
      <p:sp>
        <p:nvSpPr>
          <p:cNvPr id="7" name="Shape 4"/>
          <p:cNvSpPr/>
          <p:nvPr/>
        </p:nvSpPr>
        <p:spPr>
          <a:xfrm>
            <a:off x="548640" y="1481328"/>
            <a:ext cx="11091672" cy="1508760"/>
          </a:xfrm>
          <a:prstGeom prst="roundRect">
            <a:avLst>
              <a:gd name="adj" fmla="val 3636"/>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10085832" cy="132588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3</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pivot_table arma una tabla de doble entrada, como una tabla dinámica.</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fill_value=0 pone cero donde una región no tiene esa tecnología.</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cruce = gen.pivot_table(index=</a:t>
            </a:r>
            <a:pPr indent="0" marL="0">
              <a:buNone/>
            </a:pPr>
            <a:r>
              <a:rPr lang="en-US" sz="1300" dirty="0">
                <a:solidFill>
                  <a:srgbClr val="A31515"/>
                </a:solidFill>
                <a:latin typeface="Courier New" pitchFamily="34" charset="0"/>
                <a:ea typeface="Courier New" pitchFamily="34" charset="-122"/>
                <a:cs typeface="Courier New" pitchFamily="34" charset="-120"/>
              </a:rPr>
              <a:t>"region"</a:t>
            </a:r>
            <a:pPr indent="0" marL="0">
              <a:buNone/>
            </a:pPr>
            <a:r>
              <a:rPr lang="en-US" sz="1300" dirty="0">
                <a:solidFill>
                  <a:srgbClr val="202124"/>
                </a:solidFill>
                <a:latin typeface="Courier New" pitchFamily="34" charset="0"/>
                <a:ea typeface="Courier New" pitchFamily="34" charset="-122"/>
                <a:cs typeface="Courier New" pitchFamily="34" charset="-120"/>
              </a:rPr>
              <a:t>, columns=</a:t>
            </a:r>
            <a:pPr indent="0" marL="0">
              <a:buNone/>
            </a:pPr>
            <a:r>
              <a:rPr lang="en-US" sz="1300" dirty="0">
                <a:solidFill>
                  <a:srgbClr val="A31515"/>
                </a:solidFill>
                <a:latin typeface="Courier New" pitchFamily="34" charset="0"/>
                <a:ea typeface="Courier New" pitchFamily="34" charset="-122"/>
                <a:cs typeface="Courier New" pitchFamily="34" charset="-120"/>
              </a:rPr>
              <a:t>"tecnologia"</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values=</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 aggfunc=</a:t>
            </a:r>
            <a:pPr indent="0" marL="0">
              <a:buNone/>
            </a:pPr>
            <a:r>
              <a:rPr lang="en-US" sz="1300" dirty="0">
                <a:solidFill>
                  <a:srgbClr val="A31515"/>
                </a:solidFill>
                <a:latin typeface="Courier New" pitchFamily="34" charset="0"/>
                <a:ea typeface="Courier New" pitchFamily="34" charset="-122"/>
                <a:cs typeface="Courier New" pitchFamily="34" charset="-120"/>
              </a:rPr>
              <a:t>"sum"</a:t>
            </a:r>
            <a:pPr indent="0" marL="0">
              <a:buNone/>
            </a:pPr>
            <a:r>
              <a:rPr lang="en-US" sz="1300" dirty="0">
                <a:solidFill>
                  <a:srgbClr val="202124"/>
                </a:solidFill>
                <a:latin typeface="Courier New" pitchFamily="34" charset="0"/>
                <a:ea typeface="Courier New" pitchFamily="34" charset="-122"/>
                <a:cs typeface="Courier New" pitchFamily="34" charset="-120"/>
              </a:rPr>
              <a:t>, fill_value=0)</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cruce.round()</a:t>
            </a:r>
            <a:endParaRPr lang="en-US" sz="1300" dirty="0"/>
          </a:p>
        </p:txBody>
      </p:sp>
      <p:sp>
        <p:nvSpPr>
          <p:cNvPr id="11" name="Text 8"/>
          <p:cNvSpPr txBox="1"/>
          <p:nvPr/>
        </p:nvSpPr>
        <p:spPr>
          <a:xfrm>
            <a:off x="1325880" y="302666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10"/>
          <p:cNvSpPr/>
          <p:nvPr/>
        </p:nvSpPr>
        <p:spPr>
          <a:xfrm>
            <a:off x="548640" y="6062472"/>
            <a:ext cx="1143000" cy="566928"/>
          </a:xfrm>
          <a:prstGeom prst="roundRect">
            <a:avLst>
              <a:gd name="adj" fmla="val 11290"/>
            </a:avLst>
          </a:prstGeom>
          <a:solidFill>
            <a:srgbClr val="F1F3F4"/>
          </a:solidFill>
          <a:ln w="12700">
            <a:solidFill>
              <a:srgbClr val="DADCE0"/>
            </a:solidFill>
            <a:prstDash val="solid"/>
          </a:ln>
        </p:spPr>
      </p:sp>
      <p:sp>
        <p:nvSpPr>
          <p:cNvPr id="14" name="Text 11"/>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total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4151930</a:t>
            </a:r>
            <a:endParaRPr lang="en-US" sz="1200" dirty="0"/>
          </a:p>
        </p:txBody>
      </p:sp>
      <p:sp>
        <p:nvSpPr>
          <p:cNvPr id="15" name="Shape 12"/>
          <p:cNvSpPr/>
          <p:nvPr/>
        </p:nvSpPr>
        <p:spPr>
          <a:xfrm>
            <a:off x="1828800" y="6062472"/>
            <a:ext cx="1714500"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192024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26352 × 8</a:t>
            </a:r>
            <a:endParaRPr lang="en-US" sz="1200" dirty="0"/>
          </a:p>
        </p:txBody>
      </p:sp>
      <p:sp>
        <p:nvSpPr>
          <p:cNvPr id="17" name="Shape 14"/>
          <p:cNvSpPr/>
          <p:nvPr/>
        </p:nvSpPr>
        <p:spPr>
          <a:xfrm>
            <a:off x="3680460" y="6062472"/>
            <a:ext cx="1143000"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377190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region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"Biobío"</a:t>
            </a:r>
            <a:endParaRPr lang="en-US" sz="1200" dirty="0"/>
          </a:p>
        </p:txBody>
      </p:sp>
      <p:sp>
        <p:nvSpPr>
          <p:cNvPr id="19" name="Shape 16"/>
          <p:cNvSpPr/>
          <p:nvPr/>
        </p:nvSpPr>
        <p:spPr>
          <a:xfrm>
            <a:off x="4960620" y="6062472"/>
            <a:ext cx="123444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5052060" y="6071616"/>
            <a:ext cx="109728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"hidro"</a:t>
            </a:r>
            <a:endParaRPr lang="en-US" sz="1200" dirty="0"/>
          </a:p>
        </p:txBody>
      </p:sp>
      <p:sp>
        <p:nvSpPr>
          <p:cNvPr id="21" name="Shape 18"/>
          <p:cNvSpPr/>
          <p:nvPr/>
        </p:nvSpPr>
        <p:spPr>
          <a:xfrm>
            <a:off x="6332220" y="6062472"/>
            <a:ext cx="1810512"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6423660"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gen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175680 × 8</a:t>
            </a:r>
            <a:endParaRPr lang="en-US" sz="1200" dirty="0"/>
          </a:p>
        </p:txBody>
      </p:sp>
      <p:sp>
        <p:nvSpPr>
          <p:cNvPr id="23" name="Shape 20"/>
          <p:cNvSpPr/>
          <p:nvPr/>
        </p:nvSpPr>
        <p:spPr>
          <a:xfrm>
            <a:off x="8279892" y="6062472"/>
            <a:ext cx="1714500"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8371332"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demanda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25" name="Text 22"/>
          <p:cNvSpPr txBox="1"/>
          <p:nvPr/>
        </p:nvSpPr>
        <p:spPr>
          <a:xfrm>
            <a:off x="10131552"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4 más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¿Cuánto generó cada región con cada tecnología?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736600"/>
          </a:xfrm>
          <a:prstGeom prst="roundRect">
            <a:avLst>
              <a:gd name="adj" fmla="val 7448"/>
            </a:avLst>
          </a:prstGeom>
          <a:solidFill>
            <a:srgbClr val="F8F9FA"/>
          </a:solidFill>
          <a:ln w="12700">
            <a:solidFill>
              <a:srgbClr val="DADCE0"/>
            </a:solidFill>
            <a:prstDash val="solid"/>
          </a:ln>
        </p:spPr>
      </p:sp>
      <p:sp>
        <p:nvSpPr>
          <p:cNvPr id="7" name="Text 5"/>
          <p:cNvSpPr txBox="1"/>
          <p:nvPr/>
        </p:nvSpPr>
        <p:spPr>
          <a:xfrm>
            <a:off x="822960" y="1554480"/>
            <a:ext cx="10634472" cy="599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cruce = gen.pivot_table(index=</a:t>
            </a:r>
            <a:pPr indent="0" marL="0">
              <a:buNone/>
            </a:pPr>
            <a:r>
              <a:rPr lang="en-US" sz="1600" dirty="0">
                <a:solidFill>
                  <a:srgbClr val="A31515"/>
                </a:solidFill>
                <a:latin typeface="Courier New" pitchFamily="34" charset="0"/>
                <a:ea typeface="Courier New" pitchFamily="34" charset="-122"/>
                <a:cs typeface="Courier New" pitchFamily="34" charset="-120"/>
              </a:rPr>
              <a:t>"region"</a:t>
            </a:r>
            <a:pPr indent="0" marL="0">
              <a:buNone/>
            </a:pPr>
            <a:r>
              <a:rPr lang="en-US" sz="1600" dirty="0">
                <a:solidFill>
                  <a:srgbClr val="202124"/>
                </a:solidFill>
                <a:latin typeface="Courier New" pitchFamily="34" charset="0"/>
                <a:ea typeface="Courier New" pitchFamily="34" charset="-122"/>
                <a:cs typeface="Courier New" pitchFamily="34" charset="-120"/>
              </a:rPr>
              <a:t>, columns=</a:t>
            </a:r>
            <a:pPr indent="0" marL="0">
              <a:buNone/>
            </a:pPr>
            <a:r>
              <a:rPr lang="en-US" sz="1600" dirty="0">
                <a:solidFill>
                  <a:srgbClr val="A31515"/>
                </a:solidFill>
                <a:latin typeface="Courier New" pitchFamily="34" charset="0"/>
                <a:ea typeface="Courier New" pitchFamily="34" charset="-122"/>
                <a:cs typeface="Courier New" pitchFamily="34" charset="-120"/>
              </a:rPr>
              <a:t>"tecnologia"</a:t>
            </a:r>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                        values=</a:t>
            </a:r>
            <a:pPr indent="0" marL="0">
              <a:buNone/>
            </a:pPr>
            <a:r>
              <a:rPr lang="en-US" sz="1600" dirty="0">
                <a:solidFill>
                  <a:srgbClr val="A31515"/>
                </a:solidFill>
                <a:latin typeface="Courier New" pitchFamily="34" charset="0"/>
                <a:ea typeface="Courier New" pitchFamily="34" charset="-122"/>
                <a:cs typeface="Courier New" pitchFamily="34" charset="-120"/>
              </a:rPr>
              <a:t>"mwh"</a:t>
            </a:r>
            <a:pPr indent="0" marL="0">
              <a:buNone/>
            </a:pPr>
            <a:r>
              <a:rPr lang="en-US" sz="1600" dirty="0">
                <a:solidFill>
                  <a:srgbClr val="202124"/>
                </a:solidFill>
                <a:latin typeface="Courier New" pitchFamily="34" charset="0"/>
                <a:ea typeface="Courier New" pitchFamily="34" charset="-122"/>
                <a:cs typeface="Courier New" pitchFamily="34" charset="-120"/>
              </a:rPr>
              <a:t>, aggfunc=</a:t>
            </a:r>
            <a:pPr indent="0" marL="0">
              <a:buNone/>
            </a:pPr>
            <a:r>
              <a:rPr lang="en-US" sz="1600" dirty="0">
                <a:solidFill>
                  <a:srgbClr val="A31515"/>
                </a:solidFill>
                <a:latin typeface="Courier New" pitchFamily="34" charset="0"/>
                <a:ea typeface="Courier New" pitchFamily="34" charset="-122"/>
                <a:cs typeface="Courier New" pitchFamily="34" charset="-120"/>
              </a:rPr>
              <a:t>"sum"</a:t>
            </a:r>
            <a:pPr indent="0" marL="0">
              <a:buNone/>
            </a:pPr>
            <a:r>
              <a:rPr lang="en-US" sz="1600" dirty="0">
                <a:solidFill>
                  <a:srgbClr val="202124"/>
                </a:solidFill>
                <a:latin typeface="Courier New" pitchFamily="34" charset="0"/>
                <a:ea typeface="Courier New" pitchFamily="34" charset="-122"/>
                <a:cs typeface="Courier New" pitchFamily="34" charset="-120"/>
              </a:rPr>
              <a:t>, fill_value=0)</a:t>
            </a:r>
            <a:endParaRPr lang="en-US" sz="1600" dirty="0"/>
          </a:p>
        </p:txBody>
      </p:sp>
      <p:sp>
        <p:nvSpPr>
          <p:cNvPr id="8" name="Shape 6"/>
          <p:cNvSpPr/>
          <p:nvPr/>
        </p:nvSpPr>
        <p:spPr>
          <a:xfrm>
            <a:off x="548640" y="2574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574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473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473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index="region"</a:t>
            </a:r>
            <a:endParaRPr lang="en-US" sz="1400" dirty="0"/>
          </a:p>
        </p:txBody>
      </p:sp>
      <p:sp>
        <p:nvSpPr>
          <p:cNvPr id="12" name="Text 10"/>
          <p:cNvSpPr txBox="1"/>
          <p:nvPr/>
        </p:nvSpPr>
        <p:spPr>
          <a:xfrm>
            <a:off x="6263640" y="2473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Lo que va en las filas.</a:t>
            </a:r>
            <a:endParaRPr lang="en-US" sz="1600" dirty="0"/>
          </a:p>
        </p:txBody>
      </p:sp>
      <p:sp>
        <p:nvSpPr>
          <p:cNvPr id="13" name="Shape 11"/>
          <p:cNvSpPr/>
          <p:nvPr/>
        </p:nvSpPr>
        <p:spPr>
          <a:xfrm>
            <a:off x="548640" y="3196336"/>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1963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3095752"/>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309575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columns="tecnologia"</a:t>
            </a:r>
            <a:endParaRPr lang="en-US" sz="1400" dirty="0"/>
          </a:p>
        </p:txBody>
      </p:sp>
      <p:sp>
        <p:nvSpPr>
          <p:cNvPr id="17" name="Text 15"/>
          <p:cNvSpPr txBox="1"/>
          <p:nvPr/>
        </p:nvSpPr>
        <p:spPr>
          <a:xfrm>
            <a:off x="6263640" y="309575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Lo que va en las columnas.</a:t>
            </a:r>
            <a:endParaRPr lang="en-US" sz="1600" dirty="0"/>
          </a:p>
        </p:txBody>
      </p:sp>
      <p:sp>
        <p:nvSpPr>
          <p:cNvPr id="18" name="Shape 16"/>
          <p:cNvSpPr/>
          <p:nvPr/>
        </p:nvSpPr>
        <p:spPr>
          <a:xfrm>
            <a:off x="548640" y="3818128"/>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8181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717544"/>
            <a:ext cx="4937760" cy="530352"/>
          </a:xfrm>
          <a:prstGeom prst="roundRect">
            <a:avLst>
              <a:gd name="adj" fmla="val 8621"/>
            </a:avLst>
          </a:prstGeom>
          <a:solidFill>
            <a:srgbClr val="FDF0C8"/>
          </a:solidFill>
          <a:ln w="12700">
            <a:solidFill>
              <a:srgbClr val="FDF0C8"/>
            </a:solidFill>
            <a:prstDash val="solid"/>
          </a:ln>
        </p:spPr>
      </p:sp>
      <p:sp>
        <p:nvSpPr>
          <p:cNvPr id="21" name="Text 19"/>
          <p:cNvSpPr txBox="1"/>
          <p:nvPr/>
        </p:nvSpPr>
        <p:spPr>
          <a:xfrm>
            <a:off x="1170432" y="3717544"/>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values="mwh"</a:t>
            </a:r>
            <a:endParaRPr lang="en-US" sz="1400" dirty="0"/>
          </a:p>
        </p:txBody>
      </p:sp>
      <p:sp>
        <p:nvSpPr>
          <p:cNvPr id="22" name="Text 20"/>
          <p:cNvSpPr txBox="1"/>
          <p:nvPr/>
        </p:nvSpPr>
        <p:spPr>
          <a:xfrm>
            <a:off x="6263640" y="3717544"/>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Lo que se calcula en cada casilla.</a:t>
            </a:r>
            <a:endParaRPr lang="en-US" sz="1600" dirty="0"/>
          </a:p>
        </p:txBody>
      </p:sp>
      <p:sp>
        <p:nvSpPr>
          <p:cNvPr id="23" name="Shape 21"/>
          <p:cNvSpPr/>
          <p:nvPr/>
        </p:nvSpPr>
        <p:spPr>
          <a:xfrm>
            <a:off x="548640" y="4439920"/>
            <a:ext cx="329184" cy="329184"/>
          </a:xfrm>
          <a:prstGeom prst="ellipse">
            <a:avLst/>
          </a:prstGeom>
          <a:solidFill>
            <a:srgbClr val="7B4FC9"/>
          </a:solidFill>
          <a:ln w="12700">
            <a:solidFill>
              <a:srgbClr val="7B4FC9"/>
            </a:solidFill>
            <a:prstDash val="solid"/>
          </a:ln>
        </p:spPr>
      </p:sp>
      <p:sp>
        <p:nvSpPr>
          <p:cNvPr id="24" name="Text 22"/>
          <p:cNvSpPr txBox="1"/>
          <p:nvPr/>
        </p:nvSpPr>
        <p:spPr>
          <a:xfrm>
            <a:off x="548640" y="44399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Shape 23"/>
          <p:cNvSpPr/>
          <p:nvPr/>
        </p:nvSpPr>
        <p:spPr>
          <a:xfrm>
            <a:off x="1051560" y="4339336"/>
            <a:ext cx="4937760" cy="530352"/>
          </a:xfrm>
          <a:prstGeom prst="roundRect">
            <a:avLst>
              <a:gd name="adj" fmla="val 8621"/>
            </a:avLst>
          </a:prstGeom>
          <a:solidFill>
            <a:srgbClr val="ECE2FA"/>
          </a:solidFill>
          <a:ln w="12700">
            <a:solidFill>
              <a:srgbClr val="ECE2FA"/>
            </a:solidFill>
            <a:prstDash val="solid"/>
          </a:ln>
        </p:spPr>
      </p:sp>
      <p:sp>
        <p:nvSpPr>
          <p:cNvPr id="26" name="Text 24"/>
          <p:cNvSpPr txBox="1"/>
          <p:nvPr/>
        </p:nvSpPr>
        <p:spPr>
          <a:xfrm>
            <a:off x="1170432" y="4339336"/>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aggfunc="sum"</a:t>
            </a:r>
            <a:endParaRPr lang="en-US" sz="1400" dirty="0"/>
          </a:p>
        </p:txBody>
      </p:sp>
      <p:sp>
        <p:nvSpPr>
          <p:cNvPr id="27" name="Text 25"/>
          <p:cNvSpPr txBox="1"/>
          <p:nvPr/>
        </p:nvSpPr>
        <p:spPr>
          <a:xfrm>
            <a:off x="6263640" y="4339336"/>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Cómo se calcula, sumando.</a:t>
            </a:r>
            <a:endParaRPr lang="en-US" sz="1600" dirty="0"/>
          </a:p>
        </p:txBody>
      </p:sp>
      <p:sp>
        <p:nvSpPr>
          <p:cNvPr id="28" name="Shape 26"/>
          <p:cNvSpPr/>
          <p:nvPr/>
        </p:nvSpPr>
        <p:spPr>
          <a:xfrm>
            <a:off x="548640" y="5061712"/>
            <a:ext cx="329184" cy="329184"/>
          </a:xfrm>
          <a:prstGeom prst="ellipse">
            <a:avLst/>
          </a:prstGeom>
          <a:solidFill>
            <a:srgbClr val="C5221F"/>
          </a:solidFill>
          <a:ln w="12700">
            <a:solidFill>
              <a:srgbClr val="C5221F"/>
            </a:solidFill>
            <a:prstDash val="solid"/>
          </a:ln>
        </p:spPr>
      </p:sp>
      <p:sp>
        <p:nvSpPr>
          <p:cNvPr id="29" name="Text 27"/>
          <p:cNvSpPr txBox="1"/>
          <p:nvPr/>
        </p:nvSpPr>
        <p:spPr>
          <a:xfrm>
            <a:off x="548640" y="50617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Shape 28"/>
          <p:cNvSpPr/>
          <p:nvPr/>
        </p:nvSpPr>
        <p:spPr>
          <a:xfrm>
            <a:off x="1051560" y="4961128"/>
            <a:ext cx="4937760" cy="530352"/>
          </a:xfrm>
          <a:prstGeom prst="roundRect">
            <a:avLst>
              <a:gd name="adj" fmla="val 8621"/>
            </a:avLst>
          </a:prstGeom>
          <a:solidFill>
            <a:srgbClr val="FCE8E6"/>
          </a:solidFill>
          <a:ln w="12700">
            <a:solidFill>
              <a:srgbClr val="FCE8E6"/>
            </a:solidFill>
            <a:prstDash val="solid"/>
          </a:ln>
        </p:spPr>
      </p:sp>
      <p:sp>
        <p:nvSpPr>
          <p:cNvPr id="31" name="Text 29"/>
          <p:cNvSpPr txBox="1"/>
          <p:nvPr/>
        </p:nvSpPr>
        <p:spPr>
          <a:xfrm>
            <a:off x="1170432" y="4961128"/>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fill_value=0</a:t>
            </a:r>
            <a:endParaRPr lang="en-US" sz="1400" dirty="0"/>
          </a:p>
        </p:txBody>
      </p:sp>
      <p:sp>
        <p:nvSpPr>
          <p:cNvPr id="32" name="Text 30"/>
          <p:cNvSpPr txBox="1"/>
          <p:nvPr/>
        </p:nvSpPr>
        <p:spPr>
          <a:xfrm>
            <a:off x="6263640" y="4961128"/>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Qué poner donde la combinación no existe.</a:t>
            </a:r>
            <a:endParaRPr lang="en-US" sz="1600" dirty="0"/>
          </a:p>
        </p:txBody>
      </p:sp>
      <p:sp>
        <p:nvSpPr>
          <p:cNvPr id="33" name="Shape 31"/>
          <p:cNvSpPr/>
          <p:nvPr/>
        </p:nvSpPr>
        <p:spPr>
          <a:xfrm>
            <a:off x="548640" y="5989320"/>
            <a:ext cx="73152" cy="548640"/>
          </a:xfrm>
          <a:prstGeom prst="rect">
            <a:avLst/>
          </a:prstGeom>
          <a:solidFill>
            <a:srgbClr val="0B3D62"/>
          </a:solidFill>
          <a:ln w="12700">
            <a:solidFill>
              <a:srgbClr val="0B3D62"/>
            </a:solidFill>
            <a:prstDash val="solid"/>
          </a:ln>
        </p:spPr>
      </p:sp>
      <p:sp>
        <p:nvSpPr>
          <p:cNvPr id="34" name="Text 3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una tabla con regiones en las filas, tecnologías en las columnas y la suma de mwh en cada casilla.</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¿Cuánto generó cada región con cada tecnología?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Las regiones quedan en las filas y las tecnologías en las columnas.</a:t>
            </a:r>
            <a:endParaRPr lang="en-US" sz="1400" dirty="0"/>
          </a:p>
        </p:txBody>
      </p:sp>
      <p:sp>
        <p:nvSpPr>
          <p:cNvPr id="6" name="Shape 4"/>
          <p:cNvSpPr/>
          <p:nvPr/>
        </p:nvSpPr>
        <p:spPr>
          <a:xfrm>
            <a:off x="548640" y="1481328"/>
            <a:ext cx="11091672" cy="1399032"/>
          </a:xfrm>
          <a:prstGeom prst="roundRect">
            <a:avLst>
              <a:gd name="adj" fmla="val 3922"/>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10085832" cy="1216152"/>
          </a:xfrm>
          <a:prstGeom prst="rect">
            <a:avLst/>
          </a:prstGeom>
          <a:noFill/>
          <a:ln/>
        </p:spPr>
        <p:txBody>
          <a:bodyPr wrap="square" lIns="0" tIns="0" rIns="0" bIns="0" rtlCol="0" anchor="t"/>
          <a:lstStyle/>
          <a:p>
            <a:pPr indent="0" marL="0">
              <a:buNone/>
            </a:pPr>
            <a:r>
              <a:rPr lang="en-US" sz="1200" i="1" dirty="0">
                <a:solidFill>
                  <a:srgbClr val="188038"/>
                </a:solidFill>
                <a:latin typeface="Courier New" pitchFamily="34" charset="0"/>
                <a:ea typeface="Courier New" pitchFamily="34" charset="-122"/>
                <a:cs typeface="Courier New" pitchFamily="34" charset="-120"/>
              </a:rPr>
              <a:t># Paso 3</a:t>
            </a:r>
            <a:endParaRPr lang="en-US" sz="1200" dirty="0"/>
          </a:p>
          <a:p>
            <a:pPr indent="0" marL="0">
              <a:buNone/>
            </a:pPr>
            <a:r>
              <a:rPr lang="en-US" sz="1200" i="1" dirty="0">
                <a:solidFill>
                  <a:srgbClr val="188038"/>
                </a:solidFill>
                <a:latin typeface="Courier New" pitchFamily="34" charset="0"/>
                <a:ea typeface="Courier New" pitchFamily="34" charset="-122"/>
                <a:cs typeface="Courier New" pitchFamily="34" charset="-120"/>
              </a:rPr>
              <a:t># pivot_table arma una tabla de doble entrada, como una tabla dinámica.</a:t>
            </a:r>
            <a:endParaRPr lang="en-US" sz="1200" dirty="0"/>
          </a:p>
          <a:p>
            <a:pPr indent="0" marL="0">
              <a:buNone/>
            </a:pPr>
            <a:r>
              <a:rPr lang="en-US" sz="1200" i="1" dirty="0">
                <a:solidFill>
                  <a:srgbClr val="188038"/>
                </a:solidFill>
                <a:latin typeface="Courier New" pitchFamily="34" charset="0"/>
                <a:ea typeface="Courier New" pitchFamily="34" charset="-122"/>
                <a:cs typeface="Courier New" pitchFamily="34" charset="-120"/>
              </a:rPr>
              <a:t># fill_value=0 pone cero donde una región no tiene esa tecnología.</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cruce = gen.pivot_table(index=</a:t>
            </a:r>
            <a:pPr indent="0" marL="0">
              <a:buNone/>
            </a:pPr>
            <a:r>
              <a:rPr lang="en-US" sz="1200" dirty="0">
                <a:solidFill>
                  <a:srgbClr val="A31515"/>
                </a:solidFill>
                <a:latin typeface="Courier New" pitchFamily="34" charset="0"/>
                <a:ea typeface="Courier New" pitchFamily="34" charset="-122"/>
                <a:cs typeface="Courier New" pitchFamily="34" charset="-120"/>
              </a:rPr>
              <a:t>"region"</a:t>
            </a:r>
            <a:pPr indent="0" marL="0">
              <a:buNone/>
            </a:pPr>
            <a:r>
              <a:rPr lang="en-US" sz="1200" dirty="0">
                <a:solidFill>
                  <a:srgbClr val="202124"/>
                </a:solidFill>
                <a:latin typeface="Courier New" pitchFamily="34" charset="0"/>
                <a:ea typeface="Courier New" pitchFamily="34" charset="-122"/>
                <a:cs typeface="Courier New" pitchFamily="34" charset="-120"/>
              </a:rPr>
              <a:t>, columns=</a:t>
            </a:r>
            <a:pPr indent="0" marL="0">
              <a:buNone/>
            </a:pPr>
            <a:r>
              <a:rPr lang="en-US" sz="1200" dirty="0">
                <a:solidFill>
                  <a:srgbClr val="A31515"/>
                </a:solidFill>
                <a:latin typeface="Courier New" pitchFamily="34" charset="0"/>
                <a:ea typeface="Courier New" pitchFamily="34" charset="-122"/>
                <a:cs typeface="Courier New" pitchFamily="34" charset="-120"/>
              </a:rPr>
              <a:t>"tecnologia"</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values=</a:t>
            </a:r>
            <a:pPr indent="0" marL="0">
              <a:buNone/>
            </a:pPr>
            <a:r>
              <a:rPr lang="en-US" sz="1200" dirty="0">
                <a:solidFill>
                  <a:srgbClr val="A31515"/>
                </a:solidFill>
                <a:latin typeface="Courier New" pitchFamily="34" charset="0"/>
                <a:ea typeface="Courier New" pitchFamily="34" charset="-122"/>
                <a:cs typeface="Courier New" pitchFamily="34" charset="-120"/>
              </a:rPr>
              <a:t>"mwh"</a:t>
            </a:r>
            <a:pPr indent="0" marL="0">
              <a:buNone/>
            </a:pPr>
            <a:r>
              <a:rPr lang="en-US" sz="1200" dirty="0">
                <a:solidFill>
                  <a:srgbClr val="202124"/>
                </a:solidFill>
                <a:latin typeface="Courier New" pitchFamily="34" charset="0"/>
                <a:ea typeface="Courier New" pitchFamily="34" charset="-122"/>
                <a:cs typeface="Courier New" pitchFamily="34" charset="-120"/>
              </a:rPr>
              <a:t>, aggfunc=</a:t>
            </a:r>
            <a:pPr indent="0" marL="0">
              <a:buNone/>
            </a:pPr>
            <a:r>
              <a:rPr lang="en-US" sz="1200" dirty="0">
                <a:solidFill>
                  <a:srgbClr val="A31515"/>
                </a:solidFill>
                <a:latin typeface="Courier New" pitchFamily="34" charset="0"/>
                <a:ea typeface="Courier New" pitchFamily="34" charset="-122"/>
                <a:cs typeface="Courier New" pitchFamily="34" charset="-120"/>
              </a:rPr>
              <a:t>"sum"</a:t>
            </a:r>
            <a:pPr indent="0" marL="0">
              <a:buNone/>
            </a:pPr>
            <a:r>
              <a:rPr lang="en-US" sz="1200" dirty="0">
                <a:solidFill>
                  <a:srgbClr val="202124"/>
                </a:solidFill>
                <a:latin typeface="Courier New" pitchFamily="34" charset="0"/>
                <a:ea typeface="Courier New" pitchFamily="34" charset="-122"/>
                <a:cs typeface="Courier New" pitchFamily="34" charset="-120"/>
              </a:rPr>
              <a:t>, fill_value=0)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cruce.round()</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1325880" y="2990088"/>
          <a:ext cx="9144000" cy="914400"/>
        </p:xfrm>
        <a:graphic>
          <a:graphicData uri="http://schemas.openxmlformats.org/drawingml/2006/table">
            <a:tbl>
              <a:tblPr/>
              <a:tblGrid>
                <a:gridCol w="1371600"/>
                <a:gridCol w="1097280"/>
                <a:gridCol w="914400"/>
                <a:gridCol w="1097280"/>
                <a:gridCol w="1097280"/>
                <a:gridCol w="1097280"/>
                <a:gridCol w="1005840"/>
              </a:tblGrid>
              <a:tr h="237744">
                <a:tc>
                  <a:txBody>
                    <a:bodyPr/>
                    <a:lstStyle/>
                    <a:p>
                      <a:pPr indent="0" marL="0">
                        <a:buNone/>
                      </a:pP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carbon</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diesel</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eolica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gas</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hidro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solar</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Antofagasta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1967910.0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479681.0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Atacama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191996.0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Biobío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2698913.0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1688455.0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4151930.0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Coquimbo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1332263.0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Los Lagos</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1954422.0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Metropolitana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40710.0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1222999.0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Valparaíso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233637.0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2182673.0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11" name="Shape 8"/>
          <p:cNvSpPr/>
          <p:nvPr/>
        </p:nvSpPr>
        <p:spPr>
          <a:xfrm>
            <a:off x="1325880" y="5047488"/>
            <a:ext cx="10314432" cy="566928"/>
          </a:xfrm>
          <a:prstGeom prst="roundRect">
            <a:avLst>
              <a:gd name="adj" fmla="val 9677"/>
            </a:avLst>
          </a:prstGeom>
          <a:solidFill>
            <a:srgbClr val="FFF8D6"/>
          </a:solidFill>
          <a:ln w="12700">
            <a:solidFill>
              <a:srgbClr val="FFF8D6"/>
            </a:solidFill>
            <a:prstDash val="solid"/>
          </a:ln>
        </p:spPr>
      </p:sp>
      <p:sp>
        <p:nvSpPr>
          <p:cNvPr id="12" name="Text 9"/>
          <p:cNvSpPr txBox="1"/>
          <p:nvPr/>
        </p:nvSpPr>
        <p:spPr>
          <a:xfrm>
            <a:off x="1508760" y="5047488"/>
            <a:ext cx="9948672" cy="566928"/>
          </a:xfrm>
          <a:prstGeom prst="rect">
            <a:avLst/>
          </a:prstGeom>
          <a:noFill/>
          <a:ln/>
        </p:spPr>
        <p:txBody>
          <a:bodyPr wrap="square" lIns="0" tIns="0" rIns="0" bIns="0" rtlCol="0" anchor="ctr"/>
          <a:lstStyle/>
          <a:p>
            <a:pPr indent="0" marL="0">
              <a:buNone/>
            </a:pPr>
            <a:r>
              <a:rPr lang="en-US" sz="1400" b="1" dirty="0">
                <a:solidFill>
                  <a:srgbClr val="8A6D00"/>
                </a:solidFill>
                <a:latin typeface="Calibri" pitchFamily="34" charset="0"/>
                <a:ea typeface="Calibri" pitchFamily="34" charset="-122"/>
                <a:cs typeface="Calibri" pitchFamily="34" charset="-120"/>
              </a:rPr>
              <a:t>pivot_table es una tabla dinámica escrita en código.  </a:t>
            </a:r>
            <a:pPr indent="0" marL="0">
              <a:buNone/>
            </a:pPr>
            <a:r>
              <a:rPr lang="en-US" sz="1400" dirty="0">
                <a:solidFill>
                  <a:srgbClr val="202124"/>
                </a:solidFill>
                <a:latin typeface="Calibri" pitchFamily="34" charset="0"/>
                <a:ea typeface="Calibri" pitchFamily="34" charset="-122"/>
                <a:cs typeface="Calibri" pitchFamily="34" charset="-120"/>
              </a:rPr>
              <a:t>Lo que va en las filas, lo que va en las columnas y qué se calcula en cada celda.</a:t>
            </a:r>
            <a:endParaRPr lang="en-US" sz="1400" dirty="0"/>
          </a:p>
        </p:txBody>
      </p:sp>
      <p:sp>
        <p:nvSpPr>
          <p:cNvPr id="14" name="Text 10"/>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5" name="Shape 11"/>
          <p:cNvSpPr/>
          <p:nvPr/>
        </p:nvSpPr>
        <p:spPr>
          <a:xfrm>
            <a:off x="548640" y="6062472"/>
            <a:ext cx="1810512" cy="566928"/>
          </a:xfrm>
          <a:prstGeom prst="roundRect">
            <a:avLst>
              <a:gd name="adj" fmla="val 11290"/>
            </a:avLst>
          </a:prstGeom>
          <a:solidFill>
            <a:srgbClr val="E8F0FE"/>
          </a:solidFill>
          <a:ln w="28575">
            <a:solidFill>
              <a:srgbClr val="1A73E8"/>
            </a:solidFill>
            <a:prstDash val="solid"/>
          </a:ln>
        </p:spPr>
      </p:sp>
      <p:sp>
        <p:nvSpPr>
          <p:cNvPr id="16" name="Text 12"/>
          <p:cNvSpPr txBox="1"/>
          <p:nvPr/>
        </p:nvSpPr>
        <p:spPr>
          <a:xfrm>
            <a:off x="640080"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gen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175680 × 8</a:t>
            </a:r>
            <a:endParaRPr lang="en-US" sz="1200" dirty="0"/>
          </a:p>
        </p:txBody>
      </p:sp>
      <p:sp>
        <p:nvSpPr>
          <p:cNvPr id="17" name="Shape 13"/>
          <p:cNvSpPr/>
          <p:nvPr/>
        </p:nvSpPr>
        <p:spPr>
          <a:xfrm>
            <a:off x="2496312" y="6062472"/>
            <a:ext cx="1330452" cy="566928"/>
          </a:xfrm>
          <a:prstGeom prst="roundRect">
            <a:avLst>
              <a:gd name="adj" fmla="val 11290"/>
            </a:avLst>
          </a:prstGeom>
          <a:solidFill>
            <a:srgbClr val="FEF3D6"/>
          </a:solidFill>
          <a:ln w="25400">
            <a:solidFill>
              <a:srgbClr val="F9AB00"/>
            </a:solidFill>
            <a:prstDash val="solid"/>
          </a:ln>
        </p:spPr>
      </p:sp>
      <p:sp>
        <p:nvSpPr>
          <p:cNvPr id="18" name="Text 14"/>
          <p:cNvSpPr txBox="1"/>
          <p:nvPr/>
        </p:nvSpPr>
        <p:spPr>
          <a:xfrm>
            <a:off x="2587752"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cruce</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 × 6</a:t>
            </a:r>
            <a:endParaRPr lang="en-US" sz="1200" dirty="0"/>
          </a:p>
        </p:txBody>
      </p:sp>
      <p:sp>
        <p:nvSpPr>
          <p:cNvPr id="19" name="Shape 15"/>
          <p:cNvSpPr/>
          <p:nvPr/>
        </p:nvSpPr>
        <p:spPr>
          <a:xfrm>
            <a:off x="3963924" y="6062472"/>
            <a:ext cx="1143000" cy="566928"/>
          </a:xfrm>
          <a:prstGeom prst="roundRect">
            <a:avLst>
              <a:gd name="adj" fmla="val 11290"/>
            </a:avLst>
          </a:prstGeom>
          <a:solidFill>
            <a:srgbClr val="F1F3F4"/>
          </a:solidFill>
          <a:ln w="12700">
            <a:solidFill>
              <a:srgbClr val="DADCE0"/>
            </a:solidFill>
            <a:prstDash val="solid"/>
          </a:ln>
        </p:spPr>
      </p:sp>
      <p:sp>
        <p:nvSpPr>
          <p:cNvPr id="20" name="Text 16"/>
          <p:cNvSpPr txBox="1"/>
          <p:nvPr/>
        </p:nvSpPr>
        <p:spPr>
          <a:xfrm>
            <a:off x="4055364"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total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4151930</a:t>
            </a:r>
            <a:endParaRPr lang="en-US" sz="1200" dirty="0"/>
          </a:p>
        </p:txBody>
      </p:sp>
      <p:sp>
        <p:nvSpPr>
          <p:cNvPr id="21" name="Shape 17"/>
          <p:cNvSpPr/>
          <p:nvPr/>
        </p:nvSpPr>
        <p:spPr>
          <a:xfrm>
            <a:off x="5244084" y="6062472"/>
            <a:ext cx="1714500" cy="566928"/>
          </a:xfrm>
          <a:prstGeom prst="roundRect">
            <a:avLst>
              <a:gd name="adj" fmla="val 11290"/>
            </a:avLst>
          </a:prstGeom>
          <a:solidFill>
            <a:srgbClr val="F1F3F4"/>
          </a:solidFill>
          <a:ln w="12700">
            <a:solidFill>
              <a:srgbClr val="DADCE0"/>
            </a:solidFill>
            <a:prstDash val="solid"/>
          </a:ln>
        </p:spPr>
      </p:sp>
      <p:sp>
        <p:nvSpPr>
          <p:cNvPr id="22" name="Text 18"/>
          <p:cNvSpPr txBox="1"/>
          <p:nvPr/>
        </p:nvSpPr>
        <p:spPr>
          <a:xfrm>
            <a:off x="5335524"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26352 × 8</a:t>
            </a:r>
            <a:endParaRPr lang="en-US" sz="1200" dirty="0"/>
          </a:p>
        </p:txBody>
      </p:sp>
      <p:sp>
        <p:nvSpPr>
          <p:cNvPr id="23" name="Shape 19"/>
          <p:cNvSpPr/>
          <p:nvPr/>
        </p:nvSpPr>
        <p:spPr>
          <a:xfrm>
            <a:off x="7095744" y="6062472"/>
            <a:ext cx="1143000" cy="566928"/>
          </a:xfrm>
          <a:prstGeom prst="roundRect">
            <a:avLst>
              <a:gd name="adj" fmla="val 11290"/>
            </a:avLst>
          </a:prstGeom>
          <a:solidFill>
            <a:srgbClr val="F1F3F4"/>
          </a:solidFill>
          <a:ln w="12700">
            <a:solidFill>
              <a:srgbClr val="DADCE0"/>
            </a:solidFill>
            <a:prstDash val="solid"/>
          </a:ln>
        </p:spPr>
      </p:sp>
      <p:sp>
        <p:nvSpPr>
          <p:cNvPr id="24" name="Text 20"/>
          <p:cNvSpPr txBox="1"/>
          <p:nvPr/>
        </p:nvSpPr>
        <p:spPr>
          <a:xfrm>
            <a:off x="7187184"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region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"Biobío"</a:t>
            </a:r>
            <a:endParaRPr lang="en-US" sz="1200" dirty="0"/>
          </a:p>
        </p:txBody>
      </p:sp>
      <p:sp>
        <p:nvSpPr>
          <p:cNvPr id="25" name="Shape 21"/>
          <p:cNvSpPr/>
          <p:nvPr/>
        </p:nvSpPr>
        <p:spPr>
          <a:xfrm>
            <a:off x="8375904" y="6062472"/>
            <a:ext cx="1234440" cy="566928"/>
          </a:xfrm>
          <a:prstGeom prst="roundRect">
            <a:avLst>
              <a:gd name="adj" fmla="val 11290"/>
            </a:avLst>
          </a:prstGeom>
          <a:solidFill>
            <a:srgbClr val="F1F3F4"/>
          </a:solidFill>
          <a:ln w="12700">
            <a:solidFill>
              <a:srgbClr val="DADCE0"/>
            </a:solidFill>
            <a:prstDash val="solid"/>
          </a:ln>
        </p:spPr>
      </p:sp>
      <p:sp>
        <p:nvSpPr>
          <p:cNvPr id="26" name="Text 22"/>
          <p:cNvSpPr txBox="1"/>
          <p:nvPr/>
        </p:nvSpPr>
        <p:spPr>
          <a:xfrm>
            <a:off x="8467344" y="6071616"/>
            <a:ext cx="109728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"hidro"</a:t>
            </a:r>
            <a:endParaRPr lang="en-US" sz="1200" dirty="0"/>
          </a:p>
        </p:txBody>
      </p:sp>
      <p:sp>
        <p:nvSpPr>
          <p:cNvPr id="27" name="Text 23"/>
          <p:cNvSpPr txBox="1"/>
          <p:nvPr/>
        </p:nvSpPr>
        <p:spPr>
          <a:xfrm>
            <a:off x="9747504"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5 más</a:t>
            </a:r>
            <a:endParaRPr lang="en-US" sz="1200" dirty="0"/>
          </a:p>
        </p:txBody>
      </p:sp>
      <p:sp>
        <p:nvSpPr>
          <p:cNvPr id="28" name="Text 24"/>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Una tabla de doble entrada. Los ceros son combinaciones que no existen.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¿Sube el precio cuando sube la demanda?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cómo se unen dos tablas por tres columnas a la vez.</a:t>
            </a:r>
            <a:endParaRPr lang="en-US" sz="1400" dirty="0"/>
          </a:p>
        </p:txBody>
      </p:sp>
      <p:pic>
        <p:nvPicPr>
          <p:cNvPr id="6" name="Image 0" descr="../../repo/modulos/modulo02/img/lab02_paso8_merge.png">    </p:cNvPr>
          <p:cNvPicPr>
            <a:picLocks noChangeAspect="1"/>
          </p:cNvPicPr>
          <p:nvPr/>
        </p:nvPicPr>
        <p:blipFill>
          <a:blip r:embed="rId1"/>
          <a:stretch>
            <a:fillRect/>
          </a:stretch>
        </p:blipFill>
        <p:spPr>
          <a:xfrm>
            <a:off x="1471870" y="1463040"/>
            <a:ext cx="9245213" cy="46177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¿Sube el precio cuando sube la demanda?</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Une los precios de enero con la demanda de enero.</a:t>
            </a:r>
            <a:endParaRPr lang="en-US" sz="1400" dirty="0"/>
          </a:p>
        </p:txBody>
      </p:sp>
      <p:sp>
        <p:nvSpPr>
          <p:cNvPr id="7" name="Shape 4"/>
          <p:cNvSpPr/>
          <p:nvPr/>
        </p:nvSpPr>
        <p:spPr>
          <a:xfrm>
            <a:off x="548640" y="1481328"/>
            <a:ext cx="11091672" cy="2948940"/>
          </a:xfrm>
          <a:prstGeom prst="roundRect">
            <a:avLst>
              <a:gd name="adj" fmla="val 1860"/>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10085832" cy="276606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4</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import requests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respuesta = requests.get(DATOS + </a:t>
            </a:r>
            <a:pPr indent="0" marL="0">
              <a:buNone/>
            </a:pPr>
            <a:r>
              <a:rPr lang="en-US" sz="1300" dirty="0">
                <a:solidFill>
                  <a:srgbClr val="A31515"/>
                </a:solidFill>
                <a:latin typeface="Courier New" pitchFamily="34" charset="0"/>
                <a:ea typeface="Courier New" pitchFamily="34" charset="-122"/>
                <a:cs typeface="Courier New" pitchFamily="34" charset="-120"/>
              </a:rPr>
              <a:t>"precios_nudo.json"</a:t>
            </a:r>
            <a:pPr indent="0" marL="0">
              <a:buNone/>
            </a:pPr>
            <a:r>
              <a:rPr lang="en-US" sz="1300" dirty="0">
                <a:solidFill>
                  <a:srgbClr val="202124"/>
                </a:solidFill>
                <a:latin typeface="Courier New" pitchFamily="34" charset="0"/>
                <a:ea typeface="Courier New" pitchFamily="34" charset="-122"/>
                <a:cs typeface="Courier New" pitchFamily="34" charset="-120"/>
              </a:rPr>
              <a:t>).json()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precios = pd.json_normalize(respuesta[</a:t>
            </a:r>
            <a:pPr indent="0" marL="0">
              <a:buNone/>
            </a:pPr>
            <a:r>
              <a:rPr lang="en-US" sz="1300" dirty="0">
                <a:solidFill>
                  <a:srgbClr val="A31515"/>
                </a:solidFill>
                <a:latin typeface="Courier New" pitchFamily="34" charset="0"/>
                <a:ea typeface="Courier New" pitchFamily="34" charset="-122"/>
                <a:cs typeface="Courier New" pitchFamily="34" charset="-120"/>
              </a:rPr>
              <a:t>"datos"</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precios[</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 = pd.to_datetime(precios[</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Se unen por fecha, hora y región a la vez.</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mix = pd.merge(precios, demanda, on=[</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"hora"</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"region"</a:t>
            </a:r>
            <a:pPr indent="0" marL="0">
              <a:buNone/>
            </a:pPr>
            <a:r>
              <a:rPr lang="en-US" sz="1300" dirty="0">
                <a:solidFill>
                  <a:srgbClr val="202124"/>
                </a:solidFill>
                <a:latin typeface="Courier New" pitchFamily="34" charset="0"/>
                <a:ea typeface="Courier New" pitchFamily="34" charset="-122"/>
                <a:cs typeface="Courier New" pitchFamily="34" charset="-120"/>
              </a:rPr>
              <a:t>], how=</a:t>
            </a:r>
            <a:pPr indent="0" marL="0">
              <a:buNone/>
            </a:pPr>
            <a:r>
              <a:rPr lang="en-US" sz="1300" dirty="0">
                <a:solidFill>
                  <a:srgbClr val="A31515"/>
                </a:solidFill>
                <a:latin typeface="Courier New" pitchFamily="34" charset="0"/>
                <a:ea typeface="Courier New" pitchFamily="34" charset="-122"/>
                <a:cs typeface="Courier New" pitchFamily="34" charset="-120"/>
              </a:rPr>
              <a:t>"inner"</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"Filas unidas"</a:t>
            </a:r>
            <a:pPr indent="0" marL="0">
              <a:buNone/>
            </a:pPr>
            <a:r>
              <a:rPr lang="en-US" sz="1300" dirty="0">
                <a:solidFill>
                  <a:srgbClr val="202124"/>
                </a:solidFill>
                <a:latin typeface="Courier New" pitchFamily="34" charset="0"/>
                <a:ea typeface="Courier New" pitchFamily="34" charset="-122"/>
                <a:cs typeface="Courier New" pitchFamily="34" charset="-120"/>
              </a:rPr>
              <a:t>, len(mix))</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La correlación va de -1 a 1. Cerca de 1 es que suben juntos.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correlacion_total = round(mix[</a:t>
            </a:r>
            <a:pPr indent="0" marL="0">
              <a:buNone/>
            </a:pPr>
            <a:r>
              <a:rPr lang="en-US" sz="1300" dirty="0">
                <a:solidFill>
                  <a:srgbClr val="A31515"/>
                </a:solidFill>
                <a:latin typeface="Courier New" pitchFamily="34" charset="0"/>
                <a:ea typeface="Courier New" pitchFamily="34" charset="-122"/>
                <a:cs typeface="Courier New" pitchFamily="34" charset="-120"/>
              </a:rPr>
              <a:t>"precio_usd_mwh"</a:t>
            </a:r>
            <a:pPr indent="0" marL="0">
              <a:buNone/>
            </a:pPr>
            <a:r>
              <a:rPr lang="en-US" sz="1300" dirty="0">
                <a:solidFill>
                  <a:srgbClr val="202124"/>
                </a:solidFill>
                <a:latin typeface="Courier New" pitchFamily="34" charset="0"/>
                <a:ea typeface="Courier New" pitchFamily="34" charset="-122"/>
                <a:cs typeface="Courier New" pitchFamily="34" charset="-120"/>
              </a:rPr>
              <a:t>].corr(mix[</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 3)</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 Correlación con todas las regiones"</a:t>
            </a:r>
            <a:pPr indent="0" marL="0">
              <a:buNone/>
            </a:pPr>
            <a:r>
              <a:rPr lang="en-US" sz="1300" dirty="0">
                <a:solidFill>
                  <a:srgbClr val="202124"/>
                </a:solidFill>
                <a:latin typeface="Courier New" pitchFamily="34" charset="0"/>
                <a:ea typeface="Courier New" pitchFamily="34" charset="-122"/>
                <a:cs typeface="Courier New" pitchFamily="34" charset="-120"/>
              </a:rPr>
              <a:t>, correlacion_total)</a:t>
            </a:r>
            <a:endParaRPr lang="en-US" sz="1300" dirty="0"/>
          </a:p>
        </p:txBody>
      </p:sp>
      <p:sp>
        <p:nvSpPr>
          <p:cNvPr id="11" name="Text 8"/>
          <p:cNvSpPr txBox="1"/>
          <p:nvPr/>
        </p:nvSpPr>
        <p:spPr>
          <a:xfrm>
            <a:off x="1325880" y="446684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10"/>
          <p:cNvSpPr/>
          <p:nvPr/>
        </p:nvSpPr>
        <p:spPr>
          <a:xfrm>
            <a:off x="548640" y="6062472"/>
            <a:ext cx="1330452" cy="566928"/>
          </a:xfrm>
          <a:prstGeom prst="roundRect">
            <a:avLst>
              <a:gd name="adj" fmla="val 11290"/>
            </a:avLst>
          </a:prstGeom>
          <a:solidFill>
            <a:srgbClr val="F1F3F4"/>
          </a:solidFill>
          <a:ln w="12700">
            <a:solidFill>
              <a:srgbClr val="DADCE0"/>
            </a:solidFill>
            <a:prstDash val="solid"/>
          </a:ln>
        </p:spPr>
      </p:sp>
      <p:sp>
        <p:nvSpPr>
          <p:cNvPr id="14" name="Text 11"/>
          <p:cNvSpPr txBox="1"/>
          <p:nvPr/>
        </p:nvSpPr>
        <p:spPr>
          <a:xfrm>
            <a:off x="640080"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cruce</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 × 6</a:t>
            </a:r>
            <a:endParaRPr lang="en-US" sz="1200" dirty="0"/>
          </a:p>
        </p:txBody>
      </p:sp>
      <p:sp>
        <p:nvSpPr>
          <p:cNvPr id="15" name="Shape 12"/>
          <p:cNvSpPr/>
          <p:nvPr/>
        </p:nvSpPr>
        <p:spPr>
          <a:xfrm>
            <a:off x="2016252" y="6062472"/>
            <a:ext cx="1143000"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210769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total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4151930</a:t>
            </a:r>
            <a:endParaRPr lang="en-US" sz="1200" dirty="0"/>
          </a:p>
        </p:txBody>
      </p:sp>
      <p:sp>
        <p:nvSpPr>
          <p:cNvPr id="17" name="Shape 14"/>
          <p:cNvSpPr/>
          <p:nvPr/>
        </p:nvSpPr>
        <p:spPr>
          <a:xfrm>
            <a:off x="3296412" y="6062472"/>
            <a:ext cx="1714500"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3387852"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elegidas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26352 × 8</a:t>
            </a:r>
            <a:endParaRPr lang="en-US" sz="1200" dirty="0"/>
          </a:p>
        </p:txBody>
      </p:sp>
      <p:sp>
        <p:nvSpPr>
          <p:cNvPr id="19" name="Shape 16"/>
          <p:cNvSpPr/>
          <p:nvPr/>
        </p:nvSpPr>
        <p:spPr>
          <a:xfrm>
            <a:off x="5148072" y="6062472"/>
            <a:ext cx="114300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523951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region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"Biobío"</a:t>
            </a:r>
            <a:endParaRPr lang="en-US" sz="1200" dirty="0"/>
          </a:p>
        </p:txBody>
      </p:sp>
      <p:sp>
        <p:nvSpPr>
          <p:cNvPr id="21" name="Shape 18"/>
          <p:cNvSpPr/>
          <p:nvPr/>
        </p:nvSpPr>
        <p:spPr>
          <a:xfrm>
            <a:off x="6428232" y="6062472"/>
            <a:ext cx="1234440"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6519672" y="6071616"/>
            <a:ext cx="109728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"hidro"</a:t>
            </a:r>
            <a:endParaRPr lang="en-US" sz="1200" dirty="0"/>
          </a:p>
        </p:txBody>
      </p:sp>
      <p:sp>
        <p:nvSpPr>
          <p:cNvPr id="23" name="Shape 20"/>
          <p:cNvSpPr/>
          <p:nvPr/>
        </p:nvSpPr>
        <p:spPr>
          <a:xfrm>
            <a:off x="7799832" y="6062472"/>
            <a:ext cx="1810512"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7891272"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gen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175680 × 8</a:t>
            </a:r>
            <a:endParaRPr lang="en-US" sz="1200" dirty="0"/>
          </a:p>
        </p:txBody>
      </p:sp>
      <p:sp>
        <p:nvSpPr>
          <p:cNvPr id="25" name="Text 22"/>
          <p:cNvSpPr txBox="1"/>
          <p:nvPr/>
        </p:nvSpPr>
        <p:spPr>
          <a:xfrm>
            <a:off x="9747504"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5 más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¿Sube el precio cuando sube la demanda?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mix = pd.merge(precios, demanda, on=[</a:t>
            </a:r>
            <a:pPr indent="0" marL="0">
              <a:buNone/>
            </a:pPr>
            <a:r>
              <a:rPr lang="en-US" sz="1600" dirty="0">
                <a:solidFill>
                  <a:srgbClr val="A31515"/>
                </a:solidFill>
                <a:latin typeface="Courier New" pitchFamily="34" charset="0"/>
                <a:ea typeface="Courier New" pitchFamily="34" charset="-122"/>
                <a:cs typeface="Courier New" pitchFamily="34" charset="-120"/>
              </a:rPr>
              <a:t>"fecha"</a:t>
            </a:r>
            <a:pPr indent="0" marL="0">
              <a:buNone/>
            </a:pPr>
            <a:r>
              <a:rPr lang="en-US" sz="1600" dirty="0">
                <a:solidFill>
                  <a:srgbClr val="202124"/>
                </a:solidFill>
                <a:latin typeface="Courier New" pitchFamily="34" charset="0"/>
                <a:ea typeface="Courier New" pitchFamily="34" charset="-122"/>
                <a:cs typeface="Courier New" pitchFamily="34" charset="-120"/>
              </a:rPr>
              <a:t>, </a:t>
            </a:r>
            <a:pPr indent="0" marL="0">
              <a:buNone/>
            </a:pPr>
            <a:r>
              <a:rPr lang="en-US" sz="1600" dirty="0">
                <a:solidFill>
                  <a:srgbClr val="A31515"/>
                </a:solidFill>
                <a:latin typeface="Courier New" pitchFamily="34" charset="0"/>
                <a:ea typeface="Courier New" pitchFamily="34" charset="-122"/>
                <a:cs typeface="Courier New" pitchFamily="34" charset="-120"/>
              </a:rPr>
              <a:t>"hora"</a:t>
            </a:r>
            <a:pPr indent="0" marL="0">
              <a:buNone/>
            </a:pPr>
            <a:r>
              <a:rPr lang="en-US" sz="1600" dirty="0">
                <a:solidFill>
                  <a:srgbClr val="202124"/>
                </a:solidFill>
                <a:latin typeface="Courier New" pitchFamily="34" charset="0"/>
                <a:ea typeface="Courier New" pitchFamily="34" charset="-122"/>
                <a:cs typeface="Courier New" pitchFamily="34" charset="-120"/>
              </a:rPr>
              <a:t>, </a:t>
            </a:r>
            <a:pPr indent="0" marL="0">
              <a:buNone/>
            </a:pPr>
            <a:r>
              <a:rPr lang="en-US" sz="1600" dirty="0">
                <a:solidFill>
                  <a:srgbClr val="A31515"/>
                </a:solidFill>
                <a:latin typeface="Courier New" pitchFamily="34" charset="0"/>
                <a:ea typeface="Courier New" pitchFamily="34" charset="-122"/>
                <a:cs typeface="Courier New" pitchFamily="34" charset="-120"/>
              </a:rPr>
              <a:t>"region"</a:t>
            </a:r>
            <a:pPr indent="0" marL="0">
              <a:buNone/>
            </a:pPr>
            <a:r>
              <a:rPr lang="en-US" sz="1600" dirty="0">
                <a:solidFill>
                  <a:srgbClr val="202124"/>
                </a:solidFill>
                <a:latin typeface="Courier New" pitchFamily="34" charset="0"/>
                <a:ea typeface="Courier New" pitchFamily="34" charset="-122"/>
                <a:cs typeface="Courier New" pitchFamily="34" charset="-120"/>
              </a:rPr>
              <a:t>], how=</a:t>
            </a:r>
            <a:pPr indent="0" marL="0">
              <a:buNone/>
            </a:pPr>
            <a:r>
              <a:rPr lang="en-US" sz="1600" dirty="0">
                <a:solidFill>
                  <a:srgbClr val="A31515"/>
                </a:solidFill>
                <a:latin typeface="Courier New" pitchFamily="34" charset="0"/>
                <a:ea typeface="Courier New" pitchFamily="34" charset="-122"/>
                <a:cs typeface="Courier New" pitchFamily="34" charset="-120"/>
              </a:rPr>
              <a:t>"inner"</a:t>
            </a:r>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p:txBody>
      </p:sp>
      <p:sp>
        <p:nvSpPr>
          <p:cNvPr id="8" name="Shape 6"/>
          <p:cNvSpPr/>
          <p:nvPr/>
        </p:nvSpPr>
        <p:spPr>
          <a:xfrm>
            <a:off x="548640" y="2375408"/>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754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1996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on=["fecha", "hora", "region"]</a:t>
            </a:r>
            <a:endParaRPr lang="en-US" sz="1400" dirty="0"/>
          </a:p>
        </p:txBody>
      </p:sp>
      <p:sp>
        <p:nvSpPr>
          <p:cNvPr id="12" name="Text 10"/>
          <p:cNvSpPr txBox="1"/>
          <p:nvPr/>
        </p:nvSpPr>
        <p:spPr>
          <a:xfrm>
            <a:off x="6263640" y="221996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Una lista de columnas. La pareja se busca con las tres a la vez.</a:t>
            </a:r>
            <a:endParaRPr lang="en-US" sz="1600" dirty="0"/>
          </a:p>
        </p:txBody>
      </p:sp>
      <p:sp>
        <p:nvSpPr>
          <p:cNvPr id="13" name="Shape 11"/>
          <p:cNvSpPr/>
          <p:nvPr/>
        </p:nvSpPr>
        <p:spPr>
          <a:xfrm>
            <a:off x="548640" y="3239516"/>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23951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51480"/>
            <a:ext cx="4937760" cy="905256"/>
          </a:xfrm>
          <a:prstGeom prst="roundRect">
            <a:avLst>
              <a:gd name="adj" fmla="val 5051"/>
            </a:avLst>
          </a:prstGeom>
          <a:solidFill>
            <a:srgbClr val="DCEFE0"/>
          </a:solidFill>
          <a:ln w="12700">
            <a:solidFill>
              <a:srgbClr val="DCEFE0"/>
            </a:solidFill>
            <a:prstDash val="solid"/>
          </a:ln>
        </p:spPr>
      </p:sp>
      <p:sp>
        <p:nvSpPr>
          <p:cNvPr id="16" name="Text 14"/>
          <p:cNvSpPr txBox="1"/>
          <p:nvPr/>
        </p:nvSpPr>
        <p:spPr>
          <a:xfrm>
            <a:off x="1170432" y="2951480"/>
            <a:ext cx="4754880" cy="905256"/>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how="inner"</a:t>
            </a:r>
            <a:endParaRPr lang="en-US" sz="1400" dirty="0"/>
          </a:p>
        </p:txBody>
      </p:sp>
      <p:sp>
        <p:nvSpPr>
          <p:cNvPr id="17" name="Text 15"/>
          <p:cNvSpPr txBox="1"/>
          <p:nvPr/>
        </p:nvSpPr>
        <p:spPr>
          <a:xfrm>
            <a:off x="6263640" y="2951480"/>
            <a:ext cx="5376672" cy="905256"/>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Quedan solo las combinaciones que están en las dos tablas. Los precios son de enero, así que queda enero.</a:t>
            </a:r>
            <a:endParaRPr lang="en-US" sz="1600" dirty="0"/>
          </a:p>
        </p:txBody>
      </p:sp>
      <p:sp>
        <p:nvSpPr>
          <p:cNvPr id="18" name="Shape 16"/>
          <p:cNvSpPr/>
          <p:nvPr/>
        </p:nvSpPr>
        <p:spPr>
          <a:xfrm>
            <a:off x="548640" y="5989320"/>
            <a:ext cx="73152" cy="548640"/>
          </a:xfrm>
          <a:prstGeom prst="rect">
            <a:avLst/>
          </a:prstGeom>
          <a:solidFill>
            <a:srgbClr val="0B3D62"/>
          </a:solidFill>
          <a:ln w="12700">
            <a:solidFill>
              <a:srgbClr val="0B3D62"/>
            </a:solidFill>
            <a:prstDash val="solid"/>
          </a:ln>
        </p:spPr>
      </p:sp>
      <p:sp>
        <p:nvSpPr>
          <p:cNvPr id="19" name="Text 1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une precios y demanda donde coinciden fecha, hora y región.</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¿Sube el precio cuando sube la demanda?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mix[</a:t>
            </a:r>
            <a:pPr indent="0" marL="0">
              <a:buNone/>
            </a:pPr>
            <a:r>
              <a:rPr lang="en-US" sz="1600" dirty="0">
                <a:solidFill>
                  <a:srgbClr val="A31515"/>
                </a:solidFill>
                <a:latin typeface="Courier New" pitchFamily="34" charset="0"/>
                <a:ea typeface="Courier New" pitchFamily="34" charset="-122"/>
                <a:cs typeface="Courier New" pitchFamily="34" charset="-120"/>
              </a:rPr>
              <a:t>"precio_usd_mwh"</a:t>
            </a:r>
            <a:pPr indent="0" marL="0">
              <a:buNone/>
            </a:pPr>
            <a:r>
              <a:rPr lang="en-US" sz="1600" dirty="0">
                <a:solidFill>
                  <a:srgbClr val="202124"/>
                </a:solidFill>
                <a:latin typeface="Courier New" pitchFamily="34" charset="0"/>
                <a:ea typeface="Courier New" pitchFamily="34" charset="-122"/>
                <a:cs typeface="Courier New" pitchFamily="34" charset="-120"/>
              </a:rPr>
              <a:t>].corr(mix[</a:t>
            </a:r>
            <a:pPr indent="0" marL="0">
              <a:buNone/>
            </a:pPr>
            <a:r>
              <a:rPr lang="en-US" sz="1600" dirty="0">
                <a:solidFill>
                  <a:srgbClr val="A31515"/>
                </a:solidFill>
                <a:latin typeface="Courier New" pitchFamily="34" charset="0"/>
                <a:ea typeface="Courier New" pitchFamily="34" charset="-122"/>
                <a:cs typeface="Courier New" pitchFamily="34" charset="-120"/>
              </a:rPr>
              <a:t>"mwh"</a:t>
            </a:r>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p:txBody>
      </p:sp>
      <p:sp>
        <p:nvSpPr>
          <p:cNvPr id="8" name="Shape 6"/>
          <p:cNvSpPr/>
          <p:nvPr/>
        </p:nvSpPr>
        <p:spPr>
          <a:xfrm>
            <a:off x="548640" y="2320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20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219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mix["precio_usd_mwh"]</a:t>
            </a:r>
            <a:endParaRPr lang="en-US" sz="1400" dirty="0"/>
          </a:p>
        </p:txBody>
      </p:sp>
      <p:sp>
        <p:nvSpPr>
          <p:cNvPr id="12" name="Text 10"/>
          <p:cNvSpPr txBox="1"/>
          <p:nvPr/>
        </p:nvSpPr>
        <p:spPr>
          <a:xfrm>
            <a:off x="6263640" y="2219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columna de precios.</a:t>
            </a:r>
            <a:endParaRPr lang="en-US" sz="1600" dirty="0"/>
          </a:p>
        </p:txBody>
      </p:sp>
      <p:sp>
        <p:nvSpPr>
          <p:cNvPr id="13" name="Shape 11"/>
          <p:cNvSpPr/>
          <p:nvPr/>
        </p:nvSpPr>
        <p:spPr>
          <a:xfrm>
            <a:off x="548640" y="2997200"/>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29972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1752"/>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284175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.corr( ... )</a:t>
            </a:r>
            <a:endParaRPr lang="en-US" sz="1400" dirty="0"/>
          </a:p>
        </p:txBody>
      </p:sp>
      <p:sp>
        <p:nvSpPr>
          <p:cNvPr id="17" name="Text 15"/>
          <p:cNvSpPr txBox="1"/>
          <p:nvPr/>
        </p:nvSpPr>
        <p:spPr>
          <a:xfrm>
            <a:off x="6263640" y="284175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Calcula la correlación con la columna que va adentro, la demanda. Va de -1 a 1.</a:t>
            </a:r>
            <a:endParaRPr lang="en-US" sz="1600" dirty="0"/>
          </a:p>
        </p:txBody>
      </p:sp>
      <p:sp>
        <p:nvSpPr>
          <p:cNvPr id="18" name="Shape 16"/>
          <p:cNvSpPr/>
          <p:nvPr/>
        </p:nvSpPr>
        <p:spPr>
          <a:xfrm>
            <a:off x="548640" y="5989320"/>
            <a:ext cx="73152" cy="548640"/>
          </a:xfrm>
          <a:prstGeom prst="rect">
            <a:avLst/>
          </a:prstGeom>
          <a:solidFill>
            <a:srgbClr val="0B3D62"/>
          </a:solidFill>
          <a:ln w="12700">
            <a:solidFill>
              <a:srgbClr val="0B3D62"/>
            </a:solidFill>
            <a:prstDash val="solid"/>
          </a:ln>
        </p:spPr>
      </p:sp>
      <p:sp>
        <p:nvSpPr>
          <p:cNvPr id="19" name="Text 1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cuánto se mueven juntos el precio y la demanda.</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¿Sube el precio cuando sube la demanda?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Une los precios de enero con la demanda de enero.</a:t>
            </a:r>
            <a:endParaRPr lang="en-US" sz="1400" dirty="0"/>
          </a:p>
        </p:txBody>
      </p:sp>
      <p:sp>
        <p:nvSpPr>
          <p:cNvPr id="6" name="Shape 4"/>
          <p:cNvSpPr/>
          <p:nvPr/>
        </p:nvSpPr>
        <p:spPr>
          <a:xfrm>
            <a:off x="548640" y="1481328"/>
            <a:ext cx="11091672" cy="2711196"/>
          </a:xfrm>
          <a:prstGeom prst="roundRect">
            <a:avLst>
              <a:gd name="adj" fmla="val 2024"/>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10085832" cy="2528316"/>
          </a:xfrm>
          <a:prstGeom prst="rect">
            <a:avLst/>
          </a:prstGeom>
          <a:noFill/>
          <a:ln/>
        </p:spPr>
        <p:txBody>
          <a:bodyPr wrap="square" lIns="0" tIns="0" rIns="0" bIns="0" rtlCol="0" anchor="t"/>
          <a:lstStyle/>
          <a:p>
            <a:pPr indent="0" marL="0">
              <a:buNone/>
            </a:pPr>
            <a:r>
              <a:rPr lang="en-US" sz="1200" i="1" dirty="0">
                <a:solidFill>
                  <a:srgbClr val="188038"/>
                </a:solidFill>
                <a:latin typeface="Courier New" pitchFamily="34" charset="0"/>
                <a:ea typeface="Courier New" pitchFamily="34" charset="-122"/>
                <a:cs typeface="Courier New" pitchFamily="34" charset="-120"/>
              </a:rPr>
              <a:t># Paso 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import requests</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respuesta = requests.get(DATOS + </a:t>
            </a:r>
            <a:pPr indent="0" marL="0">
              <a:buNone/>
            </a:pPr>
            <a:r>
              <a:rPr lang="en-US" sz="1200" dirty="0">
                <a:solidFill>
                  <a:srgbClr val="A31515"/>
                </a:solidFill>
                <a:latin typeface="Courier New" pitchFamily="34" charset="0"/>
                <a:ea typeface="Courier New" pitchFamily="34" charset="-122"/>
                <a:cs typeface="Courier New" pitchFamily="34" charset="-120"/>
              </a:rPr>
              <a:t>"precios_nudo.json"</a:t>
            </a:r>
            <a:pPr indent="0" marL="0">
              <a:buNone/>
            </a:pPr>
            <a:r>
              <a:rPr lang="en-US" sz="1200" dirty="0">
                <a:solidFill>
                  <a:srgbClr val="202124"/>
                </a:solidFill>
                <a:latin typeface="Courier New" pitchFamily="34" charset="0"/>
                <a:ea typeface="Courier New" pitchFamily="34" charset="-122"/>
                <a:cs typeface="Courier New" pitchFamily="34" charset="-120"/>
              </a:rPr>
              <a:t>).json()</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precios = pd.json_normalize(respuesta[</a:t>
            </a:r>
            <a:pPr indent="0" marL="0">
              <a:buNone/>
            </a:pPr>
            <a:r>
              <a:rPr lang="en-US" sz="1200" dirty="0">
                <a:solidFill>
                  <a:srgbClr val="A31515"/>
                </a:solidFill>
                <a:latin typeface="Courier New" pitchFamily="34" charset="0"/>
                <a:ea typeface="Courier New" pitchFamily="34" charset="-122"/>
                <a:cs typeface="Courier New" pitchFamily="34" charset="-120"/>
              </a:rPr>
              <a:t>"datos"</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precios[</a:t>
            </a:r>
            <a:pPr indent="0" marL="0">
              <a:buNone/>
            </a:pPr>
            <a:r>
              <a:rPr lang="en-US" sz="1200" dirty="0">
                <a:solidFill>
                  <a:srgbClr val="A31515"/>
                </a:solidFill>
                <a:latin typeface="Courier New" pitchFamily="34" charset="0"/>
                <a:ea typeface="Courier New" pitchFamily="34" charset="-122"/>
                <a:cs typeface="Courier New" pitchFamily="34" charset="-120"/>
              </a:rPr>
              <a:t>"fecha"</a:t>
            </a:r>
            <a:pPr indent="0" marL="0">
              <a:buNone/>
            </a:pPr>
            <a:r>
              <a:rPr lang="en-US" sz="1200" dirty="0">
                <a:solidFill>
                  <a:srgbClr val="202124"/>
                </a:solidFill>
                <a:latin typeface="Courier New" pitchFamily="34" charset="0"/>
                <a:ea typeface="Courier New" pitchFamily="34" charset="-122"/>
                <a:cs typeface="Courier New" pitchFamily="34" charset="-120"/>
              </a:rPr>
              <a:t>] = pd.to_datetime(precios[</a:t>
            </a:r>
            <a:pPr indent="0" marL="0">
              <a:buNone/>
            </a:pPr>
            <a:r>
              <a:rPr lang="en-US" sz="1200" dirty="0">
                <a:solidFill>
                  <a:srgbClr val="A31515"/>
                </a:solidFill>
                <a:latin typeface="Courier New" pitchFamily="34" charset="0"/>
                <a:ea typeface="Courier New" pitchFamily="34" charset="-122"/>
                <a:cs typeface="Courier New" pitchFamily="34" charset="-120"/>
              </a:rPr>
              <a:t>"fecha"</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t>
            </a:r>
            <a:endParaRPr lang="en-US" sz="1200" dirty="0"/>
          </a:p>
          <a:p>
            <a:pPr indent="0" marL="0">
              <a:buNone/>
            </a:pPr>
            <a:r>
              <a:rPr lang="en-US" sz="1200" i="1" dirty="0">
                <a:solidFill>
                  <a:srgbClr val="188038"/>
                </a:solidFill>
                <a:latin typeface="Courier New" pitchFamily="34" charset="0"/>
                <a:ea typeface="Courier New" pitchFamily="34" charset="-122"/>
                <a:cs typeface="Courier New" pitchFamily="34" charset="-120"/>
              </a:rPr>
              <a:t># Se unen por fecha, hora y región a la vez.</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mix = pd.merge(precios, demanda, on=[</a:t>
            </a:r>
            <a:pPr indent="0" marL="0">
              <a:buNone/>
            </a:pPr>
            <a:r>
              <a:rPr lang="en-US" sz="1200" dirty="0">
                <a:solidFill>
                  <a:srgbClr val="A31515"/>
                </a:solidFill>
                <a:latin typeface="Courier New" pitchFamily="34" charset="0"/>
                <a:ea typeface="Courier New" pitchFamily="34" charset="-122"/>
                <a:cs typeface="Courier New" pitchFamily="34" charset="-120"/>
              </a:rPr>
              <a:t>"fecha"</a:t>
            </a:r>
            <a:pPr indent="0" marL="0">
              <a:buNone/>
            </a:pPr>
            <a:r>
              <a:rPr lang="en-US" sz="1200" dirty="0">
                <a:solidFill>
                  <a:srgbClr val="202124"/>
                </a:solidFill>
                <a:latin typeface="Courier New" pitchFamily="34" charset="0"/>
                <a:ea typeface="Courier New" pitchFamily="34" charset="-122"/>
                <a:cs typeface="Courier New" pitchFamily="34" charset="-120"/>
              </a:rPr>
              <a:t>, </a:t>
            </a:r>
            <a:pPr indent="0" marL="0">
              <a:buNone/>
            </a:pPr>
            <a:r>
              <a:rPr lang="en-US" sz="1200" dirty="0">
                <a:solidFill>
                  <a:srgbClr val="A31515"/>
                </a:solidFill>
                <a:latin typeface="Courier New" pitchFamily="34" charset="0"/>
                <a:ea typeface="Courier New" pitchFamily="34" charset="-122"/>
                <a:cs typeface="Courier New" pitchFamily="34" charset="-120"/>
              </a:rPr>
              <a:t>"hora"</a:t>
            </a:r>
            <a:pPr indent="0" marL="0">
              <a:buNone/>
            </a:pPr>
            <a:r>
              <a:rPr lang="en-US" sz="1200" dirty="0">
                <a:solidFill>
                  <a:srgbClr val="202124"/>
                </a:solidFill>
                <a:latin typeface="Courier New" pitchFamily="34" charset="0"/>
                <a:ea typeface="Courier New" pitchFamily="34" charset="-122"/>
                <a:cs typeface="Courier New" pitchFamily="34" charset="-120"/>
              </a:rPr>
              <a:t>, </a:t>
            </a:r>
            <a:pPr indent="0" marL="0">
              <a:buNone/>
            </a:pPr>
            <a:r>
              <a:rPr lang="en-US" sz="1200" dirty="0">
                <a:solidFill>
                  <a:srgbClr val="A31515"/>
                </a:solidFill>
                <a:latin typeface="Courier New" pitchFamily="34" charset="0"/>
                <a:ea typeface="Courier New" pitchFamily="34" charset="-122"/>
                <a:cs typeface="Courier New" pitchFamily="34" charset="-120"/>
              </a:rPr>
              <a:t>"region"</a:t>
            </a:r>
            <a:pPr indent="0" marL="0">
              <a:buNone/>
            </a:pPr>
            <a:r>
              <a:rPr lang="en-US" sz="1200" dirty="0">
                <a:solidFill>
                  <a:srgbClr val="202124"/>
                </a:solidFill>
                <a:latin typeface="Courier New" pitchFamily="34" charset="0"/>
                <a:ea typeface="Courier New" pitchFamily="34" charset="-122"/>
                <a:cs typeface="Courier New" pitchFamily="34" charset="-120"/>
              </a:rPr>
              <a:t>], how=</a:t>
            </a:r>
            <a:pPr indent="0" marL="0">
              <a:buNone/>
            </a:pPr>
            <a:r>
              <a:rPr lang="en-US" sz="1200" dirty="0">
                <a:solidFill>
                  <a:srgbClr val="A31515"/>
                </a:solidFill>
                <a:latin typeface="Courier New" pitchFamily="34" charset="0"/>
                <a:ea typeface="Courier New" pitchFamily="34" charset="-122"/>
                <a:cs typeface="Courier New" pitchFamily="34" charset="-120"/>
              </a:rPr>
              <a:t>"inner"</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"Filas unidas"</a:t>
            </a:r>
            <a:pPr indent="0" marL="0">
              <a:buNone/>
            </a:pPr>
            <a:r>
              <a:rPr lang="en-US" sz="1200" dirty="0">
                <a:solidFill>
                  <a:srgbClr val="202124"/>
                </a:solidFill>
                <a:latin typeface="Courier New" pitchFamily="34" charset="0"/>
                <a:ea typeface="Courier New" pitchFamily="34" charset="-122"/>
                <a:cs typeface="Courier New" pitchFamily="34" charset="-120"/>
              </a:rPr>
              <a:t>, len(mix))</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t>
            </a:r>
            <a:endParaRPr lang="en-US" sz="1200" dirty="0"/>
          </a:p>
          <a:p>
            <a:pPr indent="0" marL="0">
              <a:buNone/>
            </a:pPr>
            <a:r>
              <a:rPr lang="en-US" sz="1200" i="1" dirty="0">
                <a:solidFill>
                  <a:srgbClr val="188038"/>
                </a:solidFill>
                <a:latin typeface="Courier New" pitchFamily="34" charset="0"/>
                <a:ea typeface="Courier New" pitchFamily="34" charset="-122"/>
                <a:cs typeface="Courier New" pitchFamily="34" charset="-120"/>
              </a:rPr>
              <a:t># La correlación va de -1 a 1. Cerca de 1 es que suben juntos.</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correlacion_total = round(mix[</a:t>
            </a:r>
            <a:pPr indent="0" marL="0">
              <a:buNone/>
            </a:pPr>
            <a:r>
              <a:rPr lang="en-US" sz="1200" dirty="0">
                <a:solidFill>
                  <a:srgbClr val="A31515"/>
                </a:solidFill>
                <a:latin typeface="Courier New" pitchFamily="34" charset="0"/>
                <a:ea typeface="Courier New" pitchFamily="34" charset="-122"/>
                <a:cs typeface="Courier New" pitchFamily="34" charset="-120"/>
              </a:rPr>
              <a:t>"precio_usd_mwh"</a:t>
            </a:r>
            <a:pPr indent="0" marL="0">
              <a:buNone/>
            </a:pPr>
            <a:r>
              <a:rPr lang="en-US" sz="1200" dirty="0">
                <a:solidFill>
                  <a:srgbClr val="202124"/>
                </a:solidFill>
                <a:latin typeface="Courier New" pitchFamily="34" charset="0"/>
                <a:ea typeface="Courier New" pitchFamily="34" charset="-122"/>
                <a:cs typeface="Courier New" pitchFamily="34" charset="-120"/>
              </a:rPr>
              <a:t>].corr(mix[</a:t>
            </a:r>
            <a:pPr indent="0" marL="0">
              <a:buNone/>
            </a:pPr>
            <a:r>
              <a:rPr lang="en-US" sz="1200" dirty="0">
                <a:solidFill>
                  <a:srgbClr val="A31515"/>
                </a:solidFill>
                <a:latin typeface="Courier New" pitchFamily="34" charset="0"/>
                <a:ea typeface="Courier New" pitchFamily="34" charset="-122"/>
                <a:cs typeface="Courier New" pitchFamily="34" charset="-120"/>
              </a:rPr>
              <a:t>"mwh"</a:t>
            </a:r>
            <a:pPr indent="0" marL="0">
              <a:buNone/>
            </a:pPr>
            <a:r>
              <a:rPr lang="en-US" sz="1200" dirty="0">
                <a:solidFill>
                  <a:srgbClr val="202124"/>
                </a:solidFill>
                <a:latin typeface="Courier New" pitchFamily="34" charset="0"/>
                <a:ea typeface="Courier New" pitchFamily="34" charset="-122"/>
                <a:cs typeface="Courier New" pitchFamily="34" charset="-120"/>
              </a:rPr>
              <a:t>]), 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 Correlación con todas las regiones"</a:t>
            </a:r>
            <a:pPr indent="0" marL="0">
              <a:buNone/>
            </a:pPr>
            <a:r>
              <a:rPr lang="en-US" sz="1200" dirty="0">
                <a:solidFill>
                  <a:srgbClr val="202124"/>
                </a:solidFill>
                <a:latin typeface="Courier New" pitchFamily="34" charset="0"/>
                <a:ea typeface="Courier New" pitchFamily="34" charset="-122"/>
                <a:cs typeface="Courier New" pitchFamily="34" charset="-120"/>
              </a:rPr>
              <a:t>, correlacion_total)</a:t>
            </a:r>
            <a:endParaRPr lang="en-US" sz="1200" dirty="0"/>
          </a:p>
        </p:txBody>
      </p:sp>
      <p:sp>
        <p:nvSpPr>
          <p:cNvPr id="10" name="Shape 8"/>
          <p:cNvSpPr/>
          <p:nvPr/>
        </p:nvSpPr>
        <p:spPr>
          <a:xfrm>
            <a:off x="1325880" y="4302252"/>
            <a:ext cx="10314432" cy="585216"/>
          </a:xfrm>
          <a:prstGeom prst="rect">
            <a:avLst/>
          </a:prstGeom>
          <a:solidFill>
            <a:srgbClr val="FFFFFF"/>
          </a:solidFill>
          <a:ln w="12700">
            <a:solidFill>
              <a:srgbClr val="DADCE0"/>
            </a:solidFill>
            <a:prstDash val="solid"/>
          </a:ln>
        </p:spPr>
      </p:sp>
      <p:sp>
        <p:nvSpPr>
          <p:cNvPr id="11" name="Text 9"/>
          <p:cNvSpPr txBox="1"/>
          <p:nvPr/>
        </p:nvSpPr>
        <p:spPr>
          <a:xfrm>
            <a:off x="1463040" y="4375404"/>
            <a:ext cx="10085832" cy="457200"/>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Filas unidas 5208</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Correlación con todas las regiones 0.979</a:t>
            </a:r>
            <a:endParaRPr lang="en-US" sz="1200" dirty="0"/>
          </a:p>
        </p:txBody>
      </p:sp>
      <p:sp>
        <p:nvSpPr>
          <p:cNvPr id="12" name="Shape 10"/>
          <p:cNvSpPr/>
          <p:nvPr/>
        </p:nvSpPr>
        <p:spPr>
          <a:xfrm>
            <a:off x="1325880" y="5024628"/>
            <a:ext cx="10314432" cy="566928"/>
          </a:xfrm>
          <a:prstGeom prst="roundRect">
            <a:avLst>
              <a:gd name="adj" fmla="val 9677"/>
            </a:avLst>
          </a:prstGeom>
          <a:solidFill>
            <a:srgbClr val="FFF8D6"/>
          </a:solidFill>
          <a:ln w="12700">
            <a:solidFill>
              <a:srgbClr val="FFF8D6"/>
            </a:solidFill>
            <a:prstDash val="solid"/>
          </a:ln>
        </p:spPr>
      </p:sp>
      <p:sp>
        <p:nvSpPr>
          <p:cNvPr id="13" name="Text 11"/>
          <p:cNvSpPr txBox="1"/>
          <p:nvPr/>
        </p:nvSpPr>
        <p:spPr>
          <a:xfrm>
            <a:off x="1508760" y="5024628"/>
            <a:ext cx="9948672" cy="566928"/>
          </a:xfrm>
          <a:prstGeom prst="rect">
            <a:avLst/>
          </a:prstGeom>
          <a:noFill/>
          <a:ln/>
        </p:spPr>
        <p:txBody>
          <a:bodyPr wrap="square" lIns="0" tIns="0" rIns="0" bIns="0" rtlCol="0" anchor="ctr"/>
          <a:lstStyle/>
          <a:p>
            <a:pPr indent="0" marL="0">
              <a:buNone/>
            </a:pPr>
            <a:r>
              <a:rPr lang="en-US" sz="1400" b="1" dirty="0">
                <a:solidFill>
                  <a:srgbClr val="8A6D00"/>
                </a:solidFill>
                <a:latin typeface="Calibri" pitchFamily="34" charset="0"/>
                <a:ea typeface="Calibri" pitchFamily="34" charset="-122"/>
                <a:cs typeface="Calibri" pitchFamily="34" charset="-120"/>
              </a:rPr>
              <a:t>Para unir por varias columnas, se pasan todas en on.  </a:t>
            </a:r>
            <a:pPr indent="0" marL="0">
              <a:buNone/>
            </a:pPr>
            <a:r>
              <a:rPr lang="en-US" sz="1400" dirty="0">
                <a:solidFill>
                  <a:srgbClr val="202124"/>
                </a:solidFill>
                <a:latin typeface="Calibri" pitchFamily="34" charset="0"/>
                <a:ea typeface="Calibri" pitchFamily="34" charset="-122"/>
                <a:cs typeface="Calibri" pitchFamily="34" charset="-120"/>
              </a:rPr>
              <a:t>Una fila de precios calza con la demanda solo si coinciden la fecha, la hora y la región.</a:t>
            </a:r>
            <a:endParaRPr lang="en-US" sz="1400" dirty="0"/>
          </a:p>
        </p:txBody>
      </p:sp>
      <p:sp>
        <p:nvSpPr>
          <p:cNvPr id="15" name="Text 12"/>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6" name="Shape 13"/>
          <p:cNvSpPr/>
          <p:nvPr/>
        </p:nvSpPr>
        <p:spPr>
          <a:xfrm>
            <a:off x="548640" y="6062472"/>
            <a:ext cx="2770632" cy="566928"/>
          </a:xfrm>
          <a:prstGeom prst="roundRect">
            <a:avLst>
              <a:gd name="adj" fmla="val 11290"/>
            </a:avLst>
          </a:prstGeom>
          <a:solidFill>
            <a:srgbClr val="E8F0FE"/>
          </a:solidFill>
          <a:ln w="28575">
            <a:solidFill>
              <a:srgbClr val="1A73E8"/>
            </a:solidFill>
            <a:prstDash val="solid"/>
          </a:ln>
        </p:spPr>
      </p:sp>
      <p:sp>
        <p:nvSpPr>
          <p:cNvPr id="17" name="Text 14"/>
          <p:cNvSpPr txBox="1"/>
          <p:nvPr/>
        </p:nvSpPr>
        <p:spPr>
          <a:xfrm>
            <a:off x="64008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8" name="Shape 15"/>
          <p:cNvSpPr/>
          <p:nvPr/>
        </p:nvSpPr>
        <p:spPr>
          <a:xfrm>
            <a:off x="3456432" y="6062472"/>
            <a:ext cx="1143000" cy="566928"/>
          </a:xfrm>
          <a:prstGeom prst="roundRect">
            <a:avLst>
              <a:gd name="adj" fmla="val 11290"/>
            </a:avLst>
          </a:prstGeom>
          <a:solidFill>
            <a:srgbClr val="E8F0FE"/>
          </a:solidFill>
          <a:ln w="28575">
            <a:solidFill>
              <a:srgbClr val="1A73E8"/>
            </a:solidFill>
            <a:prstDash val="solid"/>
          </a:ln>
        </p:spPr>
      </p:sp>
      <p:sp>
        <p:nvSpPr>
          <p:cNvPr id="19" name="Text 16"/>
          <p:cNvSpPr txBox="1"/>
          <p:nvPr/>
        </p:nvSpPr>
        <p:spPr>
          <a:xfrm>
            <a:off x="35478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20" name="Shape 17"/>
          <p:cNvSpPr/>
          <p:nvPr/>
        </p:nvSpPr>
        <p:spPr>
          <a:xfrm>
            <a:off x="4736592" y="6062472"/>
            <a:ext cx="1714500" cy="566928"/>
          </a:xfrm>
          <a:prstGeom prst="roundRect">
            <a:avLst>
              <a:gd name="adj" fmla="val 11290"/>
            </a:avLst>
          </a:prstGeom>
          <a:solidFill>
            <a:srgbClr val="E8F0FE"/>
          </a:solidFill>
          <a:ln w="28575">
            <a:solidFill>
              <a:srgbClr val="1A73E8"/>
            </a:solidFill>
            <a:prstDash val="solid"/>
          </a:ln>
        </p:spPr>
      </p:sp>
      <p:sp>
        <p:nvSpPr>
          <p:cNvPr id="21" name="Text 18"/>
          <p:cNvSpPr txBox="1"/>
          <p:nvPr/>
        </p:nvSpPr>
        <p:spPr>
          <a:xfrm>
            <a:off x="4828032"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demanda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4</a:t>
            </a:r>
            <a:endParaRPr lang="en-US" sz="1200" dirty="0"/>
          </a:p>
        </p:txBody>
      </p:sp>
      <p:sp>
        <p:nvSpPr>
          <p:cNvPr id="22" name="Shape 19"/>
          <p:cNvSpPr/>
          <p:nvPr/>
        </p:nvSpPr>
        <p:spPr>
          <a:xfrm>
            <a:off x="6588252" y="6062472"/>
            <a:ext cx="2002536" cy="566928"/>
          </a:xfrm>
          <a:prstGeom prst="roundRect">
            <a:avLst>
              <a:gd name="adj" fmla="val 11290"/>
            </a:avLst>
          </a:prstGeom>
          <a:solidFill>
            <a:srgbClr val="FEF3D6"/>
          </a:solidFill>
          <a:ln w="25400">
            <a:solidFill>
              <a:srgbClr val="F9AB00"/>
            </a:solidFill>
            <a:prstDash val="solid"/>
          </a:ln>
        </p:spPr>
      </p:sp>
      <p:sp>
        <p:nvSpPr>
          <p:cNvPr id="23" name="Text 20"/>
          <p:cNvSpPr txBox="1"/>
          <p:nvPr/>
        </p:nvSpPr>
        <p:spPr>
          <a:xfrm>
            <a:off x="6679692"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respuesta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datos con 2 partes</a:t>
            </a:r>
            <a:endParaRPr lang="en-US" sz="1200" dirty="0"/>
          </a:p>
        </p:txBody>
      </p:sp>
      <p:sp>
        <p:nvSpPr>
          <p:cNvPr id="24" name="Shape 21"/>
          <p:cNvSpPr/>
          <p:nvPr/>
        </p:nvSpPr>
        <p:spPr>
          <a:xfrm>
            <a:off x="8727948" y="6062472"/>
            <a:ext cx="1618488" cy="566928"/>
          </a:xfrm>
          <a:prstGeom prst="roundRect">
            <a:avLst>
              <a:gd name="adj" fmla="val 11290"/>
            </a:avLst>
          </a:prstGeom>
          <a:solidFill>
            <a:srgbClr val="FEF3D6"/>
          </a:solidFill>
          <a:ln w="25400">
            <a:solidFill>
              <a:srgbClr val="F9AB00"/>
            </a:solidFill>
            <a:prstDash val="solid"/>
          </a:ln>
        </p:spPr>
      </p:sp>
      <p:sp>
        <p:nvSpPr>
          <p:cNvPr id="25" name="Text 22"/>
          <p:cNvSpPr txBox="1"/>
          <p:nvPr/>
        </p:nvSpPr>
        <p:spPr>
          <a:xfrm>
            <a:off x="8819388" y="6071616"/>
            <a:ext cx="1481328"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precios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5208 × 4</a:t>
            </a:r>
            <a:endParaRPr lang="en-US" sz="1200" dirty="0"/>
          </a:p>
        </p:txBody>
      </p:sp>
      <p:sp>
        <p:nvSpPr>
          <p:cNvPr id="26" name="Text 23"/>
          <p:cNvSpPr txBox="1"/>
          <p:nvPr/>
        </p:nvSpPr>
        <p:spPr>
          <a:xfrm>
            <a:off x="10483596"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10 más</a:t>
            </a:r>
            <a:endParaRPr lang="en-US" sz="1200" dirty="0"/>
          </a:p>
        </p:txBody>
      </p:sp>
      <p:sp>
        <p:nvSpPr>
          <p:cNvPr id="27" name="Text 24"/>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0,979 parece decir que precio y demanda suben juntos casi siempre.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¿Y dentro de cada región?</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vamos a ver en este paso, antes de correrlo.</a:t>
            </a:r>
            <a:endParaRPr lang="en-US" sz="1400" dirty="0"/>
          </a:p>
        </p:txBody>
      </p:sp>
      <p:pic>
        <p:nvPicPr>
          <p:cNvPr id="6" name="Image 0" descr="../../repo/modulos/modulo02/img/lab02_paso9_global.png">    </p:cNvPr>
          <p:cNvPicPr>
            <a:picLocks noChangeAspect="1"/>
          </p:cNvPicPr>
          <p:nvPr/>
        </p:nvPicPr>
        <p:blipFill>
          <a:blip r:embed="rId1"/>
          <a:stretch>
            <a:fillRect/>
          </a:stretch>
        </p:blipFill>
        <p:spPr>
          <a:xfrm>
            <a:off x="1818414" y="1463040"/>
            <a:ext cx="8552124" cy="461772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¿Y dentro de cada región?</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una región en la lista y vuelve a correr la celda. Compara con el número del paso anterior.</a:t>
            </a:r>
            <a:endParaRPr lang="en-US" sz="1400" dirty="0"/>
          </a:p>
        </p:txBody>
      </p:sp>
      <p:sp>
        <p:nvSpPr>
          <p:cNvPr id="7" name="Shape 4"/>
          <p:cNvSpPr/>
          <p:nvPr/>
        </p:nvSpPr>
        <p:spPr>
          <a:xfrm>
            <a:off x="548640" y="1481328"/>
            <a:ext cx="11091672" cy="1920240"/>
          </a:xfrm>
          <a:prstGeom prst="roundRect">
            <a:avLst>
              <a:gd name="adj" fmla="val 2857"/>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173736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5</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region = </a:t>
            </a:r>
            <a:pPr indent="0" marL="0">
              <a:buNone/>
            </a:pPr>
            <a:r>
              <a:rPr lang="en-US" sz="1300" dirty="0">
                <a:solidFill>
                  <a:srgbClr val="A31515"/>
                </a:solidFill>
                <a:latin typeface="Courier New" pitchFamily="34" charset="0"/>
                <a:ea typeface="Courier New" pitchFamily="34" charset="-122"/>
                <a:cs typeface="Courier New" pitchFamily="34" charset="-120"/>
              </a:rPr>
              <a:t>"Metropolitana"</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["Antofagasta", "Atacama", "Coquimbo", "Valparaíso", "Metropolitana", "Biobío", "Los Lagos"]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una = mix[mix[</a:t>
            </a:r>
            <a:pPr indent="0" marL="0">
              <a:buNone/>
            </a:pPr>
            <a:r>
              <a:rPr lang="en-US" sz="1300" dirty="0">
                <a:solidFill>
                  <a:srgbClr val="A31515"/>
                </a:solidFill>
                <a:latin typeface="Courier New" pitchFamily="34" charset="0"/>
                <a:ea typeface="Courier New" pitchFamily="34" charset="-122"/>
                <a:cs typeface="Courier New" pitchFamily="34" charset="-120"/>
              </a:rPr>
              <a:t>"region"</a:t>
            </a:r>
            <a:pPr indent="0" marL="0">
              <a:buNone/>
            </a:pPr>
            <a:r>
              <a:rPr lang="en-US" sz="1300" dirty="0">
                <a:solidFill>
                  <a:srgbClr val="202124"/>
                </a:solidFill>
                <a:latin typeface="Courier New" pitchFamily="34" charset="0"/>
                <a:ea typeface="Courier New" pitchFamily="34" charset="-122"/>
                <a:cs typeface="Courier New" pitchFamily="34" charset="-120"/>
              </a:rPr>
              <a:t>] == region]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correlacion = round(una[</a:t>
            </a:r>
            <a:pPr indent="0" marL="0">
              <a:buNone/>
            </a:pPr>
            <a:r>
              <a:rPr lang="en-US" sz="1300" dirty="0">
                <a:solidFill>
                  <a:srgbClr val="A31515"/>
                </a:solidFill>
                <a:latin typeface="Courier New" pitchFamily="34" charset="0"/>
                <a:ea typeface="Courier New" pitchFamily="34" charset="-122"/>
                <a:cs typeface="Courier New" pitchFamily="34" charset="-120"/>
              </a:rPr>
              <a:t>"precio_usd_mwh"</a:t>
            </a:r>
            <a:pPr indent="0" marL="0">
              <a:buNone/>
            </a:pPr>
            <a:r>
              <a:rPr lang="en-US" sz="1300" dirty="0">
                <a:solidFill>
                  <a:srgbClr val="202124"/>
                </a:solidFill>
                <a:latin typeface="Courier New" pitchFamily="34" charset="0"/>
                <a:ea typeface="Courier New" pitchFamily="34" charset="-122"/>
                <a:cs typeface="Courier New" pitchFamily="34" charset="-120"/>
              </a:rPr>
              <a:t>].corr(una[</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 3)</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"Correlación dentro de {region}"</a:t>
            </a:r>
            <a:pPr indent="0" marL="0">
              <a:buNone/>
            </a:pPr>
            <a:r>
              <a:rPr lang="en-US" sz="1300" dirty="0">
                <a:solidFill>
                  <a:srgbClr val="202124"/>
                </a:solidFill>
                <a:latin typeface="Courier New" pitchFamily="34" charset="0"/>
                <a:ea typeface="Courier New" pitchFamily="34" charset="-122"/>
                <a:cs typeface="Courier New" pitchFamily="34" charset="-120"/>
              </a:rPr>
              <a:t>, correlacion)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"Correlación con todas las regiones"</a:t>
            </a:r>
            <a:pPr indent="0" marL="0">
              <a:buNone/>
            </a:pPr>
            <a:r>
              <a:rPr lang="en-US" sz="1300" dirty="0">
                <a:solidFill>
                  <a:srgbClr val="202124"/>
                </a:solidFill>
                <a:latin typeface="Courier New" pitchFamily="34" charset="0"/>
                <a:ea typeface="Courier New" pitchFamily="34" charset="-122"/>
                <a:cs typeface="Courier New" pitchFamily="34" charset="-120"/>
              </a:rPr>
              <a:t>, correlacion_total)</a:t>
            </a:r>
            <a:endParaRPr lang="en-US" sz="13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region</a:t>
            </a:r>
            <a:endParaRPr lang="en-US" sz="1100" dirty="0"/>
          </a:p>
        </p:txBody>
      </p:sp>
      <p:sp>
        <p:nvSpPr>
          <p:cNvPr id="12"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3"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Metropolitana</a:t>
            </a:r>
            <a:endParaRPr lang="en-US" sz="1200" dirty="0"/>
          </a:p>
        </p:txBody>
      </p:sp>
      <p:sp>
        <p:nvSpPr>
          <p:cNvPr id="14"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5" name="Text 12"/>
          <p:cNvSpPr txBox="1"/>
          <p:nvPr/>
        </p:nvSpPr>
        <p:spPr>
          <a:xfrm>
            <a:off x="1325880" y="343814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6" name="Text 13"/>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4"/>
          <p:cNvSpPr/>
          <p:nvPr/>
        </p:nvSpPr>
        <p:spPr>
          <a:xfrm>
            <a:off x="548640" y="6062472"/>
            <a:ext cx="1906524"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640080" y="6071616"/>
            <a:ext cx="176936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correlacion_total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0.98</a:t>
            </a:r>
            <a:endParaRPr lang="en-US" sz="1200" dirty="0"/>
          </a:p>
        </p:txBody>
      </p:sp>
      <p:sp>
        <p:nvSpPr>
          <p:cNvPr id="19" name="Shape 16"/>
          <p:cNvSpPr/>
          <p:nvPr/>
        </p:nvSpPr>
        <p:spPr>
          <a:xfrm>
            <a:off x="2592324" y="6062472"/>
            <a:ext cx="1618488"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2683764" y="6071616"/>
            <a:ext cx="1481328"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mix</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5208 × 5</a:t>
            </a:r>
            <a:endParaRPr lang="en-US" sz="1200" dirty="0"/>
          </a:p>
        </p:txBody>
      </p:sp>
      <p:sp>
        <p:nvSpPr>
          <p:cNvPr id="21" name="Shape 18"/>
          <p:cNvSpPr/>
          <p:nvPr/>
        </p:nvSpPr>
        <p:spPr>
          <a:xfrm>
            <a:off x="4347972" y="6062472"/>
            <a:ext cx="1618488"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4439412" y="6071616"/>
            <a:ext cx="1481328"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precios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5208 × 4</a:t>
            </a:r>
            <a:endParaRPr lang="en-US" sz="1200" dirty="0"/>
          </a:p>
        </p:txBody>
      </p:sp>
      <p:sp>
        <p:nvSpPr>
          <p:cNvPr id="23" name="Shape 20"/>
          <p:cNvSpPr/>
          <p:nvPr/>
        </p:nvSpPr>
        <p:spPr>
          <a:xfrm>
            <a:off x="6103620" y="6062472"/>
            <a:ext cx="2002536"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6195060"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respuesta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datos con 2 partes</a:t>
            </a:r>
            <a:endParaRPr lang="en-US" sz="1200" dirty="0"/>
          </a:p>
        </p:txBody>
      </p:sp>
      <p:sp>
        <p:nvSpPr>
          <p:cNvPr id="25" name="Shape 22"/>
          <p:cNvSpPr/>
          <p:nvPr/>
        </p:nvSpPr>
        <p:spPr>
          <a:xfrm>
            <a:off x="8243316" y="6062472"/>
            <a:ext cx="1330452" cy="566928"/>
          </a:xfrm>
          <a:prstGeom prst="roundRect">
            <a:avLst>
              <a:gd name="adj" fmla="val 11290"/>
            </a:avLst>
          </a:prstGeom>
          <a:solidFill>
            <a:srgbClr val="F1F3F4"/>
          </a:solidFill>
          <a:ln w="12700">
            <a:solidFill>
              <a:srgbClr val="DADCE0"/>
            </a:solidFill>
            <a:prstDash val="solid"/>
          </a:ln>
        </p:spPr>
      </p:sp>
      <p:sp>
        <p:nvSpPr>
          <p:cNvPr id="26" name="Text 23"/>
          <p:cNvSpPr txBox="1"/>
          <p:nvPr/>
        </p:nvSpPr>
        <p:spPr>
          <a:xfrm>
            <a:off x="8334756"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cruce</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 × 6</a:t>
            </a:r>
            <a:endParaRPr lang="en-US" sz="1200" dirty="0"/>
          </a:p>
        </p:txBody>
      </p:sp>
      <p:sp>
        <p:nvSpPr>
          <p:cNvPr id="27" name="Text 24"/>
          <p:cNvSpPr txBox="1"/>
          <p:nvPr/>
        </p:nvSpPr>
        <p:spPr>
          <a:xfrm>
            <a:off x="9710928"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10 más</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¿Y dentro de cada región?</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una = mix[mix[</a:t>
            </a:r>
            <a:pPr indent="0" marL="0">
              <a:buNone/>
            </a:pPr>
            <a:r>
              <a:rPr lang="en-US" sz="1600" dirty="0">
                <a:solidFill>
                  <a:srgbClr val="A31515"/>
                </a:solidFill>
                <a:latin typeface="Courier New" pitchFamily="34" charset="0"/>
                <a:ea typeface="Courier New" pitchFamily="34" charset="-122"/>
                <a:cs typeface="Courier New" pitchFamily="34" charset="-120"/>
              </a:rPr>
              <a:t>"region"</a:t>
            </a:r>
            <a:pPr indent="0" marL="0">
              <a:buNone/>
            </a:pPr>
            <a:r>
              <a:rPr lang="en-US" sz="1600" dirty="0">
                <a:solidFill>
                  <a:srgbClr val="202124"/>
                </a:solidFill>
                <a:latin typeface="Courier New" pitchFamily="34" charset="0"/>
                <a:ea typeface="Courier New" pitchFamily="34" charset="-122"/>
                <a:cs typeface="Courier New" pitchFamily="34" charset="-120"/>
              </a:rPr>
              <a:t>] == region]</a:t>
            </a:r>
            <a:endParaRPr lang="en-US" sz="1600" dirty="0"/>
          </a:p>
        </p:txBody>
      </p:sp>
      <p:sp>
        <p:nvSpPr>
          <p:cNvPr id="8" name="Shape 6"/>
          <p:cNvSpPr/>
          <p:nvPr/>
        </p:nvSpPr>
        <p:spPr>
          <a:xfrm>
            <a:off x="548640" y="2375408"/>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754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1996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mix["region"] == region</a:t>
            </a:r>
            <a:endParaRPr lang="en-US" sz="1400" dirty="0"/>
          </a:p>
        </p:txBody>
      </p:sp>
      <p:sp>
        <p:nvSpPr>
          <p:cNvPr id="12" name="Text 10"/>
          <p:cNvSpPr txBox="1"/>
          <p:nvPr/>
        </p:nvSpPr>
        <p:spPr>
          <a:xfrm>
            <a:off x="6263640" y="221996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Pregunta fila por fila si la región es la elegida. Da True o False.</a:t>
            </a:r>
            <a:endParaRPr lang="en-US" sz="1600" dirty="0"/>
          </a:p>
        </p:txBody>
      </p:sp>
      <p:sp>
        <p:nvSpPr>
          <p:cNvPr id="13" name="Shape 11"/>
          <p:cNvSpPr/>
          <p:nvPr/>
        </p:nvSpPr>
        <p:spPr>
          <a:xfrm>
            <a:off x="548640" y="3052064"/>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05206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51480"/>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295148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mix[ ... ]</a:t>
            </a:r>
            <a:endParaRPr lang="en-US" sz="1400" dirty="0"/>
          </a:p>
        </p:txBody>
      </p:sp>
      <p:sp>
        <p:nvSpPr>
          <p:cNvPr id="17" name="Text 15"/>
          <p:cNvSpPr txBox="1"/>
          <p:nvPr/>
        </p:nvSpPr>
        <p:spPr>
          <a:xfrm>
            <a:off x="6263640" y="295148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Deja pasar solo las filas con True.</a:t>
            </a:r>
            <a:endParaRPr lang="en-US" sz="1600" dirty="0"/>
          </a:p>
        </p:txBody>
      </p:sp>
      <p:sp>
        <p:nvSpPr>
          <p:cNvPr id="18" name="Shape 16"/>
          <p:cNvSpPr/>
          <p:nvPr/>
        </p:nvSpPr>
        <p:spPr>
          <a:xfrm>
            <a:off x="548640" y="3673856"/>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67385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573272"/>
            <a:ext cx="4937760" cy="530352"/>
          </a:xfrm>
          <a:prstGeom prst="roundRect">
            <a:avLst>
              <a:gd name="adj" fmla="val 8621"/>
            </a:avLst>
          </a:prstGeom>
          <a:solidFill>
            <a:srgbClr val="FDF0C8"/>
          </a:solidFill>
          <a:ln w="12700">
            <a:solidFill>
              <a:srgbClr val="FDF0C8"/>
            </a:solidFill>
            <a:prstDash val="solid"/>
          </a:ln>
        </p:spPr>
      </p:sp>
      <p:sp>
        <p:nvSpPr>
          <p:cNvPr id="21" name="Text 19"/>
          <p:cNvSpPr txBox="1"/>
          <p:nvPr/>
        </p:nvSpPr>
        <p:spPr>
          <a:xfrm>
            <a:off x="1170432" y="357327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una =</a:t>
            </a:r>
            <a:endParaRPr lang="en-US" sz="1400" dirty="0"/>
          </a:p>
        </p:txBody>
      </p:sp>
      <p:sp>
        <p:nvSpPr>
          <p:cNvPr id="22" name="Text 20"/>
          <p:cNvSpPr txBox="1"/>
          <p:nvPr/>
        </p:nvSpPr>
        <p:spPr>
          <a:xfrm>
            <a:off x="6263640" y="357327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Guarda esas filas con el nombre una.</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una son las filas de mix que son de la región elegida.</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¿Y dentro de cada región?</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una región en la lista y vuelve a correr la celda. Compara con el número del paso anterior.</a:t>
            </a:r>
            <a:endParaRPr lang="en-US" sz="1400" dirty="0"/>
          </a:p>
        </p:txBody>
      </p:sp>
      <p:sp>
        <p:nvSpPr>
          <p:cNvPr id="6" name="Shape 4"/>
          <p:cNvSpPr/>
          <p:nvPr/>
        </p:nvSpPr>
        <p:spPr>
          <a:xfrm>
            <a:off x="548640" y="1481328"/>
            <a:ext cx="11091672" cy="1920240"/>
          </a:xfrm>
          <a:prstGeom prst="roundRect">
            <a:avLst>
              <a:gd name="adj" fmla="val 2857"/>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7360920" cy="173736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5</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region = </a:t>
            </a:r>
            <a:pPr indent="0" marL="0">
              <a:buNone/>
            </a:pPr>
            <a:r>
              <a:rPr lang="en-US" sz="1300" dirty="0">
                <a:solidFill>
                  <a:srgbClr val="A31515"/>
                </a:solidFill>
                <a:latin typeface="Courier New" pitchFamily="34" charset="0"/>
                <a:ea typeface="Courier New" pitchFamily="34" charset="-122"/>
                <a:cs typeface="Courier New" pitchFamily="34" charset="-120"/>
              </a:rPr>
              <a:t>"Metropolitana"</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["Antofagasta", "Atacama", "Coquimbo", "Valparaíso", "Metropolitana", "Biobío", "Los Lagos"]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una = mix[mix[</a:t>
            </a:r>
            <a:pPr indent="0" marL="0">
              <a:buNone/>
            </a:pPr>
            <a:r>
              <a:rPr lang="en-US" sz="1300" dirty="0">
                <a:solidFill>
                  <a:srgbClr val="A31515"/>
                </a:solidFill>
                <a:latin typeface="Courier New" pitchFamily="34" charset="0"/>
                <a:ea typeface="Courier New" pitchFamily="34" charset="-122"/>
                <a:cs typeface="Courier New" pitchFamily="34" charset="-120"/>
              </a:rPr>
              <a:t>"region"</a:t>
            </a:r>
            <a:pPr indent="0" marL="0">
              <a:buNone/>
            </a:pPr>
            <a:r>
              <a:rPr lang="en-US" sz="1300" dirty="0">
                <a:solidFill>
                  <a:srgbClr val="202124"/>
                </a:solidFill>
                <a:latin typeface="Courier New" pitchFamily="34" charset="0"/>
                <a:ea typeface="Courier New" pitchFamily="34" charset="-122"/>
                <a:cs typeface="Courier New" pitchFamily="34" charset="-120"/>
              </a:rPr>
              <a:t>] == region]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correlacion = round(una[</a:t>
            </a:r>
            <a:pPr indent="0" marL="0">
              <a:buNone/>
            </a:pPr>
            <a:r>
              <a:rPr lang="en-US" sz="1300" dirty="0">
                <a:solidFill>
                  <a:srgbClr val="A31515"/>
                </a:solidFill>
                <a:latin typeface="Courier New" pitchFamily="34" charset="0"/>
                <a:ea typeface="Courier New" pitchFamily="34" charset="-122"/>
                <a:cs typeface="Courier New" pitchFamily="34" charset="-120"/>
              </a:rPr>
              <a:t>"precio_usd_mwh"</a:t>
            </a:r>
            <a:pPr indent="0" marL="0">
              <a:buNone/>
            </a:pPr>
            <a:r>
              <a:rPr lang="en-US" sz="1300" dirty="0">
                <a:solidFill>
                  <a:srgbClr val="202124"/>
                </a:solidFill>
                <a:latin typeface="Courier New" pitchFamily="34" charset="0"/>
                <a:ea typeface="Courier New" pitchFamily="34" charset="-122"/>
                <a:cs typeface="Courier New" pitchFamily="34" charset="-120"/>
              </a:rPr>
              <a:t>].corr(una[</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 3)</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"Correlación dentro de {region}"</a:t>
            </a:r>
            <a:pPr indent="0" marL="0">
              <a:buNone/>
            </a:pPr>
            <a:r>
              <a:rPr lang="en-US" sz="1300" dirty="0">
                <a:solidFill>
                  <a:srgbClr val="202124"/>
                </a:solidFill>
                <a:latin typeface="Courier New" pitchFamily="34" charset="0"/>
                <a:ea typeface="Courier New" pitchFamily="34" charset="-122"/>
                <a:cs typeface="Courier New" pitchFamily="34" charset="-120"/>
              </a:rPr>
              <a:t>, correlacion)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"Correlación con todas las regiones"</a:t>
            </a:r>
            <a:pPr indent="0" marL="0">
              <a:buNone/>
            </a:pPr>
            <a:r>
              <a:rPr lang="en-US" sz="1300" dirty="0">
                <a:solidFill>
                  <a:srgbClr val="202124"/>
                </a:solidFill>
                <a:latin typeface="Courier New" pitchFamily="34" charset="0"/>
                <a:ea typeface="Courier New" pitchFamily="34" charset="-122"/>
                <a:cs typeface="Courier New" pitchFamily="34" charset="-120"/>
              </a:rPr>
              <a:t>, correlacion_total)</a:t>
            </a:r>
            <a:endParaRPr lang="en-US" sz="1300" dirty="0"/>
          </a:p>
        </p:txBody>
      </p:sp>
      <p:sp>
        <p:nvSpPr>
          <p:cNvPr id="10"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region</a:t>
            </a:r>
            <a:endParaRPr lang="en-US" sz="1100" dirty="0"/>
          </a:p>
        </p:txBody>
      </p:sp>
      <p:sp>
        <p:nvSpPr>
          <p:cNvPr id="11"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2"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Metropolitana</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Shape 12"/>
          <p:cNvSpPr/>
          <p:nvPr/>
        </p:nvSpPr>
        <p:spPr>
          <a:xfrm>
            <a:off x="1325880" y="3511296"/>
            <a:ext cx="10314432" cy="585216"/>
          </a:xfrm>
          <a:prstGeom prst="rect">
            <a:avLst/>
          </a:prstGeom>
          <a:solidFill>
            <a:srgbClr val="FFFFFF"/>
          </a:solidFill>
          <a:ln w="12700">
            <a:solidFill>
              <a:srgbClr val="DADCE0"/>
            </a:solidFill>
            <a:prstDash val="solid"/>
          </a:ln>
        </p:spPr>
      </p:sp>
      <p:sp>
        <p:nvSpPr>
          <p:cNvPr id="15" name="Text 13"/>
          <p:cNvSpPr txBox="1"/>
          <p:nvPr/>
        </p:nvSpPr>
        <p:spPr>
          <a:xfrm>
            <a:off x="1463040" y="3584448"/>
            <a:ext cx="10085832" cy="457200"/>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Correlación dentro de Metropolitana 0.917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Correlación con todas las regiones 0.979</a:t>
            </a:r>
            <a:endParaRPr lang="en-US" sz="1200" dirty="0"/>
          </a:p>
        </p:txBody>
      </p:sp>
      <p:sp>
        <p:nvSpPr>
          <p:cNvPr id="17" name="Text 14"/>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8" name="Shape 15"/>
          <p:cNvSpPr/>
          <p:nvPr/>
        </p:nvSpPr>
        <p:spPr>
          <a:xfrm>
            <a:off x="548640" y="6062472"/>
            <a:ext cx="1714500" cy="566928"/>
          </a:xfrm>
          <a:prstGeom prst="roundRect">
            <a:avLst>
              <a:gd name="adj" fmla="val 11290"/>
            </a:avLst>
          </a:prstGeom>
          <a:solidFill>
            <a:srgbClr val="FEF3D6"/>
          </a:solidFill>
          <a:ln w="25400">
            <a:solidFill>
              <a:srgbClr val="F9AB00"/>
            </a:solidFill>
            <a:prstDash val="solid"/>
          </a:ln>
        </p:spPr>
      </p:sp>
      <p:sp>
        <p:nvSpPr>
          <p:cNvPr id="19" name="Text 16"/>
          <p:cNvSpPr txBox="1"/>
          <p:nvPr/>
        </p:nvSpPr>
        <p:spPr>
          <a:xfrm>
            <a:off x="64008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region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"Metropolitana"</a:t>
            </a:r>
            <a:endParaRPr lang="en-US" sz="1200" dirty="0"/>
          </a:p>
        </p:txBody>
      </p:sp>
      <p:sp>
        <p:nvSpPr>
          <p:cNvPr id="20" name="Shape 17"/>
          <p:cNvSpPr/>
          <p:nvPr/>
        </p:nvSpPr>
        <p:spPr>
          <a:xfrm>
            <a:off x="2400300" y="6062472"/>
            <a:ext cx="1618488" cy="566928"/>
          </a:xfrm>
          <a:prstGeom prst="roundRect">
            <a:avLst>
              <a:gd name="adj" fmla="val 11290"/>
            </a:avLst>
          </a:prstGeom>
          <a:solidFill>
            <a:srgbClr val="E8F0FE"/>
          </a:solidFill>
          <a:ln w="28575">
            <a:solidFill>
              <a:srgbClr val="1A73E8"/>
            </a:solidFill>
            <a:prstDash val="solid"/>
          </a:ln>
        </p:spPr>
      </p:sp>
      <p:sp>
        <p:nvSpPr>
          <p:cNvPr id="21" name="Text 18"/>
          <p:cNvSpPr txBox="1"/>
          <p:nvPr/>
        </p:nvSpPr>
        <p:spPr>
          <a:xfrm>
            <a:off x="2491740" y="6071616"/>
            <a:ext cx="1481328"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mix</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5208 × 5</a:t>
            </a:r>
            <a:endParaRPr lang="en-US" sz="1200" dirty="0"/>
          </a:p>
        </p:txBody>
      </p:sp>
      <p:sp>
        <p:nvSpPr>
          <p:cNvPr id="22" name="Shape 19"/>
          <p:cNvSpPr/>
          <p:nvPr/>
        </p:nvSpPr>
        <p:spPr>
          <a:xfrm>
            <a:off x="4155948" y="6062472"/>
            <a:ext cx="1906524" cy="566928"/>
          </a:xfrm>
          <a:prstGeom prst="roundRect">
            <a:avLst>
              <a:gd name="adj" fmla="val 11290"/>
            </a:avLst>
          </a:prstGeom>
          <a:solidFill>
            <a:srgbClr val="E8F0FE"/>
          </a:solidFill>
          <a:ln w="28575">
            <a:solidFill>
              <a:srgbClr val="1A73E8"/>
            </a:solidFill>
            <a:prstDash val="solid"/>
          </a:ln>
        </p:spPr>
      </p:sp>
      <p:sp>
        <p:nvSpPr>
          <p:cNvPr id="23" name="Text 20"/>
          <p:cNvSpPr txBox="1"/>
          <p:nvPr/>
        </p:nvSpPr>
        <p:spPr>
          <a:xfrm>
            <a:off x="4247388" y="6071616"/>
            <a:ext cx="176936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correlacion_total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0.98</a:t>
            </a:r>
            <a:endParaRPr lang="en-US" sz="1200" dirty="0"/>
          </a:p>
        </p:txBody>
      </p:sp>
      <p:sp>
        <p:nvSpPr>
          <p:cNvPr id="24" name="Shape 21"/>
          <p:cNvSpPr/>
          <p:nvPr/>
        </p:nvSpPr>
        <p:spPr>
          <a:xfrm>
            <a:off x="6199632" y="6062472"/>
            <a:ext cx="1522476" cy="566928"/>
          </a:xfrm>
          <a:prstGeom prst="roundRect">
            <a:avLst>
              <a:gd name="adj" fmla="val 11290"/>
            </a:avLst>
          </a:prstGeom>
          <a:solidFill>
            <a:srgbClr val="FEF3D6"/>
          </a:solidFill>
          <a:ln w="25400">
            <a:solidFill>
              <a:srgbClr val="F9AB00"/>
            </a:solidFill>
            <a:prstDash val="solid"/>
          </a:ln>
        </p:spPr>
      </p:sp>
      <p:sp>
        <p:nvSpPr>
          <p:cNvPr id="25" name="Text 22"/>
          <p:cNvSpPr txBox="1"/>
          <p:nvPr/>
        </p:nvSpPr>
        <p:spPr>
          <a:xfrm>
            <a:off x="6291072"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744 × 5</a:t>
            </a:r>
            <a:endParaRPr lang="en-US" sz="1200" dirty="0"/>
          </a:p>
        </p:txBody>
      </p:sp>
      <p:sp>
        <p:nvSpPr>
          <p:cNvPr id="26" name="Shape 23"/>
          <p:cNvSpPr/>
          <p:nvPr/>
        </p:nvSpPr>
        <p:spPr>
          <a:xfrm>
            <a:off x="7859268" y="6062472"/>
            <a:ext cx="1330452" cy="566928"/>
          </a:xfrm>
          <a:prstGeom prst="roundRect">
            <a:avLst>
              <a:gd name="adj" fmla="val 11290"/>
            </a:avLst>
          </a:prstGeom>
          <a:solidFill>
            <a:srgbClr val="FEF3D6"/>
          </a:solidFill>
          <a:ln w="25400">
            <a:solidFill>
              <a:srgbClr val="F9AB00"/>
            </a:solidFill>
            <a:prstDash val="solid"/>
          </a:ln>
        </p:spPr>
      </p:sp>
      <p:sp>
        <p:nvSpPr>
          <p:cNvPr id="27" name="Text 24"/>
          <p:cNvSpPr txBox="1"/>
          <p:nvPr/>
        </p:nvSpPr>
        <p:spPr>
          <a:xfrm>
            <a:off x="7950708"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correlacion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0.92</a:t>
            </a:r>
            <a:endParaRPr lang="en-US" sz="1200" dirty="0"/>
          </a:p>
        </p:txBody>
      </p:sp>
      <p:sp>
        <p:nvSpPr>
          <p:cNvPr id="28" name="Text 25"/>
          <p:cNvSpPr txBox="1"/>
          <p:nvPr/>
        </p:nvSpPr>
        <p:spPr>
          <a:xfrm>
            <a:off x="9326880"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12 más</a:t>
            </a:r>
            <a:endParaRPr lang="en-US" sz="1200" dirty="0"/>
          </a:p>
        </p:txBody>
      </p:sp>
      <p:sp>
        <p:nvSpPr>
          <p:cNvPr id="29" name="Text 26"/>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Dentro de la Metropolitana la correlación es 0,917.</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¿Y dentro de cada región?</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Atacama en la lista y se vuelve a correr la celda.</a:t>
            </a:r>
            <a:endParaRPr lang="en-US" sz="1400" dirty="0"/>
          </a:p>
        </p:txBody>
      </p:sp>
      <p:sp>
        <p:nvSpPr>
          <p:cNvPr id="7" name="Shape 4"/>
          <p:cNvSpPr/>
          <p:nvPr/>
        </p:nvSpPr>
        <p:spPr>
          <a:xfrm>
            <a:off x="548640" y="1481328"/>
            <a:ext cx="11091672" cy="1920240"/>
          </a:xfrm>
          <a:prstGeom prst="roundRect">
            <a:avLst>
              <a:gd name="adj" fmla="val 2857"/>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173736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5</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region = </a:t>
            </a:r>
            <a:pPr indent="0" marL="0">
              <a:buNone/>
            </a:pPr>
            <a:r>
              <a:rPr lang="en-US" sz="1300" dirty="0">
                <a:solidFill>
                  <a:srgbClr val="A31515"/>
                </a:solidFill>
                <a:latin typeface="Courier New" pitchFamily="34" charset="0"/>
                <a:ea typeface="Courier New" pitchFamily="34" charset="-122"/>
                <a:cs typeface="Courier New" pitchFamily="34" charset="-120"/>
              </a:rPr>
              <a:t>"Atacama"</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["Antofagasta", "Atacama", "Coquimbo", "Valparaíso", "Metropolitana", "Biobío", "Los Lagos"]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una = mix[mix[</a:t>
            </a:r>
            <a:pPr indent="0" marL="0">
              <a:buNone/>
            </a:pPr>
            <a:r>
              <a:rPr lang="en-US" sz="1300" dirty="0">
                <a:solidFill>
                  <a:srgbClr val="A31515"/>
                </a:solidFill>
                <a:latin typeface="Courier New" pitchFamily="34" charset="0"/>
                <a:ea typeface="Courier New" pitchFamily="34" charset="-122"/>
                <a:cs typeface="Courier New" pitchFamily="34" charset="-120"/>
              </a:rPr>
              <a:t>"region"</a:t>
            </a:r>
            <a:pPr indent="0" marL="0">
              <a:buNone/>
            </a:pPr>
            <a:r>
              <a:rPr lang="en-US" sz="1300" dirty="0">
                <a:solidFill>
                  <a:srgbClr val="202124"/>
                </a:solidFill>
                <a:latin typeface="Courier New" pitchFamily="34" charset="0"/>
                <a:ea typeface="Courier New" pitchFamily="34" charset="-122"/>
                <a:cs typeface="Courier New" pitchFamily="34" charset="-120"/>
              </a:rPr>
              <a:t>] == region]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correlacion = round(una[</a:t>
            </a:r>
            <a:pPr indent="0" marL="0">
              <a:buNone/>
            </a:pPr>
            <a:r>
              <a:rPr lang="en-US" sz="1300" dirty="0">
                <a:solidFill>
                  <a:srgbClr val="A31515"/>
                </a:solidFill>
                <a:latin typeface="Courier New" pitchFamily="34" charset="0"/>
                <a:ea typeface="Courier New" pitchFamily="34" charset="-122"/>
                <a:cs typeface="Courier New" pitchFamily="34" charset="-120"/>
              </a:rPr>
              <a:t>"precio_usd_mwh"</a:t>
            </a:r>
            <a:pPr indent="0" marL="0">
              <a:buNone/>
            </a:pPr>
            <a:r>
              <a:rPr lang="en-US" sz="1300" dirty="0">
                <a:solidFill>
                  <a:srgbClr val="202124"/>
                </a:solidFill>
                <a:latin typeface="Courier New" pitchFamily="34" charset="0"/>
                <a:ea typeface="Courier New" pitchFamily="34" charset="-122"/>
                <a:cs typeface="Courier New" pitchFamily="34" charset="-120"/>
              </a:rPr>
              <a:t>].corr(una[</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 3)</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"Correlación dentro de {region}"</a:t>
            </a:r>
            <a:pPr indent="0" marL="0">
              <a:buNone/>
            </a:pPr>
            <a:r>
              <a:rPr lang="en-US" sz="1300" dirty="0">
                <a:solidFill>
                  <a:srgbClr val="202124"/>
                </a:solidFill>
                <a:latin typeface="Courier New" pitchFamily="34" charset="0"/>
                <a:ea typeface="Courier New" pitchFamily="34" charset="-122"/>
                <a:cs typeface="Courier New" pitchFamily="34" charset="-120"/>
              </a:rPr>
              <a:t>, correlacion)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"Correlación con todas las regiones"</a:t>
            </a:r>
            <a:pPr indent="0" marL="0">
              <a:buNone/>
            </a:pPr>
            <a:r>
              <a:rPr lang="en-US" sz="1300" dirty="0">
                <a:solidFill>
                  <a:srgbClr val="202124"/>
                </a:solidFill>
                <a:latin typeface="Courier New" pitchFamily="34" charset="0"/>
                <a:ea typeface="Courier New" pitchFamily="34" charset="-122"/>
                <a:cs typeface="Courier New" pitchFamily="34" charset="-120"/>
              </a:rPr>
              <a:t>, correlacion_total)</a:t>
            </a:r>
            <a:endParaRPr lang="en-US" sz="13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region</a:t>
            </a:r>
            <a:endParaRPr lang="en-US" sz="1100" dirty="0"/>
          </a:p>
        </p:txBody>
      </p:sp>
      <p:sp>
        <p:nvSpPr>
          <p:cNvPr id="12" name="Shape 9"/>
          <p:cNvSpPr/>
          <p:nvPr/>
        </p:nvSpPr>
        <p:spPr>
          <a:xfrm>
            <a:off x="8823960" y="1874520"/>
            <a:ext cx="2651760" cy="347472"/>
          </a:xfrm>
          <a:prstGeom prst="rect">
            <a:avLst/>
          </a:prstGeom>
          <a:solidFill>
            <a:srgbClr val="FFFFFF"/>
          </a:solidFill>
          <a:ln w="25400">
            <a:solidFill>
              <a:srgbClr val="1A73E8"/>
            </a:solidFill>
            <a:prstDash val="solid"/>
          </a:ln>
        </p:spPr>
      </p:sp>
      <p:sp>
        <p:nvSpPr>
          <p:cNvPr id="13"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Atacama</a:t>
            </a:r>
            <a:endParaRPr lang="en-US" sz="1200" dirty="0"/>
          </a:p>
        </p:txBody>
      </p:sp>
      <p:sp>
        <p:nvSpPr>
          <p:cNvPr id="14"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5" name="Text 12"/>
          <p:cNvSpPr txBox="1"/>
          <p:nvPr/>
        </p:nvSpPr>
        <p:spPr>
          <a:xfrm>
            <a:off x="1325880" y="343814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6" name="Text 13"/>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4"/>
          <p:cNvSpPr/>
          <p:nvPr/>
        </p:nvSpPr>
        <p:spPr>
          <a:xfrm>
            <a:off x="548640" y="6062472"/>
            <a:ext cx="1330452"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640080"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correlacion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0.92</a:t>
            </a:r>
            <a:endParaRPr lang="en-US" sz="1200" dirty="0"/>
          </a:p>
        </p:txBody>
      </p:sp>
      <p:sp>
        <p:nvSpPr>
          <p:cNvPr id="19" name="Shape 16"/>
          <p:cNvSpPr/>
          <p:nvPr/>
        </p:nvSpPr>
        <p:spPr>
          <a:xfrm>
            <a:off x="2016252" y="6062472"/>
            <a:ext cx="1522476"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2107692"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744 × 5</a:t>
            </a:r>
            <a:endParaRPr lang="en-US" sz="1200" dirty="0"/>
          </a:p>
        </p:txBody>
      </p:sp>
      <p:sp>
        <p:nvSpPr>
          <p:cNvPr id="21" name="Shape 18"/>
          <p:cNvSpPr/>
          <p:nvPr/>
        </p:nvSpPr>
        <p:spPr>
          <a:xfrm>
            <a:off x="3675888" y="6062472"/>
            <a:ext cx="1906524"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3767328" y="6071616"/>
            <a:ext cx="176936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correlacion_total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0.98</a:t>
            </a:r>
            <a:endParaRPr lang="en-US" sz="1200" dirty="0"/>
          </a:p>
        </p:txBody>
      </p:sp>
      <p:sp>
        <p:nvSpPr>
          <p:cNvPr id="23" name="Shape 20"/>
          <p:cNvSpPr/>
          <p:nvPr/>
        </p:nvSpPr>
        <p:spPr>
          <a:xfrm>
            <a:off x="5719572" y="6062472"/>
            <a:ext cx="1618488"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5811012" y="6071616"/>
            <a:ext cx="1481328"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mix</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5208 × 5</a:t>
            </a:r>
            <a:endParaRPr lang="en-US" sz="1200" dirty="0"/>
          </a:p>
        </p:txBody>
      </p:sp>
      <p:sp>
        <p:nvSpPr>
          <p:cNvPr id="25" name="Shape 22"/>
          <p:cNvSpPr/>
          <p:nvPr/>
        </p:nvSpPr>
        <p:spPr>
          <a:xfrm>
            <a:off x="7475220" y="6062472"/>
            <a:ext cx="1618488" cy="566928"/>
          </a:xfrm>
          <a:prstGeom prst="roundRect">
            <a:avLst>
              <a:gd name="adj" fmla="val 11290"/>
            </a:avLst>
          </a:prstGeom>
          <a:solidFill>
            <a:srgbClr val="F1F3F4"/>
          </a:solidFill>
          <a:ln w="12700">
            <a:solidFill>
              <a:srgbClr val="DADCE0"/>
            </a:solidFill>
            <a:prstDash val="solid"/>
          </a:ln>
        </p:spPr>
      </p:sp>
      <p:sp>
        <p:nvSpPr>
          <p:cNvPr id="26" name="Text 23"/>
          <p:cNvSpPr txBox="1"/>
          <p:nvPr/>
        </p:nvSpPr>
        <p:spPr>
          <a:xfrm>
            <a:off x="7566660" y="6071616"/>
            <a:ext cx="1481328"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precios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5208 × 4</a:t>
            </a:r>
            <a:endParaRPr lang="en-US" sz="1200" dirty="0"/>
          </a:p>
        </p:txBody>
      </p:sp>
      <p:sp>
        <p:nvSpPr>
          <p:cNvPr id="27" name="Text 24"/>
          <p:cNvSpPr txBox="1"/>
          <p:nvPr/>
        </p:nvSpPr>
        <p:spPr>
          <a:xfrm>
            <a:off x="9230868"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12 más</a:t>
            </a:r>
            <a:endParaRPr lang="en-US" sz="1200" dirty="0"/>
          </a:p>
        </p:txBody>
      </p:sp>
      <p:sp>
        <p:nvSpPr>
          <p:cNvPr id="28" name="Text 25"/>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¿Y dentro de cada región?</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Atacama en la lista y se vuelve a correr la celda.</a:t>
            </a:r>
            <a:endParaRPr lang="en-US" sz="1400" dirty="0"/>
          </a:p>
        </p:txBody>
      </p:sp>
      <p:sp>
        <p:nvSpPr>
          <p:cNvPr id="6" name="Shape 4"/>
          <p:cNvSpPr/>
          <p:nvPr/>
        </p:nvSpPr>
        <p:spPr>
          <a:xfrm>
            <a:off x="548640" y="1481328"/>
            <a:ext cx="11091672" cy="1920240"/>
          </a:xfrm>
          <a:prstGeom prst="roundRect">
            <a:avLst>
              <a:gd name="adj" fmla="val 2857"/>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7360920" cy="173736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5</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region = </a:t>
            </a:r>
            <a:pPr indent="0" marL="0">
              <a:buNone/>
            </a:pPr>
            <a:r>
              <a:rPr lang="en-US" sz="1300" dirty="0">
                <a:solidFill>
                  <a:srgbClr val="A31515"/>
                </a:solidFill>
                <a:latin typeface="Courier New" pitchFamily="34" charset="0"/>
                <a:ea typeface="Courier New" pitchFamily="34" charset="-122"/>
                <a:cs typeface="Courier New" pitchFamily="34" charset="-120"/>
              </a:rPr>
              <a:t>"Atacama"</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["Antofagasta", "Atacama", "Coquimbo", "Valparaíso", "Metropolitana", "Biobío", "Los Lagos"]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una = mix[mix[</a:t>
            </a:r>
            <a:pPr indent="0" marL="0">
              <a:buNone/>
            </a:pPr>
            <a:r>
              <a:rPr lang="en-US" sz="1300" dirty="0">
                <a:solidFill>
                  <a:srgbClr val="A31515"/>
                </a:solidFill>
                <a:latin typeface="Courier New" pitchFamily="34" charset="0"/>
                <a:ea typeface="Courier New" pitchFamily="34" charset="-122"/>
                <a:cs typeface="Courier New" pitchFamily="34" charset="-120"/>
              </a:rPr>
              <a:t>"region"</a:t>
            </a:r>
            <a:pPr indent="0" marL="0">
              <a:buNone/>
            </a:pPr>
            <a:r>
              <a:rPr lang="en-US" sz="1300" dirty="0">
                <a:solidFill>
                  <a:srgbClr val="202124"/>
                </a:solidFill>
                <a:latin typeface="Courier New" pitchFamily="34" charset="0"/>
                <a:ea typeface="Courier New" pitchFamily="34" charset="-122"/>
                <a:cs typeface="Courier New" pitchFamily="34" charset="-120"/>
              </a:rPr>
              <a:t>] == region]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correlacion = round(una[</a:t>
            </a:r>
            <a:pPr indent="0" marL="0">
              <a:buNone/>
            </a:pPr>
            <a:r>
              <a:rPr lang="en-US" sz="1300" dirty="0">
                <a:solidFill>
                  <a:srgbClr val="A31515"/>
                </a:solidFill>
                <a:latin typeface="Courier New" pitchFamily="34" charset="0"/>
                <a:ea typeface="Courier New" pitchFamily="34" charset="-122"/>
                <a:cs typeface="Courier New" pitchFamily="34" charset="-120"/>
              </a:rPr>
              <a:t>"precio_usd_mwh"</a:t>
            </a:r>
            <a:pPr indent="0" marL="0">
              <a:buNone/>
            </a:pPr>
            <a:r>
              <a:rPr lang="en-US" sz="1300" dirty="0">
                <a:solidFill>
                  <a:srgbClr val="202124"/>
                </a:solidFill>
                <a:latin typeface="Courier New" pitchFamily="34" charset="0"/>
                <a:ea typeface="Courier New" pitchFamily="34" charset="-122"/>
                <a:cs typeface="Courier New" pitchFamily="34" charset="-120"/>
              </a:rPr>
              <a:t>].corr(una[</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 3)</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"Correlación dentro de {region}"</a:t>
            </a:r>
            <a:pPr indent="0" marL="0">
              <a:buNone/>
            </a:pPr>
            <a:r>
              <a:rPr lang="en-US" sz="1300" dirty="0">
                <a:solidFill>
                  <a:srgbClr val="202124"/>
                </a:solidFill>
                <a:latin typeface="Courier New" pitchFamily="34" charset="0"/>
                <a:ea typeface="Courier New" pitchFamily="34" charset="-122"/>
                <a:cs typeface="Courier New" pitchFamily="34" charset="-120"/>
              </a:rPr>
              <a:t>, correlacion)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"Correlación con todas las regiones"</a:t>
            </a:r>
            <a:pPr indent="0" marL="0">
              <a:buNone/>
            </a:pPr>
            <a:r>
              <a:rPr lang="en-US" sz="1300" dirty="0">
                <a:solidFill>
                  <a:srgbClr val="202124"/>
                </a:solidFill>
                <a:latin typeface="Courier New" pitchFamily="34" charset="0"/>
                <a:ea typeface="Courier New" pitchFamily="34" charset="-122"/>
                <a:cs typeface="Courier New" pitchFamily="34" charset="-120"/>
              </a:rPr>
              <a:t>, correlacion_total)</a:t>
            </a:r>
            <a:endParaRPr lang="en-US" sz="1300" dirty="0"/>
          </a:p>
        </p:txBody>
      </p:sp>
      <p:sp>
        <p:nvSpPr>
          <p:cNvPr id="10"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region</a:t>
            </a:r>
            <a:endParaRPr lang="en-US" sz="1100" dirty="0"/>
          </a:p>
        </p:txBody>
      </p:sp>
      <p:sp>
        <p:nvSpPr>
          <p:cNvPr id="11"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2"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Atacama</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Shape 12"/>
          <p:cNvSpPr/>
          <p:nvPr/>
        </p:nvSpPr>
        <p:spPr>
          <a:xfrm>
            <a:off x="1325880" y="3511296"/>
            <a:ext cx="10314432" cy="585216"/>
          </a:xfrm>
          <a:prstGeom prst="rect">
            <a:avLst/>
          </a:prstGeom>
          <a:solidFill>
            <a:srgbClr val="FFFFFF"/>
          </a:solidFill>
          <a:ln w="12700">
            <a:solidFill>
              <a:srgbClr val="DADCE0"/>
            </a:solidFill>
            <a:prstDash val="solid"/>
          </a:ln>
        </p:spPr>
      </p:sp>
      <p:sp>
        <p:nvSpPr>
          <p:cNvPr id="15" name="Text 13"/>
          <p:cNvSpPr txBox="1"/>
          <p:nvPr/>
        </p:nvSpPr>
        <p:spPr>
          <a:xfrm>
            <a:off x="1463040" y="3584448"/>
            <a:ext cx="10085832" cy="457200"/>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Correlación dentro de Atacama 0.125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Correlación con todas las regiones 0.979</a:t>
            </a:r>
            <a:endParaRPr lang="en-US" sz="1200" dirty="0"/>
          </a:p>
        </p:txBody>
      </p:sp>
      <p:sp>
        <p:nvSpPr>
          <p:cNvPr id="16" name="Shape 14"/>
          <p:cNvSpPr/>
          <p:nvPr/>
        </p:nvSpPr>
        <p:spPr>
          <a:xfrm>
            <a:off x="1325880" y="4233672"/>
            <a:ext cx="10314432" cy="566928"/>
          </a:xfrm>
          <a:prstGeom prst="roundRect">
            <a:avLst>
              <a:gd name="adj" fmla="val 9677"/>
            </a:avLst>
          </a:prstGeom>
          <a:solidFill>
            <a:srgbClr val="FFF8D6"/>
          </a:solidFill>
          <a:ln w="12700">
            <a:solidFill>
              <a:srgbClr val="FFF8D6"/>
            </a:solidFill>
            <a:prstDash val="solid"/>
          </a:ln>
        </p:spPr>
      </p:sp>
      <p:sp>
        <p:nvSpPr>
          <p:cNvPr id="17" name="Text 15"/>
          <p:cNvSpPr txBox="1"/>
          <p:nvPr/>
        </p:nvSpPr>
        <p:spPr>
          <a:xfrm>
            <a:off x="1508760" y="4233672"/>
            <a:ext cx="9948672" cy="566928"/>
          </a:xfrm>
          <a:prstGeom prst="rect">
            <a:avLst/>
          </a:prstGeom>
          <a:noFill/>
          <a:ln/>
        </p:spPr>
        <p:txBody>
          <a:bodyPr wrap="square" lIns="0" tIns="0" rIns="0" bIns="0" rtlCol="0" anchor="ctr"/>
          <a:lstStyle/>
          <a:p>
            <a:pPr indent="0" marL="0">
              <a:buNone/>
            </a:pPr>
            <a:r>
              <a:rPr lang="en-US" sz="1400" b="1" dirty="0">
                <a:solidFill>
                  <a:srgbClr val="8A6D00"/>
                </a:solidFill>
                <a:latin typeface="Calibri" pitchFamily="34" charset="0"/>
                <a:ea typeface="Calibri" pitchFamily="34" charset="-122"/>
                <a:cs typeface="Calibri" pitchFamily="34" charset="-120"/>
              </a:rPr>
              <a:t>Un total puede engañar.  </a:t>
            </a:r>
            <a:pPr indent="0" marL="0">
              <a:buNone/>
            </a:pPr>
            <a:r>
              <a:rPr lang="en-US" sz="1400" dirty="0">
                <a:solidFill>
                  <a:srgbClr val="202124"/>
                </a:solidFill>
                <a:latin typeface="Calibri" pitchFamily="34" charset="0"/>
                <a:ea typeface="Calibri" pitchFamily="34" charset="-122"/>
                <a:cs typeface="Calibri" pitchFamily="34" charset="-120"/>
              </a:rPr>
              <a:t>Con todas las regiones juntas da 0,979. Región por región va de 0,125 a 0,917. Antes de informar una cifra global, se mira por grupo.</a:t>
            </a:r>
            <a:endParaRPr lang="en-US" sz="1400" dirty="0"/>
          </a:p>
        </p:txBody>
      </p:sp>
      <p:sp>
        <p:nvSpPr>
          <p:cNvPr id="19" name="Text 16"/>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20" name="Shape 17"/>
          <p:cNvSpPr/>
          <p:nvPr/>
        </p:nvSpPr>
        <p:spPr>
          <a:xfrm>
            <a:off x="548640" y="6062472"/>
            <a:ext cx="1143000" cy="566928"/>
          </a:xfrm>
          <a:prstGeom prst="roundRect">
            <a:avLst>
              <a:gd name="adj" fmla="val 11290"/>
            </a:avLst>
          </a:prstGeom>
          <a:solidFill>
            <a:srgbClr val="FEF3D6"/>
          </a:solidFill>
          <a:ln w="25400">
            <a:solidFill>
              <a:srgbClr val="F9AB00"/>
            </a:solidFill>
            <a:prstDash val="solid"/>
          </a:ln>
        </p:spPr>
      </p:sp>
      <p:sp>
        <p:nvSpPr>
          <p:cNvPr id="21" name="Text 18"/>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region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"Atacama"</a:t>
            </a:r>
            <a:endParaRPr lang="en-US" sz="1200" dirty="0"/>
          </a:p>
        </p:txBody>
      </p:sp>
      <p:sp>
        <p:nvSpPr>
          <p:cNvPr id="22" name="Shape 19"/>
          <p:cNvSpPr/>
          <p:nvPr/>
        </p:nvSpPr>
        <p:spPr>
          <a:xfrm>
            <a:off x="1828800" y="6062472"/>
            <a:ext cx="1618488" cy="566928"/>
          </a:xfrm>
          <a:prstGeom prst="roundRect">
            <a:avLst>
              <a:gd name="adj" fmla="val 11290"/>
            </a:avLst>
          </a:prstGeom>
          <a:solidFill>
            <a:srgbClr val="E8F0FE"/>
          </a:solidFill>
          <a:ln w="28575">
            <a:solidFill>
              <a:srgbClr val="1A73E8"/>
            </a:solidFill>
            <a:prstDash val="solid"/>
          </a:ln>
        </p:spPr>
      </p:sp>
      <p:sp>
        <p:nvSpPr>
          <p:cNvPr id="23" name="Text 20"/>
          <p:cNvSpPr txBox="1"/>
          <p:nvPr/>
        </p:nvSpPr>
        <p:spPr>
          <a:xfrm>
            <a:off x="1920240" y="6071616"/>
            <a:ext cx="1481328"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mix</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5208 × 5</a:t>
            </a:r>
            <a:endParaRPr lang="en-US" sz="1200" dirty="0"/>
          </a:p>
        </p:txBody>
      </p:sp>
      <p:sp>
        <p:nvSpPr>
          <p:cNvPr id="24" name="Shape 21"/>
          <p:cNvSpPr/>
          <p:nvPr/>
        </p:nvSpPr>
        <p:spPr>
          <a:xfrm>
            <a:off x="3584448" y="6062472"/>
            <a:ext cx="1906524" cy="566928"/>
          </a:xfrm>
          <a:prstGeom prst="roundRect">
            <a:avLst>
              <a:gd name="adj" fmla="val 11290"/>
            </a:avLst>
          </a:prstGeom>
          <a:solidFill>
            <a:srgbClr val="E8F0FE"/>
          </a:solidFill>
          <a:ln w="28575">
            <a:solidFill>
              <a:srgbClr val="1A73E8"/>
            </a:solidFill>
            <a:prstDash val="solid"/>
          </a:ln>
        </p:spPr>
      </p:sp>
      <p:sp>
        <p:nvSpPr>
          <p:cNvPr id="25" name="Text 22"/>
          <p:cNvSpPr txBox="1"/>
          <p:nvPr/>
        </p:nvSpPr>
        <p:spPr>
          <a:xfrm>
            <a:off x="3675888" y="6071616"/>
            <a:ext cx="176936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correlacion_total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0.98</a:t>
            </a:r>
            <a:endParaRPr lang="en-US" sz="1200" dirty="0"/>
          </a:p>
        </p:txBody>
      </p:sp>
      <p:sp>
        <p:nvSpPr>
          <p:cNvPr id="26" name="Shape 23"/>
          <p:cNvSpPr/>
          <p:nvPr/>
        </p:nvSpPr>
        <p:spPr>
          <a:xfrm>
            <a:off x="5628132" y="6062472"/>
            <a:ext cx="1522476" cy="566928"/>
          </a:xfrm>
          <a:prstGeom prst="roundRect">
            <a:avLst>
              <a:gd name="adj" fmla="val 11290"/>
            </a:avLst>
          </a:prstGeom>
          <a:solidFill>
            <a:srgbClr val="E8F0FE"/>
          </a:solidFill>
          <a:ln w="28575">
            <a:solidFill>
              <a:srgbClr val="1A73E8"/>
            </a:solidFill>
            <a:prstDash val="solid"/>
          </a:ln>
        </p:spPr>
      </p:sp>
      <p:sp>
        <p:nvSpPr>
          <p:cNvPr id="27" name="Text 24"/>
          <p:cNvSpPr txBox="1"/>
          <p:nvPr/>
        </p:nvSpPr>
        <p:spPr>
          <a:xfrm>
            <a:off x="5719572"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744 × 5</a:t>
            </a:r>
            <a:endParaRPr lang="en-US" sz="1200" dirty="0"/>
          </a:p>
        </p:txBody>
      </p:sp>
      <p:sp>
        <p:nvSpPr>
          <p:cNvPr id="28" name="Shape 25"/>
          <p:cNvSpPr/>
          <p:nvPr/>
        </p:nvSpPr>
        <p:spPr>
          <a:xfrm>
            <a:off x="7287768" y="6062472"/>
            <a:ext cx="1330452" cy="566928"/>
          </a:xfrm>
          <a:prstGeom prst="roundRect">
            <a:avLst>
              <a:gd name="adj" fmla="val 11290"/>
            </a:avLst>
          </a:prstGeom>
          <a:solidFill>
            <a:srgbClr val="FEF3D6"/>
          </a:solidFill>
          <a:ln w="25400">
            <a:solidFill>
              <a:srgbClr val="F9AB00"/>
            </a:solidFill>
            <a:prstDash val="solid"/>
          </a:ln>
        </p:spPr>
      </p:sp>
      <p:sp>
        <p:nvSpPr>
          <p:cNvPr id="29" name="Text 26"/>
          <p:cNvSpPr txBox="1"/>
          <p:nvPr/>
        </p:nvSpPr>
        <p:spPr>
          <a:xfrm>
            <a:off x="7379208"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correlacion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0.12</a:t>
            </a:r>
            <a:endParaRPr lang="en-US" sz="1200" dirty="0"/>
          </a:p>
        </p:txBody>
      </p:sp>
      <p:sp>
        <p:nvSpPr>
          <p:cNvPr id="30" name="Shape 27"/>
          <p:cNvSpPr/>
          <p:nvPr/>
        </p:nvSpPr>
        <p:spPr>
          <a:xfrm>
            <a:off x="8755380" y="6062472"/>
            <a:ext cx="1618488" cy="566928"/>
          </a:xfrm>
          <a:prstGeom prst="roundRect">
            <a:avLst>
              <a:gd name="adj" fmla="val 11290"/>
            </a:avLst>
          </a:prstGeom>
          <a:solidFill>
            <a:srgbClr val="F1F3F4"/>
          </a:solidFill>
          <a:ln w="12700">
            <a:solidFill>
              <a:srgbClr val="DADCE0"/>
            </a:solidFill>
            <a:prstDash val="solid"/>
          </a:ln>
        </p:spPr>
      </p:sp>
      <p:sp>
        <p:nvSpPr>
          <p:cNvPr id="31" name="Text 28"/>
          <p:cNvSpPr txBox="1"/>
          <p:nvPr/>
        </p:nvSpPr>
        <p:spPr>
          <a:xfrm>
            <a:off x="8846820" y="6071616"/>
            <a:ext cx="1481328"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precios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5208 × 4</a:t>
            </a:r>
            <a:endParaRPr lang="en-US" sz="1200" dirty="0"/>
          </a:p>
        </p:txBody>
      </p:sp>
      <p:sp>
        <p:nvSpPr>
          <p:cNvPr id="32" name="Text 29"/>
          <p:cNvSpPr txBox="1"/>
          <p:nvPr/>
        </p:nvSpPr>
        <p:spPr>
          <a:xfrm>
            <a:off x="10511028"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11 más</a:t>
            </a:r>
            <a:endParaRPr lang="en-US" sz="1200" dirty="0"/>
          </a:p>
        </p:txBody>
      </p:sp>
      <p:sp>
        <p:nvSpPr>
          <p:cNvPr id="33" name="Text 30"/>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Dentro de Atacama es 0,125. Casi no hay relación.</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9AB00"/>
        </a:solidFill>
      </p:bgPr>
    </p:bg>
    <p:spTree>
      <p:nvGrpSpPr>
        <p:cNvPr id="1" name=""/>
        <p:cNvGrpSpPr/>
        <p:nvPr/>
      </p:nvGrpSpPr>
      <p:grpSpPr>
        <a:xfrm>
          <a:off x="0" y="0"/>
          <a:ext cx="0" cy="0"/>
          <a:chOff x="0" y="0"/>
          <a:chExt cx="0" cy="0"/>
        </a:xfrm>
      </p:grpSpPr>
      <p:sp>
        <p:nvSpPr>
          <p:cNvPr id="2" name="Text 0"/>
          <p:cNvSpPr txBox="1"/>
          <p:nvPr/>
        </p:nvSpPr>
        <p:spPr>
          <a:xfrm>
            <a:off x="731520" y="548640"/>
            <a:ext cx="10698480" cy="822960"/>
          </a:xfrm>
          <a:prstGeom prst="rect">
            <a:avLst/>
          </a:prstGeom>
          <a:noFill/>
          <a:ln/>
        </p:spPr>
        <p:txBody>
          <a:bodyPr wrap="square" lIns="0" tIns="0" rIns="0" bIns="0" rtlCol="0" anchor="ctr"/>
          <a:lstStyle/>
          <a:p>
            <a:pPr indent="0" marL="0">
              <a:buNone/>
            </a:pPr>
            <a:r>
              <a:rPr lang="en-US" sz="4400" b="1" dirty="0">
                <a:solidFill>
                  <a:srgbClr val="0B3D62"/>
                </a:solidFill>
                <a:latin typeface="Calibri" pitchFamily="34" charset="0"/>
                <a:ea typeface="Calibri" pitchFamily="34" charset="-122"/>
                <a:cs typeface="Calibri" pitchFamily="34" charset="-120"/>
              </a:rPr>
              <a:t>PARTE 2 · PARA LA CASA</a:t>
            </a:r>
            <a:endParaRPr lang="en-US" sz="4400" dirty="0"/>
          </a:p>
        </p:txBody>
      </p:sp>
      <p:sp>
        <p:nvSpPr>
          <p:cNvPr id="3" name="Text 1"/>
          <p:cNvSpPr txBox="1"/>
          <p:nvPr/>
        </p:nvSpPr>
        <p:spPr>
          <a:xfrm>
            <a:off x="731520" y="1371600"/>
            <a:ext cx="10698480" cy="457200"/>
          </a:xfrm>
          <a:prstGeom prst="rect">
            <a:avLst/>
          </a:prstGeom>
          <a:noFill/>
          <a:ln/>
        </p:spPr>
        <p:txBody>
          <a:bodyPr wrap="square" lIns="0" tIns="0" rIns="0" bIns="0" rtlCol="0" anchor="ctr"/>
          <a:lstStyle/>
          <a:p>
            <a:pPr indent="0" marL="0">
              <a:buNone/>
            </a:pPr>
            <a:r>
              <a:rPr lang="en-US" sz="2000" dirty="0">
                <a:solidFill>
                  <a:srgbClr val="0B3D62"/>
                </a:solidFill>
                <a:latin typeface="Calibri" pitchFamily="34" charset="0"/>
                <a:ea typeface="Calibri" pitchFamily="34" charset="-122"/>
                <a:cs typeface="Calibri" pitchFamily="34" charset="-120"/>
              </a:rPr>
              <a:t>No se ve en clase. Cada estudio viene explicado en las láminas que siguen, con la guía como apoyo.</a:t>
            </a:r>
            <a:endParaRPr lang="en-US" sz="2000" dirty="0"/>
          </a:p>
        </p:txBody>
      </p:sp>
      <p:sp>
        <p:nvSpPr>
          <p:cNvPr id="4" name="Shape 2"/>
          <p:cNvSpPr/>
          <p:nvPr/>
        </p:nvSpPr>
        <p:spPr>
          <a:xfrm>
            <a:off x="731520" y="2240280"/>
            <a:ext cx="548640" cy="548640"/>
          </a:xfrm>
          <a:prstGeom prst="ellipse">
            <a:avLst/>
          </a:prstGeom>
          <a:solidFill>
            <a:srgbClr val="0B3D62"/>
          </a:solidFill>
          <a:ln w="12700">
            <a:solidFill>
              <a:srgbClr val="0B3D62"/>
            </a:solidFill>
            <a:prstDash val="solid"/>
          </a:ln>
        </p:spPr>
      </p:sp>
      <p:sp>
        <p:nvSpPr>
          <p:cNvPr id="5" name="Text 3"/>
          <p:cNvSpPr txBox="1"/>
          <p:nvPr/>
        </p:nvSpPr>
        <p:spPr>
          <a:xfrm>
            <a:off x="731520" y="22402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Text 4"/>
          <p:cNvSpPr txBox="1"/>
          <p:nvPr/>
        </p:nvSpPr>
        <p:spPr>
          <a:xfrm>
            <a:off x="1508760" y="224028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Estudio 1   </a:t>
            </a:r>
            <a:pPr indent="0" marL="0">
              <a:buNone/>
            </a:pPr>
            <a:r>
              <a:rPr lang="en-US" sz="2400" dirty="0">
                <a:solidFill>
                  <a:srgbClr val="0B3D62"/>
                </a:solidFill>
                <a:latin typeface="Calibri" pitchFamily="34" charset="0"/>
                <a:ea typeface="Calibri" pitchFamily="34" charset="-122"/>
                <a:cs typeface="Calibri" pitchFamily="34" charset="-120"/>
              </a:rPr>
              <a:t>¿Se consume menos el fin de semana?</a:t>
            </a:r>
            <a:endParaRPr lang="en-US" sz="2400" dirty="0"/>
          </a:p>
        </p:txBody>
      </p:sp>
      <p:sp>
        <p:nvSpPr>
          <p:cNvPr id="7" name="Shape 5"/>
          <p:cNvSpPr/>
          <p:nvPr/>
        </p:nvSpPr>
        <p:spPr>
          <a:xfrm>
            <a:off x="731520" y="3017520"/>
            <a:ext cx="548640" cy="548640"/>
          </a:xfrm>
          <a:prstGeom prst="ellipse">
            <a:avLst/>
          </a:prstGeom>
          <a:solidFill>
            <a:srgbClr val="0B3D62"/>
          </a:solidFill>
          <a:ln w="12700">
            <a:solidFill>
              <a:srgbClr val="0B3D62"/>
            </a:solidFill>
            <a:prstDash val="solid"/>
          </a:ln>
        </p:spPr>
      </p:sp>
      <p:sp>
        <p:nvSpPr>
          <p:cNvPr id="8" name="Text 6"/>
          <p:cNvSpPr txBox="1"/>
          <p:nvPr/>
        </p:nvSpPr>
        <p:spPr>
          <a:xfrm>
            <a:off x="731520" y="30175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9" name="Text 7"/>
          <p:cNvSpPr txBox="1"/>
          <p:nvPr/>
        </p:nvSpPr>
        <p:spPr>
          <a:xfrm>
            <a:off x="1508760" y="301752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Estudio 2   </a:t>
            </a:r>
            <a:pPr indent="0" marL="0">
              <a:buNone/>
            </a:pPr>
            <a:r>
              <a:rPr lang="en-US" sz="2400" dirty="0">
                <a:solidFill>
                  <a:srgbClr val="0B3D62"/>
                </a:solidFill>
                <a:latin typeface="Calibri" pitchFamily="34" charset="0"/>
                <a:ea typeface="Calibri" pitchFamily="34" charset="-122"/>
                <a:cs typeface="Calibri" pitchFamily="34" charset="-120"/>
              </a:rPr>
              <a:t>¿Cuánto generó cada tecnología en el año?</a:t>
            </a:r>
            <a:endParaRPr lang="en-US" sz="2400" dirty="0"/>
          </a:p>
        </p:txBody>
      </p:sp>
      <p:sp>
        <p:nvSpPr>
          <p:cNvPr id="10" name="Shape 8"/>
          <p:cNvSpPr/>
          <p:nvPr/>
        </p:nvSpPr>
        <p:spPr>
          <a:xfrm>
            <a:off x="731520" y="3794760"/>
            <a:ext cx="548640" cy="548640"/>
          </a:xfrm>
          <a:prstGeom prst="ellipse">
            <a:avLst/>
          </a:prstGeom>
          <a:solidFill>
            <a:srgbClr val="0B3D62"/>
          </a:solidFill>
          <a:ln w="12700">
            <a:solidFill>
              <a:srgbClr val="0B3D62"/>
            </a:solidFill>
            <a:prstDash val="solid"/>
          </a:ln>
        </p:spPr>
      </p:sp>
      <p:sp>
        <p:nvSpPr>
          <p:cNvPr id="11" name="Text 9"/>
          <p:cNvSpPr txBox="1"/>
          <p:nvPr/>
        </p:nvSpPr>
        <p:spPr>
          <a:xfrm>
            <a:off x="731520" y="37947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Text 10"/>
          <p:cNvSpPr txBox="1"/>
          <p:nvPr/>
        </p:nvSpPr>
        <p:spPr>
          <a:xfrm>
            <a:off x="1508760" y="379476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Estudio 3   </a:t>
            </a:r>
            <a:pPr indent="0" marL="0">
              <a:buNone/>
            </a:pPr>
            <a:r>
              <a:rPr lang="en-US" sz="2400" dirty="0">
                <a:solidFill>
                  <a:srgbClr val="0B3D62"/>
                </a:solidFill>
                <a:latin typeface="Calibri" pitchFamily="34" charset="0"/>
                <a:ea typeface="Calibri" pitchFamily="34" charset="-122"/>
                <a:cs typeface="Calibri" pitchFamily="34" charset="-120"/>
              </a:rPr>
              <a:t>Tu turno, resume con varios cálculos</a:t>
            </a:r>
            <a:endParaRPr lang="en-US" sz="2400" dirty="0"/>
          </a:p>
        </p:txBody>
      </p:sp>
      <p:sp>
        <p:nvSpPr>
          <p:cNvPr id="13" name="Shape 11"/>
          <p:cNvSpPr/>
          <p:nvPr/>
        </p:nvSpPr>
        <p:spPr>
          <a:xfrm>
            <a:off x="731520" y="4572000"/>
            <a:ext cx="548640" cy="548640"/>
          </a:xfrm>
          <a:prstGeom prst="ellipse">
            <a:avLst/>
          </a:prstGeom>
          <a:solidFill>
            <a:srgbClr val="0B3D62"/>
          </a:solidFill>
          <a:ln w="12700">
            <a:solidFill>
              <a:srgbClr val="0B3D62"/>
            </a:solidFill>
            <a:prstDash val="solid"/>
          </a:ln>
        </p:spPr>
      </p:sp>
      <p:sp>
        <p:nvSpPr>
          <p:cNvPr id="14" name="Text 12"/>
          <p:cNvSpPr txBox="1"/>
          <p:nvPr/>
        </p:nvSpPr>
        <p:spPr>
          <a:xfrm>
            <a:off x="731520" y="45720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5" name="Text 13"/>
          <p:cNvSpPr txBox="1"/>
          <p:nvPr/>
        </p:nvSpPr>
        <p:spPr>
          <a:xfrm>
            <a:off x="1508760" y="457200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Estudio 4   </a:t>
            </a:r>
            <a:pPr indent="0" marL="0">
              <a:buNone/>
            </a:pPr>
            <a:r>
              <a:rPr lang="en-US" sz="2400" dirty="0">
                <a:solidFill>
                  <a:srgbClr val="0B3D62"/>
                </a:solidFill>
                <a:latin typeface="Calibri" pitchFamily="34" charset="0"/>
                <a:ea typeface="Calibri" pitchFamily="34" charset="-122"/>
                <a:cs typeface="Calibri" pitchFamily="34" charset="-120"/>
              </a:rPr>
              <a:t>¿Qué tan seguido genera cada tecnología?</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¿Se consume menos el fin de semana?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cómo se marca el fin de semana y cómo se calcula la caída.</a:t>
            </a:r>
            <a:endParaRPr lang="en-US" sz="1400" dirty="0"/>
          </a:p>
        </p:txBody>
      </p:sp>
      <p:pic>
        <p:nvPicPr>
          <p:cNvPr id="6" name="Image 0" descr="../../repo/modulos/../../diag/lab02_estudio1_finde.png">    </p:cNvPr>
          <p:cNvPicPr>
            <a:picLocks noChangeAspect="1"/>
          </p:cNvPicPr>
          <p:nvPr/>
        </p:nvPicPr>
        <p:blipFill>
          <a:blip r:embed="rId1"/>
          <a:stretch>
            <a:fillRect/>
          </a:stretch>
        </p:blipFill>
        <p:spPr>
          <a:xfrm>
            <a:off x="548640" y="1463040"/>
            <a:ext cx="11091672" cy="398331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4"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4</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¿Se consume menos el fin de semana?</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a:t>
            </a:r>
            <a:endParaRPr lang="en-US" sz="1400" dirty="0"/>
          </a:p>
        </p:txBody>
      </p:sp>
      <p:sp>
        <p:nvSpPr>
          <p:cNvPr id="7" name="Shape 4"/>
          <p:cNvSpPr/>
          <p:nvPr/>
        </p:nvSpPr>
        <p:spPr>
          <a:xfrm>
            <a:off x="548640" y="1481328"/>
            <a:ext cx="11091672" cy="2331720"/>
          </a:xfrm>
          <a:prstGeom prst="roundRect">
            <a:avLst>
              <a:gd name="adj" fmla="val 2353"/>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10085832" cy="214884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1</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Una columna nueva que dice si cada fila cae en sábado o domingo.</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dayofweek numera los días de 0, lunes, a 6, domingo.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demanda[</a:t>
            </a:r>
            <a:pPr indent="0" marL="0">
              <a:buNone/>
            </a:pPr>
            <a:r>
              <a:rPr lang="en-US" sz="1300" dirty="0">
                <a:solidFill>
                  <a:srgbClr val="A31515"/>
                </a:solidFill>
                <a:latin typeface="Courier New" pitchFamily="34" charset="0"/>
                <a:ea typeface="Courier New" pitchFamily="34" charset="-122"/>
                <a:cs typeface="Courier New" pitchFamily="34" charset="-120"/>
              </a:rPr>
              <a:t>"es_finde"</a:t>
            </a:r>
            <a:pPr indent="0" marL="0">
              <a:buNone/>
            </a:pPr>
            <a:r>
              <a:rPr lang="en-US" sz="1300" dirty="0">
                <a:solidFill>
                  <a:srgbClr val="202124"/>
                </a:solidFill>
                <a:latin typeface="Courier New" pitchFamily="34" charset="0"/>
                <a:ea typeface="Courier New" pitchFamily="34" charset="-122"/>
                <a:cs typeface="Courier New" pitchFamily="34" charset="-120"/>
              </a:rPr>
              <a:t>] = demanda[</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].dt.dayofweek &gt;= 5</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promedio = demanda.groupby(</a:t>
            </a:r>
            <a:pPr indent="0" marL="0">
              <a:buNone/>
            </a:pPr>
            <a:r>
              <a:rPr lang="en-US" sz="1300" dirty="0">
                <a:solidFill>
                  <a:srgbClr val="A31515"/>
                </a:solidFill>
                <a:latin typeface="Courier New" pitchFamily="34" charset="0"/>
                <a:ea typeface="Courier New" pitchFamily="34" charset="-122"/>
                <a:cs typeface="Courier New" pitchFamily="34" charset="-120"/>
              </a:rPr>
              <a:t>"es_finde"</a:t>
            </a:r>
            <a:pPr indent="0" marL="0">
              <a:buNone/>
            </a:pPr>
            <a:r>
              <a:rPr lang="en-US" sz="1300" dirty="0">
                <a:solidFill>
                  <a:srgbClr val="202124"/>
                </a:solidFill>
                <a:latin typeface="Courier New" pitchFamily="34" charset="0"/>
                <a:ea typeface="Courier New" pitchFamily="34" charset="-122"/>
                <a:cs typeface="Courier New" pitchFamily="34" charset="-120"/>
              </a:rPr>
              <a:t>)[</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].mean()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print(promedio.round(1))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caida = 100 * (1 - promedio[True] / promedio[False])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 El fin de semana se consume un {caida:.1f} por ciento menos"</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p:txBody>
      </p:sp>
      <p:sp>
        <p:nvSpPr>
          <p:cNvPr id="11" name="Text 8"/>
          <p:cNvSpPr txBox="1"/>
          <p:nvPr/>
        </p:nvSpPr>
        <p:spPr>
          <a:xfrm>
            <a:off x="1325880" y="384962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10"/>
          <p:cNvSpPr/>
          <p:nvPr/>
        </p:nvSpPr>
        <p:spPr>
          <a:xfrm>
            <a:off x="548640" y="6062472"/>
            <a:ext cx="1330452" cy="566928"/>
          </a:xfrm>
          <a:prstGeom prst="roundRect">
            <a:avLst>
              <a:gd name="adj" fmla="val 11290"/>
            </a:avLst>
          </a:prstGeom>
          <a:solidFill>
            <a:srgbClr val="F1F3F4"/>
          </a:solidFill>
          <a:ln w="12700">
            <a:solidFill>
              <a:srgbClr val="DADCE0"/>
            </a:solidFill>
            <a:prstDash val="solid"/>
          </a:ln>
        </p:spPr>
      </p:sp>
      <p:sp>
        <p:nvSpPr>
          <p:cNvPr id="14" name="Text 11"/>
          <p:cNvSpPr txBox="1"/>
          <p:nvPr/>
        </p:nvSpPr>
        <p:spPr>
          <a:xfrm>
            <a:off x="640080"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correlacion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0.12</a:t>
            </a:r>
            <a:endParaRPr lang="en-US" sz="1200" dirty="0"/>
          </a:p>
        </p:txBody>
      </p:sp>
      <p:sp>
        <p:nvSpPr>
          <p:cNvPr id="15" name="Shape 12"/>
          <p:cNvSpPr/>
          <p:nvPr/>
        </p:nvSpPr>
        <p:spPr>
          <a:xfrm>
            <a:off x="2016252" y="6062472"/>
            <a:ext cx="1522476"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2107692"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744 × 5</a:t>
            </a:r>
            <a:endParaRPr lang="en-US" sz="1200" dirty="0"/>
          </a:p>
        </p:txBody>
      </p:sp>
      <p:sp>
        <p:nvSpPr>
          <p:cNvPr id="17" name="Shape 14"/>
          <p:cNvSpPr/>
          <p:nvPr/>
        </p:nvSpPr>
        <p:spPr>
          <a:xfrm>
            <a:off x="3675888" y="6062472"/>
            <a:ext cx="1906524"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3767328" y="6071616"/>
            <a:ext cx="176936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correlacion_total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0.98</a:t>
            </a:r>
            <a:endParaRPr lang="en-US" sz="1200" dirty="0"/>
          </a:p>
        </p:txBody>
      </p:sp>
      <p:sp>
        <p:nvSpPr>
          <p:cNvPr id="19" name="Shape 16"/>
          <p:cNvSpPr/>
          <p:nvPr/>
        </p:nvSpPr>
        <p:spPr>
          <a:xfrm>
            <a:off x="5719572" y="6062472"/>
            <a:ext cx="1618488"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5811012" y="6071616"/>
            <a:ext cx="1481328"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mix</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5208 × 5</a:t>
            </a:r>
            <a:endParaRPr lang="en-US" sz="1200" dirty="0"/>
          </a:p>
        </p:txBody>
      </p:sp>
      <p:sp>
        <p:nvSpPr>
          <p:cNvPr id="21" name="Shape 18"/>
          <p:cNvSpPr/>
          <p:nvPr/>
        </p:nvSpPr>
        <p:spPr>
          <a:xfrm>
            <a:off x="7475220" y="6062472"/>
            <a:ext cx="1618488"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7566660" y="6071616"/>
            <a:ext cx="1481328"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precios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5208 × 4</a:t>
            </a:r>
            <a:endParaRPr lang="en-US" sz="1200" dirty="0"/>
          </a:p>
        </p:txBody>
      </p:sp>
      <p:sp>
        <p:nvSpPr>
          <p:cNvPr id="23" name="Text 20"/>
          <p:cNvSpPr txBox="1"/>
          <p:nvPr/>
        </p:nvSpPr>
        <p:spPr>
          <a:xfrm>
            <a:off x="9230868"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12 más</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¿Se consume menos el fin de semana?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demanda[</a:t>
            </a:r>
            <a:pPr indent="0" marL="0">
              <a:buNone/>
            </a:pPr>
            <a:r>
              <a:rPr lang="en-US" sz="1600" dirty="0">
                <a:solidFill>
                  <a:srgbClr val="A31515"/>
                </a:solidFill>
                <a:latin typeface="Courier New" pitchFamily="34" charset="0"/>
                <a:ea typeface="Courier New" pitchFamily="34" charset="-122"/>
                <a:cs typeface="Courier New" pitchFamily="34" charset="-120"/>
              </a:rPr>
              <a:t>"es_finde"</a:t>
            </a:r>
            <a:pPr indent="0" marL="0">
              <a:buNone/>
            </a:pPr>
            <a:r>
              <a:rPr lang="en-US" sz="1600" dirty="0">
                <a:solidFill>
                  <a:srgbClr val="202124"/>
                </a:solidFill>
                <a:latin typeface="Courier New" pitchFamily="34" charset="0"/>
                <a:ea typeface="Courier New" pitchFamily="34" charset="-122"/>
                <a:cs typeface="Courier New" pitchFamily="34" charset="-120"/>
              </a:rPr>
              <a:t>] = demanda[</a:t>
            </a:r>
            <a:pPr indent="0" marL="0">
              <a:buNone/>
            </a:pPr>
            <a:r>
              <a:rPr lang="en-US" sz="1600" dirty="0">
                <a:solidFill>
                  <a:srgbClr val="A31515"/>
                </a:solidFill>
                <a:latin typeface="Courier New" pitchFamily="34" charset="0"/>
                <a:ea typeface="Courier New" pitchFamily="34" charset="-122"/>
                <a:cs typeface="Courier New" pitchFamily="34" charset="-120"/>
              </a:rPr>
              <a:t>"fecha"</a:t>
            </a:r>
            <a:pPr indent="0" marL="0">
              <a:buNone/>
            </a:pPr>
            <a:r>
              <a:rPr lang="en-US" sz="1600" dirty="0">
                <a:solidFill>
                  <a:srgbClr val="202124"/>
                </a:solidFill>
                <a:latin typeface="Courier New" pitchFamily="34" charset="0"/>
                <a:ea typeface="Courier New" pitchFamily="34" charset="-122"/>
                <a:cs typeface="Courier New" pitchFamily="34" charset="-120"/>
              </a:rPr>
              <a:t>].dt.dayofweek &gt;= 5</a:t>
            </a:r>
            <a:endParaRPr lang="en-US" sz="1600" dirty="0"/>
          </a:p>
        </p:txBody>
      </p:sp>
      <p:sp>
        <p:nvSpPr>
          <p:cNvPr id="8" name="Shape 6"/>
          <p:cNvSpPr/>
          <p:nvPr/>
        </p:nvSpPr>
        <p:spPr>
          <a:xfrm>
            <a:off x="548640" y="2320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20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219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demanda["fecha"].dt</a:t>
            </a:r>
            <a:endParaRPr lang="en-US" sz="1400" dirty="0"/>
          </a:p>
        </p:txBody>
      </p:sp>
      <p:sp>
        <p:nvSpPr>
          <p:cNvPr id="12" name="Text 10"/>
          <p:cNvSpPr txBox="1"/>
          <p:nvPr/>
        </p:nvSpPr>
        <p:spPr>
          <a:xfrm>
            <a:off x="6263640" y="2219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dt abre las herramientas de fecha de la columna.</a:t>
            </a:r>
            <a:endParaRPr lang="en-US" sz="1600" dirty="0"/>
          </a:p>
        </p:txBody>
      </p:sp>
      <p:sp>
        <p:nvSpPr>
          <p:cNvPr id="13" name="Shape 11"/>
          <p:cNvSpPr/>
          <p:nvPr/>
        </p:nvSpPr>
        <p:spPr>
          <a:xfrm>
            <a:off x="548640" y="2997200"/>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29972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1752"/>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284175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.dayofweek</a:t>
            </a:r>
            <a:endParaRPr lang="en-US" sz="1400" dirty="0"/>
          </a:p>
        </p:txBody>
      </p:sp>
      <p:sp>
        <p:nvSpPr>
          <p:cNvPr id="17" name="Text 15"/>
          <p:cNvSpPr txBox="1"/>
          <p:nvPr/>
        </p:nvSpPr>
        <p:spPr>
          <a:xfrm>
            <a:off x="6263640" y="284175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El día de la semana como número, 0 el lunes y 6 el domingo.</a:t>
            </a:r>
            <a:endParaRPr lang="en-US" sz="1600" dirty="0"/>
          </a:p>
        </p:txBody>
      </p:sp>
      <p:sp>
        <p:nvSpPr>
          <p:cNvPr id="18" name="Shape 16"/>
          <p:cNvSpPr/>
          <p:nvPr/>
        </p:nvSpPr>
        <p:spPr>
          <a:xfrm>
            <a:off x="548640" y="3728720"/>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7287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573272"/>
            <a:ext cx="4937760" cy="640080"/>
          </a:xfrm>
          <a:prstGeom prst="roundRect">
            <a:avLst>
              <a:gd name="adj" fmla="val 7143"/>
            </a:avLst>
          </a:prstGeom>
          <a:solidFill>
            <a:srgbClr val="FDF0C8"/>
          </a:solidFill>
          <a:ln w="12700">
            <a:solidFill>
              <a:srgbClr val="FDF0C8"/>
            </a:solidFill>
            <a:prstDash val="solid"/>
          </a:ln>
        </p:spPr>
      </p:sp>
      <p:sp>
        <p:nvSpPr>
          <p:cNvPr id="21" name="Text 19"/>
          <p:cNvSpPr txBox="1"/>
          <p:nvPr/>
        </p:nvSpPr>
        <p:spPr>
          <a:xfrm>
            <a:off x="1170432" y="357327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&gt;= 5</a:t>
            </a:r>
            <a:endParaRPr lang="en-US" sz="1400" dirty="0"/>
          </a:p>
        </p:txBody>
      </p:sp>
      <p:sp>
        <p:nvSpPr>
          <p:cNvPr id="22" name="Text 20"/>
          <p:cNvSpPr txBox="1"/>
          <p:nvPr/>
        </p:nvSpPr>
        <p:spPr>
          <a:xfrm>
            <a:off x="6263640" y="357327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Mayor o igual a 5, o sea sábado o domingo. Verdadero o falso.</a:t>
            </a:r>
            <a:endParaRPr lang="en-US" sz="1600" dirty="0"/>
          </a:p>
        </p:txBody>
      </p:sp>
      <p:sp>
        <p:nvSpPr>
          <p:cNvPr id="23" name="Shape 21"/>
          <p:cNvSpPr/>
          <p:nvPr/>
        </p:nvSpPr>
        <p:spPr>
          <a:xfrm>
            <a:off x="548640" y="4405376"/>
            <a:ext cx="329184" cy="329184"/>
          </a:xfrm>
          <a:prstGeom prst="ellipse">
            <a:avLst/>
          </a:prstGeom>
          <a:solidFill>
            <a:srgbClr val="7B4FC9"/>
          </a:solidFill>
          <a:ln w="12700">
            <a:solidFill>
              <a:srgbClr val="7B4FC9"/>
            </a:solidFill>
            <a:prstDash val="solid"/>
          </a:ln>
        </p:spPr>
      </p:sp>
      <p:sp>
        <p:nvSpPr>
          <p:cNvPr id="24" name="Text 22"/>
          <p:cNvSpPr txBox="1"/>
          <p:nvPr/>
        </p:nvSpPr>
        <p:spPr>
          <a:xfrm>
            <a:off x="548640" y="44053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Shape 23"/>
          <p:cNvSpPr/>
          <p:nvPr/>
        </p:nvSpPr>
        <p:spPr>
          <a:xfrm>
            <a:off x="1051560" y="4304792"/>
            <a:ext cx="4937760" cy="530352"/>
          </a:xfrm>
          <a:prstGeom prst="roundRect">
            <a:avLst>
              <a:gd name="adj" fmla="val 8621"/>
            </a:avLst>
          </a:prstGeom>
          <a:solidFill>
            <a:srgbClr val="ECE2FA"/>
          </a:solidFill>
          <a:ln w="12700">
            <a:solidFill>
              <a:srgbClr val="ECE2FA"/>
            </a:solidFill>
            <a:prstDash val="solid"/>
          </a:ln>
        </p:spPr>
      </p:sp>
      <p:sp>
        <p:nvSpPr>
          <p:cNvPr id="26" name="Text 24"/>
          <p:cNvSpPr txBox="1"/>
          <p:nvPr/>
        </p:nvSpPr>
        <p:spPr>
          <a:xfrm>
            <a:off x="1170432" y="430479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demanda["es_finde"] =</a:t>
            </a:r>
            <a:endParaRPr lang="en-US" sz="1400" dirty="0"/>
          </a:p>
        </p:txBody>
      </p:sp>
      <p:sp>
        <p:nvSpPr>
          <p:cNvPr id="27" name="Text 25"/>
          <p:cNvSpPr txBox="1"/>
          <p:nvPr/>
        </p:nvSpPr>
        <p:spPr>
          <a:xfrm>
            <a:off x="6263640" y="430479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Guarda la respuesta en una columna nueva.</a:t>
            </a:r>
            <a:endParaRPr lang="en-US" sz="1600" dirty="0"/>
          </a:p>
        </p:txBody>
      </p:sp>
      <p:sp>
        <p:nvSpPr>
          <p:cNvPr id="28" name="Shape 26"/>
          <p:cNvSpPr/>
          <p:nvPr/>
        </p:nvSpPr>
        <p:spPr>
          <a:xfrm>
            <a:off x="548640" y="5989320"/>
            <a:ext cx="73152" cy="548640"/>
          </a:xfrm>
          <a:prstGeom prst="rect">
            <a:avLst/>
          </a:prstGeom>
          <a:solidFill>
            <a:srgbClr val="0B3D62"/>
          </a:solidFill>
          <a:ln w="12700">
            <a:solidFill>
              <a:srgbClr val="0B3D62"/>
            </a:solidFill>
            <a:prstDash val="solid"/>
          </a:ln>
        </p:spPr>
      </p:sp>
      <p:sp>
        <p:nvSpPr>
          <p:cNvPr id="29" name="Text 2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crea la columna es_finde, verdadera en las filas de sábado o domingo.</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¿Se consume menos el fin de semana?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caida = 100 * (1 - promedio[True] / promedio[False])</a:t>
            </a:r>
            <a:endParaRPr lang="en-US" sz="1600" dirty="0"/>
          </a:p>
        </p:txBody>
      </p:sp>
      <p:sp>
        <p:nvSpPr>
          <p:cNvPr id="8" name="Shape 6"/>
          <p:cNvSpPr/>
          <p:nvPr/>
        </p:nvSpPr>
        <p:spPr>
          <a:xfrm>
            <a:off x="548640" y="2375408"/>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754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1996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promedio[True]</a:t>
            </a:r>
            <a:endParaRPr lang="en-US" sz="1400" dirty="0"/>
          </a:p>
        </p:txBody>
      </p:sp>
      <p:sp>
        <p:nvSpPr>
          <p:cNvPr id="12" name="Text 10"/>
          <p:cNvSpPr txBox="1"/>
          <p:nvPr/>
        </p:nvSpPr>
        <p:spPr>
          <a:xfrm>
            <a:off x="6263640" y="221996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promedio tiene dos valores, uno para True y otro para False. True es el fin de semana.</a:t>
            </a:r>
            <a:endParaRPr lang="en-US" sz="1600" dirty="0"/>
          </a:p>
        </p:txBody>
      </p:sp>
      <p:sp>
        <p:nvSpPr>
          <p:cNvPr id="13" name="Shape 11"/>
          <p:cNvSpPr/>
          <p:nvPr/>
        </p:nvSpPr>
        <p:spPr>
          <a:xfrm>
            <a:off x="548640" y="3052064"/>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05206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51480"/>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295148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promedio[False]</a:t>
            </a:r>
            <a:endParaRPr lang="en-US" sz="1400" dirty="0"/>
          </a:p>
        </p:txBody>
      </p:sp>
      <p:sp>
        <p:nvSpPr>
          <p:cNvPr id="17" name="Text 15"/>
          <p:cNvSpPr txBox="1"/>
          <p:nvPr/>
        </p:nvSpPr>
        <p:spPr>
          <a:xfrm>
            <a:off x="6263640" y="295148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El de los días hábiles.</a:t>
            </a:r>
            <a:endParaRPr lang="en-US" sz="1600" dirty="0"/>
          </a:p>
        </p:txBody>
      </p:sp>
      <p:sp>
        <p:nvSpPr>
          <p:cNvPr id="18" name="Shape 16"/>
          <p:cNvSpPr/>
          <p:nvPr/>
        </p:nvSpPr>
        <p:spPr>
          <a:xfrm>
            <a:off x="548640" y="3728720"/>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7287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573272"/>
            <a:ext cx="4937760" cy="640080"/>
          </a:xfrm>
          <a:prstGeom prst="roundRect">
            <a:avLst>
              <a:gd name="adj" fmla="val 7143"/>
            </a:avLst>
          </a:prstGeom>
          <a:solidFill>
            <a:srgbClr val="FDF0C8"/>
          </a:solidFill>
          <a:ln w="12700">
            <a:solidFill>
              <a:srgbClr val="FDF0C8"/>
            </a:solidFill>
            <a:prstDash val="solid"/>
          </a:ln>
        </p:spPr>
      </p:sp>
      <p:sp>
        <p:nvSpPr>
          <p:cNvPr id="21" name="Text 19"/>
          <p:cNvSpPr txBox="1"/>
          <p:nvPr/>
        </p:nvSpPr>
        <p:spPr>
          <a:xfrm>
            <a:off x="1170432" y="357327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1 - ... / ...</a:t>
            </a:r>
            <a:endParaRPr lang="en-US" sz="1400" dirty="0"/>
          </a:p>
        </p:txBody>
      </p:sp>
      <p:sp>
        <p:nvSpPr>
          <p:cNvPr id="22" name="Text 20"/>
          <p:cNvSpPr txBox="1"/>
          <p:nvPr/>
        </p:nvSpPr>
        <p:spPr>
          <a:xfrm>
            <a:off x="6263640" y="357327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Uno menos la proporción entre los dos. Es cuánto baja.</a:t>
            </a:r>
            <a:endParaRPr lang="en-US" sz="1600" dirty="0"/>
          </a:p>
        </p:txBody>
      </p:sp>
      <p:sp>
        <p:nvSpPr>
          <p:cNvPr id="23" name="Shape 21"/>
          <p:cNvSpPr/>
          <p:nvPr/>
        </p:nvSpPr>
        <p:spPr>
          <a:xfrm>
            <a:off x="548640" y="4405376"/>
            <a:ext cx="329184" cy="329184"/>
          </a:xfrm>
          <a:prstGeom prst="ellipse">
            <a:avLst/>
          </a:prstGeom>
          <a:solidFill>
            <a:srgbClr val="7B4FC9"/>
          </a:solidFill>
          <a:ln w="12700">
            <a:solidFill>
              <a:srgbClr val="7B4FC9"/>
            </a:solidFill>
            <a:prstDash val="solid"/>
          </a:ln>
        </p:spPr>
      </p:sp>
      <p:sp>
        <p:nvSpPr>
          <p:cNvPr id="24" name="Text 22"/>
          <p:cNvSpPr txBox="1"/>
          <p:nvPr/>
        </p:nvSpPr>
        <p:spPr>
          <a:xfrm>
            <a:off x="548640" y="44053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Shape 23"/>
          <p:cNvSpPr/>
          <p:nvPr/>
        </p:nvSpPr>
        <p:spPr>
          <a:xfrm>
            <a:off x="1051560" y="4304792"/>
            <a:ext cx="4937760" cy="530352"/>
          </a:xfrm>
          <a:prstGeom prst="roundRect">
            <a:avLst>
              <a:gd name="adj" fmla="val 8621"/>
            </a:avLst>
          </a:prstGeom>
          <a:solidFill>
            <a:srgbClr val="ECE2FA"/>
          </a:solidFill>
          <a:ln w="12700">
            <a:solidFill>
              <a:srgbClr val="ECE2FA"/>
            </a:solidFill>
            <a:prstDash val="solid"/>
          </a:ln>
        </p:spPr>
      </p:sp>
      <p:sp>
        <p:nvSpPr>
          <p:cNvPr id="26" name="Text 24"/>
          <p:cNvSpPr txBox="1"/>
          <p:nvPr/>
        </p:nvSpPr>
        <p:spPr>
          <a:xfrm>
            <a:off x="1170432" y="430479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100 *</a:t>
            </a:r>
            <a:endParaRPr lang="en-US" sz="1400" dirty="0"/>
          </a:p>
        </p:txBody>
      </p:sp>
      <p:sp>
        <p:nvSpPr>
          <p:cNvPr id="27" name="Text 25"/>
          <p:cNvSpPr txBox="1"/>
          <p:nvPr/>
        </p:nvSpPr>
        <p:spPr>
          <a:xfrm>
            <a:off x="6263640" y="430479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Lo pasa a porcentaje.</a:t>
            </a:r>
            <a:endParaRPr lang="en-US" sz="1600" dirty="0"/>
          </a:p>
        </p:txBody>
      </p:sp>
      <p:sp>
        <p:nvSpPr>
          <p:cNvPr id="28" name="Shape 26"/>
          <p:cNvSpPr/>
          <p:nvPr/>
        </p:nvSpPr>
        <p:spPr>
          <a:xfrm>
            <a:off x="548640" y="5989320"/>
            <a:ext cx="73152" cy="548640"/>
          </a:xfrm>
          <a:prstGeom prst="rect">
            <a:avLst/>
          </a:prstGeom>
          <a:solidFill>
            <a:srgbClr val="0B3D62"/>
          </a:solidFill>
          <a:ln w="12700">
            <a:solidFill>
              <a:srgbClr val="0B3D62"/>
            </a:solidFill>
            <a:prstDash val="solid"/>
          </a:ln>
        </p:spPr>
      </p:sp>
      <p:sp>
        <p:nvSpPr>
          <p:cNvPr id="29" name="Text 2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cuánto por ciento menos se consume el fin de semana que un día hábil.</a:t>
            </a:r>
            <a:endParaRPr lang="en-US" sz="15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¿Se consume menos el fin de semana?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a:t>
            </a:r>
            <a:endParaRPr lang="en-US" sz="1400" dirty="0"/>
          </a:p>
        </p:txBody>
      </p:sp>
      <p:sp>
        <p:nvSpPr>
          <p:cNvPr id="6" name="Shape 4"/>
          <p:cNvSpPr/>
          <p:nvPr/>
        </p:nvSpPr>
        <p:spPr>
          <a:xfrm>
            <a:off x="548640" y="1481328"/>
            <a:ext cx="11091672" cy="2148840"/>
          </a:xfrm>
          <a:prstGeom prst="roundRect">
            <a:avLst>
              <a:gd name="adj" fmla="val 2553"/>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10085832" cy="1965960"/>
          </a:xfrm>
          <a:prstGeom prst="rect">
            <a:avLst/>
          </a:prstGeom>
          <a:noFill/>
          <a:ln/>
        </p:spPr>
        <p:txBody>
          <a:bodyPr wrap="square" lIns="0" tIns="0" rIns="0" bIns="0" rtlCol="0" anchor="t"/>
          <a:lstStyle/>
          <a:p>
            <a:pPr indent="0" marL="0">
              <a:buNone/>
            </a:pPr>
            <a:r>
              <a:rPr lang="en-US" sz="1200" i="1" dirty="0">
                <a:solidFill>
                  <a:srgbClr val="188038"/>
                </a:solidFill>
                <a:latin typeface="Courier New" pitchFamily="34" charset="0"/>
                <a:ea typeface="Courier New" pitchFamily="34" charset="-122"/>
                <a:cs typeface="Courier New" pitchFamily="34" charset="-120"/>
              </a:rPr>
              <a:t># Estudio 1</a:t>
            </a:r>
            <a:endParaRPr lang="en-US" sz="1200" dirty="0"/>
          </a:p>
          <a:p>
            <a:pPr indent="0" marL="0">
              <a:buNone/>
            </a:pPr>
            <a:r>
              <a:rPr lang="en-US" sz="1200" i="1" dirty="0">
                <a:solidFill>
                  <a:srgbClr val="188038"/>
                </a:solidFill>
                <a:latin typeface="Courier New" pitchFamily="34" charset="0"/>
                <a:ea typeface="Courier New" pitchFamily="34" charset="-122"/>
                <a:cs typeface="Courier New" pitchFamily="34" charset="-120"/>
              </a:rPr>
              <a:t># Una columna nueva que dice si cada fila cae en sábado o domingo.</a:t>
            </a:r>
            <a:endParaRPr lang="en-US" sz="1200" dirty="0"/>
          </a:p>
          <a:p>
            <a:pPr indent="0" marL="0">
              <a:buNone/>
            </a:pPr>
            <a:r>
              <a:rPr lang="en-US" sz="1200" i="1" dirty="0">
                <a:solidFill>
                  <a:srgbClr val="188038"/>
                </a:solidFill>
                <a:latin typeface="Courier New" pitchFamily="34" charset="0"/>
                <a:ea typeface="Courier New" pitchFamily="34" charset="-122"/>
                <a:cs typeface="Courier New" pitchFamily="34" charset="-120"/>
              </a:rPr>
              <a:t># dayofweek numera los días de 0, lunes, a 6, domingo.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demanda[</a:t>
            </a:r>
            <a:pPr indent="0" marL="0">
              <a:buNone/>
            </a:pPr>
            <a:r>
              <a:rPr lang="en-US" sz="1200" dirty="0">
                <a:solidFill>
                  <a:srgbClr val="A31515"/>
                </a:solidFill>
                <a:latin typeface="Courier New" pitchFamily="34" charset="0"/>
                <a:ea typeface="Courier New" pitchFamily="34" charset="-122"/>
                <a:cs typeface="Courier New" pitchFamily="34" charset="-120"/>
              </a:rPr>
              <a:t>"es_finde"</a:t>
            </a:r>
            <a:pPr indent="0" marL="0">
              <a:buNone/>
            </a:pPr>
            <a:r>
              <a:rPr lang="en-US" sz="1200" dirty="0">
                <a:solidFill>
                  <a:srgbClr val="202124"/>
                </a:solidFill>
                <a:latin typeface="Courier New" pitchFamily="34" charset="0"/>
                <a:ea typeface="Courier New" pitchFamily="34" charset="-122"/>
                <a:cs typeface="Courier New" pitchFamily="34" charset="-120"/>
              </a:rPr>
              <a:t>] = demanda[</a:t>
            </a:r>
            <a:pPr indent="0" marL="0">
              <a:buNone/>
            </a:pPr>
            <a:r>
              <a:rPr lang="en-US" sz="1200" dirty="0">
                <a:solidFill>
                  <a:srgbClr val="A31515"/>
                </a:solidFill>
                <a:latin typeface="Courier New" pitchFamily="34" charset="0"/>
                <a:ea typeface="Courier New" pitchFamily="34" charset="-122"/>
                <a:cs typeface="Courier New" pitchFamily="34" charset="-120"/>
              </a:rPr>
              <a:t>"fecha"</a:t>
            </a:r>
            <a:pPr indent="0" marL="0">
              <a:buNone/>
            </a:pPr>
            <a:r>
              <a:rPr lang="en-US" sz="1200" dirty="0">
                <a:solidFill>
                  <a:srgbClr val="202124"/>
                </a:solidFill>
                <a:latin typeface="Courier New" pitchFamily="34" charset="0"/>
                <a:ea typeface="Courier New" pitchFamily="34" charset="-122"/>
                <a:cs typeface="Courier New" pitchFamily="34" charset="-120"/>
              </a:rPr>
              <a:t>].dt.dayofweek &gt;= 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promedio = demanda.groupby(</a:t>
            </a:r>
            <a:pPr indent="0" marL="0">
              <a:buNone/>
            </a:pPr>
            <a:r>
              <a:rPr lang="en-US" sz="1200" dirty="0">
                <a:solidFill>
                  <a:srgbClr val="A31515"/>
                </a:solidFill>
                <a:latin typeface="Courier New" pitchFamily="34" charset="0"/>
                <a:ea typeface="Courier New" pitchFamily="34" charset="-122"/>
                <a:cs typeface="Courier New" pitchFamily="34" charset="-120"/>
              </a:rPr>
              <a:t>"es_finde"</a:t>
            </a:r>
            <a:pPr indent="0" marL="0">
              <a:buNone/>
            </a:pPr>
            <a:r>
              <a:rPr lang="en-US" sz="1200" dirty="0">
                <a:solidFill>
                  <a:srgbClr val="202124"/>
                </a:solidFill>
                <a:latin typeface="Courier New" pitchFamily="34" charset="0"/>
                <a:ea typeface="Courier New" pitchFamily="34" charset="-122"/>
                <a:cs typeface="Courier New" pitchFamily="34" charset="-120"/>
              </a:rPr>
              <a:t>)[</a:t>
            </a:r>
            <a:pPr indent="0" marL="0">
              <a:buNone/>
            </a:pPr>
            <a:r>
              <a:rPr lang="en-US" sz="1200" dirty="0">
                <a:solidFill>
                  <a:srgbClr val="A31515"/>
                </a:solidFill>
                <a:latin typeface="Courier New" pitchFamily="34" charset="0"/>
                <a:ea typeface="Courier New" pitchFamily="34" charset="-122"/>
                <a:cs typeface="Courier New" pitchFamily="34" charset="-120"/>
              </a:rPr>
              <a:t>"mwh"</a:t>
            </a:r>
            <a:pPr indent="0" marL="0">
              <a:buNone/>
            </a:pPr>
            <a:r>
              <a:rPr lang="en-US" sz="1200" dirty="0">
                <a:solidFill>
                  <a:srgbClr val="202124"/>
                </a:solidFill>
                <a:latin typeface="Courier New" pitchFamily="34" charset="0"/>
                <a:ea typeface="Courier New" pitchFamily="34" charset="-122"/>
                <a:cs typeface="Courier New" pitchFamily="34" charset="-120"/>
              </a:rPr>
              <a:t>].mean()</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print(promedio.round(1))</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caida = 100 * (1 - promedio[True] / promedio[False])</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print(f</a:t>
            </a:r>
            <a:pPr indent="0" marL="0">
              <a:buNone/>
            </a:pPr>
            <a:r>
              <a:rPr lang="en-US" sz="1200" dirty="0">
                <a:solidFill>
                  <a:srgbClr val="A31515"/>
                </a:solidFill>
                <a:latin typeface="Courier New" pitchFamily="34" charset="0"/>
                <a:ea typeface="Courier New" pitchFamily="34" charset="-122"/>
                <a:cs typeface="Courier New" pitchFamily="34" charset="-120"/>
              </a:rPr>
              <a:t>"✓ El fin de semana se consume un {caida:.1f} por ciento menos"</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p:txBody>
      </p:sp>
      <p:sp>
        <p:nvSpPr>
          <p:cNvPr id="10" name="Shape 8"/>
          <p:cNvSpPr/>
          <p:nvPr/>
        </p:nvSpPr>
        <p:spPr>
          <a:xfrm>
            <a:off x="1325880" y="3739896"/>
            <a:ext cx="10314432" cy="1188720"/>
          </a:xfrm>
          <a:prstGeom prst="rect">
            <a:avLst/>
          </a:prstGeom>
          <a:solidFill>
            <a:srgbClr val="FFFFFF"/>
          </a:solidFill>
          <a:ln w="12700">
            <a:solidFill>
              <a:srgbClr val="DADCE0"/>
            </a:solidFill>
            <a:prstDash val="solid"/>
          </a:ln>
        </p:spPr>
      </p:sp>
      <p:sp>
        <p:nvSpPr>
          <p:cNvPr id="11" name="Text 9"/>
          <p:cNvSpPr txBox="1"/>
          <p:nvPr/>
        </p:nvSpPr>
        <p:spPr>
          <a:xfrm>
            <a:off x="1463040" y="3813048"/>
            <a:ext cx="10085832" cy="1060704"/>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es_finde</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False    231.2</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True     213.1</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Name: mwh, dtype: float64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El fin de semana se consume un 7.8 por ciento menos</a:t>
            </a:r>
            <a:endParaRPr lang="en-US" sz="1200" dirty="0"/>
          </a:p>
        </p:txBody>
      </p:sp>
      <p:sp>
        <p:nvSpPr>
          <p:cNvPr id="12" name="Shape 10"/>
          <p:cNvSpPr/>
          <p:nvPr/>
        </p:nvSpPr>
        <p:spPr>
          <a:xfrm>
            <a:off x="1325880" y="5065776"/>
            <a:ext cx="10314432" cy="566928"/>
          </a:xfrm>
          <a:prstGeom prst="roundRect">
            <a:avLst>
              <a:gd name="adj" fmla="val 9677"/>
            </a:avLst>
          </a:prstGeom>
          <a:solidFill>
            <a:srgbClr val="FFF8D6"/>
          </a:solidFill>
          <a:ln w="12700">
            <a:solidFill>
              <a:srgbClr val="FFF8D6"/>
            </a:solidFill>
            <a:prstDash val="solid"/>
          </a:ln>
        </p:spPr>
      </p:sp>
      <p:sp>
        <p:nvSpPr>
          <p:cNvPr id="13" name="Text 11"/>
          <p:cNvSpPr txBox="1"/>
          <p:nvPr/>
        </p:nvSpPr>
        <p:spPr>
          <a:xfrm>
            <a:off x="1508760" y="5065776"/>
            <a:ext cx="9948672" cy="566928"/>
          </a:xfrm>
          <a:prstGeom prst="rect">
            <a:avLst/>
          </a:prstGeom>
          <a:noFill/>
          <a:ln/>
        </p:spPr>
        <p:txBody>
          <a:bodyPr wrap="square" lIns="0" tIns="0" rIns="0" bIns="0" rtlCol="0" anchor="ctr"/>
          <a:lstStyle/>
          <a:p>
            <a:pPr indent="0" marL="0">
              <a:buNone/>
            </a:pPr>
            <a:r>
              <a:rPr lang="en-US" sz="1400" b="1" dirty="0">
                <a:solidFill>
                  <a:srgbClr val="8A6D00"/>
                </a:solidFill>
                <a:latin typeface="Calibri" pitchFamily="34" charset="0"/>
                <a:ea typeface="Calibri" pitchFamily="34" charset="-122"/>
                <a:cs typeface="Calibri" pitchFamily="34" charset="-120"/>
              </a:rPr>
              <a:t>Una condición sobre una columna crea una columna de True y False.  </a:t>
            </a:r>
            <a:pPr indent="0" marL="0">
              <a:buNone/>
            </a:pPr>
            <a:r>
              <a:rPr lang="en-US" sz="1400" dirty="0">
                <a:solidFill>
                  <a:srgbClr val="202124"/>
                </a:solidFill>
                <a:latin typeface="Calibri" pitchFamily="34" charset="0"/>
                <a:ea typeface="Calibri" pitchFamily="34" charset="-122"/>
                <a:cs typeface="Calibri" pitchFamily="34" charset="-120"/>
              </a:rPr>
              <a:t>Después se puede agrupar por ella, como por cualquier otra columna.</a:t>
            </a:r>
            <a:endParaRPr lang="en-US" sz="1400" dirty="0"/>
          </a:p>
        </p:txBody>
      </p:sp>
      <p:sp>
        <p:nvSpPr>
          <p:cNvPr id="15" name="Text 12"/>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6" name="Shape 13"/>
          <p:cNvSpPr/>
          <p:nvPr/>
        </p:nvSpPr>
        <p:spPr>
          <a:xfrm>
            <a:off x="548640" y="6062472"/>
            <a:ext cx="1714500" cy="566928"/>
          </a:xfrm>
          <a:prstGeom prst="roundRect">
            <a:avLst>
              <a:gd name="adj" fmla="val 11290"/>
            </a:avLst>
          </a:prstGeom>
          <a:solidFill>
            <a:srgbClr val="FEF3D6"/>
          </a:solidFill>
          <a:ln w="25400">
            <a:solidFill>
              <a:srgbClr val="F9AB00"/>
            </a:solidFill>
            <a:prstDash val="solid"/>
          </a:ln>
        </p:spPr>
      </p:sp>
      <p:sp>
        <p:nvSpPr>
          <p:cNvPr id="17" name="Text 14"/>
          <p:cNvSpPr txBox="1"/>
          <p:nvPr/>
        </p:nvSpPr>
        <p:spPr>
          <a:xfrm>
            <a:off x="640080"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demanda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61488 × 5</a:t>
            </a:r>
            <a:endParaRPr lang="en-US" sz="1200" dirty="0"/>
          </a:p>
        </p:txBody>
      </p:sp>
      <p:sp>
        <p:nvSpPr>
          <p:cNvPr id="18" name="Shape 15"/>
          <p:cNvSpPr/>
          <p:nvPr/>
        </p:nvSpPr>
        <p:spPr>
          <a:xfrm>
            <a:off x="2400300" y="6062472"/>
            <a:ext cx="2002536" cy="566928"/>
          </a:xfrm>
          <a:prstGeom prst="roundRect">
            <a:avLst>
              <a:gd name="adj" fmla="val 11290"/>
            </a:avLst>
          </a:prstGeom>
          <a:solidFill>
            <a:srgbClr val="FEF3D6"/>
          </a:solidFill>
          <a:ln w="25400">
            <a:solidFill>
              <a:srgbClr val="F9AB00"/>
            </a:solidFill>
            <a:prstDash val="solid"/>
          </a:ln>
        </p:spPr>
      </p:sp>
      <p:sp>
        <p:nvSpPr>
          <p:cNvPr id="19" name="Text 16"/>
          <p:cNvSpPr txBox="1"/>
          <p:nvPr/>
        </p:nvSpPr>
        <p:spPr>
          <a:xfrm>
            <a:off x="2491740"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promedio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2 valores</a:t>
            </a:r>
            <a:endParaRPr lang="en-US" sz="1200" dirty="0"/>
          </a:p>
        </p:txBody>
      </p:sp>
      <p:sp>
        <p:nvSpPr>
          <p:cNvPr id="20" name="Shape 17"/>
          <p:cNvSpPr/>
          <p:nvPr/>
        </p:nvSpPr>
        <p:spPr>
          <a:xfrm>
            <a:off x="4539996" y="6062472"/>
            <a:ext cx="1143000" cy="566928"/>
          </a:xfrm>
          <a:prstGeom prst="roundRect">
            <a:avLst>
              <a:gd name="adj" fmla="val 11290"/>
            </a:avLst>
          </a:prstGeom>
          <a:solidFill>
            <a:srgbClr val="FEF3D6"/>
          </a:solidFill>
          <a:ln w="25400">
            <a:solidFill>
              <a:srgbClr val="F9AB00"/>
            </a:solidFill>
            <a:prstDash val="solid"/>
          </a:ln>
        </p:spPr>
      </p:sp>
      <p:sp>
        <p:nvSpPr>
          <p:cNvPr id="21" name="Text 18"/>
          <p:cNvSpPr txBox="1"/>
          <p:nvPr/>
        </p:nvSpPr>
        <p:spPr>
          <a:xfrm>
            <a:off x="4631436"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caida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7.82</a:t>
            </a:r>
            <a:endParaRPr lang="en-US" sz="1200" dirty="0"/>
          </a:p>
        </p:txBody>
      </p:sp>
      <p:sp>
        <p:nvSpPr>
          <p:cNvPr id="22" name="Shape 19"/>
          <p:cNvSpPr/>
          <p:nvPr/>
        </p:nvSpPr>
        <p:spPr>
          <a:xfrm>
            <a:off x="5820156" y="6062472"/>
            <a:ext cx="1330452" cy="566928"/>
          </a:xfrm>
          <a:prstGeom prst="roundRect">
            <a:avLst>
              <a:gd name="adj" fmla="val 11290"/>
            </a:avLst>
          </a:prstGeom>
          <a:solidFill>
            <a:srgbClr val="F1F3F4"/>
          </a:solidFill>
          <a:ln w="12700">
            <a:solidFill>
              <a:srgbClr val="DADCE0"/>
            </a:solidFill>
            <a:prstDash val="solid"/>
          </a:ln>
        </p:spPr>
      </p:sp>
      <p:sp>
        <p:nvSpPr>
          <p:cNvPr id="23" name="Text 20"/>
          <p:cNvSpPr txBox="1"/>
          <p:nvPr/>
        </p:nvSpPr>
        <p:spPr>
          <a:xfrm>
            <a:off x="5911596"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correlacion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0.12</a:t>
            </a:r>
            <a:endParaRPr lang="en-US" sz="1200" dirty="0"/>
          </a:p>
        </p:txBody>
      </p:sp>
      <p:sp>
        <p:nvSpPr>
          <p:cNvPr id="24" name="Shape 21"/>
          <p:cNvSpPr/>
          <p:nvPr/>
        </p:nvSpPr>
        <p:spPr>
          <a:xfrm>
            <a:off x="7287768" y="6062472"/>
            <a:ext cx="1522476" cy="566928"/>
          </a:xfrm>
          <a:prstGeom prst="roundRect">
            <a:avLst>
              <a:gd name="adj" fmla="val 11290"/>
            </a:avLst>
          </a:prstGeom>
          <a:solidFill>
            <a:srgbClr val="F1F3F4"/>
          </a:solidFill>
          <a:ln w="12700">
            <a:solidFill>
              <a:srgbClr val="DADCE0"/>
            </a:solidFill>
            <a:prstDash val="solid"/>
          </a:ln>
        </p:spPr>
      </p:sp>
      <p:sp>
        <p:nvSpPr>
          <p:cNvPr id="25" name="Text 22"/>
          <p:cNvSpPr txBox="1"/>
          <p:nvPr/>
        </p:nvSpPr>
        <p:spPr>
          <a:xfrm>
            <a:off x="7379208"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744 × 5</a:t>
            </a:r>
            <a:endParaRPr lang="en-US" sz="1200" dirty="0"/>
          </a:p>
        </p:txBody>
      </p:sp>
      <p:sp>
        <p:nvSpPr>
          <p:cNvPr id="26" name="Text 23"/>
          <p:cNvSpPr txBox="1"/>
          <p:nvPr/>
        </p:nvSpPr>
        <p:spPr>
          <a:xfrm>
            <a:off x="8947404"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14 más</a:t>
            </a:r>
            <a:endParaRPr lang="en-US" sz="1200" dirty="0"/>
          </a:p>
        </p:txBody>
      </p:sp>
      <p:sp>
        <p:nvSpPr>
          <p:cNvPr id="27" name="Text 24"/>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El fin de semana se consume cerca de un 8 por ciento menos.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¿Cuánto generó cada tecnología en el año?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por qué el orden por energía no es el mismo que por potencia.</a:t>
            </a:r>
            <a:endParaRPr lang="en-US" sz="1400" dirty="0"/>
          </a:p>
        </p:txBody>
      </p:sp>
      <p:pic>
        <p:nvPicPr>
          <p:cNvPr id="6" name="Image 0" descr="../../repo/modulos/../../diag/lab02_estudio2_potencia_energia.png">    </p:cNvPr>
          <p:cNvPicPr>
            <a:picLocks noChangeAspect="1"/>
          </p:cNvPicPr>
          <p:nvPr/>
        </p:nvPicPr>
        <p:blipFill>
          <a:blip r:embed="rId1"/>
          <a:stretch>
            <a:fillRect/>
          </a:stretch>
        </p:blipFill>
        <p:spPr>
          <a:xfrm>
            <a:off x="620337" y="1463040"/>
            <a:ext cx="10948278" cy="461772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4"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4</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¿Cuánto generó cada tecnología en el año?</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a:t>
            </a:r>
            <a:endParaRPr lang="en-US" sz="1400" dirty="0"/>
          </a:p>
        </p:txBody>
      </p:sp>
      <p:sp>
        <p:nvSpPr>
          <p:cNvPr id="7" name="Shape 4"/>
          <p:cNvSpPr/>
          <p:nvPr/>
        </p:nvSpPr>
        <p:spPr>
          <a:xfrm>
            <a:off x="548640" y="1481328"/>
            <a:ext cx="11091672" cy="1303020"/>
          </a:xfrm>
          <a:prstGeom prst="roundRect">
            <a:avLst>
              <a:gd name="adj" fmla="val 4211"/>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10085832" cy="112014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2</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Agrupar es lo mismo que hace una tabla dinámica.</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Junta las filas de cada tecnología y suma su generación.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por_tecnologia = gen.groupby(</a:t>
            </a:r>
            <a:pPr indent="0" marL="0">
              <a:buNone/>
            </a:pPr>
            <a:r>
              <a:rPr lang="en-US" sz="1300" dirty="0">
                <a:solidFill>
                  <a:srgbClr val="A31515"/>
                </a:solidFill>
                <a:latin typeface="Courier New" pitchFamily="34" charset="0"/>
                <a:ea typeface="Courier New" pitchFamily="34" charset="-122"/>
                <a:cs typeface="Courier New" pitchFamily="34" charset="-120"/>
              </a:rPr>
              <a:t>"tecnologia"</a:t>
            </a:r>
            <a:pPr indent="0" marL="0">
              <a:buNone/>
            </a:pPr>
            <a:r>
              <a:rPr lang="en-US" sz="1300" dirty="0">
                <a:solidFill>
                  <a:srgbClr val="202124"/>
                </a:solidFill>
                <a:latin typeface="Courier New" pitchFamily="34" charset="0"/>
                <a:ea typeface="Courier New" pitchFamily="34" charset="-122"/>
                <a:cs typeface="Courier New" pitchFamily="34" charset="-120"/>
              </a:rPr>
              <a:t>)[</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].sum().round()</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por_tecnologia.sort_values(ascending=False)</a:t>
            </a:r>
            <a:endParaRPr lang="en-US" sz="1300" dirty="0"/>
          </a:p>
        </p:txBody>
      </p:sp>
      <p:sp>
        <p:nvSpPr>
          <p:cNvPr id="11" name="Text 8"/>
          <p:cNvSpPr txBox="1"/>
          <p:nvPr/>
        </p:nvSpPr>
        <p:spPr>
          <a:xfrm>
            <a:off x="1325880" y="282092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10"/>
          <p:cNvSpPr/>
          <p:nvPr/>
        </p:nvSpPr>
        <p:spPr>
          <a:xfrm>
            <a:off x="548640" y="6062472"/>
            <a:ext cx="1143000" cy="566928"/>
          </a:xfrm>
          <a:prstGeom prst="roundRect">
            <a:avLst>
              <a:gd name="adj" fmla="val 11290"/>
            </a:avLst>
          </a:prstGeom>
          <a:solidFill>
            <a:srgbClr val="F1F3F4"/>
          </a:solidFill>
          <a:ln w="12700">
            <a:solidFill>
              <a:srgbClr val="DADCE0"/>
            </a:solidFill>
            <a:prstDash val="solid"/>
          </a:ln>
        </p:spPr>
      </p:sp>
      <p:sp>
        <p:nvSpPr>
          <p:cNvPr id="14" name="Text 11"/>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caida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7.82</a:t>
            </a:r>
            <a:endParaRPr lang="en-US" sz="1200" dirty="0"/>
          </a:p>
        </p:txBody>
      </p:sp>
      <p:sp>
        <p:nvSpPr>
          <p:cNvPr id="15" name="Shape 12"/>
          <p:cNvSpPr/>
          <p:nvPr/>
        </p:nvSpPr>
        <p:spPr>
          <a:xfrm>
            <a:off x="1828800" y="6062472"/>
            <a:ext cx="2002536"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1920240"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promedio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2 valores</a:t>
            </a:r>
            <a:endParaRPr lang="en-US" sz="1200" dirty="0"/>
          </a:p>
        </p:txBody>
      </p:sp>
      <p:sp>
        <p:nvSpPr>
          <p:cNvPr id="17" name="Shape 14"/>
          <p:cNvSpPr/>
          <p:nvPr/>
        </p:nvSpPr>
        <p:spPr>
          <a:xfrm>
            <a:off x="3968496" y="6062472"/>
            <a:ext cx="1330452"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4059936"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correlacion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0.12</a:t>
            </a:r>
            <a:endParaRPr lang="en-US" sz="1200" dirty="0"/>
          </a:p>
        </p:txBody>
      </p:sp>
      <p:sp>
        <p:nvSpPr>
          <p:cNvPr id="19" name="Shape 16"/>
          <p:cNvSpPr/>
          <p:nvPr/>
        </p:nvSpPr>
        <p:spPr>
          <a:xfrm>
            <a:off x="5436108" y="6062472"/>
            <a:ext cx="1522476"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5527548"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744 × 5</a:t>
            </a:r>
            <a:endParaRPr lang="en-US" sz="1200" dirty="0"/>
          </a:p>
        </p:txBody>
      </p:sp>
      <p:sp>
        <p:nvSpPr>
          <p:cNvPr id="21" name="Shape 18"/>
          <p:cNvSpPr/>
          <p:nvPr/>
        </p:nvSpPr>
        <p:spPr>
          <a:xfrm>
            <a:off x="7095744" y="6062472"/>
            <a:ext cx="1906524"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7187184" y="6071616"/>
            <a:ext cx="176936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correlacion_total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0.98</a:t>
            </a:r>
            <a:endParaRPr lang="en-US" sz="1200" dirty="0"/>
          </a:p>
        </p:txBody>
      </p:sp>
      <p:sp>
        <p:nvSpPr>
          <p:cNvPr id="23" name="Text 20"/>
          <p:cNvSpPr txBox="1"/>
          <p:nvPr/>
        </p:nvSpPr>
        <p:spPr>
          <a:xfrm>
            <a:off x="9139428"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14 más</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¿Cuánto generó cada tecnología en el año?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por_tecnologia = gen.groupby(</a:t>
            </a:r>
            <a:pPr indent="0" marL="0">
              <a:buNone/>
            </a:pPr>
            <a:r>
              <a:rPr lang="en-US" sz="1600" dirty="0">
                <a:solidFill>
                  <a:srgbClr val="A31515"/>
                </a:solidFill>
                <a:latin typeface="Courier New" pitchFamily="34" charset="0"/>
                <a:ea typeface="Courier New" pitchFamily="34" charset="-122"/>
                <a:cs typeface="Courier New" pitchFamily="34" charset="-120"/>
              </a:rPr>
              <a:t>"tecnologia"</a:t>
            </a:r>
            <a:pPr indent="0" marL="0">
              <a:buNone/>
            </a:pPr>
            <a:r>
              <a:rPr lang="en-US" sz="1600" dirty="0">
                <a:solidFill>
                  <a:srgbClr val="202124"/>
                </a:solidFill>
                <a:latin typeface="Courier New" pitchFamily="34" charset="0"/>
                <a:ea typeface="Courier New" pitchFamily="34" charset="-122"/>
                <a:cs typeface="Courier New" pitchFamily="34" charset="-120"/>
              </a:rPr>
              <a:t>)[</a:t>
            </a:r>
            <a:pPr indent="0" marL="0">
              <a:buNone/>
            </a:pPr>
            <a:r>
              <a:rPr lang="en-US" sz="1600" dirty="0">
                <a:solidFill>
                  <a:srgbClr val="A31515"/>
                </a:solidFill>
                <a:latin typeface="Courier New" pitchFamily="34" charset="0"/>
                <a:ea typeface="Courier New" pitchFamily="34" charset="-122"/>
                <a:cs typeface="Courier New" pitchFamily="34" charset="-120"/>
              </a:rPr>
              <a:t>"mwh"</a:t>
            </a:r>
            <a:pPr indent="0" marL="0">
              <a:buNone/>
            </a:pPr>
            <a:r>
              <a:rPr lang="en-US" sz="1600" dirty="0">
                <a:solidFill>
                  <a:srgbClr val="202124"/>
                </a:solidFill>
                <a:latin typeface="Courier New" pitchFamily="34" charset="0"/>
                <a:ea typeface="Courier New" pitchFamily="34" charset="-122"/>
                <a:cs typeface="Courier New" pitchFamily="34" charset="-120"/>
              </a:rPr>
              <a:t>].sum().round()</a:t>
            </a:r>
            <a:endParaRPr lang="en-US" sz="1600" dirty="0"/>
          </a:p>
        </p:txBody>
      </p:sp>
      <p:sp>
        <p:nvSpPr>
          <p:cNvPr id="8" name="Shape 6"/>
          <p:cNvSpPr/>
          <p:nvPr/>
        </p:nvSpPr>
        <p:spPr>
          <a:xfrm>
            <a:off x="548640" y="2320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20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219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gen.groupby("tecnologia")</a:t>
            </a:r>
            <a:endParaRPr lang="en-US" sz="1400" dirty="0"/>
          </a:p>
        </p:txBody>
      </p:sp>
      <p:sp>
        <p:nvSpPr>
          <p:cNvPr id="12" name="Text 10"/>
          <p:cNvSpPr txBox="1"/>
          <p:nvPr/>
        </p:nvSpPr>
        <p:spPr>
          <a:xfrm>
            <a:off x="6263640" y="2219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Separa las filas en grupos, uno por tecnología.</a:t>
            </a:r>
            <a:endParaRPr lang="en-US" sz="1600" dirty="0"/>
          </a:p>
        </p:txBody>
      </p:sp>
      <p:sp>
        <p:nvSpPr>
          <p:cNvPr id="13" name="Shape 11"/>
          <p:cNvSpPr/>
          <p:nvPr/>
        </p:nvSpPr>
        <p:spPr>
          <a:xfrm>
            <a:off x="548640" y="2942336"/>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29423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1752"/>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284175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["mwh"]</a:t>
            </a:r>
            <a:endParaRPr lang="en-US" sz="1400" dirty="0"/>
          </a:p>
        </p:txBody>
      </p:sp>
      <p:sp>
        <p:nvSpPr>
          <p:cNvPr id="17" name="Text 15"/>
          <p:cNvSpPr txBox="1"/>
          <p:nvPr/>
        </p:nvSpPr>
        <p:spPr>
          <a:xfrm>
            <a:off x="6263640" y="284175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De cada grupo toma la columna de generación.</a:t>
            </a:r>
            <a:endParaRPr lang="en-US" sz="1600" dirty="0"/>
          </a:p>
        </p:txBody>
      </p:sp>
      <p:sp>
        <p:nvSpPr>
          <p:cNvPr id="18" name="Shape 16"/>
          <p:cNvSpPr/>
          <p:nvPr/>
        </p:nvSpPr>
        <p:spPr>
          <a:xfrm>
            <a:off x="548640" y="3564128"/>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5641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463544"/>
            <a:ext cx="4937760" cy="530352"/>
          </a:xfrm>
          <a:prstGeom prst="roundRect">
            <a:avLst>
              <a:gd name="adj" fmla="val 8621"/>
            </a:avLst>
          </a:prstGeom>
          <a:solidFill>
            <a:srgbClr val="FDF0C8"/>
          </a:solidFill>
          <a:ln w="12700">
            <a:solidFill>
              <a:srgbClr val="FDF0C8"/>
            </a:solidFill>
            <a:prstDash val="solid"/>
          </a:ln>
        </p:spPr>
      </p:sp>
      <p:sp>
        <p:nvSpPr>
          <p:cNvPr id="21" name="Text 19"/>
          <p:cNvSpPr txBox="1"/>
          <p:nvPr/>
        </p:nvSpPr>
        <p:spPr>
          <a:xfrm>
            <a:off x="1170432" y="3463544"/>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.sum()</a:t>
            </a:r>
            <a:endParaRPr lang="en-US" sz="1400" dirty="0"/>
          </a:p>
        </p:txBody>
      </p:sp>
      <p:sp>
        <p:nvSpPr>
          <p:cNvPr id="22" name="Text 20"/>
          <p:cNvSpPr txBox="1"/>
          <p:nvPr/>
        </p:nvSpPr>
        <p:spPr>
          <a:xfrm>
            <a:off x="6263640" y="3463544"/>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Suma la generación de cada grupo.</a:t>
            </a:r>
            <a:endParaRPr lang="en-US" sz="1600" dirty="0"/>
          </a:p>
        </p:txBody>
      </p:sp>
      <p:sp>
        <p:nvSpPr>
          <p:cNvPr id="23" name="Shape 21"/>
          <p:cNvSpPr/>
          <p:nvPr/>
        </p:nvSpPr>
        <p:spPr>
          <a:xfrm>
            <a:off x="548640" y="4185920"/>
            <a:ext cx="329184" cy="329184"/>
          </a:xfrm>
          <a:prstGeom prst="ellipse">
            <a:avLst/>
          </a:prstGeom>
          <a:solidFill>
            <a:srgbClr val="7B4FC9"/>
          </a:solidFill>
          <a:ln w="12700">
            <a:solidFill>
              <a:srgbClr val="7B4FC9"/>
            </a:solidFill>
            <a:prstDash val="solid"/>
          </a:ln>
        </p:spPr>
      </p:sp>
      <p:sp>
        <p:nvSpPr>
          <p:cNvPr id="24" name="Text 22"/>
          <p:cNvSpPr txBox="1"/>
          <p:nvPr/>
        </p:nvSpPr>
        <p:spPr>
          <a:xfrm>
            <a:off x="548640" y="41859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Shape 23"/>
          <p:cNvSpPr/>
          <p:nvPr/>
        </p:nvSpPr>
        <p:spPr>
          <a:xfrm>
            <a:off x="1051560" y="4085336"/>
            <a:ext cx="4937760" cy="530352"/>
          </a:xfrm>
          <a:prstGeom prst="roundRect">
            <a:avLst>
              <a:gd name="adj" fmla="val 8621"/>
            </a:avLst>
          </a:prstGeom>
          <a:solidFill>
            <a:srgbClr val="ECE2FA"/>
          </a:solidFill>
          <a:ln w="12700">
            <a:solidFill>
              <a:srgbClr val="ECE2FA"/>
            </a:solidFill>
            <a:prstDash val="solid"/>
          </a:ln>
        </p:spPr>
      </p:sp>
      <p:sp>
        <p:nvSpPr>
          <p:cNvPr id="26" name="Text 24"/>
          <p:cNvSpPr txBox="1"/>
          <p:nvPr/>
        </p:nvSpPr>
        <p:spPr>
          <a:xfrm>
            <a:off x="1170432" y="4085336"/>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.round()</a:t>
            </a:r>
            <a:endParaRPr lang="en-US" sz="1400" dirty="0"/>
          </a:p>
        </p:txBody>
      </p:sp>
      <p:sp>
        <p:nvSpPr>
          <p:cNvPr id="27" name="Text 25"/>
          <p:cNvSpPr txBox="1"/>
          <p:nvPr/>
        </p:nvSpPr>
        <p:spPr>
          <a:xfrm>
            <a:off x="6263640" y="4085336"/>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Redondea a números enteros.</a:t>
            </a:r>
            <a:endParaRPr lang="en-US" sz="1600" dirty="0"/>
          </a:p>
        </p:txBody>
      </p:sp>
      <p:sp>
        <p:nvSpPr>
          <p:cNvPr id="28" name="Shape 26"/>
          <p:cNvSpPr/>
          <p:nvPr/>
        </p:nvSpPr>
        <p:spPr>
          <a:xfrm>
            <a:off x="548640" y="4807712"/>
            <a:ext cx="329184" cy="329184"/>
          </a:xfrm>
          <a:prstGeom prst="ellipse">
            <a:avLst/>
          </a:prstGeom>
          <a:solidFill>
            <a:srgbClr val="C5221F"/>
          </a:solidFill>
          <a:ln w="12700">
            <a:solidFill>
              <a:srgbClr val="C5221F"/>
            </a:solidFill>
            <a:prstDash val="solid"/>
          </a:ln>
        </p:spPr>
      </p:sp>
      <p:sp>
        <p:nvSpPr>
          <p:cNvPr id="29" name="Text 27"/>
          <p:cNvSpPr txBox="1"/>
          <p:nvPr/>
        </p:nvSpPr>
        <p:spPr>
          <a:xfrm>
            <a:off x="548640" y="480771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Shape 28"/>
          <p:cNvSpPr/>
          <p:nvPr/>
        </p:nvSpPr>
        <p:spPr>
          <a:xfrm>
            <a:off x="1051560" y="4707128"/>
            <a:ext cx="4937760" cy="530352"/>
          </a:xfrm>
          <a:prstGeom prst="roundRect">
            <a:avLst>
              <a:gd name="adj" fmla="val 8621"/>
            </a:avLst>
          </a:prstGeom>
          <a:solidFill>
            <a:srgbClr val="FCE8E6"/>
          </a:solidFill>
          <a:ln w="12700">
            <a:solidFill>
              <a:srgbClr val="FCE8E6"/>
            </a:solidFill>
            <a:prstDash val="solid"/>
          </a:ln>
        </p:spPr>
      </p:sp>
      <p:sp>
        <p:nvSpPr>
          <p:cNvPr id="31" name="Text 29"/>
          <p:cNvSpPr txBox="1"/>
          <p:nvPr/>
        </p:nvSpPr>
        <p:spPr>
          <a:xfrm>
            <a:off x="1170432" y="4707128"/>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por_tecnologia =</a:t>
            </a:r>
            <a:endParaRPr lang="en-US" sz="1400" dirty="0"/>
          </a:p>
        </p:txBody>
      </p:sp>
      <p:sp>
        <p:nvSpPr>
          <p:cNvPr id="32" name="Text 30"/>
          <p:cNvSpPr txBox="1"/>
          <p:nvPr/>
        </p:nvSpPr>
        <p:spPr>
          <a:xfrm>
            <a:off x="6263640" y="4707128"/>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Guarda el resultado, una fila por tecnología.</a:t>
            </a:r>
            <a:endParaRPr lang="en-US" sz="1600" dirty="0"/>
          </a:p>
        </p:txBody>
      </p:sp>
      <p:sp>
        <p:nvSpPr>
          <p:cNvPr id="33" name="Shape 31"/>
          <p:cNvSpPr/>
          <p:nvPr/>
        </p:nvSpPr>
        <p:spPr>
          <a:xfrm>
            <a:off x="548640" y="5989320"/>
            <a:ext cx="73152" cy="548640"/>
          </a:xfrm>
          <a:prstGeom prst="rect">
            <a:avLst/>
          </a:prstGeom>
          <a:solidFill>
            <a:srgbClr val="0B3D62"/>
          </a:solidFill>
          <a:ln w="12700">
            <a:solidFill>
              <a:srgbClr val="0B3D62"/>
            </a:solidFill>
            <a:prstDash val="solid"/>
          </a:ln>
        </p:spPr>
      </p:sp>
      <p:sp>
        <p:nvSpPr>
          <p:cNvPr id="34" name="Text 3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suma la generación de cada tecnología y guárdala redondeada como por_tecnologia.</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¿Cuánto generó cada tecnología en el año?</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a:t>
            </a:r>
            <a:endParaRPr lang="en-US" sz="1400" dirty="0"/>
          </a:p>
        </p:txBody>
      </p:sp>
      <p:sp>
        <p:nvSpPr>
          <p:cNvPr id="6" name="Shape 4"/>
          <p:cNvSpPr/>
          <p:nvPr/>
        </p:nvSpPr>
        <p:spPr>
          <a:xfrm>
            <a:off x="548640" y="1481328"/>
            <a:ext cx="11091672" cy="1303020"/>
          </a:xfrm>
          <a:prstGeom prst="roundRect">
            <a:avLst>
              <a:gd name="adj" fmla="val 4211"/>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10085832" cy="112014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2</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Agrupar es lo mismo que hace una tabla dinámica.</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Junta las filas de cada tecnología y suma su generación.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por_tecnologia = gen.groupby(</a:t>
            </a:r>
            <a:pPr indent="0" marL="0">
              <a:buNone/>
            </a:pPr>
            <a:r>
              <a:rPr lang="en-US" sz="1300" dirty="0">
                <a:solidFill>
                  <a:srgbClr val="A31515"/>
                </a:solidFill>
                <a:latin typeface="Courier New" pitchFamily="34" charset="0"/>
                <a:ea typeface="Courier New" pitchFamily="34" charset="-122"/>
                <a:cs typeface="Courier New" pitchFamily="34" charset="-120"/>
              </a:rPr>
              <a:t>"tecnologia"</a:t>
            </a:r>
            <a:pPr indent="0" marL="0">
              <a:buNone/>
            </a:pPr>
            <a:r>
              <a:rPr lang="en-US" sz="1300" dirty="0">
                <a:solidFill>
                  <a:srgbClr val="202124"/>
                </a:solidFill>
                <a:latin typeface="Courier New" pitchFamily="34" charset="0"/>
                <a:ea typeface="Courier New" pitchFamily="34" charset="-122"/>
                <a:cs typeface="Courier New" pitchFamily="34" charset="-120"/>
              </a:rPr>
              <a:t>)[</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].sum().round()</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por_tecnologia.sort_values(ascending=False)</a:t>
            </a:r>
            <a:endParaRPr lang="en-US" sz="1300" dirty="0"/>
          </a:p>
        </p:txBody>
      </p:sp>
      <p:sp>
        <p:nvSpPr>
          <p:cNvPr id="10" name="Shape 8"/>
          <p:cNvSpPr/>
          <p:nvPr/>
        </p:nvSpPr>
        <p:spPr>
          <a:xfrm>
            <a:off x="1325880" y="2894076"/>
            <a:ext cx="10314432" cy="1792224"/>
          </a:xfrm>
          <a:prstGeom prst="rect">
            <a:avLst/>
          </a:prstGeom>
          <a:solidFill>
            <a:srgbClr val="FFFFFF"/>
          </a:solidFill>
          <a:ln w="12700">
            <a:solidFill>
              <a:srgbClr val="DADCE0"/>
            </a:solidFill>
            <a:prstDash val="solid"/>
          </a:ln>
        </p:spPr>
      </p:sp>
      <p:sp>
        <p:nvSpPr>
          <p:cNvPr id="11" name="Text 9"/>
          <p:cNvSpPr txBox="1"/>
          <p:nvPr/>
        </p:nvSpPr>
        <p:spPr>
          <a:xfrm>
            <a:off x="1463040" y="2967228"/>
            <a:ext cx="10085832" cy="1664208"/>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tecnologia</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hidro     6106351.0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gas       5094126.0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carbon    4666823.0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eolica    1565899.0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solar      671677.0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diesel      40710.0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Name: mwh, dtype: float64</a:t>
            </a:r>
            <a:endParaRPr lang="en-US" sz="1200" dirty="0"/>
          </a:p>
        </p:txBody>
      </p:sp>
      <p:sp>
        <p:nvSpPr>
          <p:cNvPr id="12" name="Shape 10"/>
          <p:cNvSpPr/>
          <p:nvPr/>
        </p:nvSpPr>
        <p:spPr>
          <a:xfrm>
            <a:off x="1325880" y="4823460"/>
            <a:ext cx="10314432" cy="566928"/>
          </a:xfrm>
          <a:prstGeom prst="roundRect">
            <a:avLst>
              <a:gd name="adj" fmla="val 9677"/>
            </a:avLst>
          </a:prstGeom>
          <a:solidFill>
            <a:srgbClr val="FFF8D6"/>
          </a:solidFill>
          <a:ln w="12700">
            <a:solidFill>
              <a:srgbClr val="FFF8D6"/>
            </a:solidFill>
            <a:prstDash val="solid"/>
          </a:ln>
        </p:spPr>
      </p:sp>
      <p:sp>
        <p:nvSpPr>
          <p:cNvPr id="13" name="Text 11"/>
          <p:cNvSpPr txBox="1"/>
          <p:nvPr/>
        </p:nvSpPr>
        <p:spPr>
          <a:xfrm>
            <a:off x="1508760" y="4823460"/>
            <a:ext cx="9948672" cy="566928"/>
          </a:xfrm>
          <a:prstGeom prst="rect">
            <a:avLst/>
          </a:prstGeom>
          <a:noFill/>
          <a:ln/>
        </p:spPr>
        <p:txBody>
          <a:bodyPr wrap="square" lIns="0" tIns="0" rIns="0" bIns="0" rtlCol="0" anchor="ctr"/>
          <a:lstStyle/>
          <a:p>
            <a:pPr indent="0" marL="0">
              <a:buNone/>
            </a:pPr>
            <a:r>
              <a:rPr lang="en-US" sz="1400" b="1" dirty="0">
                <a:solidFill>
                  <a:srgbClr val="8A6D00"/>
                </a:solidFill>
                <a:latin typeface="Calibri" pitchFamily="34" charset="0"/>
                <a:ea typeface="Calibri" pitchFamily="34" charset="-122"/>
                <a:cs typeface="Calibri" pitchFamily="34" charset="-120"/>
              </a:rPr>
              <a:t>Potencia instalada no es energía generada.  </a:t>
            </a:r>
            <a:pPr indent="0" marL="0">
              <a:buNone/>
            </a:pPr>
            <a:r>
              <a:rPr lang="en-US" sz="1400" dirty="0">
                <a:solidFill>
                  <a:srgbClr val="202124"/>
                </a:solidFill>
                <a:latin typeface="Calibri" pitchFamily="34" charset="0"/>
                <a:ea typeface="Calibri" pitchFamily="34" charset="-122"/>
                <a:cs typeface="Calibri" pitchFamily="34" charset="-120"/>
              </a:rPr>
              <a:t>La solar es segunda en potencia y quinta en energía, porque de noche no genera.</a:t>
            </a:r>
            <a:endParaRPr lang="en-US" sz="1400" dirty="0"/>
          </a:p>
        </p:txBody>
      </p:sp>
      <p:sp>
        <p:nvSpPr>
          <p:cNvPr id="15" name="Text 12"/>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6" name="Shape 13"/>
          <p:cNvSpPr/>
          <p:nvPr/>
        </p:nvSpPr>
        <p:spPr>
          <a:xfrm>
            <a:off x="548640" y="6062472"/>
            <a:ext cx="1810512" cy="566928"/>
          </a:xfrm>
          <a:prstGeom prst="roundRect">
            <a:avLst>
              <a:gd name="adj" fmla="val 11290"/>
            </a:avLst>
          </a:prstGeom>
          <a:solidFill>
            <a:srgbClr val="E8F0FE"/>
          </a:solidFill>
          <a:ln w="28575">
            <a:solidFill>
              <a:srgbClr val="1A73E8"/>
            </a:solidFill>
            <a:prstDash val="solid"/>
          </a:ln>
        </p:spPr>
      </p:sp>
      <p:sp>
        <p:nvSpPr>
          <p:cNvPr id="17" name="Text 14"/>
          <p:cNvSpPr txBox="1"/>
          <p:nvPr/>
        </p:nvSpPr>
        <p:spPr>
          <a:xfrm>
            <a:off x="640080"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gen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175680 × 8</a:t>
            </a:r>
            <a:endParaRPr lang="en-US" sz="1200" dirty="0"/>
          </a:p>
        </p:txBody>
      </p:sp>
      <p:sp>
        <p:nvSpPr>
          <p:cNvPr id="18" name="Shape 15"/>
          <p:cNvSpPr/>
          <p:nvPr/>
        </p:nvSpPr>
        <p:spPr>
          <a:xfrm>
            <a:off x="2496312" y="6062472"/>
            <a:ext cx="2002536" cy="566928"/>
          </a:xfrm>
          <a:prstGeom prst="roundRect">
            <a:avLst>
              <a:gd name="adj" fmla="val 11290"/>
            </a:avLst>
          </a:prstGeom>
          <a:solidFill>
            <a:srgbClr val="FEF3D6"/>
          </a:solidFill>
          <a:ln w="25400">
            <a:solidFill>
              <a:srgbClr val="F9AB00"/>
            </a:solidFill>
            <a:prstDash val="solid"/>
          </a:ln>
        </p:spPr>
      </p:sp>
      <p:sp>
        <p:nvSpPr>
          <p:cNvPr id="19" name="Text 16"/>
          <p:cNvSpPr txBox="1"/>
          <p:nvPr/>
        </p:nvSpPr>
        <p:spPr>
          <a:xfrm>
            <a:off x="2587752"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por_tecnologia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 valores</a:t>
            </a:r>
            <a:endParaRPr lang="en-US" sz="1200" dirty="0"/>
          </a:p>
        </p:txBody>
      </p:sp>
      <p:sp>
        <p:nvSpPr>
          <p:cNvPr id="20" name="Shape 17"/>
          <p:cNvSpPr/>
          <p:nvPr/>
        </p:nvSpPr>
        <p:spPr>
          <a:xfrm>
            <a:off x="4636008" y="6062472"/>
            <a:ext cx="1143000" cy="566928"/>
          </a:xfrm>
          <a:prstGeom prst="roundRect">
            <a:avLst>
              <a:gd name="adj" fmla="val 11290"/>
            </a:avLst>
          </a:prstGeom>
          <a:solidFill>
            <a:srgbClr val="F1F3F4"/>
          </a:solidFill>
          <a:ln w="12700">
            <a:solidFill>
              <a:srgbClr val="DADCE0"/>
            </a:solidFill>
            <a:prstDash val="solid"/>
          </a:ln>
        </p:spPr>
      </p:sp>
      <p:sp>
        <p:nvSpPr>
          <p:cNvPr id="21" name="Text 18"/>
          <p:cNvSpPr txBox="1"/>
          <p:nvPr/>
        </p:nvSpPr>
        <p:spPr>
          <a:xfrm>
            <a:off x="4727448"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caida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7.82</a:t>
            </a:r>
            <a:endParaRPr lang="en-US" sz="1200" dirty="0"/>
          </a:p>
        </p:txBody>
      </p:sp>
      <p:sp>
        <p:nvSpPr>
          <p:cNvPr id="22" name="Shape 19"/>
          <p:cNvSpPr/>
          <p:nvPr/>
        </p:nvSpPr>
        <p:spPr>
          <a:xfrm>
            <a:off x="5916168" y="6062472"/>
            <a:ext cx="2002536" cy="566928"/>
          </a:xfrm>
          <a:prstGeom prst="roundRect">
            <a:avLst>
              <a:gd name="adj" fmla="val 11290"/>
            </a:avLst>
          </a:prstGeom>
          <a:solidFill>
            <a:srgbClr val="F1F3F4"/>
          </a:solidFill>
          <a:ln w="12700">
            <a:solidFill>
              <a:srgbClr val="DADCE0"/>
            </a:solidFill>
            <a:prstDash val="solid"/>
          </a:ln>
        </p:spPr>
      </p:sp>
      <p:sp>
        <p:nvSpPr>
          <p:cNvPr id="23" name="Text 20"/>
          <p:cNvSpPr txBox="1"/>
          <p:nvPr/>
        </p:nvSpPr>
        <p:spPr>
          <a:xfrm>
            <a:off x="6007608"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promedio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2 valores</a:t>
            </a:r>
            <a:endParaRPr lang="en-US" sz="1200" dirty="0"/>
          </a:p>
        </p:txBody>
      </p:sp>
      <p:sp>
        <p:nvSpPr>
          <p:cNvPr id="24" name="Shape 21"/>
          <p:cNvSpPr/>
          <p:nvPr/>
        </p:nvSpPr>
        <p:spPr>
          <a:xfrm>
            <a:off x="8055864" y="6062472"/>
            <a:ext cx="1330452" cy="566928"/>
          </a:xfrm>
          <a:prstGeom prst="roundRect">
            <a:avLst>
              <a:gd name="adj" fmla="val 11290"/>
            </a:avLst>
          </a:prstGeom>
          <a:solidFill>
            <a:srgbClr val="F1F3F4"/>
          </a:solidFill>
          <a:ln w="12700">
            <a:solidFill>
              <a:srgbClr val="DADCE0"/>
            </a:solidFill>
            <a:prstDash val="solid"/>
          </a:ln>
        </p:spPr>
      </p:sp>
      <p:sp>
        <p:nvSpPr>
          <p:cNvPr id="25" name="Text 22"/>
          <p:cNvSpPr txBox="1"/>
          <p:nvPr/>
        </p:nvSpPr>
        <p:spPr>
          <a:xfrm>
            <a:off x="8147304"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correlacion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0.12</a:t>
            </a:r>
            <a:endParaRPr lang="en-US" sz="1200" dirty="0"/>
          </a:p>
        </p:txBody>
      </p:sp>
      <p:sp>
        <p:nvSpPr>
          <p:cNvPr id="26" name="Text 23"/>
          <p:cNvSpPr txBox="1"/>
          <p:nvPr/>
        </p:nvSpPr>
        <p:spPr>
          <a:xfrm>
            <a:off x="9523476"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15 más</a:t>
            </a:r>
            <a:endParaRPr lang="en-US" sz="1200" dirty="0"/>
          </a:p>
        </p:txBody>
      </p:sp>
      <p:sp>
        <p:nvSpPr>
          <p:cNvPr id="27" name="Text 24"/>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Hidro genera más que todas, pero la solar queda quinta aunque es segunda en potencia instalada.</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resume con varios cálculos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qué hace agg con un ejemplo de siete filas.</a:t>
            </a:r>
            <a:endParaRPr lang="en-US" sz="1400" dirty="0"/>
          </a:p>
        </p:txBody>
      </p:sp>
      <p:pic>
        <p:nvPicPr>
          <p:cNvPr id="6" name="Image 0" descr="../../repo/modulos/modulo02/img/lab02_paso5_agg.png">    </p:cNvPr>
          <p:cNvPicPr>
            <a:picLocks noChangeAspect="1"/>
          </p:cNvPicPr>
          <p:nvPr/>
        </p:nvPicPr>
        <p:blipFill>
          <a:blip r:embed="rId1"/>
          <a:stretch>
            <a:fillRect/>
          </a:stretch>
        </p:blipFill>
        <p:spPr>
          <a:xfrm>
            <a:off x="644329" y="1463040"/>
            <a:ext cx="10900294" cy="461772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4"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4</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resume con varios cálculos</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cómo agrupar en la lista y vuelve a correr la celda.</a:t>
            </a:r>
            <a:endParaRPr lang="en-US" sz="1400" dirty="0"/>
          </a:p>
        </p:txBody>
      </p:sp>
      <p:sp>
        <p:nvSpPr>
          <p:cNvPr id="7" name="Shape 4"/>
          <p:cNvSpPr/>
          <p:nvPr/>
        </p:nvSpPr>
        <p:spPr>
          <a:xfrm>
            <a:off x="548640" y="1481328"/>
            <a:ext cx="11091672" cy="2537460"/>
          </a:xfrm>
          <a:prstGeom prst="roundRect">
            <a:avLst>
              <a:gd name="adj" fmla="val 2162"/>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235458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3</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agrupar_por = </a:t>
            </a:r>
            <a:pPr indent="0" marL="0">
              <a:buNone/>
            </a:pPr>
            <a:r>
              <a:rPr lang="en-US" sz="1300" dirty="0">
                <a:solidFill>
                  <a:srgbClr val="A31515"/>
                </a:solidFill>
                <a:latin typeface="Courier New" pitchFamily="34" charset="0"/>
                <a:ea typeface="Courier New" pitchFamily="34" charset="-122"/>
                <a:cs typeface="Courier New" pitchFamily="34" charset="-120"/>
              </a:rPr>
              <a:t>"tecnologia"</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["tecnologia", "region"]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Cada línea es una columna del resumen. A la izquierda el nombre,</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a la derecha la columna y el cálculo.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resumen = gen.groupby(agrupar_por).agg(</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total_mwh=(</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"sum"</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promedio_hora=(</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"mean"</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centrales=(</a:t>
            </a:r>
            <a:pPr indent="0" marL="0">
              <a:buNone/>
            </a:pPr>
            <a:r>
              <a:rPr lang="en-US" sz="1300" dirty="0">
                <a:solidFill>
                  <a:srgbClr val="A31515"/>
                </a:solidFill>
                <a:latin typeface="Courier New" pitchFamily="34" charset="0"/>
                <a:ea typeface="Courier New" pitchFamily="34" charset="-122"/>
                <a:cs typeface="Courier New" pitchFamily="34" charset="-120"/>
              </a:rPr>
              <a:t>"central"</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"nunique"</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resumen.round(1).sort_values(</a:t>
            </a:r>
            <a:pPr indent="0" marL="0">
              <a:buNone/>
            </a:pPr>
            <a:r>
              <a:rPr lang="en-US" sz="1300" dirty="0">
                <a:solidFill>
                  <a:srgbClr val="A31515"/>
                </a:solidFill>
                <a:latin typeface="Courier New" pitchFamily="34" charset="0"/>
                <a:ea typeface="Courier New" pitchFamily="34" charset="-122"/>
                <a:cs typeface="Courier New" pitchFamily="34" charset="-120"/>
              </a:rPr>
              <a:t>"total_mwh"</a:t>
            </a:r>
            <a:pPr indent="0" marL="0">
              <a:buNone/>
            </a:pPr>
            <a:r>
              <a:rPr lang="en-US" sz="1300" dirty="0">
                <a:solidFill>
                  <a:srgbClr val="202124"/>
                </a:solidFill>
                <a:latin typeface="Courier New" pitchFamily="34" charset="0"/>
                <a:ea typeface="Courier New" pitchFamily="34" charset="-122"/>
                <a:cs typeface="Courier New" pitchFamily="34" charset="-120"/>
              </a:rPr>
              <a:t>, ascending=False)</a:t>
            </a:r>
            <a:endParaRPr lang="en-US" sz="13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agrupar_por</a:t>
            </a:r>
            <a:endParaRPr lang="en-US" sz="1100" dirty="0"/>
          </a:p>
        </p:txBody>
      </p:sp>
      <p:sp>
        <p:nvSpPr>
          <p:cNvPr id="12"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3"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tecnologia</a:t>
            </a:r>
            <a:endParaRPr lang="en-US" sz="1200" dirty="0"/>
          </a:p>
        </p:txBody>
      </p:sp>
      <p:sp>
        <p:nvSpPr>
          <p:cNvPr id="14"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5" name="Text 12"/>
          <p:cNvSpPr txBox="1"/>
          <p:nvPr/>
        </p:nvSpPr>
        <p:spPr>
          <a:xfrm>
            <a:off x="1325880" y="405536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6" name="Text 13"/>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4"/>
          <p:cNvSpPr/>
          <p:nvPr/>
        </p:nvSpPr>
        <p:spPr>
          <a:xfrm>
            <a:off x="548640" y="6062472"/>
            <a:ext cx="2002536"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640080"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por_tecnologia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 valores</a:t>
            </a:r>
            <a:endParaRPr lang="en-US" sz="1200" dirty="0"/>
          </a:p>
        </p:txBody>
      </p:sp>
      <p:sp>
        <p:nvSpPr>
          <p:cNvPr id="19" name="Shape 16"/>
          <p:cNvSpPr/>
          <p:nvPr/>
        </p:nvSpPr>
        <p:spPr>
          <a:xfrm>
            <a:off x="2688336" y="6062472"/>
            <a:ext cx="114300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2779776"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caida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7.82</a:t>
            </a:r>
            <a:endParaRPr lang="en-US" sz="1200" dirty="0"/>
          </a:p>
        </p:txBody>
      </p:sp>
      <p:sp>
        <p:nvSpPr>
          <p:cNvPr id="21" name="Shape 18"/>
          <p:cNvSpPr/>
          <p:nvPr/>
        </p:nvSpPr>
        <p:spPr>
          <a:xfrm>
            <a:off x="3968496" y="6062472"/>
            <a:ext cx="2002536"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4059936"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promedio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2 valores</a:t>
            </a:r>
            <a:endParaRPr lang="en-US" sz="1200" dirty="0"/>
          </a:p>
        </p:txBody>
      </p:sp>
      <p:sp>
        <p:nvSpPr>
          <p:cNvPr id="23" name="Shape 20"/>
          <p:cNvSpPr/>
          <p:nvPr/>
        </p:nvSpPr>
        <p:spPr>
          <a:xfrm>
            <a:off x="6108192" y="6062472"/>
            <a:ext cx="1330452"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6199632"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correlacion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0.12</a:t>
            </a:r>
            <a:endParaRPr lang="en-US" sz="1200" dirty="0"/>
          </a:p>
        </p:txBody>
      </p:sp>
      <p:sp>
        <p:nvSpPr>
          <p:cNvPr id="25" name="Shape 22"/>
          <p:cNvSpPr/>
          <p:nvPr/>
        </p:nvSpPr>
        <p:spPr>
          <a:xfrm>
            <a:off x="7575804" y="6062472"/>
            <a:ext cx="1522476" cy="566928"/>
          </a:xfrm>
          <a:prstGeom prst="roundRect">
            <a:avLst>
              <a:gd name="adj" fmla="val 11290"/>
            </a:avLst>
          </a:prstGeom>
          <a:solidFill>
            <a:srgbClr val="F1F3F4"/>
          </a:solidFill>
          <a:ln w="12700">
            <a:solidFill>
              <a:srgbClr val="DADCE0"/>
            </a:solidFill>
            <a:prstDash val="solid"/>
          </a:ln>
        </p:spPr>
      </p:sp>
      <p:sp>
        <p:nvSpPr>
          <p:cNvPr id="26" name="Text 23"/>
          <p:cNvSpPr txBox="1"/>
          <p:nvPr/>
        </p:nvSpPr>
        <p:spPr>
          <a:xfrm>
            <a:off x="7667244"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744 × 5</a:t>
            </a:r>
            <a:endParaRPr lang="en-US" sz="1200" dirty="0"/>
          </a:p>
        </p:txBody>
      </p:sp>
      <p:sp>
        <p:nvSpPr>
          <p:cNvPr id="27" name="Text 24"/>
          <p:cNvSpPr txBox="1"/>
          <p:nvPr/>
        </p:nvSpPr>
        <p:spPr>
          <a:xfrm>
            <a:off x="9235440"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15 más</a:t>
            </a:r>
            <a:endParaRPr lang="en-US" sz="12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resume con varios cálculos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1498600"/>
          </a:xfrm>
          <a:prstGeom prst="roundRect">
            <a:avLst>
              <a:gd name="adj" fmla="val 3661"/>
            </a:avLst>
          </a:prstGeom>
          <a:solidFill>
            <a:srgbClr val="F8F9FA"/>
          </a:solidFill>
          <a:ln w="12700">
            <a:solidFill>
              <a:srgbClr val="DADCE0"/>
            </a:solidFill>
            <a:prstDash val="solid"/>
          </a:ln>
        </p:spPr>
      </p:sp>
      <p:sp>
        <p:nvSpPr>
          <p:cNvPr id="7" name="Text 5"/>
          <p:cNvSpPr txBox="1"/>
          <p:nvPr/>
        </p:nvSpPr>
        <p:spPr>
          <a:xfrm>
            <a:off x="822960" y="1554480"/>
            <a:ext cx="10634472" cy="1361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resumen = gen.groupby(agrupar_por).agg(</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    total_mwh=(</a:t>
            </a:r>
            <a:pPr indent="0" marL="0">
              <a:buNone/>
            </a:pPr>
            <a:r>
              <a:rPr lang="en-US" sz="1600" dirty="0">
                <a:solidFill>
                  <a:srgbClr val="A31515"/>
                </a:solidFill>
                <a:latin typeface="Courier New" pitchFamily="34" charset="0"/>
                <a:ea typeface="Courier New" pitchFamily="34" charset="-122"/>
                <a:cs typeface="Courier New" pitchFamily="34" charset="-120"/>
              </a:rPr>
              <a:t>"mwh"</a:t>
            </a:r>
            <a:pPr indent="0" marL="0">
              <a:buNone/>
            </a:pPr>
            <a:r>
              <a:rPr lang="en-US" sz="1600" dirty="0">
                <a:solidFill>
                  <a:srgbClr val="202124"/>
                </a:solidFill>
                <a:latin typeface="Courier New" pitchFamily="34" charset="0"/>
                <a:ea typeface="Courier New" pitchFamily="34" charset="-122"/>
                <a:cs typeface="Courier New" pitchFamily="34" charset="-120"/>
              </a:rPr>
              <a:t>, </a:t>
            </a:r>
            <a:pPr indent="0" marL="0">
              <a:buNone/>
            </a:pPr>
            <a:r>
              <a:rPr lang="en-US" sz="1600" dirty="0">
                <a:solidFill>
                  <a:srgbClr val="A31515"/>
                </a:solidFill>
                <a:latin typeface="Courier New" pitchFamily="34" charset="0"/>
                <a:ea typeface="Courier New" pitchFamily="34" charset="-122"/>
                <a:cs typeface="Courier New" pitchFamily="34" charset="-120"/>
              </a:rPr>
              <a:t>"sum"</a:t>
            </a:r>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    promedio_hora=(</a:t>
            </a:r>
            <a:pPr indent="0" marL="0">
              <a:buNone/>
            </a:pPr>
            <a:r>
              <a:rPr lang="en-US" sz="1600" dirty="0">
                <a:solidFill>
                  <a:srgbClr val="A31515"/>
                </a:solidFill>
                <a:latin typeface="Courier New" pitchFamily="34" charset="0"/>
                <a:ea typeface="Courier New" pitchFamily="34" charset="-122"/>
                <a:cs typeface="Courier New" pitchFamily="34" charset="-120"/>
              </a:rPr>
              <a:t>"mwh"</a:t>
            </a:r>
            <a:pPr indent="0" marL="0">
              <a:buNone/>
            </a:pPr>
            <a:r>
              <a:rPr lang="en-US" sz="1600" dirty="0">
                <a:solidFill>
                  <a:srgbClr val="202124"/>
                </a:solidFill>
                <a:latin typeface="Courier New" pitchFamily="34" charset="0"/>
                <a:ea typeface="Courier New" pitchFamily="34" charset="-122"/>
                <a:cs typeface="Courier New" pitchFamily="34" charset="-120"/>
              </a:rPr>
              <a:t>, </a:t>
            </a:r>
            <a:pPr indent="0" marL="0">
              <a:buNone/>
            </a:pPr>
            <a:r>
              <a:rPr lang="en-US" sz="1600" dirty="0">
                <a:solidFill>
                  <a:srgbClr val="A31515"/>
                </a:solidFill>
                <a:latin typeface="Courier New" pitchFamily="34" charset="0"/>
                <a:ea typeface="Courier New" pitchFamily="34" charset="-122"/>
                <a:cs typeface="Courier New" pitchFamily="34" charset="-120"/>
              </a:rPr>
              <a:t>"mean"</a:t>
            </a:r>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    centrales=(</a:t>
            </a:r>
            <a:pPr indent="0" marL="0">
              <a:buNone/>
            </a:pPr>
            <a:r>
              <a:rPr lang="en-US" sz="1600" dirty="0">
                <a:solidFill>
                  <a:srgbClr val="A31515"/>
                </a:solidFill>
                <a:latin typeface="Courier New" pitchFamily="34" charset="0"/>
                <a:ea typeface="Courier New" pitchFamily="34" charset="-122"/>
                <a:cs typeface="Courier New" pitchFamily="34" charset="-120"/>
              </a:rPr>
              <a:t>"central"</a:t>
            </a:r>
            <a:pPr indent="0" marL="0">
              <a:buNone/>
            </a:pPr>
            <a:r>
              <a:rPr lang="en-US" sz="1600" dirty="0">
                <a:solidFill>
                  <a:srgbClr val="202124"/>
                </a:solidFill>
                <a:latin typeface="Courier New" pitchFamily="34" charset="0"/>
                <a:ea typeface="Courier New" pitchFamily="34" charset="-122"/>
                <a:cs typeface="Courier New" pitchFamily="34" charset="-120"/>
              </a:rPr>
              <a:t>, </a:t>
            </a:r>
            <a:pPr indent="0" marL="0">
              <a:buNone/>
            </a:pPr>
            <a:r>
              <a:rPr lang="en-US" sz="1600" dirty="0">
                <a:solidFill>
                  <a:srgbClr val="A31515"/>
                </a:solidFill>
                <a:latin typeface="Courier New" pitchFamily="34" charset="0"/>
                <a:ea typeface="Courier New" pitchFamily="34" charset="-122"/>
                <a:cs typeface="Courier New" pitchFamily="34" charset="-120"/>
              </a:rPr>
              <a:t>"nunique"</a:t>
            </a:r>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p:txBody>
      </p:sp>
      <p:sp>
        <p:nvSpPr>
          <p:cNvPr id="8" name="Shape 6"/>
          <p:cNvSpPr/>
          <p:nvPr/>
        </p:nvSpPr>
        <p:spPr>
          <a:xfrm>
            <a:off x="548640" y="3276676"/>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32766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3235960"/>
            <a:ext cx="4937760" cy="410615"/>
          </a:xfrm>
          <a:prstGeom prst="roundRect">
            <a:avLst>
              <a:gd name="adj" fmla="val 11135"/>
            </a:avLst>
          </a:prstGeom>
          <a:solidFill>
            <a:srgbClr val="DBE9FB"/>
          </a:solidFill>
          <a:ln w="12700">
            <a:solidFill>
              <a:srgbClr val="DBE9FB"/>
            </a:solidFill>
            <a:prstDash val="solid"/>
          </a:ln>
        </p:spPr>
      </p:sp>
      <p:sp>
        <p:nvSpPr>
          <p:cNvPr id="11" name="Text 9"/>
          <p:cNvSpPr txBox="1"/>
          <p:nvPr/>
        </p:nvSpPr>
        <p:spPr>
          <a:xfrm>
            <a:off x="1170432" y="3235960"/>
            <a:ext cx="4754880" cy="410615"/>
          </a:xfrm>
          <a:prstGeom prst="rect">
            <a:avLst/>
          </a:prstGeom>
          <a:noFill/>
          <a:ln/>
        </p:spPr>
        <p:txBody>
          <a:bodyPr wrap="square" lIns="0" tIns="0" rIns="0" bIns="0" rtlCol="0" anchor="ctr"/>
          <a:lstStyle/>
          <a:p>
            <a:pPr indent="0" marL="0">
              <a:buNone/>
            </a:pPr>
            <a:r>
              <a:rPr lang="en-US" sz="1190" b="1" dirty="0">
                <a:solidFill>
                  <a:srgbClr val="202124"/>
                </a:solidFill>
                <a:latin typeface="Courier New" pitchFamily="34" charset="0"/>
                <a:ea typeface="Courier New" pitchFamily="34" charset="-122"/>
                <a:cs typeface="Courier New" pitchFamily="34" charset="-120"/>
              </a:rPr>
              <a:t>gen.groupby(agrupar_por)</a:t>
            </a:r>
            <a:endParaRPr lang="en-US" sz="1190" dirty="0"/>
          </a:p>
        </p:txBody>
      </p:sp>
      <p:sp>
        <p:nvSpPr>
          <p:cNvPr id="12" name="Text 10"/>
          <p:cNvSpPr txBox="1"/>
          <p:nvPr/>
        </p:nvSpPr>
        <p:spPr>
          <a:xfrm>
            <a:off x="6263640" y="3235960"/>
            <a:ext cx="5376672" cy="410615"/>
          </a:xfrm>
          <a:prstGeom prst="rect">
            <a:avLst/>
          </a:prstGeom>
          <a:noFill/>
          <a:ln/>
        </p:spPr>
        <p:txBody>
          <a:bodyPr wrap="square" lIns="0" tIns="0" rIns="0" bIns="0" rtlCol="0" anchor="ctr"/>
          <a:lstStyle/>
          <a:p>
            <a:pPr indent="0" marL="0">
              <a:buNone/>
            </a:pPr>
            <a:r>
              <a:rPr lang="en-US" sz="1360" dirty="0">
                <a:solidFill>
                  <a:srgbClr val="202124"/>
                </a:solidFill>
                <a:latin typeface="Calibri" pitchFamily="34" charset="0"/>
                <a:ea typeface="Calibri" pitchFamily="34" charset="-122"/>
                <a:cs typeface="Calibri" pitchFamily="34" charset="-120"/>
              </a:rPr>
              <a:t>Separa las filas en grupos.</a:t>
            </a:r>
            <a:endParaRPr lang="en-US" sz="1360" dirty="0"/>
          </a:p>
        </p:txBody>
      </p:sp>
      <p:sp>
        <p:nvSpPr>
          <p:cNvPr id="13" name="Shape 11"/>
          <p:cNvSpPr/>
          <p:nvPr/>
        </p:nvSpPr>
        <p:spPr>
          <a:xfrm>
            <a:off x="548640" y="3758087"/>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758087"/>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3717371"/>
            <a:ext cx="4937760" cy="410615"/>
          </a:xfrm>
          <a:prstGeom prst="roundRect">
            <a:avLst>
              <a:gd name="adj" fmla="val 11135"/>
            </a:avLst>
          </a:prstGeom>
          <a:solidFill>
            <a:srgbClr val="DCEFE0"/>
          </a:solidFill>
          <a:ln w="12700">
            <a:solidFill>
              <a:srgbClr val="DCEFE0"/>
            </a:solidFill>
            <a:prstDash val="solid"/>
          </a:ln>
        </p:spPr>
      </p:sp>
      <p:sp>
        <p:nvSpPr>
          <p:cNvPr id="16" name="Text 14"/>
          <p:cNvSpPr txBox="1"/>
          <p:nvPr/>
        </p:nvSpPr>
        <p:spPr>
          <a:xfrm>
            <a:off x="1170432" y="3717371"/>
            <a:ext cx="4754880" cy="410615"/>
          </a:xfrm>
          <a:prstGeom prst="rect">
            <a:avLst/>
          </a:prstGeom>
          <a:noFill/>
          <a:ln/>
        </p:spPr>
        <p:txBody>
          <a:bodyPr wrap="square" lIns="0" tIns="0" rIns="0" bIns="0" rtlCol="0" anchor="ctr"/>
          <a:lstStyle/>
          <a:p>
            <a:pPr indent="0" marL="0">
              <a:buNone/>
            </a:pPr>
            <a:r>
              <a:rPr lang="en-US" sz="1190" b="1" dirty="0">
                <a:solidFill>
                  <a:srgbClr val="202124"/>
                </a:solidFill>
                <a:latin typeface="Courier New" pitchFamily="34" charset="0"/>
                <a:ea typeface="Courier New" pitchFamily="34" charset="-122"/>
                <a:cs typeface="Courier New" pitchFamily="34" charset="-120"/>
              </a:rPr>
              <a:t>.agg( ... )</a:t>
            </a:r>
            <a:endParaRPr lang="en-US" sz="1190" dirty="0"/>
          </a:p>
        </p:txBody>
      </p:sp>
      <p:sp>
        <p:nvSpPr>
          <p:cNvPr id="17" name="Text 15"/>
          <p:cNvSpPr txBox="1"/>
          <p:nvPr/>
        </p:nvSpPr>
        <p:spPr>
          <a:xfrm>
            <a:off x="6263640" y="3717371"/>
            <a:ext cx="5376672" cy="410615"/>
          </a:xfrm>
          <a:prstGeom prst="rect">
            <a:avLst/>
          </a:prstGeom>
          <a:noFill/>
          <a:ln/>
        </p:spPr>
        <p:txBody>
          <a:bodyPr wrap="square" lIns="0" tIns="0" rIns="0" bIns="0" rtlCol="0" anchor="ctr"/>
          <a:lstStyle/>
          <a:p>
            <a:pPr indent="0" marL="0">
              <a:buNone/>
            </a:pPr>
            <a:r>
              <a:rPr lang="en-US" sz="1360" dirty="0">
                <a:solidFill>
                  <a:srgbClr val="202124"/>
                </a:solidFill>
                <a:latin typeface="Calibri" pitchFamily="34" charset="0"/>
                <a:ea typeface="Calibri" pitchFamily="34" charset="-122"/>
                <a:cs typeface="Calibri" pitchFamily="34" charset="-120"/>
              </a:rPr>
              <a:t>Calcula varias cosas por grupo a la vez.</a:t>
            </a:r>
            <a:endParaRPr lang="en-US" sz="1360" dirty="0"/>
          </a:p>
        </p:txBody>
      </p:sp>
      <p:sp>
        <p:nvSpPr>
          <p:cNvPr id="18" name="Shape 16"/>
          <p:cNvSpPr/>
          <p:nvPr/>
        </p:nvSpPr>
        <p:spPr>
          <a:xfrm>
            <a:off x="548640" y="4281975"/>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4281975"/>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4198782"/>
            <a:ext cx="4937760" cy="495570"/>
          </a:xfrm>
          <a:prstGeom prst="roundRect">
            <a:avLst>
              <a:gd name="adj" fmla="val 9226"/>
            </a:avLst>
          </a:prstGeom>
          <a:solidFill>
            <a:srgbClr val="FDF0C8"/>
          </a:solidFill>
          <a:ln w="12700">
            <a:solidFill>
              <a:srgbClr val="FDF0C8"/>
            </a:solidFill>
            <a:prstDash val="solid"/>
          </a:ln>
        </p:spPr>
      </p:sp>
      <p:sp>
        <p:nvSpPr>
          <p:cNvPr id="21" name="Text 19"/>
          <p:cNvSpPr txBox="1"/>
          <p:nvPr/>
        </p:nvSpPr>
        <p:spPr>
          <a:xfrm>
            <a:off x="1170432" y="4198782"/>
            <a:ext cx="4754880" cy="495570"/>
          </a:xfrm>
          <a:prstGeom prst="rect">
            <a:avLst/>
          </a:prstGeom>
          <a:noFill/>
          <a:ln/>
        </p:spPr>
        <p:txBody>
          <a:bodyPr wrap="square" lIns="0" tIns="0" rIns="0" bIns="0" rtlCol="0" anchor="ctr"/>
          <a:lstStyle/>
          <a:p>
            <a:pPr indent="0" marL="0">
              <a:buNone/>
            </a:pPr>
            <a:r>
              <a:rPr lang="en-US" sz="1190" b="1" dirty="0">
                <a:solidFill>
                  <a:srgbClr val="202124"/>
                </a:solidFill>
                <a:latin typeface="Courier New" pitchFamily="34" charset="0"/>
                <a:ea typeface="Courier New" pitchFamily="34" charset="-122"/>
                <a:cs typeface="Courier New" pitchFamily="34" charset="-120"/>
              </a:rPr>
              <a:t>total_mwh=</a:t>
            </a:r>
            <a:endParaRPr lang="en-US" sz="1190" dirty="0"/>
          </a:p>
        </p:txBody>
      </p:sp>
      <p:sp>
        <p:nvSpPr>
          <p:cNvPr id="22" name="Text 20"/>
          <p:cNvSpPr txBox="1"/>
          <p:nvPr/>
        </p:nvSpPr>
        <p:spPr>
          <a:xfrm>
            <a:off x="6263640" y="4198782"/>
            <a:ext cx="5376672" cy="495570"/>
          </a:xfrm>
          <a:prstGeom prst="rect">
            <a:avLst/>
          </a:prstGeom>
          <a:noFill/>
          <a:ln/>
        </p:spPr>
        <p:txBody>
          <a:bodyPr wrap="square" lIns="0" tIns="0" rIns="0" bIns="0" rtlCol="0" anchor="ctr"/>
          <a:lstStyle/>
          <a:p>
            <a:pPr indent="0" marL="0">
              <a:buNone/>
            </a:pPr>
            <a:r>
              <a:rPr lang="en-US" sz="1360" dirty="0">
                <a:solidFill>
                  <a:srgbClr val="202124"/>
                </a:solidFill>
                <a:latin typeface="Calibri" pitchFamily="34" charset="0"/>
                <a:ea typeface="Calibri" pitchFamily="34" charset="-122"/>
                <a:cs typeface="Calibri" pitchFamily="34" charset="-120"/>
              </a:rPr>
              <a:t>A la izquierda del igual, el nombre de la columna que va a tener el resumen.</a:t>
            </a:r>
            <a:endParaRPr lang="en-US" sz="1360" dirty="0"/>
          </a:p>
        </p:txBody>
      </p:sp>
      <p:sp>
        <p:nvSpPr>
          <p:cNvPr id="23" name="Shape 21"/>
          <p:cNvSpPr/>
          <p:nvPr/>
        </p:nvSpPr>
        <p:spPr>
          <a:xfrm>
            <a:off x="548640" y="4848341"/>
            <a:ext cx="329184" cy="329184"/>
          </a:xfrm>
          <a:prstGeom prst="ellipse">
            <a:avLst/>
          </a:prstGeom>
          <a:solidFill>
            <a:srgbClr val="7B4FC9"/>
          </a:solidFill>
          <a:ln w="12700">
            <a:solidFill>
              <a:srgbClr val="7B4FC9"/>
            </a:solidFill>
            <a:prstDash val="solid"/>
          </a:ln>
        </p:spPr>
      </p:sp>
      <p:sp>
        <p:nvSpPr>
          <p:cNvPr id="24" name="Text 22"/>
          <p:cNvSpPr txBox="1"/>
          <p:nvPr/>
        </p:nvSpPr>
        <p:spPr>
          <a:xfrm>
            <a:off x="548640" y="4848341"/>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Shape 23"/>
          <p:cNvSpPr/>
          <p:nvPr/>
        </p:nvSpPr>
        <p:spPr>
          <a:xfrm>
            <a:off x="1051560" y="4765148"/>
            <a:ext cx="4937760" cy="495570"/>
          </a:xfrm>
          <a:prstGeom prst="roundRect">
            <a:avLst>
              <a:gd name="adj" fmla="val 9226"/>
            </a:avLst>
          </a:prstGeom>
          <a:solidFill>
            <a:srgbClr val="ECE2FA"/>
          </a:solidFill>
          <a:ln w="12700">
            <a:solidFill>
              <a:srgbClr val="ECE2FA"/>
            </a:solidFill>
            <a:prstDash val="solid"/>
          </a:ln>
        </p:spPr>
      </p:sp>
      <p:sp>
        <p:nvSpPr>
          <p:cNvPr id="26" name="Text 24"/>
          <p:cNvSpPr txBox="1"/>
          <p:nvPr/>
        </p:nvSpPr>
        <p:spPr>
          <a:xfrm>
            <a:off x="1170432" y="4765148"/>
            <a:ext cx="4754880" cy="495570"/>
          </a:xfrm>
          <a:prstGeom prst="rect">
            <a:avLst/>
          </a:prstGeom>
          <a:noFill/>
          <a:ln/>
        </p:spPr>
        <p:txBody>
          <a:bodyPr wrap="square" lIns="0" tIns="0" rIns="0" bIns="0" rtlCol="0" anchor="ctr"/>
          <a:lstStyle/>
          <a:p>
            <a:pPr indent="0" marL="0">
              <a:buNone/>
            </a:pPr>
            <a:r>
              <a:rPr lang="en-US" sz="1190" b="1" dirty="0">
                <a:solidFill>
                  <a:srgbClr val="202124"/>
                </a:solidFill>
                <a:latin typeface="Courier New" pitchFamily="34" charset="0"/>
                <a:ea typeface="Courier New" pitchFamily="34" charset="-122"/>
                <a:cs typeface="Courier New" pitchFamily="34" charset="-120"/>
              </a:rPr>
              <a:t>("mwh", "sum")</a:t>
            </a:r>
            <a:endParaRPr lang="en-US" sz="1190" dirty="0"/>
          </a:p>
        </p:txBody>
      </p:sp>
      <p:sp>
        <p:nvSpPr>
          <p:cNvPr id="27" name="Text 25"/>
          <p:cNvSpPr txBox="1"/>
          <p:nvPr/>
        </p:nvSpPr>
        <p:spPr>
          <a:xfrm>
            <a:off x="6263640" y="4765148"/>
            <a:ext cx="5376672" cy="495570"/>
          </a:xfrm>
          <a:prstGeom prst="rect">
            <a:avLst/>
          </a:prstGeom>
          <a:noFill/>
          <a:ln/>
        </p:spPr>
        <p:txBody>
          <a:bodyPr wrap="square" lIns="0" tIns="0" rIns="0" bIns="0" rtlCol="0" anchor="ctr"/>
          <a:lstStyle/>
          <a:p>
            <a:pPr indent="0" marL="0">
              <a:buNone/>
            </a:pPr>
            <a:r>
              <a:rPr lang="en-US" sz="1360" dirty="0">
                <a:solidFill>
                  <a:srgbClr val="202124"/>
                </a:solidFill>
                <a:latin typeface="Calibri" pitchFamily="34" charset="0"/>
                <a:ea typeface="Calibri" pitchFamily="34" charset="-122"/>
                <a:cs typeface="Calibri" pitchFamily="34" charset="-120"/>
              </a:rPr>
              <a:t>A la derecha, entre paréntesis, qué columna y qué cálculo.</a:t>
            </a:r>
            <a:endParaRPr lang="en-US" sz="1360" dirty="0"/>
          </a:p>
        </p:txBody>
      </p:sp>
      <p:sp>
        <p:nvSpPr>
          <p:cNvPr id="28" name="Shape 26"/>
          <p:cNvSpPr/>
          <p:nvPr/>
        </p:nvSpPr>
        <p:spPr>
          <a:xfrm>
            <a:off x="548640" y="5414707"/>
            <a:ext cx="329184" cy="329184"/>
          </a:xfrm>
          <a:prstGeom prst="ellipse">
            <a:avLst/>
          </a:prstGeom>
          <a:solidFill>
            <a:srgbClr val="C5221F"/>
          </a:solidFill>
          <a:ln w="12700">
            <a:solidFill>
              <a:srgbClr val="C5221F"/>
            </a:solidFill>
            <a:prstDash val="solid"/>
          </a:ln>
        </p:spPr>
      </p:sp>
      <p:sp>
        <p:nvSpPr>
          <p:cNvPr id="29" name="Text 27"/>
          <p:cNvSpPr txBox="1"/>
          <p:nvPr/>
        </p:nvSpPr>
        <p:spPr>
          <a:xfrm>
            <a:off x="548640" y="5414707"/>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Shape 28"/>
          <p:cNvSpPr/>
          <p:nvPr/>
        </p:nvSpPr>
        <p:spPr>
          <a:xfrm>
            <a:off x="1051560" y="5331514"/>
            <a:ext cx="4937760" cy="495570"/>
          </a:xfrm>
          <a:prstGeom prst="roundRect">
            <a:avLst>
              <a:gd name="adj" fmla="val 9226"/>
            </a:avLst>
          </a:prstGeom>
          <a:solidFill>
            <a:srgbClr val="FCE8E6"/>
          </a:solidFill>
          <a:ln w="12700">
            <a:solidFill>
              <a:srgbClr val="FCE8E6"/>
            </a:solidFill>
            <a:prstDash val="solid"/>
          </a:ln>
        </p:spPr>
      </p:sp>
      <p:sp>
        <p:nvSpPr>
          <p:cNvPr id="31" name="Text 29"/>
          <p:cNvSpPr txBox="1"/>
          <p:nvPr/>
        </p:nvSpPr>
        <p:spPr>
          <a:xfrm>
            <a:off x="1170432" y="5331514"/>
            <a:ext cx="4754880" cy="495570"/>
          </a:xfrm>
          <a:prstGeom prst="rect">
            <a:avLst/>
          </a:prstGeom>
          <a:noFill/>
          <a:ln/>
        </p:spPr>
        <p:txBody>
          <a:bodyPr wrap="square" lIns="0" tIns="0" rIns="0" bIns="0" rtlCol="0" anchor="ctr"/>
          <a:lstStyle/>
          <a:p>
            <a:pPr indent="0" marL="0">
              <a:buNone/>
            </a:pPr>
            <a:r>
              <a:rPr lang="en-US" sz="1190" b="1" dirty="0">
                <a:solidFill>
                  <a:srgbClr val="202124"/>
                </a:solidFill>
                <a:latin typeface="Courier New" pitchFamily="34" charset="0"/>
                <a:ea typeface="Courier New" pitchFamily="34" charset="-122"/>
                <a:cs typeface="Courier New" pitchFamily="34" charset="-120"/>
              </a:rPr>
              <a:t>("central", "nunique")</a:t>
            </a:r>
            <a:endParaRPr lang="en-US" sz="1190" dirty="0"/>
          </a:p>
        </p:txBody>
      </p:sp>
      <p:sp>
        <p:nvSpPr>
          <p:cNvPr id="32" name="Text 30"/>
          <p:cNvSpPr txBox="1"/>
          <p:nvPr/>
        </p:nvSpPr>
        <p:spPr>
          <a:xfrm>
            <a:off x="6263640" y="5331514"/>
            <a:ext cx="5376672" cy="495570"/>
          </a:xfrm>
          <a:prstGeom prst="rect">
            <a:avLst/>
          </a:prstGeom>
          <a:noFill/>
          <a:ln/>
        </p:spPr>
        <p:txBody>
          <a:bodyPr wrap="square" lIns="0" tIns="0" rIns="0" bIns="0" rtlCol="0" anchor="ctr"/>
          <a:lstStyle/>
          <a:p>
            <a:pPr indent="0" marL="0">
              <a:buNone/>
            </a:pPr>
            <a:r>
              <a:rPr lang="en-US" sz="1360" dirty="0">
                <a:solidFill>
                  <a:srgbClr val="202124"/>
                </a:solidFill>
                <a:latin typeface="Calibri" pitchFamily="34" charset="0"/>
                <a:ea typeface="Calibri" pitchFamily="34" charset="-122"/>
                <a:cs typeface="Calibri" pitchFamily="34" charset="-120"/>
              </a:rPr>
              <a:t>nunique cuenta cuántos valores distintos hay. Aquí, cuántas centrales.</a:t>
            </a:r>
            <a:endParaRPr lang="en-US" sz="1360" dirty="0"/>
          </a:p>
        </p:txBody>
      </p:sp>
      <p:sp>
        <p:nvSpPr>
          <p:cNvPr id="33" name="Shape 31"/>
          <p:cNvSpPr/>
          <p:nvPr/>
        </p:nvSpPr>
        <p:spPr>
          <a:xfrm>
            <a:off x="548640" y="5989320"/>
            <a:ext cx="73152" cy="548640"/>
          </a:xfrm>
          <a:prstGeom prst="rect">
            <a:avLst/>
          </a:prstGeom>
          <a:solidFill>
            <a:srgbClr val="0B3D62"/>
          </a:solidFill>
          <a:ln w="12700">
            <a:solidFill>
              <a:srgbClr val="0B3D62"/>
            </a:solidFill>
            <a:prstDash val="solid"/>
          </a:ln>
        </p:spPr>
      </p:sp>
      <p:sp>
        <p:nvSpPr>
          <p:cNvPr id="34" name="Text 3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por cada grupo, el total de mwh, el promedio por hora y cuántas centrales distintas tiene.</a:t>
            </a:r>
            <a:endParaRPr lang="en-US" sz="15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resume con varios cálculos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cómo agrupar en la lista y vuelve a correr la celda.</a:t>
            </a:r>
            <a:endParaRPr lang="en-US" sz="1400" dirty="0"/>
          </a:p>
        </p:txBody>
      </p:sp>
      <p:sp>
        <p:nvSpPr>
          <p:cNvPr id="6" name="Shape 4"/>
          <p:cNvSpPr/>
          <p:nvPr/>
        </p:nvSpPr>
        <p:spPr>
          <a:xfrm>
            <a:off x="548640" y="1481328"/>
            <a:ext cx="11091672" cy="2336292"/>
          </a:xfrm>
          <a:prstGeom prst="roundRect">
            <a:avLst>
              <a:gd name="adj" fmla="val 2348"/>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7360920" cy="2153412"/>
          </a:xfrm>
          <a:prstGeom prst="rect">
            <a:avLst/>
          </a:prstGeom>
          <a:noFill/>
          <a:ln/>
        </p:spPr>
        <p:txBody>
          <a:bodyPr wrap="square" lIns="0" tIns="0" rIns="0" bIns="0" rtlCol="0" anchor="t"/>
          <a:lstStyle/>
          <a:p>
            <a:pPr indent="0" marL="0">
              <a:buNone/>
            </a:pPr>
            <a:r>
              <a:rPr lang="en-US" sz="1200" i="1" dirty="0">
                <a:solidFill>
                  <a:srgbClr val="188038"/>
                </a:solidFill>
                <a:latin typeface="Courier New" pitchFamily="34" charset="0"/>
                <a:ea typeface="Courier New" pitchFamily="34" charset="-122"/>
                <a:cs typeface="Courier New" pitchFamily="34" charset="-120"/>
              </a:rPr>
              <a:t># Estudio 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agrupar_por = </a:t>
            </a:r>
            <a:pPr indent="0" marL="0">
              <a:buNone/>
            </a:pPr>
            <a:r>
              <a:rPr lang="en-US" sz="1200" dirty="0">
                <a:solidFill>
                  <a:srgbClr val="A31515"/>
                </a:solidFill>
                <a:latin typeface="Courier New" pitchFamily="34" charset="0"/>
                <a:ea typeface="Courier New" pitchFamily="34" charset="-122"/>
                <a:cs typeface="Courier New" pitchFamily="34" charset="-120"/>
              </a:rPr>
              <a:t>"tecnologia"</a:t>
            </a:r>
            <a:pPr indent="0" marL="0">
              <a:buNone/>
            </a:pPr>
            <a:r>
              <a:rPr lang="en-US" sz="1200" dirty="0">
                <a:solidFill>
                  <a:srgbClr val="202124"/>
                </a:solidFill>
                <a:latin typeface="Courier New" pitchFamily="34" charset="0"/>
                <a:ea typeface="Courier New" pitchFamily="34" charset="-122"/>
                <a:cs typeface="Courier New" pitchFamily="34" charset="-120"/>
              </a:rPr>
              <a:t> </a:t>
            </a:r>
            <a:pPr indent="0" marL="0">
              <a:buNone/>
            </a:pPr>
            <a:r>
              <a:rPr lang="en-US" sz="1200" dirty="0">
                <a:solidFill>
                  <a:srgbClr val="80868B"/>
                </a:solidFill>
                <a:latin typeface="Courier New" pitchFamily="34" charset="0"/>
                <a:ea typeface="Courier New" pitchFamily="34" charset="-122"/>
                <a:cs typeface="Courier New" pitchFamily="34" charset="-120"/>
              </a:rPr>
              <a:t>#@param ["tecnologia", "region"]</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t>
            </a:r>
            <a:endParaRPr lang="en-US" sz="1200" dirty="0"/>
          </a:p>
          <a:p>
            <a:pPr indent="0" marL="0">
              <a:buNone/>
            </a:pPr>
            <a:r>
              <a:rPr lang="en-US" sz="1200" i="1" dirty="0">
                <a:solidFill>
                  <a:srgbClr val="188038"/>
                </a:solidFill>
                <a:latin typeface="Courier New" pitchFamily="34" charset="0"/>
                <a:ea typeface="Courier New" pitchFamily="34" charset="-122"/>
                <a:cs typeface="Courier New" pitchFamily="34" charset="-120"/>
              </a:rPr>
              <a:t># Cada línea es una columna del resumen. A la izquierda el nombre,</a:t>
            </a:r>
            <a:endParaRPr lang="en-US" sz="1200" dirty="0"/>
          </a:p>
          <a:p>
            <a:pPr indent="0" marL="0">
              <a:buNone/>
            </a:pPr>
            <a:r>
              <a:rPr lang="en-US" sz="1200" i="1" dirty="0">
                <a:solidFill>
                  <a:srgbClr val="188038"/>
                </a:solidFill>
                <a:latin typeface="Courier New" pitchFamily="34" charset="0"/>
                <a:ea typeface="Courier New" pitchFamily="34" charset="-122"/>
                <a:cs typeface="Courier New" pitchFamily="34" charset="-120"/>
              </a:rPr>
              <a:t># a la derecha la columna y el cálculo.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resumen = gen.groupby(agrupar_por).agg(</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total_mwh=(</a:t>
            </a:r>
            <a:pPr indent="0" marL="0">
              <a:buNone/>
            </a:pPr>
            <a:r>
              <a:rPr lang="en-US" sz="1200" dirty="0">
                <a:solidFill>
                  <a:srgbClr val="A31515"/>
                </a:solidFill>
                <a:latin typeface="Courier New" pitchFamily="34" charset="0"/>
                <a:ea typeface="Courier New" pitchFamily="34" charset="-122"/>
                <a:cs typeface="Courier New" pitchFamily="34" charset="-120"/>
              </a:rPr>
              <a:t>"mwh"</a:t>
            </a:r>
            <a:pPr indent="0" marL="0">
              <a:buNone/>
            </a:pPr>
            <a:r>
              <a:rPr lang="en-US" sz="1200" dirty="0">
                <a:solidFill>
                  <a:srgbClr val="202124"/>
                </a:solidFill>
                <a:latin typeface="Courier New" pitchFamily="34" charset="0"/>
                <a:ea typeface="Courier New" pitchFamily="34" charset="-122"/>
                <a:cs typeface="Courier New" pitchFamily="34" charset="-120"/>
              </a:rPr>
              <a:t>, </a:t>
            </a:r>
            <a:pPr indent="0" marL="0">
              <a:buNone/>
            </a:pPr>
            <a:r>
              <a:rPr lang="en-US" sz="1200" dirty="0">
                <a:solidFill>
                  <a:srgbClr val="A31515"/>
                </a:solidFill>
                <a:latin typeface="Courier New" pitchFamily="34" charset="0"/>
                <a:ea typeface="Courier New" pitchFamily="34" charset="-122"/>
                <a:cs typeface="Courier New" pitchFamily="34" charset="-120"/>
              </a:rPr>
              <a:t>"sum"</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promedio_hora=(</a:t>
            </a:r>
            <a:pPr indent="0" marL="0">
              <a:buNone/>
            </a:pPr>
            <a:r>
              <a:rPr lang="en-US" sz="1200" dirty="0">
                <a:solidFill>
                  <a:srgbClr val="A31515"/>
                </a:solidFill>
                <a:latin typeface="Courier New" pitchFamily="34" charset="0"/>
                <a:ea typeface="Courier New" pitchFamily="34" charset="-122"/>
                <a:cs typeface="Courier New" pitchFamily="34" charset="-120"/>
              </a:rPr>
              <a:t>"mwh"</a:t>
            </a:r>
            <a:pPr indent="0" marL="0">
              <a:buNone/>
            </a:pPr>
            <a:r>
              <a:rPr lang="en-US" sz="1200" dirty="0">
                <a:solidFill>
                  <a:srgbClr val="202124"/>
                </a:solidFill>
                <a:latin typeface="Courier New" pitchFamily="34" charset="0"/>
                <a:ea typeface="Courier New" pitchFamily="34" charset="-122"/>
                <a:cs typeface="Courier New" pitchFamily="34" charset="-120"/>
              </a:rPr>
              <a:t>, </a:t>
            </a:r>
            <a:pPr indent="0" marL="0">
              <a:buNone/>
            </a:pPr>
            <a:r>
              <a:rPr lang="en-US" sz="1200" dirty="0">
                <a:solidFill>
                  <a:srgbClr val="A31515"/>
                </a:solidFill>
                <a:latin typeface="Courier New" pitchFamily="34" charset="0"/>
                <a:ea typeface="Courier New" pitchFamily="34" charset="-122"/>
                <a:cs typeface="Courier New" pitchFamily="34" charset="-120"/>
              </a:rPr>
              <a:t>"mean"</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centrales=(</a:t>
            </a:r>
            <a:pPr indent="0" marL="0">
              <a:buNone/>
            </a:pPr>
            <a:r>
              <a:rPr lang="en-US" sz="1200" dirty="0">
                <a:solidFill>
                  <a:srgbClr val="A31515"/>
                </a:solidFill>
                <a:latin typeface="Courier New" pitchFamily="34" charset="0"/>
                <a:ea typeface="Courier New" pitchFamily="34" charset="-122"/>
                <a:cs typeface="Courier New" pitchFamily="34" charset="-120"/>
              </a:rPr>
              <a:t>"central"</a:t>
            </a:r>
            <a:pPr indent="0" marL="0">
              <a:buNone/>
            </a:pPr>
            <a:r>
              <a:rPr lang="en-US" sz="1200" dirty="0">
                <a:solidFill>
                  <a:srgbClr val="202124"/>
                </a:solidFill>
                <a:latin typeface="Courier New" pitchFamily="34" charset="0"/>
                <a:ea typeface="Courier New" pitchFamily="34" charset="-122"/>
                <a:cs typeface="Courier New" pitchFamily="34" charset="-120"/>
              </a:rPr>
              <a:t>, </a:t>
            </a:r>
            <a:pPr indent="0" marL="0">
              <a:buNone/>
            </a:pPr>
            <a:r>
              <a:rPr lang="en-US" sz="1200" dirty="0">
                <a:solidFill>
                  <a:srgbClr val="A31515"/>
                </a:solidFill>
                <a:latin typeface="Courier New" pitchFamily="34" charset="0"/>
                <a:ea typeface="Courier New" pitchFamily="34" charset="-122"/>
                <a:cs typeface="Courier New" pitchFamily="34" charset="-120"/>
              </a:rPr>
              <a:t>"nunique"</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resumen.round(1).sort_values(</a:t>
            </a:r>
            <a:pPr indent="0" marL="0">
              <a:buNone/>
            </a:pPr>
            <a:r>
              <a:rPr lang="en-US" sz="1200" dirty="0">
                <a:solidFill>
                  <a:srgbClr val="A31515"/>
                </a:solidFill>
                <a:latin typeface="Courier New" pitchFamily="34" charset="0"/>
                <a:ea typeface="Courier New" pitchFamily="34" charset="-122"/>
                <a:cs typeface="Courier New" pitchFamily="34" charset="-120"/>
              </a:rPr>
              <a:t>"total_mwh"</a:t>
            </a:r>
            <a:pPr indent="0" marL="0">
              <a:buNone/>
            </a:pPr>
            <a:r>
              <a:rPr lang="en-US" sz="1200" dirty="0">
                <a:solidFill>
                  <a:srgbClr val="202124"/>
                </a:solidFill>
                <a:latin typeface="Courier New" pitchFamily="34" charset="0"/>
                <a:ea typeface="Courier New" pitchFamily="34" charset="-122"/>
                <a:cs typeface="Courier New" pitchFamily="34" charset="-120"/>
              </a:rPr>
              <a:t>, ascending=False)</a:t>
            </a:r>
            <a:endParaRPr lang="en-US" sz="1200" dirty="0"/>
          </a:p>
        </p:txBody>
      </p:sp>
      <p:sp>
        <p:nvSpPr>
          <p:cNvPr id="10"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agrupar_por</a:t>
            </a:r>
            <a:endParaRPr lang="en-US" sz="1100" dirty="0"/>
          </a:p>
        </p:txBody>
      </p:sp>
      <p:sp>
        <p:nvSpPr>
          <p:cNvPr id="11"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2"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tecnologia</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1325880" y="3927348"/>
          <a:ext cx="9144000" cy="914400"/>
        </p:xfrm>
        <a:graphic>
          <a:graphicData uri="http://schemas.openxmlformats.org/drawingml/2006/table">
            <a:tbl>
              <a:tblPr/>
              <a:tblGrid>
                <a:gridCol w="731520"/>
                <a:gridCol w="1097280"/>
                <a:gridCol w="1463040"/>
                <a:gridCol w="1097280"/>
              </a:tblGrid>
              <a:tr h="237744">
                <a:tc>
                  <a:txBody>
                    <a:bodyPr/>
                    <a:lstStyle/>
                    <a:p>
                      <a:pPr indent="0" marL="0">
                        <a:buNone/>
                      </a:pP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total_mwh</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promedio_hora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centrales</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hidro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6106351.4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139.0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gas</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5094126.1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193.3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carbon</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4666823.0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265.6</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eolica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1565899.4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44.6</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solar</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671677.2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15.3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diesel</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40709.5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4.6</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16" name="Text 12"/>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3"/>
          <p:cNvSpPr/>
          <p:nvPr/>
        </p:nvSpPr>
        <p:spPr>
          <a:xfrm>
            <a:off x="548640" y="6062472"/>
            <a:ext cx="1810512" cy="566928"/>
          </a:xfrm>
          <a:prstGeom prst="roundRect">
            <a:avLst>
              <a:gd name="adj" fmla="val 11290"/>
            </a:avLst>
          </a:prstGeom>
          <a:solidFill>
            <a:srgbClr val="E8F0FE"/>
          </a:solidFill>
          <a:ln w="28575">
            <a:solidFill>
              <a:srgbClr val="1A73E8"/>
            </a:solidFill>
            <a:prstDash val="solid"/>
          </a:ln>
        </p:spPr>
      </p:sp>
      <p:sp>
        <p:nvSpPr>
          <p:cNvPr id="18" name="Text 14"/>
          <p:cNvSpPr txBox="1"/>
          <p:nvPr/>
        </p:nvSpPr>
        <p:spPr>
          <a:xfrm>
            <a:off x="640080"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gen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175680 × 8</a:t>
            </a:r>
            <a:endParaRPr lang="en-US" sz="1200" dirty="0"/>
          </a:p>
        </p:txBody>
      </p:sp>
      <p:sp>
        <p:nvSpPr>
          <p:cNvPr id="19" name="Shape 15"/>
          <p:cNvSpPr/>
          <p:nvPr/>
        </p:nvSpPr>
        <p:spPr>
          <a:xfrm>
            <a:off x="2496312" y="6062472"/>
            <a:ext cx="1426464" cy="566928"/>
          </a:xfrm>
          <a:prstGeom prst="roundRect">
            <a:avLst>
              <a:gd name="adj" fmla="val 11290"/>
            </a:avLst>
          </a:prstGeom>
          <a:solidFill>
            <a:srgbClr val="FEF3D6"/>
          </a:solidFill>
          <a:ln w="25400">
            <a:solidFill>
              <a:srgbClr val="F9AB00"/>
            </a:solidFill>
            <a:prstDash val="solid"/>
          </a:ln>
        </p:spPr>
      </p:sp>
      <p:sp>
        <p:nvSpPr>
          <p:cNvPr id="20" name="Text 16"/>
          <p:cNvSpPr txBox="1"/>
          <p:nvPr/>
        </p:nvSpPr>
        <p:spPr>
          <a:xfrm>
            <a:off x="2587752"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agrupar_por</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"tecnologia"</a:t>
            </a:r>
            <a:endParaRPr lang="en-US" sz="1200" dirty="0"/>
          </a:p>
        </p:txBody>
      </p:sp>
      <p:sp>
        <p:nvSpPr>
          <p:cNvPr id="21" name="Shape 17"/>
          <p:cNvSpPr/>
          <p:nvPr/>
        </p:nvSpPr>
        <p:spPr>
          <a:xfrm>
            <a:off x="4059936" y="6062472"/>
            <a:ext cx="1330452" cy="566928"/>
          </a:xfrm>
          <a:prstGeom prst="roundRect">
            <a:avLst>
              <a:gd name="adj" fmla="val 11290"/>
            </a:avLst>
          </a:prstGeom>
          <a:solidFill>
            <a:srgbClr val="FEF3D6"/>
          </a:solidFill>
          <a:ln w="25400">
            <a:solidFill>
              <a:srgbClr val="F9AB00"/>
            </a:solidFill>
            <a:prstDash val="solid"/>
          </a:ln>
        </p:spPr>
      </p:sp>
      <p:sp>
        <p:nvSpPr>
          <p:cNvPr id="22" name="Text 18"/>
          <p:cNvSpPr txBox="1"/>
          <p:nvPr/>
        </p:nvSpPr>
        <p:spPr>
          <a:xfrm>
            <a:off x="4151376"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 × 3</a:t>
            </a:r>
            <a:endParaRPr lang="en-US" sz="1200" dirty="0"/>
          </a:p>
        </p:txBody>
      </p:sp>
      <p:sp>
        <p:nvSpPr>
          <p:cNvPr id="23" name="Shape 19"/>
          <p:cNvSpPr/>
          <p:nvPr/>
        </p:nvSpPr>
        <p:spPr>
          <a:xfrm>
            <a:off x="5527548" y="6062472"/>
            <a:ext cx="2002536" cy="566928"/>
          </a:xfrm>
          <a:prstGeom prst="roundRect">
            <a:avLst>
              <a:gd name="adj" fmla="val 11290"/>
            </a:avLst>
          </a:prstGeom>
          <a:solidFill>
            <a:srgbClr val="F1F3F4"/>
          </a:solidFill>
          <a:ln w="12700">
            <a:solidFill>
              <a:srgbClr val="DADCE0"/>
            </a:solidFill>
            <a:prstDash val="solid"/>
          </a:ln>
        </p:spPr>
      </p:sp>
      <p:sp>
        <p:nvSpPr>
          <p:cNvPr id="24" name="Text 20"/>
          <p:cNvSpPr txBox="1"/>
          <p:nvPr/>
        </p:nvSpPr>
        <p:spPr>
          <a:xfrm>
            <a:off x="5618988"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por_tecnologia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 valores</a:t>
            </a:r>
            <a:endParaRPr lang="en-US" sz="1200" dirty="0"/>
          </a:p>
        </p:txBody>
      </p:sp>
      <p:sp>
        <p:nvSpPr>
          <p:cNvPr id="25" name="Shape 21"/>
          <p:cNvSpPr/>
          <p:nvPr/>
        </p:nvSpPr>
        <p:spPr>
          <a:xfrm>
            <a:off x="7667244" y="6062472"/>
            <a:ext cx="1143000" cy="566928"/>
          </a:xfrm>
          <a:prstGeom prst="roundRect">
            <a:avLst>
              <a:gd name="adj" fmla="val 11290"/>
            </a:avLst>
          </a:prstGeom>
          <a:solidFill>
            <a:srgbClr val="F1F3F4"/>
          </a:solidFill>
          <a:ln w="12700">
            <a:solidFill>
              <a:srgbClr val="DADCE0"/>
            </a:solidFill>
            <a:prstDash val="solid"/>
          </a:ln>
        </p:spPr>
      </p:sp>
      <p:sp>
        <p:nvSpPr>
          <p:cNvPr id="26" name="Text 22"/>
          <p:cNvSpPr txBox="1"/>
          <p:nvPr/>
        </p:nvSpPr>
        <p:spPr>
          <a:xfrm>
            <a:off x="7758684"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caida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7.82</a:t>
            </a:r>
            <a:endParaRPr lang="en-US" sz="1200" dirty="0"/>
          </a:p>
        </p:txBody>
      </p:sp>
      <p:sp>
        <p:nvSpPr>
          <p:cNvPr id="27" name="Text 23"/>
          <p:cNvSpPr txBox="1"/>
          <p:nvPr/>
        </p:nvSpPr>
        <p:spPr>
          <a:xfrm>
            <a:off x="8947404"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17 más</a:t>
            </a:r>
            <a:endParaRPr lang="en-US" sz="1200" dirty="0"/>
          </a:p>
        </p:txBody>
      </p:sp>
      <p:sp>
        <p:nvSpPr>
          <p:cNvPr id="28" name="Text 24"/>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Un resumen con el total, el promedio y el conteo de centrales de cada grupo.</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4"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4</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resume con varios cálculos</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region en la lista y se vuelve a correr la celda.</a:t>
            </a:r>
            <a:endParaRPr lang="en-US" sz="1400" dirty="0"/>
          </a:p>
        </p:txBody>
      </p:sp>
      <p:sp>
        <p:nvSpPr>
          <p:cNvPr id="7" name="Shape 4"/>
          <p:cNvSpPr/>
          <p:nvPr/>
        </p:nvSpPr>
        <p:spPr>
          <a:xfrm>
            <a:off x="548640" y="1481328"/>
            <a:ext cx="11091672" cy="2537460"/>
          </a:xfrm>
          <a:prstGeom prst="roundRect">
            <a:avLst>
              <a:gd name="adj" fmla="val 2162"/>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235458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3</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agrupar_por = </a:t>
            </a:r>
            <a:pPr indent="0" marL="0">
              <a:buNone/>
            </a:pPr>
            <a:r>
              <a:rPr lang="en-US" sz="1300" dirty="0">
                <a:solidFill>
                  <a:srgbClr val="A31515"/>
                </a:solidFill>
                <a:latin typeface="Courier New" pitchFamily="34" charset="0"/>
                <a:ea typeface="Courier New" pitchFamily="34" charset="-122"/>
                <a:cs typeface="Courier New" pitchFamily="34" charset="-120"/>
              </a:rPr>
              <a:t>"region"</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["tecnologia", "region"]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Cada línea es una columna del resumen. A la izquierda el nombre,</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a la derecha la columna y el cálculo.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resumen = gen.groupby(agrupar_por).agg(</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total_mwh=(</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"sum"</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promedio_hora=(</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"mean"</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centrales=(</a:t>
            </a:r>
            <a:pPr indent="0" marL="0">
              <a:buNone/>
            </a:pPr>
            <a:r>
              <a:rPr lang="en-US" sz="1300" dirty="0">
                <a:solidFill>
                  <a:srgbClr val="A31515"/>
                </a:solidFill>
                <a:latin typeface="Courier New" pitchFamily="34" charset="0"/>
                <a:ea typeface="Courier New" pitchFamily="34" charset="-122"/>
                <a:cs typeface="Courier New" pitchFamily="34" charset="-120"/>
              </a:rPr>
              <a:t>"central"</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"nunique"</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resumen.round(1).sort_values(</a:t>
            </a:r>
            <a:pPr indent="0" marL="0">
              <a:buNone/>
            </a:pPr>
            <a:r>
              <a:rPr lang="en-US" sz="1300" dirty="0">
                <a:solidFill>
                  <a:srgbClr val="A31515"/>
                </a:solidFill>
                <a:latin typeface="Courier New" pitchFamily="34" charset="0"/>
                <a:ea typeface="Courier New" pitchFamily="34" charset="-122"/>
                <a:cs typeface="Courier New" pitchFamily="34" charset="-120"/>
              </a:rPr>
              <a:t>"total_mwh"</a:t>
            </a:r>
            <a:pPr indent="0" marL="0">
              <a:buNone/>
            </a:pPr>
            <a:r>
              <a:rPr lang="en-US" sz="1300" dirty="0">
                <a:solidFill>
                  <a:srgbClr val="202124"/>
                </a:solidFill>
                <a:latin typeface="Courier New" pitchFamily="34" charset="0"/>
                <a:ea typeface="Courier New" pitchFamily="34" charset="-122"/>
                <a:cs typeface="Courier New" pitchFamily="34" charset="-120"/>
              </a:rPr>
              <a:t>, ascending=False)</a:t>
            </a:r>
            <a:endParaRPr lang="en-US" sz="13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agrupar_por</a:t>
            </a:r>
            <a:endParaRPr lang="en-US" sz="1100" dirty="0"/>
          </a:p>
        </p:txBody>
      </p:sp>
      <p:sp>
        <p:nvSpPr>
          <p:cNvPr id="12" name="Shape 9"/>
          <p:cNvSpPr/>
          <p:nvPr/>
        </p:nvSpPr>
        <p:spPr>
          <a:xfrm>
            <a:off x="8823960" y="1874520"/>
            <a:ext cx="2651760" cy="347472"/>
          </a:xfrm>
          <a:prstGeom prst="rect">
            <a:avLst/>
          </a:prstGeom>
          <a:solidFill>
            <a:srgbClr val="FFFFFF"/>
          </a:solidFill>
          <a:ln w="25400">
            <a:solidFill>
              <a:srgbClr val="1A73E8"/>
            </a:solidFill>
            <a:prstDash val="solid"/>
          </a:ln>
        </p:spPr>
      </p:sp>
      <p:sp>
        <p:nvSpPr>
          <p:cNvPr id="13"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region</a:t>
            </a:r>
            <a:endParaRPr lang="en-US" sz="1200" dirty="0"/>
          </a:p>
        </p:txBody>
      </p:sp>
      <p:sp>
        <p:nvSpPr>
          <p:cNvPr id="14"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5" name="Text 12"/>
          <p:cNvSpPr txBox="1"/>
          <p:nvPr/>
        </p:nvSpPr>
        <p:spPr>
          <a:xfrm>
            <a:off x="1325880" y="405536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6" name="Text 13"/>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4"/>
          <p:cNvSpPr/>
          <p:nvPr/>
        </p:nvSpPr>
        <p:spPr>
          <a:xfrm>
            <a:off x="548640" y="6062472"/>
            <a:ext cx="1330452"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640080"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6 × 3</a:t>
            </a:r>
            <a:endParaRPr lang="en-US" sz="1200" dirty="0"/>
          </a:p>
        </p:txBody>
      </p:sp>
      <p:sp>
        <p:nvSpPr>
          <p:cNvPr id="19" name="Shape 16"/>
          <p:cNvSpPr/>
          <p:nvPr/>
        </p:nvSpPr>
        <p:spPr>
          <a:xfrm>
            <a:off x="2016252" y="6062472"/>
            <a:ext cx="1426464"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2107692"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agrupar_por</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"tecnologia"</a:t>
            </a:r>
            <a:endParaRPr lang="en-US" sz="1200" dirty="0"/>
          </a:p>
        </p:txBody>
      </p:sp>
      <p:sp>
        <p:nvSpPr>
          <p:cNvPr id="21" name="Shape 18"/>
          <p:cNvSpPr/>
          <p:nvPr/>
        </p:nvSpPr>
        <p:spPr>
          <a:xfrm>
            <a:off x="3579876" y="6062472"/>
            <a:ext cx="2002536"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3671316"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por_tecnologia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 valores</a:t>
            </a:r>
            <a:endParaRPr lang="en-US" sz="1200" dirty="0"/>
          </a:p>
        </p:txBody>
      </p:sp>
      <p:sp>
        <p:nvSpPr>
          <p:cNvPr id="23" name="Shape 20"/>
          <p:cNvSpPr/>
          <p:nvPr/>
        </p:nvSpPr>
        <p:spPr>
          <a:xfrm>
            <a:off x="5719572" y="6062472"/>
            <a:ext cx="1143000"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581101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caida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7.82</a:t>
            </a:r>
            <a:endParaRPr lang="en-US" sz="1200" dirty="0"/>
          </a:p>
        </p:txBody>
      </p:sp>
      <p:sp>
        <p:nvSpPr>
          <p:cNvPr id="25" name="Shape 22"/>
          <p:cNvSpPr/>
          <p:nvPr/>
        </p:nvSpPr>
        <p:spPr>
          <a:xfrm>
            <a:off x="6999732" y="6062472"/>
            <a:ext cx="2002536" cy="566928"/>
          </a:xfrm>
          <a:prstGeom prst="roundRect">
            <a:avLst>
              <a:gd name="adj" fmla="val 11290"/>
            </a:avLst>
          </a:prstGeom>
          <a:solidFill>
            <a:srgbClr val="F1F3F4"/>
          </a:solidFill>
          <a:ln w="12700">
            <a:solidFill>
              <a:srgbClr val="DADCE0"/>
            </a:solidFill>
            <a:prstDash val="solid"/>
          </a:ln>
        </p:spPr>
      </p:sp>
      <p:sp>
        <p:nvSpPr>
          <p:cNvPr id="26" name="Text 23"/>
          <p:cNvSpPr txBox="1"/>
          <p:nvPr/>
        </p:nvSpPr>
        <p:spPr>
          <a:xfrm>
            <a:off x="7091172"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promedio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2 valores</a:t>
            </a:r>
            <a:endParaRPr lang="en-US" sz="1200" dirty="0"/>
          </a:p>
        </p:txBody>
      </p:sp>
      <p:sp>
        <p:nvSpPr>
          <p:cNvPr id="27" name="Shape 24"/>
          <p:cNvSpPr/>
          <p:nvPr/>
        </p:nvSpPr>
        <p:spPr>
          <a:xfrm>
            <a:off x="9139428" y="6062472"/>
            <a:ext cx="1330452" cy="566928"/>
          </a:xfrm>
          <a:prstGeom prst="roundRect">
            <a:avLst>
              <a:gd name="adj" fmla="val 11290"/>
            </a:avLst>
          </a:prstGeom>
          <a:solidFill>
            <a:srgbClr val="F1F3F4"/>
          </a:solidFill>
          <a:ln w="12700">
            <a:solidFill>
              <a:srgbClr val="DADCE0"/>
            </a:solidFill>
            <a:prstDash val="solid"/>
          </a:ln>
        </p:spPr>
      </p:sp>
      <p:sp>
        <p:nvSpPr>
          <p:cNvPr id="28" name="Text 25"/>
          <p:cNvSpPr txBox="1"/>
          <p:nvPr/>
        </p:nvSpPr>
        <p:spPr>
          <a:xfrm>
            <a:off x="9230868"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correlacion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0.12</a:t>
            </a:r>
            <a:endParaRPr lang="en-US" sz="1200" dirty="0"/>
          </a:p>
        </p:txBody>
      </p:sp>
      <p:sp>
        <p:nvSpPr>
          <p:cNvPr id="29" name="Text 26"/>
          <p:cNvSpPr txBox="1"/>
          <p:nvPr/>
        </p:nvSpPr>
        <p:spPr>
          <a:xfrm>
            <a:off x="10607040"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16 más</a:t>
            </a:r>
            <a:endParaRPr lang="en-US" sz="1200" dirty="0"/>
          </a:p>
        </p:txBody>
      </p:sp>
      <p:sp>
        <p:nvSpPr>
          <p:cNvPr id="30" name="Text 27"/>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resume con varios cálculos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region en la lista y se vuelve a correr la celda.</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1325880" y="1828800"/>
          <a:ext cx="9144000" cy="914400"/>
        </p:xfrm>
        <a:graphic>
          <a:graphicData uri="http://schemas.openxmlformats.org/drawingml/2006/table">
            <a:tbl>
              <a:tblPr/>
              <a:tblGrid>
                <a:gridCol w="1371600"/>
                <a:gridCol w="1097280"/>
                <a:gridCol w="1463040"/>
                <a:gridCol w="1097280"/>
              </a:tblGrid>
              <a:tr h="237744">
                <a:tc>
                  <a:txBody>
                    <a:bodyPr/>
                    <a:lstStyle/>
                    <a:p>
                      <a:pPr indent="0" marL="0">
                        <a:buNone/>
                      </a:pP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total_mwh</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promedio_hora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centrales</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Biobío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8539297.1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194.4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Antofagasta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2447591.2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69.7</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Valparaíso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2416309.5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137.5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Los Lagos</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1954421.7</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111.2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Coquimbo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1332262.6</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50.6</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Metropolitana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1263708.1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71.9</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Atacama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191996.3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10.9</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9" name="Text 5"/>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0" name="Shape 6"/>
          <p:cNvSpPr/>
          <p:nvPr/>
        </p:nvSpPr>
        <p:spPr>
          <a:xfrm>
            <a:off x="548640" y="6062472"/>
            <a:ext cx="1810512" cy="566928"/>
          </a:xfrm>
          <a:prstGeom prst="roundRect">
            <a:avLst>
              <a:gd name="adj" fmla="val 11290"/>
            </a:avLst>
          </a:prstGeom>
          <a:solidFill>
            <a:srgbClr val="E8F0FE"/>
          </a:solidFill>
          <a:ln w="28575">
            <a:solidFill>
              <a:srgbClr val="1A73E8"/>
            </a:solidFill>
            <a:prstDash val="solid"/>
          </a:ln>
        </p:spPr>
      </p:sp>
      <p:sp>
        <p:nvSpPr>
          <p:cNvPr id="11" name="Text 7"/>
          <p:cNvSpPr txBox="1"/>
          <p:nvPr/>
        </p:nvSpPr>
        <p:spPr>
          <a:xfrm>
            <a:off x="640080"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gen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175680 × 8</a:t>
            </a:r>
            <a:endParaRPr lang="en-US" sz="1200" dirty="0"/>
          </a:p>
        </p:txBody>
      </p:sp>
      <p:sp>
        <p:nvSpPr>
          <p:cNvPr id="12" name="Shape 8"/>
          <p:cNvSpPr/>
          <p:nvPr/>
        </p:nvSpPr>
        <p:spPr>
          <a:xfrm>
            <a:off x="2496312" y="6062472"/>
            <a:ext cx="1330452" cy="566928"/>
          </a:xfrm>
          <a:prstGeom prst="roundRect">
            <a:avLst>
              <a:gd name="adj" fmla="val 11290"/>
            </a:avLst>
          </a:prstGeom>
          <a:solidFill>
            <a:srgbClr val="FEF3D6"/>
          </a:solidFill>
          <a:ln w="25400">
            <a:solidFill>
              <a:srgbClr val="F9AB00"/>
            </a:solidFill>
            <a:prstDash val="solid"/>
          </a:ln>
        </p:spPr>
      </p:sp>
      <p:sp>
        <p:nvSpPr>
          <p:cNvPr id="13" name="Text 9"/>
          <p:cNvSpPr txBox="1"/>
          <p:nvPr/>
        </p:nvSpPr>
        <p:spPr>
          <a:xfrm>
            <a:off x="2587752"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agrupar_por</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"region"</a:t>
            </a:r>
            <a:endParaRPr lang="en-US" sz="1200" dirty="0"/>
          </a:p>
        </p:txBody>
      </p:sp>
      <p:sp>
        <p:nvSpPr>
          <p:cNvPr id="14" name="Shape 10"/>
          <p:cNvSpPr/>
          <p:nvPr/>
        </p:nvSpPr>
        <p:spPr>
          <a:xfrm>
            <a:off x="3963924" y="6062472"/>
            <a:ext cx="1330452" cy="566928"/>
          </a:xfrm>
          <a:prstGeom prst="roundRect">
            <a:avLst>
              <a:gd name="adj" fmla="val 11290"/>
            </a:avLst>
          </a:prstGeom>
          <a:solidFill>
            <a:srgbClr val="FEF3D6"/>
          </a:solidFill>
          <a:ln w="25400">
            <a:solidFill>
              <a:srgbClr val="F9AB00"/>
            </a:solidFill>
            <a:prstDash val="solid"/>
          </a:ln>
        </p:spPr>
      </p:sp>
      <p:sp>
        <p:nvSpPr>
          <p:cNvPr id="15" name="Text 11"/>
          <p:cNvSpPr txBox="1"/>
          <p:nvPr/>
        </p:nvSpPr>
        <p:spPr>
          <a:xfrm>
            <a:off x="4055364"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 × 3</a:t>
            </a:r>
            <a:endParaRPr lang="en-US" sz="1200" dirty="0"/>
          </a:p>
        </p:txBody>
      </p:sp>
      <p:sp>
        <p:nvSpPr>
          <p:cNvPr id="16" name="Shape 12"/>
          <p:cNvSpPr/>
          <p:nvPr/>
        </p:nvSpPr>
        <p:spPr>
          <a:xfrm>
            <a:off x="5431536" y="6062472"/>
            <a:ext cx="2002536" cy="566928"/>
          </a:xfrm>
          <a:prstGeom prst="roundRect">
            <a:avLst>
              <a:gd name="adj" fmla="val 11290"/>
            </a:avLst>
          </a:prstGeom>
          <a:solidFill>
            <a:srgbClr val="F1F3F4"/>
          </a:solidFill>
          <a:ln w="12700">
            <a:solidFill>
              <a:srgbClr val="DADCE0"/>
            </a:solidFill>
            <a:prstDash val="solid"/>
          </a:ln>
        </p:spPr>
      </p:sp>
      <p:sp>
        <p:nvSpPr>
          <p:cNvPr id="17" name="Text 13"/>
          <p:cNvSpPr txBox="1"/>
          <p:nvPr/>
        </p:nvSpPr>
        <p:spPr>
          <a:xfrm>
            <a:off x="5522976"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por_tecnologia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 valores</a:t>
            </a:r>
            <a:endParaRPr lang="en-US" sz="1200" dirty="0"/>
          </a:p>
        </p:txBody>
      </p:sp>
      <p:sp>
        <p:nvSpPr>
          <p:cNvPr id="18" name="Shape 14"/>
          <p:cNvSpPr/>
          <p:nvPr/>
        </p:nvSpPr>
        <p:spPr>
          <a:xfrm>
            <a:off x="7571232" y="6062472"/>
            <a:ext cx="1143000" cy="566928"/>
          </a:xfrm>
          <a:prstGeom prst="roundRect">
            <a:avLst>
              <a:gd name="adj" fmla="val 11290"/>
            </a:avLst>
          </a:prstGeom>
          <a:solidFill>
            <a:srgbClr val="F1F3F4"/>
          </a:solidFill>
          <a:ln w="12700">
            <a:solidFill>
              <a:srgbClr val="DADCE0"/>
            </a:solidFill>
            <a:prstDash val="solid"/>
          </a:ln>
        </p:spPr>
      </p:sp>
      <p:sp>
        <p:nvSpPr>
          <p:cNvPr id="19" name="Text 15"/>
          <p:cNvSpPr txBox="1"/>
          <p:nvPr/>
        </p:nvSpPr>
        <p:spPr>
          <a:xfrm>
            <a:off x="76626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caida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7.82</a:t>
            </a:r>
            <a:endParaRPr lang="en-US" sz="1200" dirty="0"/>
          </a:p>
        </p:txBody>
      </p:sp>
      <p:sp>
        <p:nvSpPr>
          <p:cNvPr id="20" name="Text 16"/>
          <p:cNvSpPr txBox="1"/>
          <p:nvPr/>
        </p:nvSpPr>
        <p:spPr>
          <a:xfrm>
            <a:off x="8851392"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17 más</a:t>
            </a:r>
            <a:endParaRPr lang="en-US" sz="1200" dirty="0"/>
          </a:p>
        </p:txBody>
      </p:sp>
      <p:sp>
        <p:nvSpPr>
          <p:cNvPr id="21" name="Text 17"/>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El mismo resumen por región. Biobío tiene 5 centrales y la mayor generación.</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resume con varios cálculos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Un resumen puede traer varios cálculos por grupo.</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Conviene que uno sea el conteo, para saber cuántos datos hay detrás de cada cifra.</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810512"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gen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175680 × 8</a:t>
            </a:r>
            <a:endParaRPr lang="en-US" sz="1200" dirty="0"/>
          </a:p>
        </p:txBody>
      </p:sp>
      <p:sp>
        <p:nvSpPr>
          <p:cNvPr id="13" name="Shape 10"/>
          <p:cNvSpPr/>
          <p:nvPr/>
        </p:nvSpPr>
        <p:spPr>
          <a:xfrm>
            <a:off x="2496312" y="6062472"/>
            <a:ext cx="1330452" cy="566928"/>
          </a:xfrm>
          <a:prstGeom prst="roundRect">
            <a:avLst>
              <a:gd name="adj" fmla="val 11290"/>
            </a:avLst>
          </a:prstGeom>
          <a:solidFill>
            <a:srgbClr val="FEF3D6"/>
          </a:solidFill>
          <a:ln w="25400">
            <a:solidFill>
              <a:srgbClr val="F9AB00"/>
            </a:solidFill>
            <a:prstDash val="solid"/>
          </a:ln>
        </p:spPr>
      </p:sp>
      <p:sp>
        <p:nvSpPr>
          <p:cNvPr id="14" name="Text 11"/>
          <p:cNvSpPr txBox="1"/>
          <p:nvPr/>
        </p:nvSpPr>
        <p:spPr>
          <a:xfrm>
            <a:off x="2587752"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agrupar_por</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"region"</a:t>
            </a:r>
            <a:endParaRPr lang="en-US" sz="1200" dirty="0"/>
          </a:p>
        </p:txBody>
      </p:sp>
      <p:sp>
        <p:nvSpPr>
          <p:cNvPr id="15" name="Shape 12"/>
          <p:cNvSpPr/>
          <p:nvPr/>
        </p:nvSpPr>
        <p:spPr>
          <a:xfrm>
            <a:off x="3963924" y="6062472"/>
            <a:ext cx="1330452" cy="566928"/>
          </a:xfrm>
          <a:prstGeom prst="roundRect">
            <a:avLst>
              <a:gd name="adj" fmla="val 11290"/>
            </a:avLst>
          </a:prstGeom>
          <a:solidFill>
            <a:srgbClr val="FEF3D6"/>
          </a:solidFill>
          <a:ln w="25400">
            <a:solidFill>
              <a:srgbClr val="F9AB00"/>
            </a:solidFill>
            <a:prstDash val="solid"/>
          </a:ln>
        </p:spPr>
      </p:sp>
      <p:sp>
        <p:nvSpPr>
          <p:cNvPr id="16" name="Text 13"/>
          <p:cNvSpPr txBox="1"/>
          <p:nvPr/>
        </p:nvSpPr>
        <p:spPr>
          <a:xfrm>
            <a:off x="4055364"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 × 3</a:t>
            </a:r>
            <a:endParaRPr lang="en-US" sz="1200" dirty="0"/>
          </a:p>
        </p:txBody>
      </p:sp>
      <p:sp>
        <p:nvSpPr>
          <p:cNvPr id="17" name="Shape 14"/>
          <p:cNvSpPr/>
          <p:nvPr/>
        </p:nvSpPr>
        <p:spPr>
          <a:xfrm>
            <a:off x="5431536" y="6062472"/>
            <a:ext cx="2002536"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5522976"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por_tecnologia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 valores</a:t>
            </a:r>
            <a:endParaRPr lang="en-US" sz="1200" dirty="0"/>
          </a:p>
        </p:txBody>
      </p:sp>
      <p:sp>
        <p:nvSpPr>
          <p:cNvPr id="19" name="Shape 16"/>
          <p:cNvSpPr/>
          <p:nvPr/>
        </p:nvSpPr>
        <p:spPr>
          <a:xfrm>
            <a:off x="7571232" y="6062472"/>
            <a:ext cx="114300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76626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caida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7.82</a:t>
            </a:r>
            <a:endParaRPr lang="en-US" sz="1200" dirty="0"/>
          </a:p>
        </p:txBody>
      </p:sp>
      <p:sp>
        <p:nvSpPr>
          <p:cNvPr id="21" name="Text 18"/>
          <p:cNvSpPr txBox="1"/>
          <p:nvPr/>
        </p:nvSpPr>
        <p:spPr>
          <a:xfrm>
            <a:off x="8851392"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17 más</a:t>
            </a:r>
            <a:endParaRPr lang="en-US" sz="12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tan seguido genera cada tecnología?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qué mide el factor de planta.</a:t>
            </a:r>
            <a:endParaRPr lang="en-US" sz="1400" dirty="0"/>
          </a:p>
        </p:txBody>
      </p:sp>
      <p:pic>
        <p:nvPicPr>
          <p:cNvPr id="6" name="Image 0" descr="../../repo/modulos/../../diag/lab02_estudio4_factor.png">    </p:cNvPr>
          <p:cNvPicPr>
            <a:picLocks noChangeAspect="1"/>
          </p:cNvPicPr>
          <p:nvPr/>
        </p:nvPicPr>
        <p:blipFill>
          <a:blip r:embed="rId1"/>
          <a:stretch>
            <a:fillRect/>
          </a:stretch>
        </p:blipFill>
        <p:spPr>
          <a:xfrm>
            <a:off x="548640" y="1463040"/>
            <a:ext cx="11091672" cy="4460087"/>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4"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4</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tan seguido genera cada tecnología?</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El factor de planta es lo que generó una central dividido por lo máximo que podía generar.</a:t>
            </a:r>
            <a:endParaRPr lang="en-US" sz="1400" dirty="0"/>
          </a:p>
        </p:txBody>
      </p:sp>
      <p:sp>
        <p:nvSpPr>
          <p:cNvPr id="7" name="Shape 4"/>
          <p:cNvSpPr/>
          <p:nvPr/>
        </p:nvSpPr>
        <p:spPr>
          <a:xfrm>
            <a:off x="548640" y="1481328"/>
            <a:ext cx="11091672" cy="1508760"/>
          </a:xfrm>
          <a:prstGeom prst="roundRect">
            <a:avLst>
              <a:gd name="adj" fmla="val 3636"/>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10085832" cy="132588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4</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Una columna nueva calculada para las 175.680 filas de una vez.</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gen[</a:t>
            </a:r>
            <a:pPr indent="0" marL="0">
              <a:buNone/>
            </a:pPr>
            <a:r>
              <a:rPr lang="en-US" sz="1300" dirty="0">
                <a:solidFill>
                  <a:srgbClr val="A31515"/>
                </a:solidFill>
                <a:latin typeface="Courier New" pitchFamily="34" charset="0"/>
                <a:ea typeface="Courier New" pitchFamily="34" charset="-122"/>
                <a:cs typeface="Courier New" pitchFamily="34" charset="-120"/>
              </a:rPr>
              <a:t>"factor_planta"</a:t>
            </a:r>
            <a:pPr indent="0" marL="0">
              <a:buNone/>
            </a:pPr>
            <a:r>
              <a:rPr lang="en-US" sz="1300" dirty="0">
                <a:solidFill>
                  <a:srgbClr val="202124"/>
                </a:solidFill>
                <a:latin typeface="Courier New" pitchFamily="34" charset="0"/>
                <a:ea typeface="Courier New" pitchFamily="34" charset="-122"/>
                <a:cs typeface="Courier New" pitchFamily="34" charset="-120"/>
              </a:rPr>
              <a:t>] = gen[</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 / gen[</a:t>
            </a:r>
            <a:pPr indent="0" marL="0">
              <a:buNone/>
            </a:pPr>
            <a:r>
              <a:rPr lang="en-US" sz="1300" dirty="0">
                <a:solidFill>
                  <a:srgbClr val="A31515"/>
                </a:solidFill>
                <a:latin typeface="Courier New" pitchFamily="34" charset="0"/>
                <a:ea typeface="Courier New" pitchFamily="34" charset="-122"/>
                <a:cs typeface="Courier New" pitchFamily="34" charset="-120"/>
              </a:rPr>
              <a:t>"potencia_mw"</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factor = gen.groupby(</a:t>
            </a:r>
            <a:pPr indent="0" marL="0">
              <a:buNone/>
            </a:pPr>
            <a:r>
              <a:rPr lang="en-US" sz="1300" dirty="0">
                <a:solidFill>
                  <a:srgbClr val="A31515"/>
                </a:solidFill>
                <a:latin typeface="Courier New" pitchFamily="34" charset="0"/>
                <a:ea typeface="Courier New" pitchFamily="34" charset="-122"/>
                <a:cs typeface="Courier New" pitchFamily="34" charset="-120"/>
              </a:rPr>
              <a:t>"tecnologia"</a:t>
            </a:r>
            <a:pPr indent="0" marL="0">
              <a:buNone/>
            </a:pPr>
            <a:r>
              <a:rPr lang="en-US" sz="1300" dirty="0">
                <a:solidFill>
                  <a:srgbClr val="202124"/>
                </a:solidFill>
                <a:latin typeface="Courier New" pitchFamily="34" charset="0"/>
                <a:ea typeface="Courier New" pitchFamily="34" charset="-122"/>
                <a:cs typeface="Courier New" pitchFamily="34" charset="-120"/>
              </a:rPr>
              <a:t>)[</a:t>
            </a:r>
            <a:pPr indent="0" marL="0">
              <a:buNone/>
            </a:pPr>
            <a:r>
              <a:rPr lang="en-US" sz="1300" dirty="0">
                <a:solidFill>
                  <a:srgbClr val="A31515"/>
                </a:solidFill>
                <a:latin typeface="Courier New" pitchFamily="34" charset="0"/>
                <a:ea typeface="Courier New" pitchFamily="34" charset="-122"/>
                <a:cs typeface="Courier New" pitchFamily="34" charset="-120"/>
              </a:rPr>
              <a:t>"factor_planta"</a:t>
            </a:r>
            <a:pPr indent="0" marL="0">
              <a:buNone/>
            </a:pPr>
            <a:r>
              <a:rPr lang="en-US" sz="1300" dirty="0">
                <a:solidFill>
                  <a:srgbClr val="202124"/>
                </a:solidFill>
                <a:latin typeface="Courier New" pitchFamily="34" charset="0"/>
                <a:ea typeface="Courier New" pitchFamily="34" charset="-122"/>
                <a:cs typeface="Courier New" pitchFamily="34" charset="-120"/>
              </a:rPr>
              <a:t>].mean().round(3)</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factor.sort_values(ascending=False)</a:t>
            </a:r>
            <a:endParaRPr lang="en-US" sz="1300" dirty="0"/>
          </a:p>
        </p:txBody>
      </p:sp>
      <p:sp>
        <p:nvSpPr>
          <p:cNvPr id="11" name="Text 8"/>
          <p:cNvSpPr txBox="1"/>
          <p:nvPr/>
        </p:nvSpPr>
        <p:spPr>
          <a:xfrm>
            <a:off x="1325880" y="302666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10"/>
          <p:cNvSpPr/>
          <p:nvPr/>
        </p:nvSpPr>
        <p:spPr>
          <a:xfrm>
            <a:off x="548640" y="6062472"/>
            <a:ext cx="1330452" cy="566928"/>
          </a:xfrm>
          <a:prstGeom prst="roundRect">
            <a:avLst>
              <a:gd name="adj" fmla="val 11290"/>
            </a:avLst>
          </a:prstGeom>
          <a:solidFill>
            <a:srgbClr val="F1F3F4"/>
          </a:solidFill>
          <a:ln w="12700">
            <a:solidFill>
              <a:srgbClr val="DADCE0"/>
            </a:solidFill>
            <a:prstDash val="solid"/>
          </a:ln>
        </p:spPr>
      </p:sp>
      <p:sp>
        <p:nvSpPr>
          <p:cNvPr id="14" name="Text 11"/>
          <p:cNvSpPr txBox="1"/>
          <p:nvPr/>
        </p:nvSpPr>
        <p:spPr>
          <a:xfrm>
            <a:off x="640080"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 × 3</a:t>
            </a:r>
            <a:endParaRPr lang="en-US" sz="1200" dirty="0"/>
          </a:p>
        </p:txBody>
      </p:sp>
      <p:sp>
        <p:nvSpPr>
          <p:cNvPr id="15" name="Shape 12"/>
          <p:cNvSpPr/>
          <p:nvPr/>
        </p:nvSpPr>
        <p:spPr>
          <a:xfrm>
            <a:off x="2016252" y="6062472"/>
            <a:ext cx="1330452"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2107692"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agrupar_por</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"region"</a:t>
            </a:r>
            <a:endParaRPr lang="en-US" sz="1200" dirty="0"/>
          </a:p>
        </p:txBody>
      </p:sp>
      <p:sp>
        <p:nvSpPr>
          <p:cNvPr id="17" name="Shape 14"/>
          <p:cNvSpPr/>
          <p:nvPr/>
        </p:nvSpPr>
        <p:spPr>
          <a:xfrm>
            <a:off x="3483864" y="6062472"/>
            <a:ext cx="2002536"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3575304"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por_tecnologia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 valores</a:t>
            </a:r>
            <a:endParaRPr lang="en-US" sz="1200" dirty="0"/>
          </a:p>
        </p:txBody>
      </p:sp>
      <p:sp>
        <p:nvSpPr>
          <p:cNvPr id="19" name="Shape 16"/>
          <p:cNvSpPr/>
          <p:nvPr/>
        </p:nvSpPr>
        <p:spPr>
          <a:xfrm>
            <a:off x="5623560" y="6062472"/>
            <a:ext cx="114300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571500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caida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7.82</a:t>
            </a:r>
            <a:endParaRPr lang="en-US" sz="1200" dirty="0"/>
          </a:p>
        </p:txBody>
      </p:sp>
      <p:sp>
        <p:nvSpPr>
          <p:cNvPr id="21" name="Shape 18"/>
          <p:cNvSpPr/>
          <p:nvPr/>
        </p:nvSpPr>
        <p:spPr>
          <a:xfrm>
            <a:off x="6903720" y="6062472"/>
            <a:ext cx="2002536"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6995160"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promedio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2 valores</a:t>
            </a:r>
            <a:endParaRPr lang="en-US" sz="1200" dirty="0"/>
          </a:p>
        </p:txBody>
      </p:sp>
      <p:sp>
        <p:nvSpPr>
          <p:cNvPr id="23" name="Shape 20"/>
          <p:cNvSpPr/>
          <p:nvPr/>
        </p:nvSpPr>
        <p:spPr>
          <a:xfrm>
            <a:off x="9043416" y="6062472"/>
            <a:ext cx="1330452"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9134856"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correlacion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0.12</a:t>
            </a:r>
            <a:endParaRPr lang="en-US" sz="1200" dirty="0"/>
          </a:p>
        </p:txBody>
      </p:sp>
      <p:sp>
        <p:nvSpPr>
          <p:cNvPr id="25" name="Text 22"/>
          <p:cNvSpPr txBox="1"/>
          <p:nvPr/>
        </p:nvSpPr>
        <p:spPr>
          <a:xfrm>
            <a:off x="10511028"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16 más</a:t>
            </a:r>
            <a:endParaRPr lang="en-US" sz="12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tan seguido genera cada tecnología?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gen[</a:t>
            </a:r>
            <a:pPr indent="0" marL="0">
              <a:buNone/>
            </a:pPr>
            <a:r>
              <a:rPr lang="en-US" sz="1600" dirty="0">
                <a:solidFill>
                  <a:srgbClr val="A31515"/>
                </a:solidFill>
                <a:latin typeface="Courier New" pitchFamily="34" charset="0"/>
                <a:ea typeface="Courier New" pitchFamily="34" charset="-122"/>
                <a:cs typeface="Courier New" pitchFamily="34" charset="-120"/>
              </a:rPr>
              <a:t>"factor_planta"</a:t>
            </a:r>
            <a:pPr indent="0" marL="0">
              <a:buNone/>
            </a:pPr>
            <a:r>
              <a:rPr lang="en-US" sz="1600" dirty="0">
                <a:solidFill>
                  <a:srgbClr val="202124"/>
                </a:solidFill>
                <a:latin typeface="Courier New" pitchFamily="34" charset="0"/>
                <a:ea typeface="Courier New" pitchFamily="34" charset="-122"/>
                <a:cs typeface="Courier New" pitchFamily="34" charset="-120"/>
              </a:rPr>
              <a:t>] = gen[</a:t>
            </a:r>
            <a:pPr indent="0" marL="0">
              <a:buNone/>
            </a:pPr>
            <a:r>
              <a:rPr lang="en-US" sz="1600" dirty="0">
                <a:solidFill>
                  <a:srgbClr val="A31515"/>
                </a:solidFill>
                <a:latin typeface="Courier New" pitchFamily="34" charset="0"/>
                <a:ea typeface="Courier New" pitchFamily="34" charset="-122"/>
                <a:cs typeface="Courier New" pitchFamily="34" charset="-120"/>
              </a:rPr>
              <a:t>"mwh"</a:t>
            </a:r>
            <a:pPr indent="0" marL="0">
              <a:buNone/>
            </a:pPr>
            <a:r>
              <a:rPr lang="en-US" sz="1600" dirty="0">
                <a:solidFill>
                  <a:srgbClr val="202124"/>
                </a:solidFill>
                <a:latin typeface="Courier New" pitchFamily="34" charset="0"/>
                <a:ea typeface="Courier New" pitchFamily="34" charset="-122"/>
                <a:cs typeface="Courier New" pitchFamily="34" charset="-120"/>
              </a:rPr>
              <a:t>] / gen[</a:t>
            </a:r>
            <a:pPr indent="0" marL="0">
              <a:buNone/>
            </a:pPr>
            <a:r>
              <a:rPr lang="en-US" sz="1600" dirty="0">
                <a:solidFill>
                  <a:srgbClr val="A31515"/>
                </a:solidFill>
                <a:latin typeface="Courier New" pitchFamily="34" charset="0"/>
                <a:ea typeface="Courier New" pitchFamily="34" charset="-122"/>
                <a:cs typeface="Courier New" pitchFamily="34" charset="-120"/>
              </a:rPr>
              <a:t>"potencia_mw"</a:t>
            </a:r>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p:txBody>
      </p:sp>
      <p:sp>
        <p:nvSpPr>
          <p:cNvPr id="8" name="Shape 6"/>
          <p:cNvSpPr/>
          <p:nvPr/>
        </p:nvSpPr>
        <p:spPr>
          <a:xfrm>
            <a:off x="548640" y="2375408"/>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754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1996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gen["mwh"] / gen["potencia_mw"]</a:t>
            </a:r>
            <a:endParaRPr lang="en-US" sz="1400" dirty="0"/>
          </a:p>
        </p:txBody>
      </p:sp>
      <p:sp>
        <p:nvSpPr>
          <p:cNvPr id="12" name="Text 10"/>
          <p:cNvSpPr txBox="1"/>
          <p:nvPr/>
        </p:nvSpPr>
        <p:spPr>
          <a:xfrm>
            <a:off x="6263640" y="221996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Divide una columna por la otra, fila por fila, en las 175.680 filas.</a:t>
            </a:r>
            <a:endParaRPr lang="en-US" sz="1600" dirty="0"/>
          </a:p>
        </p:txBody>
      </p:sp>
      <p:sp>
        <p:nvSpPr>
          <p:cNvPr id="13" name="Shape 11"/>
          <p:cNvSpPr/>
          <p:nvPr/>
        </p:nvSpPr>
        <p:spPr>
          <a:xfrm>
            <a:off x="548640" y="3052064"/>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05206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51480"/>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295148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gen["factor_planta"] =</a:t>
            </a:r>
            <a:endParaRPr lang="en-US" sz="1400" dirty="0"/>
          </a:p>
        </p:txBody>
      </p:sp>
      <p:sp>
        <p:nvSpPr>
          <p:cNvPr id="17" name="Text 15"/>
          <p:cNvSpPr txBox="1"/>
          <p:nvPr/>
        </p:nvSpPr>
        <p:spPr>
          <a:xfrm>
            <a:off x="6263640" y="295148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Guarda el resultado en una columna nueva.</a:t>
            </a:r>
            <a:endParaRPr lang="en-US" sz="1600" dirty="0"/>
          </a:p>
        </p:txBody>
      </p:sp>
      <p:sp>
        <p:nvSpPr>
          <p:cNvPr id="18" name="Shape 16"/>
          <p:cNvSpPr/>
          <p:nvPr/>
        </p:nvSpPr>
        <p:spPr>
          <a:xfrm>
            <a:off x="548640" y="5989320"/>
            <a:ext cx="73152" cy="548640"/>
          </a:xfrm>
          <a:prstGeom prst="rect">
            <a:avLst/>
          </a:prstGeom>
          <a:solidFill>
            <a:srgbClr val="0B3D62"/>
          </a:solidFill>
          <a:ln w="12700">
            <a:solidFill>
              <a:srgbClr val="0B3D62"/>
            </a:solidFill>
            <a:prstDash val="solid"/>
          </a:ln>
        </p:spPr>
      </p:sp>
      <p:sp>
        <p:nvSpPr>
          <p:cNvPr id="19" name="Text 1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el factor de planta de cada hora es lo generado dividido por la potencia.</a:t>
            </a:r>
            <a:endParaRPr lang="en-US" sz="15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4</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tan seguido genera cada tecnología?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El factor de planta es lo que generó una central dividido por lo máximo que podía generar.</a:t>
            </a:r>
            <a:endParaRPr lang="en-US" sz="1400" dirty="0"/>
          </a:p>
        </p:txBody>
      </p:sp>
      <p:sp>
        <p:nvSpPr>
          <p:cNvPr id="6" name="Shape 4"/>
          <p:cNvSpPr/>
          <p:nvPr/>
        </p:nvSpPr>
        <p:spPr>
          <a:xfrm>
            <a:off x="548640" y="1481328"/>
            <a:ext cx="11091672" cy="1508760"/>
          </a:xfrm>
          <a:prstGeom prst="roundRect">
            <a:avLst>
              <a:gd name="adj" fmla="val 3636"/>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10085832" cy="132588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4</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Una columna nueva calculada para las 175.680 filas de una vez.</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gen[</a:t>
            </a:r>
            <a:pPr indent="0" marL="0">
              <a:buNone/>
            </a:pPr>
            <a:r>
              <a:rPr lang="en-US" sz="1300" dirty="0">
                <a:solidFill>
                  <a:srgbClr val="A31515"/>
                </a:solidFill>
                <a:latin typeface="Courier New" pitchFamily="34" charset="0"/>
                <a:ea typeface="Courier New" pitchFamily="34" charset="-122"/>
                <a:cs typeface="Courier New" pitchFamily="34" charset="-120"/>
              </a:rPr>
              <a:t>"factor_planta"</a:t>
            </a:r>
            <a:pPr indent="0" marL="0">
              <a:buNone/>
            </a:pPr>
            <a:r>
              <a:rPr lang="en-US" sz="1300" dirty="0">
                <a:solidFill>
                  <a:srgbClr val="202124"/>
                </a:solidFill>
                <a:latin typeface="Courier New" pitchFamily="34" charset="0"/>
                <a:ea typeface="Courier New" pitchFamily="34" charset="-122"/>
                <a:cs typeface="Courier New" pitchFamily="34" charset="-120"/>
              </a:rPr>
              <a:t>] = gen[</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 / gen[</a:t>
            </a:r>
            <a:pPr indent="0" marL="0">
              <a:buNone/>
            </a:pPr>
            <a:r>
              <a:rPr lang="en-US" sz="1300" dirty="0">
                <a:solidFill>
                  <a:srgbClr val="A31515"/>
                </a:solidFill>
                <a:latin typeface="Courier New" pitchFamily="34" charset="0"/>
                <a:ea typeface="Courier New" pitchFamily="34" charset="-122"/>
                <a:cs typeface="Courier New" pitchFamily="34" charset="-120"/>
              </a:rPr>
              <a:t>"potencia_mw"</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factor = gen.groupby(</a:t>
            </a:r>
            <a:pPr indent="0" marL="0">
              <a:buNone/>
            </a:pPr>
            <a:r>
              <a:rPr lang="en-US" sz="1300" dirty="0">
                <a:solidFill>
                  <a:srgbClr val="A31515"/>
                </a:solidFill>
                <a:latin typeface="Courier New" pitchFamily="34" charset="0"/>
                <a:ea typeface="Courier New" pitchFamily="34" charset="-122"/>
                <a:cs typeface="Courier New" pitchFamily="34" charset="-120"/>
              </a:rPr>
              <a:t>"tecnologia"</a:t>
            </a:r>
            <a:pPr indent="0" marL="0">
              <a:buNone/>
            </a:pPr>
            <a:r>
              <a:rPr lang="en-US" sz="1300" dirty="0">
                <a:solidFill>
                  <a:srgbClr val="202124"/>
                </a:solidFill>
                <a:latin typeface="Courier New" pitchFamily="34" charset="0"/>
                <a:ea typeface="Courier New" pitchFamily="34" charset="-122"/>
                <a:cs typeface="Courier New" pitchFamily="34" charset="-120"/>
              </a:rPr>
              <a:t>)[</a:t>
            </a:r>
            <a:pPr indent="0" marL="0">
              <a:buNone/>
            </a:pPr>
            <a:r>
              <a:rPr lang="en-US" sz="1300" dirty="0">
                <a:solidFill>
                  <a:srgbClr val="A31515"/>
                </a:solidFill>
                <a:latin typeface="Courier New" pitchFamily="34" charset="0"/>
                <a:ea typeface="Courier New" pitchFamily="34" charset="-122"/>
                <a:cs typeface="Courier New" pitchFamily="34" charset="-120"/>
              </a:rPr>
              <a:t>"factor_planta"</a:t>
            </a:r>
            <a:pPr indent="0" marL="0">
              <a:buNone/>
            </a:pPr>
            <a:r>
              <a:rPr lang="en-US" sz="1300" dirty="0">
                <a:solidFill>
                  <a:srgbClr val="202124"/>
                </a:solidFill>
                <a:latin typeface="Courier New" pitchFamily="34" charset="0"/>
                <a:ea typeface="Courier New" pitchFamily="34" charset="-122"/>
                <a:cs typeface="Courier New" pitchFamily="34" charset="-120"/>
              </a:rPr>
              <a:t>].mean().round(3)</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factor.sort_values(ascending=False)</a:t>
            </a:r>
            <a:endParaRPr lang="en-US" sz="1300" dirty="0"/>
          </a:p>
        </p:txBody>
      </p:sp>
      <p:sp>
        <p:nvSpPr>
          <p:cNvPr id="10" name="Shape 8"/>
          <p:cNvSpPr/>
          <p:nvPr/>
        </p:nvSpPr>
        <p:spPr>
          <a:xfrm>
            <a:off x="1325880" y="3099816"/>
            <a:ext cx="10314432" cy="1792224"/>
          </a:xfrm>
          <a:prstGeom prst="rect">
            <a:avLst/>
          </a:prstGeom>
          <a:solidFill>
            <a:srgbClr val="FFFFFF"/>
          </a:solidFill>
          <a:ln w="12700">
            <a:solidFill>
              <a:srgbClr val="DADCE0"/>
            </a:solidFill>
            <a:prstDash val="solid"/>
          </a:ln>
        </p:spPr>
      </p:sp>
      <p:sp>
        <p:nvSpPr>
          <p:cNvPr id="11" name="Text 9"/>
          <p:cNvSpPr txBox="1"/>
          <p:nvPr/>
        </p:nvSpPr>
        <p:spPr>
          <a:xfrm>
            <a:off x="1463040" y="3172968"/>
            <a:ext cx="10085832" cy="1664208"/>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tecnologia</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gas       0.663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carbon    0.640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hidro     0.549</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eolica    0.315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diesel    0.103</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solar     0.080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Name: factor_planta, dtype: float64</a:t>
            </a:r>
            <a:endParaRPr lang="en-US" sz="1200" dirty="0"/>
          </a:p>
        </p:txBody>
      </p:sp>
      <p:sp>
        <p:nvSpPr>
          <p:cNvPr id="12" name="Shape 10"/>
          <p:cNvSpPr/>
          <p:nvPr/>
        </p:nvSpPr>
        <p:spPr>
          <a:xfrm>
            <a:off x="1325880" y="5029200"/>
            <a:ext cx="10314432" cy="566928"/>
          </a:xfrm>
          <a:prstGeom prst="roundRect">
            <a:avLst>
              <a:gd name="adj" fmla="val 9677"/>
            </a:avLst>
          </a:prstGeom>
          <a:solidFill>
            <a:srgbClr val="FFF8D6"/>
          </a:solidFill>
          <a:ln w="12700">
            <a:solidFill>
              <a:srgbClr val="FFF8D6"/>
            </a:solidFill>
            <a:prstDash val="solid"/>
          </a:ln>
        </p:spPr>
      </p:sp>
      <p:sp>
        <p:nvSpPr>
          <p:cNvPr id="13" name="Text 11"/>
          <p:cNvSpPr txBox="1"/>
          <p:nvPr/>
        </p:nvSpPr>
        <p:spPr>
          <a:xfrm>
            <a:off x="1508760" y="5029200"/>
            <a:ext cx="9948672" cy="566928"/>
          </a:xfrm>
          <a:prstGeom prst="rect">
            <a:avLst/>
          </a:prstGeom>
          <a:noFill/>
          <a:ln/>
        </p:spPr>
        <p:txBody>
          <a:bodyPr wrap="square" lIns="0" tIns="0" rIns="0" bIns="0" rtlCol="0" anchor="ctr"/>
          <a:lstStyle/>
          <a:p>
            <a:pPr indent="0" marL="0">
              <a:buNone/>
            </a:pPr>
            <a:r>
              <a:rPr lang="en-US" sz="1400" b="1" dirty="0">
                <a:solidFill>
                  <a:srgbClr val="8A6D00"/>
                </a:solidFill>
                <a:latin typeface="Calibri" pitchFamily="34" charset="0"/>
                <a:ea typeface="Calibri" pitchFamily="34" charset="-122"/>
                <a:cs typeface="Calibri" pitchFamily="34" charset="-120"/>
              </a:rPr>
              <a:t>Una columna nueva se calcula para todas las filas de una vez.  </a:t>
            </a:r>
            <a:pPr indent="0" marL="0">
              <a:buNone/>
            </a:pPr>
            <a:r>
              <a:rPr lang="en-US" sz="1400" dirty="0">
                <a:solidFill>
                  <a:srgbClr val="202124"/>
                </a:solidFill>
                <a:latin typeface="Calibri" pitchFamily="34" charset="0"/>
                <a:ea typeface="Calibri" pitchFamily="34" charset="-122"/>
                <a:cs typeface="Calibri" pitchFamily="34" charset="-120"/>
              </a:rPr>
              <a:t>No hace falta recorrer las 175.680 filas una por una. Las cifras son inventadas y no se citan.</a:t>
            </a:r>
            <a:endParaRPr lang="en-US" sz="1400" dirty="0"/>
          </a:p>
        </p:txBody>
      </p:sp>
      <p:sp>
        <p:nvSpPr>
          <p:cNvPr id="15" name="Text 12"/>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6" name="Shape 13"/>
          <p:cNvSpPr/>
          <p:nvPr/>
        </p:nvSpPr>
        <p:spPr>
          <a:xfrm>
            <a:off x="548640" y="6062472"/>
            <a:ext cx="1810512" cy="566928"/>
          </a:xfrm>
          <a:prstGeom prst="roundRect">
            <a:avLst>
              <a:gd name="adj" fmla="val 11290"/>
            </a:avLst>
          </a:prstGeom>
          <a:solidFill>
            <a:srgbClr val="FEF3D6"/>
          </a:solidFill>
          <a:ln w="25400">
            <a:solidFill>
              <a:srgbClr val="F9AB00"/>
            </a:solidFill>
            <a:prstDash val="solid"/>
          </a:ln>
        </p:spPr>
      </p:sp>
      <p:sp>
        <p:nvSpPr>
          <p:cNvPr id="17" name="Text 14"/>
          <p:cNvSpPr txBox="1"/>
          <p:nvPr/>
        </p:nvSpPr>
        <p:spPr>
          <a:xfrm>
            <a:off x="640080"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gen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175680 × 9</a:t>
            </a:r>
            <a:endParaRPr lang="en-US" sz="1200" dirty="0"/>
          </a:p>
        </p:txBody>
      </p:sp>
      <p:sp>
        <p:nvSpPr>
          <p:cNvPr id="18" name="Shape 15"/>
          <p:cNvSpPr/>
          <p:nvPr/>
        </p:nvSpPr>
        <p:spPr>
          <a:xfrm>
            <a:off x="2496312" y="6062472"/>
            <a:ext cx="2002536" cy="566928"/>
          </a:xfrm>
          <a:prstGeom prst="roundRect">
            <a:avLst>
              <a:gd name="adj" fmla="val 11290"/>
            </a:avLst>
          </a:prstGeom>
          <a:solidFill>
            <a:srgbClr val="FEF3D6"/>
          </a:solidFill>
          <a:ln w="25400">
            <a:solidFill>
              <a:srgbClr val="F9AB00"/>
            </a:solidFill>
            <a:prstDash val="solid"/>
          </a:ln>
        </p:spPr>
      </p:sp>
      <p:sp>
        <p:nvSpPr>
          <p:cNvPr id="19" name="Text 16"/>
          <p:cNvSpPr txBox="1"/>
          <p:nvPr/>
        </p:nvSpPr>
        <p:spPr>
          <a:xfrm>
            <a:off x="2587752"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factor</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 valores</a:t>
            </a:r>
            <a:endParaRPr lang="en-US" sz="1200" dirty="0"/>
          </a:p>
        </p:txBody>
      </p:sp>
      <p:sp>
        <p:nvSpPr>
          <p:cNvPr id="20" name="Shape 17"/>
          <p:cNvSpPr/>
          <p:nvPr/>
        </p:nvSpPr>
        <p:spPr>
          <a:xfrm>
            <a:off x="4636008" y="6062472"/>
            <a:ext cx="1330452" cy="566928"/>
          </a:xfrm>
          <a:prstGeom prst="roundRect">
            <a:avLst>
              <a:gd name="adj" fmla="val 11290"/>
            </a:avLst>
          </a:prstGeom>
          <a:solidFill>
            <a:srgbClr val="F1F3F4"/>
          </a:solidFill>
          <a:ln w="12700">
            <a:solidFill>
              <a:srgbClr val="DADCE0"/>
            </a:solidFill>
            <a:prstDash val="solid"/>
          </a:ln>
        </p:spPr>
      </p:sp>
      <p:sp>
        <p:nvSpPr>
          <p:cNvPr id="21" name="Text 18"/>
          <p:cNvSpPr txBox="1"/>
          <p:nvPr/>
        </p:nvSpPr>
        <p:spPr>
          <a:xfrm>
            <a:off x="4727448"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7 × 3</a:t>
            </a:r>
            <a:endParaRPr lang="en-US" sz="1200" dirty="0"/>
          </a:p>
        </p:txBody>
      </p:sp>
      <p:sp>
        <p:nvSpPr>
          <p:cNvPr id="22" name="Shape 19"/>
          <p:cNvSpPr/>
          <p:nvPr/>
        </p:nvSpPr>
        <p:spPr>
          <a:xfrm>
            <a:off x="6103620" y="6062472"/>
            <a:ext cx="1330452" cy="566928"/>
          </a:xfrm>
          <a:prstGeom prst="roundRect">
            <a:avLst>
              <a:gd name="adj" fmla="val 11290"/>
            </a:avLst>
          </a:prstGeom>
          <a:solidFill>
            <a:srgbClr val="F1F3F4"/>
          </a:solidFill>
          <a:ln w="12700">
            <a:solidFill>
              <a:srgbClr val="DADCE0"/>
            </a:solidFill>
            <a:prstDash val="solid"/>
          </a:ln>
        </p:spPr>
      </p:sp>
      <p:sp>
        <p:nvSpPr>
          <p:cNvPr id="23" name="Text 20"/>
          <p:cNvSpPr txBox="1"/>
          <p:nvPr/>
        </p:nvSpPr>
        <p:spPr>
          <a:xfrm>
            <a:off x="6195060"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agrupar_por</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"region"</a:t>
            </a:r>
            <a:endParaRPr lang="en-US" sz="1200" dirty="0"/>
          </a:p>
        </p:txBody>
      </p:sp>
      <p:sp>
        <p:nvSpPr>
          <p:cNvPr id="24" name="Shape 21"/>
          <p:cNvSpPr/>
          <p:nvPr/>
        </p:nvSpPr>
        <p:spPr>
          <a:xfrm>
            <a:off x="7571232" y="6062472"/>
            <a:ext cx="2002536" cy="566928"/>
          </a:xfrm>
          <a:prstGeom prst="roundRect">
            <a:avLst>
              <a:gd name="adj" fmla="val 11290"/>
            </a:avLst>
          </a:prstGeom>
          <a:solidFill>
            <a:srgbClr val="F1F3F4"/>
          </a:solidFill>
          <a:ln w="12700">
            <a:solidFill>
              <a:srgbClr val="DADCE0"/>
            </a:solidFill>
            <a:prstDash val="solid"/>
          </a:ln>
        </p:spPr>
      </p:sp>
      <p:sp>
        <p:nvSpPr>
          <p:cNvPr id="25" name="Text 22"/>
          <p:cNvSpPr txBox="1"/>
          <p:nvPr/>
        </p:nvSpPr>
        <p:spPr>
          <a:xfrm>
            <a:off x="7662672"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por_tecnologia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 valores</a:t>
            </a:r>
            <a:endParaRPr lang="en-US" sz="1200" dirty="0"/>
          </a:p>
        </p:txBody>
      </p:sp>
      <p:sp>
        <p:nvSpPr>
          <p:cNvPr id="26" name="Text 23"/>
          <p:cNvSpPr txBox="1"/>
          <p:nvPr/>
        </p:nvSpPr>
        <p:spPr>
          <a:xfrm>
            <a:off x="9710928"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18 más</a:t>
            </a:r>
            <a:endParaRPr lang="en-US" sz="1200" dirty="0"/>
          </a:p>
        </p:txBody>
      </p:sp>
      <p:sp>
        <p:nvSpPr>
          <p:cNvPr id="27" name="Text 24"/>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En estos datos inventados la solar tiene el factor más bajo, porque de noche no genera.</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B3D62"/>
        </a:solidFill>
      </p:bgPr>
    </p:bg>
    <p:spTree>
      <p:nvGrpSpPr>
        <p:cNvPr id="1" name=""/>
        <p:cNvGrpSpPr/>
        <p:nvPr/>
      </p:nvGrpSpPr>
      <p:grpSpPr>
        <a:xfrm>
          <a:off x="0" y="0"/>
          <a:ext cx="0" cy="0"/>
          <a:chOff x="0" y="0"/>
          <a:chExt cx="0" cy="0"/>
        </a:xfrm>
      </p:grpSpPr>
      <p:sp>
        <p:nvSpPr>
          <p:cNvPr id="3" name="Text 0"/>
          <p:cNvSpPr txBox="1"/>
          <p:nvPr/>
        </p:nvSpPr>
        <p:spPr>
          <a:xfrm>
            <a:off x="731520" y="1645920"/>
            <a:ext cx="1069848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Ahora en Colab</a:t>
            </a:r>
            <a:endParaRPr lang="en-US" sz="4000" dirty="0"/>
          </a:p>
        </p:txBody>
      </p:sp>
      <p:sp>
        <p:nvSpPr>
          <p:cNvPr id="4" name="Text 1"/>
          <p:cNvSpPr txBox="1"/>
          <p:nvPr/>
        </p:nvSpPr>
        <p:spPr>
          <a:xfrm>
            <a:off x="731520" y="2560320"/>
            <a:ext cx="10698480" cy="82296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Ahora abran el Lab 02 guiado y hagan los 5 pasos de la Parte 1. La Parte 2 queda para la casa, con la guía y estas láminas.</a:t>
            </a:r>
            <a:endParaRPr lang="en-US" sz="2000" dirty="0"/>
          </a:p>
        </p:txBody>
      </p:sp>
      <p:sp>
        <p:nvSpPr>
          <p:cNvPr id="5" name="Text 2"/>
          <p:cNvSpPr txBox="1"/>
          <p:nvPr/>
        </p:nvSpPr>
        <p:spPr>
          <a:xfrm>
            <a:off x="731520" y="3611880"/>
            <a:ext cx="10698480" cy="457200"/>
          </a:xfrm>
          <a:prstGeom prst="rect">
            <a:avLst/>
          </a:prstGeom>
          <a:noFill/>
          <a:ln/>
        </p:spPr>
        <p:txBody>
          <a:bodyPr wrap="square" lIns="0" tIns="0" rIns="0" bIns="0" rtlCol="0" anchor="ctr"/>
          <a:lstStyle/>
          <a:p>
            <a:pPr indent="0" marL="0">
              <a:buNone/>
            </a:pPr>
            <a:r>
              <a:rPr lang="en-US" sz="1800" dirty="0">
                <a:solidFill>
                  <a:srgbClr val="F9AB00"/>
                </a:solidFill>
                <a:latin typeface="Calibri" pitchFamily="34" charset="0"/>
                <a:ea typeface="Calibri" pitchFamily="34" charset="-122"/>
                <a:cs typeface="Calibri" pitchFamily="34" charset="-120"/>
              </a:rPr>
              <a:t>Si algo no calza, escriban en el chat el número del paso.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02 guiado · Manipulación de datos</dc:title>
  <dc:subject>PptxGenJS Presentation</dc:subject>
  <dc:creator>PptxGenJS</dc:creator>
  <cp:lastModifiedBy>PptxGenJS</cp:lastModifiedBy>
  <cp:revision>1</cp:revision>
  <dcterms:created xsi:type="dcterms:W3CDTF">2026-10-12T22:41:47Z</dcterms:created>
  <dcterms:modified xsi:type="dcterms:W3CDTF">2026-10-12T22:41:47Z</dcterms:modified>
</cp:coreProperties>
</file>