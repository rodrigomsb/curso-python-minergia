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Láminas 60 min, Colab 45 min, cierre 15 min.
En el Lab 04 buscamos qué eventos van juntos. Hoy buscamos qué centrales se parecen entre sí, mirando cómo generan a lo largo del día, sin decirle al computador de qué tecnología es cada 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No supervisado quiere decir sin respuesta correcta. Nadie le dice al computador que hay seis tecnologías. Él agrupa solo, y después nosotros miramos si lo que juntó tiene sentido.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la idea más importante del lab y la que más se olvida. Sin esto, K-Means agrupa por potencia instalada y no por tecnología.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Dividir por la potencia instalada deja cada central entre 0 y 1. Ya no importa si es grande o chica, importa su 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Esto es lo que K-Means tiene que descubrir solo, sin que le digamos la tecnología. Si lo logra, es porque la forma del día ya trae la información.
Guardar el comentario de la eólica para la Parte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pivot_table arma una fila por central con 24 columnas, el promedio de cada hora, como en el Lab 04. div divide cada fila por la potencia de esa central. Así cada número queda entre 0 y 1 y las centrales se pueden comparar por su 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De 0 a 308, a 0 a 0,67. Antes, los números iban de 0 a 308 megawatts, y la carbonera grande pesaba más que todas. Después, todas van de 0 a 0,67, la parte de su potencia que usan. Ahora se comparan de igual a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Enlazar con K-Means, que es el que hace esa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K viene de cuántos grupos, means de que el centro es el promedio del grupo. Lo único que el algoritmo pide es el número de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4 montones no alcanza para separar carbón, gas e hidro, porque sus formas son casi iguales, líneas planas. K-Means hizo lo mejor que pudo con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Dejar que voten.
RESPUESTA
Separa las 6 tecnologías, cada una en su grupo, sin haberlas visto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es la lámina del lab. La forma del día ya traía la tecnología adentro, y el algoritmo la encontró sin ayuda.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 ese desorden el cuaderno le llama inercia. Es como ordenar la ropa. Con 2 montones queda mucho revuelto. Con 6 queda ordenado. Con 20, un montón por prenda, ya no es ordenar. Se busca hasta dónde vale la pena agregar montones.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lámina justifica toda la Parte 1. Si no se saca el tamaño del medio, el algoritmo agrupa grandes con grandes y chicas con chicas.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X es la tabla factor de la Parte 1, escalada. n_clusters=6 es cuántos grupos pedimos. fit(X) reparte las 20 centrales. km6.labels_ dice en qué grupo quedó cada una. crosstab cruza ese grupo con la tecnología real, que el algoritmo nunca vio, para ver si coinciden.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Cada tecnología en su grupo. Cada fila es una tecnología y cada columna un grupo de K-Means. En cada fila hay un solo número distinto de cero. Las 5 hidro cayeron en el grupo 0, las 5 solares en el 1, y así. El algoritmo recuperó las 6 tecnologías sin conocerlas.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Enlazar con DBSCAN cambiando la unidad. Ya no una fila por central, sino una fila por central y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Dos diferencias con K-Means. No pide número de grupos, pide un radio. Y puede dejar puntos fuera, cosa que K-Means nunca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solar tiene un día tipo, sale el sol y se pone el sol. La eólica no, depende del viento de ese día. Esto es lo que DBSCAN va a notar.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El ruido no es un error del algoritmo. Es el hallazgo. DBSCAN dice que las eólicas no tienen un día que se repita.
Con radio 2,0 pasa lo mismo. Con 3,5 ya no queda ruido, pero porque el radio es tan grande que mete a todos en algún grupo y se pierde la información.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X_dia es la misma tabla de la Parte 1, pero con una fila por central y día, 7.320 filas. eps=1.5 es el radio, qué tan cerca tienen que estar dos días para ser vecinos. min_samples=5 es cuántos vecinos hacen falta para formar un grupo. fit reparte los 7.320 días. Los que quedan fuera llevan la etiqueta menos uno, que crosstab muestra en la primera columna.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1.464 días de ruido, todos eólicos. La columna menos uno es el ruido. Solo la fila eólica tiene algo ahí, y es todo. Carbón, gas e hidro cayeron juntas en el grupo 0. K-Means las había separado porque le exigimos 6 montones. DBSCAN no tiene esa exigencia, y como sus días planos están más cerca que el radio, para él son un solo grupo. El diésel en el 1 y la solar en 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Cerrar nombrando las dos palabras del programa, K-Means y DBSCAN.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Volver a la lámina del problema. Estas son las respuestas a las dos preguntas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unos 45 minutos. Cada parte del cuaderno es una parte de la clase, con la misma imagen y las mismas cifras.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Empezar por el Estudio 2, que es corto y cierra la idea de cuántos grupos. PCA y LDA son más largos.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05 · Aprendizaje no supervisado</a:t>
            </a:r>
            <a:endParaRPr lang="en-US" sz="4000" dirty="0"/>
          </a:p>
        </p:txBody>
      </p:sp>
      <p:sp>
        <p:nvSpPr>
          <p:cNvPr id="3" name="Text 1"/>
          <p:cNvSpPr/>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Agrupar centrales que se parecen, sin que nadie diga cuál es la respuesta correcta</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Dos ideas nuevas, contadas primero con ejemplos de todos los días.</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el mismo cálculo con las 20 centrales del curso, y lo que dice el resultado.</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Al final, lo corren en Colab y les tiene que salir igual.</a:t>
            </a:r>
            <a:endParaRPr lang="en-US" sz="1800" dirty="0"/>
          </a:p>
        </p:txBody>
      </p:sp>
      <p:sp>
        <p:nvSpPr>
          <p:cNvPr id="13" name="Text 11"/>
          <p:cNvSpPr/>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El problema de hoy</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quiere saber el área de operaciones</a:t>
            </a:r>
            <a:endParaRPr lang="en-US" sz="1800" dirty="0"/>
          </a:p>
        </p:txBody>
      </p:sp>
      <p:sp>
        <p:nvSpPr>
          <p:cNvPr id="4" name="Text 2"/>
          <p:cNvSpPr/>
          <p:nvPr/>
        </p:nvSpPr>
        <p:spPr>
          <a:xfrm>
            <a:off x="548640" y="1600200"/>
            <a:ext cx="11091672" cy="91440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Operaciones tiene la generación hora a hora de 20 centrales durante 2024. Quiere saber cuáles se comportan parecido, para tratarlas en bloque al planificar. Dos preguntas.</a:t>
            </a:r>
            <a:endParaRPr lang="en-US" sz="2100" dirty="0"/>
          </a:p>
        </p:txBody>
      </p:sp>
      <p:sp>
        <p:nvSpPr>
          <p:cNvPr id="5" name="Shape 3"/>
          <p:cNvSpPr/>
          <p:nvPr/>
        </p:nvSpPr>
        <p:spPr>
          <a:xfrm>
            <a:off x="548640" y="2697480"/>
            <a:ext cx="11091672" cy="804672"/>
          </a:xfrm>
          <a:prstGeom prst="roundRect">
            <a:avLst>
              <a:gd name="adj" fmla="val 9091"/>
            </a:avLst>
          </a:prstGeom>
          <a:solidFill>
            <a:srgbClr val="E8F0FE"/>
          </a:solidFill>
          <a:ln w="12700">
            <a:solidFill>
              <a:srgbClr val="E8F0FE"/>
            </a:solidFill>
            <a:prstDash val="solid"/>
          </a:ln>
        </p:spPr>
      </p:sp>
      <p:sp>
        <p:nvSpPr>
          <p:cNvPr id="6" name="Shape 4"/>
          <p:cNvSpPr/>
          <p:nvPr/>
        </p:nvSpPr>
        <p:spPr>
          <a:xfrm>
            <a:off x="731520" y="2852928"/>
            <a:ext cx="493776" cy="493776"/>
          </a:xfrm>
          <a:prstGeom prst="ellipse">
            <a:avLst/>
          </a:prstGeom>
          <a:solidFill>
            <a:srgbClr val="1A73E8"/>
          </a:solidFill>
          <a:ln w="12700">
            <a:solidFill>
              <a:srgbClr val="1A73E8"/>
            </a:solidFill>
            <a:prstDash val="solid"/>
          </a:ln>
        </p:spPr>
      </p:sp>
      <p:sp>
        <p:nvSpPr>
          <p:cNvPr id="7" name="Text 5"/>
          <p:cNvSpPr/>
          <p:nvPr/>
        </p:nvSpPr>
        <p:spPr>
          <a:xfrm>
            <a:off x="731520" y="285292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269748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Si solo miramos cómo generan durante el día, ¿qué centrales se parecen entre sí?</a:t>
            </a:r>
            <a:endParaRPr lang="en-US" sz="2100" dirty="0"/>
          </a:p>
        </p:txBody>
      </p:sp>
      <p:sp>
        <p:nvSpPr>
          <p:cNvPr id="9" name="Text 7"/>
          <p:cNvSpPr/>
          <p:nvPr/>
        </p:nvSpPr>
        <p:spPr>
          <a:xfrm>
            <a:off x="9098280" y="269748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Partes 1 y 2</a:t>
            </a:r>
            <a:endParaRPr lang="en-US" sz="1500" dirty="0"/>
          </a:p>
        </p:txBody>
      </p:sp>
      <p:sp>
        <p:nvSpPr>
          <p:cNvPr id="10" name="Shape 8"/>
          <p:cNvSpPr/>
          <p:nvPr/>
        </p:nvSpPr>
        <p:spPr>
          <a:xfrm>
            <a:off x="548640" y="3657600"/>
            <a:ext cx="11091672" cy="804672"/>
          </a:xfrm>
          <a:prstGeom prst="roundRect">
            <a:avLst>
              <a:gd name="adj" fmla="val 9091"/>
            </a:avLst>
          </a:prstGeom>
          <a:solidFill>
            <a:srgbClr val="E8F0FE"/>
          </a:solidFill>
          <a:ln w="12700">
            <a:solidFill>
              <a:srgbClr val="E8F0FE"/>
            </a:solidFill>
            <a:prstDash val="solid"/>
          </a:ln>
        </p:spPr>
      </p:sp>
      <p:sp>
        <p:nvSpPr>
          <p:cNvPr id="11" name="Shape 9"/>
          <p:cNvSpPr/>
          <p:nvPr/>
        </p:nvSpPr>
        <p:spPr>
          <a:xfrm>
            <a:off x="731520" y="3813048"/>
            <a:ext cx="493776" cy="493776"/>
          </a:xfrm>
          <a:prstGeom prst="ellipse">
            <a:avLst/>
          </a:prstGeom>
          <a:solidFill>
            <a:srgbClr val="1A73E8"/>
          </a:solidFill>
          <a:ln w="12700">
            <a:solidFill>
              <a:srgbClr val="1A73E8"/>
            </a:solidFill>
            <a:prstDash val="solid"/>
          </a:ln>
        </p:spPr>
      </p:sp>
      <p:sp>
        <p:nvSpPr>
          <p:cNvPr id="12" name="Text 10"/>
          <p:cNvSpPr/>
          <p:nvPr/>
        </p:nvSpPr>
        <p:spPr>
          <a:xfrm>
            <a:off x="731520" y="381304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365760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¿Hay centrales que no se parecen a nada, que no tienen un día tipo?</a:t>
            </a:r>
            <a:endParaRPr lang="en-US" sz="2100" dirty="0"/>
          </a:p>
        </p:txBody>
      </p:sp>
      <p:sp>
        <p:nvSpPr>
          <p:cNvPr id="14" name="Text 12"/>
          <p:cNvSpPr/>
          <p:nvPr/>
        </p:nvSpPr>
        <p:spPr>
          <a:xfrm>
            <a:off x="9098280" y="365760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Parte 3</a:t>
            </a:r>
            <a:endParaRPr lang="en-US" sz="1500" dirty="0"/>
          </a:p>
        </p:txBody>
      </p:sp>
      <p:sp>
        <p:nvSpPr>
          <p:cNvPr id="15" name="Shape 13"/>
          <p:cNvSpPr/>
          <p:nvPr/>
        </p:nvSpPr>
        <p:spPr>
          <a:xfrm>
            <a:off x="548640" y="5715000"/>
            <a:ext cx="73152" cy="777240"/>
          </a:xfrm>
          <a:prstGeom prst="rect">
            <a:avLst/>
          </a:prstGeom>
          <a:solidFill>
            <a:srgbClr val="F9AB00"/>
          </a:solidFill>
          <a:ln w="12700">
            <a:solidFill>
              <a:srgbClr val="F9AB00"/>
            </a:solidFill>
            <a:prstDash val="solid"/>
          </a:ln>
        </p:spPr>
      </p:sp>
      <p:sp>
        <p:nvSpPr>
          <p:cNvPr id="16" name="Text 14"/>
          <p:cNvSpPr/>
          <p:nvPr/>
        </p:nvSpPr>
        <p:spPr>
          <a:xfrm>
            <a:off x="777240" y="5715000"/>
            <a:ext cx="10863072" cy="777240"/>
          </a:xfrm>
          <a:prstGeom prst="rect">
            <a:avLst/>
          </a:prstGeom>
          <a:noFill/>
          <a:ln/>
        </p:spPr>
        <p:txBody>
          <a:bodyPr wrap="square" lIns="0" tIns="0" rIns="0" bIns="0" rtlCol="0" anchor="ctr"/>
          <a:lstStyle/>
          <a:p>
            <a:pPr indent="0" marL="0">
              <a:buNone/>
            </a:pPr>
            <a:r>
              <a:rPr lang="en-US" sz="1800" dirty="0">
                <a:solidFill>
                  <a:srgbClr val="202124"/>
                </a:solidFill>
                <a:latin typeface="Calibri" pitchFamily="34" charset="0"/>
                <a:ea typeface="Calibri" pitchFamily="34" charset="-122"/>
                <a:cs typeface="Calibri" pitchFamily="34" charset="-120"/>
              </a:rPr>
              <a:t>Buscar grupos en los datos sin que nadie diga de antemano cuáles son, es lo que se llama aprendizaje no supervisado.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Quieres saber qué personas de tu oficina tienen horarios parecidos. Una gana el triple que otra, pero eso no importa para el horario.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Si comparas los sueldos, las agrupas por cuánto ganan. Si comparas a qué hora entran, a qué hora almuerzan y a qué hora salen, las agrupas por su rutina.</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Una trabaja jornada completa y la otra media jornada. Para comparar sus rutinas no sirve la hora del reloj, sirve en qué parte de su jornada almuerza cada una. Hay que dividir por el largo de la jornada de cada una.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Antes de agrupar hay que decidir qué se compara. Si se quiere la forma y no el tamaño, se divide cada una por su propio tamaño, y recién ahí se comparan.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Costa Brava es una carbonera de 480 MW y Vega Azul una hidro de 95 MW. En megawatts no se parecen en nada. Divididas por su potencia, las dos trabajan parejo todo el día.</a:t>
            </a:r>
            <a:endParaRPr lang="en-US" sz="2000" dirty="0"/>
          </a:p>
        </p:txBody>
      </p:sp>
      <p:pic>
        <p:nvPicPr>
          <p:cNvPr id="8" name="Image 0" descr="/tmp/claude-0/-home-claude/53fc5af0-c828-58c7-8b29-cc4adc4b42a1/scratchpad/ppt5/figs/q1_tamano_forma.png">    </p:cNvPr>
          <p:cNvPicPr>
            <a:picLocks noChangeAspect="1"/>
          </p:cNvPicPr>
          <p:nvPr/>
        </p:nvPicPr>
        <p:blipFill>
          <a:blip r:embed="rId1"/>
          <a:stretch>
            <a:fillRect/>
          </a:stretch>
        </p:blipFill>
        <p:spPr>
          <a:xfrm>
            <a:off x="1586757" y="2450592"/>
            <a:ext cx="9015438"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la hora del día. Eje vertical, a la izquierda megawatts, a la derecha qué parte de su potencia usa. Mirar que a la derecha las dos líneas quedan casi juntas.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 día tipo de cada tecnología</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Si se promedia la forma de todas las centrales de una misma tecnología, cada tecnología tiene su propio dibujo del día.</a:t>
            </a:r>
            <a:endParaRPr lang="en-US" sz="2000" dirty="0"/>
          </a:p>
        </p:txBody>
      </p:sp>
      <p:pic>
        <p:nvPicPr>
          <p:cNvPr id="8" name="Image 0" descr="/tmp/claude-0/-home-claude/53fc5af0-c828-58c7-8b29-cc4adc4b42a1/scratchpad/ppt5/figs/q2_dia_tipo.png">    </p:cNvPr>
          <p:cNvPicPr>
            <a:picLocks noChangeAspect="1"/>
          </p:cNvPicPr>
          <p:nvPr/>
        </p:nvPicPr>
        <p:blipFill>
          <a:blip r:embed="rId1"/>
          <a:stretch>
            <a:fillRect/>
          </a:stretch>
        </p:blipFill>
        <p:spPr>
          <a:xfrm>
            <a:off x="1603533" y="2450592"/>
            <a:ext cx="8981886"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la hora. Eje vertical, qué parte de su potencia usa. Carbón, gas e hidro son líneas planas, trabajan parejo. La solar es una joroba de día. El diésel solo se enciende en la tarde. La eólica es pareja en promedio, pero ojo, en promedio.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celda que prepara los datos</a:t>
            </a:r>
            <a:endParaRPr lang="en-US" sz="1400" dirty="0"/>
          </a:p>
        </p:txBody>
      </p:sp>
      <p:sp>
        <p:nvSpPr>
          <p:cNvPr id="6" name="Shape 4"/>
          <p:cNvSpPr/>
          <p:nvPr/>
        </p:nvSpPr>
        <p:spPr>
          <a:xfrm>
            <a:off x="548640" y="1481328"/>
            <a:ext cx="11091672" cy="1642205"/>
          </a:xfrm>
          <a:prstGeom prst="roundRect">
            <a:avLst>
              <a:gd name="adj" fmla="val 3341"/>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450181"/>
          </a:xfrm>
          <a:prstGeom prst="rect">
            <a:avLst/>
          </a:prstGeom>
          <a:noFill/>
          <a:ln/>
        </p:spPr>
        <p:txBody>
          <a:bodyPr wrap="square" lIns="0" tIns="0" rIns="0" bIns="0" rtlCol="0" anchor="t"/>
          <a:lstStyle/>
          <a:p>
            <a:pPr indent="0" marL="0">
              <a:buNone/>
            </a:pPr>
            <a:r>
              <a:rPr lang="en-US" sz="1250" dirty="0">
                <a:solidFill>
                  <a:srgbClr val="188038"/>
                </a:solidFill>
                <a:latin typeface="Courier New" pitchFamily="34" charset="0"/>
                <a:ea typeface="Courier New" pitchFamily="34" charset="-122"/>
                <a:cs typeface="Courier New" pitchFamily="34" charset="-120"/>
              </a:rPr>
              <a:t># 1.1 y 1.3</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perfil = gen.pivot_table(index=</a:t>
            </a:r>
            <a:pPr indent="0" marL="0">
              <a:buNone/>
            </a:pPr>
            <a:r>
              <a:rPr lang="en-US" sz="1250" dirty="0">
                <a:solidFill>
                  <a:srgbClr val="A31515"/>
                </a:solidFill>
                <a:latin typeface="Courier New" pitchFamily="34" charset="0"/>
                <a:ea typeface="Courier New" pitchFamily="34" charset="-122"/>
                <a:cs typeface="Courier New" pitchFamily="34" charset="-120"/>
              </a:rPr>
              <a:t>"central"</a:t>
            </a:r>
            <a:pPr indent="0" marL="0">
              <a:buNone/>
            </a:pPr>
            <a:r>
              <a:rPr lang="en-US" sz="1250" dirty="0">
                <a:solidFill>
                  <a:srgbClr val="202124"/>
                </a:solidFill>
                <a:latin typeface="Courier New" pitchFamily="34" charset="0"/>
                <a:ea typeface="Courier New" pitchFamily="34" charset="-122"/>
                <a:cs typeface="Courier New" pitchFamily="34" charset="-120"/>
              </a:rPr>
              <a:t>, columns=</a:t>
            </a:r>
            <a:pPr indent="0" marL="0">
              <a:buNone/>
            </a:pPr>
            <a:r>
              <a:rPr lang="en-US" sz="1250" dirty="0">
                <a:solidFill>
                  <a:srgbClr val="A31515"/>
                </a:solidFill>
                <a:latin typeface="Courier New" pitchFamily="34" charset="0"/>
                <a:ea typeface="Courier New" pitchFamily="34" charset="-122"/>
                <a:cs typeface="Courier New" pitchFamily="34" charset="-120"/>
              </a:rPr>
              <a:t>"hora"</a:t>
            </a:r>
            <a:pPr indent="0" marL="0">
              <a:buNone/>
            </a:pPr>
            <a:r>
              <a:rPr lang="en-US" sz="1250" dirty="0">
                <a:solidFill>
                  <a:srgbClr val="202124"/>
                </a:solidFill>
                <a:latin typeface="Courier New" pitchFamily="34" charset="0"/>
                <a:ea typeface="Courier New" pitchFamily="34" charset="-122"/>
                <a:cs typeface="Courier New" pitchFamily="34" charset="-120"/>
              </a:rPr>
              <a:t>, values=</a:t>
            </a:r>
            <a:pPr indent="0" marL="0">
              <a:buNone/>
            </a:pPr>
            <a:r>
              <a:rPr lang="en-US" sz="1250" dirty="0">
                <a:solidFill>
                  <a:srgbClr val="A31515"/>
                </a:solidFill>
                <a:latin typeface="Courier New" pitchFamily="34" charset="0"/>
                <a:ea typeface="Courier New" pitchFamily="34" charset="-122"/>
                <a:cs typeface="Courier New" pitchFamily="34" charset="-120"/>
              </a:rPr>
              <a:t>"mwh"</a:t>
            </a:r>
            <a:pPr indent="0" marL="0">
              <a:buNone/>
            </a:pPr>
            <a:r>
              <a:rPr lang="en-US" sz="1250" dirty="0">
                <a:solidFill>
                  <a:srgbClr val="202124"/>
                </a:solidFill>
                <a:latin typeface="Courier New" pitchFamily="34" charset="0"/>
                <a:ea typeface="Courier New" pitchFamily="34" charset="-122"/>
                <a:cs typeface="Courier New" pitchFamily="34" charset="-120"/>
              </a:rPr>
              <a:t>, aggfunc=</a:t>
            </a:r>
            <a:pPr indent="0" marL="0">
              <a:buNone/>
            </a:pPr>
            <a:r>
              <a:rPr lang="en-US" sz="1250" dirty="0">
                <a:solidFill>
                  <a:srgbClr val="A31515"/>
                </a:solidFill>
                <a:latin typeface="Courier New" pitchFamily="34" charset="0"/>
                <a:ea typeface="Courier New" pitchFamily="34" charset="-122"/>
                <a:cs typeface="Courier New" pitchFamily="34" charset="-120"/>
              </a:rPr>
              <a:t>"mean"</a:t>
            </a:r>
            <a:pPr indent="0" marL="0">
              <a:buNone/>
            </a:pPr>
            <a:r>
              <a:rPr lang="en-US" sz="1250" dirty="0">
                <a:solidFill>
                  <a:srgbClr val="202124"/>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potencia = centrales.set_index(</a:t>
            </a:r>
            <a:pPr indent="0" marL="0">
              <a:buNone/>
            </a:pPr>
            <a:r>
              <a:rPr lang="en-US" sz="1250" dirty="0">
                <a:solidFill>
                  <a:srgbClr val="A31515"/>
                </a:solidFill>
                <a:latin typeface="Courier New" pitchFamily="34" charset="0"/>
                <a:ea typeface="Courier New" pitchFamily="34" charset="-122"/>
                <a:cs typeface="Courier New" pitchFamily="34" charset="-120"/>
              </a:rPr>
              <a:t>"central"</a:t>
            </a:r>
            <a:pPr indent="0" marL="0">
              <a:buNone/>
            </a:pPr>
            <a:r>
              <a:rPr lang="en-US" sz="1250" dirty="0">
                <a:solidFill>
                  <a:srgbClr val="202124"/>
                </a:solidFill>
                <a:latin typeface="Courier New" pitchFamily="34" charset="0"/>
                <a:ea typeface="Courier New" pitchFamily="34" charset="-122"/>
                <a:cs typeface="Courier New" pitchFamily="34" charset="-120"/>
              </a:rPr>
              <a:t>)[</a:t>
            </a:r>
            <a:pPr indent="0" marL="0">
              <a:buNone/>
            </a:pPr>
            <a:r>
              <a:rPr lang="en-US" sz="1250" dirty="0">
                <a:solidFill>
                  <a:srgbClr val="A31515"/>
                </a:solidFill>
                <a:latin typeface="Courier New" pitchFamily="34" charset="0"/>
                <a:ea typeface="Courier New" pitchFamily="34" charset="-122"/>
                <a:cs typeface="Courier New" pitchFamily="34" charset="-120"/>
              </a:rPr>
              <a:t>"potencia_mw"</a:t>
            </a:r>
            <a:pPr indent="0" marL="0">
              <a:buNone/>
            </a:pPr>
            <a:r>
              <a:rPr lang="en-US" sz="1250" dirty="0">
                <a:solidFill>
                  <a:srgbClr val="202124"/>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factor = perfil.div(potencia, axis=0)</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print(</a:t>
            </a:r>
            <a:pPr indent="0" marL="0">
              <a:buNone/>
            </a:pPr>
            <a:r>
              <a:rPr lang="en-US" sz="1250" dirty="0">
                <a:solidFill>
                  <a:srgbClr val="A31515"/>
                </a:solidFill>
                <a:latin typeface="Courier New" pitchFamily="34" charset="0"/>
                <a:ea typeface="Courier New" pitchFamily="34" charset="-122"/>
                <a:cs typeface="Courier New" pitchFamily="34" charset="-120"/>
              </a:rPr>
              <a:t>"antes, rango de la tabla "</a:t>
            </a:r>
            <a:pPr indent="0" marL="0">
              <a:buNone/>
            </a:pPr>
            <a:r>
              <a:rPr lang="en-US" sz="1250" dirty="0">
                <a:solidFill>
                  <a:srgbClr val="202124"/>
                </a:solidFill>
                <a:latin typeface="Courier New" pitchFamily="34" charset="0"/>
                <a:ea typeface="Courier New" pitchFamily="34" charset="-122"/>
                <a:cs typeface="Courier New" pitchFamily="34" charset="-120"/>
              </a:rPr>
              <a:t>, round(perfil.values.min(), 1), </a:t>
            </a:r>
            <a:pPr indent="0" marL="0">
              <a:buNone/>
            </a:pPr>
            <a:r>
              <a:rPr lang="en-US" sz="1250" dirty="0">
                <a:solidFill>
                  <a:srgbClr val="A31515"/>
                </a:solidFill>
                <a:latin typeface="Courier New" pitchFamily="34" charset="0"/>
                <a:ea typeface="Courier New" pitchFamily="34" charset="-122"/>
                <a:cs typeface="Courier New" pitchFamily="34" charset="-120"/>
              </a:rPr>
              <a:t>"a"</a:t>
            </a:r>
            <a:pPr indent="0" marL="0">
              <a:buNone/>
            </a:pPr>
            <a:r>
              <a:rPr lang="en-US" sz="1250" dirty="0">
                <a:solidFill>
                  <a:srgbClr val="202124"/>
                </a:solidFill>
                <a:latin typeface="Courier New" pitchFamily="34" charset="0"/>
                <a:ea typeface="Courier New" pitchFamily="34" charset="-122"/>
                <a:cs typeface="Courier New" pitchFamily="34" charset="-120"/>
              </a:rPr>
              <a:t>, round(perfil.values.max(), 1))</a:t>
            </a:r>
            <a:endParaRPr lang="en-US" sz="1250" dirty="0"/>
          </a:p>
          <a:p>
            <a:pPr indent="0" marL="0">
              <a:buNone/>
            </a:pPr>
            <a:r>
              <a:rPr lang="en-US" sz="1250" dirty="0">
                <a:solidFill>
                  <a:srgbClr val="202124"/>
                </a:solidFill>
                <a:latin typeface="Courier New" pitchFamily="34" charset="0"/>
                <a:ea typeface="Courier New" pitchFamily="34" charset="-122"/>
                <a:cs typeface="Courier New" pitchFamily="34" charset="-120"/>
              </a:rPr>
              <a:t>print(</a:t>
            </a:r>
            <a:pPr indent="0" marL="0">
              <a:buNone/>
            </a:pPr>
            <a:r>
              <a:rPr lang="en-US" sz="1250" dirty="0">
                <a:solidFill>
                  <a:srgbClr val="A31515"/>
                </a:solidFill>
                <a:latin typeface="Courier New" pitchFamily="34" charset="0"/>
                <a:ea typeface="Courier New" pitchFamily="34" charset="-122"/>
                <a:cs typeface="Courier New" pitchFamily="34" charset="-120"/>
              </a:rPr>
              <a:t>"después, rango de la tabla"</a:t>
            </a:r>
            <a:pPr indent="0" marL="0">
              <a:buNone/>
            </a:pPr>
            <a:r>
              <a:rPr lang="en-US" sz="1250" dirty="0">
                <a:solidFill>
                  <a:srgbClr val="202124"/>
                </a:solidFill>
                <a:latin typeface="Courier New" pitchFamily="34" charset="0"/>
                <a:ea typeface="Courier New" pitchFamily="34" charset="-122"/>
                <a:cs typeface="Courier New" pitchFamily="34" charset="-120"/>
              </a:rPr>
              <a:t>, round(factor.values.min(), 3), </a:t>
            </a:r>
            <a:pPr indent="0" marL="0">
              <a:buNone/>
            </a:pPr>
            <a:r>
              <a:rPr lang="en-US" sz="1250" dirty="0">
                <a:solidFill>
                  <a:srgbClr val="A31515"/>
                </a:solidFill>
                <a:latin typeface="Courier New" pitchFamily="34" charset="0"/>
                <a:ea typeface="Courier New" pitchFamily="34" charset="-122"/>
                <a:cs typeface="Courier New" pitchFamily="34" charset="-120"/>
              </a:rPr>
              <a:t>"a"</a:t>
            </a:r>
            <a:pPr indent="0" marL="0">
              <a:buNone/>
            </a:pPr>
            <a:r>
              <a:rPr lang="en-US" sz="1250" dirty="0">
                <a:solidFill>
                  <a:srgbClr val="202124"/>
                </a:solidFill>
                <a:latin typeface="Courier New" pitchFamily="34" charset="0"/>
                <a:ea typeface="Courier New" pitchFamily="34" charset="-122"/>
                <a:cs typeface="Courier New" pitchFamily="34" charset="-120"/>
              </a:rPr>
              <a:t>, round(factor.values.max(), 3))</a:t>
            </a:r>
            <a:endParaRPr lang="en-US" sz="1250" dirty="0"/>
          </a:p>
        </p:txBody>
      </p:sp>
      <p:sp>
        <p:nvSpPr>
          <p:cNvPr id="10" name="Shape 8"/>
          <p:cNvSpPr/>
          <p:nvPr/>
        </p:nvSpPr>
        <p:spPr>
          <a:xfrm>
            <a:off x="548640" y="3352133"/>
            <a:ext cx="11091672" cy="1261872"/>
          </a:xfrm>
          <a:prstGeom prst="roundRect">
            <a:avLst>
              <a:gd name="adj" fmla="val 4348"/>
            </a:avLst>
          </a:prstGeom>
          <a:solidFill>
            <a:srgbClr val="E8F0FE"/>
          </a:solidFill>
          <a:ln w="12700">
            <a:solidFill>
              <a:srgbClr val="E8F0FE"/>
            </a:solidFill>
            <a:prstDash val="solid"/>
          </a:ln>
        </p:spPr>
      </p:sp>
      <p:sp>
        <p:nvSpPr>
          <p:cNvPr id="11" name="Text 9"/>
          <p:cNvSpPr/>
          <p:nvPr/>
        </p:nvSpPr>
        <p:spPr>
          <a:xfrm>
            <a:off x="777240" y="3352133"/>
            <a:ext cx="10698480" cy="1261872"/>
          </a:xfrm>
          <a:prstGeom prst="rect">
            <a:avLst/>
          </a:prstGeom>
          <a:noFill/>
          <a:ln/>
        </p:spPr>
        <p:txBody>
          <a:bodyPr wrap="square" lIns="0" tIns="0" rIns="0" bIns="0" rtlCol="0" anchor="ctr"/>
          <a:lstStyle/>
          <a:p>
            <a:pPr indent="0" marL="0">
              <a:buNone/>
            </a:pPr>
            <a:r>
              <a:rPr lang="en-US" sz="1600" b="1" dirty="0">
                <a:solidFill>
                  <a:srgbClr val="1A73E8"/>
                </a:solidFill>
                <a:latin typeface="Calibri" pitchFamily="34" charset="0"/>
                <a:ea typeface="Calibri" pitchFamily="34" charset="-122"/>
                <a:cs typeface="Calibri" pitchFamily="34" charset="-120"/>
              </a:rPr>
              <a:t>Cómo lo hace  </a:t>
            </a:r>
            <a:pPr indent="0" marL="0">
              <a:buNone/>
            </a:pPr>
            <a:r>
              <a:rPr lang="en-US" sz="1600" dirty="0">
                <a:solidFill>
                  <a:srgbClr val="202124"/>
                </a:solidFill>
                <a:latin typeface="Calibri" pitchFamily="34" charset="0"/>
                <a:ea typeface="Calibri" pitchFamily="34" charset="-122"/>
                <a:cs typeface="Calibri" pitchFamily="34" charset="-120"/>
              </a:rPr>
              <a:t>pivot_table arma una fila por central con 24 columnas, el promedio de cada hora, como en el Lab 04. div divide cada fila por la potencia de esa central. Así cada número queda entre 0 y 1 y las centrales se pueden comparar por su forma.</a:t>
            </a:r>
            <a:endParaRPr lang="en-US" sz="1600" dirty="0"/>
          </a:p>
        </p:txBody>
      </p:sp>
      <p:sp>
        <p:nvSpPr>
          <p:cNvPr id="12" name="Text 10"/>
          <p:cNvSpPr/>
          <p:nvPr/>
        </p:nvSpPr>
        <p:spPr>
          <a:xfrm>
            <a:off x="548640" y="4687157"/>
            <a:ext cx="7315200" cy="292608"/>
          </a:xfrm>
          <a:prstGeom prst="rect">
            <a:avLst/>
          </a:prstGeom>
          <a:noFill/>
          <a:ln/>
        </p:spPr>
        <p:txBody>
          <a:bodyPr wrap="square" lIns="0" tIns="0" rIns="0" bIns="0" rtlCol="0" anchor="ctr"/>
          <a:lstStyle/>
          <a:p>
            <a:pPr indent="0" marL="0">
              <a:buNone/>
            </a:pPr>
            <a:r>
              <a:rPr lang="en-US" sz="1300" b="1" dirty="0">
                <a:solidFill>
                  <a:srgbClr val="B06000"/>
                </a:solidFill>
                <a:latin typeface="Calibri" pitchFamily="34" charset="0"/>
                <a:ea typeface="Calibri" pitchFamily="34" charset="-122"/>
                <a:cs typeface="Calibri" pitchFamily="34" charset="-120"/>
              </a:rPr>
              <a:t>Lo que sale y lo que significa, en la lámina siguiente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 y qué significa</a:t>
            </a:r>
            <a:endParaRPr lang="en-US" sz="1400" dirty="0"/>
          </a:p>
        </p:txBody>
      </p:sp>
      <p:sp>
        <p:nvSpPr>
          <p:cNvPr id="6" name="Text 4"/>
          <p:cNvSpPr/>
          <p:nvPr/>
        </p:nvSpPr>
        <p:spPr>
          <a:xfrm>
            <a:off x="548640" y="1508760"/>
            <a:ext cx="658368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7406640" y="1508760"/>
            <a:ext cx="423367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6583680" cy="786384"/>
          </a:xfrm>
          <a:prstGeom prst="rect">
            <a:avLst/>
          </a:prstGeom>
          <a:solidFill>
            <a:srgbClr val="FFFFFF"/>
          </a:solidFill>
          <a:ln w="12700">
            <a:solidFill>
              <a:srgbClr val="DADCE0"/>
            </a:solidFill>
            <a:prstDash val="solid"/>
          </a:ln>
        </p:spPr>
      </p:sp>
      <p:sp>
        <p:nvSpPr>
          <p:cNvPr id="9" name="Text 7"/>
          <p:cNvSpPr/>
          <p:nvPr/>
        </p:nvSpPr>
        <p:spPr>
          <a:xfrm>
            <a:off x="731520" y="1965960"/>
            <a:ext cx="6309360" cy="512064"/>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antes, rango de la tabla  0.0 a 307.9</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después, rango de la tabla 0.0 a 0.666</a:t>
            </a:r>
            <a:endParaRPr lang="en-US" sz="1600" dirty="0"/>
          </a:p>
        </p:txBody>
      </p:sp>
      <p:sp>
        <p:nvSpPr>
          <p:cNvPr id="10" name="Shape 8"/>
          <p:cNvSpPr/>
          <p:nvPr/>
        </p:nvSpPr>
        <p:spPr>
          <a:xfrm>
            <a:off x="7406640" y="1828800"/>
            <a:ext cx="4233672" cy="3172968"/>
          </a:xfrm>
          <a:prstGeom prst="roundRect">
            <a:avLst>
              <a:gd name="adj" fmla="val 2305"/>
            </a:avLst>
          </a:prstGeom>
          <a:solidFill>
            <a:srgbClr val="FFF8D6"/>
          </a:solidFill>
          <a:ln w="12700">
            <a:solidFill>
              <a:srgbClr val="FFF8D6"/>
            </a:solidFill>
            <a:prstDash val="solid"/>
          </a:ln>
        </p:spPr>
      </p:sp>
      <p:sp>
        <p:nvSpPr>
          <p:cNvPr id="11" name="Text 9"/>
          <p:cNvSpPr/>
          <p:nvPr/>
        </p:nvSpPr>
        <p:spPr>
          <a:xfrm>
            <a:off x="7680960" y="1965960"/>
            <a:ext cx="3730752" cy="2898648"/>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De 0 a 308, a 0 a 0,67</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Antes, los números iban de 0 a 308 megawatts, y la carbonera grande pesaba más que todas. Después, todas van de 0 a 0,67, la parte de su potencia que usan. Ahora se comparan de igual a igual.</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Comparar por la forma, no por el tamaño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Cada central quedó descrita por 24 números, la parte de su potencia que usa en cada hora del día. Es su forma.</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Las 20 centrales tienen cada una su forma, y las de una misma tecnología se parecen entre sí.</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El computador todavía no sabe nada de tecnologías. Solo tiene 20 filas de 24 números.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PARTE 2  </a:t>
            </a:r>
            <a:pPr indent="0" marL="0">
              <a:buNone/>
            </a:pPr>
            <a:r>
              <a:rPr lang="en-US" sz="2100" b="1" dirty="0">
                <a:solidFill>
                  <a:srgbClr val="202124"/>
                </a:solidFill>
                <a:latin typeface="Calibri" pitchFamily="34" charset="0"/>
                <a:ea typeface="Calibri" pitchFamily="34" charset="-122"/>
                <a:cs typeface="Calibri" pitchFamily="34" charset="-120"/>
              </a:rPr>
              <a:t>Ahora la pregunta. Si le damos esas 20 filas y le pedimos que las junte en grupos, ¿junta las que son de la misma tecnología?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 ordenar la ropa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Tienes un canasto con 20 prendas de ropa revueltas y te piden ordenarlas en 4 montones, sin decirte cómo.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Pones 4 prendas cualquiera en el suelo como muestra. Cada prenda del canasto la dejas junto a la muestra que más se le parece.</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Miras cada montón y cambias la muestra por el promedio del montón, una prenda imaginaria que queda al medio de todas. Vuelves a repartir. Repites hasta que nada cambia de montón.</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Eso es K-Means. Tú dices cuántos montones, él reparte, revisa y vuelve a repartir hasta que queda estable. El montón se llama grupo y la muestra, centro.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4 grupos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Le pedimos a K-Means 4 grupos con las 20 centrales. Él nunca vio la tecnología. Después pintamos cada central con su tecnología real.</a:t>
            </a:r>
            <a:endParaRPr lang="en-US" sz="2000" dirty="0"/>
          </a:p>
        </p:txBody>
      </p:sp>
      <p:pic>
        <p:nvPicPr>
          <p:cNvPr id="8" name="Image 0" descr="/tmp/claude-0/-home-claude/53fc5af0-c828-58c7-8b29-cc4adc4b42a1/scratchpad/ppt5/figs/q3_kmeans4.png">    </p:cNvPr>
          <p:cNvPicPr>
            <a:picLocks noChangeAspect="1"/>
          </p:cNvPicPr>
          <p:nvPr/>
        </p:nvPicPr>
        <p:blipFill>
          <a:blip r:embed="rId1"/>
          <a:stretch>
            <a:fillRect/>
          </a:stretch>
        </p:blipFill>
        <p:spPr>
          <a:xfrm>
            <a:off x="548640" y="2753289"/>
            <a:ext cx="11091672" cy="2933335"/>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Cada círculo es una central y el color es su tecnología verdadera. Los grupos van numerados como los numera Python, desde cero. Mirar que solar, eólica y diésel quedaron cada una en su grupo, y que carbón, gas e hidro quedaron juntas, porque las tres trabajan parejo todo el día.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Antes de ver el resultado. Que respondan en el chat o en voz alta.</a:t>
            </a:r>
            <a:endParaRPr lang="en-US" sz="1400" dirty="0"/>
          </a:p>
        </p:txBody>
      </p:sp>
      <p:sp>
        <p:nvSpPr>
          <p:cNvPr id="6" name="Shape 4"/>
          <p:cNvSpPr/>
          <p:nvPr/>
        </p:nvSpPr>
        <p:spPr>
          <a:xfrm>
            <a:off x="548640" y="1600200"/>
            <a:ext cx="11091672" cy="502920"/>
          </a:xfrm>
          <a:prstGeom prst="roundRect">
            <a:avLst>
              <a:gd name="adj" fmla="val 10909"/>
            </a:avLst>
          </a:prstGeom>
          <a:solidFill>
            <a:srgbClr val="0B3D62"/>
          </a:solidFill>
          <a:ln w="12700">
            <a:solidFill>
              <a:srgbClr val="0B3D62"/>
            </a:solidFill>
            <a:prstDash val="solid"/>
          </a:ln>
        </p:spPr>
      </p:sp>
      <p:sp>
        <p:nvSpPr>
          <p:cNvPr id="7" name="Text 5"/>
          <p:cNvSpPr/>
          <p:nvPr/>
        </p:nvSpPr>
        <p:spPr>
          <a:xfrm>
            <a:off x="822960" y="1600200"/>
            <a:ext cx="10543032"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¿QUÉ CREEN QUE VA A SALIR?</a:t>
            </a:r>
            <a:endParaRPr lang="en-US" sz="1600" dirty="0"/>
          </a:p>
        </p:txBody>
      </p:sp>
      <p:sp>
        <p:nvSpPr>
          <p:cNvPr id="8" name="Text 6"/>
          <p:cNvSpPr/>
          <p:nvPr/>
        </p:nvSpPr>
        <p:spPr>
          <a:xfrm>
            <a:off x="548640" y="2331720"/>
            <a:ext cx="11091672" cy="822960"/>
          </a:xfrm>
          <a:prstGeom prst="rect">
            <a:avLst/>
          </a:prstGeom>
          <a:noFill/>
          <a:ln/>
        </p:spPr>
        <p:txBody>
          <a:bodyPr wrap="square" lIns="0" tIns="0" rIns="0" bIns="0" rtlCol="0" anchor="t"/>
          <a:lstStyle/>
          <a:p>
            <a:pPr indent="0" marL="0">
              <a:buNone/>
            </a:pPr>
            <a:r>
              <a:rPr lang="en-US" sz="2000" dirty="0">
                <a:solidFill>
                  <a:srgbClr val="5F6368"/>
                </a:solidFill>
                <a:latin typeface="Calibri" pitchFamily="34" charset="0"/>
                <a:ea typeface="Calibri" pitchFamily="34" charset="-122"/>
                <a:cs typeface="Calibri" pitchFamily="34" charset="-120"/>
              </a:rPr>
              <a:t>Con 4 grupos, carbón, gas e hidro quedaron juntas. Hay 6 tecnologías en total.</a:t>
            </a:r>
            <a:endParaRPr lang="en-US" sz="2000" dirty="0"/>
          </a:p>
        </p:txBody>
      </p:sp>
      <p:sp>
        <p:nvSpPr>
          <p:cNvPr id="9" name="Text 7"/>
          <p:cNvSpPr/>
          <p:nvPr/>
        </p:nvSpPr>
        <p:spPr>
          <a:xfrm>
            <a:off x="548640" y="3154680"/>
            <a:ext cx="11091672" cy="1097280"/>
          </a:xfrm>
          <a:prstGeom prst="rect">
            <a:avLst/>
          </a:prstGeom>
          <a:noFill/>
          <a:ln/>
        </p:spPr>
        <p:txBody>
          <a:bodyPr wrap="square" lIns="0" tIns="0" rIns="0" bIns="0" rtlCol="0" anchor="t"/>
          <a:lstStyle/>
          <a:p>
            <a:pPr indent="0" marL="0">
              <a:buNone/>
            </a:pPr>
            <a:r>
              <a:rPr lang="en-US" sz="3000" b="1" dirty="0">
                <a:solidFill>
                  <a:srgbClr val="202124"/>
                </a:solidFill>
                <a:latin typeface="Calibri" pitchFamily="34" charset="0"/>
                <a:ea typeface="Calibri" pitchFamily="34" charset="-122"/>
                <a:cs typeface="Calibri" pitchFamily="34" charset="-120"/>
              </a:rPr>
              <a:t>Si le pedimos 6 grupos, ¿qué va a pasar?</a:t>
            </a:r>
            <a:endParaRPr lang="en-US" sz="3000" dirty="0"/>
          </a:p>
        </p:txBody>
      </p:sp>
      <p:sp>
        <p:nvSpPr>
          <p:cNvPr id="10" name="Shape 8"/>
          <p:cNvSpPr/>
          <p:nvPr/>
        </p:nvSpPr>
        <p:spPr>
          <a:xfrm>
            <a:off x="548640" y="4572000"/>
            <a:ext cx="3511296" cy="822960"/>
          </a:xfrm>
          <a:prstGeom prst="roundRect">
            <a:avLst>
              <a:gd name="adj" fmla="val 8889"/>
            </a:avLst>
          </a:prstGeom>
          <a:solidFill>
            <a:srgbClr val="FEF3D6"/>
          </a:solidFill>
          <a:ln w="19050">
            <a:solidFill>
              <a:srgbClr val="F9AB00"/>
            </a:solidFill>
            <a:prstDash val="solid"/>
          </a:ln>
        </p:spPr>
      </p:sp>
      <p:sp>
        <p:nvSpPr>
          <p:cNvPr id="11" name="Text 9"/>
          <p:cNvSpPr/>
          <p:nvPr/>
        </p:nvSpPr>
        <p:spPr>
          <a:xfrm>
            <a:off x="548640"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Separa las 6 tecnologías</a:t>
            </a:r>
            <a:endParaRPr lang="en-US" sz="2000" dirty="0"/>
          </a:p>
        </p:txBody>
      </p:sp>
      <p:sp>
        <p:nvSpPr>
          <p:cNvPr id="12" name="Shape 10"/>
          <p:cNvSpPr/>
          <p:nvPr/>
        </p:nvSpPr>
        <p:spPr>
          <a:xfrm>
            <a:off x="4338828" y="4572000"/>
            <a:ext cx="3511296" cy="822960"/>
          </a:xfrm>
          <a:prstGeom prst="roundRect">
            <a:avLst>
              <a:gd name="adj" fmla="val 8889"/>
            </a:avLst>
          </a:prstGeom>
          <a:solidFill>
            <a:srgbClr val="FEF3D6"/>
          </a:solidFill>
          <a:ln w="19050">
            <a:solidFill>
              <a:srgbClr val="F9AB00"/>
            </a:solidFill>
            <a:prstDash val="solid"/>
          </a:ln>
        </p:spPr>
      </p:sp>
      <p:sp>
        <p:nvSpPr>
          <p:cNvPr id="13" name="Text 11"/>
          <p:cNvSpPr/>
          <p:nvPr/>
        </p:nvSpPr>
        <p:spPr>
          <a:xfrm>
            <a:off x="4338828"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Parte la solar en dos</a:t>
            </a:r>
            <a:endParaRPr lang="en-US" sz="2000" dirty="0"/>
          </a:p>
        </p:txBody>
      </p:sp>
      <p:sp>
        <p:nvSpPr>
          <p:cNvPr id="14" name="Shape 12"/>
          <p:cNvSpPr/>
          <p:nvPr/>
        </p:nvSpPr>
        <p:spPr>
          <a:xfrm>
            <a:off x="8129016" y="4572000"/>
            <a:ext cx="3511296" cy="822960"/>
          </a:xfrm>
          <a:prstGeom prst="roundRect">
            <a:avLst>
              <a:gd name="adj" fmla="val 8889"/>
            </a:avLst>
          </a:prstGeom>
          <a:solidFill>
            <a:srgbClr val="FEF3D6"/>
          </a:solidFill>
          <a:ln w="19050">
            <a:solidFill>
              <a:srgbClr val="F9AB00"/>
            </a:solidFill>
            <a:prstDash val="solid"/>
          </a:ln>
        </p:spPr>
      </p:sp>
      <p:sp>
        <p:nvSpPr>
          <p:cNvPr id="15" name="Text 13"/>
          <p:cNvSpPr/>
          <p:nvPr/>
        </p:nvSpPr>
        <p:spPr>
          <a:xfrm>
            <a:off x="8129016" y="4572000"/>
            <a:ext cx="3511296" cy="822960"/>
          </a:xfrm>
          <a:prstGeom prst="rect">
            <a:avLst/>
          </a:prstGeom>
          <a:noFill/>
          <a:ln/>
        </p:spPr>
        <p:txBody>
          <a:bodyPr wrap="square" lIns="0" tIns="0" rIns="0" bIns="0" rtlCol="0" anchor="ctr"/>
          <a:lstStyle/>
          <a:p>
            <a:pPr algn="ctr" indent="0" marL="0">
              <a:buNone/>
            </a:pPr>
            <a:r>
              <a:rPr lang="en-US" sz="2000" b="1" dirty="0">
                <a:solidFill>
                  <a:srgbClr val="202124"/>
                </a:solidFill>
                <a:latin typeface="Calibri" pitchFamily="34" charset="0"/>
                <a:ea typeface="Calibri" pitchFamily="34" charset="-122"/>
                <a:cs typeface="Calibri" pitchFamily="34" charset="-120"/>
              </a:rPr>
              <a:t>Sigue mezclando</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6 grupos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Con 6 grupos, K-Means separó exactamente las 6 tecnologías. Nadie se lo dijo, lo sacó de la forma del día de cada central.</a:t>
            </a:r>
            <a:endParaRPr lang="en-US" sz="2000" dirty="0"/>
          </a:p>
        </p:txBody>
      </p:sp>
      <p:pic>
        <p:nvPicPr>
          <p:cNvPr id="8" name="Image 0" descr="/tmp/claude-0/-home-claude/53fc5af0-c828-58c7-8b29-cc4adc4b42a1/scratchpad/ppt5/figs/q4_kmeans6.png">    </p:cNvPr>
          <p:cNvPicPr>
            <a:picLocks noChangeAspect="1"/>
          </p:cNvPicPr>
          <p:nvPr/>
        </p:nvPicPr>
        <p:blipFill>
          <a:blip r:embed="rId1"/>
          <a:stretch>
            <a:fillRect/>
          </a:stretch>
        </p:blipFill>
        <p:spPr>
          <a:xfrm>
            <a:off x="548640" y="2753289"/>
            <a:ext cx="11091672" cy="2933335"/>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Cada grupo tiene un solo color. Las 5 hidro juntas, las 5 solares juntas, las 4 eólicas, las 3 de gas, las 2 de carbón y el diésel solo.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Cómo se elige cuántos grupos</a:t>
            </a:r>
            <a:endParaRPr lang="en-US" sz="1400" dirty="0"/>
          </a:p>
        </p:txBody>
      </p:sp>
      <p:sp>
        <p:nvSpPr>
          <p:cNvPr id="6" name="Shape 4"/>
          <p:cNvSpPr/>
          <p:nvPr/>
        </p:nvSpPr>
        <p:spPr>
          <a:xfrm>
            <a:off x="548640" y="1481328"/>
            <a:ext cx="73152" cy="1124712"/>
          </a:xfrm>
          <a:prstGeom prst="rect">
            <a:avLst/>
          </a:prstGeom>
          <a:solidFill>
            <a:srgbClr val="F9AB00"/>
          </a:solidFill>
          <a:ln w="12700">
            <a:solidFill>
              <a:srgbClr val="F9AB00"/>
            </a:solidFill>
            <a:prstDash val="solid"/>
          </a:ln>
        </p:spPr>
      </p:sp>
      <p:sp>
        <p:nvSpPr>
          <p:cNvPr id="7" name="Text 5"/>
          <p:cNvSpPr/>
          <p:nvPr/>
        </p:nvSpPr>
        <p:spPr>
          <a:xfrm>
            <a:off x="777240" y="1481328"/>
            <a:ext cx="10863072" cy="1124712"/>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K-Means no sabe cuántos grupos hay. Se prueba con 1, 2, 3 y así, y para cada caso se mide cuánto desorden queda dentro de los montones, qué tan lejos queda cada prenda de su muestra, todo sumado. El cuaderno a ese desorden le llama inercia.</a:t>
            </a:r>
            <a:endParaRPr lang="en-US" sz="2000" dirty="0"/>
          </a:p>
        </p:txBody>
      </p:sp>
      <p:pic>
        <p:nvPicPr>
          <p:cNvPr id="8" name="Image 0" descr="/tmp/claude-0/-home-claude/53fc5af0-c828-58c7-8b29-cc4adc4b42a1/scratchpad/ppt5/figs/q5_codo.png">    </p:cNvPr>
          <p:cNvPicPr>
            <a:picLocks noChangeAspect="1"/>
          </p:cNvPicPr>
          <p:nvPr/>
        </p:nvPicPr>
        <p:blipFill>
          <a:blip r:embed="rId1"/>
          <a:stretch>
            <a:fillRect/>
          </a:stretch>
        </p:blipFill>
        <p:spPr>
          <a:xfrm>
            <a:off x="1758799" y="2788920"/>
            <a:ext cx="8671354" cy="3200400"/>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cuántos grupos pedimos. Eje vertical, el desorden que queda, que siempre baja al agregar grupos. La caída grande es hasta 3 grupos. Pero desde 5 ya casi no queda desorden, y con 6 es cero. Cuando la curva no tiene un codo nítido, se mira dónde se acerca a cero.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pasa si no se quita el tamaño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Los mismos 6 grupos, pero con los megawatts tal como venían, sin dividir por la potencia. Vuelve la Parte 1.</a:t>
            </a:r>
            <a:endParaRPr lang="en-US" sz="2000" dirty="0"/>
          </a:p>
        </p:txBody>
      </p:sp>
      <p:pic>
        <p:nvPicPr>
          <p:cNvPr id="8" name="Image 0" descr="/tmp/claude-0/-home-claude/53fc5af0-c828-58c7-8b29-cc4adc4b42a1/scratchpad/ppt5/figs/q6_kmeans_crudo.png">    </p:cNvPr>
          <p:cNvPicPr>
            <a:picLocks noChangeAspect="1"/>
          </p:cNvPicPr>
          <p:nvPr/>
        </p:nvPicPr>
        <p:blipFill>
          <a:blip r:embed="rId1"/>
          <a:stretch>
            <a:fillRect/>
          </a:stretch>
        </p:blipFill>
        <p:spPr>
          <a:xfrm>
            <a:off x="548640" y="2753289"/>
            <a:ext cx="11091672" cy="2933335"/>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Las 5 hidro quedaron repartidas en 4 grupos distintos, y hay grupos con hidro, gas y carbón mezclados. Agrupó por tamaño, no por forma.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celda de K-Means con 6 grupos</a:t>
            </a:r>
            <a:endParaRPr lang="en-US" sz="1400" dirty="0"/>
          </a:p>
        </p:txBody>
      </p:sp>
      <p:sp>
        <p:nvSpPr>
          <p:cNvPr id="6" name="Shape 4"/>
          <p:cNvSpPr/>
          <p:nvPr/>
        </p:nvSpPr>
        <p:spPr>
          <a:xfrm>
            <a:off x="548640" y="1481328"/>
            <a:ext cx="11091672" cy="1584198"/>
          </a:xfrm>
          <a:prstGeom prst="roundRect">
            <a:avLst>
              <a:gd name="adj" fmla="val 3463"/>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392174"/>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2.5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from sklearn.cluster import KMeans</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km6 = KMeans(n_clusters=6, random_state=2026, n_init=10).fit(X)</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print(pd.crosstab(tecnologia[factor.index], km6.labels_).to_string())</a:t>
            </a:r>
            <a:endParaRPr lang="en-US" sz="1400" dirty="0"/>
          </a:p>
        </p:txBody>
      </p:sp>
      <p:sp>
        <p:nvSpPr>
          <p:cNvPr id="10" name="Shape 8"/>
          <p:cNvSpPr/>
          <p:nvPr/>
        </p:nvSpPr>
        <p:spPr>
          <a:xfrm>
            <a:off x="548640" y="3294126"/>
            <a:ext cx="11091672" cy="1261872"/>
          </a:xfrm>
          <a:prstGeom prst="roundRect">
            <a:avLst>
              <a:gd name="adj" fmla="val 4348"/>
            </a:avLst>
          </a:prstGeom>
          <a:solidFill>
            <a:srgbClr val="E8F0FE"/>
          </a:solidFill>
          <a:ln w="12700">
            <a:solidFill>
              <a:srgbClr val="E8F0FE"/>
            </a:solidFill>
            <a:prstDash val="solid"/>
          </a:ln>
        </p:spPr>
      </p:sp>
      <p:sp>
        <p:nvSpPr>
          <p:cNvPr id="11" name="Text 9"/>
          <p:cNvSpPr/>
          <p:nvPr/>
        </p:nvSpPr>
        <p:spPr>
          <a:xfrm>
            <a:off x="777240" y="3294126"/>
            <a:ext cx="10698480" cy="1261872"/>
          </a:xfrm>
          <a:prstGeom prst="rect">
            <a:avLst/>
          </a:prstGeom>
          <a:noFill/>
          <a:ln/>
        </p:spPr>
        <p:txBody>
          <a:bodyPr wrap="square" lIns="0" tIns="0" rIns="0" bIns="0" rtlCol="0" anchor="ctr"/>
          <a:lstStyle/>
          <a:p>
            <a:pPr indent="0" marL="0">
              <a:buNone/>
            </a:pPr>
            <a:r>
              <a:rPr lang="en-US" sz="1600" b="1" dirty="0">
                <a:solidFill>
                  <a:srgbClr val="1A73E8"/>
                </a:solidFill>
                <a:latin typeface="Calibri" pitchFamily="34" charset="0"/>
                <a:ea typeface="Calibri" pitchFamily="34" charset="-122"/>
                <a:cs typeface="Calibri" pitchFamily="34" charset="-120"/>
              </a:rPr>
              <a:t>Cómo lo hace  </a:t>
            </a:r>
            <a:pPr indent="0" marL="0">
              <a:buNone/>
            </a:pPr>
            <a:r>
              <a:rPr lang="en-US" sz="1600" dirty="0">
                <a:solidFill>
                  <a:srgbClr val="202124"/>
                </a:solidFill>
                <a:latin typeface="Calibri" pitchFamily="34" charset="0"/>
                <a:ea typeface="Calibri" pitchFamily="34" charset="-122"/>
                <a:cs typeface="Calibri" pitchFamily="34" charset="-120"/>
              </a:rPr>
              <a:t>X es la tabla factor de la Parte 1, escalada. n_clusters=6 es cuántos grupos pedimos. fit(X) reparte las 20 centrales. km6.labels_ dice en qué grupo quedó cada una. crosstab cruza ese grupo con la tecnología real, que el algoritmo nunca vio, para ver si coinciden.</a:t>
            </a:r>
            <a:endParaRPr lang="en-US" sz="1600" dirty="0"/>
          </a:p>
        </p:txBody>
      </p:sp>
      <p:sp>
        <p:nvSpPr>
          <p:cNvPr id="12" name="Text 10"/>
          <p:cNvSpPr/>
          <p:nvPr/>
        </p:nvSpPr>
        <p:spPr>
          <a:xfrm>
            <a:off x="548640" y="4629150"/>
            <a:ext cx="7315200" cy="292608"/>
          </a:xfrm>
          <a:prstGeom prst="rect">
            <a:avLst/>
          </a:prstGeom>
          <a:noFill/>
          <a:ln/>
        </p:spPr>
        <p:txBody>
          <a:bodyPr wrap="square" lIns="0" tIns="0" rIns="0" bIns="0" rtlCol="0" anchor="ctr"/>
          <a:lstStyle/>
          <a:p>
            <a:pPr indent="0" marL="0">
              <a:buNone/>
            </a:pPr>
            <a:r>
              <a:rPr lang="en-US" sz="1300" b="1" dirty="0">
                <a:solidFill>
                  <a:srgbClr val="B06000"/>
                </a:solidFill>
                <a:latin typeface="Calibri" pitchFamily="34" charset="0"/>
                <a:ea typeface="Calibri" pitchFamily="34" charset="-122"/>
                <a:cs typeface="Calibri" pitchFamily="34" charset="-120"/>
              </a:rPr>
              <a:t>Lo que sale y lo que significa, en la lámina siguiente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 y qué significa</a:t>
            </a:r>
            <a:endParaRPr lang="en-US" sz="1400" dirty="0"/>
          </a:p>
        </p:txBody>
      </p:sp>
      <p:sp>
        <p:nvSpPr>
          <p:cNvPr id="6" name="Text 4"/>
          <p:cNvSpPr/>
          <p:nvPr/>
        </p:nvSpPr>
        <p:spPr>
          <a:xfrm>
            <a:off x="548640" y="1508760"/>
            <a:ext cx="585216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6675120" y="1508760"/>
            <a:ext cx="496519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5852160" cy="2322576"/>
          </a:xfrm>
          <a:prstGeom prst="rect">
            <a:avLst/>
          </a:prstGeom>
          <a:solidFill>
            <a:srgbClr val="FFFFFF"/>
          </a:solidFill>
          <a:ln w="12700">
            <a:solidFill>
              <a:srgbClr val="DADCE0"/>
            </a:solidFill>
            <a:prstDash val="solid"/>
          </a:ln>
        </p:spPr>
      </p:sp>
      <p:sp>
        <p:nvSpPr>
          <p:cNvPr id="9" name="Text 7"/>
          <p:cNvSpPr/>
          <p:nvPr/>
        </p:nvSpPr>
        <p:spPr>
          <a:xfrm>
            <a:off x="731520" y="1965960"/>
            <a:ext cx="5577840" cy="204825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col_0       0  1  2  3  4  5</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tecnologia                  </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carbon      0  0  0  0  0  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diesel      0  0  0  1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eolica      0  0  4  0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gas         0  0  0  0  3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hidro       5  0  0  0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solar       0  5  0  0  0  0</a:t>
            </a:r>
            <a:endParaRPr lang="en-US" sz="1600" dirty="0"/>
          </a:p>
        </p:txBody>
      </p:sp>
      <p:sp>
        <p:nvSpPr>
          <p:cNvPr id="10" name="Shape 8"/>
          <p:cNvSpPr/>
          <p:nvPr/>
        </p:nvSpPr>
        <p:spPr>
          <a:xfrm>
            <a:off x="6675120" y="1828800"/>
            <a:ext cx="4965192" cy="3172968"/>
          </a:xfrm>
          <a:prstGeom prst="roundRect">
            <a:avLst>
              <a:gd name="adj" fmla="val 2305"/>
            </a:avLst>
          </a:prstGeom>
          <a:solidFill>
            <a:srgbClr val="FFF8D6"/>
          </a:solidFill>
          <a:ln w="12700">
            <a:solidFill>
              <a:srgbClr val="FFF8D6"/>
            </a:solidFill>
            <a:prstDash val="solid"/>
          </a:ln>
        </p:spPr>
      </p:sp>
      <p:sp>
        <p:nvSpPr>
          <p:cNvPr id="11" name="Text 9"/>
          <p:cNvSpPr/>
          <p:nvPr/>
        </p:nvSpPr>
        <p:spPr>
          <a:xfrm>
            <a:off x="6949440" y="1965960"/>
            <a:ext cx="4462272" cy="2898648"/>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Cada tecnología en su grupo</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Cada fila es una tecnología y cada columna un grupo de K-Means. En cada fila hay un solo número distinto de cero. Las 5 hidro cayeron en el grupo 0, las 5 solares en el 1, y así. El algoritmo recuperó las 6 tecnologías sin conocerlas.</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K-Means, juntar lo que se parece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K-Means junta lo que se parece. Tú le dices cuántos grupos, él reparte hasta que queda estable.</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Con 6 grupos y comparando por la forma, separó las 6 tecnologías solo. Eso es un hallazgo, no se lo dijimos.</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Cuántos grupos pedir se decide mirando el codo, donde agregar más grupos ya no mejora casi nada.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PARTE 3  </a:t>
            </a:r>
            <a:pPr indent="0" marL="0">
              <a:buNone/>
            </a:pPr>
            <a:r>
              <a:rPr lang="en-US" sz="2100" b="1" dirty="0">
                <a:solidFill>
                  <a:srgbClr val="202124"/>
                </a:solidFill>
                <a:latin typeface="Calibri" pitchFamily="34" charset="0"/>
                <a:ea typeface="Calibri" pitchFamily="34" charset="-122"/>
                <a:cs typeface="Calibri" pitchFamily="34" charset="-120"/>
              </a:rPr>
              <a:t>Queda una duda. La eólica salió pareja en promedio, pero ¿cada día eólico se parece al anterior? Eso lo responde la Parte 3.</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 las mesas del comedor</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 la hora de almuerzo la gente se sienta en el comedor de la empresa. Los de contabilidad siempre en la misma mesa, los de bodega en otra. Se juntan los que se conocen.</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Si entras y miras, ves los grupos sin que nadie te diga cuántos hay. Donde hay varios juntos, hay un grupo. Y cuántos grupos hay, lo decides mirando, no de antemano.</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Pero hay dos personas sentadas solas, lejos de todos. No son de ningún grupo. Y eso también es información, quizás son nuevos, quizás vienen de otra oficina.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Eso es DBSCAN. No le dices cuántos grupos, le dices qué tan cerca tienen que estar para contar como juntos. Él encuentra los grupos, y a los que quedan solos los llama ruido.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Cambiamos la unidad, ahora cada día es un punto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Ya no una fila por central, sino una por central y día. 20 centrales por 366 días son 7.320 días. Aquí cinco días de una solar y cinco de una eólica.</a:t>
            </a:r>
            <a:endParaRPr lang="en-US" sz="2000" dirty="0"/>
          </a:p>
        </p:txBody>
      </p:sp>
      <p:pic>
        <p:nvPicPr>
          <p:cNvPr id="8" name="Image 0" descr="/tmp/claude-0/-home-claude/53fc5af0-c828-58c7-8b29-cc4adc4b42a1/scratchpad/ppt5/figs/q8_solar_vs_eolica.png">    </p:cNvPr>
          <p:cNvPicPr>
            <a:picLocks noChangeAspect="1"/>
          </p:cNvPicPr>
          <p:nvPr/>
        </p:nvPicPr>
        <p:blipFill>
          <a:blip r:embed="rId1"/>
          <a:stretch>
            <a:fillRect/>
          </a:stretch>
        </p:blipFill>
        <p:spPr>
          <a:xfrm>
            <a:off x="1522091" y="2450592"/>
            <a:ext cx="9144770"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la hora. Eje vertical, qué parte de su potencia usa. Mirar que los cinco días solares son casi la misma curva, y los cinco días eólicos no se parecen entre sí en nada.</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quién quedó fuera</a:t>
            </a:r>
            <a:endParaRPr lang="en-US" sz="1400" dirty="0"/>
          </a:p>
        </p:txBody>
      </p:sp>
      <p:sp>
        <p:nvSpPr>
          <p:cNvPr id="6" name="Shape 4"/>
          <p:cNvSpPr/>
          <p:nvPr/>
        </p:nvSpPr>
        <p:spPr>
          <a:xfrm>
            <a:off x="548640" y="1481328"/>
            <a:ext cx="73152" cy="1124712"/>
          </a:xfrm>
          <a:prstGeom prst="rect">
            <a:avLst/>
          </a:prstGeom>
          <a:solidFill>
            <a:srgbClr val="F9AB00"/>
          </a:solidFill>
          <a:ln w="12700">
            <a:solidFill>
              <a:srgbClr val="F9AB00"/>
            </a:solidFill>
            <a:prstDash val="solid"/>
          </a:ln>
        </p:spPr>
      </p:sp>
      <p:sp>
        <p:nvSpPr>
          <p:cNvPr id="7" name="Text 5"/>
          <p:cNvSpPr/>
          <p:nvPr/>
        </p:nvSpPr>
        <p:spPr>
          <a:xfrm>
            <a:off x="777240" y="1481328"/>
            <a:ext cx="10863072" cy="1124712"/>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DBSCAN con radio 1,5, que es qué tan distintos pueden ser dos días para contar como vecinos, encontró 3 grupos y dejó 1.464 días fuera de todo grupo. Todos los días de todas las eólicas, ni uno más.</a:t>
            </a:r>
            <a:endParaRPr lang="en-US" sz="2000" dirty="0"/>
          </a:p>
        </p:txBody>
      </p:sp>
      <p:pic>
        <p:nvPicPr>
          <p:cNvPr id="8" name="Image 0" descr="/tmp/claude-0/-home-claude/53fc5af0-c828-58c7-8b29-cc4adc4b42a1/scratchpad/ppt5/figs/q7_dbscan_ruido.png">    </p:cNvPr>
          <p:cNvPicPr>
            <a:picLocks noChangeAspect="1"/>
          </p:cNvPicPr>
          <p:nvPr/>
        </p:nvPicPr>
        <p:blipFill>
          <a:blip r:embed="rId1"/>
          <a:stretch>
            <a:fillRect/>
          </a:stretch>
        </p:blipFill>
        <p:spPr>
          <a:xfrm>
            <a:off x="1129753" y="2788920"/>
            <a:ext cx="9929446" cy="3200400"/>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Cada fila es una tecnología. Mirar la última columna. Solo la eólica tiene días en ruido, y son todos sus días. Las demás tecnologías cayeron completas en algún grupo.</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celda de DBSCAN</a:t>
            </a:r>
            <a:endParaRPr lang="en-US" sz="1400" dirty="0"/>
          </a:p>
        </p:txBody>
      </p:sp>
      <p:sp>
        <p:nvSpPr>
          <p:cNvPr id="6" name="Shape 4"/>
          <p:cNvSpPr/>
          <p:nvPr/>
        </p:nvSpPr>
        <p:spPr>
          <a:xfrm>
            <a:off x="548640" y="1481328"/>
            <a:ext cx="11091672" cy="1816227"/>
          </a:xfrm>
          <a:prstGeom prst="roundRect">
            <a:avLst>
              <a:gd name="adj" fmla="val 3021"/>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624203"/>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4.4 y 4.5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from sklearn.cluster import DBSCAN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db = DBSCAN(eps=1.5, min_samples=5).fit(X_dia)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tecnologia_dia = perfil_dia.index.get_level_values(</a:t>
            </a:r>
            <a:pPr indent="0" marL="0">
              <a:buNone/>
            </a:pPr>
            <a:r>
              <a:rPr lang="en-US" sz="1400" dirty="0">
                <a:solidFill>
                  <a:srgbClr val="A31515"/>
                </a:solidFill>
                <a:latin typeface="Courier New" pitchFamily="34" charset="0"/>
                <a:ea typeface="Courier New" pitchFamily="34" charset="-122"/>
                <a:cs typeface="Courier New" pitchFamily="34" charset="-120"/>
              </a:rPr>
              <a:t>"central"</a:t>
            </a:r>
            <a:pPr indent="0" marL="0">
              <a:buNone/>
            </a:pPr>
            <a:r>
              <a:rPr lang="en-US" sz="1400" dirty="0">
                <a:solidFill>
                  <a:srgbClr val="202124"/>
                </a:solidFill>
                <a:latin typeface="Courier New" pitchFamily="34" charset="0"/>
                <a:ea typeface="Courier New" pitchFamily="34" charset="-122"/>
                <a:cs typeface="Courier New" pitchFamily="34" charset="-120"/>
              </a:rPr>
              <a:t>).map(tecnologia)</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print(pd.crosstab(tecnologia_dia, db.labels_).to_string())</a:t>
            </a:r>
            <a:endParaRPr lang="en-US" sz="1400" dirty="0"/>
          </a:p>
        </p:txBody>
      </p:sp>
      <p:sp>
        <p:nvSpPr>
          <p:cNvPr id="10" name="Shape 8"/>
          <p:cNvSpPr/>
          <p:nvPr/>
        </p:nvSpPr>
        <p:spPr>
          <a:xfrm>
            <a:off x="548640" y="3526155"/>
            <a:ext cx="11091672" cy="1591056"/>
          </a:xfrm>
          <a:prstGeom prst="roundRect">
            <a:avLst>
              <a:gd name="adj" fmla="val 3448"/>
            </a:avLst>
          </a:prstGeom>
          <a:solidFill>
            <a:srgbClr val="E8F0FE"/>
          </a:solidFill>
          <a:ln w="12700">
            <a:solidFill>
              <a:srgbClr val="E8F0FE"/>
            </a:solidFill>
            <a:prstDash val="solid"/>
          </a:ln>
        </p:spPr>
      </p:sp>
      <p:sp>
        <p:nvSpPr>
          <p:cNvPr id="11" name="Text 9"/>
          <p:cNvSpPr/>
          <p:nvPr/>
        </p:nvSpPr>
        <p:spPr>
          <a:xfrm>
            <a:off x="777240" y="3526155"/>
            <a:ext cx="10698480" cy="1591056"/>
          </a:xfrm>
          <a:prstGeom prst="rect">
            <a:avLst/>
          </a:prstGeom>
          <a:noFill/>
          <a:ln/>
        </p:spPr>
        <p:txBody>
          <a:bodyPr wrap="square" lIns="0" tIns="0" rIns="0" bIns="0" rtlCol="0" anchor="ctr"/>
          <a:lstStyle/>
          <a:p>
            <a:pPr indent="0" marL="0">
              <a:buNone/>
            </a:pPr>
            <a:r>
              <a:rPr lang="en-US" sz="1600" b="1" dirty="0">
                <a:solidFill>
                  <a:srgbClr val="1A73E8"/>
                </a:solidFill>
                <a:latin typeface="Calibri" pitchFamily="34" charset="0"/>
                <a:ea typeface="Calibri" pitchFamily="34" charset="-122"/>
                <a:cs typeface="Calibri" pitchFamily="34" charset="-120"/>
              </a:rPr>
              <a:t>Cómo lo hace  </a:t>
            </a:r>
            <a:pPr indent="0" marL="0">
              <a:buNone/>
            </a:pPr>
            <a:r>
              <a:rPr lang="en-US" sz="1600" dirty="0">
                <a:solidFill>
                  <a:srgbClr val="202124"/>
                </a:solidFill>
                <a:latin typeface="Calibri" pitchFamily="34" charset="0"/>
                <a:ea typeface="Calibri" pitchFamily="34" charset="-122"/>
                <a:cs typeface="Calibri" pitchFamily="34" charset="-120"/>
              </a:rPr>
              <a:t>X_dia es la misma tabla de la Parte 1, pero con una fila por central y día, 7.320 filas. eps=1.5 es el radio, qué tan cerca tienen que estar dos días para ser vecinos. min_samples=5 es cuántos vecinos hacen falta para formar un grupo. fit reparte los 7.320 días. Los que quedan fuera llevan la etiqueta menos uno, que crosstab muestra en la primera columna.</a:t>
            </a:r>
            <a:endParaRPr lang="en-US" sz="1600" dirty="0"/>
          </a:p>
        </p:txBody>
      </p:sp>
      <p:sp>
        <p:nvSpPr>
          <p:cNvPr id="12" name="Text 10"/>
          <p:cNvSpPr/>
          <p:nvPr/>
        </p:nvSpPr>
        <p:spPr>
          <a:xfrm>
            <a:off x="548640" y="5190363"/>
            <a:ext cx="7315200" cy="292608"/>
          </a:xfrm>
          <a:prstGeom prst="rect">
            <a:avLst/>
          </a:prstGeom>
          <a:noFill/>
          <a:ln/>
        </p:spPr>
        <p:txBody>
          <a:bodyPr wrap="square" lIns="0" tIns="0" rIns="0" bIns="0" rtlCol="0" anchor="ctr"/>
          <a:lstStyle/>
          <a:p>
            <a:pPr indent="0" marL="0">
              <a:buNone/>
            </a:pPr>
            <a:r>
              <a:rPr lang="en-US" sz="1300" b="1" dirty="0">
                <a:solidFill>
                  <a:srgbClr val="B06000"/>
                </a:solidFill>
                <a:latin typeface="Calibri" pitchFamily="34" charset="0"/>
                <a:ea typeface="Calibri" pitchFamily="34" charset="-122"/>
                <a:cs typeface="Calibri" pitchFamily="34" charset="-120"/>
              </a:rPr>
              <a:t>Lo que sale y lo que significa, en la lámina siguiente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sale al correr la celda, y qué significa</a:t>
            </a:r>
            <a:endParaRPr lang="en-US" sz="1400" dirty="0"/>
          </a:p>
        </p:txBody>
      </p:sp>
      <p:sp>
        <p:nvSpPr>
          <p:cNvPr id="6" name="Text 4"/>
          <p:cNvSpPr/>
          <p:nvPr/>
        </p:nvSpPr>
        <p:spPr>
          <a:xfrm>
            <a:off x="548640" y="1508760"/>
            <a:ext cx="5852160" cy="256032"/>
          </a:xfrm>
          <a:prstGeom prst="rect">
            <a:avLst/>
          </a:prstGeom>
          <a:noFill/>
          <a:ln/>
        </p:spPr>
        <p:txBody>
          <a:bodyPr wrap="square" lIns="0" tIns="0" rIns="0" bIns="0" rtlCol="0" anchor="ctr"/>
          <a:lstStyle/>
          <a:p>
            <a:pPr indent="0" marL="0">
              <a:buNone/>
            </a:pPr>
            <a:r>
              <a:rPr lang="en-US" sz="1200" b="1" dirty="0">
                <a:solidFill>
                  <a:srgbClr val="5F6368"/>
                </a:solidFill>
                <a:latin typeface="Calibri" pitchFamily="34" charset="0"/>
                <a:ea typeface="Calibri" pitchFamily="34" charset="-122"/>
                <a:cs typeface="Calibri" pitchFamily="34" charset="-120"/>
              </a:rPr>
              <a:t>LO QUE MUESTRA COLAB</a:t>
            </a:r>
            <a:endParaRPr lang="en-US" sz="1200" dirty="0"/>
          </a:p>
        </p:txBody>
      </p:sp>
      <p:sp>
        <p:nvSpPr>
          <p:cNvPr id="7" name="Text 5"/>
          <p:cNvSpPr/>
          <p:nvPr/>
        </p:nvSpPr>
        <p:spPr>
          <a:xfrm>
            <a:off x="6675120" y="1508760"/>
            <a:ext cx="4965192" cy="256032"/>
          </a:xfrm>
          <a:prstGeom prst="rect">
            <a:avLst/>
          </a:prstGeom>
          <a:noFill/>
          <a:ln/>
        </p:spPr>
        <p:txBody>
          <a:bodyPr wrap="square" lIns="0" tIns="0" rIns="0" bIns="0" rtlCol="0" anchor="ctr"/>
          <a:lstStyle/>
          <a:p>
            <a:pPr indent="0" marL="0">
              <a:buNone/>
            </a:pPr>
            <a:r>
              <a:rPr lang="en-US" sz="1200" b="1" dirty="0">
                <a:solidFill>
                  <a:srgbClr val="8A6D00"/>
                </a:solidFill>
                <a:latin typeface="Calibri" pitchFamily="34" charset="0"/>
                <a:ea typeface="Calibri" pitchFamily="34" charset="-122"/>
                <a:cs typeface="Calibri" pitchFamily="34" charset="-120"/>
              </a:rPr>
              <a:t>LO QUE DICE</a:t>
            </a:r>
            <a:endParaRPr lang="en-US" sz="1200" dirty="0"/>
          </a:p>
        </p:txBody>
      </p:sp>
      <p:sp>
        <p:nvSpPr>
          <p:cNvPr id="8" name="Shape 6"/>
          <p:cNvSpPr/>
          <p:nvPr/>
        </p:nvSpPr>
        <p:spPr>
          <a:xfrm>
            <a:off x="548640" y="1828800"/>
            <a:ext cx="5852160" cy="2322576"/>
          </a:xfrm>
          <a:prstGeom prst="rect">
            <a:avLst/>
          </a:prstGeom>
          <a:solidFill>
            <a:srgbClr val="FFFFFF"/>
          </a:solidFill>
          <a:ln w="12700">
            <a:solidFill>
              <a:srgbClr val="DADCE0"/>
            </a:solidFill>
            <a:prstDash val="solid"/>
          </a:ln>
        </p:spPr>
      </p:sp>
      <p:sp>
        <p:nvSpPr>
          <p:cNvPr id="9" name="Text 7"/>
          <p:cNvSpPr/>
          <p:nvPr/>
        </p:nvSpPr>
        <p:spPr>
          <a:xfrm>
            <a:off x="731520" y="1965960"/>
            <a:ext cx="5577840" cy="2048256"/>
          </a:xfrm>
          <a:prstGeom prst="rect">
            <a:avLst/>
          </a:prstGeom>
          <a:noFill/>
          <a:ln/>
        </p:spPr>
        <p:txBody>
          <a:bodyPr wrap="square" lIns="0" tIns="0" rIns="0" bIns="0" rtlCol="0" anchor="t"/>
          <a:lstStyle/>
          <a:p>
            <a:pPr indent="0" marL="0">
              <a:buNone/>
            </a:pPr>
            <a:r>
              <a:rPr lang="en-US" sz="1600" dirty="0">
                <a:solidFill>
                  <a:srgbClr val="202124"/>
                </a:solidFill>
                <a:latin typeface="Courier New" pitchFamily="34" charset="0"/>
                <a:ea typeface="Courier New" pitchFamily="34" charset="-122"/>
                <a:cs typeface="Courier New" pitchFamily="34" charset="-120"/>
              </a:rPr>
              <a:t>col_0     -1     0    1     2</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row_0                        </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carbon     0   732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diesel     0     0  366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eolica  1464     0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gas        0  1098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hidro      0  1830    0     0</a:t>
            </a:r>
            <a:endParaRPr lang="en-US" sz="1600" dirty="0"/>
          </a:p>
          <a:p>
            <a:pPr indent="0" marL="0">
              <a:buNone/>
            </a:pPr>
            <a:r>
              <a:rPr lang="en-US" sz="1600" dirty="0">
                <a:solidFill>
                  <a:srgbClr val="202124"/>
                </a:solidFill>
                <a:latin typeface="Courier New" pitchFamily="34" charset="0"/>
                <a:ea typeface="Courier New" pitchFamily="34" charset="-122"/>
                <a:cs typeface="Courier New" pitchFamily="34" charset="-120"/>
              </a:rPr>
              <a:t>solar      0     0    0  1830</a:t>
            </a:r>
            <a:endParaRPr lang="en-US" sz="1600" dirty="0"/>
          </a:p>
        </p:txBody>
      </p:sp>
      <p:sp>
        <p:nvSpPr>
          <p:cNvPr id="10" name="Shape 8"/>
          <p:cNvSpPr/>
          <p:nvPr/>
        </p:nvSpPr>
        <p:spPr>
          <a:xfrm>
            <a:off x="6675120" y="1828800"/>
            <a:ext cx="4965192" cy="4078224"/>
          </a:xfrm>
          <a:prstGeom prst="roundRect">
            <a:avLst>
              <a:gd name="adj" fmla="val 1794"/>
            </a:avLst>
          </a:prstGeom>
          <a:solidFill>
            <a:srgbClr val="FFF8D6"/>
          </a:solidFill>
          <a:ln w="12700">
            <a:solidFill>
              <a:srgbClr val="FFF8D6"/>
            </a:solidFill>
            <a:prstDash val="solid"/>
          </a:ln>
        </p:spPr>
      </p:sp>
      <p:sp>
        <p:nvSpPr>
          <p:cNvPr id="11" name="Text 9"/>
          <p:cNvSpPr/>
          <p:nvPr/>
        </p:nvSpPr>
        <p:spPr>
          <a:xfrm>
            <a:off x="6949440" y="1965960"/>
            <a:ext cx="4462272" cy="3803904"/>
          </a:xfrm>
          <a:prstGeom prst="rect">
            <a:avLst/>
          </a:prstGeom>
          <a:noFill/>
          <a:ln/>
        </p:spPr>
        <p:txBody>
          <a:bodyPr wrap="square" lIns="0" tIns="0" rIns="0" bIns="0" rtlCol="0" anchor="t"/>
          <a:lstStyle/>
          <a:p>
            <a:pPr indent="0" marL="0">
              <a:buNone/>
            </a:pPr>
            <a:r>
              <a:rPr lang="en-US" sz="2800" b="1" dirty="0">
                <a:solidFill>
                  <a:srgbClr val="8A6D00"/>
                </a:solidFill>
                <a:latin typeface="Calibri" pitchFamily="34" charset="0"/>
                <a:ea typeface="Calibri" pitchFamily="34" charset="-122"/>
                <a:cs typeface="Calibri" pitchFamily="34" charset="-120"/>
              </a:rPr>
              <a:t>1.464 días de ruido, todos eólicos</a:t>
            </a:r>
            <a:endParaRPr lang="en-US" sz="28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2800" dirty="0"/>
          </a:p>
          <a:p>
            <a:pPr indent="0" marL="0">
              <a:buNone/>
            </a:pPr>
            <a:r>
              <a:rPr lang="en-US" sz="1800" dirty="0">
                <a:solidFill>
                  <a:srgbClr val="202124"/>
                </a:solidFill>
                <a:latin typeface="Calibri" pitchFamily="34" charset="0"/>
                <a:ea typeface="Calibri" pitchFamily="34" charset="-122"/>
                <a:cs typeface="Calibri" pitchFamily="34" charset="-120"/>
              </a:rPr>
              <a:t>La columna menos uno es el ruido. Solo la fila eólica tiene algo ahí, y es todo. Carbón, gas e hidro cayeron juntas en el grupo 0. K-Means las había separado porque le exigimos 6 montones. DBSCAN no tiene esa exigencia, y como sus días planos están más cerca que el radio, para él son un solo grupo. El diésel en el 1 y la solar en el 2.</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DBSCAN, y lo que no cabe en ningún grupo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DBSCAN no pide cuántos grupos. Pide un radio, y encuentra los grupos solo. Lo que no cabe en ninguno lo llama ruido.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Aquí el ruido fueron los 1.464 días eólicos. No es que el algoritmo fallara, es que las eólicas no tienen un día tipo.</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segunda pregunta de operaciones quedó respondida. Sí hay centrales que no se parecen a nada, las cuatro eólicas.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Dos herramientas, dos preguntas. K-Means, cuántos grupos quieres. DBSCAN, qué tan cerca es cerca. Y el ruido se mira, no se descarta.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Las respuestas para operaciones</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el área puede hacer con la generación</a:t>
            </a:r>
            <a:endParaRPr lang="en-US" sz="1800" dirty="0"/>
          </a:p>
        </p:txBody>
      </p:sp>
      <p:sp>
        <p:nvSpPr>
          <p:cNvPr id="4" name="Shape 2"/>
          <p:cNvSpPr/>
          <p:nvPr/>
        </p:nvSpPr>
        <p:spPr>
          <a:xfrm>
            <a:off x="548640" y="1645920"/>
            <a:ext cx="11091672" cy="1463040"/>
          </a:xfrm>
          <a:prstGeom prst="roundRect">
            <a:avLst>
              <a:gd name="adj" fmla="val 5000"/>
            </a:avLst>
          </a:prstGeom>
          <a:solidFill>
            <a:srgbClr val="E8F0FE"/>
          </a:solidFill>
          <a:ln w="12700">
            <a:solidFill>
              <a:srgbClr val="E8F0FE"/>
            </a:solidFill>
            <a:prstDash val="solid"/>
          </a:ln>
        </p:spPr>
      </p:sp>
      <p:sp>
        <p:nvSpPr>
          <p:cNvPr id="5" name="Text 3"/>
          <p:cNvSpPr/>
          <p:nvPr/>
        </p:nvSpPr>
        <p:spPr>
          <a:xfrm>
            <a:off x="822960" y="17556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Si solo miramos cómo generan durante el día, ¿qué centrales se parecen entre sí?</a:t>
            </a:r>
            <a:endParaRPr lang="en-US" sz="1800" dirty="0"/>
          </a:p>
        </p:txBody>
      </p:sp>
      <p:sp>
        <p:nvSpPr>
          <p:cNvPr id="6" name="Text 4"/>
          <p:cNvSpPr/>
          <p:nvPr/>
        </p:nvSpPr>
        <p:spPr>
          <a:xfrm>
            <a:off x="822960" y="21488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Las de la misma tecnología. Comparando por la forma del día, K-Means con 6 grupos recuperó las 6 tecnologías sin conocerlas.</a:t>
            </a:r>
            <a:endParaRPr lang="en-US" sz="2100" dirty="0"/>
          </a:p>
        </p:txBody>
      </p:sp>
      <p:sp>
        <p:nvSpPr>
          <p:cNvPr id="7" name="Shape 5"/>
          <p:cNvSpPr/>
          <p:nvPr/>
        </p:nvSpPr>
        <p:spPr>
          <a:xfrm>
            <a:off x="548640" y="3246120"/>
            <a:ext cx="11091672" cy="1463040"/>
          </a:xfrm>
          <a:prstGeom prst="roundRect">
            <a:avLst>
              <a:gd name="adj" fmla="val 5000"/>
            </a:avLst>
          </a:prstGeom>
          <a:solidFill>
            <a:srgbClr val="E8F0FE"/>
          </a:solidFill>
          <a:ln w="12700">
            <a:solidFill>
              <a:srgbClr val="E8F0FE"/>
            </a:solidFill>
            <a:prstDash val="solid"/>
          </a:ln>
        </p:spPr>
      </p:sp>
      <p:sp>
        <p:nvSpPr>
          <p:cNvPr id="8" name="Text 6"/>
          <p:cNvSpPr/>
          <p:nvPr/>
        </p:nvSpPr>
        <p:spPr>
          <a:xfrm>
            <a:off x="822960" y="33558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¿Hay centrales que no tienen un día tipo?</a:t>
            </a:r>
            <a:endParaRPr lang="en-US" sz="1800" dirty="0"/>
          </a:p>
        </p:txBody>
      </p:sp>
      <p:sp>
        <p:nvSpPr>
          <p:cNvPr id="9" name="Text 7"/>
          <p:cNvSpPr/>
          <p:nvPr/>
        </p:nvSpPr>
        <p:spPr>
          <a:xfrm>
            <a:off x="822960" y="37490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Sí, las cuatro eólicas. DBSCAN dejó sus 1.464 días fuera de todo grupo, porque cada día depende del viento.</a:t>
            </a:r>
            <a:endParaRPr lang="en-US" sz="2100" dirty="0"/>
          </a:p>
        </p:txBody>
      </p:sp>
      <p:sp>
        <p:nvSpPr>
          <p:cNvPr id="10" name="Shape 8"/>
          <p:cNvSpPr/>
          <p:nvPr/>
        </p:nvSpPr>
        <p:spPr>
          <a:xfrm>
            <a:off x="548640" y="4846320"/>
            <a:ext cx="11091672" cy="1463040"/>
          </a:xfrm>
          <a:prstGeom prst="roundRect">
            <a:avLst>
              <a:gd name="adj" fmla="val 5000"/>
            </a:avLst>
          </a:prstGeom>
          <a:solidFill>
            <a:srgbClr val="FFF8D6"/>
          </a:solidFill>
          <a:ln w="12700">
            <a:solidFill>
              <a:srgbClr val="FFF8D6"/>
            </a:solidFill>
            <a:prstDash val="solid"/>
          </a:ln>
        </p:spPr>
      </p:sp>
      <p:sp>
        <p:nvSpPr>
          <p:cNvPr id="11" name="Text 9"/>
          <p:cNvSpPr/>
          <p:nvPr/>
        </p:nvSpPr>
        <p:spPr>
          <a:xfrm>
            <a:off x="822960" y="4956048"/>
            <a:ext cx="10607040" cy="411480"/>
          </a:xfrm>
          <a:prstGeom prst="rect">
            <a:avLst/>
          </a:prstGeom>
          <a:noFill/>
          <a:ln/>
        </p:spPr>
        <p:txBody>
          <a:bodyPr wrap="square" lIns="0" tIns="0" rIns="0" bIns="0" rtlCol="0" anchor="ctr"/>
          <a:lstStyle/>
          <a:p>
            <a:pPr indent="0" marL="0">
              <a:buNone/>
            </a:pPr>
            <a:r>
              <a:rPr lang="en-US" sz="1800" b="1" dirty="0">
                <a:solidFill>
                  <a:srgbClr val="8A6D00"/>
                </a:solidFill>
                <a:latin typeface="Calibri" pitchFamily="34" charset="0"/>
                <a:ea typeface="Calibri" pitchFamily="34" charset="-122"/>
                <a:cs typeface="Calibri" pitchFamily="34" charset="-120"/>
              </a:rPr>
              <a:t>Qué conviene hacer</a:t>
            </a:r>
            <a:endParaRPr lang="en-US" sz="1800" dirty="0"/>
          </a:p>
        </p:txBody>
      </p:sp>
      <p:sp>
        <p:nvSpPr>
          <p:cNvPr id="12" name="Text 10"/>
          <p:cNvSpPr/>
          <p:nvPr/>
        </p:nvSpPr>
        <p:spPr>
          <a:xfrm>
            <a:off x="822960" y="53492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Planificar carbón, gas e hidro en bloque, porque se comportan parejo. Y tratar las eólicas día a día, con el pronóstico de viento.</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3" name="Text 1"/>
          <p:cNvSpPr/>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Abran el Lab 05. El cuaderno tiene las mismas tres partes que esta clase, en la sección En clase. Corran la Parte 1, la Parte 2 y la Parte 3. Los tres estudios de la sección Para estudiar quedan para la casa.</a:t>
            </a:r>
            <a:endParaRPr lang="en-US" sz="2000" dirty="0"/>
          </a:p>
        </p:txBody>
      </p:sp>
      <p:sp>
        <p:nvSpPr>
          <p:cNvPr id="4" name="Text 2"/>
          <p:cNvSpPr/>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coincide, escriban en el chat el nombre de la parte.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AB00"/>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PARA LA CASA</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Lo que queda para estudiar con calma, en el mismo cuaderno y con la guía en PDF.</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1   </a:t>
            </a:r>
            <a:pPr indent="0" marL="0">
              <a:buNone/>
            </a:pPr>
            <a:r>
              <a:rPr lang="en-US" sz="2400" dirty="0">
                <a:solidFill>
                  <a:srgbClr val="0B3D62"/>
                </a:solidFill>
                <a:latin typeface="Calibri" pitchFamily="34" charset="0"/>
                <a:ea typeface="Calibri" pitchFamily="34" charset="-122"/>
                <a:cs typeface="Calibri" pitchFamily="34" charset="-120"/>
              </a:rPr>
              <a:t>PCA. Cómo dibujar 20 centrales de 24 números en un plano de dos.</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2   </a:t>
            </a:r>
            <a:pPr indent="0" marL="0">
              <a:buNone/>
            </a:pPr>
            <a:r>
              <a:rPr lang="en-US" sz="2400" dirty="0">
                <a:solidFill>
                  <a:srgbClr val="0B3D62"/>
                </a:solidFill>
                <a:latin typeface="Calibri" pitchFamily="34" charset="0"/>
                <a:ea typeface="Calibri" pitchFamily="34" charset="-122"/>
                <a:cs typeface="Calibri" pitchFamily="34" charset="-120"/>
              </a:rPr>
              <a:t>La silueta. Cómo medir si los grupos quedaron bien sin tener la respuesta.</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Estudio 3   </a:t>
            </a:r>
            <a:pPr indent="0" marL="0">
              <a:buNone/>
            </a:pPr>
            <a:r>
              <a:rPr lang="en-US" sz="2400" dirty="0">
                <a:solidFill>
                  <a:srgbClr val="0B3D62"/>
                </a:solidFill>
                <a:latin typeface="Calibri" pitchFamily="34" charset="0"/>
                <a:ea typeface="Calibri" pitchFamily="34" charset="-122"/>
                <a:cs typeface="Calibri" pitchFamily="34" charset="-120"/>
              </a:rPr>
              <a:t>LDA. Encontrar temas en el texto libre de la bitácora, sin leerla.</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Guía   </a:t>
            </a:r>
            <a:pPr indent="0" marL="0">
              <a:buNone/>
            </a:pPr>
            <a:r>
              <a:rPr lang="en-US" sz="2400" dirty="0">
                <a:solidFill>
                  <a:srgbClr val="0B3D62"/>
                </a:solidFill>
                <a:latin typeface="Calibri" pitchFamily="34" charset="0"/>
                <a:ea typeface="Calibri" pitchFamily="34" charset="-122"/>
                <a:cs typeface="Calibri" pitchFamily="34" charset="-120"/>
              </a:rPr>
              <a:t>La guía del alumno del Lab 05 trae cada parte y cada estudio con su respuesta.</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05 · Aprendizaje no supervisado</dc:title>
  <dc:subject>PptxGenJS Presentation</dc:subject>
  <dc:creator>PptxGenJS</dc:creator>
  <cp:lastModifiedBy>PptxGenJS</cp:lastModifiedBy>
  <cp:revision>1</cp:revision>
  <dcterms:created xsi:type="dcterms:W3CDTF">2026-10-22T01:39:19Z</dcterms:created>
  <dcterms:modified xsi:type="dcterms:W3CDTF">2026-10-22T01:39:19Z</dcterms:modified>
</cp:coreProperties>
</file>