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notesMasterIdLst>
    <p:notesMasterId r:id="rId6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notesMaster" Target="notesMasters/notes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TIEMPOS SUGERIDOS
Esta presentación 30 min y el Lab 03 guiado en Colab 45 min.
ESTA LÁMINA
Presentar las tres preguntas del lab. Qué se mira en un archivo antes de calcularle nada, qué se hace con las filas repetidas, las horas vacías y los valores imposibles, y cuánto cambia el resultado según cómo se limpie. La tercera es la que más les va a servir en su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esta lámina al comienzo. Hoy se ven solo estos 6 pasos, que son la Parte 1 del cuaderno. La Parte 2 está al final del mismo cuaderno y queda para la casa, con la guía en PDF. Sus láminas empiezan en la 46, al terminar el Paso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A la izquierda el archivo tal como viene. Las columnas van separadas por punto y coma y los decimales con coma, como guarda Excel en Chile. A la derecha la cuenta de las filas que debería tener, 366 días por 24 horas por 7 regiones.
DECIR
Antes de arreglar nada se cuentan las filas. Si sobran o faltan, algo viene mal aunque ningún error lo avise.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LÍNEA POR LÍNEA
DATOS = "https://...datos/" e import pandas as pd
Lo mismo de los labs anteriores, la dirección de la carpeta de datos y la herramienta de tablas.
sucia = pd.read_csv(DATOS + "demanda_sucia.csv", sep=";")
Lee el archivo tal como llegó. sep=";" avisa que las columnas van separadas por punto y coma. Se guarda con el nombre sucia porque todavía no se arregla nada.
esperadas = 366 * 24 * 7
Las filas que debería tener. 2024 fue bisiesto, así que tuvo 366 días. El asterisco multiplica.
Los print
Muestran las filas que llegaron, las esperadas y la diferencia. len cuenta las filas, como en el Lab 01.
sucia.head()
Las primeras cinco filas.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import
Trae una herramienta que no viene cargada desde el comienzo. import pandas as pd la trae y le pone el apodo pd, para escribir menos.
as
Le da un apodo a lo que se importa. Desde ahí se usa el apodo.
pd.read_csv( ... )
Lee un archivo separado por comas y lo convierte en tabla. pd es pandas.
+
Suma números. Con textos, los junta uno detrás del otro.
sep=
El separador de columnas del archivo. Por defecto es la coma.
*
Multiplica.
print( ... )
Muestra en pantalla lo que va dentro. Si van varias cosas separadas por coma, las muestra en una línea con un espacio entre ellas.
len( ... )
Cuenta cuántos elementos tiene una lista o cuántas filas tiene una tabla.
-
Resta. Restar dos fechas da el tiempo que pasó entre ellas.
.head(n)
Las primeras n filas. Sin n, cinco.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 viene de separador. Por defecto read_csv separa en cada coma.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import
Trae una herramienta que no viene cargada desde el comienzo. import pandas as pd la trae y le pone el apodo pd, para escribir menos.
as
Le da un apodo a lo que se importa. Desde ahí se usa el apodo.
pd.read_csv( ... )
Lee un archivo separado por comas y lo convierte en tabla. pd es pandas.
+
Suma números. Con textos, los junta uno detrás del otro.
sep=
El separador de columnas del archivo. Por defecto es la coma.
*
Multiplica.
print( ... )
Muestra en pantalla lo que va dentro. Si van varias cosas separadas por coma, las muestra en una línea con un espacio entre ellas.
len( ... )
Cuenta cuántos elementos tiene una lista o cuántas filas tiene una tabla.
-
Resta. Restar dos fechas da el tiempo que pasó entre ellas.
.head(n)
Las primeras n filas. Sin n, cinco.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Llegaron 61.508 filas y se esperaban 61.488. Sobran 20. En la tabla, el mwh aparece con coma, 51,95, y la fecha como 01/01/2024.
PREGUNTAR
¿De dónde pueden salir 20 filas de más? Lo más común es que alguien haya pegado algunas filas dos veces. Se ve en el Paso 4.
MEMORIA
DATOS, pd, sucia y esperadas son nuevos.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import
Trae una herramienta que no viene cargada desde el comienzo. import pandas as pd la trae y le pone el apodo pd, para escribir menos.
as
Le da un apodo a lo que se importa. Desde ahí se usa el apodo.
pd.read_csv( ... )
Lee un archivo separado por comas y lo convierte en tabla. pd es pandas.
+
Suma números. Con textos, los junta uno detrás del otro.
sep=
El separador de columnas del archivo. Por defecto es la coma.
*
Multiplica.
print( ... )
Muestra en pantalla lo que va dentro. Si van varias cosas separadas por coma, las muestra en una línea con un espacio entre ellas.
len( ... )
Cuenta cuántos elementos tiene una lista o cuántas filas tiene una tabla.
-
Resta. Restar dos fechas da el tiempo que pasó entre ellas.
.head(n)
Las primeras n filas. Sin n, cinco.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Contar filas es lo primero que se hace con un archivo nuevo, igual que en el Lab 01 antes y después de unir.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Tres datos de cómo viene escrito el archivo. sep dice dónde se separan las columnas, decimal dice qué signo separa los decimales y dayfirst dice que en la fecha va primero el día. Con eso el número queda como número y la fecha como fecha.
DECIR
El archivo no está malo. Está escrito como se escribe en Chile, y hay que avisarle a pandas.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La misma fecha, 01/02/2024, se lee distinto en Chile y en Estados Unidos.
DECIR
Si no se avisa, pandas puede leer el 1 de febrero como el 2 de enero. Con el 13 de enero no hay duda, porque no existe el mes 13, pero con los primeros doce días de cada mes sí. Es un error que no avisa.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LÍNEA POR LÍNEA
limpia = pd.read_csv(DATOS + "demanda_sucia.csv", sep=";", decimal=",", parse_dates=["fecha"], dayfirst=True)
Lee de nuevo el mismo archivo, ahora avisando cómo viene escrito. decimal="," dice que la coma separa los decimales. parse_dates=["fecha"] pide leer esa columna como fecha, como en el Lab 01, y dayfirst=True avisa que primero va el día. La instrucción ocupa dos líneas porque el paréntesis sigue abierto.
print("Demanda total del archivo", round(limpia["mwh"].sum()), "MWh")
Suma toda la columna mwh. Si la columna fuera texto, sum pegaría los textos uno detrás del otro en vez de sumarlos. round deja el número sin decimales.
Los otros dos print
El primer y el último día, como en el Lab 01.
limpia.head()
Las primeras cinco filas, para compararlas con las del Paso 1.
SINTAXIS DE TODO EL CÓDIGO DE ESTA CELDA
# comentario
Todo lo que va después del signo # es un comentario. Python no lo ejecuta, sirve para explicar el código a quien lo lee.
decimal=","
El signo que separa los decimales en el archivo. Por defecto es el punto. En Chile se usa la coma.
"texto"
Lo que va entre comillas es texto. Sin comillas, Python lo entiende como un nombre o un número.
dayfirst=True
Avisa que en las fechas escritas con números va primero el día y después el mes, como en Chile.
nombre = valor
Un solo signo igual guarda. A la izquierda va el nombre y a la derecha lo que se guarda. Si el nombre ya existía, su valor anterior se reemplaza.
pd.read_csv( ... )
Lee un archivo separado por comas y lo convierte en tabla. pd es pandas.
+
Suma números. Con textos, los junta uno detrás del otro.
sep=
El separador de columnas del archivo. Por defecto es la coma.
( ... ) en varias líneas
Mientras un paréntesis siga abierto, la instrucción continúa en la línea de abajo. La sangría de esas líneas es solo para que se lea mejor.
parse_dates=[ ... ]
Las columnas que hay que leer como fecha y no como texto.
print( ... )
Muestra en pantalla lo que va dentro. Si van varias cosas separadas por coma, las muestra en una línea con un espacio entre ellas.
round(valor, n)
Redondea un número a n decimales. Sin n, al entero más cercano.
tabla["columna"]
Corchetes con un nombre entre comillas eligen una columna de la tabla. También eligen una llave de un diccionario.
.sum()
Suma la columna. En una columna de True y False, cuenta los True.
.min()
El valor más chico. En fechas, la más antigua.
a.b().c()
Cadena de pasos. Cada punto toma lo que salió a su izquierda y le aplica algo más. Se lee de izquierda a derecha.
.date()
Deja solo el día de una fecha, sin la hora.
.max()
El valor más grande. En fechas, la más reciente.
.head(n)
Las primeras n filas. Sin n, cinco.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escribe los decimales con punto. Por eso en la tabla 51,95 aparece como 51.95.
SINTAXIS DE TODO EL CÓDIGO DE ESTA CELDA
# comentario
Todo lo que va después del signo # es un comentario. Python no lo ejecuta, sirve para explicar el código a quien lo lee.
decimal=","
El signo que separa los decimales en el archivo. Por defecto es el punto. En Chile se usa la coma.
"texto"
Lo que va entre comillas es texto. Sin comillas, Python lo entiende como un nombre o un número.
dayfirst=True
Avisa que en las fechas escritas con números va primero el día y después el mes, como en Chile.
nombre = valor
Un solo signo igual guarda. A la izquierda va el nombre y a la derecha lo que se guarda. Si el nombre ya existía, su valor anterior se reemplaza.
pd.read_csv( ... )
Lee un archivo separado por comas y lo convierte en tabla. pd es pandas.
+
Suma números. Con textos, los junta uno detrás del otro.
sep=
El separador de columnas del archivo. Por defecto es la coma.
( ... ) en varias líneas
Mientras un paréntesis siga abierto, la instrucción continúa en la línea de abajo. La sangría de esas líneas es solo para que se lea mejor.
parse_dates=[ ... ]
Las columnas que hay que leer como fecha y no como texto.
print( ... )
Muestra en pantalla lo que va dentro. Si van varias cosas separadas por coma, las muestra en una línea con un espacio entre ellas.
round(valor, n)
Redondea un número a n decimales. Sin n, al entero más cercano.
tabla["columna"]
Corchetes con un nombre entre comillas eligen una columna de la tabla. También eligen una llave de un diccionario.
.sum()
Suma la columna. En una columna de True y False, cuenta los True.
.min()
El valor más chico. En fechas, la más antigua.
a.b().c()
Cadena de pasos. Cada punto toma lo que salió a su izquierda y le aplica algo más. Se lee de izquierda a derecha.
.date()
Deja solo el día de una fecha, sin la hora.
.max()
El valor más grande. En fechas, la más reciente.
.head(n)
Las primeras n filas. Sin n, cinco.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La suma da 13.560.560 MWh. Es la suma del archivo tal como viene, con las filas repetidas y los valores raros de los próximos pasos. Sirve para comprobar que mwh ya es número. Las fechas van del 2024-01-01 al 2024-12-31, el año completo.
DECIR
Compárenla con la tabla del Paso 1. 51,95 pasó a 51.95 y 01/01/2024 pasó a 2024-01-01, que es como pandas muestra las fechas.
MEMORIA
limpia es nueva. sucia sigue igual, tal como llegó.
SINTAXIS DE TODO EL CÓDIGO DE ESTA CELDA
# comentario
Todo lo que va después del signo # es un comentario. Python no lo ejecuta, sirve para explicar el código a quien lo lee.
decimal=","
El signo que separa los decimales en el archivo. Por defecto es el punto. En Chile se usa la coma.
"texto"
Lo que va entre comillas es texto. Sin comillas, Python lo entiende como un nombre o un número.
dayfirst=True
Avisa que en las fechas escritas con números va primero el día y después el mes, como en Chile.
nombre = valor
Un solo signo igual guarda. A la izquierda va el nombre y a la derecha lo que se guarda. Si el nombre ya existía, su valor anterior se reemplaza.
pd.read_csv( ... )
Lee un archivo separado por comas y lo convierte en tabla. pd es pandas.
+
Suma números. Con textos, los junta uno detrás del otro.
sep=
El separador de columnas del archivo. Por defecto es la coma.
( ... ) en varias líneas
Mientras un paréntesis siga abierto, la instrucción continúa en la línea de abajo. La sangría de esas líneas es solo para que se lea mejor.
parse_dates=[ ... ]
Las columnas que hay que leer como fecha y no como texto.
print( ... )
Muestra en pantalla lo que va dentro. Si van varias cosas separadas por coma, las muestra en una línea con un espacio entre ellas.
round(valor, n)
Redondea un número a n decimales. Sin n, al entero más cercano.
tabla["columna"]
Corchetes con un nombre entre comillas eligen una columna de la tabla. También eligen una llave de un diccionario.
.sum()
Suma la columna. En una columna de True y False, cuenta los True.
.min()
El valor más chico. En fechas, la más antigua.
a.b().c()
Cadena de pasos. Cada punto toma lo que salió a su izquierda y le aplica algo más. Se lee de izquierda a derecha.
.date()
Deja solo el día de una fecha, sin la hora.
.max()
El valor más grande. En fechas, la más reciente.
.head(n)
Las primeras n filas. Sin n, cinco.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Antes de convertir algo a mano, conviene revisar si read_csv tiene una opción que lo resuelva al leer.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PREGUNTAR
Dejar que voten antes de mostrar el diagrama.
RESPUESTA
Más de 40. Son 49, siete formas por región, con espacios de más y mayúsculas distintas.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Las siete formas en que viene escrita Biobío. Algunas con espacios al comienzo o al final, otras en minúscula o en mayúscula. strip quita los espacios y quedan tres formas. title iguala las mayúsculas y queda una sola.
DECIR
Para una persona son la misma región. Para Python son siete textos distintos, y al agrupar saldrían siete grupos.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LÍNEA POR LÍNEA
print("Formas distintas en el archivo", sucia["region"].nunique())
nunique cuenta cuántos valores distintos hay en la columna region del archivo como llegó.
limpia["region"] = limpia["region"].str.strip()
A la derecha, toma la columna region y le quita a cada fila los espacios del comienzo y del final. .str abre las herramientas de texto. A la izquierda, el resultado reemplaza la columna.
limpia["region"] = limpia["region"].str.title()
Lo mismo, ahora dejando la primera letra en mayúscula y el resto en minúscula.
Los otros dos print
Vuelven a contar las formas distintas después de cada arreglo.
SINTAXIS DE TODO EL CÓDIGO DE ESTA CELDA
# comentario
Todo lo que va después del signo # es un comentario. Python no lo ejecuta, sirve para explicar el código a quien lo lee.
print( ... )
Muestra en pantalla lo que va dentro. Si van varias cosas separadas por coma, las muestra en una línea con un espacio entre ellas.
"texto"
Lo que va entre comillas es texto. Sin comillas, Python lo entiende como un nombre o un número.
tabla["columna"]
Corchetes con un nombre entre comillas eligen una columna de la tabla. También eligen una llave de un diccionario.
.nunique()
Cuántos valores distintos hay.
tabla["nueva"] = ...
Guarda el resultado como una columna. Si no existía, la crea.
.str.
Abre las herramientas de texto de la columna, para aplicarlas a todas las filas.
.strip()
Quita los espacios del comienzo y del final.
.title()
Primera letra de cada palabra en mayúscula y el resto en minúscula.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la misma forma de crear o cambiar una columna del Lab 02, con el nombre de la columna a la izquierda del igual.
SINTAXIS DE TODO EL CÓDIGO DE ESTA CELDA
# comentario
Todo lo que va después del signo # es un comentario. Python no lo ejecuta, sirve para explicar el código a quien lo lee.
print( ... )
Muestra en pantalla lo que va dentro. Si van varias cosas separadas por coma, las muestra en una línea con un espacio entre ellas.
"texto"
Lo que va entre comillas es texto. Sin comillas, Python lo entiende como un nombre o un número.
tabla["columna"]
Corchetes con un nombre entre comillas eligen una columna de la tabla. También eligen una llave de un diccionario.
.nunique()
Cuántos valores distintos hay.
tabla["nueva"] = ...
Guarda el resultado como una columna. Si no existía, la crea.
.str.
Abre las herramientas de texto de la columna, para aplicarlas a todas las filas.
.strip()
Quita los espacios del comienzo y del final.
.title()
Primera letra de cada palabra en mayúscula y el resto en minúscula.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49 formas en el archivo, 21 después de quitar los espacios y 7 después de igualar las mayúsculas. 7 es el número de regiones.
DECIR
Contar los valores distintos es la forma rápida de ver el problema. Si hay más de los que debería haber, hay nombres mal escritos.
SI ALGUIEN LA CORRE DOS VECES
La línea del medio dice 7 y no 21, porque limpia ya quedó arreglada la primera vez. Para ver de nuevo 49, 21 y 7 se corre el Paso 2 y después el Paso 3.
MEMORIA
sucia y limpia se usaron. limpia cambió por dentro, en su columna region, aunque sigue del mismo tamaño.
SINTAXIS DE TODO EL CÓDIGO DE ESTA CELDA
# comentario
Todo lo que va después del signo # es un comentario. Python no lo ejecuta, sirve para explicar el código a quien lo lee.
print( ... )
Muestra en pantalla lo que va dentro. Si van varias cosas separadas por coma, las muestra en una línea con un espacio entre ellas.
"texto"
Lo que va entre comillas es texto. Sin comillas, Python lo entiende como un nombre o un número.
tabla["columna"]
Corchetes con un nombre entre comillas eligen una columna de la tabla. También eligen una llave de un diccionario.
.nunique()
Cuántos valores distintos hay.
tabla["nueva"] = ...
Guarda el resultado como una columna. Si no existía, la crea.
.str.
Abre las herramientas de texto de la columna, para aplicarlas a todas las filas.
.strip()
Quita los espacios del comienzo y del final.
.title()
Primera letra de cada palabra en mayúscula y el resto en minúscula.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Esto pasa mucho con datos que se escriben a mano, como nombres de regiones, comunas o proveedores.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Cinco filas seguidas. La cuarta es idéntica a la tercera, misma fecha, hora, región y demanda. drop_duplicates deja la primera y quita la copia.
DECIR
Una fila repetida suma dos veces la misma hora. El total queda inflado y nadie lo nota.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LÍNEA POR LÍNEA
print("Filas repetidas", limpia.duplicated().sum())
duplicated marca con True cada fila idéntica a una que ya apareció antes. sum cuenta los True, porque True vale 1 y False vale 0.
sin_repetidas = limpia.drop_duplicates()
Quita las filas repetidas, deja la primera de cada una y guarda el resultado como sin_repetidas.
Los otros dos print
Cuentan las filas que quedaron y muestran las esperadas, para comparar.
SINTAXIS DE TODO EL CÓDIGO DE ESTA CELDA
# comentario
Todo lo que va después del signo # es un comentario. Python no lo ejecuta, sirve para explicar el código a quien lo lee.
print( ... )
Muestra en pantalla lo que va dentro. Si van varias cosas separadas por coma, las muestra en una línea con un espacio entre ellas.
"texto"
Lo que va entre comillas es texto. Sin comillas, Python lo entiende como un nombre o un número.
.duplicated()
True en cada fila idéntica a una que ya apareció antes.
a.b().c()
Cadena de pasos. Cada punto toma lo que salió a su izquierda y le aplica algo más. Se lee de izquierda a derecha.
.sum()
Suma la columna. En una columna de True y False, cuenta los True.
nombre = valor
Un solo signo igual guarda. A la izquierda va el nombre y a la derecha lo que se guarda. Si el nombre ya existía, su valor anterior se reemplaza.
.drop_duplicates()
Quita las filas repetidas y deja la primera.
len( ... )
Cuenta cuántos elementos tiene una lista o cuántas filas tiene una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una cadena de pasos que se lee de izquierda a derecha, como en el Lab 01.
SINTAXIS DE TODO EL CÓDIGO DE ESTA CELDA
# comentario
Todo lo que va después del signo # es un comentario. Python no lo ejecuta, sirve para explicar el código a quien lo lee.
print( ... )
Muestra en pantalla lo que va dentro. Si van varias cosas separadas por coma, las muestra en una línea con un espacio entre ellas.
"texto"
Lo que va entre comillas es texto. Sin comillas, Python lo entiende como un nombre o un número.
.duplicated()
True en cada fila idéntica a una que ya apareció antes.
a.b().c()
Cadena de pasos. Cada punto toma lo que salió a su izquierda y le aplica algo más. Se lee de izquierda a derecha.
.sum()
Suma la columna. En una columna de True y False, cuenta los True.
nombre = valor
Un solo signo igual guarda. A la izquierda va el nombre y a la derecha lo que se guarda. Si el nombre ya existía, su valor anterior se reemplaza.
.drop_duplicates()
Quita las filas repetidas y deja la primera.
len( ... )
Cuenta cuántos elementos tiene una lista o cuántas filas tiene una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20 filas repetidas. Al quitarlas quedan 61.488, justo las esperadas. Las filas que sobraban en el Paso 1 eran copias.
DECIR
La cuenta del Paso 1 avisó el problema y este paso lo confirma.
MEMORIA
sin_repetidas es nueva. Es la tabla con la que siguen los próximos pasos.
SINTAXIS DE TODO EL CÓDIGO DE ESTA CELDA
# comentario
Todo lo que va después del signo # es un comentario. Python no lo ejecuta, sirve para explicar el código a quien lo lee.
print( ... )
Muestra en pantalla lo que va dentro. Si van varias cosas separadas por coma, las muestra en una línea con un espacio entre ellas.
"texto"
Lo que va entre comillas es texto. Sin comillas, Python lo entiende como un nombre o un número.
.duplicated()
True en cada fila idéntica a una que ya apareció antes.
a.b().c()
Cadena de pasos. Cada punto toma lo que salió a su izquierda y le aplica algo más. Se lee de izquierda a derecha.
.sum()
Suma la columna. En una columna de True y False, cuenta los True.
nombre = valor
Un solo signo igual guarda. A la izquierda va el nombre y a la derecha lo que se guarda. Si el nombre ya existía, su valor anterior se reemplaza.
.drop_duplicates()
Quita las filas repetidas y deja la primera.
len( ... )
Cuenta cuántos elementos tiene una lista o cuántas filas tiene una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Es el mismo problema de las fichas repetidas del Lab 01, ahora dentro de un solo archivo.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PREGUNTAR
Dejar que voten antes de mostrar el diagrama.
RESPUESTA
Baja. Cero no es un consumo real, y 248 horas en cero arrastran el promedio hacia abajo. Pasa de 208,9 a 203,0 MWh.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El mismo día de Valparaíso, el 16 de septiembre, con ocho horas vacías en ámbar. Borrar la fila deja huecos. Poner cero hace caer la línea a cero. Repetir el valor anterior deja escalones planos. Trazar una recta une el valor de antes con el de después.
DECIR
Cada forma es una decisión. Ninguna es la correcta siempre, pero cambian el resultado, y por eso se deja escrita.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LÍNEA POR LÍNEA
valpo = sin_repetidas[sin_repetidas["region"] == "Valparaíso"].copy()
Un filtro como los del Lab 02, deja solo las horas de Valparaíso. copy guarda esas filas como una tabla aparte, así pandas no muestra un aviso al agregarle columnas.
print("Horas sin dato", valpo["mwh"].isna().sum())
isna marca con True cada celda vacía y sum las cuenta.
Las tres columnas nuevas
Cada una rellena las horas vacías de una forma distinta. fillna(0) pone cero, ffill repite el valor anterior e interpolate traza una recta entre el valor de antes y el de después. round(2) deja la recta con dos decimales, como el resto de la columna.
Los cuatro print
El promedio por hora del año con cada forma. El primero usa la columna original. mean salta las celdas vacías, que es lo mismo que borrar esas filas.
dia = valpo[valpo["fecha"] == "2024-09-16"]
Otro filtro, ahora por fecha, deja un solo día para mirarlo.
dia
Muestra el día, con las columnas una al lado de la otra.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tabla[condición]
Con una columna de True y False adentro, la tabla deja pasar solo las filas con True. Es un filtro.
tabla["columna"]
Corchetes con un nombre entre comillas eligen una columna de la tabla. También eligen una llave de un diccionario.
"texto"
Lo que va entre comillas es texto. Sin comillas, Python lo entiende como un nombre o un número.
==
Dos signos igual preguntan si dos cosas son iguales. Dan True o False. Un solo igual guarda.
.copy()
Una copia. Lo que se cambie en la copia no toca el original.
print( ... )
Muestra en pantalla lo que va dentro. Si van varias cosas separadas por coma, las muestra en una línea con un espacio entre ellas.
.isna()
True en cada celda vacía. Con sum después, cuenta las celdas vacías.
a.b().c()
Cadena de pasos. Cada punto toma lo que salió a su izquierda y le aplica algo más. Se lee de izquierda a derecha.
.sum()
Suma la columna. En una columna de True y False, cuenta los True.
tabla["nueva"] = ...
Guarda el resultado como una columna. Si no existía, la crea.
.fillna(valor)
Rellena las celdas vacías con un valor. Con un diccionario, un valor distinto por columna.
.ffill()
Rellena cada celda vacía repitiendo el valor anterior.
.interpolate()
Rellena cada celda vacía trazando una recta entre el valor de antes y el de después.
.round(n)
Redondea a n decimales. Sin n, redondea al entero más cercano, aunque se siga mostrando con .0.
round(valor, n)
Redondea un número a n decimales. Sin n, al entero más cercano.
.mean()
El promedio. En una columna de True y False, la proporción de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otras dos columnas se leen igual. Solo cambia lo que va después del punto, fillna(0) o interpolate().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tabla[condición]
Con una columna de True y False adentro, la tabla deja pasar solo las filas con True. Es un filtro.
tabla["columna"]
Corchetes con un nombre entre comillas eligen una columna de la tabla. También eligen una llave de un diccionario.
"texto"
Lo que va entre comillas es texto. Sin comillas, Python lo entiende como un nombre o un número.
==
Dos signos igual preguntan si dos cosas son iguales. Dan True o False. Un solo igual guarda.
.copy()
Una copia. Lo que se cambie en la copia no toca el original.
print( ... )
Muestra en pantalla lo que va dentro. Si van varias cosas separadas por coma, las muestra en una línea con un espacio entre ellas.
.isna()
True en cada celda vacía. Con sum después, cuenta las celdas vacías.
a.b().c()
Cadena de pasos. Cada punto toma lo que salió a su izquierda y le aplica algo más. Se lee de izquierda a derecha.
.sum()
Suma la columna. En una columna de True y False, cuenta los True.
tabla["nueva"] = ...
Guarda el resultado como una columna. Si no existía, la crea.
.fillna(valor)
Rellena las celdas vacías con un valor. Con un diccionario, un valor distinto por columna.
.ffill()
Rellena cada celda vacía repitiendo el valor anterior.
.interpolate()
Rellena cada celda vacía trazando una recta entre el valor de antes y el de después.
.round(n)
Redondea a n decimales. Sin n, redondea al entero más cercano, aunque se siga mostrando con .0.
round(valor, n)
Redondea un número a n decimales. Sin n, al entero más cercano.
.mean()
El promedio. En una columna de True y False, la proporción de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 copy, en algunas versiones de pandas aparece un aviso en rosado al agregar columnas. No es un error, pero confunde.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tabla[condición]
Con una columna de True y False adentro, la tabla deja pasar solo las filas con True. Es un filtro.
tabla["columna"]
Corchetes con un nombre entre comillas eligen una columna de la tabla. También eligen una llave de un diccionario.
"texto"
Lo que va entre comillas es texto. Sin comillas, Python lo entiende como un nombre o un número.
==
Dos signos igual preguntan si dos cosas son iguales. Dan True o False. Un solo igual guarda.
.copy()
Una copia. Lo que se cambie en la copia no toca el original.
print( ... )
Muestra en pantalla lo que va dentro. Si van varias cosas separadas por coma, las muestra en una línea con un espacio entre ellas.
.isna()
True en cada celda vacía. Con sum después, cuenta las celdas vacías.
a.b().c()
Cadena de pasos. Cada punto toma lo que salió a su izquierda y le aplica algo más. Se lee de izquierda a derecha.
.sum()
Suma la columna. En una columna de True y False, cuenta los True.
tabla["nueva"] = ...
Guarda el resultado como una columna. Si no existía, la crea.
.fillna(valor)
Rellena las celdas vacías con un valor. Con un diccionario, un valor distinto por columna.
.ffill()
Rellena cada celda vacía repitiendo el valor anterior.
.interpolate()
Rellena cada celda vacía trazando una recta entre el valor de antes y el de después.
.round(n)
Redondea a n decimales. Sin n, redondea al entero más cercano, aunque se siga mostrando con .0.
round(valor, n)
Redondea un número a n decimales. Sin n, al entero más cercano.
.mean()
El promedio. En una columna de True y False, la proporción de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Valparaíso tiene 248 horas sin dato. Borrando las vacías el promedio queda en 208,9 MWh, poniendo cero baja a 203,0, y repitiendo o con una recta queda en 208,8. En la tabla, a la 1 y a las 2 de la mañana mwh viene vacío. Poner cero deja 0, repetir deja 177,03 en las dos horas y la recta baja de a poco, 173,35 y 169,66.
PREGUNTAR
¿Cuál usarían para un informe de demanda? Poner cero es la peor, porque el consumo no se fue a cero, se perdió el dato. Entre repetir y la recta, la recta se parece más a cómo se mueve la demanda. En la Parte 2 se compara con el dato real.
MEMORIA
valpo y dia son nuevas.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tabla[condición]
Con una columna de True y False adentro, la tabla deja pasar solo las filas con True. Es un filtro.
tabla["columna"]
Corchetes con un nombre entre comillas eligen una columna de la tabla. También eligen una llave de un diccionario.
"texto"
Lo que va entre comillas es texto. Sin comillas, Python lo entiende como un nombre o un número.
==
Dos signos igual preguntan si dos cosas son iguales. Dan True o False. Un solo igual guarda.
.copy()
Una copia. Lo que se cambie en la copia no toca el original.
print( ... )
Muestra en pantalla lo que va dentro. Si van varias cosas separadas por coma, las muestra en una línea con un espacio entre ellas.
.isna()
True en cada celda vacía. Con sum después, cuenta las celdas vacías.
a.b().c()
Cadena de pasos. Cada punto toma lo que salió a su izquierda y le aplica algo más. Se lee de izquierda a derecha.
.sum()
Suma la columna. En una columna de True y False, cuenta los True.
tabla["nueva"] = ...
Guarda el resultado como una columna. Si no existía, la crea.
.fillna(valor)
Rellena las celdas vacías con un valor. Con un diccionario, un valor distinto por columna.
.ffill()
Rellena cada celda vacía repitiendo el valor anterior.
.interpolate()
Rellena cada celda vacía trazando una recta entre el valor de antes y el de después.
.round(n)
Redondea a n decimales. Sin n, redondea al entero más cercano, aunque se siga mostrando con .0.
round(valor, n)
Redondea un número a n decimales. Sin n, al entero más cercano.
.mean()
El promedio. En una columna de True y False, la proporción de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En un informe no basta con el número. Hay que decir qué se hizo con los datos que faltaban.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Las horas de Atacama, una por punto. Casi todas están entre 20 y 50 MWh. Arriba de la línea punteada, 3 veces el promedio, hay 6 picos. Bajo cero hay 5 horas con demanda negativa.
DECIR
Una regla de negocio es una regla del área, no de Python. La demanda no puede ser negativa, y una hora muchas veces mayor que el promedio es sospechosa.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Los ocho números que entrega describe para Atacama. count son las horas con dato, mean el promedio, std cuánto se alejan del promedio, y después el mínimo, los tres cuartiles y el máximo.
DECIR
No hay que memorizarlos. Lo que importa es mirar el mínimo y el máximo. Un mínimo negativo y un máximo 13 veces el promedio dicen que hay valores imposibles.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LÍNEA POR LÍNEA
region = "Atacama" #@param [...] y veces = 3 #@param {type:"slider", ...}
Una lista para elegir la región y un deslizador para elegir cuántas veces el promedio se considera sospechoso.
una = sin_repetidas[sin_repetidas["region"] == region]
Un filtro como el del Paso 5, deja solo las horas de la región elegida.
print(una["mwh"].describe().round(1))
describe resume la columna en ocho números y round(1) los deja con un decimal.
promedio = una["mwh"].mean()
El promedio de la región.
negativas = una[una["mwh"] &lt; 0]
Las horas con demanda bajo cero. Es otro filtro, con menor que en vez de igual.
picos = una[una["mwh"] &gt; veces * promedio]
Las horas que superan el promedio multiplicado por veces.
Los dos print
Cuentan las horas de cada regla con len.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{type:"slider", min, max, step}
Pide a Colab un deslizador. min y max son los extremos y step el salto entre un valor y el siguiente.
tabla[condición]
Con una columna de True y False adentro, la tabla deja pasar solo las filas con True. Es un filtro.
tabla["columna"]
Corchetes con un nombre entre comillas eligen una columna de la tabla. También eligen una llave de un diccionario.
==
Dos signos igual preguntan si dos cosas son iguales. Dan True o False. Un solo igual guarda.
print( ... )
Muestra en pantalla lo que va dentro. Si van varias cosas separadas por coma, las muestra en una línea con un espacio entre ellas.
.describe()
Resume una columna de números en ocho cifras. count cuántos datos tiene, mean el promedio, std cuánto se alejan del promedio, min el más bajo, 25%, 50% y 75% los cuartiles, y max el más alto.
a.b().c()
Cadena de pasos. Cada punto toma lo que salió a su izquierda y le aplica algo más. Se lee de izquierda a derecha.
.round(n)
Redondea a n decimales. Sin n, redondea al entero más cercano, aunque se siga mostrando con .0.
.mean()
El promedio. En una columna de True y False, la proporción de True.
&lt; &gt; &lt;= &gt;=
Menor, mayor, menor o igual, mayor o igual. Dan True o False. Con una columna, comparan fila por fila.
*
Multiplica.
len( ... )
Cuenta cuántos elementos tiene una lista o cuántas filas tiene una tabla.
f"... {nombre} ..."
Texto con una f delante. Lo que va entre llaves se reemplaza por su valor al mostrarse.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asterisco multiplica. Python calcula primero veces * promedio y después compara.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{type:"slider", min, max, step}
Pide a Colab un deslizador. min y max son los extremos y step el salto entre un valor y el siguiente.
tabla[condición]
Con una columna de True y False adentro, la tabla deja pasar solo las filas con True. Es un filtro.
tabla["columna"]
Corchetes con un nombre entre comillas eligen una columna de la tabla. También eligen una llave de un diccionario.
==
Dos signos igual preguntan si dos cosas son iguales. Dan True o False. Un solo igual guarda.
print( ... )
Muestra en pantalla lo que va dentro. Si van varias cosas separadas por coma, las muestra en una línea con un espacio entre ellas.
.describe()
Resume una columna de números en ocho cifras. count cuántos datos tiene, mean el promedio, std cuánto se alejan del promedio, min el más bajo, 25%, 50% y 75% los cuartiles, y max el más alto.
a.b().c()
Cadena de pasos. Cada punto toma lo que salió a su izquierda y le aplica algo más. Se lee de izquierda a derecha.
.round(n)
Redondea a n decimales. Sin n, redondea al entero más cercano, aunque se siga mostrando con .0.
.mean()
El promedio. En una columna de True y False, la proporción de True.
&lt; &gt; &lt;= &gt;=
Menor, mayor, menor o igual, mayor o igual. Dan True o False. Con una columna, comparan fila por fila.
*
Multiplica.
len( ... )
Cuenta cuántos elementos tiene una lista o cuántas filas tiene una tabla.
f"... {nombre} ..."
Texto con una f delante. Lo que va entre llaves se reemplaza por su valor al mostrarse.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describe muestra 8.512 horas con dato, un promedio de 35,2 MWh y una mediana de 34,5. El mínimo es -42,6 y el máximo 442,7. Hay 5 horas negativas y 6 sobre 3 veces el promedio.
DECIR
describe da la pista, porque el mínimo y el máximo no calzan con lo demás. Las reglas cuentan cuántas horas son.
MEMORIA
region, veces, una, promedio, negativas y picos son nuevos.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{type:"slider", min, max, step}
Pide a Colab un deslizador. min y max son los extremos y step el salto entre un valor y el siguiente.
tabla[condición]
Con una columna de True y False adentro, la tabla deja pasar solo las filas con True. Es un filtro.
tabla["columna"]
Corchetes con un nombre entre comillas eligen una columna de la tabla. También eligen una llave de un diccionario.
==
Dos signos igual preguntan si dos cosas son iguales. Dan True o False. Un solo igual guarda.
print( ... )
Muestra en pantalla lo que va dentro. Si van varias cosas separadas por coma, las muestra en una línea con un espacio entre ellas.
.describe()
Resume una columna de números en ocho cifras. count cuántos datos tiene, mean el promedio, std cuánto se alejan del promedio, min el más bajo, 25%, 50% y 75% los cuartiles, y max el más alto.
a.b().c()
Cadena de pasos. Cada punto toma lo que salió a su izquierda y le aplica algo más. Se lee de izquierda a derecha.
.round(n)
Redondea a n decimales. Sin n, redondea al entero más cercano, aunque se siga mostrando con .0.
.mean()
El promedio. En una columna de True y False, la proporción de True.
&lt; &gt; &lt;= &gt;=
Menor, mayor, menor o igual, mayor o igual. Dan True o False. Con una columna, comparan fila por fila.
*
Multiplica.
len( ... )
Cuenta cuántos elementos tiene una lista o cuántas filas tiene una tabla.
f"... {nombre} ..."
Texto con una f delante. Lo que va entre llaves se reemplaza por su valor al mostrarse.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PREGUNTAR
Dejar que voten antes de correr la celda.
RESPUESTA
Casi la mitad, 4.000 horas. En Atacama, 4.000 de las 8.512 horas con dato están sobre el promedio, y no por eso son imposibles.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CAMBIÓ
Se movió el deslizador a 1. La regla ahora marca toda hora que supere el promedio.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{type:"slider", min, max, step}
Pide a Colab un deslizador. min y max son los extremos y step el salto entre un valor y el siguiente.
tabla[condición]
Con una columna de True y False adentro, la tabla deja pasar solo las filas con True. Es un filtro.
tabla["columna"]
Corchetes con un nombre entre comillas eligen una columna de la tabla. También eligen una llave de un diccionario.
==
Dos signos igual preguntan si dos cosas son iguales. Dan True o False. Un solo igual guarda.
print( ... )
Muestra en pantalla lo que va dentro. Si van varias cosas separadas por coma, las muestra en una línea con un espacio entre ellas.
.describe()
Resume una columna de números en ocho cifras. count cuántos datos tiene, mean el promedio, std cuánto se alejan del promedio, min el más bajo, 25%, 50% y 75% los cuartiles, y max el más alto.
a.b().c()
Cadena de pasos. Cada punto toma lo que salió a su izquierda y le aplica algo más. Se lee de izquierda a derecha.
.round(n)
Redondea a n decimales. Sin n, redondea al entero más cercano, aunque se siga mostrando con .0.
.mean()
El promedio. En una columna de True y False, la proporción de True.
&lt; &gt; &lt;= &gt;=
Menor, mayor, menor o igual, mayor o igual. Dan True o False. Con una columna, comparan fila por fila.
*
Multiplica.
len( ... )
Cuenta cuántos elementos tiene una lista o cuántas filas tiene una tabla.
f"... {nombre} ..."
Texto con una f delante. Lo que va entre llaves se reemplaza por su valor al mostrarse.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Las negativas siguen siendo 5, porque esa regla no depende del deslizador. Los picos pasan de 6 a 4.000.
PREGUNTAR
¿Son 4.000 horas imposibles? No. En Atacama, 4.000 de las 8.512 horas están sobre el promedio, casi la mitad, y son horas normales. Un umbral tan bajo las marca igual.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{type:"slider", min, max, step}
Pide a Colab un deslizador. min y max son los extremos y step el salto entre un valor y el siguiente.
tabla[condición]
Con una columna de True y False adentro, la tabla deja pasar solo las filas con True. Es un filtro.
tabla["columna"]
Corchetes con un nombre entre comillas eligen una columna de la tabla. También eligen una llave de un diccionario.
==
Dos signos igual preguntan si dos cosas son iguales. Dan True o False. Un solo igual guarda.
print( ... )
Muestra en pantalla lo que va dentro. Si van varias cosas separadas por coma, las muestra en una línea con un espacio entre ellas.
.describe()
Resume una columna de números en ocho cifras. count cuántos datos tiene, mean el promedio, std cuánto se alejan del promedio, min el más bajo, 25%, 50% y 75% los cuartiles, y max el más alto.
a.b().c()
Cadena de pasos. Cada punto toma lo que salió a su izquierda y le aplica algo más. Se lee de izquierda a derecha.
.round(n)
Redondea a n decimales. Sin n, redondea al entero más cercano, aunque se siga mostrando con .0.
.mean()
El promedio. En una columna de True y False, la proporción de True.
&lt; &gt; &lt;= &gt;=
Menor, mayor, menor o igual, mayor o igual. Dan True o False. Con una columna, comparan fila por fila.
*
Multiplica.
len( ... )
Cuenta cuántos elementos tiene una lista o cuántas filas tiene una tabla.
f"... {nombre} ..."
Texto con una f delante. Lo que va entre llaves se reemplaza por su valor al mostrarse.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CAMBIÓ
Se movió el deslizador a 10. Ahora solo se marcan las horas que superan 10 veces el promedio.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{type:"slider", min, max, step}
Pide a Colab un deslizador. min y max son los extremos y step el salto entre un valor y el siguiente.
tabla[condición]
Con una columna de True y False adentro, la tabla deja pasar solo las filas con True. Es un filtro.
tabla["columna"]
Corchetes con un nombre entre comillas eligen una columna de la tabla. También eligen una llave de un diccionario.
==
Dos signos igual preguntan si dos cosas son iguales. Dan True o False. Un solo igual guarda.
print( ... )
Muestra en pantalla lo que va dentro. Si van varias cosas separadas por coma, las muestra en una línea con un espacio entre ellas.
.describe()
Resume una columna de números en ocho cifras. count cuántos datos tiene, mean el promedio, std cuánto se alejan del promedio, min el más bajo, 25%, 50% y 75% los cuartiles, y max el más alto.
a.b().c()
Cadena de pasos. Cada punto toma lo que salió a su izquierda y le aplica algo más. Se lee de izquierda a derecha.
.round(n)
Redondea a n decimales. Sin n, redondea al entero más cercano, aunque se siga mostrando con .0.
.mean()
El promedio. En una columna de True y False, la proporción de True.
&lt; &gt; &lt;= &gt;=
Menor, mayor, menor o igual, mayor o igual. Dan True o False. Con una columna, comparan fila por fila.
*
Multiplica.
len( ... )
Cuenta cuántos elementos tiene una lista o cuántas filas tiene una tabla.
f"... {nombre} ..."
Texto con una f delante. Lo que va entre llaves se reemplaza por su valor al mostrarse.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Solo 2 horas superan 352 MWh. Los otros 4 picos, entre 259 y 339 MWh, quedan bajo el umbral y pasan como normales.
DECIR
Un umbral muy alto deja pasar errores. Entre 2 y 7 veces el resultado no cambia, siempre los mismos 6 picos. Ese rango estable es una buena señal de que la regla está bien puesta.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{type:"slider", min, max, step}
Pide a Colab un deslizador. min y max son los extremos y step el salto entre un valor y el siguiente.
tabla[condición]
Con una columna de True y False adentro, la tabla deja pasar solo las filas con True. Es un filtro.
tabla["columna"]
Corchetes con un nombre entre comillas eligen una columna de la tabla. También eligen una llave de un diccionario.
==
Dos signos igual preguntan si dos cosas son iguales. Dan True o False. Un solo igual guarda.
print( ... )
Muestra en pantalla lo que va dentro. Si van varias cosas separadas por coma, las muestra en una línea con un espacio entre ellas.
.describe()
Resume una columna de números en ocho cifras. count cuántos datos tiene, mean el promedio, std cuánto se alejan del promedio, min el más bajo, 25%, 50% y 75% los cuartiles, y max el más alto.
a.b().c()
Cadena de pasos. Cada punto toma lo que salió a su izquierda y le aplica algo más. Se lee de izquierda a derecha.
.round(n)
Redondea a n decimales. Sin n, redondea al entero más cercano, aunque se siga mostrando con .0.
.mean()
El promedio. En una columna de True y False, la proporción de True.
&lt; &gt; &lt;= &gt;=
Menor, mayor, menor o igual, mayor o igual. Dan True o False. Con una columna, comparan fila por fila.
*
Multiplica.
len( ... )
Cuenta cuántos elementos tiene una lista o cuántas filas tiene una tabla.
f"... {nombre} ..."
Texto con una f delante. Lo que va entre llaves se reemplaza por su valor al mostrarse.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CAMBIÓ
Se eligió Metropolitana y el deslizador volvió a 3.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{type:"slider", min, max, step}
Pide a Colab un deslizador. min y max son los extremos y step el salto entre un valor y el siguiente.
tabla[condición]
Con una columna de True y False adentro, la tabla deja pasar solo las filas con True. Es un filtro.
tabla["columna"]
Corchetes con un nombre entre comillas eligen una columna de la tabla. También eligen una llave de un diccionario.
==
Dos signos igual preguntan si dos cosas son iguales. Dan True o False. Un solo igual guarda.
print( ... )
Muestra en pantalla lo que va dentro. Si van varias cosas separadas por coma, las muestra en una línea con un espacio entre ellas.
.describe()
Resume una columna de números en ocho cifras. count cuántos datos tiene, mean el promedio, std cuánto se alejan del promedio, min el más bajo, 25%, 50% y 75% los cuartiles, y max el más alto.
a.b().c()
Cadena de pasos. Cada punto toma lo que salió a su izquierda y le aplica algo más. Se lee de izquierda a derecha.
.round(n)
Redondea a n decimales. Sin n, redondea al entero más cercano, aunque se siga mostrando con .0.
.mean()
El promedio. En una columna de True y False, la proporción de True.
&lt; &gt; &lt;= &gt;=
Menor, mayor, menor o igual, mayor o igual. Dan True o False. Con una columna, comparan fila por fila.
*
Multiplica.
len( ... )
Cuenta cuántos elementos tiene una lista o cuántas filas tiene una tabla.
f"... {nombre} ..."
Texto con una f delante. Lo que va entre llaves se reemplaza por su valor al mostrarse.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En la Metropolitana el promedio es 892,3 MWh, así que el umbral queda cerca de 2.677. El mínimo es -493,4 y el máximo 11.195, más de 12 veces el promedio. Hay 1 hora negativa y 7 picos.
DECIR
Por eso la regla compara con el promedio de cada región y no con un número fijo. 1.000 MWh sería un pico enorme en Atacama y es una hora normal en la Metropolitana.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{type:"slider", min, max, step}
Pide a Colab un deslizador. min y max son los extremos y step el salto entre un valor y el siguiente.
tabla[condición]
Con una columna de True y False adentro, la tabla deja pasar solo las filas con True. Es un filtro.
tabla["columna"]
Corchetes con un nombre entre comillas eligen una columna de la tabla. También eligen una llave de un diccionario.
==
Dos signos igual preguntan si dos cosas son iguales. Dan True o False. Un solo igual guarda.
print( ... )
Muestra en pantalla lo que va dentro. Si van varias cosas separadas por coma, las muestra en una línea con un espacio entre ellas.
.describe()
Resume una columna de números en ocho cifras. count cuántos datos tiene, mean el promedio, std cuánto se alejan del promedio, min el más bajo, 25%, 50% y 75% los cuartiles, y max el más alto.
a.b().c()
Cadena de pasos. Cada punto toma lo que salió a su izquierda y le aplica algo más. Se lee de izquierda a derecha.
.round(n)
Redondea a n decimales. Sin n, redondea al entero más cercano, aunque se siga mostrando con .0.
.mean()
El promedio. En una columna de True y False, la proporción de True.
&lt; &gt; &lt;= &gt;=
Menor, mayor, menor o igual, mayor o igual. Dan True o False. Con una columna, comparan fila por fila.
*
Multiplica.
len( ... )
Cuenta cuántos elementos tiene una lista o cuántas filas tiene una tabla.
f"... {nombre} ..."
Texto con una f delante. Lo que va entre llaves se reemplaza por su valor al mostrarse.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Las mismas horas de Atacama con tres umbrales. Con 1 vez el promedio se marcan 4.000 horas. Con 3 veces, los 6 picos que se plantaron al crear los datos. Con 10 veces solo 2, y se escapan 4.
DECIR
El umbral lo decide quien analiza, mirando los datos. Y se deja escrito, porque otro analista podría elegir otro.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En el trabajo real, los valores imposibles se vacían y después se rellenan como en el Paso 5. Ese paso queda como ejercicio en el cuaderno, en Para seguir practicando.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PASAR ESTA LÁMINA
Aquí termina lo que se ve en clase. Pasar directo a la lámina 64, Ahora en Colab. Desde esta lámina vienen los estudios de la Parte 2, explicados igual que los pasos, para que los alumnos los repasen en la casa. Cada lámina lleva arriba la etiqueta naranja PARA LA CASA.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La línea es la demanda real del 16 de septiembre en Valparaíso. Los rombos son lo que puso cada forma en las ocho horas vacías. Los verdes, la recta, quedan casi encima de la línea. Los rojos, cero, quedan abajo de todo.
DECIR
Esto solo se puede hacer en un curso, porque aquí existe el archivo original sin errores.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LÍNEA POR LÍNEA
verdad = pd.read_csv(DATOS + "demanda.csv", parse_dates=["fecha"])
Lee el archivo original, el que no tiene errores.
real = verdad[(verdad["region"] == "Valparaíso") &amp; (verdad["fecha"] == "2024-09-16")]
Un filtro con dos condiciones, como en el Lab 02. Deja las 24 horas reales de ese día en Valparaíso.
comparar = dia.copy()
Una copia del día del Paso 5, para agregarle una columna.
comparar["real"] = list(real["mwh"])
list toma los 24 valores reales en orden, sin su número de fila, y los pone como columna nueva.
comparar
Muestra el día con las cuatro formas y la demanda real.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pd.read_csv( ... )
Lee un archivo separado por comas y lo convierte en tabla. pd es pandas.
+
Suma números. Con textos, los junta uno detrás del otro.
"texto"
Lo que va entre comillas es texto. Sin comillas, Python lo entiende como un nombre o un número.
parse_dates=[ ... ]
Las columnas que hay que leer como fecha y no como texto.
tabla[condición]
Con una columna de True y False adentro, la tabla deja pasar solo las filas con True. Es un filtro.
tabla["columna"]
Corchetes con un nombre entre comillas eligen una columna de la tabla. También eligen una llave de un diccionario.
==
Dos signos igual preguntan si dos cosas son iguales. Dan True o False. Un solo igual guarda.
&amp;
Se lee y. Con columnas de True y False, queda True solo donde las dos son verdaderas. Cada condición tiene que ir entre paréntesis.
.copy()
Una copia. Lo que se cambie en la copia no toca el original.
tabla["nueva"] = ...
Guarda el resultado como una columna. Si no existía, la crea.
list( ... )
Convierte algo en una lista. Una columna pasada a lista guarda solo sus valores, en orden, sin el número de fila.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se asignara la columna directo, pandas pondría cada valor en la fila con el mismo número. Como las tablas numeran sus filas distinto, 13 horas quedarían con la demanda de otra hora y 11 vacías, y nada avisa.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pd.read_csv( ... )
Lee un archivo separado por comas y lo convierte en tabla. pd es pandas.
+
Suma números. Con textos, los junta uno detrás del otro.
"texto"
Lo que va entre comillas es texto. Sin comillas, Python lo entiende como un nombre o un número.
parse_dates=[ ... ]
Las columnas que hay que leer como fecha y no como texto.
tabla[condición]
Con una columna de True y False adentro, la tabla deja pasar solo las filas con True. Es un filtro.
tabla["columna"]
Corchetes con un nombre entre comillas eligen una columna de la tabla. También eligen una llave de un diccionario.
==
Dos signos igual preguntan si dos cosas son iguales. Dan True o False. Un solo igual guarda.
&amp;
Se lee y. Con columnas de True y False, queda True solo donde las dos son verdaderas. Cada condición tiene que ir entre paréntesis.
.copy()
Una copia. Lo que se cambie en la copia no toca el original.
tabla["nueva"] = ...
Guarda el resultado como una columna. Si no existía, la crea.
list( ... )
Convierte algo en una lista. Una columna pasada a lista guarda solo sus valores, en orden, sin el número de fila.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A la 1 de la mañana la demanda real fue 168,14. Cero puso 0, repetir puso 177,03 y la recta 173,35. A las 9, la real fue 241,76, repetir puso 222,46 y la recta 239,08. En las ocho horas vacías la recta se equivoca en promedio 4,8 MWh, repetir 19,3 y cero 216.
DECIR
La recta funciona bien aquí porque la demanda sube y baja de a poco de una hora a otra. Con un hueco de muchas horas seguidas ya no sería tan buena.
MEMORIA
verdad, real y comparar son nuevas.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pd.read_csv( ... )
Lee un archivo separado por comas y lo convierte en tabla. pd es pandas.
+
Suma números. Con textos, los junta uno detrás del otro.
"texto"
Lo que va entre comillas es texto. Sin comillas, Python lo entiende como un nombre o un número.
parse_dates=[ ... ]
Las columnas que hay que leer como fecha y no como texto.
tabla[condición]
Con una columna de True y False adentro, la tabla deja pasar solo las filas con True. Es un filtro.
tabla["columna"]
Corchetes con un nombre entre comillas eligen una columna de la tabla. También eligen una llave de un diccionario.
==
Dos signos igual preguntan si dos cosas son iguales. Dan True o False. Un solo igual guarda.
&amp;
Se lee y. Con columnas de True y False, queda True solo donde las dos son verdaderas. Cada condición tiene que ir entre paréntesis.
.copy()
Una copia. Lo que se cambie en la copia no toca el original.
tabla["nueva"] = ...
Guarda el resultado como una columna. Si no existía, la crea.
list( ... )
Convierte algo en una lista. Una columna pasada a lista guarda solo sus valores, en orden, sin el número de fila.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En el ejercicio 2 del cuaderno se limpia la tabla completa, vaciando los valores imposibles y trazando rectas en todas las regiones.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value_counts cuenta cuántas filas tiene cada forma de escribir. Biobío bien escrita tiene 8.683 filas, y las otras seis formas entre 11 y 26.
DECIR
Las comillas muestran los espacios. ' Biobío' y 'Biobío ' se ven iguales en una planilla.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LÍNEA POR LÍNEA
cuantas = 12 #@param {type:"slider", ...}
Un deslizador para elegir cuántas filas mostrar.
sucia["region"].value_counts().head(cuantas)
value_counts cuenta cuántas veces aparece cada forma, de mayor a menor. head muestra las primeras, tantas como diga el deslizador.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#@param
Marca de Colab, no de Python. Convierte la línea en un formulario, con lista, deslizador, campo o casilla. Para Python sigue siendo un comentario y la variable toma el valor escrito a la izquierda.
{type:"slider", min, max, step}
Pide a Colab un deslizador. min y max son los extremos y step el salto entre un valor y el siguiente.
"texto"
Lo que va entre comillas es texto. Sin comillas, Python lo entiende como un nombre o un número.
tabla["columna"]
Corchetes con un nombre entre comillas eligen una columna de la tabla. También eligen una llave de un diccionario.
.value_counts()
Cuenta cuántas veces aparece cada valor, de mayor a menor.
a.b().c()
Cadena de pasos. Cada punto toma lo que salió a su izquierda y le aplica algo más. Se lee de izquierda a derecha.
.head(n)
Las primeras n filas. Sin n, cinco.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value_counts ordena de la forma más frecuente a la menos frecuente. head(cuantas) muestra solo las primeras, tantas como diga el deslizador.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#@param
Marca de Colab, no de Python. Convierte la línea en un formulario, con lista, deslizador, campo o casilla. Para Python sigue siendo un comentario y la variable toma el valor escrito a la izquierda.
{type:"slider", min, max, step}
Pide a Colab un deslizador. min y max son los extremos y step el salto entre un valor y el siguiente.
"texto"
Lo que va entre comillas es texto. Sin comillas, Python lo entiende como un nombre o un número.
tabla["columna"]
Corchetes con un nombre entre comillas eligen una columna de la tabla. También eligen una llave de un diccionario.
.value_counts()
Cuenta cuántas veces aparece cada valor, de mayor a menor.
a.b().c()
Cadena de pasos. Cada punto toma lo que salió a su izquierda y le aplica algo más. Se lee de izquierda a derecha.
.head(n)
Las primeras n filas. Sin n, cinco.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Las siete regiones bien escritas tienen entre 8.683 y 8.714 filas. Desde la octava aparecen las mal escritas, biobío con 26, BIOBÍO con 21 y así.
DECIR
value_counts es la forma de mirar qué valores trae una columna antes de agrupar.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#@param
Marca de Colab, no de Python. Convierte la línea en un formulario, con lista, deslizador, campo o casilla. Para Python sigue siendo un comentario y la variable toma el valor escrito a la izquierda.
{type:"slider", min, max, step}
Pide a Colab un deslizador. min y max son los extremos y step el salto entre un valor y el siguiente.
"texto"
Lo que va entre comillas es texto. Sin comillas, Python lo entiende como un nombre o un número.
tabla["columna"]
Corchetes con un nombre entre comillas eligen una columna de la tabla. También eligen una llave de un diccionario.
.value_counts()
Cuenta cuántas veces aparece cada valor, de mayor a menor.
a.b().c()
Cadena de pasos. Cada punto toma lo que salió a su izquierda y le aplica algo más. Se lee de izquierda a derecha.
.head(n)
Las primeras n filas. Sin n, cinco.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CAMBIÓ
Se movió el deslizador a 21.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#@param
Marca de Colab, no de Python. Convierte la línea en un formulario, con lista, deslizador, campo o casilla. Para Python sigue siendo un comentario y la variable toma el valor escrito a la izquierda.
{type:"slider", min, max, step}
Pide a Colab un deslizador. min y max son los extremos y step el salto entre un valor y el siguiente.
"texto"
Lo que va entre comillas es texto. Sin comillas, Python lo entiende como un nombre o un número.
tabla["columna"]
Corchetes con un nombre entre comillas eligen una columna de la tabla. También eligen una llave de un diccionario.
.value_counts()
Cuenta cuántas veces aparece cada valor, de mayor a menor.
a.b().c()
Cadena de pasos. Cada punto toma lo que salió a su izquierda y le aplica algo más. Se lee de izquierda a derecha.
.head(n)
Las primeras n filas. Sin n, cinco.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Aparecen nueve formas más, cada una con entre 16 y 18 filas. En total son 49 formas para 7 regiones.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#@param
Marca de Colab, no de Python. Convierte la línea en un formulario, con lista, deslizador, campo o casilla. Para Python sigue siendo un comentario y la variable toma el valor escrito a la izquierda.
{type:"slider", min, max, step}
Pide a Colab un deslizador. min y max son los extremos y step el salto entre un valor y el siguiente.
"texto"
Lo que va entre comillas es texto. Sin comillas, Python lo entiende como un nombre o un número.
tabla["columna"]
Corchetes con un nombre entre comillas eligen una columna de la tabla. También eligen una llave de un diccionario.
.value_counts()
Cuenta cuántas veces aparece cada valor, de mayor a menor.
a.b().c()
Cadena de pasos. Cada punto toma lo que salió a su izquierda y le aplica algo más. Se lee de izquierda a derecha.
.head(n)
Las primeras n filas. Sin n, cinco.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value_counts es la forma más rápida de mirar una columna de texto. Si una región viene escrita de varias formas, cada forma cuenta como otra región en cualquier resumen. Por eso el Paso 3 las iguala antes de agrupar.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Con todo el país junto, el promedio es el doble de la mediana. Dentro de cada región, las dos barras quedan casi iguales.
DECIR
La mediana es el valor del medio. La mitad de las horas está por debajo y la mitad por encima.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LÍNEA POR LÍNEA
Los dos primeros print
El promedio y la mediana de todas las horas, de todas las regiones juntas.
resumen = sin_repetidas.groupby("region")["mwh"].agg(promedio="mean", mediana="median")
Agrupa por región y calcula dos cosas en cada grupo, como en el Lab 02. Cada argumento de agg es una columna del resultado.
resumen.round(1).sort_values("promedio", ascending=False)
Redondea a un decimal y ordena por el promedio, de mayor a menor.
SINTAXIS DE TODO EL CÓDIGO DE ESTA CELDA
# comentario
Todo lo que va después del signo # es un comentario. Python no lo ejecuta, sirve para explicar el código a quien lo lee.
print( ... )
Muestra en pantalla lo que va dentro. Si van varias cosas separadas por coma, las muestra en una línea con un espacio entre ellas.
"texto"
Lo que va entre comillas es texto. Sin comillas, Python lo entiende como un nombre o un número.
round(valor, n)
Redondea un número a n decimales. Sin n, al entero más cercano.
tabla["columna"]
Corchetes con un nombre entre comillas eligen una columna de la tabla. También eligen una llave de un diccionario.
.mean()
El promedio. En una columna de True y False, la proporción de True.
.median()
La mediana, el valor del medio.
nombre = valor
Un solo signo igual guarda. A la izquierda va el nombre y a la derecha lo que se guarda. Si el nombre ya existía, su valor anterior se reemplaza.
.groupby(columna)
Separa las filas en grupos según los valores de la columna. Con una lista, por varias columnas a la vez. Lo que viene después se calcula por grupo.
.agg(nombre=("columna", "cálculo"))
Calcula varias cosas por grupo. Cada argumento es una columna del resultado. Con un solo texto a la derecha, el cálculo es sobre la columna ya elegida.
.round(n)
Redondea a n decimales. Sin n, redondea al entero más cercano, aunque se siga mostrando con .0.
a.b().c()
Cadena de pasos. Cada punto toma lo que salió a su izquierda y le aplica algo más. Se lee de izquierda a derecha.
.sort_values( ... )
Ordena. Por defecto de menor a mayor. En una tabla se indica la columna.
ascending=False
Ordena de mayor a menor.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Es el mismo agg del Lab 02, con dos cálculos a la vez. El nombre que va antes de cada igual, promedio y mediana, queda como nombre de una columna.
SINTAXIS DE TODO EL CÓDIGO DE ESTA CELDA
# comentario
Todo lo que va después del signo # es un comentario. Python no lo ejecuta, sirve para explicar el código a quien lo lee.
print( ... )
Muestra en pantalla lo que va dentro. Si van varias cosas separadas por coma, las muestra en una línea con un espacio entre ellas.
"texto"
Lo que va entre comillas es texto. Sin comillas, Python lo entiende como un nombre o un número.
round(valor, n)
Redondea un número a n decimales. Sin n, al entero más cercano.
tabla["columna"]
Corchetes con un nombre entre comillas eligen una columna de la tabla. También eligen una llave de un diccionario.
.mean()
El promedio. En una columna de True y False, la proporción de True.
.median()
La mediana, el valor del medio.
nombre = valor
Un solo signo igual guarda. A la izquierda va el nombre y a la derecha lo que se guarda. Si el nombre ya existía, su valor anterior se reemplaza.
.groupby(columna)
Separa las filas en grupos según los valores de la columna. Con una lista, por varias columnas a la vez. Lo que viene después se calcula por grupo.
.agg(nombre=("columna", "cálculo"))
Calcula varias cosas por grupo. Cada argumento es una columna del resultado. Con un solo texto a la derecha, el cálculo es sobre la columna ya elegida.
.round(n)
Redondea a n decimales. Sin n, redondea al entero más cercano, aunque se siga mostrando con .0.
a.b().c()
Cadena de pasos. Cada punto toma lo que salió a su izquierda y le aplica algo más. Se lee de izquierda a derecha.
.sort_values( ... )
Ordena. Por defecto de menor a mayor. En una tabla se indica la columna.
ascending=False
Ordena de mayor a menor.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Todo el país, promedio 227,3 y mediana 111,2. En cada región la diferencia es chica, por ejemplo en la Metropolitana 892,3 y 873,5.
PREGUNTAR
¿Por qué pasa? No es por los valores imposibles, que son pocos. Es porque la Metropolitana consume varias veces más que las demás y tira el promedio hacia arriba.
MEMORIA
resumen es nuevo.
SINTAXIS DE TODO EL CÓDIGO DE ESTA CELDA
# comentario
Todo lo que va después del signo # es un comentario. Python no lo ejecuta, sirve para explicar el código a quien lo lee.
print( ... )
Muestra en pantalla lo que va dentro. Si van varias cosas separadas por coma, las muestra en una línea con un espacio entre ellas.
"texto"
Lo que va entre comillas es texto. Sin comillas, Python lo entiende como un nombre o un número.
round(valor, n)
Redondea un número a n decimales. Sin n, al entero más cercano.
tabla["columna"]
Corchetes con un nombre entre comillas eligen una columna de la tabla. También eligen una llave de un diccionario.
.mean()
El promedio. En una columna de True y False, la proporción de True.
.median()
La mediana, el valor del medio.
nombre = valor
Un solo signo igual guarda. A la izquierda va el nombre y a la derecha lo que se guarda. Si el nombre ya existía, su valor anterior se reemplaza.
.groupby(columna)
Separa las filas en grupos según los valores de la columna. Con una lista, por varias columnas a la vez. Lo que viene después se calcula por grupo.
.agg(nombre=("columna", "cálculo"))
Calcula varias cosas por grupo. Cada argumento es una columna del resultado. Con un solo texto a la derecha, el cálculo es sobre la columna ya elegida.
.round(n)
Redondea a n decimales. Sin n, redondea al entero más cercano, aunque se siga mostrando con .0.
a.b().c()
Cadena de pasos. Cada punto toma lo que salió a su izquierda y le aplica algo más. Se lee de izquierda a derecha.
.sort_values( ... )
Ordena. Por defecto de menor a mayor. En una tabla se indica la columna.
ascending=False
Ordena de mayor a menor.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Con todas las regiones juntas el promedio queda en 227,3 y la mediana en 111,2, menos de la mitad. La Metropolitana, que consume varias veces más que las demás, sube el promedio de todo el país. Dentro de cada región el promedio y la mediana casi coinciden, y ahí el promedio sí describe una hora típica.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unos 45 minutos. Pasar por el chat y resolver las dudas en voz alta, para que todos escuchen.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El Lab 03 mostró cómo revisar y limpiar la demanda antes de analizarla. El Lab 04 cambia de datos, pasa a la bitácora de mantenimiento, y vuelve a usar el filtro, la tabla dinámica y el promedio.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62"/>
        </a:solidFill>
      </p:bgPr>
    </p:bg>
    <p:spTree>
      <p:nvGrpSpPr>
        <p:cNvPr id="1" name=""/>
        <p:cNvGrpSpPr/>
        <p:nvPr/>
      </p:nvGrpSpPr>
      <p:grpSpPr>
        <a:xfrm>
          <a:off x="0" y="0"/>
          <a:ext cx="0" cy="0"/>
          <a:chOff x="0" y="0"/>
          <a:chExt cx="0" cy="0"/>
        </a:xfrm>
      </p:grpSpPr>
      <p:sp>
        <p:nvSpPr>
          <p:cNvPr id="2" name="Text 0"/>
          <p:cNvSpPr/>
          <p:nvPr/>
        </p:nvSpPr>
        <p:spPr>
          <a:xfrm>
            <a:off x="731520" y="1280160"/>
            <a:ext cx="1069848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Lab 03 guiado · Limpieza y análisis exploratorio</a:t>
            </a:r>
            <a:endParaRPr lang="en-US" sz="4000" dirty="0"/>
          </a:p>
        </p:txBody>
      </p:sp>
      <p:sp>
        <p:nvSpPr>
          <p:cNvPr id="3" name="Text 1"/>
          <p:cNvSpPr/>
          <p:nvPr/>
        </p:nvSpPr>
        <p:spPr>
          <a:xfrm>
            <a:off x="731520" y="2148840"/>
            <a:ext cx="10698480" cy="45720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Parte 1 en clase, 6 pasos · Parte 2 para la casa, 3 estudios</a:t>
            </a:r>
            <a:endParaRPr lang="en-US" sz="2000" dirty="0"/>
          </a:p>
        </p:txBody>
      </p:sp>
      <p:sp>
        <p:nvSpPr>
          <p:cNvPr id="4" name="Shape 2"/>
          <p:cNvSpPr/>
          <p:nvPr/>
        </p:nvSpPr>
        <p:spPr>
          <a:xfrm>
            <a:off x="731520" y="3200400"/>
            <a:ext cx="502920" cy="502920"/>
          </a:xfrm>
          <a:prstGeom prst="ellipse">
            <a:avLst/>
          </a:prstGeom>
          <a:solidFill>
            <a:srgbClr val="F9AB00"/>
          </a:solidFill>
          <a:ln w="12700">
            <a:solidFill>
              <a:srgbClr val="F9AB00"/>
            </a:solidFill>
            <a:prstDash val="solid"/>
          </a:ln>
        </p:spPr>
      </p:sp>
      <p:sp>
        <p:nvSpPr>
          <p:cNvPr id="5" name="Text 3"/>
          <p:cNvSpPr/>
          <p:nvPr/>
        </p:nvSpPr>
        <p:spPr>
          <a:xfrm>
            <a:off x="731520" y="3200400"/>
            <a:ext cx="502920" cy="502920"/>
          </a:xfrm>
          <a:prstGeom prst="rect">
            <a:avLst/>
          </a:prstGeom>
          <a:noFill/>
          <a:ln/>
        </p:spPr>
        <p:txBody>
          <a:bodyPr wrap="square" lIns="0" tIns="0" rIns="0" bIns="0" rtlCol="0" anchor="ctr"/>
          <a:lstStyle/>
          <a:p>
            <a:pPr algn="ctr" indent="0" marL="0">
              <a:buNone/>
            </a:pPr>
            <a:r>
              <a:rPr lang="en-US" sz="1600" b="1" dirty="0">
                <a:solidFill>
                  <a:srgbClr val="0B3D62"/>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463040" y="3200400"/>
            <a:ext cx="9601200" cy="5029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Cada paso se muestra primero aquí. Un clic avanza.</a:t>
            </a:r>
            <a:endParaRPr lang="en-US" sz="1800" dirty="0"/>
          </a:p>
        </p:txBody>
      </p:sp>
      <p:sp>
        <p:nvSpPr>
          <p:cNvPr id="7" name="Shape 5"/>
          <p:cNvSpPr/>
          <p:nvPr/>
        </p:nvSpPr>
        <p:spPr>
          <a:xfrm>
            <a:off x="731520" y="3977640"/>
            <a:ext cx="502920" cy="502920"/>
          </a:xfrm>
          <a:prstGeom prst="ellipse">
            <a:avLst/>
          </a:prstGeom>
          <a:solidFill>
            <a:srgbClr val="F9AB00"/>
          </a:solidFill>
          <a:ln w="12700">
            <a:solidFill>
              <a:srgbClr val="F9AB00"/>
            </a:solidFill>
            <a:prstDash val="solid"/>
          </a:ln>
        </p:spPr>
      </p:sp>
      <p:sp>
        <p:nvSpPr>
          <p:cNvPr id="8" name="Text 6"/>
          <p:cNvSpPr/>
          <p:nvPr/>
        </p:nvSpPr>
        <p:spPr>
          <a:xfrm>
            <a:off x="731520" y="3977640"/>
            <a:ext cx="502920" cy="502920"/>
          </a:xfrm>
          <a:prstGeom prst="rect">
            <a:avLst/>
          </a:prstGeom>
          <a:noFill/>
          <a:ln/>
        </p:spPr>
        <p:txBody>
          <a:bodyPr wrap="square" lIns="0" tIns="0" rIns="0" bIns="0" rtlCol="0" anchor="ctr"/>
          <a:lstStyle/>
          <a:p>
            <a:pPr algn="ctr" indent="0" marL="0">
              <a:buNone/>
            </a:pPr>
            <a:r>
              <a:rPr lang="en-US" sz="1600" b="1" dirty="0">
                <a:solidFill>
                  <a:srgbClr val="0B3D62"/>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463040" y="3977640"/>
            <a:ext cx="9601200" cy="5029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Abajo aparece lo que Python recuerda, que en Colab no se ve.</a:t>
            </a:r>
            <a:endParaRPr lang="en-US" sz="1800" dirty="0"/>
          </a:p>
        </p:txBody>
      </p:sp>
      <p:sp>
        <p:nvSpPr>
          <p:cNvPr id="10" name="Shape 8"/>
          <p:cNvSpPr/>
          <p:nvPr/>
        </p:nvSpPr>
        <p:spPr>
          <a:xfrm>
            <a:off x="731520" y="4754880"/>
            <a:ext cx="502920" cy="502920"/>
          </a:xfrm>
          <a:prstGeom prst="ellipse">
            <a:avLst/>
          </a:prstGeom>
          <a:solidFill>
            <a:srgbClr val="F9AB00"/>
          </a:solidFill>
          <a:ln w="12700">
            <a:solidFill>
              <a:srgbClr val="F9AB00"/>
            </a:solidFill>
            <a:prstDash val="solid"/>
          </a:ln>
        </p:spPr>
      </p:sp>
      <p:sp>
        <p:nvSpPr>
          <p:cNvPr id="11" name="Text 9"/>
          <p:cNvSpPr/>
          <p:nvPr/>
        </p:nvSpPr>
        <p:spPr>
          <a:xfrm>
            <a:off x="731520" y="4754880"/>
            <a:ext cx="502920" cy="502920"/>
          </a:xfrm>
          <a:prstGeom prst="rect">
            <a:avLst/>
          </a:prstGeom>
          <a:noFill/>
          <a:ln/>
        </p:spPr>
        <p:txBody>
          <a:bodyPr wrap="square" lIns="0" tIns="0" rIns="0" bIns="0" rtlCol="0" anchor="ctr"/>
          <a:lstStyle/>
          <a:p>
            <a:pPr algn="ctr" indent="0" marL="0">
              <a:buNone/>
            </a:pPr>
            <a:r>
              <a:rPr lang="en-US" sz="1600" b="1" dirty="0">
                <a:solidFill>
                  <a:srgbClr val="0B3D62"/>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463040" y="4754880"/>
            <a:ext cx="9601200" cy="5029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Después lo hacen en Colab, y les tiene que salir igual.</a:t>
            </a:r>
            <a:endParaRPr lang="en-US" sz="1800" dirty="0"/>
          </a:p>
        </p:txBody>
      </p:sp>
      <p:sp>
        <p:nvSpPr>
          <p:cNvPr id="13" name="Text 11"/>
          <p:cNvSpPr/>
          <p:nvPr/>
        </p:nvSpPr>
        <p:spPr>
          <a:xfrm>
            <a:off x="731520" y="6126480"/>
            <a:ext cx="1069848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Análisis Avanzado de Datos con Python · Subsecretaría de Energía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3D62"/>
        </a:solidFill>
      </p:bgPr>
    </p:bg>
    <p:spTree>
      <p:nvGrpSpPr>
        <p:cNvPr id="1" name=""/>
        <p:cNvGrpSpPr/>
        <p:nvPr/>
      </p:nvGrpSpPr>
      <p:grpSpPr>
        <a:xfrm>
          <a:off x="0" y="0"/>
          <a:ext cx="0" cy="0"/>
          <a:chOff x="0" y="0"/>
          <a:chExt cx="0" cy="0"/>
        </a:xfrm>
      </p:grpSpPr>
      <p:sp>
        <p:nvSpPr>
          <p:cNvPr id="2" name="Text 0"/>
          <p:cNvSpPr/>
          <p:nvPr/>
        </p:nvSpPr>
        <p:spPr>
          <a:xfrm>
            <a:off x="731520" y="548640"/>
            <a:ext cx="1069848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PARTE 1 · EN CLASE</a:t>
            </a:r>
            <a:endParaRPr lang="en-US" sz="4400" dirty="0"/>
          </a:p>
        </p:txBody>
      </p:sp>
      <p:sp>
        <p:nvSpPr>
          <p:cNvPr id="3" name="Text 1"/>
          <p:cNvSpPr/>
          <p:nvPr/>
        </p:nvSpPr>
        <p:spPr>
          <a:xfrm>
            <a:off x="731520" y="1371600"/>
            <a:ext cx="10698480" cy="45720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Hoy hacemos estos 6 pasos, juntos, con estas láminas y después en Colab.</a:t>
            </a:r>
            <a:endParaRPr lang="en-US" sz="2000" dirty="0"/>
          </a:p>
        </p:txBody>
      </p:sp>
      <p:sp>
        <p:nvSpPr>
          <p:cNvPr id="4" name="Shape 2"/>
          <p:cNvSpPr/>
          <p:nvPr/>
        </p:nvSpPr>
        <p:spPr>
          <a:xfrm>
            <a:off x="731520" y="2240280"/>
            <a:ext cx="548640" cy="548640"/>
          </a:xfrm>
          <a:prstGeom prst="ellipse">
            <a:avLst/>
          </a:prstGeom>
          <a:solidFill>
            <a:srgbClr val="F9AB00"/>
          </a:solidFill>
          <a:ln w="12700">
            <a:solidFill>
              <a:srgbClr val="F9AB00"/>
            </a:solidFill>
            <a:prstDash val="solid"/>
          </a:ln>
        </p:spPr>
      </p:sp>
      <p:sp>
        <p:nvSpPr>
          <p:cNvPr id="5" name="Text 3"/>
          <p:cNvSpPr/>
          <p:nvPr/>
        </p:nvSpPr>
        <p:spPr>
          <a:xfrm>
            <a:off x="731520" y="2240280"/>
            <a:ext cx="548640" cy="548640"/>
          </a:xfrm>
          <a:prstGeom prst="rect">
            <a:avLst/>
          </a:prstGeom>
          <a:noFill/>
          <a:ln/>
        </p:spPr>
        <p:txBody>
          <a:bodyPr wrap="square" lIns="0" tIns="0" rIns="0" bIns="0" rtlCol="0" anchor="ctr"/>
          <a:lstStyle/>
          <a:p>
            <a:pPr algn="ctr" indent="0" marL="0">
              <a:buNone/>
            </a:pPr>
            <a:r>
              <a:rPr lang="en-US" sz="2000" b="1" dirty="0">
                <a:solidFill>
                  <a:srgbClr val="0B3D62"/>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1508760" y="2240280"/>
            <a:ext cx="996696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Paso 1   </a:t>
            </a:r>
            <a:pPr indent="0" marL="0">
              <a:buNone/>
            </a:pPr>
            <a:r>
              <a:rPr lang="en-US" sz="2400" dirty="0">
                <a:solidFill>
                  <a:srgbClr val="FFFFFF"/>
                </a:solidFill>
                <a:latin typeface="Calibri" pitchFamily="34" charset="0"/>
                <a:ea typeface="Calibri" pitchFamily="34" charset="-122"/>
                <a:cs typeface="Calibri" pitchFamily="34" charset="-120"/>
              </a:rPr>
              <a:t>¿Cómo llegó el archivo?</a:t>
            </a:r>
            <a:endParaRPr lang="en-US" sz="2400" dirty="0"/>
          </a:p>
        </p:txBody>
      </p:sp>
      <p:sp>
        <p:nvSpPr>
          <p:cNvPr id="7" name="Shape 5"/>
          <p:cNvSpPr/>
          <p:nvPr/>
        </p:nvSpPr>
        <p:spPr>
          <a:xfrm>
            <a:off x="731520" y="3017520"/>
            <a:ext cx="548640" cy="548640"/>
          </a:xfrm>
          <a:prstGeom prst="ellipse">
            <a:avLst/>
          </a:prstGeom>
          <a:solidFill>
            <a:srgbClr val="F9AB00"/>
          </a:solidFill>
          <a:ln w="12700">
            <a:solidFill>
              <a:srgbClr val="F9AB00"/>
            </a:solidFill>
            <a:prstDash val="solid"/>
          </a:ln>
        </p:spPr>
      </p:sp>
      <p:sp>
        <p:nvSpPr>
          <p:cNvPr id="8" name="Text 6"/>
          <p:cNvSpPr/>
          <p:nvPr/>
        </p:nvSpPr>
        <p:spPr>
          <a:xfrm>
            <a:off x="731520" y="3017520"/>
            <a:ext cx="548640" cy="548640"/>
          </a:xfrm>
          <a:prstGeom prst="rect">
            <a:avLst/>
          </a:prstGeom>
          <a:noFill/>
          <a:ln/>
        </p:spPr>
        <p:txBody>
          <a:bodyPr wrap="square" lIns="0" tIns="0" rIns="0" bIns="0" rtlCol="0" anchor="ctr"/>
          <a:lstStyle/>
          <a:p>
            <a:pPr algn="ctr" indent="0" marL="0">
              <a:buNone/>
            </a:pPr>
            <a:r>
              <a:rPr lang="en-US" sz="2000" b="1" dirty="0">
                <a:solidFill>
                  <a:srgbClr val="0B3D62"/>
                </a:solidFill>
                <a:latin typeface="Calibri" pitchFamily="34" charset="0"/>
                <a:ea typeface="Calibri" pitchFamily="34" charset="-122"/>
                <a:cs typeface="Calibri" pitchFamily="34" charset="-120"/>
              </a:rPr>
              <a:t>2</a:t>
            </a:r>
            <a:endParaRPr lang="en-US" sz="2000" dirty="0"/>
          </a:p>
        </p:txBody>
      </p:sp>
      <p:sp>
        <p:nvSpPr>
          <p:cNvPr id="9" name="Text 7"/>
          <p:cNvSpPr/>
          <p:nvPr/>
        </p:nvSpPr>
        <p:spPr>
          <a:xfrm>
            <a:off x="1508760" y="3017520"/>
            <a:ext cx="996696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Paso 2   </a:t>
            </a:r>
            <a:pPr indent="0" marL="0">
              <a:buNone/>
            </a:pPr>
            <a:r>
              <a:rPr lang="en-US" sz="2400" dirty="0">
                <a:solidFill>
                  <a:srgbClr val="FFFFFF"/>
                </a:solidFill>
                <a:latin typeface="Calibri" pitchFamily="34" charset="0"/>
                <a:ea typeface="Calibri" pitchFamily="34" charset="-122"/>
                <a:cs typeface="Calibri" pitchFamily="34" charset="-120"/>
              </a:rPr>
              <a:t>¿Cómo se leen bien el número y la fecha?</a:t>
            </a:r>
            <a:endParaRPr lang="en-US" sz="2400" dirty="0"/>
          </a:p>
        </p:txBody>
      </p:sp>
      <p:sp>
        <p:nvSpPr>
          <p:cNvPr id="10" name="Shape 8"/>
          <p:cNvSpPr/>
          <p:nvPr/>
        </p:nvSpPr>
        <p:spPr>
          <a:xfrm>
            <a:off x="731520" y="3794760"/>
            <a:ext cx="548640" cy="548640"/>
          </a:xfrm>
          <a:prstGeom prst="ellipse">
            <a:avLst/>
          </a:prstGeom>
          <a:solidFill>
            <a:srgbClr val="F9AB00"/>
          </a:solidFill>
          <a:ln w="12700">
            <a:solidFill>
              <a:srgbClr val="F9AB00"/>
            </a:solidFill>
            <a:prstDash val="solid"/>
          </a:ln>
        </p:spPr>
      </p:sp>
      <p:sp>
        <p:nvSpPr>
          <p:cNvPr id="11" name="Text 9"/>
          <p:cNvSpPr/>
          <p:nvPr/>
        </p:nvSpPr>
        <p:spPr>
          <a:xfrm>
            <a:off x="731520" y="3794760"/>
            <a:ext cx="548640" cy="548640"/>
          </a:xfrm>
          <a:prstGeom prst="rect">
            <a:avLst/>
          </a:prstGeom>
          <a:noFill/>
          <a:ln/>
        </p:spPr>
        <p:txBody>
          <a:bodyPr wrap="square" lIns="0" tIns="0" rIns="0" bIns="0" rtlCol="0" anchor="ctr"/>
          <a:lstStyle/>
          <a:p>
            <a:pPr algn="ctr" indent="0" marL="0">
              <a:buNone/>
            </a:pPr>
            <a:r>
              <a:rPr lang="en-US" sz="2000" b="1" dirty="0">
                <a:solidFill>
                  <a:srgbClr val="0B3D62"/>
                </a:solidFill>
                <a:latin typeface="Calibri" pitchFamily="34" charset="0"/>
                <a:ea typeface="Calibri" pitchFamily="34" charset="-122"/>
                <a:cs typeface="Calibri" pitchFamily="34" charset="-120"/>
              </a:rPr>
              <a:t>3</a:t>
            </a:r>
            <a:endParaRPr lang="en-US" sz="2000" dirty="0"/>
          </a:p>
        </p:txBody>
      </p:sp>
      <p:sp>
        <p:nvSpPr>
          <p:cNvPr id="12" name="Text 10"/>
          <p:cNvSpPr/>
          <p:nvPr/>
        </p:nvSpPr>
        <p:spPr>
          <a:xfrm>
            <a:off x="1508760" y="3794760"/>
            <a:ext cx="996696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Paso 3   </a:t>
            </a:r>
            <a:pPr indent="0" marL="0">
              <a:buNone/>
            </a:pPr>
            <a:r>
              <a:rPr lang="en-US" sz="2400" dirty="0">
                <a:solidFill>
                  <a:srgbClr val="FFFFFF"/>
                </a:solidFill>
                <a:latin typeface="Calibri" pitchFamily="34" charset="0"/>
                <a:ea typeface="Calibri" pitchFamily="34" charset="-122"/>
                <a:cs typeface="Calibri" pitchFamily="34" charset="-120"/>
              </a:rPr>
              <a:t>¿De cuántas formas viene escrita cada región?</a:t>
            </a:r>
            <a:endParaRPr lang="en-US" sz="2400" dirty="0"/>
          </a:p>
        </p:txBody>
      </p:sp>
      <p:sp>
        <p:nvSpPr>
          <p:cNvPr id="13" name="Shape 11"/>
          <p:cNvSpPr/>
          <p:nvPr/>
        </p:nvSpPr>
        <p:spPr>
          <a:xfrm>
            <a:off x="731520" y="4572000"/>
            <a:ext cx="548640" cy="548640"/>
          </a:xfrm>
          <a:prstGeom prst="ellipse">
            <a:avLst/>
          </a:prstGeom>
          <a:solidFill>
            <a:srgbClr val="F9AB00"/>
          </a:solidFill>
          <a:ln w="12700">
            <a:solidFill>
              <a:srgbClr val="F9AB00"/>
            </a:solidFill>
            <a:prstDash val="solid"/>
          </a:ln>
        </p:spPr>
      </p:sp>
      <p:sp>
        <p:nvSpPr>
          <p:cNvPr id="14" name="Text 12"/>
          <p:cNvSpPr/>
          <p:nvPr/>
        </p:nvSpPr>
        <p:spPr>
          <a:xfrm>
            <a:off x="731520" y="4572000"/>
            <a:ext cx="548640" cy="548640"/>
          </a:xfrm>
          <a:prstGeom prst="rect">
            <a:avLst/>
          </a:prstGeom>
          <a:noFill/>
          <a:ln/>
        </p:spPr>
        <p:txBody>
          <a:bodyPr wrap="square" lIns="0" tIns="0" rIns="0" bIns="0" rtlCol="0" anchor="ctr"/>
          <a:lstStyle/>
          <a:p>
            <a:pPr algn="ctr" indent="0" marL="0">
              <a:buNone/>
            </a:pPr>
            <a:r>
              <a:rPr lang="en-US" sz="2000" b="1" dirty="0">
                <a:solidFill>
                  <a:srgbClr val="0B3D62"/>
                </a:solidFill>
                <a:latin typeface="Calibri" pitchFamily="34" charset="0"/>
                <a:ea typeface="Calibri" pitchFamily="34" charset="-122"/>
                <a:cs typeface="Calibri" pitchFamily="34" charset="-120"/>
              </a:rPr>
              <a:t>4</a:t>
            </a:r>
            <a:endParaRPr lang="en-US" sz="2000" dirty="0"/>
          </a:p>
        </p:txBody>
      </p:sp>
      <p:sp>
        <p:nvSpPr>
          <p:cNvPr id="15" name="Text 13"/>
          <p:cNvSpPr/>
          <p:nvPr/>
        </p:nvSpPr>
        <p:spPr>
          <a:xfrm>
            <a:off x="1508760" y="4572000"/>
            <a:ext cx="996696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Paso 4   </a:t>
            </a:r>
            <a:pPr indent="0" marL="0">
              <a:buNone/>
            </a:pPr>
            <a:r>
              <a:rPr lang="en-US" sz="2400" dirty="0">
                <a:solidFill>
                  <a:srgbClr val="FFFFFF"/>
                </a:solidFill>
                <a:latin typeface="Calibri" pitchFamily="34" charset="0"/>
                <a:ea typeface="Calibri" pitchFamily="34" charset="-122"/>
                <a:cs typeface="Calibri" pitchFamily="34" charset="-120"/>
              </a:rPr>
              <a:t>¿Hay filas repetidas?</a:t>
            </a:r>
            <a:endParaRPr lang="en-US" sz="2400" dirty="0"/>
          </a:p>
        </p:txBody>
      </p:sp>
      <p:sp>
        <p:nvSpPr>
          <p:cNvPr id="16" name="Shape 14"/>
          <p:cNvSpPr/>
          <p:nvPr/>
        </p:nvSpPr>
        <p:spPr>
          <a:xfrm>
            <a:off x="731520" y="5349240"/>
            <a:ext cx="548640" cy="548640"/>
          </a:xfrm>
          <a:prstGeom prst="ellipse">
            <a:avLst/>
          </a:prstGeom>
          <a:solidFill>
            <a:srgbClr val="F9AB00"/>
          </a:solidFill>
          <a:ln w="12700">
            <a:solidFill>
              <a:srgbClr val="F9AB00"/>
            </a:solidFill>
            <a:prstDash val="solid"/>
          </a:ln>
        </p:spPr>
      </p:sp>
      <p:sp>
        <p:nvSpPr>
          <p:cNvPr id="17" name="Text 15"/>
          <p:cNvSpPr/>
          <p:nvPr/>
        </p:nvSpPr>
        <p:spPr>
          <a:xfrm>
            <a:off x="731520" y="5349240"/>
            <a:ext cx="548640" cy="548640"/>
          </a:xfrm>
          <a:prstGeom prst="rect">
            <a:avLst/>
          </a:prstGeom>
          <a:noFill/>
          <a:ln/>
        </p:spPr>
        <p:txBody>
          <a:bodyPr wrap="square" lIns="0" tIns="0" rIns="0" bIns="0" rtlCol="0" anchor="ctr"/>
          <a:lstStyle/>
          <a:p>
            <a:pPr algn="ctr" indent="0" marL="0">
              <a:buNone/>
            </a:pPr>
            <a:r>
              <a:rPr lang="en-US" sz="2000" b="1" dirty="0">
                <a:solidFill>
                  <a:srgbClr val="0B3D62"/>
                </a:solidFill>
                <a:latin typeface="Calibri" pitchFamily="34" charset="0"/>
                <a:ea typeface="Calibri" pitchFamily="34" charset="-122"/>
                <a:cs typeface="Calibri" pitchFamily="34" charset="-120"/>
              </a:rPr>
              <a:t>5</a:t>
            </a:r>
            <a:endParaRPr lang="en-US" sz="2000" dirty="0"/>
          </a:p>
        </p:txBody>
      </p:sp>
      <p:sp>
        <p:nvSpPr>
          <p:cNvPr id="18" name="Text 16"/>
          <p:cNvSpPr/>
          <p:nvPr/>
        </p:nvSpPr>
        <p:spPr>
          <a:xfrm>
            <a:off x="1508760" y="5349240"/>
            <a:ext cx="996696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Paso 5   </a:t>
            </a:r>
            <a:pPr indent="0" marL="0">
              <a:buNone/>
            </a:pPr>
            <a:r>
              <a:rPr lang="en-US" sz="2400" dirty="0">
                <a:solidFill>
                  <a:srgbClr val="FFFFFF"/>
                </a:solidFill>
                <a:latin typeface="Calibri" pitchFamily="34" charset="0"/>
                <a:ea typeface="Calibri" pitchFamily="34" charset="-122"/>
                <a:cs typeface="Calibri" pitchFamily="34" charset="-120"/>
              </a:rPr>
              <a:t>¿Con qué se rellena una hora vacía?</a:t>
            </a:r>
            <a:endParaRPr lang="en-US" sz="2400" dirty="0"/>
          </a:p>
        </p:txBody>
      </p:sp>
      <p:sp>
        <p:nvSpPr>
          <p:cNvPr id="19" name="Shape 17"/>
          <p:cNvSpPr/>
          <p:nvPr/>
        </p:nvSpPr>
        <p:spPr>
          <a:xfrm>
            <a:off x="731520" y="6126480"/>
            <a:ext cx="548640" cy="548640"/>
          </a:xfrm>
          <a:prstGeom prst="ellipse">
            <a:avLst/>
          </a:prstGeom>
          <a:solidFill>
            <a:srgbClr val="F9AB00"/>
          </a:solidFill>
          <a:ln w="12700">
            <a:solidFill>
              <a:srgbClr val="F9AB00"/>
            </a:solidFill>
            <a:prstDash val="solid"/>
          </a:ln>
        </p:spPr>
      </p:sp>
      <p:sp>
        <p:nvSpPr>
          <p:cNvPr id="20" name="Text 18"/>
          <p:cNvSpPr/>
          <p:nvPr/>
        </p:nvSpPr>
        <p:spPr>
          <a:xfrm>
            <a:off x="731520" y="6126480"/>
            <a:ext cx="548640" cy="548640"/>
          </a:xfrm>
          <a:prstGeom prst="rect">
            <a:avLst/>
          </a:prstGeom>
          <a:noFill/>
          <a:ln/>
        </p:spPr>
        <p:txBody>
          <a:bodyPr wrap="square" lIns="0" tIns="0" rIns="0" bIns="0" rtlCol="0" anchor="ctr"/>
          <a:lstStyle/>
          <a:p>
            <a:pPr algn="ctr" indent="0" marL="0">
              <a:buNone/>
            </a:pPr>
            <a:r>
              <a:rPr lang="en-US" sz="2000" b="1" dirty="0">
                <a:solidFill>
                  <a:srgbClr val="0B3D62"/>
                </a:solidFill>
                <a:latin typeface="Calibri" pitchFamily="34" charset="0"/>
                <a:ea typeface="Calibri" pitchFamily="34" charset="-122"/>
                <a:cs typeface="Calibri" pitchFamily="34" charset="-120"/>
              </a:rPr>
              <a:t>6</a:t>
            </a:r>
            <a:endParaRPr lang="en-US" sz="2000" dirty="0"/>
          </a:p>
        </p:txBody>
      </p:sp>
      <p:sp>
        <p:nvSpPr>
          <p:cNvPr id="21" name="Text 19"/>
          <p:cNvSpPr/>
          <p:nvPr/>
        </p:nvSpPr>
        <p:spPr>
          <a:xfrm>
            <a:off x="1508760" y="6126480"/>
            <a:ext cx="996696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Paso 6   </a:t>
            </a:r>
            <a:pPr indent="0" marL="0">
              <a:buNone/>
            </a:pPr>
            <a:r>
              <a:rPr lang="en-US" sz="2400" dirty="0">
                <a:solidFill>
                  <a:srgbClr val="FFFFFF"/>
                </a:solidFill>
                <a:latin typeface="Calibri" pitchFamily="34" charset="0"/>
                <a:ea typeface="Calibri" pitchFamily="34" charset="-122"/>
                <a:cs typeface="Calibri" pitchFamily="34" charset="-120"/>
              </a:rPr>
              <a:t>Tu turno, decide qué valor es imposible</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1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¿Cómo llegó el archivo?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cómo viene el archivo y cuántas filas debería tener.</a:t>
            </a:r>
            <a:endParaRPr lang="en-US" sz="1400" dirty="0"/>
          </a:p>
        </p:txBody>
      </p:sp>
      <p:pic>
        <p:nvPicPr>
          <p:cNvPr id="6" name="Image 0" descr="../work35/modulos/modulo03/img/lab03_paso1_archivo.png">    </p:cNvPr>
          <p:cNvPicPr>
            <a:picLocks noChangeAspect="1"/>
          </p:cNvPicPr>
          <p:nvPr/>
        </p:nvPicPr>
        <p:blipFill>
          <a:blip r:embed="rId1"/>
          <a:stretch>
            <a:fillRect/>
          </a:stretch>
        </p:blipFill>
        <p:spPr>
          <a:xfrm>
            <a:off x="548640" y="1463040"/>
            <a:ext cx="11091672" cy="425161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1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¿Cómo llegó el archivo?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Lee el archivo tal como llegó, sin arreglar nada.</a:t>
            </a:r>
            <a:endParaRPr lang="en-US" sz="1400" dirty="0"/>
          </a:p>
        </p:txBody>
      </p:sp>
      <p:sp>
        <p:nvSpPr>
          <p:cNvPr id="6" name="Shape 4"/>
          <p:cNvSpPr/>
          <p:nvPr/>
        </p:nvSpPr>
        <p:spPr>
          <a:xfrm>
            <a:off x="548640" y="1481328"/>
            <a:ext cx="11091672" cy="2992946"/>
          </a:xfrm>
          <a:prstGeom prst="roundRect">
            <a:avLst>
              <a:gd name="adj" fmla="val 1833"/>
            </a:avLst>
          </a:prstGeom>
          <a:solidFill>
            <a:srgbClr val="F8F9FA"/>
          </a:solidFill>
          <a:ln w="25400">
            <a:solidFill>
              <a:srgbClr val="F9AB00"/>
            </a:solidFill>
            <a:prstDash val="solid"/>
          </a:ln>
        </p:spPr>
      </p:sp>
      <p:sp>
        <p:nvSpPr>
          <p:cNvPr id="7"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8"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9" name="Text 7"/>
          <p:cNvSpPr/>
          <p:nvPr/>
        </p:nvSpPr>
        <p:spPr>
          <a:xfrm>
            <a:off x="1325880" y="1600200"/>
            <a:ext cx="10085832" cy="2800922"/>
          </a:xfrm>
          <a:prstGeom prst="rect">
            <a:avLst/>
          </a:prstGeom>
          <a:noFill/>
          <a:ln/>
        </p:spPr>
        <p:txBody>
          <a:bodyPr wrap="square" lIns="0" tIns="0" rIns="0" bIns="0" rtlCol="0" anchor="t"/>
          <a:lstStyle/>
          <a:p>
            <a:pPr indent="0" marL="0">
              <a:buNone/>
            </a:pPr>
            <a:r>
              <a:rPr lang="en-US" sz="1300" dirty="0">
                <a:solidFill>
                  <a:srgbClr val="188038"/>
                </a:solidFill>
                <a:latin typeface="Courier New" pitchFamily="34" charset="0"/>
                <a:ea typeface="Courier New" pitchFamily="34" charset="-122"/>
                <a:cs typeface="Courier New" pitchFamily="34" charset="-120"/>
              </a:rPr>
              <a:t># Paso 1</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DATOS = </a:t>
            </a:r>
            <a:pPr indent="0" marL="0">
              <a:buNone/>
            </a:pPr>
            <a:r>
              <a:rPr lang="en-US" sz="1300" dirty="0">
                <a:solidFill>
                  <a:srgbClr val="A31515"/>
                </a:solidFill>
                <a:latin typeface="Courier New" pitchFamily="34" charset="0"/>
                <a:ea typeface="Courier New" pitchFamily="34" charset="-122"/>
                <a:cs typeface="Courier New" pitchFamily="34" charset="-120"/>
              </a:rPr>
              <a:t>"https://raw.githubusercontent.com/RodrigoMSB/curso-python-minergia/main/datos/"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import pandas as pd</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188038"/>
                </a:solidFill>
                <a:latin typeface="Courier New" pitchFamily="34" charset="0"/>
                <a:ea typeface="Courier New" pitchFamily="34" charset="-122"/>
                <a:cs typeface="Courier New" pitchFamily="34" charset="-120"/>
              </a:rPr>
              <a:t># El archivo viene separado por punto y coma, como lo guarda Excel en Chile.</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sucia = pd.read_csv(DATOS + </a:t>
            </a:r>
            <a:pPr indent="0" marL="0">
              <a:buNone/>
            </a:pPr>
            <a:r>
              <a:rPr lang="en-US" sz="1300" dirty="0">
                <a:solidFill>
                  <a:srgbClr val="A31515"/>
                </a:solidFill>
                <a:latin typeface="Courier New" pitchFamily="34" charset="0"/>
                <a:ea typeface="Courier New" pitchFamily="34" charset="-122"/>
                <a:cs typeface="Courier New" pitchFamily="34" charset="-120"/>
              </a:rPr>
              <a:t>"demanda_sucia.csv"</a:t>
            </a:r>
            <a:pPr indent="0" marL="0">
              <a:buNone/>
            </a:pPr>
            <a:r>
              <a:rPr lang="en-US" sz="1300" dirty="0">
                <a:solidFill>
                  <a:srgbClr val="202124"/>
                </a:solidFill>
                <a:latin typeface="Courier New" pitchFamily="34" charset="0"/>
                <a:ea typeface="Courier New" pitchFamily="34" charset="-122"/>
                <a:cs typeface="Courier New" pitchFamily="34" charset="-120"/>
              </a:rPr>
              <a:t>, sep=</a:t>
            </a:r>
            <a:pPr indent="0" marL="0">
              <a:buNone/>
            </a:pPr>
            <a:r>
              <a:rPr lang="en-US" sz="1300" dirty="0">
                <a:solidFill>
                  <a:srgbClr val="A31515"/>
                </a:solidFill>
                <a:latin typeface="Courier New" pitchFamily="34" charset="0"/>
                <a:ea typeface="Courier New" pitchFamily="34" charset="-122"/>
                <a:cs typeface="Courier New" pitchFamily="34" charset="-120"/>
              </a:rPr>
              <a:t>";"</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188038"/>
                </a:solidFill>
                <a:latin typeface="Courier New" pitchFamily="34" charset="0"/>
                <a:ea typeface="Courier New" pitchFamily="34" charset="-122"/>
                <a:cs typeface="Courier New" pitchFamily="34" charset="-120"/>
              </a:rPr>
              <a:t># 2024 fue bisiesto. 366 días por 24 horas por 7 regiones.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esperadas = 366 * 24 * 7</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"Filas del archivo "</a:t>
            </a:r>
            <a:pPr indent="0" marL="0">
              <a:buNone/>
            </a:pPr>
            <a:r>
              <a:rPr lang="en-US" sz="1300" dirty="0">
                <a:solidFill>
                  <a:srgbClr val="202124"/>
                </a:solidFill>
                <a:latin typeface="Courier New" pitchFamily="34" charset="0"/>
                <a:ea typeface="Courier New" pitchFamily="34" charset="-122"/>
                <a:cs typeface="Courier New" pitchFamily="34" charset="-120"/>
              </a:rPr>
              <a:t>, len(sucia))</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"Filas esperadas   "</a:t>
            </a:r>
            <a:pPr indent="0" marL="0">
              <a:buNone/>
            </a:pPr>
            <a:r>
              <a:rPr lang="en-US" sz="1300" dirty="0">
                <a:solidFill>
                  <a:srgbClr val="202124"/>
                </a:solidFill>
                <a:latin typeface="Courier New" pitchFamily="34" charset="0"/>
                <a:ea typeface="Courier New" pitchFamily="34" charset="-122"/>
                <a:cs typeface="Courier New" pitchFamily="34" charset="-120"/>
              </a:rPr>
              <a:t>, esperadas)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"Sobran            "</a:t>
            </a:r>
            <a:pPr indent="0" marL="0">
              <a:buNone/>
            </a:pPr>
            <a:r>
              <a:rPr lang="en-US" sz="1300" dirty="0">
                <a:solidFill>
                  <a:srgbClr val="202124"/>
                </a:solidFill>
                <a:latin typeface="Courier New" pitchFamily="34" charset="0"/>
                <a:ea typeface="Courier New" pitchFamily="34" charset="-122"/>
                <a:cs typeface="Courier New" pitchFamily="34" charset="-120"/>
              </a:rPr>
              <a:t>, len(sucia) - esperadas)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sucia.head()</a:t>
            </a:r>
            <a:endParaRPr lang="en-US" sz="1300" dirty="0"/>
          </a:p>
        </p:txBody>
      </p:sp>
      <p:sp>
        <p:nvSpPr>
          <p:cNvPr id="10" name="Text 8"/>
          <p:cNvSpPr/>
          <p:nvPr/>
        </p:nvSpPr>
        <p:spPr>
          <a:xfrm>
            <a:off x="1325880" y="4501706"/>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1" name="Text 9"/>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2" name="Text 10"/>
          <p:cNvSpPr/>
          <p:nvPr/>
        </p:nvSpPr>
        <p:spPr>
          <a:xfrm>
            <a:off x="548640" y="6089904"/>
            <a:ext cx="7315200" cy="457200"/>
          </a:xfrm>
          <a:prstGeom prst="rect">
            <a:avLst/>
          </a:prstGeom>
          <a:noFill/>
          <a:ln/>
        </p:spPr>
        <p:txBody>
          <a:bodyPr wrap="square" lIns="0" tIns="0" rIns="0" bIns="0" rtlCol="0" anchor="ctr"/>
          <a:lstStyle/>
          <a:p>
            <a:pPr indent="0" marL="0">
              <a:buNone/>
            </a:pPr>
            <a:r>
              <a:rPr lang="en-US" sz="1300" dirty="0">
                <a:solidFill>
                  <a:srgbClr val="5F6368"/>
                </a:solidFill>
                <a:latin typeface="Calibri" pitchFamily="34" charset="0"/>
                <a:ea typeface="Calibri" pitchFamily="34" charset="-122"/>
                <a:cs typeface="Calibri" pitchFamily="34" charset="-120"/>
              </a:rPr>
              <a:t>Todavía nada. La memoria está vacía.</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1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¿Cómo llegó el archivo?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lee esta línea, pieza por pieza</a:t>
            </a:r>
            <a:endParaRPr lang="en-US" sz="1400" dirty="0"/>
          </a:p>
        </p:txBody>
      </p:sp>
      <p:sp>
        <p:nvSpPr>
          <p:cNvPr id="6" name="Shape 4"/>
          <p:cNvSpPr/>
          <p:nvPr/>
        </p:nvSpPr>
        <p:spPr>
          <a:xfrm>
            <a:off x="548640" y="1463040"/>
            <a:ext cx="11091672" cy="484632"/>
          </a:xfrm>
          <a:prstGeom prst="roundRect">
            <a:avLst>
              <a:gd name="adj" fmla="val 11321"/>
            </a:avLst>
          </a:prstGeom>
          <a:solidFill>
            <a:srgbClr val="F8F9FA"/>
          </a:solidFill>
          <a:ln w="12700">
            <a:solidFill>
              <a:srgbClr val="DADCE0"/>
            </a:solidFill>
            <a:prstDash val="solid"/>
          </a:ln>
        </p:spPr>
      </p:sp>
      <p:sp>
        <p:nvSpPr>
          <p:cNvPr id="7" name="Text 5"/>
          <p:cNvSpPr/>
          <p:nvPr/>
        </p:nvSpPr>
        <p:spPr>
          <a:xfrm>
            <a:off x="822960" y="1572768"/>
            <a:ext cx="10634472" cy="265176"/>
          </a:xfrm>
          <a:prstGeom prst="rect">
            <a:avLst/>
          </a:prstGeom>
          <a:noFill/>
          <a:ln/>
        </p:spPr>
        <p:txBody>
          <a:bodyPr wrap="square" lIns="0" tIns="0" rIns="0" bIns="0" rtlCol="0" anchor="t"/>
          <a:lstStyle/>
          <a:p>
            <a:pPr indent="0" marL="0">
              <a:buNone/>
            </a:pPr>
            <a:r>
              <a:rPr lang="en-US" sz="1600" dirty="0">
                <a:solidFill>
                  <a:srgbClr val="202124"/>
                </a:solidFill>
                <a:latin typeface="Courier New" pitchFamily="34" charset="0"/>
                <a:ea typeface="Courier New" pitchFamily="34" charset="-122"/>
                <a:cs typeface="Courier New" pitchFamily="34" charset="-120"/>
              </a:rPr>
              <a:t>sucia = pd.read_csv(DATOS + </a:t>
            </a:r>
            <a:pPr indent="0" marL="0">
              <a:buNone/>
            </a:pPr>
            <a:r>
              <a:rPr lang="en-US" sz="1600" dirty="0">
                <a:solidFill>
                  <a:srgbClr val="A31515"/>
                </a:solidFill>
                <a:latin typeface="Courier New" pitchFamily="34" charset="0"/>
                <a:ea typeface="Courier New" pitchFamily="34" charset="-122"/>
                <a:cs typeface="Courier New" pitchFamily="34" charset="-120"/>
              </a:rPr>
              <a:t>"demanda_sucia.csv"</a:t>
            </a:r>
            <a:pPr indent="0" marL="0">
              <a:buNone/>
            </a:pPr>
            <a:r>
              <a:rPr lang="en-US" sz="1600" dirty="0">
                <a:solidFill>
                  <a:srgbClr val="202124"/>
                </a:solidFill>
                <a:latin typeface="Courier New" pitchFamily="34" charset="0"/>
                <a:ea typeface="Courier New" pitchFamily="34" charset="-122"/>
                <a:cs typeface="Courier New" pitchFamily="34" charset="-120"/>
              </a:rPr>
              <a:t>, sep=</a:t>
            </a:r>
            <a:pPr indent="0" marL="0">
              <a:buNone/>
            </a:pPr>
            <a:r>
              <a:rPr lang="en-US" sz="1600" dirty="0">
                <a:solidFill>
                  <a:srgbClr val="A31515"/>
                </a:solidFill>
                <a:latin typeface="Courier New" pitchFamily="34" charset="0"/>
                <a:ea typeface="Courier New" pitchFamily="34" charset="-122"/>
                <a:cs typeface="Courier New" pitchFamily="34" charset="-120"/>
              </a:rPr>
              <a:t>";"</a:t>
            </a:r>
            <a:pPr indent="0" marL="0">
              <a:buNone/>
            </a:pPr>
            <a:r>
              <a:rPr lang="en-US" sz="1600" dirty="0">
                <a:solidFill>
                  <a:srgbClr val="202124"/>
                </a:solidFill>
                <a:latin typeface="Courier New" pitchFamily="34" charset="0"/>
                <a:ea typeface="Courier New" pitchFamily="34" charset="-122"/>
                <a:cs typeface="Courier New" pitchFamily="34" charset="-120"/>
              </a:rPr>
              <a:t>)</a:t>
            </a:r>
            <a:endParaRPr lang="en-US" sz="1600" dirty="0"/>
          </a:p>
        </p:txBody>
      </p:sp>
      <p:sp>
        <p:nvSpPr>
          <p:cNvPr id="8" name="Shape 6"/>
          <p:cNvSpPr/>
          <p:nvPr/>
        </p:nvSpPr>
        <p:spPr>
          <a:xfrm>
            <a:off x="548640" y="2414016"/>
            <a:ext cx="329184" cy="329184"/>
          </a:xfrm>
          <a:prstGeom prst="ellipse">
            <a:avLst/>
          </a:prstGeom>
          <a:solidFill>
            <a:srgbClr val="1A6FD4"/>
          </a:solidFill>
          <a:ln w="12700">
            <a:solidFill>
              <a:srgbClr val="1A6FD4"/>
            </a:solidFill>
            <a:prstDash val="solid"/>
          </a:ln>
        </p:spPr>
      </p:sp>
      <p:sp>
        <p:nvSpPr>
          <p:cNvPr id="9" name="Text 7"/>
          <p:cNvSpPr/>
          <p:nvPr/>
        </p:nvSpPr>
        <p:spPr>
          <a:xfrm>
            <a:off x="548640" y="241401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2221992"/>
            <a:ext cx="4937760" cy="713232"/>
          </a:xfrm>
          <a:prstGeom prst="roundRect">
            <a:avLst>
              <a:gd name="adj" fmla="val 6410"/>
            </a:avLst>
          </a:prstGeom>
          <a:solidFill>
            <a:srgbClr val="DBE9FB"/>
          </a:solidFill>
          <a:ln w="12700">
            <a:solidFill>
              <a:srgbClr val="DBE9FB"/>
            </a:solidFill>
            <a:prstDash val="solid"/>
          </a:ln>
        </p:spPr>
      </p:sp>
      <p:sp>
        <p:nvSpPr>
          <p:cNvPr id="11" name="Text 9"/>
          <p:cNvSpPr/>
          <p:nvPr/>
        </p:nvSpPr>
        <p:spPr>
          <a:xfrm>
            <a:off x="1170432" y="2221992"/>
            <a:ext cx="4754880" cy="71323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DATOS + "demanda_sucia.csv"</a:t>
            </a:r>
            <a:endParaRPr lang="en-US" sz="1400" dirty="0"/>
          </a:p>
        </p:txBody>
      </p:sp>
      <p:sp>
        <p:nvSpPr>
          <p:cNvPr id="12" name="Text 10"/>
          <p:cNvSpPr/>
          <p:nvPr/>
        </p:nvSpPr>
        <p:spPr>
          <a:xfrm>
            <a:off x="6263640" y="2221992"/>
            <a:ext cx="5376672" cy="71323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La dirección completa del archivo, como en el Lab 01.</a:t>
            </a:r>
            <a:endParaRPr lang="en-US" sz="1600" dirty="0"/>
          </a:p>
        </p:txBody>
      </p:sp>
      <p:sp>
        <p:nvSpPr>
          <p:cNvPr id="13" name="Shape 11"/>
          <p:cNvSpPr/>
          <p:nvPr/>
        </p:nvSpPr>
        <p:spPr>
          <a:xfrm>
            <a:off x="548640" y="3218688"/>
            <a:ext cx="329184" cy="329184"/>
          </a:xfrm>
          <a:prstGeom prst="ellipse">
            <a:avLst/>
          </a:prstGeom>
          <a:solidFill>
            <a:srgbClr val="1E8E3E"/>
          </a:solidFill>
          <a:ln w="12700">
            <a:solidFill>
              <a:srgbClr val="1E8E3E"/>
            </a:solidFill>
            <a:prstDash val="solid"/>
          </a:ln>
        </p:spPr>
      </p:sp>
      <p:sp>
        <p:nvSpPr>
          <p:cNvPr id="14" name="Text 12"/>
          <p:cNvSpPr/>
          <p:nvPr/>
        </p:nvSpPr>
        <p:spPr>
          <a:xfrm>
            <a:off x="548640" y="32186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3026664"/>
            <a:ext cx="4937760" cy="713232"/>
          </a:xfrm>
          <a:prstGeom prst="roundRect">
            <a:avLst>
              <a:gd name="adj" fmla="val 6410"/>
            </a:avLst>
          </a:prstGeom>
          <a:solidFill>
            <a:srgbClr val="DCEFE0"/>
          </a:solidFill>
          <a:ln w="12700">
            <a:solidFill>
              <a:srgbClr val="DCEFE0"/>
            </a:solidFill>
            <a:prstDash val="solid"/>
          </a:ln>
        </p:spPr>
      </p:sp>
      <p:sp>
        <p:nvSpPr>
          <p:cNvPr id="16" name="Text 14"/>
          <p:cNvSpPr/>
          <p:nvPr/>
        </p:nvSpPr>
        <p:spPr>
          <a:xfrm>
            <a:off x="1170432" y="3026664"/>
            <a:ext cx="4754880" cy="71323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sep=";"</a:t>
            </a:r>
            <a:endParaRPr lang="en-US" sz="1400" dirty="0"/>
          </a:p>
        </p:txBody>
      </p:sp>
      <p:sp>
        <p:nvSpPr>
          <p:cNvPr id="17" name="Text 15"/>
          <p:cNvSpPr/>
          <p:nvPr/>
        </p:nvSpPr>
        <p:spPr>
          <a:xfrm>
            <a:off x="6263640" y="3026664"/>
            <a:ext cx="5376672" cy="71323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Avisa que las columnas van separadas por punto y coma. Sin esto todo quedaría en una sola columna.</a:t>
            </a:r>
            <a:endParaRPr lang="en-US" sz="1600" dirty="0"/>
          </a:p>
        </p:txBody>
      </p:sp>
      <p:sp>
        <p:nvSpPr>
          <p:cNvPr id="18" name="Shape 16"/>
          <p:cNvSpPr/>
          <p:nvPr/>
        </p:nvSpPr>
        <p:spPr>
          <a:xfrm>
            <a:off x="548640" y="4023360"/>
            <a:ext cx="329184" cy="329184"/>
          </a:xfrm>
          <a:prstGeom prst="ellipse">
            <a:avLst/>
          </a:prstGeom>
          <a:solidFill>
            <a:srgbClr val="B07D00"/>
          </a:solidFill>
          <a:ln w="12700">
            <a:solidFill>
              <a:srgbClr val="B07D00"/>
            </a:solidFill>
            <a:prstDash val="solid"/>
          </a:ln>
        </p:spPr>
      </p:sp>
      <p:sp>
        <p:nvSpPr>
          <p:cNvPr id="19" name="Text 17"/>
          <p:cNvSpPr/>
          <p:nvPr/>
        </p:nvSpPr>
        <p:spPr>
          <a:xfrm>
            <a:off x="548640" y="40233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Shape 18"/>
          <p:cNvSpPr/>
          <p:nvPr/>
        </p:nvSpPr>
        <p:spPr>
          <a:xfrm>
            <a:off x="1051560" y="3831336"/>
            <a:ext cx="4937760" cy="713232"/>
          </a:xfrm>
          <a:prstGeom prst="roundRect">
            <a:avLst>
              <a:gd name="adj" fmla="val 6410"/>
            </a:avLst>
          </a:prstGeom>
          <a:solidFill>
            <a:srgbClr val="FDF0C8"/>
          </a:solidFill>
          <a:ln w="12700">
            <a:solidFill>
              <a:srgbClr val="FDF0C8"/>
            </a:solidFill>
            <a:prstDash val="solid"/>
          </a:ln>
        </p:spPr>
      </p:sp>
      <p:sp>
        <p:nvSpPr>
          <p:cNvPr id="21" name="Text 19"/>
          <p:cNvSpPr/>
          <p:nvPr/>
        </p:nvSpPr>
        <p:spPr>
          <a:xfrm>
            <a:off x="1170432" y="3831336"/>
            <a:ext cx="4754880" cy="71323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sucia =</a:t>
            </a:r>
            <a:endParaRPr lang="en-US" sz="1400" dirty="0"/>
          </a:p>
        </p:txBody>
      </p:sp>
      <p:sp>
        <p:nvSpPr>
          <p:cNvPr id="22" name="Text 20"/>
          <p:cNvSpPr/>
          <p:nvPr/>
        </p:nvSpPr>
        <p:spPr>
          <a:xfrm>
            <a:off x="6263640" y="3831336"/>
            <a:ext cx="5376672" cy="71323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Guarda la tabla con el nombre sucia, porque llega tal cual, con sus errores.</a:t>
            </a:r>
            <a:endParaRPr lang="en-US" sz="1600" dirty="0"/>
          </a:p>
        </p:txBody>
      </p:sp>
      <p:sp>
        <p:nvSpPr>
          <p:cNvPr id="23" name="Shape 21"/>
          <p:cNvSpPr/>
          <p:nvPr/>
        </p:nvSpPr>
        <p:spPr>
          <a:xfrm>
            <a:off x="548640" y="5989320"/>
            <a:ext cx="73152" cy="548640"/>
          </a:xfrm>
          <a:prstGeom prst="rect">
            <a:avLst/>
          </a:prstGeom>
          <a:solidFill>
            <a:srgbClr val="0B3D62"/>
          </a:solidFill>
          <a:ln w="12700">
            <a:solidFill>
              <a:srgbClr val="0B3D62"/>
            </a:solidFill>
            <a:prstDash val="solid"/>
          </a:ln>
        </p:spPr>
      </p:sp>
      <p:sp>
        <p:nvSpPr>
          <p:cNvPr id="24" name="Text 22"/>
          <p:cNvSpPr/>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lee demanda_sucia.csv, separa las columnas en cada punto y coma, y guárdalo como sucia.</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1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¿Cómo llegó el archivo?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Lee el archivo tal como llegó, sin arreglar nada.</a:t>
            </a:r>
            <a:endParaRPr lang="en-US" sz="1400" dirty="0"/>
          </a:p>
        </p:txBody>
      </p:sp>
      <p:sp>
        <p:nvSpPr>
          <p:cNvPr id="6" name="Text 4"/>
          <p:cNvSpPr/>
          <p:nvPr/>
        </p:nvSpPr>
        <p:spPr>
          <a:xfrm>
            <a:off x="548640" y="1481328"/>
            <a:ext cx="5486400" cy="274320"/>
          </a:xfrm>
          <a:prstGeom prst="rect">
            <a:avLst/>
          </a:prstGeom>
          <a:noFill/>
          <a:ln/>
        </p:spPr>
        <p:txBody>
          <a:bodyPr wrap="square" lIns="0" tIns="0" rIns="0" bIns="0" rtlCol="0" anchor="ctr"/>
          <a:lstStyle/>
          <a:p>
            <a:pPr indent="0" marL="0">
              <a:buNone/>
            </a:pPr>
            <a:r>
              <a:rPr lang="en-US" sz="1300" b="1" dirty="0">
                <a:solidFill>
                  <a:srgbClr val="5F6368"/>
                </a:solidFill>
                <a:latin typeface="Calibri" pitchFamily="34" charset="0"/>
                <a:ea typeface="Calibri" pitchFamily="34" charset="-122"/>
                <a:cs typeface="Calibri" pitchFamily="34" charset="-120"/>
              </a:rPr>
              <a:t>Respuesta de la celda</a:t>
            </a:r>
            <a:endParaRPr lang="en-US" sz="1300" dirty="0"/>
          </a:p>
        </p:txBody>
      </p:sp>
      <p:sp>
        <p:nvSpPr>
          <p:cNvPr id="7" name="Shape 5"/>
          <p:cNvSpPr/>
          <p:nvPr/>
        </p:nvSpPr>
        <p:spPr>
          <a:xfrm>
            <a:off x="1325880" y="1828800"/>
            <a:ext cx="10314432" cy="764438"/>
          </a:xfrm>
          <a:prstGeom prst="rect">
            <a:avLst/>
          </a:prstGeom>
          <a:solidFill>
            <a:srgbClr val="FFFFFF"/>
          </a:solidFill>
          <a:ln w="12700">
            <a:solidFill>
              <a:srgbClr val="DADCE0"/>
            </a:solidFill>
            <a:prstDash val="solid"/>
          </a:ln>
        </p:spPr>
      </p:sp>
      <p:sp>
        <p:nvSpPr>
          <p:cNvPr id="8" name="Text 6"/>
          <p:cNvSpPr/>
          <p:nvPr/>
        </p:nvSpPr>
        <p:spPr>
          <a:xfrm>
            <a:off x="1463040" y="1901952"/>
            <a:ext cx="10085832" cy="636422"/>
          </a:xfrm>
          <a:prstGeom prst="rect">
            <a:avLst/>
          </a:prstGeom>
          <a:noFill/>
          <a:ln/>
        </p:spPr>
        <p:txBody>
          <a:bodyPr wrap="square" lIns="0" tIns="0" rIns="0" bIns="0" rtlCol="0" anchor="t"/>
          <a:lstStyle/>
          <a:p>
            <a:pPr indent="0" marL="0">
              <a:buNone/>
            </a:pPr>
            <a:r>
              <a:rPr lang="en-US" sz="1200" dirty="0">
                <a:solidFill>
                  <a:srgbClr val="202124"/>
                </a:solidFill>
                <a:latin typeface="Courier New" pitchFamily="34" charset="0"/>
                <a:ea typeface="Courier New" pitchFamily="34" charset="-122"/>
                <a:cs typeface="Courier New" pitchFamily="34" charset="-120"/>
              </a:rPr>
              <a:t>Filas del archivo  61508</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Filas esperadas    61488</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Sobran             20</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325880" y="2684678"/>
          <a:ext cx="9144000" cy="914400"/>
        </p:xfrm>
        <a:graphic>
          <a:graphicData uri="http://schemas.openxmlformats.org/drawingml/2006/table">
            <a:tbl>
              <a:tblPr/>
              <a:tblGrid>
                <a:gridCol w="365760"/>
                <a:gridCol w="1179576"/>
                <a:gridCol w="581558"/>
                <a:gridCol w="1279246"/>
                <a:gridCol w="681228"/>
              </a:tblGrid>
              <a:tr h="237744">
                <a:tc>
                  <a:txBody>
                    <a:bodyPr/>
                    <a:lstStyle/>
                    <a:p>
                      <a:pPr indent="0" marL="0">
                        <a:buNone/>
                      </a:pP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fecha</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hora</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region</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mwh</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01/01/2024</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Antofagasta</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51,95</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01/01/2024</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Antofagasta</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49,02</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01/01/2024</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Antofagasta</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48,22</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01/01/2024</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Antofagasta</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45,57</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01/01/2024</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Antofagasta</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47,59</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bl>
          </a:graphicData>
        </a:graphic>
      </p:graphicFrame>
      <p:sp>
        <p:nvSpPr>
          <p:cNvPr id="10" name="Text 7"/>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1" name="Shape 8"/>
          <p:cNvSpPr/>
          <p:nvPr/>
        </p:nvSpPr>
        <p:spPr>
          <a:xfrm>
            <a:off x="548640" y="6062472"/>
            <a:ext cx="2750515" cy="512064"/>
          </a:xfrm>
          <a:prstGeom prst="roundRect">
            <a:avLst>
              <a:gd name="adj" fmla="val 12500"/>
            </a:avLst>
          </a:prstGeom>
          <a:solidFill>
            <a:srgbClr val="FEF3D6"/>
          </a:solidFill>
          <a:ln w="25400">
            <a:solidFill>
              <a:srgbClr val="F9AB00"/>
            </a:solidFill>
            <a:prstDash val="solid"/>
          </a:ln>
        </p:spPr>
      </p:sp>
      <p:sp>
        <p:nvSpPr>
          <p:cNvPr id="12" name="Text 9"/>
          <p:cNvSpPr/>
          <p:nvPr/>
        </p:nvSpPr>
        <p:spPr>
          <a:xfrm>
            <a:off x="640080" y="6071616"/>
            <a:ext cx="2613355"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
        <p:nvSpPr>
          <p:cNvPr id="13" name="Shape 10"/>
          <p:cNvSpPr/>
          <p:nvPr/>
        </p:nvSpPr>
        <p:spPr>
          <a:xfrm>
            <a:off x="3436315" y="6062472"/>
            <a:ext cx="1143000" cy="512064"/>
          </a:xfrm>
          <a:prstGeom prst="roundRect">
            <a:avLst>
              <a:gd name="adj" fmla="val 12500"/>
            </a:avLst>
          </a:prstGeom>
          <a:solidFill>
            <a:srgbClr val="FEF3D6"/>
          </a:solidFill>
          <a:ln w="25400">
            <a:solidFill>
              <a:srgbClr val="F9AB00"/>
            </a:solidFill>
            <a:prstDash val="solid"/>
          </a:ln>
        </p:spPr>
      </p:sp>
      <p:sp>
        <p:nvSpPr>
          <p:cNvPr id="14" name="Text 11"/>
          <p:cNvSpPr/>
          <p:nvPr/>
        </p:nvSpPr>
        <p:spPr>
          <a:xfrm>
            <a:off x="3527755"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15" name="Shape 12"/>
          <p:cNvSpPr/>
          <p:nvPr/>
        </p:nvSpPr>
        <p:spPr>
          <a:xfrm>
            <a:off x="4716475" y="6062472"/>
            <a:ext cx="1714500" cy="512064"/>
          </a:xfrm>
          <a:prstGeom prst="roundRect">
            <a:avLst>
              <a:gd name="adj" fmla="val 12500"/>
            </a:avLst>
          </a:prstGeom>
          <a:solidFill>
            <a:srgbClr val="FEF3D6"/>
          </a:solidFill>
          <a:ln w="25400">
            <a:solidFill>
              <a:srgbClr val="F9AB00"/>
            </a:solidFill>
            <a:prstDash val="solid"/>
          </a:ln>
        </p:spPr>
      </p:sp>
      <p:sp>
        <p:nvSpPr>
          <p:cNvPr id="16" name="Text 13"/>
          <p:cNvSpPr/>
          <p:nvPr/>
        </p:nvSpPr>
        <p:spPr>
          <a:xfrm>
            <a:off x="4807915"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sucia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61508 × 4</a:t>
            </a:r>
            <a:endParaRPr lang="en-US" sz="1200" dirty="0"/>
          </a:p>
        </p:txBody>
      </p:sp>
      <p:sp>
        <p:nvSpPr>
          <p:cNvPr id="17" name="Shape 14"/>
          <p:cNvSpPr/>
          <p:nvPr/>
        </p:nvSpPr>
        <p:spPr>
          <a:xfrm>
            <a:off x="6568135" y="6062472"/>
            <a:ext cx="1149401" cy="512064"/>
          </a:xfrm>
          <a:prstGeom prst="roundRect">
            <a:avLst>
              <a:gd name="adj" fmla="val 12500"/>
            </a:avLst>
          </a:prstGeom>
          <a:solidFill>
            <a:srgbClr val="FEF3D6"/>
          </a:solidFill>
          <a:ln w="25400">
            <a:solidFill>
              <a:srgbClr val="F9AB00"/>
            </a:solidFill>
            <a:prstDash val="solid"/>
          </a:ln>
        </p:spPr>
      </p:sp>
      <p:sp>
        <p:nvSpPr>
          <p:cNvPr id="18" name="Text 15"/>
          <p:cNvSpPr/>
          <p:nvPr/>
        </p:nvSpPr>
        <p:spPr>
          <a:xfrm>
            <a:off x="6659575" y="6071616"/>
            <a:ext cx="1012241"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esperadas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61488</a:t>
            </a:r>
            <a:endParaRPr lang="en-US" sz="1200" dirty="0"/>
          </a:p>
        </p:txBody>
      </p:sp>
      <p:sp>
        <p:nvSpPr>
          <p:cNvPr id="19" name="Text 16"/>
          <p:cNvSpPr/>
          <p:nvPr/>
        </p:nvSpPr>
        <p:spPr>
          <a:xfrm>
            <a:off x="548640" y="6592824"/>
            <a:ext cx="11091672" cy="219456"/>
          </a:xfrm>
          <a:prstGeom prst="rect">
            <a:avLst/>
          </a:prstGeom>
          <a:noFill/>
          <a:ln/>
        </p:spPr>
        <p:txBody>
          <a:bodyPr wrap="square" lIns="0" tIns="0" rIns="0" bIns="0" rtlCol="0" anchor="ctr"/>
          <a:lstStyle/>
          <a:p>
            <a:pPr indent="0" marL="0">
              <a:buNone/>
            </a:pPr>
            <a:r>
              <a:rPr lang="en-US" sz="1300" dirty="0">
                <a:solidFill>
                  <a:srgbClr val="0B3D62"/>
                </a:solidFill>
                <a:latin typeface="Calibri" pitchFamily="34" charset="0"/>
                <a:ea typeface="Calibri" pitchFamily="34" charset="-122"/>
                <a:cs typeface="Calibri" pitchFamily="34" charset="-120"/>
              </a:rPr>
              <a:t>Llegaron 61.508 filas y se esperaban 61.488. Sobran 20, y nada dio error.</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1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¿Cómo llegó el archivo?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hay que llevarse de este paso.</a:t>
            </a:r>
            <a:endParaRPr lang="en-US" sz="1400" dirty="0"/>
          </a:p>
        </p:txBody>
      </p:sp>
      <p:sp>
        <p:nvSpPr>
          <p:cNvPr id="6" name="Shape 4"/>
          <p:cNvSpPr/>
          <p:nvPr/>
        </p:nvSpPr>
        <p:spPr>
          <a:xfrm>
            <a:off x="548640" y="1828800"/>
            <a:ext cx="11091672" cy="2377440"/>
          </a:xfrm>
          <a:prstGeom prst="roundRect">
            <a:avLst>
              <a:gd name="adj" fmla="val 3846"/>
            </a:avLst>
          </a:prstGeom>
          <a:solidFill>
            <a:srgbClr val="FFF8D6"/>
          </a:solidFill>
          <a:ln w="12700">
            <a:solidFill>
              <a:srgbClr val="FFF8D6"/>
            </a:solidFill>
            <a:prstDash val="solid"/>
          </a:ln>
        </p:spPr>
      </p:sp>
      <p:sp>
        <p:nvSpPr>
          <p:cNvPr id="7" name="Text 5"/>
          <p:cNvSpPr/>
          <p:nvPr/>
        </p:nvSpPr>
        <p:spPr>
          <a:xfrm>
            <a:off x="1005840" y="2057400"/>
            <a:ext cx="10177272" cy="1005840"/>
          </a:xfrm>
          <a:prstGeom prst="rect">
            <a:avLst/>
          </a:prstGeom>
          <a:noFill/>
          <a:ln/>
        </p:spPr>
        <p:txBody>
          <a:bodyPr wrap="square" lIns="0" tIns="0" rIns="0" bIns="0" rtlCol="0" anchor="t"/>
          <a:lstStyle/>
          <a:p>
            <a:pPr indent="0" marL="0">
              <a:buNone/>
            </a:pPr>
            <a:r>
              <a:rPr lang="en-US" sz="2800" b="1" dirty="0">
                <a:solidFill>
                  <a:srgbClr val="8A6D00"/>
                </a:solidFill>
                <a:latin typeface="Calibri" pitchFamily="34" charset="0"/>
                <a:ea typeface="Calibri" pitchFamily="34" charset="-122"/>
                <a:cs typeface="Calibri" pitchFamily="34" charset="-120"/>
              </a:rPr>
              <a:t>Antes de calcular, se cuentan las filas.</a:t>
            </a:r>
            <a:endParaRPr lang="en-US" sz="2800" dirty="0"/>
          </a:p>
        </p:txBody>
      </p:sp>
      <p:sp>
        <p:nvSpPr>
          <p:cNvPr id="8" name="Text 6"/>
          <p:cNvSpPr/>
          <p:nvPr/>
        </p:nvSpPr>
        <p:spPr>
          <a:xfrm>
            <a:off x="1005840" y="3154680"/>
            <a:ext cx="10177272" cy="914400"/>
          </a:xfrm>
          <a:prstGeom prst="rect">
            <a:avLst/>
          </a:prstGeom>
          <a:noFill/>
          <a:ln/>
        </p:spPr>
        <p:txBody>
          <a:bodyPr wrap="square" lIns="0" tIns="0" rIns="0" bIns="0" rtlCol="0" anchor="t"/>
          <a:lstStyle/>
          <a:p>
            <a:pPr indent="0" marL="0">
              <a:buNone/>
            </a:pPr>
            <a:r>
              <a:rPr lang="en-US" sz="2200" dirty="0">
                <a:solidFill>
                  <a:srgbClr val="202124"/>
                </a:solidFill>
                <a:latin typeface="Calibri" pitchFamily="34" charset="0"/>
                <a:ea typeface="Calibri" pitchFamily="34" charset="-122"/>
                <a:cs typeface="Calibri" pitchFamily="34" charset="-120"/>
              </a:rPr>
              <a:t>Si no calzan con las esperadas, el archivo trae un problema aunque nada dé error.</a:t>
            </a:r>
            <a:endParaRPr lang="en-US" sz="2200" dirty="0"/>
          </a:p>
        </p:txBody>
      </p:sp>
      <p:sp>
        <p:nvSpPr>
          <p:cNvPr id="9" name="Text 7"/>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0" name="Shape 8"/>
          <p:cNvSpPr/>
          <p:nvPr/>
        </p:nvSpPr>
        <p:spPr>
          <a:xfrm>
            <a:off x="548640" y="6062472"/>
            <a:ext cx="2750515" cy="512064"/>
          </a:xfrm>
          <a:prstGeom prst="roundRect">
            <a:avLst>
              <a:gd name="adj" fmla="val 12500"/>
            </a:avLst>
          </a:prstGeom>
          <a:solidFill>
            <a:srgbClr val="FEF3D6"/>
          </a:solidFill>
          <a:ln w="25400">
            <a:solidFill>
              <a:srgbClr val="F9AB00"/>
            </a:solidFill>
            <a:prstDash val="solid"/>
          </a:ln>
        </p:spPr>
      </p:sp>
      <p:sp>
        <p:nvSpPr>
          <p:cNvPr id="11" name="Text 9"/>
          <p:cNvSpPr/>
          <p:nvPr/>
        </p:nvSpPr>
        <p:spPr>
          <a:xfrm>
            <a:off x="640080" y="6071616"/>
            <a:ext cx="2613355"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
        <p:nvSpPr>
          <p:cNvPr id="12" name="Shape 10"/>
          <p:cNvSpPr/>
          <p:nvPr/>
        </p:nvSpPr>
        <p:spPr>
          <a:xfrm>
            <a:off x="3436315" y="6062472"/>
            <a:ext cx="1143000" cy="512064"/>
          </a:xfrm>
          <a:prstGeom prst="roundRect">
            <a:avLst>
              <a:gd name="adj" fmla="val 12500"/>
            </a:avLst>
          </a:prstGeom>
          <a:solidFill>
            <a:srgbClr val="FEF3D6"/>
          </a:solidFill>
          <a:ln w="25400">
            <a:solidFill>
              <a:srgbClr val="F9AB00"/>
            </a:solidFill>
            <a:prstDash val="solid"/>
          </a:ln>
        </p:spPr>
      </p:sp>
      <p:sp>
        <p:nvSpPr>
          <p:cNvPr id="13" name="Text 11"/>
          <p:cNvSpPr/>
          <p:nvPr/>
        </p:nvSpPr>
        <p:spPr>
          <a:xfrm>
            <a:off x="3527755"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14" name="Shape 12"/>
          <p:cNvSpPr/>
          <p:nvPr/>
        </p:nvSpPr>
        <p:spPr>
          <a:xfrm>
            <a:off x="4716475" y="6062472"/>
            <a:ext cx="1714500" cy="512064"/>
          </a:xfrm>
          <a:prstGeom prst="roundRect">
            <a:avLst>
              <a:gd name="adj" fmla="val 12500"/>
            </a:avLst>
          </a:prstGeom>
          <a:solidFill>
            <a:srgbClr val="FEF3D6"/>
          </a:solidFill>
          <a:ln w="25400">
            <a:solidFill>
              <a:srgbClr val="F9AB00"/>
            </a:solidFill>
            <a:prstDash val="solid"/>
          </a:ln>
        </p:spPr>
      </p:sp>
      <p:sp>
        <p:nvSpPr>
          <p:cNvPr id="15" name="Text 13"/>
          <p:cNvSpPr/>
          <p:nvPr/>
        </p:nvSpPr>
        <p:spPr>
          <a:xfrm>
            <a:off x="4807915"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sucia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61508 × 4</a:t>
            </a:r>
            <a:endParaRPr lang="en-US" sz="1200" dirty="0"/>
          </a:p>
        </p:txBody>
      </p:sp>
      <p:sp>
        <p:nvSpPr>
          <p:cNvPr id="16" name="Shape 14"/>
          <p:cNvSpPr/>
          <p:nvPr/>
        </p:nvSpPr>
        <p:spPr>
          <a:xfrm>
            <a:off x="6568135" y="6062472"/>
            <a:ext cx="1149401" cy="512064"/>
          </a:xfrm>
          <a:prstGeom prst="roundRect">
            <a:avLst>
              <a:gd name="adj" fmla="val 12500"/>
            </a:avLst>
          </a:prstGeom>
          <a:solidFill>
            <a:srgbClr val="FEF3D6"/>
          </a:solidFill>
          <a:ln w="25400">
            <a:solidFill>
              <a:srgbClr val="F9AB00"/>
            </a:solidFill>
            <a:prstDash val="solid"/>
          </a:ln>
        </p:spPr>
      </p:sp>
      <p:sp>
        <p:nvSpPr>
          <p:cNvPr id="17" name="Text 15"/>
          <p:cNvSpPr/>
          <p:nvPr/>
        </p:nvSpPr>
        <p:spPr>
          <a:xfrm>
            <a:off x="6659575" y="6071616"/>
            <a:ext cx="1012241"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esperadas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61488</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2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¿Cómo se leen bien el número y la fecha?</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qué se le avisa a read_csv y cómo queda cada dato.</a:t>
            </a:r>
            <a:endParaRPr lang="en-US" sz="1400" dirty="0"/>
          </a:p>
        </p:txBody>
      </p:sp>
      <p:pic>
        <p:nvPicPr>
          <p:cNvPr id="6" name="Image 0" descr="../work35/modulos/modulo03/img/lab03_paso4_tipos.png">    </p:cNvPr>
          <p:cNvPicPr>
            <a:picLocks noChangeAspect="1"/>
          </p:cNvPicPr>
          <p:nvPr/>
        </p:nvPicPr>
        <p:blipFill>
          <a:blip r:embed="rId1"/>
          <a:stretch>
            <a:fillRect/>
          </a:stretch>
        </p:blipFill>
        <p:spPr>
          <a:xfrm>
            <a:off x="548640" y="1463040"/>
            <a:ext cx="11091672" cy="425290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2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¿Cómo se leen bien el número y la fecha?</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Por qué hay que avisar que el día va primero.</a:t>
            </a:r>
            <a:endParaRPr lang="en-US" sz="1400" dirty="0"/>
          </a:p>
        </p:txBody>
      </p:sp>
      <p:pic>
        <p:nvPicPr>
          <p:cNvPr id="6" name="Image 0" descr="../work35/modulos/modulo03/img/lab03_paso2_dayfirst.png">    </p:cNvPr>
          <p:cNvPicPr>
            <a:picLocks noChangeAspect="1"/>
          </p:cNvPicPr>
          <p:nvPr/>
        </p:nvPicPr>
        <p:blipFill>
          <a:blip r:embed="rId1"/>
          <a:stretch>
            <a:fillRect/>
          </a:stretch>
        </p:blipFill>
        <p:spPr>
          <a:xfrm>
            <a:off x="548640" y="1463040"/>
            <a:ext cx="11091672" cy="409782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2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¿Cómo se leen bien el número y la fecha?</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y compara la tabla con la del Paso 1. Mira cómo quedaron el número y la fecha.</a:t>
            </a:r>
            <a:endParaRPr lang="en-US" sz="1400" dirty="0"/>
          </a:p>
        </p:txBody>
      </p:sp>
      <p:sp>
        <p:nvSpPr>
          <p:cNvPr id="6" name="Shape 4"/>
          <p:cNvSpPr/>
          <p:nvPr/>
        </p:nvSpPr>
        <p:spPr>
          <a:xfrm>
            <a:off x="548640" y="1481328"/>
            <a:ext cx="11091672" cy="2562035"/>
          </a:xfrm>
          <a:prstGeom prst="roundRect">
            <a:avLst>
              <a:gd name="adj" fmla="val 2141"/>
            </a:avLst>
          </a:prstGeom>
          <a:solidFill>
            <a:srgbClr val="F8F9FA"/>
          </a:solidFill>
          <a:ln w="25400">
            <a:solidFill>
              <a:srgbClr val="F9AB00"/>
            </a:solidFill>
            <a:prstDash val="solid"/>
          </a:ln>
        </p:spPr>
      </p:sp>
      <p:sp>
        <p:nvSpPr>
          <p:cNvPr id="7"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8"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9" name="Text 7"/>
          <p:cNvSpPr/>
          <p:nvPr/>
        </p:nvSpPr>
        <p:spPr>
          <a:xfrm>
            <a:off x="1325880" y="1600200"/>
            <a:ext cx="10085832" cy="2370011"/>
          </a:xfrm>
          <a:prstGeom prst="rect">
            <a:avLst/>
          </a:prstGeom>
          <a:noFill/>
          <a:ln/>
        </p:spPr>
        <p:txBody>
          <a:bodyPr wrap="square" lIns="0" tIns="0" rIns="0" bIns="0" rtlCol="0" anchor="t"/>
          <a:lstStyle/>
          <a:p>
            <a:pPr indent="0" marL="0">
              <a:buNone/>
            </a:pPr>
            <a:r>
              <a:rPr lang="en-US" sz="1300" dirty="0">
                <a:solidFill>
                  <a:srgbClr val="188038"/>
                </a:solidFill>
                <a:latin typeface="Courier New" pitchFamily="34" charset="0"/>
                <a:ea typeface="Courier New" pitchFamily="34" charset="-122"/>
                <a:cs typeface="Courier New" pitchFamily="34" charset="-120"/>
              </a:rPr>
              <a:t># Paso 2</a:t>
            </a:r>
            <a:endParaRPr lang="en-US" sz="1300" dirty="0"/>
          </a:p>
          <a:p>
            <a:pPr indent="0" marL="0">
              <a:buNone/>
            </a:pPr>
            <a:r>
              <a:rPr lang="en-US" sz="1300" dirty="0">
                <a:solidFill>
                  <a:srgbClr val="188038"/>
                </a:solidFill>
                <a:latin typeface="Courier New" pitchFamily="34" charset="0"/>
                <a:ea typeface="Courier New" pitchFamily="34" charset="-122"/>
                <a:cs typeface="Courier New" pitchFamily="34" charset="-120"/>
              </a:rPr>
              <a:t># Se lee el mismo archivo, ahora avisando cómo viene escrito.</a:t>
            </a:r>
            <a:endParaRPr lang="en-US" sz="1300" dirty="0"/>
          </a:p>
          <a:p>
            <a:pPr indent="0" marL="0">
              <a:buNone/>
            </a:pPr>
            <a:r>
              <a:rPr lang="en-US" sz="1300" dirty="0">
                <a:solidFill>
                  <a:srgbClr val="188038"/>
                </a:solidFill>
                <a:latin typeface="Courier New" pitchFamily="34" charset="0"/>
                <a:ea typeface="Courier New" pitchFamily="34" charset="-122"/>
                <a:cs typeface="Courier New" pitchFamily="34" charset="-120"/>
              </a:rPr>
              <a:t># decimal="," avisa que la coma separa los decimales.</a:t>
            </a:r>
            <a:endParaRPr lang="en-US" sz="1300" dirty="0"/>
          </a:p>
          <a:p>
            <a:pPr indent="0" marL="0">
              <a:buNone/>
            </a:pPr>
            <a:r>
              <a:rPr lang="en-US" sz="1300" dirty="0">
                <a:solidFill>
                  <a:srgbClr val="188038"/>
                </a:solidFill>
                <a:latin typeface="Courier New" pitchFamily="34" charset="0"/>
                <a:ea typeface="Courier New" pitchFamily="34" charset="-122"/>
                <a:cs typeface="Courier New" pitchFamily="34" charset="-120"/>
              </a:rPr>
              <a:t># dayfirst=True avisa que en la fecha va primero el día, como en Chile.</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limpia = pd.read_csv(DATOS + </a:t>
            </a:r>
            <a:pPr indent="0" marL="0">
              <a:buNone/>
            </a:pPr>
            <a:r>
              <a:rPr lang="en-US" sz="1300" dirty="0">
                <a:solidFill>
                  <a:srgbClr val="A31515"/>
                </a:solidFill>
                <a:latin typeface="Courier New" pitchFamily="34" charset="0"/>
                <a:ea typeface="Courier New" pitchFamily="34" charset="-122"/>
                <a:cs typeface="Courier New" pitchFamily="34" charset="-120"/>
              </a:rPr>
              <a:t>"demanda_sucia.csv"</a:t>
            </a:r>
            <a:pPr indent="0" marL="0">
              <a:buNone/>
            </a:pPr>
            <a:r>
              <a:rPr lang="en-US" sz="1300" dirty="0">
                <a:solidFill>
                  <a:srgbClr val="202124"/>
                </a:solidFill>
                <a:latin typeface="Courier New" pitchFamily="34" charset="0"/>
                <a:ea typeface="Courier New" pitchFamily="34" charset="-122"/>
                <a:cs typeface="Courier New" pitchFamily="34" charset="-120"/>
              </a:rPr>
              <a:t>, sep=</a:t>
            </a:r>
            <a:pPr indent="0" marL="0">
              <a:buNone/>
            </a:pPr>
            <a:r>
              <a:rPr lang="en-US" sz="1300" dirty="0">
                <a:solidFill>
                  <a:srgbClr val="A31515"/>
                </a:solidFill>
                <a:latin typeface="Courier New" pitchFamily="34" charset="0"/>
                <a:ea typeface="Courier New" pitchFamily="34" charset="-122"/>
                <a:cs typeface="Courier New" pitchFamily="34" charset="-120"/>
              </a:rPr>
              <a:t>";"</a:t>
            </a:r>
            <a:pPr indent="0" marL="0">
              <a:buNone/>
            </a:pPr>
            <a:r>
              <a:rPr lang="en-US" sz="1300" dirty="0">
                <a:solidFill>
                  <a:srgbClr val="202124"/>
                </a:solidFill>
                <a:latin typeface="Courier New" pitchFamily="34" charset="0"/>
                <a:ea typeface="Courier New" pitchFamily="34" charset="-122"/>
                <a:cs typeface="Courier New" pitchFamily="34" charset="-120"/>
              </a:rPr>
              <a:t>, decimal=</a:t>
            </a:r>
            <a:pPr indent="0" marL="0">
              <a:buNone/>
            </a:pPr>
            <a:r>
              <a:rPr lang="en-US" sz="1300" dirty="0">
                <a:solidFill>
                  <a:srgbClr val="A31515"/>
                </a:solidFill>
                <a:latin typeface="Courier New" pitchFamily="34" charset="0"/>
                <a:ea typeface="Courier New" pitchFamily="34" charset="-122"/>
                <a:cs typeface="Courier New" pitchFamily="34" charset="-120"/>
              </a:rPr>
              <a:t>","</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parse_dates=[</a:t>
            </a:r>
            <a:pPr indent="0" marL="0">
              <a:buNone/>
            </a:pPr>
            <a:r>
              <a:rPr lang="en-US" sz="1300" dirty="0">
                <a:solidFill>
                  <a:srgbClr val="A31515"/>
                </a:solidFill>
                <a:latin typeface="Courier New" pitchFamily="34" charset="0"/>
                <a:ea typeface="Courier New" pitchFamily="34" charset="-122"/>
                <a:cs typeface="Courier New" pitchFamily="34" charset="-120"/>
              </a:rPr>
              <a:t>"fecha"</a:t>
            </a:r>
            <a:pPr indent="0" marL="0">
              <a:buNone/>
            </a:pPr>
            <a:r>
              <a:rPr lang="en-US" sz="1300" dirty="0">
                <a:solidFill>
                  <a:srgbClr val="202124"/>
                </a:solidFill>
                <a:latin typeface="Courier New" pitchFamily="34" charset="0"/>
                <a:ea typeface="Courier New" pitchFamily="34" charset="-122"/>
                <a:cs typeface="Courier New" pitchFamily="34" charset="-120"/>
              </a:rPr>
              <a:t>], dayfirst=True)</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"Demanda total del archivo"</a:t>
            </a:r>
            <a:pPr indent="0" marL="0">
              <a:buNone/>
            </a:pPr>
            <a:r>
              <a:rPr lang="en-US" sz="1300" dirty="0">
                <a:solidFill>
                  <a:srgbClr val="202124"/>
                </a:solidFill>
                <a:latin typeface="Courier New" pitchFamily="34" charset="0"/>
                <a:ea typeface="Courier New" pitchFamily="34" charset="-122"/>
                <a:cs typeface="Courier New" pitchFamily="34" charset="-120"/>
              </a:rPr>
              <a:t>, round(limpia[</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].sum()), </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"Primer día"</a:t>
            </a:r>
            <a:pPr indent="0" marL="0">
              <a:buNone/>
            </a:pPr>
            <a:r>
              <a:rPr lang="en-US" sz="1300" dirty="0">
                <a:solidFill>
                  <a:srgbClr val="202124"/>
                </a:solidFill>
                <a:latin typeface="Courier New" pitchFamily="34" charset="0"/>
                <a:ea typeface="Courier New" pitchFamily="34" charset="-122"/>
                <a:cs typeface="Courier New" pitchFamily="34" charset="-120"/>
              </a:rPr>
              <a:t>, limpia[</a:t>
            </a:r>
            <a:pPr indent="0" marL="0">
              <a:buNone/>
            </a:pPr>
            <a:r>
              <a:rPr lang="en-US" sz="1300" dirty="0">
                <a:solidFill>
                  <a:srgbClr val="A31515"/>
                </a:solidFill>
                <a:latin typeface="Courier New" pitchFamily="34" charset="0"/>
                <a:ea typeface="Courier New" pitchFamily="34" charset="-122"/>
                <a:cs typeface="Courier New" pitchFamily="34" charset="-120"/>
              </a:rPr>
              <a:t>"fecha"</a:t>
            </a:r>
            <a:pPr indent="0" marL="0">
              <a:buNone/>
            </a:pPr>
            <a:r>
              <a:rPr lang="en-US" sz="1300" dirty="0">
                <a:solidFill>
                  <a:srgbClr val="202124"/>
                </a:solidFill>
                <a:latin typeface="Courier New" pitchFamily="34" charset="0"/>
                <a:ea typeface="Courier New" pitchFamily="34" charset="-122"/>
                <a:cs typeface="Courier New" pitchFamily="34" charset="-120"/>
              </a:rPr>
              <a:t>].min().date())</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"Último día"</a:t>
            </a:r>
            <a:pPr indent="0" marL="0">
              <a:buNone/>
            </a:pPr>
            <a:r>
              <a:rPr lang="en-US" sz="1300" dirty="0">
                <a:solidFill>
                  <a:srgbClr val="202124"/>
                </a:solidFill>
                <a:latin typeface="Courier New" pitchFamily="34" charset="0"/>
                <a:ea typeface="Courier New" pitchFamily="34" charset="-122"/>
                <a:cs typeface="Courier New" pitchFamily="34" charset="-120"/>
              </a:rPr>
              <a:t>, limpia[</a:t>
            </a:r>
            <a:pPr indent="0" marL="0">
              <a:buNone/>
            </a:pPr>
            <a:r>
              <a:rPr lang="en-US" sz="1300" dirty="0">
                <a:solidFill>
                  <a:srgbClr val="A31515"/>
                </a:solidFill>
                <a:latin typeface="Courier New" pitchFamily="34" charset="0"/>
                <a:ea typeface="Courier New" pitchFamily="34" charset="-122"/>
                <a:cs typeface="Courier New" pitchFamily="34" charset="-120"/>
              </a:rPr>
              <a:t>"fecha"</a:t>
            </a:r>
            <a:pPr indent="0" marL="0">
              <a:buNone/>
            </a:pPr>
            <a:r>
              <a:rPr lang="en-US" sz="1300" dirty="0">
                <a:solidFill>
                  <a:srgbClr val="202124"/>
                </a:solidFill>
                <a:latin typeface="Courier New" pitchFamily="34" charset="0"/>
                <a:ea typeface="Courier New" pitchFamily="34" charset="-122"/>
                <a:cs typeface="Courier New" pitchFamily="34" charset="-120"/>
              </a:rPr>
              <a:t>].max().date())</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limpia.head()</a:t>
            </a:r>
            <a:endParaRPr lang="en-US" sz="1300" dirty="0"/>
          </a:p>
        </p:txBody>
      </p:sp>
      <p:sp>
        <p:nvSpPr>
          <p:cNvPr id="10" name="Text 8"/>
          <p:cNvSpPr/>
          <p:nvPr/>
        </p:nvSpPr>
        <p:spPr>
          <a:xfrm>
            <a:off x="1325880" y="4070795"/>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1" name="Text 9"/>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2" name="Shape 10"/>
          <p:cNvSpPr/>
          <p:nvPr/>
        </p:nvSpPr>
        <p:spPr>
          <a:xfrm>
            <a:off x="548640" y="6062472"/>
            <a:ext cx="1149401" cy="512064"/>
          </a:xfrm>
          <a:prstGeom prst="roundRect">
            <a:avLst>
              <a:gd name="adj" fmla="val 12500"/>
            </a:avLst>
          </a:prstGeom>
          <a:solidFill>
            <a:srgbClr val="F1F3F4"/>
          </a:solidFill>
          <a:ln w="12700">
            <a:solidFill>
              <a:srgbClr val="DADCE0"/>
            </a:solidFill>
            <a:prstDash val="solid"/>
          </a:ln>
        </p:spPr>
      </p:sp>
      <p:sp>
        <p:nvSpPr>
          <p:cNvPr id="13" name="Text 11"/>
          <p:cNvSpPr/>
          <p:nvPr/>
        </p:nvSpPr>
        <p:spPr>
          <a:xfrm>
            <a:off x="640080" y="6071616"/>
            <a:ext cx="1012241"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esperadas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61488</a:t>
            </a:r>
            <a:endParaRPr lang="en-US" sz="1200" dirty="0"/>
          </a:p>
        </p:txBody>
      </p:sp>
      <p:sp>
        <p:nvSpPr>
          <p:cNvPr id="14" name="Shape 12"/>
          <p:cNvSpPr/>
          <p:nvPr/>
        </p:nvSpPr>
        <p:spPr>
          <a:xfrm>
            <a:off x="1835201" y="6062472"/>
            <a:ext cx="1714500" cy="512064"/>
          </a:xfrm>
          <a:prstGeom prst="roundRect">
            <a:avLst>
              <a:gd name="adj" fmla="val 12500"/>
            </a:avLst>
          </a:prstGeom>
          <a:solidFill>
            <a:srgbClr val="F1F3F4"/>
          </a:solidFill>
          <a:ln w="12700">
            <a:solidFill>
              <a:srgbClr val="DADCE0"/>
            </a:solidFill>
            <a:prstDash val="solid"/>
          </a:ln>
        </p:spPr>
      </p:sp>
      <p:sp>
        <p:nvSpPr>
          <p:cNvPr id="15" name="Text 13"/>
          <p:cNvSpPr/>
          <p:nvPr/>
        </p:nvSpPr>
        <p:spPr>
          <a:xfrm>
            <a:off x="1926641"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sucia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61508 × 4</a:t>
            </a:r>
            <a:endParaRPr lang="en-US" sz="1200" dirty="0"/>
          </a:p>
        </p:txBody>
      </p:sp>
      <p:sp>
        <p:nvSpPr>
          <p:cNvPr id="16" name="Shape 14"/>
          <p:cNvSpPr/>
          <p:nvPr/>
        </p:nvSpPr>
        <p:spPr>
          <a:xfrm>
            <a:off x="3686861" y="6062472"/>
            <a:ext cx="1143000" cy="512064"/>
          </a:xfrm>
          <a:prstGeom prst="roundRect">
            <a:avLst>
              <a:gd name="adj" fmla="val 12500"/>
            </a:avLst>
          </a:prstGeom>
          <a:solidFill>
            <a:srgbClr val="F1F3F4"/>
          </a:solidFill>
          <a:ln w="12700">
            <a:solidFill>
              <a:srgbClr val="DADCE0"/>
            </a:solidFill>
            <a:prstDash val="solid"/>
          </a:ln>
        </p:spPr>
      </p:sp>
      <p:sp>
        <p:nvSpPr>
          <p:cNvPr id="17" name="Text 15"/>
          <p:cNvSpPr/>
          <p:nvPr/>
        </p:nvSpPr>
        <p:spPr>
          <a:xfrm>
            <a:off x="3778301"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18" name="Shape 16"/>
          <p:cNvSpPr/>
          <p:nvPr/>
        </p:nvSpPr>
        <p:spPr>
          <a:xfrm>
            <a:off x="4967021" y="6062472"/>
            <a:ext cx="2750515" cy="512064"/>
          </a:xfrm>
          <a:prstGeom prst="roundRect">
            <a:avLst>
              <a:gd name="adj" fmla="val 12500"/>
            </a:avLst>
          </a:prstGeom>
          <a:solidFill>
            <a:srgbClr val="F1F3F4"/>
          </a:solidFill>
          <a:ln w="12700">
            <a:solidFill>
              <a:srgbClr val="DADCE0"/>
            </a:solidFill>
            <a:prstDash val="solid"/>
          </a:ln>
        </p:spPr>
      </p:sp>
      <p:sp>
        <p:nvSpPr>
          <p:cNvPr id="19" name="Text 17"/>
          <p:cNvSpPr/>
          <p:nvPr/>
        </p:nvSpPr>
        <p:spPr>
          <a:xfrm>
            <a:off x="5058461" y="6071616"/>
            <a:ext cx="2613355"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2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¿Cómo se leen bien el número y la fecha?</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lee esta línea, pieza por pieza</a:t>
            </a:r>
            <a:endParaRPr lang="en-US" sz="1400" dirty="0"/>
          </a:p>
        </p:txBody>
      </p:sp>
      <p:sp>
        <p:nvSpPr>
          <p:cNvPr id="6" name="Shape 4"/>
          <p:cNvSpPr/>
          <p:nvPr/>
        </p:nvSpPr>
        <p:spPr>
          <a:xfrm>
            <a:off x="548640" y="1463040"/>
            <a:ext cx="11091672" cy="568071"/>
          </a:xfrm>
          <a:prstGeom prst="roundRect">
            <a:avLst>
              <a:gd name="adj" fmla="val 9658"/>
            </a:avLst>
          </a:prstGeom>
          <a:solidFill>
            <a:srgbClr val="F8F9FA"/>
          </a:solidFill>
          <a:ln w="12700">
            <a:solidFill>
              <a:srgbClr val="DADCE0"/>
            </a:solidFill>
            <a:prstDash val="solid"/>
          </a:ln>
        </p:spPr>
      </p:sp>
      <p:sp>
        <p:nvSpPr>
          <p:cNvPr id="7" name="Text 5"/>
          <p:cNvSpPr/>
          <p:nvPr/>
        </p:nvSpPr>
        <p:spPr>
          <a:xfrm>
            <a:off x="822960" y="1531620"/>
            <a:ext cx="10634472" cy="430911"/>
          </a:xfrm>
          <a:prstGeom prst="rect">
            <a:avLst/>
          </a:prstGeom>
          <a:noFill/>
          <a:ln/>
        </p:spPr>
        <p:txBody>
          <a:bodyPr wrap="square" lIns="0" tIns="0" rIns="0" bIns="0" rtlCol="0" anchor="t"/>
          <a:lstStyle/>
          <a:p>
            <a:pPr indent="0" marL="0">
              <a:buNone/>
            </a:pPr>
            <a:r>
              <a:rPr lang="en-US" sz="1300" dirty="0">
                <a:solidFill>
                  <a:srgbClr val="202124"/>
                </a:solidFill>
                <a:latin typeface="Courier New" pitchFamily="34" charset="0"/>
                <a:ea typeface="Courier New" pitchFamily="34" charset="-122"/>
                <a:cs typeface="Courier New" pitchFamily="34" charset="-120"/>
              </a:rPr>
              <a:t>limpia = pd.read_csv(DATOS + </a:t>
            </a:r>
            <a:pPr indent="0" marL="0">
              <a:buNone/>
            </a:pPr>
            <a:r>
              <a:rPr lang="en-US" sz="1300" dirty="0">
                <a:solidFill>
                  <a:srgbClr val="A31515"/>
                </a:solidFill>
                <a:latin typeface="Courier New" pitchFamily="34" charset="0"/>
                <a:ea typeface="Courier New" pitchFamily="34" charset="-122"/>
                <a:cs typeface="Courier New" pitchFamily="34" charset="-120"/>
              </a:rPr>
              <a:t>"demanda_sucia.csv"</a:t>
            </a:r>
            <a:pPr indent="0" marL="0">
              <a:buNone/>
            </a:pPr>
            <a:r>
              <a:rPr lang="en-US" sz="1300" dirty="0">
                <a:solidFill>
                  <a:srgbClr val="202124"/>
                </a:solidFill>
                <a:latin typeface="Courier New" pitchFamily="34" charset="0"/>
                <a:ea typeface="Courier New" pitchFamily="34" charset="-122"/>
                <a:cs typeface="Courier New" pitchFamily="34" charset="-120"/>
              </a:rPr>
              <a:t>, sep=</a:t>
            </a:r>
            <a:pPr indent="0" marL="0">
              <a:buNone/>
            </a:pPr>
            <a:r>
              <a:rPr lang="en-US" sz="1300" dirty="0">
                <a:solidFill>
                  <a:srgbClr val="A31515"/>
                </a:solidFill>
                <a:latin typeface="Courier New" pitchFamily="34" charset="0"/>
                <a:ea typeface="Courier New" pitchFamily="34" charset="-122"/>
                <a:cs typeface="Courier New" pitchFamily="34" charset="-120"/>
              </a:rPr>
              <a:t>";"</a:t>
            </a:r>
            <a:pPr indent="0" marL="0">
              <a:buNone/>
            </a:pPr>
            <a:r>
              <a:rPr lang="en-US" sz="1300" dirty="0">
                <a:solidFill>
                  <a:srgbClr val="202124"/>
                </a:solidFill>
                <a:latin typeface="Courier New" pitchFamily="34" charset="0"/>
                <a:ea typeface="Courier New" pitchFamily="34" charset="-122"/>
                <a:cs typeface="Courier New" pitchFamily="34" charset="-120"/>
              </a:rPr>
              <a:t>, decimal=</a:t>
            </a:r>
            <a:pPr indent="0" marL="0">
              <a:buNone/>
            </a:pPr>
            <a:r>
              <a:rPr lang="en-US" sz="1300" dirty="0">
                <a:solidFill>
                  <a:srgbClr val="A31515"/>
                </a:solidFill>
                <a:latin typeface="Courier New" pitchFamily="34" charset="0"/>
                <a:ea typeface="Courier New" pitchFamily="34" charset="-122"/>
                <a:cs typeface="Courier New" pitchFamily="34" charset="-120"/>
              </a:rPr>
              <a:t>","</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parse_dates=[</a:t>
            </a:r>
            <a:pPr indent="0" marL="0">
              <a:buNone/>
            </a:pPr>
            <a:r>
              <a:rPr lang="en-US" sz="1300" dirty="0">
                <a:solidFill>
                  <a:srgbClr val="A31515"/>
                </a:solidFill>
                <a:latin typeface="Courier New" pitchFamily="34" charset="0"/>
                <a:ea typeface="Courier New" pitchFamily="34" charset="-122"/>
                <a:cs typeface="Courier New" pitchFamily="34" charset="-120"/>
              </a:rPr>
              <a:t>"fecha"</a:t>
            </a:r>
            <a:pPr indent="0" marL="0">
              <a:buNone/>
            </a:pPr>
            <a:r>
              <a:rPr lang="en-US" sz="1300" dirty="0">
                <a:solidFill>
                  <a:srgbClr val="202124"/>
                </a:solidFill>
                <a:latin typeface="Courier New" pitchFamily="34" charset="0"/>
                <a:ea typeface="Courier New" pitchFamily="34" charset="-122"/>
                <a:cs typeface="Courier New" pitchFamily="34" charset="-120"/>
              </a:rPr>
              <a:t>], dayfirst=True)</a:t>
            </a:r>
            <a:endParaRPr lang="en-US" sz="1300" dirty="0"/>
          </a:p>
        </p:txBody>
      </p:sp>
      <p:sp>
        <p:nvSpPr>
          <p:cNvPr id="8" name="Shape 6"/>
          <p:cNvSpPr/>
          <p:nvPr/>
        </p:nvSpPr>
        <p:spPr>
          <a:xfrm>
            <a:off x="548640" y="2497455"/>
            <a:ext cx="329184" cy="329184"/>
          </a:xfrm>
          <a:prstGeom prst="ellipse">
            <a:avLst/>
          </a:prstGeom>
          <a:solidFill>
            <a:srgbClr val="1A6FD4"/>
          </a:solidFill>
          <a:ln w="12700">
            <a:solidFill>
              <a:srgbClr val="1A6FD4"/>
            </a:solidFill>
            <a:prstDash val="solid"/>
          </a:ln>
        </p:spPr>
      </p:sp>
      <p:sp>
        <p:nvSpPr>
          <p:cNvPr id="9" name="Text 7"/>
          <p:cNvSpPr/>
          <p:nvPr/>
        </p:nvSpPr>
        <p:spPr>
          <a:xfrm>
            <a:off x="548640" y="2497455"/>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2305431"/>
            <a:ext cx="4937760" cy="713232"/>
          </a:xfrm>
          <a:prstGeom prst="roundRect">
            <a:avLst>
              <a:gd name="adj" fmla="val 6410"/>
            </a:avLst>
          </a:prstGeom>
          <a:solidFill>
            <a:srgbClr val="DBE9FB"/>
          </a:solidFill>
          <a:ln w="12700">
            <a:solidFill>
              <a:srgbClr val="DBE9FB"/>
            </a:solidFill>
            <a:prstDash val="solid"/>
          </a:ln>
        </p:spPr>
      </p:sp>
      <p:sp>
        <p:nvSpPr>
          <p:cNvPr id="11" name="Text 9"/>
          <p:cNvSpPr/>
          <p:nvPr/>
        </p:nvSpPr>
        <p:spPr>
          <a:xfrm>
            <a:off x="1170432" y="2305431"/>
            <a:ext cx="4754880" cy="71323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decimal=","</a:t>
            </a:r>
            <a:endParaRPr lang="en-US" sz="1400" dirty="0"/>
          </a:p>
        </p:txBody>
      </p:sp>
      <p:sp>
        <p:nvSpPr>
          <p:cNvPr id="12" name="Text 10"/>
          <p:cNvSpPr/>
          <p:nvPr/>
        </p:nvSpPr>
        <p:spPr>
          <a:xfrm>
            <a:off x="6263640" y="2305431"/>
            <a:ext cx="5376672" cy="71323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La coma separa los decimales. Así 51,95 queda como el número 51.95.</a:t>
            </a:r>
            <a:endParaRPr lang="en-US" sz="1600" dirty="0"/>
          </a:p>
        </p:txBody>
      </p:sp>
      <p:sp>
        <p:nvSpPr>
          <p:cNvPr id="13" name="Shape 11"/>
          <p:cNvSpPr/>
          <p:nvPr/>
        </p:nvSpPr>
        <p:spPr>
          <a:xfrm>
            <a:off x="548640" y="3302127"/>
            <a:ext cx="329184" cy="329184"/>
          </a:xfrm>
          <a:prstGeom prst="ellipse">
            <a:avLst/>
          </a:prstGeom>
          <a:solidFill>
            <a:srgbClr val="1E8E3E"/>
          </a:solidFill>
          <a:ln w="12700">
            <a:solidFill>
              <a:srgbClr val="1E8E3E"/>
            </a:solidFill>
            <a:prstDash val="solid"/>
          </a:ln>
        </p:spPr>
      </p:sp>
      <p:sp>
        <p:nvSpPr>
          <p:cNvPr id="14" name="Text 12"/>
          <p:cNvSpPr/>
          <p:nvPr/>
        </p:nvSpPr>
        <p:spPr>
          <a:xfrm>
            <a:off x="548640" y="3302127"/>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3110103"/>
            <a:ext cx="4937760" cy="713232"/>
          </a:xfrm>
          <a:prstGeom prst="roundRect">
            <a:avLst>
              <a:gd name="adj" fmla="val 6410"/>
            </a:avLst>
          </a:prstGeom>
          <a:solidFill>
            <a:srgbClr val="DCEFE0"/>
          </a:solidFill>
          <a:ln w="12700">
            <a:solidFill>
              <a:srgbClr val="DCEFE0"/>
            </a:solidFill>
            <a:prstDash val="solid"/>
          </a:ln>
        </p:spPr>
      </p:sp>
      <p:sp>
        <p:nvSpPr>
          <p:cNvPr id="16" name="Text 14"/>
          <p:cNvSpPr/>
          <p:nvPr/>
        </p:nvSpPr>
        <p:spPr>
          <a:xfrm>
            <a:off x="1170432" y="3110103"/>
            <a:ext cx="4754880" cy="71323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parse_dates=["fecha"]</a:t>
            </a:r>
            <a:endParaRPr lang="en-US" sz="1400" dirty="0"/>
          </a:p>
        </p:txBody>
      </p:sp>
      <p:sp>
        <p:nvSpPr>
          <p:cNvPr id="17" name="Text 15"/>
          <p:cNvSpPr/>
          <p:nvPr/>
        </p:nvSpPr>
        <p:spPr>
          <a:xfrm>
            <a:off x="6263640" y="3110103"/>
            <a:ext cx="5376672" cy="71323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La columna fecha se lee como fecha y no como texto, igual que en el Lab 01.</a:t>
            </a:r>
            <a:endParaRPr lang="en-US" sz="1600" dirty="0"/>
          </a:p>
        </p:txBody>
      </p:sp>
      <p:sp>
        <p:nvSpPr>
          <p:cNvPr id="18" name="Shape 16"/>
          <p:cNvSpPr/>
          <p:nvPr/>
        </p:nvSpPr>
        <p:spPr>
          <a:xfrm>
            <a:off x="548640" y="4106799"/>
            <a:ext cx="329184" cy="329184"/>
          </a:xfrm>
          <a:prstGeom prst="ellipse">
            <a:avLst/>
          </a:prstGeom>
          <a:solidFill>
            <a:srgbClr val="B07D00"/>
          </a:solidFill>
          <a:ln w="12700">
            <a:solidFill>
              <a:srgbClr val="B07D00"/>
            </a:solidFill>
            <a:prstDash val="solid"/>
          </a:ln>
        </p:spPr>
      </p:sp>
      <p:sp>
        <p:nvSpPr>
          <p:cNvPr id="19" name="Text 17"/>
          <p:cNvSpPr/>
          <p:nvPr/>
        </p:nvSpPr>
        <p:spPr>
          <a:xfrm>
            <a:off x="548640" y="4106799"/>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Shape 18"/>
          <p:cNvSpPr/>
          <p:nvPr/>
        </p:nvSpPr>
        <p:spPr>
          <a:xfrm>
            <a:off x="1051560" y="3914775"/>
            <a:ext cx="4937760" cy="713232"/>
          </a:xfrm>
          <a:prstGeom prst="roundRect">
            <a:avLst>
              <a:gd name="adj" fmla="val 6410"/>
            </a:avLst>
          </a:prstGeom>
          <a:solidFill>
            <a:srgbClr val="FDF0C8"/>
          </a:solidFill>
          <a:ln w="12700">
            <a:solidFill>
              <a:srgbClr val="FDF0C8"/>
            </a:solidFill>
            <a:prstDash val="solid"/>
          </a:ln>
        </p:spPr>
      </p:sp>
      <p:sp>
        <p:nvSpPr>
          <p:cNvPr id="21" name="Text 19"/>
          <p:cNvSpPr/>
          <p:nvPr/>
        </p:nvSpPr>
        <p:spPr>
          <a:xfrm>
            <a:off x="1170432" y="3914775"/>
            <a:ext cx="4754880" cy="71323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dayfirst=True</a:t>
            </a:r>
            <a:endParaRPr lang="en-US" sz="1400" dirty="0"/>
          </a:p>
        </p:txBody>
      </p:sp>
      <p:sp>
        <p:nvSpPr>
          <p:cNvPr id="22" name="Text 20"/>
          <p:cNvSpPr/>
          <p:nvPr/>
        </p:nvSpPr>
        <p:spPr>
          <a:xfrm>
            <a:off x="6263640" y="3914775"/>
            <a:ext cx="5376672" cy="71323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En la fecha va primero el día. 01/02/2024 es el 1 de febrero.</a:t>
            </a:r>
            <a:endParaRPr lang="en-US" sz="1600" dirty="0"/>
          </a:p>
        </p:txBody>
      </p:sp>
      <p:sp>
        <p:nvSpPr>
          <p:cNvPr id="23" name="Shape 21"/>
          <p:cNvSpPr/>
          <p:nvPr/>
        </p:nvSpPr>
        <p:spPr>
          <a:xfrm>
            <a:off x="548640" y="4911471"/>
            <a:ext cx="329184" cy="329184"/>
          </a:xfrm>
          <a:prstGeom prst="ellipse">
            <a:avLst/>
          </a:prstGeom>
          <a:solidFill>
            <a:srgbClr val="7B4FC9"/>
          </a:solidFill>
          <a:ln w="12700">
            <a:solidFill>
              <a:srgbClr val="7B4FC9"/>
            </a:solidFill>
            <a:prstDash val="solid"/>
          </a:ln>
        </p:spPr>
      </p:sp>
      <p:sp>
        <p:nvSpPr>
          <p:cNvPr id="24" name="Text 22"/>
          <p:cNvSpPr/>
          <p:nvPr/>
        </p:nvSpPr>
        <p:spPr>
          <a:xfrm>
            <a:off x="548640" y="4911471"/>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Shape 23"/>
          <p:cNvSpPr/>
          <p:nvPr/>
        </p:nvSpPr>
        <p:spPr>
          <a:xfrm>
            <a:off x="1051560" y="4719447"/>
            <a:ext cx="4937760" cy="713232"/>
          </a:xfrm>
          <a:prstGeom prst="roundRect">
            <a:avLst>
              <a:gd name="adj" fmla="val 6410"/>
            </a:avLst>
          </a:prstGeom>
          <a:solidFill>
            <a:srgbClr val="ECE2FA"/>
          </a:solidFill>
          <a:ln w="12700">
            <a:solidFill>
              <a:srgbClr val="ECE2FA"/>
            </a:solidFill>
            <a:prstDash val="solid"/>
          </a:ln>
        </p:spPr>
      </p:sp>
      <p:sp>
        <p:nvSpPr>
          <p:cNvPr id="26" name="Text 24"/>
          <p:cNvSpPr/>
          <p:nvPr/>
        </p:nvSpPr>
        <p:spPr>
          <a:xfrm>
            <a:off x="1170432" y="4719447"/>
            <a:ext cx="4754880" cy="71323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limpia =</a:t>
            </a:r>
            <a:endParaRPr lang="en-US" sz="1400" dirty="0"/>
          </a:p>
        </p:txBody>
      </p:sp>
      <p:sp>
        <p:nvSpPr>
          <p:cNvPr id="27" name="Text 25"/>
          <p:cNvSpPr/>
          <p:nvPr/>
        </p:nvSpPr>
        <p:spPr>
          <a:xfrm>
            <a:off x="6263640" y="4719447"/>
            <a:ext cx="5376672" cy="71323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Guarda la tabla con otro nombre. sucia queda como llegó, para comparar.</a:t>
            </a:r>
            <a:endParaRPr lang="en-US" sz="1600" dirty="0"/>
          </a:p>
        </p:txBody>
      </p:sp>
      <p:sp>
        <p:nvSpPr>
          <p:cNvPr id="28" name="Shape 26"/>
          <p:cNvSpPr/>
          <p:nvPr/>
        </p:nvSpPr>
        <p:spPr>
          <a:xfrm>
            <a:off x="548640" y="5989320"/>
            <a:ext cx="73152" cy="548640"/>
          </a:xfrm>
          <a:prstGeom prst="rect">
            <a:avLst/>
          </a:prstGeom>
          <a:solidFill>
            <a:srgbClr val="0B3D62"/>
          </a:solidFill>
          <a:ln w="12700">
            <a:solidFill>
              <a:srgbClr val="0B3D62"/>
            </a:solidFill>
            <a:prstDash val="solid"/>
          </a:ln>
        </p:spPr>
      </p:sp>
      <p:sp>
        <p:nvSpPr>
          <p:cNvPr id="29" name="Text 27"/>
          <p:cNvSpPr/>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lee el mismo archivo avisando que usa coma decimal y fechas con el día primero, y guárdalo como limpia.</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2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¿Cómo se leen bien el número y la fecha?</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y compara la tabla con la del Paso 1. Mira cómo quedaron el número y la fecha.</a:t>
            </a:r>
            <a:endParaRPr lang="en-US" sz="1400" dirty="0"/>
          </a:p>
        </p:txBody>
      </p:sp>
      <p:sp>
        <p:nvSpPr>
          <p:cNvPr id="6" name="Text 4"/>
          <p:cNvSpPr/>
          <p:nvPr/>
        </p:nvSpPr>
        <p:spPr>
          <a:xfrm>
            <a:off x="548640" y="1481328"/>
            <a:ext cx="5486400" cy="274320"/>
          </a:xfrm>
          <a:prstGeom prst="rect">
            <a:avLst/>
          </a:prstGeom>
          <a:noFill/>
          <a:ln/>
        </p:spPr>
        <p:txBody>
          <a:bodyPr wrap="square" lIns="0" tIns="0" rIns="0" bIns="0" rtlCol="0" anchor="ctr"/>
          <a:lstStyle/>
          <a:p>
            <a:pPr indent="0" marL="0">
              <a:buNone/>
            </a:pPr>
            <a:r>
              <a:rPr lang="en-US" sz="1300" b="1" dirty="0">
                <a:solidFill>
                  <a:srgbClr val="5F6368"/>
                </a:solidFill>
                <a:latin typeface="Calibri" pitchFamily="34" charset="0"/>
                <a:ea typeface="Calibri" pitchFamily="34" charset="-122"/>
                <a:cs typeface="Calibri" pitchFamily="34" charset="-120"/>
              </a:rPr>
              <a:t>Respuesta de la celda</a:t>
            </a:r>
            <a:endParaRPr lang="en-US" sz="1300" dirty="0"/>
          </a:p>
        </p:txBody>
      </p:sp>
      <p:sp>
        <p:nvSpPr>
          <p:cNvPr id="7" name="Shape 5"/>
          <p:cNvSpPr/>
          <p:nvPr/>
        </p:nvSpPr>
        <p:spPr>
          <a:xfrm>
            <a:off x="1325880" y="1828800"/>
            <a:ext cx="10314432" cy="764438"/>
          </a:xfrm>
          <a:prstGeom prst="rect">
            <a:avLst/>
          </a:prstGeom>
          <a:solidFill>
            <a:srgbClr val="FFFFFF"/>
          </a:solidFill>
          <a:ln w="12700">
            <a:solidFill>
              <a:srgbClr val="DADCE0"/>
            </a:solidFill>
            <a:prstDash val="solid"/>
          </a:ln>
        </p:spPr>
      </p:sp>
      <p:sp>
        <p:nvSpPr>
          <p:cNvPr id="8" name="Text 6"/>
          <p:cNvSpPr/>
          <p:nvPr/>
        </p:nvSpPr>
        <p:spPr>
          <a:xfrm>
            <a:off x="1463040" y="1901952"/>
            <a:ext cx="10085832" cy="636422"/>
          </a:xfrm>
          <a:prstGeom prst="rect">
            <a:avLst/>
          </a:prstGeom>
          <a:noFill/>
          <a:ln/>
        </p:spPr>
        <p:txBody>
          <a:bodyPr wrap="square" lIns="0" tIns="0" rIns="0" bIns="0" rtlCol="0" anchor="t"/>
          <a:lstStyle/>
          <a:p>
            <a:pPr indent="0" marL="0">
              <a:buNone/>
            </a:pPr>
            <a:r>
              <a:rPr lang="en-US" sz="1200" dirty="0">
                <a:solidFill>
                  <a:srgbClr val="202124"/>
                </a:solidFill>
                <a:latin typeface="Courier New" pitchFamily="34" charset="0"/>
                <a:ea typeface="Courier New" pitchFamily="34" charset="-122"/>
                <a:cs typeface="Courier New" pitchFamily="34" charset="-120"/>
              </a:rPr>
              <a:t>Demanda total del archivo 13560560 MWh</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Primer día 2024-01-01</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Último día 2024-12-31</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1325880" y="2684678"/>
          <a:ext cx="9144000" cy="914400"/>
        </p:xfrm>
        <a:graphic>
          <a:graphicData uri="http://schemas.openxmlformats.org/drawingml/2006/table">
            <a:tbl>
              <a:tblPr/>
              <a:tblGrid>
                <a:gridCol w="365760"/>
                <a:gridCol w="1179576"/>
                <a:gridCol w="581558"/>
                <a:gridCol w="1279246"/>
                <a:gridCol w="681228"/>
              </a:tblGrid>
              <a:tr h="237744">
                <a:tc>
                  <a:txBody>
                    <a:bodyPr/>
                    <a:lstStyle/>
                    <a:p>
                      <a:pPr indent="0" marL="0">
                        <a:buNone/>
                      </a:pP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fecha</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hora</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region</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mwh</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2024-01-01</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Antofagasta</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51.95</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2024-01-01</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Antofagasta</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49.02</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2024-01-01</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Antofagasta</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48.22</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2024-01-01</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Antofagasta</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45.57</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2024-01-01</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Antofagasta</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47.59</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bl>
          </a:graphicData>
        </a:graphic>
      </p:graphicFrame>
      <p:sp>
        <p:nvSpPr>
          <p:cNvPr id="10" name="Text 7"/>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1" name="Shape 8"/>
          <p:cNvSpPr/>
          <p:nvPr/>
        </p:nvSpPr>
        <p:spPr>
          <a:xfrm>
            <a:off x="548640" y="6062472"/>
            <a:ext cx="1714500" cy="512064"/>
          </a:xfrm>
          <a:prstGeom prst="roundRect">
            <a:avLst>
              <a:gd name="adj" fmla="val 12500"/>
            </a:avLst>
          </a:prstGeom>
          <a:solidFill>
            <a:srgbClr val="FEF3D6"/>
          </a:solidFill>
          <a:ln w="25400">
            <a:solidFill>
              <a:srgbClr val="F9AB00"/>
            </a:solidFill>
            <a:prstDash val="solid"/>
          </a:ln>
        </p:spPr>
      </p:sp>
      <p:sp>
        <p:nvSpPr>
          <p:cNvPr id="12" name="Text 9"/>
          <p:cNvSpPr/>
          <p:nvPr/>
        </p:nvSpPr>
        <p:spPr>
          <a:xfrm>
            <a:off x="640080"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limpia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61508 × 4</a:t>
            </a:r>
            <a:endParaRPr lang="en-US" sz="1200" dirty="0"/>
          </a:p>
        </p:txBody>
      </p:sp>
      <p:sp>
        <p:nvSpPr>
          <p:cNvPr id="13" name="Shape 10"/>
          <p:cNvSpPr/>
          <p:nvPr/>
        </p:nvSpPr>
        <p:spPr>
          <a:xfrm>
            <a:off x="2400300" y="6062472"/>
            <a:ext cx="2750515" cy="512064"/>
          </a:xfrm>
          <a:prstGeom prst="roundRect">
            <a:avLst>
              <a:gd name="adj" fmla="val 12500"/>
            </a:avLst>
          </a:prstGeom>
          <a:solidFill>
            <a:srgbClr val="E8F0FE"/>
          </a:solidFill>
          <a:ln w="28575">
            <a:solidFill>
              <a:srgbClr val="1A73E8"/>
            </a:solidFill>
            <a:prstDash val="solid"/>
          </a:ln>
        </p:spPr>
      </p:sp>
      <p:sp>
        <p:nvSpPr>
          <p:cNvPr id="14" name="Text 11"/>
          <p:cNvSpPr/>
          <p:nvPr/>
        </p:nvSpPr>
        <p:spPr>
          <a:xfrm>
            <a:off x="2491740" y="6071616"/>
            <a:ext cx="2613355"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
        <p:nvSpPr>
          <p:cNvPr id="15" name="Shape 12"/>
          <p:cNvSpPr/>
          <p:nvPr/>
        </p:nvSpPr>
        <p:spPr>
          <a:xfrm>
            <a:off x="5287975" y="6062472"/>
            <a:ext cx="1143000" cy="512064"/>
          </a:xfrm>
          <a:prstGeom prst="roundRect">
            <a:avLst>
              <a:gd name="adj" fmla="val 12500"/>
            </a:avLst>
          </a:prstGeom>
          <a:solidFill>
            <a:srgbClr val="E8F0FE"/>
          </a:solidFill>
          <a:ln w="28575">
            <a:solidFill>
              <a:srgbClr val="1A73E8"/>
            </a:solidFill>
            <a:prstDash val="solid"/>
          </a:ln>
        </p:spPr>
      </p:sp>
      <p:sp>
        <p:nvSpPr>
          <p:cNvPr id="16" name="Text 13"/>
          <p:cNvSpPr/>
          <p:nvPr/>
        </p:nvSpPr>
        <p:spPr>
          <a:xfrm>
            <a:off x="5379415"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17" name="Shape 14"/>
          <p:cNvSpPr/>
          <p:nvPr/>
        </p:nvSpPr>
        <p:spPr>
          <a:xfrm>
            <a:off x="6568135" y="6062472"/>
            <a:ext cx="1149401" cy="512064"/>
          </a:xfrm>
          <a:prstGeom prst="roundRect">
            <a:avLst>
              <a:gd name="adj" fmla="val 12500"/>
            </a:avLst>
          </a:prstGeom>
          <a:solidFill>
            <a:srgbClr val="F1F3F4"/>
          </a:solidFill>
          <a:ln w="12700">
            <a:solidFill>
              <a:srgbClr val="DADCE0"/>
            </a:solidFill>
            <a:prstDash val="solid"/>
          </a:ln>
        </p:spPr>
      </p:sp>
      <p:sp>
        <p:nvSpPr>
          <p:cNvPr id="18" name="Text 15"/>
          <p:cNvSpPr/>
          <p:nvPr/>
        </p:nvSpPr>
        <p:spPr>
          <a:xfrm>
            <a:off x="6659575" y="6071616"/>
            <a:ext cx="1012241"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esperadas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61488</a:t>
            </a:r>
            <a:endParaRPr lang="en-US" sz="1200" dirty="0"/>
          </a:p>
        </p:txBody>
      </p:sp>
      <p:sp>
        <p:nvSpPr>
          <p:cNvPr id="19" name="Shape 16"/>
          <p:cNvSpPr/>
          <p:nvPr/>
        </p:nvSpPr>
        <p:spPr>
          <a:xfrm>
            <a:off x="7854696" y="6062472"/>
            <a:ext cx="1714500" cy="512064"/>
          </a:xfrm>
          <a:prstGeom prst="roundRect">
            <a:avLst>
              <a:gd name="adj" fmla="val 12500"/>
            </a:avLst>
          </a:prstGeom>
          <a:solidFill>
            <a:srgbClr val="F1F3F4"/>
          </a:solidFill>
          <a:ln w="12700">
            <a:solidFill>
              <a:srgbClr val="DADCE0"/>
            </a:solidFill>
            <a:prstDash val="solid"/>
          </a:ln>
        </p:spPr>
      </p:sp>
      <p:sp>
        <p:nvSpPr>
          <p:cNvPr id="20" name="Text 17"/>
          <p:cNvSpPr/>
          <p:nvPr/>
        </p:nvSpPr>
        <p:spPr>
          <a:xfrm>
            <a:off x="7946136"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sucia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61508 × 4</a:t>
            </a:r>
            <a:endParaRPr lang="en-US" sz="1200" dirty="0"/>
          </a:p>
        </p:txBody>
      </p:sp>
      <p:sp>
        <p:nvSpPr>
          <p:cNvPr id="21" name="Text 18"/>
          <p:cNvSpPr/>
          <p:nvPr/>
        </p:nvSpPr>
        <p:spPr>
          <a:xfrm>
            <a:off x="548640" y="6592824"/>
            <a:ext cx="11091672" cy="219456"/>
          </a:xfrm>
          <a:prstGeom prst="rect">
            <a:avLst/>
          </a:prstGeom>
          <a:noFill/>
          <a:ln/>
        </p:spPr>
        <p:txBody>
          <a:bodyPr wrap="square" lIns="0" tIns="0" rIns="0" bIns="0" rtlCol="0" anchor="ctr"/>
          <a:lstStyle/>
          <a:p>
            <a:pPr indent="0" marL="0">
              <a:buNone/>
            </a:pPr>
            <a:r>
              <a:rPr lang="en-US" sz="1300" dirty="0">
                <a:solidFill>
                  <a:srgbClr val="0B3D62"/>
                </a:solidFill>
                <a:latin typeface="Calibri" pitchFamily="34" charset="0"/>
                <a:ea typeface="Calibri" pitchFamily="34" charset="-122"/>
                <a:cs typeface="Calibri" pitchFamily="34" charset="-120"/>
              </a:rPr>
              <a:t>Ahora mwh es un número que se puede sumar y fecha es una fecha, del 1 de enero al 31 de diciembre.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2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¿Cómo se leen bien el número y la fecha?</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hay que llevarse de este paso.</a:t>
            </a:r>
            <a:endParaRPr lang="en-US" sz="1400" dirty="0"/>
          </a:p>
        </p:txBody>
      </p:sp>
      <p:sp>
        <p:nvSpPr>
          <p:cNvPr id="6" name="Shape 4"/>
          <p:cNvSpPr/>
          <p:nvPr/>
        </p:nvSpPr>
        <p:spPr>
          <a:xfrm>
            <a:off x="548640" y="1828800"/>
            <a:ext cx="11091672" cy="2377440"/>
          </a:xfrm>
          <a:prstGeom prst="roundRect">
            <a:avLst>
              <a:gd name="adj" fmla="val 3846"/>
            </a:avLst>
          </a:prstGeom>
          <a:solidFill>
            <a:srgbClr val="FFF8D6"/>
          </a:solidFill>
          <a:ln w="12700">
            <a:solidFill>
              <a:srgbClr val="FFF8D6"/>
            </a:solidFill>
            <a:prstDash val="solid"/>
          </a:ln>
        </p:spPr>
      </p:sp>
      <p:sp>
        <p:nvSpPr>
          <p:cNvPr id="7" name="Text 5"/>
          <p:cNvSpPr/>
          <p:nvPr/>
        </p:nvSpPr>
        <p:spPr>
          <a:xfrm>
            <a:off x="1005840" y="2057400"/>
            <a:ext cx="10177272" cy="1005840"/>
          </a:xfrm>
          <a:prstGeom prst="rect">
            <a:avLst/>
          </a:prstGeom>
          <a:noFill/>
          <a:ln/>
        </p:spPr>
        <p:txBody>
          <a:bodyPr wrap="square" lIns="0" tIns="0" rIns="0" bIns="0" rtlCol="0" anchor="t"/>
          <a:lstStyle/>
          <a:p>
            <a:pPr indent="0" marL="0">
              <a:buNone/>
            </a:pPr>
            <a:r>
              <a:rPr lang="en-US" sz="2800" b="1" dirty="0">
                <a:solidFill>
                  <a:srgbClr val="8A6D00"/>
                </a:solidFill>
                <a:latin typeface="Calibri" pitchFamily="34" charset="0"/>
                <a:ea typeface="Calibri" pitchFamily="34" charset="-122"/>
                <a:cs typeface="Calibri" pitchFamily="34" charset="-120"/>
              </a:rPr>
              <a:t>El archivo no estaba malo, venía con coma decimal y el día primero.</a:t>
            </a:r>
            <a:endParaRPr lang="en-US" sz="2800" dirty="0"/>
          </a:p>
        </p:txBody>
      </p:sp>
      <p:sp>
        <p:nvSpPr>
          <p:cNvPr id="8" name="Text 6"/>
          <p:cNvSpPr/>
          <p:nvPr/>
        </p:nvSpPr>
        <p:spPr>
          <a:xfrm>
            <a:off x="1005840" y="3154680"/>
            <a:ext cx="10177272" cy="914400"/>
          </a:xfrm>
          <a:prstGeom prst="rect">
            <a:avLst/>
          </a:prstGeom>
          <a:noFill/>
          <a:ln/>
        </p:spPr>
        <p:txBody>
          <a:bodyPr wrap="square" lIns="0" tIns="0" rIns="0" bIns="0" rtlCol="0" anchor="t"/>
          <a:lstStyle/>
          <a:p>
            <a:pPr indent="0" marL="0">
              <a:buNone/>
            </a:pPr>
            <a:r>
              <a:rPr lang="en-US" sz="2200" dirty="0">
                <a:solidFill>
                  <a:srgbClr val="202124"/>
                </a:solidFill>
                <a:latin typeface="Calibri" pitchFamily="34" charset="0"/>
                <a:ea typeface="Calibri" pitchFamily="34" charset="-122"/>
                <a:cs typeface="Calibri" pitchFamily="34" charset="-120"/>
              </a:rPr>
              <a:t>Con decimal y dayfirst se le avisa a read_csv, y el número y la fecha quedan bien desde el comienzo.</a:t>
            </a:r>
            <a:endParaRPr lang="en-US" sz="2200" dirty="0"/>
          </a:p>
        </p:txBody>
      </p:sp>
      <p:sp>
        <p:nvSpPr>
          <p:cNvPr id="9" name="Text 7"/>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0" name="Shape 8"/>
          <p:cNvSpPr/>
          <p:nvPr/>
        </p:nvSpPr>
        <p:spPr>
          <a:xfrm>
            <a:off x="548640" y="6062472"/>
            <a:ext cx="1714500" cy="512064"/>
          </a:xfrm>
          <a:prstGeom prst="roundRect">
            <a:avLst>
              <a:gd name="adj" fmla="val 12500"/>
            </a:avLst>
          </a:prstGeom>
          <a:solidFill>
            <a:srgbClr val="FEF3D6"/>
          </a:solidFill>
          <a:ln w="25400">
            <a:solidFill>
              <a:srgbClr val="F9AB00"/>
            </a:solidFill>
            <a:prstDash val="solid"/>
          </a:ln>
        </p:spPr>
      </p:sp>
      <p:sp>
        <p:nvSpPr>
          <p:cNvPr id="11" name="Text 9"/>
          <p:cNvSpPr/>
          <p:nvPr/>
        </p:nvSpPr>
        <p:spPr>
          <a:xfrm>
            <a:off x="640080"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limpia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61508 × 4</a:t>
            </a:r>
            <a:endParaRPr lang="en-US" sz="1200" dirty="0"/>
          </a:p>
        </p:txBody>
      </p:sp>
      <p:sp>
        <p:nvSpPr>
          <p:cNvPr id="12" name="Shape 10"/>
          <p:cNvSpPr/>
          <p:nvPr/>
        </p:nvSpPr>
        <p:spPr>
          <a:xfrm>
            <a:off x="2400300" y="6062472"/>
            <a:ext cx="2750515" cy="512064"/>
          </a:xfrm>
          <a:prstGeom prst="roundRect">
            <a:avLst>
              <a:gd name="adj" fmla="val 12500"/>
            </a:avLst>
          </a:prstGeom>
          <a:solidFill>
            <a:srgbClr val="E8F0FE"/>
          </a:solidFill>
          <a:ln w="28575">
            <a:solidFill>
              <a:srgbClr val="1A73E8"/>
            </a:solidFill>
            <a:prstDash val="solid"/>
          </a:ln>
        </p:spPr>
      </p:sp>
      <p:sp>
        <p:nvSpPr>
          <p:cNvPr id="13" name="Text 11"/>
          <p:cNvSpPr/>
          <p:nvPr/>
        </p:nvSpPr>
        <p:spPr>
          <a:xfrm>
            <a:off x="2491740" y="6071616"/>
            <a:ext cx="2613355"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
        <p:nvSpPr>
          <p:cNvPr id="14" name="Shape 12"/>
          <p:cNvSpPr/>
          <p:nvPr/>
        </p:nvSpPr>
        <p:spPr>
          <a:xfrm>
            <a:off x="5287975" y="6062472"/>
            <a:ext cx="1143000" cy="512064"/>
          </a:xfrm>
          <a:prstGeom prst="roundRect">
            <a:avLst>
              <a:gd name="adj" fmla="val 12500"/>
            </a:avLst>
          </a:prstGeom>
          <a:solidFill>
            <a:srgbClr val="E8F0FE"/>
          </a:solidFill>
          <a:ln w="28575">
            <a:solidFill>
              <a:srgbClr val="1A73E8"/>
            </a:solidFill>
            <a:prstDash val="solid"/>
          </a:ln>
        </p:spPr>
      </p:sp>
      <p:sp>
        <p:nvSpPr>
          <p:cNvPr id="15" name="Text 13"/>
          <p:cNvSpPr/>
          <p:nvPr/>
        </p:nvSpPr>
        <p:spPr>
          <a:xfrm>
            <a:off x="5379415"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16" name="Shape 14"/>
          <p:cNvSpPr/>
          <p:nvPr/>
        </p:nvSpPr>
        <p:spPr>
          <a:xfrm>
            <a:off x="6568135" y="6062472"/>
            <a:ext cx="1149401" cy="512064"/>
          </a:xfrm>
          <a:prstGeom prst="roundRect">
            <a:avLst>
              <a:gd name="adj" fmla="val 12500"/>
            </a:avLst>
          </a:prstGeom>
          <a:solidFill>
            <a:srgbClr val="F1F3F4"/>
          </a:solidFill>
          <a:ln w="12700">
            <a:solidFill>
              <a:srgbClr val="DADCE0"/>
            </a:solidFill>
            <a:prstDash val="solid"/>
          </a:ln>
        </p:spPr>
      </p:sp>
      <p:sp>
        <p:nvSpPr>
          <p:cNvPr id="17" name="Text 15"/>
          <p:cNvSpPr/>
          <p:nvPr/>
        </p:nvSpPr>
        <p:spPr>
          <a:xfrm>
            <a:off x="6659575" y="6071616"/>
            <a:ext cx="1012241"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esperadas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61488</a:t>
            </a:r>
            <a:endParaRPr lang="en-US" sz="1200" dirty="0"/>
          </a:p>
        </p:txBody>
      </p:sp>
      <p:sp>
        <p:nvSpPr>
          <p:cNvPr id="18" name="Shape 16"/>
          <p:cNvSpPr/>
          <p:nvPr/>
        </p:nvSpPr>
        <p:spPr>
          <a:xfrm>
            <a:off x="7854696" y="6062472"/>
            <a:ext cx="1714500" cy="512064"/>
          </a:xfrm>
          <a:prstGeom prst="roundRect">
            <a:avLst>
              <a:gd name="adj" fmla="val 12500"/>
            </a:avLst>
          </a:prstGeom>
          <a:solidFill>
            <a:srgbClr val="F1F3F4"/>
          </a:solidFill>
          <a:ln w="12700">
            <a:solidFill>
              <a:srgbClr val="DADCE0"/>
            </a:solidFill>
            <a:prstDash val="solid"/>
          </a:ln>
        </p:spPr>
      </p:sp>
      <p:sp>
        <p:nvSpPr>
          <p:cNvPr id="19" name="Text 17"/>
          <p:cNvSpPr/>
          <p:nvPr/>
        </p:nvSpPr>
        <p:spPr>
          <a:xfrm>
            <a:off x="7946136"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sucia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61508 × 4</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3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¿De cuántas formas viene escrita cada región?</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Que respondan en el chat o en voz alta.</a:t>
            </a:r>
            <a:endParaRPr lang="en-US" sz="1400" dirty="0"/>
          </a:p>
        </p:txBody>
      </p:sp>
      <p:sp>
        <p:nvSpPr>
          <p:cNvPr id="6" name="Shape 4"/>
          <p:cNvSpPr/>
          <p:nvPr/>
        </p:nvSpPr>
        <p:spPr>
          <a:xfrm>
            <a:off x="548640" y="1600200"/>
            <a:ext cx="11091672" cy="502920"/>
          </a:xfrm>
          <a:prstGeom prst="roundRect">
            <a:avLst>
              <a:gd name="adj" fmla="val 10909"/>
            </a:avLst>
          </a:prstGeom>
          <a:solidFill>
            <a:srgbClr val="0B3D62"/>
          </a:solidFill>
          <a:ln w="12700">
            <a:solidFill>
              <a:srgbClr val="0B3D62"/>
            </a:solidFill>
            <a:prstDash val="solid"/>
          </a:ln>
        </p:spPr>
      </p:sp>
      <p:sp>
        <p:nvSpPr>
          <p:cNvPr id="7" name="Text 5"/>
          <p:cNvSpPr/>
          <p:nvPr/>
        </p:nvSpPr>
        <p:spPr>
          <a:xfrm>
            <a:off x="822960" y="1600200"/>
            <a:ext cx="10543032" cy="5029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¿QUÉ CREEN QUE VA A SALIR?</a:t>
            </a:r>
            <a:endParaRPr lang="en-US" sz="1600" dirty="0"/>
          </a:p>
        </p:txBody>
      </p:sp>
      <p:sp>
        <p:nvSpPr>
          <p:cNvPr id="8" name="Text 6"/>
          <p:cNvSpPr/>
          <p:nvPr/>
        </p:nvSpPr>
        <p:spPr>
          <a:xfrm>
            <a:off x="548640" y="2331720"/>
            <a:ext cx="11091672" cy="822960"/>
          </a:xfrm>
          <a:prstGeom prst="rect">
            <a:avLst/>
          </a:prstGeom>
          <a:noFill/>
          <a:ln/>
        </p:spPr>
        <p:txBody>
          <a:bodyPr wrap="square" lIns="0" tIns="0" rIns="0" bIns="0" rtlCol="0" anchor="t"/>
          <a:lstStyle/>
          <a:p>
            <a:pPr indent="0" marL="0">
              <a:buNone/>
            </a:pPr>
            <a:r>
              <a:rPr lang="en-US" sz="2000" dirty="0">
                <a:solidFill>
                  <a:srgbClr val="5F6368"/>
                </a:solidFill>
                <a:latin typeface="Calibri" pitchFamily="34" charset="0"/>
                <a:ea typeface="Calibri" pitchFamily="34" charset="-122"/>
                <a:cs typeface="Calibri" pitchFamily="34" charset="-120"/>
              </a:rPr>
              <a:t>Hay 7 regiones en el archivo.</a:t>
            </a:r>
            <a:endParaRPr lang="en-US" sz="2000" dirty="0"/>
          </a:p>
        </p:txBody>
      </p:sp>
      <p:sp>
        <p:nvSpPr>
          <p:cNvPr id="9" name="Text 7"/>
          <p:cNvSpPr/>
          <p:nvPr/>
        </p:nvSpPr>
        <p:spPr>
          <a:xfrm>
            <a:off x="548640" y="3154680"/>
            <a:ext cx="11091672" cy="1097280"/>
          </a:xfrm>
          <a:prstGeom prst="rect">
            <a:avLst/>
          </a:prstGeom>
          <a:noFill/>
          <a:ln/>
        </p:spPr>
        <p:txBody>
          <a:bodyPr wrap="square" lIns="0" tIns="0" rIns="0" bIns="0" rtlCol="0" anchor="t"/>
          <a:lstStyle/>
          <a:p>
            <a:pPr indent="0" marL="0">
              <a:buNone/>
            </a:pPr>
            <a:r>
              <a:rPr lang="en-US" sz="3000" b="1" dirty="0">
                <a:solidFill>
                  <a:srgbClr val="202124"/>
                </a:solidFill>
                <a:latin typeface="Calibri" pitchFamily="34" charset="0"/>
                <a:ea typeface="Calibri" pitchFamily="34" charset="-122"/>
                <a:cs typeface="Calibri" pitchFamily="34" charset="-120"/>
              </a:rPr>
              <a:t>¿De cuántas formas distintas creen que vienen escritas?</a:t>
            </a:r>
            <a:endParaRPr lang="en-US" sz="3000" dirty="0"/>
          </a:p>
        </p:txBody>
      </p:sp>
      <p:sp>
        <p:nvSpPr>
          <p:cNvPr id="10" name="Shape 8"/>
          <p:cNvSpPr/>
          <p:nvPr/>
        </p:nvSpPr>
        <p:spPr>
          <a:xfrm>
            <a:off x="548640" y="4572000"/>
            <a:ext cx="3511296" cy="822960"/>
          </a:xfrm>
          <a:prstGeom prst="roundRect">
            <a:avLst>
              <a:gd name="adj" fmla="val 8889"/>
            </a:avLst>
          </a:prstGeom>
          <a:solidFill>
            <a:srgbClr val="FEF3D6"/>
          </a:solidFill>
          <a:ln w="19050">
            <a:solidFill>
              <a:srgbClr val="F9AB00"/>
            </a:solidFill>
            <a:prstDash val="solid"/>
          </a:ln>
        </p:spPr>
      </p:sp>
      <p:sp>
        <p:nvSpPr>
          <p:cNvPr id="11" name="Text 9"/>
          <p:cNvSpPr/>
          <p:nvPr/>
        </p:nvSpPr>
        <p:spPr>
          <a:xfrm>
            <a:off x="548640" y="4572000"/>
            <a:ext cx="3511296" cy="822960"/>
          </a:xfrm>
          <a:prstGeom prst="rect">
            <a:avLst/>
          </a:prstGeom>
          <a:noFill/>
          <a:ln/>
        </p:spPr>
        <p:txBody>
          <a:bodyPr wrap="square" lIns="0" tIns="0" rIns="0" bIns="0" rtlCol="0" anchor="ctr"/>
          <a:lstStyle/>
          <a:p>
            <a:pPr algn="ctr" indent="0" marL="0">
              <a:buNone/>
            </a:pPr>
            <a:r>
              <a:rPr lang="en-US" sz="2000" b="1" dirty="0">
                <a:solidFill>
                  <a:srgbClr val="202124"/>
                </a:solidFill>
                <a:latin typeface="Calibri" pitchFamily="34" charset="0"/>
                <a:ea typeface="Calibri" pitchFamily="34" charset="-122"/>
                <a:cs typeface="Calibri" pitchFamily="34" charset="-120"/>
              </a:rPr>
              <a:t>7</a:t>
            </a:r>
            <a:endParaRPr lang="en-US" sz="2000" dirty="0"/>
          </a:p>
        </p:txBody>
      </p:sp>
      <p:sp>
        <p:nvSpPr>
          <p:cNvPr id="12" name="Shape 10"/>
          <p:cNvSpPr/>
          <p:nvPr/>
        </p:nvSpPr>
        <p:spPr>
          <a:xfrm>
            <a:off x="4338828" y="4572000"/>
            <a:ext cx="3511296" cy="822960"/>
          </a:xfrm>
          <a:prstGeom prst="roundRect">
            <a:avLst>
              <a:gd name="adj" fmla="val 8889"/>
            </a:avLst>
          </a:prstGeom>
          <a:solidFill>
            <a:srgbClr val="FEF3D6"/>
          </a:solidFill>
          <a:ln w="19050">
            <a:solidFill>
              <a:srgbClr val="F9AB00"/>
            </a:solidFill>
            <a:prstDash val="solid"/>
          </a:ln>
        </p:spPr>
      </p:sp>
      <p:sp>
        <p:nvSpPr>
          <p:cNvPr id="13" name="Text 11"/>
          <p:cNvSpPr/>
          <p:nvPr/>
        </p:nvSpPr>
        <p:spPr>
          <a:xfrm>
            <a:off x="4338828" y="4572000"/>
            <a:ext cx="3511296" cy="822960"/>
          </a:xfrm>
          <a:prstGeom prst="rect">
            <a:avLst/>
          </a:prstGeom>
          <a:noFill/>
          <a:ln/>
        </p:spPr>
        <p:txBody>
          <a:bodyPr wrap="square" lIns="0" tIns="0" rIns="0" bIns="0" rtlCol="0" anchor="ctr"/>
          <a:lstStyle/>
          <a:p>
            <a:pPr algn="ctr" indent="0" marL="0">
              <a:buNone/>
            </a:pPr>
            <a:r>
              <a:rPr lang="en-US" sz="2000" b="1" dirty="0">
                <a:solidFill>
                  <a:srgbClr val="202124"/>
                </a:solidFill>
                <a:latin typeface="Calibri" pitchFamily="34" charset="0"/>
                <a:ea typeface="Calibri" pitchFamily="34" charset="-122"/>
                <a:cs typeface="Calibri" pitchFamily="34" charset="-120"/>
              </a:rPr>
              <a:t>Unas 10</a:t>
            </a:r>
            <a:endParaRPr lang="en-US" sz="2000" dirty="0"/>
          </a:p>
        </p:txBody>
      </p:sp>
      <p:sp>
        <p:nvSpPr>
          <p:cNvPr id="14" name="Shape 12"/>
          <p:cNvSpPr/>
          <p:nvPr/>
        </p:nvSpPr>
        <p:spPr>
          <a:xfrm>
            <a:off x="8129016" y="4572000"/>
            <a:ext cx="3511296" cy="822960"/>
          </a:xfrm>
          <a:prstGeom prst="roundRect">
            <a:avLst>
              <a:gd name="adj" fmla="val 8889"/>
            </a:avLst>
          </a:prstGeom>
          <a:solidFill>
            <a:srgbClr val="FEF3D6"/>
          </a:solidFill>
          <a:ln w="19050">
            <a:solidFill>
              <a:srgbClr val="F9AB00"/>
            </a:solidFill>
            <a:prstDash val="solid"/>
          </a:ln>
        </p:spPr>
      </p:sp>
      <p:sp>
        <p:nvSpPr>
          <p:cNvPr id="15" name="Text 13"/>
          <p:cNvSpPr/>
          <p:nvPr/>
        </p:nvSpPr>
        <p:spPr>
          <a:xfrm>
            <a:off x="8129016" y="4572000"/>
            <a:ext cx="3511296" cy="822960"/>
          </a:xfrm>
          <a:prstGeom prst="rect">
            <a:avLst/>
          </a:prstGeom>
          <a:noFill/>
          <a:ln/>
        </p:spPr>
        <p:txBody>
          <a:bodyPr wrap="square" lIns="0" tIns="0" rIns="0" bIns="0" rtlCol="0" anchor="ctr"/>
          <a:lstStyle/>
          <a:p>
            <a:pPr algn="ctr" indent="0" marL="0">
              <a:buNone/>
            </a:pPr>
            <a:r>
              <a:rPr lang="en-US" sz="2000" b="1" dirty="0">
                <a:solidFill>
                  <a:srgbClr val="202124"/>
                </a:solidFill>
                <a:latin typeface="Calibri" pitchFamily="34" charset="0"/>
                <a:ea typeface="Calibri" pitchFamily="34" charset="-122"/>
                <a:cs typeface="Calibri" pitchFamily="34" charset="-120"/>
              </a:rPr>
              <a:t>Más de 40</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3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¿De cuántas formas viene escrita cada región?</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qué hace cada arreglo con las formas de escribir Biobío.</a:t>
            </a:r>
            <a:endParaRPr lang="en-US" sz="1400" dirty="0"/>
          </a:p>
        </p:txBody>
      </p:sp>
      <p:pic>
        <p:nvPicPr>
          <p:cNvPr id="6" name="Image 0" descr="../work35/modulos/modulo03/img/lab03_paso3_regiones.png">    </p:cNvPr>
          <p:cNvPicPr>
            <a:picLocks noChangeAspect="1"/>
          </p:cNvPicPr>
          <p:nvPr/>
        </p:nvPicPr>
        <p:blipFill>
          <a:blip r:embed="rId1"/>
          <a:stretch>
            <a:fillRect/>
          </a:stretch>
        </p:blipFill>
        <p:spPr>
          <a:xfrm>
            <a:off x="548640" y="1463040"/>
            <a:ext cx="11091672" cy="46664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3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¿De cuántas formas viene escrita cada región?</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y mira cómo baja el número de formas distintas después de cada arreglo.</a:t>
            </a:r>
            <a:endParaRPr lang="en-US" sz="1400" dirty="0"/>
          </a:p>
        </p:txBody>
      </p:sp>
      <p:sp>
        <p:nvSpPr>
          <p:cNvPr id="6" name="Shape 4"/>
          <p:cNvSpPr/>
          <p:nvPr/>
        </p:nvSpPr>
        <p:spPr>
          <a:xfrm>
            <a:off x="548640" y="1481328"/>
            <a:ext cx="11091672" cy="2562035"/>
          </a:xfrm>
          <a:prstGeom prst="roundRect">
            <a:avLst>
              <a:gd name="adj" fmla="val 2141"/>
            </a:avLst>
          </a:prstGeom>
          <a:solidFill>
            <a:srgbClr val="F8F9FA"/>
          </a:solidFill>
          <a:ln w="25400">
            <a:solidFill>
              <a:srgbClr val="F9AB00"/>
            </a:solidFill>
            <a:prstDash val="solid"/>
          </a:ln>
        </p:spPr>
      </p:sp>
      <p:sp>
        <p:nvSpPr>
          <p:cNvPr id="7"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8"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9" name="Text 7"/>
          <p:cNvSpPr/>
          <p:nvPr/>
        </p:nvSpPr>
        <p:spPr>
          <a:xfrm>
            <a:off x="1325880" y="1600200"/>
            <a:ext cx="10085832" cy="2370011"/>
          </a:xfrm>
          <a:prstGeom prst="rect">
            <a:avLst/>
          </a:prstGeom>
          <a:noFill/>
          <a:ln/>
        </p:spPr>
        <p:txBody>
          <a:bodyPr wrap="square" lIns="0" tIns="0" rIns="0" bIns="0" rtlCol="0" anchor="t"/>
          <a:lstStyle/>
          <a:p>
            <a:pPr indent="0" marL="0">
              <a:buNone/>
            </a:pPr>
            <a:r>
              <a:rPr lang="en-US" sz="1300" dirty="0">
                <a:solidFill>
                  <a:srgbClr val="188038"/>
                </a:solidFill>
                <a:latin typeface="Courier New" pitchFamily="34" charset="0"/>
                <a:ea typeface="Courier New" pitchFamily="34" charset="-122"/>
                <a:cs typeface="Courier New" pitchFamily="34" charset="-120"/>
              </a:rPr>
              <a:t># Paso 3</a:t>
            </a:r>
            <a:endParaRPr lang="en-US" sz="1300" dirty="0"/>
          </a:p>
          <a:p>
            <a:pPr indent="0" marL="0">
              <a:buNone/>
            </a:pPr>
            <a:r>
              <a:rPr lang="en-US" sz="1300" dirty="0">
                <a:solidFill>
                  <a:srgbClr val="188038"/>
                </a:solidFill>
                <a:latin typeface="Courier New" pitchFamily="34" charset="0"/>
                <a:ea typeface="Courier New" pitchFamily="34" charset="-122"/>
                <a:cs typeface="Courier New" pitchFamily="34" charset="-120"/>
              </a:rPr>
              <a:t># nunique cuenta cuántos valores distintos tiene una columna.</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"Formas distintas en el archivo   "</a:t>
            </a:r>
            <a:pPr indent="0" marL="0">
              <a:buNone/>
            </a:pPr>
            <a:r>
              <a:rPr lang="en-US" sz="1300" dirty="0">
                <a:solidFill>
                  <a:srgbClr val="202124"/>
                </a:solidFill>
                <a:latin typeface="Courier New" pitchFamily="34" charset="0"/>
                <a:ea typeface="Courier New" pitchFamily="34" charset="-122"/>
                <a:cs typeface="Courier New" pitchFamily="34" charset="-120"/>
              </a:rPr>
              <a:t>, sucia[</a:t>
            </a:r>
            <a:pPr indent="0" marL="0">
              <a:buNone/>
            </a:pPr>
            <a:r>
              <a:rPr lang="en-US" sz="1300" dirty="0">
                <a:solidFill>
                  <a:srgbClr val="A31515"/>
                </a:solidFill>
                <a:latin typeface="Courier New" pitchFamily="34" charset="0"/>
                <a:ea typeface="Courier New" pitchFamily="34" charset="-122"/>
                <a:cs typeface="Courier New" pitchFamily="34" charset="-120"/>
              </a:rPr>
              <a:t>"region"</a:t>
            </a:r>
            <a:pPr indent="0" marL="0">
              <a:buNone/>
            </a:pPr>
            <a:r>
              <a:rPr lang="en-US" sz="1300" dirty="0">
                <a:solidFill>
                  <a:srgbClr val="202124"/>
                </a:solidFill>
                <a:latin typeface="Courier New" pitchFamily="34" charset="0"/>
                <a:ea typeface="Courier New" pitchFamily="34" charset="-122"/>
                <a:cs typeface="Courier New" pitchFamily="34" charset="-120"/>
              </a:rPr>
              <a:t>].nunique())</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188038"/>
                </a:solidFill>
                <a:latin typeface="Courier New" pitchFamily="34" charset="0"/>
                <a:ea typeface="Courier New" pitchFamily="34" charset="-122"/>
                <a:cs typeface="Courier New" pitchFamily="34" charset="-120"/>
              </a:rPr>
              <a:t># strip quita los espacios del comienzo y del final.</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limpia[</a:t>
            </a:r>
            <a:pPr indent="0" marL="0">
              <a:buNone/>
            </a:pPr>
            <a:r>
              <a:rPr lang="en-US" sz="1300" dirty="0">
                <a:solidFill>
                  <a:srgbClr val="A31515"/>
                </a:solidFill>
                <a:latin typeface="Courier New" pitchFamily="34" charset="0"/>
                <a:ea typeface="Courier New" pitchFamily="34" charset="-122"/>
                <a:cs typeface="Courier New" pitchFamily="34" charset="-120"/>
              </a:rPr>
              <a:t>"region"</a:t>
            </a:r>
            <a:pPr indent="0" marL="0">
              <a:buNone/>
            </a:pPr>
            <a:r>
              <a:rPr lang="en-US" sz="1300" dirty="0">
                <a:solidFill>
                  <a:srgbClr val="202124"/>
                </a:solidFill>
                <a:latin typeface="Courier New" pitchFamily="34" charset="0"/>
                <a:ea typeface="Courier New" pitchFamily="34" charset="-122"/>
                <a:cs typeface="Courier New" pitchFamily="34" charset="-120"/>
              </a:rPr>
              <a:t>] = limpia[</a:t>
            </a:r>
            <a:pPr indent="0" marL="0">
              <a:buNone/>
            </a:pPr>
            <a:r>
              <a:rPr lang="en-US" sz="1300" dirty="0">
                <a:solidFill>
                  <a:srgbClr val="A31515"/>
                </a:solidFill>
                <a:latin typeface="Courier New" pitchFamily="34" charset="0"/>
                <a:ea typeface="Courier New" pitchFamily="34" charset="-122"/>
                <a:cs typeface="Courier New" pitchFamily="34" charset="-120"/>
              </a:rPr>
              <a:t>"region"</a:t>
            </a:r>
            <a:pPr indent="0" marL="0">
              <a:buNone/>
            </a:pPr>
            <a:r>
              <a:rPr lang="en-US" sz="1300" dirty="0">
                <a:solidFill>
                  <a:srgbClr val="202124"/>
                </a:solidFill>
                <a:latin typeface="Courier New" pitchFamily="34" charset="0"/>
                <a:ea typeface="Courier New" pitchFamily="34" charset="-122"/>
                <a:cs typeface="Courier New" pitchFamily="34" charset="-120"/>
              </a:rPr>
              <a:t>].str.strip()</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"Después de quitar los espacios   "</a:t>
            </a:r>
            <a:pPr indent="0" marL="0">
              <a:buNone/>
            </a:pPr>
            <a:r>
              <a:rPr lang="en-US" sz="1300" dirty="0">
                <a:solidFill>
                  <a:srgbClr val="202124"/>
                </a:solidFill>
                <a:latin typeface="Courier New" pitchFamily="34" charset="0"/>
                <a:ea typeface="Courier New" pitchFamily="34" charset="-122"/>
                <a:cs typeface="Courier New" pitchFamily="34" charset="-120"/>
              </a:rPr>
              <a:t>, limpia[</a:t>
            </a:r>
            <a:pPr indent="0" marL="0">
              <a:buNone/>
            </a:pPr>
            <a:r>
              <a:rPr lang="en-US" sz="1300" dirty="0">
                <a:solidFill>
                  <a:srgbClr val="A31515"/>
                </a:solidFill>
                <a:latin typeface="Courier New" pitchFamily="34" charset="0"/>
                <a:ea typeface="Courier New" pitchFamily="34" charset="-122"/>
                <a:cs typeface="Courier New" pitchFamily="34" charset="-120"/>
              </a:rPr>
              <a:t>"region"</a:t>
            </a:r>
            <a:pPr indent="0" marL="0">
              <a:buNone/>
            </a:pPr>
            <a:r>
              <a:rPr lang="en-US" sz="1300" dirty="0">
                <a:solidFill>
                  <a:srgbClr val="202124"/>
                </a:solidFill>
                <a:latin typeface="Courier New" pitchFamily="34" charset="0"/>
                <a:ea typeface="Courier New" pitchFamily="34" charset="-122"/>
                <a:cs typeface="Courier New" pitchFamily="34" charset="-120"/>
              </a:rPr>
              <a:t>].nunique())</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188038"/>
                </a:solidFill>
                <a:latin typeface="Courier New" pitchFamily="34" charset="0"/>
                <a:ea typeface="Courier New" pitchFamily="34" charset="-122"/>
                <a:cs typeface="Courier New" pitchFamily="34" charset="-120"/>
              </a:rPr>
              <a:t># title deja la primera letra de cada palabra en mayúscula y el resto en minúscula.</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limpia[</a:t>
            </a:r>
            <a:pPr indent="0" marL="0">
              <a:buNone/>
            </a:pPr>
            <a:r>
              <a:rPr lang="en-US" sz="1300" dirty="0">
                <a:solidFill>
                  <a:srgbClr val="A31515"/>
                </a:solidFill>
                <a:latin typeface="Courier New" pitchFamily="34" charset="0"/>
                <a:ea typeface="Courier New" pitchFamily="34" charset="-122"/>
                <a:cs typeface="Courier New" pitchFamily="34" charset="-120"/>
              </a:rPr>
              <a:t>"region"</a:t>
            </a:r>
            <a:pPr indent="0" marL="0">
              <a:buNone/>
            </a:pPr>
            <a:r>
              <a:rPr lang="en-US" sz="1300" dirty="0">
                <a:solidFill>
                  <a:srgbClr val="202124"/>
                </a:solidFill>
                <a:latin typeface="Courier New" pitchFamily="34" charset="0"/>
                <a:ea typeface="Courier New" pitchFamily="34" charset="-122"/>
                <a:cs typeface="Courier New" pitchFamily="34" charset="-120"/>
              </a:rPr>
              <a:t>] = limpia[</a:t>
            </a:r>
            <a:pPr indent="0" marL="0">
              <a:buNone/>
            </a:pPr>
            <a:r>
              <a:rPr lang="en-US" sz="1300" dirty="0">
                <a:solidFill>
                  <a:srgbClr val="A31515"/>
                </a:solidFill>
                <a:latin typeface="Courier New" pitchFamily="34" charset="0"/>
                <a:ea typeface="Courier New" pitchFamily="34" charset="-122"/>
                <a:cs typeface="Courier New" pitchFamily="34" charset="-120"/>
              </a:rPr>
              <a:t>"region"</a:t>
            </a:r>
            <a:pPr indent="0" marL="0">
              <a:buNone/>
            </a:pPr>
            <a:r>
              <a:rPr lang="en-US" sz="1300" dirty="0">
                <a:solidFill>
                  <a:srgbClr val="202124"/>
                </a:solidFill>
                <a:latin typeface="Courier New" pitchFamily="34" charset="0"/>
                <a:ea typeface="Courier New" pitchFamily="34" charset="-122"/>
                <a:cs typeface="Courier New" pitchFamily="34" charset="-120"/>
              </a:rPr>
              <a:t>].str.title()</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"Después de igualar las mayúsculas"</a:t>
            </a:r>
            <a:pPr indent="0" marL="0">
              <a:buNone/>
            </a:pPr>
            <a:r>
              <a:rPr lang="en-US" sz="1300" dirty="0">
                <a:solidFill>
                  <a:srgbClr val="202124"/>
                </a:solidFill>
                <a:latin typeface="Courier New" pitchFamily="34" charset="0"/>
                <a:ea typeface="Courier New" pitchFamily="34" charset="-122"/>
                <a:cs typeface="Courier New" pitchFamily="34" charset="-120"/>
              </a:rPr>
              <a:t>, limpia[</a:t>
            </a:r>
            <a:pPr indent="0" marL="0">
              <a:buNone/>
            </a:pPr>
            <a:r>
              <a:rPr lang="en-US" sz="1300" dirty="0">
                <a:solidFill>
                  <a:srgbClr val="A31515"/>
                </a:solidFill>
                <a:latin typeface="Courier New" pitchFamily="34" charset="0"/>
                <a:ea typeface="Courier New" pitchFamily="34" charset="-122"/>
                <a:cs typeface="Courier New" pitchFamily="34" charset="-120"/>
              </a:rPr>
              <a:t>"region"</a:t>
            </a:r>
            <a:pPr indent="0" marL="0">
              <a:buNone/>
            </a:pPr>
            <a:r>
              <a:rPr lang="en-US" sz="1300" dirty="0">
                <a:solidFill>
                  <a:srgbClr val="202124"/>
                </a:solidFill>
                <a:latin typeface="Courier New" pitchFamily="34" charset="0"/>
                <a:ea typeface="Courier New" pitchFamily="34" charset="-122"/>
                <a:cs typeface="Courier New" pitchFamily="34" charset="-120"/>
              </a:rPr>
              <a:t>].nunique())</a:t>
            </a:r>
            <a:endParaRPr lang="en-US" sz="1300" dirty="0"/>
          </a:p>
        </p:txBody>
      </p:sp>
      <p:sp>
        <p:nvSpPr>
          <p:cNvPr id="10" name="Text 8"/>
          <p:cNvSpPr/>
          <p:nvPr/>
        </p:nvSpPr>
        <p:spPr>
          <a:xfrm>
            <a:off x="1325880" y="4070795"/>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1" name="Text 9"/>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2" name="Shape 10"/>
          <p:cNvSpPr/>
          <p:nvPr/>
        </p:nvSpPr>
        <p:spPr>
          <a:xfrm>
            <a:off x="548640" y="6062472"/>
            <a:ext cx="1714500" cy="512064"/>
          </a:xfrm>
          <a:prstGeom prst="roundRect">
            <a:avLst>
              <a:gd name="adj" fmla="val 12500"/>
            </a:avLst>
          </a:prstGeom>
          <a:solidFill>
            <a:srgbClr val="F1F3F4"/>
          </a:solidFill>
          <a:ln w="12700">
            <a:solidFill>
              <a:srgbClr val="DADCE0"/>
            </a:solidFill>
            <a:prstDash val="solid"/>
          </a:ln>
        </p:spPr>
      </p:sp>
      <p:sp>
        <p:nvSpPr>
          <p:cNvPr id="13" name="Text 11"/>
          <p:cNvSpPr/>
          <p:nvPr/>
        </p:nvSpPr>
        <p:spPr>
          <a:xfrm>
            <a:off x="640080"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limpia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61508 × 4</a:t>
            </a:r>
            <a:endParaRPr lang="en-US" sz="1200" dirty="0"/>
          </a:p>
        </p:txBody>
      </p:sp>
      <p:sp>
        <p:nvSpPr>
          <p:cNvPr id="14" name="Shape 12"/>
          <p:cNvSpPr/>
          <p:nvPr/>
        </p:nvSpPr>
        <p:spPr>
          <a:xfrm>
            <a:off x="2400300" y="6062472"/>
            <a:ext cx="1149401" cy="512064"/>
          </a:xfrm>
          <a:prstGeom prst="roundRect">
            <a:avLst>
              <a:gd name="adj" fmla="val 12500"/>
            </a:avLst>
          </a:prstGeom>
          <a:solidFill>
            <a:srgbClr val="F1F3F4"/>
          </a:solidFill>
          <a:ln w="12700">
            <a:solidFill>
              <a:srgbClr val="DADCE0"/>
            </a:solidFill>
            <a:prstDash val="solid"/>
          </a:ln>
        </p:spPr>
      </p:sp>
      <p:sp>
        <p:nvSpPr>
          <p:cNvPr id="15" name="Text 13"/>
          <p:cNvSpPr/>
          <p:nvPr/>
        </p:nvSpPr>
        <p:spPr>
          <a:xfrm>
            <a:off x="2491740" y="6071616"/>
            <a:ext cx="1012241"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esperadas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61488</a:t>
            </a:r>
            <a:endParaRPr lang="en-US" sz="1200" dirty="0"/>
          </a:p>
        </p:txBody>
      </p:sp>
      <p:sp>
        <p:nvSpPr>
          <p:cNvPr id="16" name="Shape 14"/>
          <p:cNvSpPr/>
          <p:nvPr/>
        </p:nvSpPr>
        <p:spPr>
          <a:xfrm>
            <a:off x="3686861" y="6062472"/>
            <a:ext cx="1714500" cy="512064"/>
          </a:xfrm>
          <a:prstGeom prst="roundRect">
            <a:avLst>
              <a:gd name="adj" fmla="val 12500"/>
            </a:avLst>
          </a:prstGeom>
          <a:solidFill>
            <a:srgbClr val="F1F3F4"/>
          </a:solidFill>
          <a:ln w="12700">
            <a:solidFill>
              <a:srgbClr val="DADCE0"/>
            </a:solidFill>
            <a:prstDash val="solid"/>
          </a:ln>
        </p:spPr>
      </p:sp>
      <p:sp>
        <p:nvSpPr>
          <p:cNvPr id="17" name="Text 15"/>
          <p:cNvSpPr/>
          <p:nvPr/>
        </p:nvSpPr>
        <p:spPr>
          <a:xfrm>
            <a:off x="3778301"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sucia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61508 × 4</a:t>
            </a:r>
            <a:endParaRPr lang="en-US" sz="1200" dirty="0"/>
          </a:p>
        </p:txBody>
      </p:sp>
      <p:sp>
        <p:nvSpPr>
          <p:cNvPr id="18" name="Shape 16"/>
          <p:cNvSpPr/>
          <p:nvPr/>
        </p:nvSpPr>
        <p:spPr>
          <a:xfrm>
            <a:off x="5538521" y="6062472"/>
            <a:ext cx="1143000" cy="512064"/>
          </a:xfrm>
          <a:prstGeom prst="roundRect">
            <a:avLst>
              <a:gd name="adj" fmla="val 12500"/>
            </a:avLst>
          </a:prstGeom>
          <a:solidFill>
            <a:srgbClr val="F1F3F4"/>
          </a:solidFill>
          <a:ln w="12700">
            <a:solidFill>
              <a:srgbClr val="DADCE0"/>
            </a:solidFill>
            <a:prstDash val="solid"/>
          </a:ln>
        </p:spPr>
      </p:sp>
      <p:sp>
        <p:nvSpPr>
          <p:cNvPr id="19" name="Text 17"/>
          <p:cNvSpPr/>
          <p:nvPr/>
        </p:nvSpPr>
        <p:spPr>
          <a:xfrm>
            <a:off x="5629961"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20" name="Shape 18"/>
          <p:cNvSpPr/>
          <p:nvPr/>
        </p:nvSpPr>
        <p:spPr>
          <a:xfrm>
            <a:off x="6818681" y="6062472"/>
            <a:ext cx="2750515" cy="512064"/>
          </a:xfrm>
          <a:prstGeom prst="roundRect">
            <a:avLst>
              <a:gd name="adj" fmla="val 12500"/>
            </a:avLst>
          </a:prstGeom>
          <a:solidFill>
            <a:srgbClr val="F1F3F4"/>
          </a:solidFill>
          <a:ln w="12700">
            <a:solidFill>
              <a:srgbClr val="DADCE0"/>
            </a:solidFill>
            <a:prstDash val="solid"/>
          </a:ln>
        </p:spPr>
      </p:sp>
      <p:sp>
        <p:nvSpPr>
          <p:cNvPr id="21" name="Text 19"/>
          <p:cNvSpPr/>
          <p:nvPr/>
        </p:nvSpPr>
        <p:spPr>
          <a:xfrm>
            <a:off x="6910121" y="6071616"/>
            <a:ext cx="2613355"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3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¿De cuántas formas viene escrita cada región?</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lee esta línea, pieza por pieza</a:t>
            </a:r>
            <a:endParaRPr lang="en-US" sz="1400" dirty="0"/>
          </a:p>
        </p:txBody>
      </p:sp>
      <p:sp>
        <p:nvSpPr>
          <p:cNvPr id="6" name="Shape 4"/>
          <p:cNvSpPr/>
          <p:nvPr/>
        </p:nvSpPr>
        <p:spPr>
          <a:xfrm>
            <a:off x="548640" y="1463040"/>
            <a:ext cx="11091672" cy="484632"/>
          </a:xfrm>
          <a:prstGeom prst="roundRect">
            <a:avLst>
              <a:gd name="adj" fmla="val 11321"/>
            </a:avLst>
          </a:prstGeom>
          <a:solidFill>
            <a:srgbClr val="F8F9FA"/>
          </a:solidFill>
          <a:ln w="12700">
            <a:solidFill>
              <a:srgbClr val="DADCE0"/>
            </a:solidFill>
            <a:prstDash val="solid"/>
          </a:ln>
        </p:spPr>
      </p:sp>
      <p:sp>
        <p:nvSpPr>
          <p:cNvPr id="7" name="Text 5"/>
          <p:cNvSpPr/>
          <p:nvPr/>
        </p:nvSpPr>
        <p:spPr>
          <a:xfrm>
            <a:off x="822960" y="1572768"/>
            <a:ext cx="10634472" cy="265176"/>
          </a:xfrm>
          <a:prstGeom prst="rect">
            <a:avLst/>
          </a:prstGeom>
          <a:noFill/>
          <a:ln/>
        </p:spPr>
        <p:txBody>
          <a:bodyPr wrap="square" lIns="0" tIns="0" rIns="0" bIns="0" rtlCol="0" anchor="t"/>
          <a:lstStyle/>
          <a:p>
            <a:pPr indent="0" marL="0">
              <a:buNone/>
            </a:pPr>
            <a:r>
              <a:rPr lang="en-US" sz="1600" dirty="0">
                <a:solidFill>
                  <a:srgbClr val="202124"/>
                </a:solidFill>
                <a:latin typeface="Courier New" pitchFamily="34" charset="0"/>
                <a:ea typeface="Courier New" pitchFamily="34" charset="-122"/>
                <a:cs typeface="Courier New" pitchFamily="34" charset="-120"/>
              </a:rPr>
              <a:t>limpia[</a:t>
            </a:r>
            <a:pPr indent="0" marL="0">
              <a:buNone/>
            </a:pPr>
            <a:r>
              <a:rPr lang="en-US" sz="1600" dirty="0">
                <a:solidFill>
                  <a:srgbClr val="A31515"/>
                </a:solidFill>
                <a:latin typeface="Courier New" pitchFamily="34" charset="0"/>
                <a:ea typeface="Courier New" pitchFamily="34" charset="-122"/>
                <a:cs typeface="Courier New" pitchFamily="34" charset="-120"/>
              </a:rPr>
              <a:t>"region"</a:t>
            </a:r>
            <a:pPr indent="0" marL="0">
              <a:buNone/>
            </a:pPr>
            <a:r>
              <a:rPr lang="en-US" sz="1600" dirty="0">
                <a:solidFill>
                  <a:srgbClr val="202124"/>
                </a:solidFill>
                <a:latin typeface="Courier New" pitchFamily="34" charset="0"/>
                <a:ea typeface="Courier New" pitchFamily="34" charset="-122"/>
                <a:cs typeface="Courier New" pitchFamily="34" charset="-120"/>
              </a:rPr>
              <a:t>] = limpia[</a:t>
            </a:r>
            <a:pPr indent="0" marL="0">
              <a:buNone/>
            </a:pPr>
            <a:r>
              <a:rPr lang="en-US" sz="1600" dirty="0">
                <a:solidFill>
                  <a:srgbClr val="A31515"/>
                </a:solidFill>
                <a:latin typeface="Courier New" pitchFamily="34" charset="0"/>
                <a:ea typeface="Courier New" pitchFamily="34" charset="-122"/>
                <a:cs typeface="Courier New" pitchFamily="34" charset="-120"/>
              </a:rPr>
              <a:t>"region"</a:t>
            </a:r>
            <a:pPr indent="0" marL="0">
              <a:buNone/>
            </a:pPr>
            <a:r>
              <a:rPr lang="en-US" sz="1600" dirty="0">
                <a:solidFill>
                  <a:srgbClr val="202124"/>
                </a:solidFill>
                <a:latin typeface="Courier New" pitchFamily="34" charset="0"/>
                <a:ea typeface="Courier New" pitchFamily="34" charset="-122"/>
                <a:cs typeface="Courier New" pitchFamily="34" charset="-120"/>
              </a:rPr>
              <a:t>].str.strip()</a:t>
            </a:r>
            <a:endParaRPr lang="en-US" sz="1600" dirty="0"/>
          </a:p>
        </p:txBody>
      </p:sp>
      <p:sp>
        <p:nvSpPr>
          <p:cNvPr id="8" name="Shape 6"/>
          <p:cNvSpPr/>
          <p:nvPr/>
        </p:nvSpPr>
        <p:spPr>
          <a:xfrm>
            <a:off x="548640" y="2322576"/>
            <a:ext cx="329184" cy="329184"/>
          </a:xfrm>
          <a:prstGeom prst="ellipse">
            <a:avLst/>
          </a:prstGeom>
          <a:solidFill>
            <a:srgbClr val="1A6FD4"/>
          </a:solidFill>
          <a:ln w="12700">
            <a:solidFill>
              <a:srgbClr val="1A6FD4"/>
            </a:solidFill>
            <a:prstDash val="solid"/>
          </a:ln>
        </p:spPr>
      </p:sp>
      <p:sp>
        <p:nvSpPr>
          <p:cNvPr id="9" name="Text 7"/>
          <p:cNvSpPr/>
          <p:nvPr/>
        </p:nvSpPr>
        <p:spPr>
          <a:xfrm>
            <a:off x="548640" y="232257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2221992"/>
            <a:ext cx="4937760" cy="530352"/>
          </a:xfrm>
          <a:prstGeom prst="roundRect">
            <a:avLst>
              <a:gd name="adj" fmla="val 8621"/>
            </a:avLst>
          </a:prstGeom>
          <a:solidFill>
            <a:srgbClr val="DBE9FB"/>
          </a:solidFill>
          <a:ln w="12700">
            <a:solidFill>
              <a:srgbClr val="DBE9FB"/>
            </a:solidFill>
            <a:prstDash val="solid"/>
          </a:ln>
        </p:spPr>
      </p:sp>
      <p:sp>
        <p:nvSpPr>
          <p:cNvPr id="11" name="Text 9"/>
          <p:cNvSpPr/>
          <p:nvPr/>
        </p:nvSpPr>
        <p:spPr>
          <a:xfrm>
            <a:off x="1170432" y="2221992"/>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limpia["region"]</a:t>
            </a:r>
            <a:endParaRPr lang="en-US" sz="1400" dirty="0"/>
          </a:p>
        </p:txBody>
      </p:sp>
      <p:sp>
        <p:nvSpPr>
          <p:cNvPr id="12" name="Text 10"/>
          <p:cNvSpPr/>
          <p:nvPr/>
        </p:nvSpPr>
        <p:spPr>
          <a:xfrm>
            <a:off x="6263640" y="2221992"/>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La columna region, con sus 61.508 filas.</a:t>
            </a:r>
            <a:endParaRPr lang="en-US" sz="1600" dirty="0"/>
          </a:p>
        </p:txBody>
      </p:sp>
      <p:sp>
        <p:nvSpPr>
          <p:cNvPr id="13" name="Shape 11"/>
          <p:cNvSpPr/>
          <p:nvPr/>
        </p:nvSpPr>
        <p:spPr>
          <a:xfrm>
            <a:off x="548640" y="3035808"/>
            <a:ext cx="329184" cy="329184"/>
          </a:xfrm>
          <a:prstGeom prst="ellipse">
            <a:avLst/>
          </a:prstGeom>
          <a:solidFill>
            <a:srgbClr val="1E8E3E"/>
          </a:solidFill>
          <a:ln w="12700">
            <a:solidFill>
              <a:srgbClr val="1E8E3E"/>
            </a:solidFill>
            <a:prstDash val="solid"/>
          </a:ln>
        </p:spPr>
      </p:sp>
      <p:sp>
        <p:nvSpPr>
          <p:cNvPr id="14" name="Text 12"/>
          <p:cNvSpPr/>
          <p:nvPr/>
        </p:nvSpPr>
        <p:spPr>
          <a:xfrm>
            <a:off x="548640" y="30358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2843784"/>
            <a:ext cx="4937760" cy="713232"/>
          </a:xfrm>
          <a:prstGeom prst="roundRect">
            <a:avLst>
              <a:gd name="adj" fmla="val 6410"/>
            </a:avLst>
          </a:prstGeom>
          <a:solidFill>
            <a:srgbClr val="DCEFE0"/>
          </a:solidFill>
          <a:ln w="12700">
            <a:solidFill>
              <a:srgbClr val="DCEFE0"/>
            </a:solidFill>
            <a:prstDash val="solid"/>
          </a:ln>
        </p:spPr>
      </p:sp>
      <p:sp>
        <p:nvSpPr>
          <p:cNvPr id="16" name="Text 14"/>
          <p:cNvSpPr/>
          <p:nvPr/>
        </p:nvSpPr>
        <p:spPr>
          <a:xfrm>
            <a:off x="1170432" y="2843784"/>
            <a:ext cx="4754880" cy="71323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.str</a:t>
            </a:r>
            <a:endParaRPr lang="en-US" sz="1400" dirty="0"/>
          </a:p>
        </p:txBody>
      </p:sp>
      <p:sp>
        <p:nvSpPr>
          <p:cNvPr id="17" name="Text 15"/>
          <p:cNvSpPr/>
          <p:nvPr/>
        </p:nvSpPr>
        <p:spPr>
          <a:xfrm>
            <a:off x="6263640" y="2843784"/>
            <a:ext cx="5376672" cy="71323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Abre las herramientas de texto, para aplicarlas a todas las filas de una vez.</a:t>
            </a:r>
            <a:endParaRPr lang="en-US" sz="1600" dirty="0"/>
          </a:p>
        </p:txBody>
      </p:sp>
      <p:sp>
        <p:nvSpPr>
          <p:cNvPr id="18" name="Shape 16"/>
          <p:cNvSpPr/>
          <p:nvPr/>
        </p:nvSpPr>
        <p:spPr>
          <a:xfrm>
            <a:off x="548640" y="3749040"/>
            <a:ext cx="329184" cy="329184"/>
          </a:xfrm>
          <a:prstGeom prst="ellipse">
            <a:avLst/>
          </a:prstGeom>
          <a:solidFill>
            <a:srgbClr val="B07D00"/>
          </a:solidFill>
          <a:ln w="12700">
            <a:solidFill>
              <a:srgbClr val="B07D00"/>
            </a:solidFill>
            <a:prstDash val="solid"/>
          </a:ln>
        </p:spPr>
      </p:sp>
      <p:sp>
        <p:nvSpPr>
          <p:cNvPr id="19" name="Text 17"/>
          <p:cNvSpPr/>
          <p:nvPr/>
        </p:nvSpPr>
        <p:spPr>
          <a:xfrm>
            <a:off x="548640" y="37490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Shape 18"/>
          <p:cNvSpPr/>
          <p:nvPr/>
        </p:nvSpPr>
        <p:spPr>
          <a:xfrm>
            <a:off x="1051560" y="3648456"/>
            <a:ext cx="4937760" cy="530352"/>
          </a:xfrm>
          <a:prstGeom prst="roundRect">
            <a:avLst>
              <a:gd name="adj" fmla="val 8621"/>
            </a:avLst>
          </a:prstGeom>
          <a:solidFill>
            <a:srgbClr val="FDF0C8"/>
          </a:solidFill>
          <a:ln w="12700">
            <a:solidFill>
              <a:srgbClr val="FDF0C8"/>
            </a:solidFill>
            <a:prstDash val="solid"/>
          </a:ln>
        </p:spPr>
      </p:sp>
      <p:sp>
        <p:nvSpPr>
          <p:cNvPr id="21" name="Text 19"/>
          <p:cNvSpPr/>
          <p:nvPr/>
        </p:nvSpPr>
        <p:spPr>
          <a:xfrm>
            <a:off x="1170432" y="3648456"/>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.strip()</a:t>
            </a:r>
            <a:endParaRPr lang="en-US" sz="1400" dirty="0"/>
          </a:p>
        </p:txBody>
      </p:sp>
      <p:sp>
        <p:nvSpPr>
          <p:cNvPr id="22" name="Text 20"/>
          <p:cNvSpPr/>
          <p:nvPr/>
        </p:nvSpPr>
        <p:spPr>
          <a:xfrm>
            <a:off x="6263640" y="3648456"/>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Quita los espacios del comienzo y del final.</a:t>
            </a:r>
            <a:endParaRPr lang="en-US" sz="1600" dirty="0"/>
          </a:p>
        </p:txBody>
      </p:sp>
      <p:sp>
        <p:nvSpPr>
          <p:cNvPr id="23" name="Shape 21"/>
          <p:cNvSpPr/>
          <p:nvPr/>
        </p:nvSpPr>
        <p:spPr>
          <a:xfrm>
            <a:off x="548640" y="4370832"/>
            <a:ext cx="329184" cy="329184"/>
          </a:xfrm>
          <a:prstGeom prst="ellipse">
            <a:avLst/>
          </a:prstGeom>
          <a:solidFill>
            <a:srgbClr val="7B4FC9"/>
          </a:solidFill>
          <a:ln w="12700">
            <a:solidFill>
              <a:srgbClr val="7B4FC9"/>
            </a:solidFill>
            <a:prstDash val="solid"/>
          </a:ln>
        </p:spPr>
      </p:sp>
      <p:sp>
        <p:nvSpPr>
          <p:cNvPr id="24" name="Text 22"/>
          <p:cNvSpPr/>
          <p:nvPr/>
        </p:nvSpPr>
        <p:spPr>
          <a:xfrm>
            <a:off x="548640" y="437083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Shape 23"/>
          <p:cNvSpPr/>
          <p:nvPr/>
        </p:nvSpPr>
        <p:spPr>
          <a:xfrm>
            <a:off x="1051560" y="4270248"/>
            <a:ext cx="4937760" cy="530352"/>
          </a:xfrm>
          <a:prstGeom prst="roundRect">
            <a:avLst>
              <a:gd name="adj" fmla="val 8621"/>
            </a:avLst>
          </a:prstGeom>
          <a:solidFill>
            <a:srgbClr val="ECE2FA"/>
          </a:solidFill>
          <a:ln w="12700">
            <a:solidFill>
              <a:srgbClr val="ECE2FA"/>
            </a:solidFill>
            <a:prstDash val="solid"/>
          </a:ln>
        </p:spPr>
      </p:sp>
      <p:sp>
        <p:nvSpPr>
          <p:cNvPr id="26" name="Text 24"/>
          <p:cNvSpPr/>
          <p:nvPr/>
        </p:nvSpPr>
        <p:spPr>
          <a:xfrm>
            <a:off x="1170432" y="4270248"/>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limpia["region"] =</a:t>
            </a:r>
            <a:endParaRPr lang="en-US" sz="1400" dirty="0"/>
          </a:p>
        </p:txBody>
      </p:sp>
      <p:sp>
        <p:nvSpPr>
          <p:cNvPr id="27" name="Text 25"/>
          <p:cNvSpPr/>
          <p:nvPr/>
        </p:nvSpPr>
        <p:spPr>
          <a:xfrm>
            <a:off x="6263640" y="4270248"/>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El resultado reemplaza la columna region.</a:t>
            </a:r>
            <a:endParaRPr lang="en-US" sz="1600" dirty="0"/>
          </a:p>
        </p:txBody>
      </p:sp>
      <p:sp>
        <p:nvSpPr>
          <p:cNvPr id="28" name="Shape 26"/>
          <p:cNvSpPr/>
          <p:nvPr/>
        </p:nvSpPr>
        <p:spPr>
          <a:xfrm>
            <a:off x="548640" y="5989320"/>
            <a:ext cx="73152" cy="548640"/>
          </a:xfrm>
          <a:prstGeom prst="rect">
            <a:avLst/>
          </a:prstGeom>
          <a:solidFill>
            <a:srgbClr val="0B3D62"/>
          </a:solidFill>
          <a:ln w="12700">
            <a:solidFill>
              <a:srgbClr val="0B3D62"/>
            </a:solidFill>
            <a:prstDash val="solid"/>
          </a:ln>
        </p:spPr>
      </p:sp>
      <p:sp>
        <p:nvSpPr>
          <p:cNvPr id="29" name="Text 27"/>
          <p:cNvSpPr/>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a cada región quítale los espacios de los extremos y guarda el resultado en la misma columna.</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3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¿De cuántas formas viene escrita cada región?</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y mira cómo baja el número de formas distintas después de cada arreglo.</a:t>
            </a:r>
            <a:endParaRPr lang="en-US" sz="1400" dirty="0"/>
          </a:p>
        </p:txBody>
      </p:sp>
      <p:sp>
        <p:nvSpPr>
          <p:cNvPr id="6" name="Shape 4"/>
          <p:cNvSpPr/>
          <p:nvPr/>
        </p:nvSpPr>
        <p:spPr>
          <a:xfrm>
            <a:off x="548640" y="1481328"/>
            <a:ext cx="11091672" cy="2379726"/>
          </a:xfrm>
          <a:prstGeom prst="roundRect">
            <a:avLst>
              <a:gd name="adj" fmla="val 2305"/>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p:nvPr/>
        </p:nvSpPr>
        <p:spPr>
          <a:xfrm>
            <a:off x="1325880" y="1600200"/>
            <a:ext cx="10085832" cy="2187702"/>
          </a:xfrm>
          <a:prstGeom prst="rect">
            <a:avLst/>
          </a:prstGeom>
          <a:noFill/>
          <a:ln/>
        </p:spPr>
        <p:txBody>
          <a:bodyPr wrap="square" lIns="0" tIns="0" rIns="0" bIns="0" rtlCol="0" anchor="t"/>
          <a:lstStyle/>
          <a:p>
            <a:pPr indent="0" marL="0">
              <a:buNone/>
            </a:pPr>
            <a:r>
              <a:rPr lang="en-US" sz="1200" dirty="0">
                <a:solidFill>
                  <a:srgbClr val="188038"/>
                </a:solidFill>
                <a:latin typeface="Courier New" pitchFamily="34" charset="0"/>
                <a:ea typeface="Courier New" pitchFamily="34" charset="-122"/>
                <a:cs typeface="Courier New" pitchFamily="34" charset="-120"/>
              </a:rPr>
              <a:t># Paso 3</a:t>
            </a:r>
            <a:endParaRPr lang="en-US" sz="1200" dirty="0"/>
          </a:p>
          <a:p>
            <a:pPr indent="0" marL="0">
              <a:buNone/>
            </a:pPr>
            <a:r>
              <a:rPr lang="en-US" sz="1200" dirty="0">
                <a:solidFill>
                  <a:srgbClr val="188038"/>
                </a:solidFill>
                <a:latin typeface="Courier New" pitchFamily="34" charset="0"/>
                <a:ea typeface="Courier New" pitchFamily="34" charset="-122"/>
                <a:cs typeface="Courier New" pitchFamily="34" charset="-120"/>
              </a:rPr>
              <a:t># nunique cuenta cuántos valores distintos tiene una columna.</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print(</a:t>
            </a:r>
            <a:pPr indent="0" marL="0">
              <a:buNone/>
            </a:pPr>
            <a:r>
              <a:rPr lang="en-US" sz="1200" dirty="0">
                <a:solidFill>
                  <a:srgbClr val="A31515"/>
                </a:solidFill>
                <a:latin typeface="Courier New" pitchFamily="34" charset="0"/>
                <a:ea typeface="Courier New" pitchFamily="34" charset="-122"/>
                <a:cs typeface="Courier New" pitchFamily="34" charset="-120"/>
              </a:rPr>
              <a:t>"Formas distintas en el archivo   "</a:t>
            </a:r>
            <a:pPr indent="0" marL="0">
              <a:buNone/>
            </a:pPr>
            <a:r>
              <a:rPr lang="en-US" sz="1200" dirty="0">
                <a:solidFill>
                  <a:srgbClr val="202124"/>
                </a:solidFill>
                <a:latin typeface="Courier New" pitchFamily="34" charset="0"/>
                <a:ea typeface="Courier New" pitchFamily="34" charset="-122"/>
                <a:cs typeface="Courier New" pitchFamily="34" charset="-120"/>
              </a:rPr>
              <a:t>, sucia[</a:t>
            </a:r>
            <a:pPr indent="0" marL="0">
              <a:buNone/>
            </a:pPr>
            <a:r>
              <a:rPr lang="en-US" sz="1200" dirty="0">
                <a:solidFill>
                  <a:srgbClr val="A31515"/>
                </a:solidFill>
                <a:latin typeface="Courier New" pitchFamily="34" charset="0"/>
                <a:ea typeface="Courier New" pitchFamily="34" charset="-122"/>
                <a:cs typeface="Courier New" pitchFamily="34" charset="-120"/>
              </a:rPr>
              <a:t>"region"</a:t>
            </a:r>
            <a:pPr indent="0" marL="0">
              <a:buNone/>
            </a:pPr>
            <a:r>
              <a:rPr lang="en-US" sz="1200" dirty="0">
                <a:solidFill>
                  <a:srgbClr val="202124"/>
                </a:solidFill>
                <a:latin typeface="Courier New" pitchFamily="34" charset="0"/>
                <a:ea typeface="Courier New" pitchFamily="34" charset="-122"/>
                <a:cs typeface="Courier New" pitchFamily="34" charset="-120"/>
              </a:rPr>
              <a:t>].nunique())</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188038"/>
                </a:solidFill>
                <a:latin typeface="Courier New" pitchFamily="34" charset="0"/>
                <a:ea typeface="Courier New" pitchFamily="34" charset="-122"/>
                <a:cs typeface="Courier New" pitchFamily="34" charset="-120"/>
              </a:rPr>
              <a:t># strip quita los espacios del comienzo y del final.</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limpia[</a:t>
            </a:r>
            <a:pPr indent="0" marL="0">
              <a:buNone/>
            </a:pPr>
            <a:r>
              <a:rPr lang="en-US" sz="1200" dirty="0">
                <a:solidFill>
                  <a:srgbClr val="A31515"/>
                </a:solidFill>
                <a:latin typeface="Courier New" pitchFamily="34" charset="0"/>
                <a:ea typeface="Courier New" pitchFamily="34" charset="-122"/>
                <a:cs typeface="Courier New" pitchFamily="34" charset="-120"/>
              </a:rPr>
              <a:t>"region"</a:t>
            </a:r>
            <a:pPr indent="0" marL="0">
              <a:buNone/>
            </a:pPr>
            <a:r>
              <a:rPr lang="en-US" sz="1200" dirty="0">
                <a:solidFill>
                  <a:srgbClr val="202124"/>
                </a:solidFill>
                <a:latin typeface="Courier New" pitchFamily="34" charset="0"/>
                <a:ea typeface="Courier New" pitchFamily="34" charset="-122"/>
                <a:cs typeface="Courier New" pitchFamily="34" charset="-120"/>
              </a:rPr>
              <a:t>] = limpia[</a:t>
            </a:r>
            <a:pPr indent="0" marL="0">
              <a:buNone/>
            </a:pPr>
            <a:r>
              <a:rPr lang="en-US" sz="1200" dirty="0">
                <a:solidFill>
                  <a:srgbClr val="A31515"/>
                </a:solidFill>
                <a:latin typeface="Courier New" pitchFamily="34" charset="0"/>
                <a:ea typeface="Courier New" pitchFamily="34" charset="-122"/>
                <a:cs typeface="Courier New" pitchFamily="34" charset="-120"/>
              </a:rPr>
              <a:t>"region"</a:t>
            </a:r>
            <a:pPr indent="0" marL="0">
              <a:buNone/>
            </a:pPr>
            <a:r>
              <a:rPr lang="en-US" sz="1200" dirty="0">
                <a:solidFill>
                  <a:srgbClr val="202124"/>
                </a:solidFill>
                <a:latin typeface="Courier New" pitchFamily="34" charset="0"/>
                <a:ea typeface="Courier New" pitchFamily="34" charset="-122"/>
                <a:cs typeface="Courier New" pitchFamily="34" charset="-120"/>
              </a:rPr>
              <a:t>].str.strip()</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print(</a:t>
            </a:r>
            <a:pPr indent="0" marL="0">
              <a:buNone/>
            </a:pPr>
            <a:r>
              <a:rPr lang="en-US" sz="1200" dirty="0">
                <a:solidFill>
                  <a:srgbClr val="A31515"/>
                </a:solidFill>
                <a:latin typeface="Courier New" pitchFamily="34" charset="0"/>
                <a:ea typeface="Courier New" pitchFamily="34" charset="-122"/>
                <a:cs typeface="Courier New" pitchFamily="34" charset="-120"/>
              </a:rPr>
              <a:t>"Después de quitar los espacios   "</a:t>
            </a:r>
            <a:pPr indent="0" marL="0">
              <a:buNone/>
            </a:pPr>
            <a:r>
              <a:rPr lang="en-US" sz="1200" dirty="0">
                <a:solidFill>
                  <a:srgbClr val="202124"/>
                </a:solidFill>
                <a:latin typeface="Courier New" pitchFamily="34" charset="0"/>
                <a:ea typeface="Courier New" pitchFamily="34" charset="-122"/>
                <a:cs typeface="Courier New" pitchFamily="34" charset="-120"/>
              </a:rPr>
              <a:t>, limpia[</a:t>
            </a:r>
            <a:pPr indent="0" marL="0">
              <a:buNone/>
            </a:pPr>
            <a:r>
              <a:rPr lang="en-US" sz="1200" dirty="0">
                <a:solidFill>
                  <a:srgbClr val="A31515"/>
                </a:solidFill>
                <a:latin typeface="Courier New" pitchFamily="34" charset="0"/>
                <a:ea typeface="Courier New" pitchFamily="34" charset="-122"/>
                <a:cs typeface="Courier New" pitchFamily="34" charset="-120"/>
              </a:rPr>
              <a:t>"region"</a:t>
            </a:r>
            <a:pPr indent="0" marL="0">
              <a:buNone/>
            </a:pPr>
            <a:r>
              <a:rPr lang="en-US" sz="1200" dirty="0">
                <a:solidFill>
                  <a:srgbClr val="202124"/>
                </a:solidFill>
                <a:latin typeface="Courier New" pitchFamily="34" charset="0"/>
                <a:ea typeface="Courier New" pitchFamily="34" charset="-122"/>
                <a:cs typeface="Courier New" pitchFamily="34" charset="-120"/>
              </a:rPr>
              <a:t>].nunique())</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188038"/>
                </a:solidFill>
                <a:latin typeface="Courier New" pitchFamily="34" charset="0"/>
                <a:ea typeface="Courier New" pitchFamily="34" charset="-122"/>
                <a:cs typeface="Courier New" pitchFamily="34" charset="-120"/>
              </a:rPr>
              <a:t># title deja la primera letra de cada palabra en mayúscula y el resto en minúscula.</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limpia[</a:t>
            </a:r>
            <a:pPr indent="0" marL="0">
              <a:buNone/>
            </a:pPr>
            <a:r>
              <a:rPr lang="en-US" sz="1200" dirty="0">
                <a:solidFill>
                  <a:srgbClr val="A31515"/>
                </a:solidFill>
                <a:latin typeface="Courier New" pitchFamily="34" charset="0"/>
                <a:ea typeface="Courier New" pitchFamily="34" charset="-122"/>
                <a:cs typeface="Courier New" pitchFamily="34" charset="-120"/>
              </a:rPr>
              <a:t>"region"</a:t>
            </a:r>
            <a:pPr indent="0" marL="0">
              <a:buNone/>
            </a:pPr>
            <a:r>
              <a:rPr lang="en-US" sz="1200" dirty="0">
                <a:solidFill>
                  <a:srgbClr val="202124"/>
                </a:solidFill>
                <a:latin typeface="Courier New" pitchFamily="34" charset="0"/>
                <a:ea typeface="Courier New" pitchFamily="34" charset="-122"/>
                <a:cs typeface="Courier New" pitchFamily="34" charset="-120"/>
              </a:rPr>
              <a:t>] = limpia[</a:t>
            </a:r>
            <a:pPr indent="0" marL="0">
              <a:buNone/>
            </a:pPr>
            <a:r>
              <a:rPr lang="en-US" sz="1200" dirty="0">
                <a:solidFill>
                  <a:srgbClr val="A31515"/>
                </a:solidFill>
                <a:latin typeface="Courier New" pitchFamily="34" charset="0"/>
                <a:ea typeface="Courier New" pitchFamily="34" charset="-122"/>
                <a:cs typeface="Courier New" pitchFamily="34" charset="-120"/>
              </a:rPr>
              <a:t>"region"</a:t>
            </a:r>
            <a:pPr indent="0" marL="0">
              <a:buNone/>
            </a:pPr>
            <a:r>
              <a:rPr lang="en-US" sz="1200" dirty="0">
                <a:solidFill>
                  <a:srgbClr val="202124"/>
                </a:solidFill>
                <a:latin typeface="Courier New" pitchFamily="34" charset="0"/>
                <a:ea typeface="Courier New" pitchFamily="34" charset="-122"/>
                <a:cs typeface="Courier New" pitchFamily="34" charset="-120"/>
              </a:rPr>
              <a:t>].str.title()</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print(</a:t>
            </a:r>
            <a:pPr indent="0" marL="0">
              <a:buNone/>
            </a:pPr>
            <a:r>
              <a:rPr lang="en-US" sz="1200" dirty="0">
                <a:solidFill>
                  <a:srgbClr val="A31515"/>
                </a:solidFill>
                <a:latin typeface="Courier New" pitchFamily="34" charset="0"/>
                <a:ea typeface="Courier New" pitchFamily="34" charset="-122"/>
                <a:cs typeface="Courier New" pitchFamily="34" charset="-120"/>
              </a:rPr>
              <a:t>"Después de igualar las mayúsculas"</a:t>
            </a:r>
            <a:pPr indent="0" marL="0">
              <a:buNone/>
            </a:pPr>
            <a:r>
              <a:rPr lang="en-US" sz="1200" dirty="0">
                <a:solidFill>
                  <a:srgbClr val="202124"/>
                </a:solidFill>
                <a:latin typeface="Courier New" pitchFamily="34" charset="0"/>
                <a:ea typeface="Courier New" pitchFamily="34" charset="-122"/>
                <a:cs typeface="Courier New" pitchFamily="34" charset="-120"/>
              </a:rPr>
              <a:t>, limpia[</a:t>
            </a:r>
            <a:pPr indent="0" marL="0">
              <a:buNone/>
            </a:pPr>
            <a:r>
              <a:rPr lang="en-US" sz="1200" dirty="0">
                <a:solidFill>
                  <a:srgbClr val="A31515"/>
                </a:solidFill>
                <a:latin typeface="Courier New" pitchFamily="34" charset="0"/>
                <a:ea typeface="Courier New" pitchFamily="34" charset="-122"/>
                <a:cs typeface="Courier New" pitchFamily="34" charset="-120"/>
              </a:rPr>
              <a:t>"region"</a:t>
            </a:r>
            <a:pPr indent="0" marL="0">
              <a:buNone/>
            </a:pPr>
            <a:r>
              <a:rPr lang="en-US" sz="1200" dirty="0">
                <a:solidFill>
                  <a:srgbClr val="202124"/>
                </a:solidFill>
                <a:latin typeface="Courier New" pitchFamily="34" charset="0"/>
                <a:ea typeface="Courier New" pitchFamily="34" charset="-122"/>
                <a:cs typeface="Courier New" pitchFamily="34" charset="-120"/>
              </a:rPr>
              <a:t>].nunique())</a:t>
            </a:r>
            <a:endParaRPr lang="en-US" sz="1200" dirty="0"/>
          </a:p>
        </p:txBody>
      </p:sp>
      <p:sp>
        <p:nvSpPr>
          <p:cNvPr id="10" name="Shape 8"/>
          <p:cNvSpPr/>
          <p:nvPr/>
        </p:nvSpPr>
        <p:spPr>
          <a:xfrm>
            <a:off x="1325880" y="3970782"/>
            <a:ext cx="10314432" cy="764438"/>
          </a:xfrm>
          <a:prstGeom prst="rect">
            <a:avLst/>
          </a:prstGeom>
          <a:solidFill>
            <a:srgbClr val="FFFFFF"/>
          </a:solidFill>
          <a:ln w="12700">
            <a:solidFill>
              <a:srgbClr val="DADCE0"/>
            </a:solidFill>
            <a:prstDash val="solid"/>
          </a:ln>
        </p:spPr>
      </p:sp>
      <p:sp>
        <p:nvSpPr>
          <p:cNvPr id="11" name="Text 9"/>
          <p:cNvSpPr/>
          <p:nvPr/>
        </p:nvSpPr>
        <p:spPr>
          <a:xfrm>
            <a:off x="1463040" y="4043934"/>
            <a:ext cx="10085832" cy="636422"/>
          </a:xfrm>
          <a:prstGeom prst="rect">
            <a:avLst/>
          </a:prstGeom>
          <a:noFill/>
          <a:ln/>
        </p:spPr>
        <p:txBody>
          <a:bodyPr wrap="square" lIns="0" tIns="0" rIns="0" bIns="0" rtlCol="0" anchor="t"/>
          <a:lstStyle/>
          <a:p>
            <a:pPr indent="0" marL="0">
              <a:buNone/>
            </a:pPr>
            <a:r>
              <a:rPr lang="en-US" sz="1200" dirty="0">
                <a:solidFill>
                  <a:srgbClr val="202124"/>
                </a:solidFill>
                <a:latin typeface="Courier New" pitchFamily="34" charset="0"/>
                <a:ea typeface="Courier New" pitchFamily="34" charset="-122"/>
                <a:cs typeface="Courier New" pitchFamily="34" charset="-120"/>
              </a:rPr>
              <a:t>Formas distintas en el archivo    49</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Después de quitar los espacios    21</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Después de igualar las mayúsculas 7</a:t>
            </a:r>
            <a:endParaRPr lang="en-US" sz="1200" dirty="0"/>
          </a:p>
        </p:txBody>
      </p:sp>
      <p:sp>
        <p:nvSpPr>
          <p:cNvPr id="12" name="Text 10"/>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3" name="Shape 11"/>
          <p:cNvSpPr/>
          <p:nvPr/>
        </p:nvSpPr>
        <p:spPr>
          <a:xfrm>
            <a:off x="548640" y="6062472"/>
            <a:ext cx="1714500" cy="512064"/>
          </a:xfrm>
          <a:prstGeom prst="roundRect">
            <a:avLst>
              <a:gd name="adj" fmla="val 12500"/>
            </a:avLst>
          </a:prstGeom>
          <a:solidFill>
            <a:srgbClr val="FEF3D6"/>
          </a:solidFill>
          <a:ln w="25400">
            <a:solidFill>
              <a:srgbClr val="F9AB00"/>
            </a:solidFill>
            <a:prstDash val="solid"/>
          </a:ln>
        </p:spPr>
      </p:sp>
      <p:sp>
        <p:nvSpPr>
          <p:cNvPr id="14" name="Text 12"/>
          <p:cNvSpPr/>
          <p:nvPr/>
        </p:nvSpPr>
        <p:spPr>
          <a:xfrm>
            <a:off x="640080"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limpia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61508 × 4</a:t>
            </a:r>
            <a:endParaRPr lang="en-US" sz="1200" dirty="0"/>
          </a:p>
        </p:txBody>
      </p:sp>
      <p:sp>
        <p:nvSpPr>
          <p:cNvPr id="15" name="Shape 13"/>
          <p:cNvSpPr/>
          <p:nvPr/>
        </p:nvSpPr>
        <p:spPr>
          <a:xfrm>
            <a:off x="2400300" y="6062472"/>
            <a:ext cx="1714500" cy="512064"/>
          </a:xfrm>
          <a:prstGeom prst="roundRect">
            <a:avLst>
              <a:gd name="adj" fmla="val 12500"/>
            </a:avLst>
          </a:prstGeom>
          <a:solidFill>
            <a:srgbClr val="E8F0FE"/>
          </a:solidFill>
          <a:ln w="28575">
            <a:solidFill>
              <a:srgbClr val="1A73E8"/>
            </a:solidFill>
            <a:prstDash val="solid"/>
          </a:ln>
        </p:spPr>
      </p:sp>
      <p:sp>
        <p:nvSpPr>
          <p:cNvPr id="16" name="Text 14"/>
          <p:cNvSpPr/>
          <p:nvPr/>
        </p:nvSpPr>
        <p:spPr>
          <a:xfrm>
            <a:off x="2491740"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sucia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61508 × 4</a:t>
            </a:r>
            <a:endParaRPr lang="en-US" sz="1200" dirty="0"/>
          </a:p>
        </p:txBody>
      </p:sp>
      <p:sp>
        <p:nvSpPr>
          <p:cNvPr id="17" name="Shape 15"/>
          <p:cNvSpPr/>
          <p:nvPr/>
        </p:nvSpPr>
        <p:spPr>
          <a:xfrm>
            <a:off x="4251960" y="6062472"/>
            <a:ext cx="1149401" cy="512064"/>
          </a:xfrm>
          <a:prstGeom prst="roundRect">
            <a:avLst>
              <a:gd name="adj" fmla="val 12500"/>
            </a:avLst>
          </a:prstGeom>
          <a:solidFill>
            <a:srgbClr val="F1F3F4"/>
          </a:solidFill>
          <a:ln w="12700">
            <a:solidFill>
              <a:srgbClr val="DADCE0"/>
            </a:solidFill>
            <a:prstDash val="solid"/>
          </a:ln>
        </p:spPr>
      </p:sp>
      <p:sp>
        <p:nvSpPr>
          <p:cNvPr id="18" name="Text 16"/>
          <p:cNvSpPr/>
          <p:nvPr/>
        </p:nvSpPr>
        <p:spPr>
          <a:xfrm>
            <a:off x="4343400" y="6071616"/>
            <a:ext cx="1012241"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esperadas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61488</a:t>
            </a:r>
            <a:endParaRPr lang="en-US" sz="1200" dirty="0"/>
          </a:p>
        </p:txBody>
      </p:sp>
      <p:sp>
        <p:nvSpPr>
          <p:cNvPr id="19" name="Shape 17"/>
          <p:cNvSpPr/>
          <p:nvPr/>
        </p:nvSpPr>
        <p:spPr>
          <a:xfrm>
            <a:off x="5538521" y="6062472"/>
            <a:ext cx="1143000" cy="512064"/>
          </a:xfrm>
          <a:prstGeom prst="roundRect">
            <a:avLst>
              <a:gd name="adj" fmla="val 12500"/>
            </a:avLst>
          </a:prstGeom>
          <a:solidFill>
            <a:srgbClr val="F1F3F4"/>
          </a:solidFill>
          <a:ln w="12700">
            <a:solidFill>
              <a:srgbClr val="DADCE0"/>
            </a:solidFill>
            <a:prstDash val="solid"/>
          </a:ln>
        </p:spPr>
      </p:sp>
      <p:sp>
        <p:nvSpPr>
          <p:cNvPr id="20" name="Text 18"/>
          <p:cNvSpPr/>
          <p:nvPr/>
        </p:nvSpPr>
        <p:spPr>
          <a:xfrm>
            <a:off x="5629961"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21" name="Shape 19"/>
          <p:cNvSpPr/>
          <p:nvPr/>
        </p:nvSpPr>
        <p:spPr>
          <a:xfrm>
            <a:off x="6818681" y="6062472"/>
            <a:ext cx="2750515" cy="512064"/>
          </a:xfrm>
          <a:prstGeom prst="roundRect">
            <a:avLst>
              <a:gd name="adj" fmla="val 12500"/>
            </a:avLst>
          </a:prstGeom>
          <a:solidFill>
            <a:srgbClr val="F1F3F4"/>
          </a:solidFill>
          <a:ln w="12700">
            <a:solidFill>
              <a:srgbClr val="DADCE0"/>
            </a:solidFill>
            <a:prstDash val="solid"/>
          </a:ln>
        </p:spPr>
      </p:sp>
      <p:sp>
        <p:nvSpPr>
          <p:cNvPr id="22" name="Text 20"/>
          <p:cNvSpPr/>
          <p:nvPr/>
        </p:nvSpPr>
        <p:spPr>
          <a:xfrm>
            <a:off x="6910121" y="6071616"/>
            <a:ext cx="2613355"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
        <p:nvSpPr>
          <p:cNvPr id="23" name="Text 21"/>
          <p:cNvSpPr/>
          <p:nvPr/>
        </p:nvSpPr>
        <p:spPr>
          <a:xfrm>
            <a:off x="548640" y="6592824"/>
            <a:ext cx="11091672" cy="219456"/>
          </a:xfrm>
          <a:prstGeom prst="rect">
            <a:avLst/>
          </a:prstGeom>
          <a:noFill/>
          <a:ln/>
        </p:spPr>
        <p:txBody>
          <a:bodyPr wrap="square" lIns="0" tIns="0" rIns="0" bIns="0" rtlCol="0" anchor="ctr"/>
          <a:lstStyle/>
          <a:p>
            <a:pPr indent="0" marL="0">
              <a:buNone/>
            </a:pPr>
            <a:r>
              <a:rPr lang="en-US" sz="1300" dirty="0">
                <a:solidFill>
                  <a:srgbClr val="0B3D62"/>
                </a:solidFill>
                <a:latin typeface="Calibri" pitchFamily="34" charset="0"/>
                <a:ea typeface="Calibri" pitchFamily="34" charset="-122"/>
                <a:cs typeface="Calibri" pitchFamily="34" charset="-120"/>
              </a:rPr>
              <a:t>De 49 formas distintas a 21 sin espacios, y a 7 con las mayúsculas iguales.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3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¿De cuántas formas viene escrita cada región?</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hay que llevarse de este paso.</a:t>
            </a:r>
            <a:endParaRPr lang="en-US" sz="1400" dirty="0"/>
          </a:p>
        </p:txBody>
      </p:sp>
      <p:sp>
        <p:nvSpPr>
          <p:cNvPr id="6" name="Shape 4"/>
          <p:cNvSpPr/>
          <p:nvPr/>
        </p:nvSpPr>
        <p:spPr>
          <a:xfrm>
            <a:off x="548640" y="1828800"/>
            <a:ext cx="11091672" cy="2377440"/>
          </a:xfrm>
          <a:prstGeom prst="roundRect">
            <a:avLst>
              <a:gd name="adj" fmla="val 3846"/>
            </a:avLst>
          </a:prstGeom>
          <a:solidFill>
            <a:srgbClr val="FFF8D6"/>
          </a:solidFill>
          <a:ln w="12700">
            <a:solidFill>
              <a:srgbClr val="FFF8D6"/>
            </a:solidFill>
            <a:prstDash val="solid"/>
          </a:ln>
        </p:spPr>
      </p:sp>
      <p:sp>
        <p:nvSpPr>
          <p:cNvPr id="7" name="Text 5"/>
          <p:cNvSpPr/>
          <p:nvPr/>
        </p:nvSpPr>
        <p:spPr>
          <a:xfrm>
            <a:off x="1005840" y="2057400"/>
            <a:ext cx="10177272" cy="1005840"/>
          </a:xfrm>
          <a:prstGeom prst="rect">
            <a:avLst/>
          </a:prstGeom>
          <a:noFill/>
          <a:ln/>
        </p:spPr>
        <p:txBody>
          <a:bodyPr wrap="square" lIns="0" tIns="0" rIns="0" bIns="0" rtlCol="0" anchor="t"/>
          <a:lstStyle/>
          <a:p>
            <a:pPr indent="0" marL="0">
              <a:buNone/>
            </a:pPr>
            <a:r>
              <a:rPr lang="en-US" sz="2800" b="1" dirty="0">
                <a:solidFill>
                  <a:srgbClr val="8A6D00"/>
                </a:solidFill>
                <a:latin typeface="Calibri" pitchFamily="34" charset="0"/>
                <a:ea typeface="Calibri" pitchFamily="34" charset="-122"/>
                <a:cs typeface="Calibri" pitchFamily="34" charset="-120"/>
              </a:rPr>
              <a:t>Para Python, una letra o un espacio de diferencia es otra región.</a:t>
            </a:r>
            <a:endParaRPr lang="en-US" sz="2800" dirty="0"/>
          </a:p>
        </p:txBody>
      </p:sp>
      <p:sp>
        <p:nvSpPr>
          <p:cNvPr id="8" name="Text 6"/>
          <p:cNvSpPr/>
          <p:nvPr/>
        </p:nvSpPr>
        <p:spPr>
          <a:xfrm>
            <a:off x="1005840" y="3154680"/>
            <a:ext cx="10177272" cy="914400"/>
          </a:xfrm>
          <a:prstGeom prst="rect">
            <a:avLst/>
          </a:prstGeom>
          <a:noFill/>
          <a:ln/>
        </p:spPr>
        <p:txBody>
          <a:bodyPr wrap="square" lIns="0" tIns="0" rIns="0" bIns="0" rtlCol="0" anchor="t"/>
          <a:lstStyle/>
          <a:p>
            <a:pPr indent="0" marL="0">
              <a:buNone/>
            </a:pPr>
            <a:r>
              <a:rPr lang="en-US" sz="2200" dirty="0">
                <a:solidFill>
                  <a:srgbClr val="202124"/>
                </a:solidFill>
                <a:latin typeface="Calibri" pitchFamily="34" charset="0"/>
                <a:ea typeface="Calibri" pitchFamily="34" charset="-122"/>
                <a:cs typeface="Calibri" pitchFamily="34" charset="-120"/>
              </a:rPr>
              <a:t>Contar los valores distintos muestra el problema, y strip y title lo arreglan.</a:t>
            </a:r>
            <a:endParaRPr lang="en-US" sz="2200" dirty="0"/>
          </a:p>
        </p:txBody>
      </p:sp>
      <p:sp>
        <p:nvSpPr>
          <p:cNvPr id="9" name="Text 7"/>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0" name="Shape 8"/>
          <p:cNvSpPr/>
          <p:nvPr/>
        </p:nvSpPr>
        <p:spPr>
          <a:xfrm>
            <a:off x="548640" y="6062472"/>
            <a:ext cx="1714500" cy="512064"/>
          </a:xfrm>
          <a:prstGeom prst="roundRect">
            <a:avLst>
              <a:gd name="adj" fmla="val 12500"/>
            </a:avLst>
          </a:prstGeom>
          <a:solidFill>
            <a:srgbClr val="FEF3D6"/>
          </a:solidFill>
          <a:ln w="25400">
            <a:solidFill>
              <a:srgbClr val="F9AB00"/>
            </a:solidFill>
            <a:prstDash val="solid"/>
          </a:ln>
        </p:spPr>
      </p:sp>
      <p:sp>
        <p:nvSpPr>
          <p:cNvPr id="11" name="Text 9"/>
          <p:cNvSpPr/>
          <p:nvPr/>
        </p:nvSpPr>
        <p:spPr>
          <a:xfrm>
            <a:off x="640080"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limpia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61508 × 4</a:t>
            </a:r>
            <a:endParaRPr lang="en-US" sz="1200" dirty="0"/>
          </a:p>
        </p:txBody>
      </p:sp>
      <p:sp>
        <p:nvSpPr>
          <p:cNvPr id="12" name="Shape 10"/>
          <p:cNvSpPr/>
          <p:nvPr/>
        </p:nvSpPr>
        <p:spPr>
          <a:xfrm>
            <a:off x="2400300" y="6062472"/>
            <a:ext cx="1714500" cy="512064"/>
          </a:xfrm>
          <a:prstGeom prst="roundRect">
            <a:avLst>
              <a:gd name="adj" fmla="val 12500"/>
            </a:avLst>
          </a:prstGeom>
          <a:solidFill>
            <a:srgbClr val="E8F0FE"/>
          </a:solidFill>
          <a:ln w="28575">
            <a:solidFill>
              <a:srgbClr val="1A73E8"/>
            </a:solidFill>
            <a:prstDash val="solid"/>
          </a:ln>
        </p:spPr>
      </p:sp>
      <p:sp>
        <p:nvSpPr>
          <p:cNvPr id="13" name="Text 11"/>
          <p:cNvSpPr/>
          <p:nvPr/>
        </p:nvSpPr>
        <p:spPr>
          <a:xfrm>
            <a:off x="2491740"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sucia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61508 × 4</a:t>
            </a:r>
            <a:endParaRPr lang="en-US" sz="1200" dirty="0"/>
          </a:p>
        </p:txBody>
      </p:sp>
      <p:sp>
        <p:nvSpPr>
          <p:cNvPr id="14" name="Shape 12"/>
          <p:cNvSpPr/>
          <p:nvPr/>
        </p:nvSpPr>
        <p:spPr>
          <a:xfrm>
            <a:off x="4251960" y="6062472"/>
            <a:ext cx="1149401" cy="512064"/>
          </a:xfrm>
          <a:prstGeom prst="roundRect">
            <a:avLst>
              <a:gd name="adj" fmla="val 12500"/>
            </a:avLst>
          </a:prstGeom>
          <a:solidFill>
            <a:srgbClr val="F1F3F4"/>
          </a:solidFill>
          <a:ln w="12700">
            <a:solidFill>
              <a:srgbClr val="DADCE0"/>
            </a:solidFill>
            <a:prstDash val="solid"/>
          </a:ln>
        </p:spPr>
      </p:sp>
      <p:sp>
        <p:nvSpPr>
          <p:cNvPr id="15" name="Text 13"/>
          <p:cNvSpPr/>
          <p:nvPr/>
        </p:nvSpPr>
        <p:spPr>
          <a:xfrm>
            <a:off x="4343400" y="6071616"/>
            <a:ext cx="1012241"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esperadas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61488</a:t>
            </a:r>
            <a:endParaRPr lang="en-US" sz="1200" dirty="0"/>
          </a:p>
        </p:txBody>
      </p:sp>
      <p:sp>
        <p:nvSpPr>
          <p:cNvPr id="16" name="Shape 14"/>
          <p:cNvSpPr/>
          <p:nvPr/>
        </p:nvSpPr>
        <p:spPr>
          <a:xfrm>
            <a:off x="5538521" y="6062472"/>
            <a:ext cx="1143000" cy="512064"/>
          </a:xfrm>
          <a:prstGeom prst="roundRect">
            <a:avLst>
              <a:gd name="adj" fmla="val 12500"/>
            </a:avLst>
          </a:prstGeom>
          <a:solidFill>
            <a:srgbClr val="F1F3F4"/>
          </a:solidFill>
          <a:ln w="12700">
            <a:solidFill>
              <a:srgbClr val="DADCE0"/>
            </a:solidFill>
            <a:prstDash val="solid"/>
          </a:ln>
        </p:spPr>
      </p:sp>
      <p:sp>
        <p:nvSpPr>
          <p:cNvPr id="17" name="Text 15"/>
          <p:cNvSpPr/>
          <p:nvPr/>
        </p:nvSpPr>
        <p:spPr>
          <a:xfrm>
            <a:off x="5629961"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18" name="Shape 16"/>
          <p:cNvSpPr/>
          <p:nvPr/>
        </p:nvSpPr>
        <p:spPr>
          <a:xfrm>
            <a:off x="6818681" y="6062472"/>
            <a:ext cx="2750515" cy="512064"/>
          </a:xfrm>
          <a:prstGeom prst="roundRect">
            <a:avLst>
              <a:gd name="adj" fmla="val 12500"/>
            </a:avLst>
          </a:prstGeom>
          <a:solidFill>
            <a:srgbClr val="F1F3F4"/>
          </a:solidFill>
          <a:ln w="12700">
            <a:solidFill>
              <a:srgbClr val="DADCE0"/>
            </a:solidFill>
            <a:prstDash val="solid"/>
          </a:ln>
        </p:spPr>
      </p:sp>
      <p:sp>
        <p:nvSpPr>
          <p:cNvPr id="19" name="Text 17"/>
          <p:cNvSpPr/>
          <p:nvPr/>
        </p:nvSpPr>
        <p:spPr>
          <a:xfrm>
            <a:off x="6910121" y="6071616"/>
            <a:ext cx="2613355"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¿Hay filas repetidas?</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qué marca duplicated y qué quita drop_duplicates.</a:t>
            </a:r>
            <a:endParaRPr lang="en-US" sz="1400" dirty="0"/>
          </a:p>
        </p:txBody>
      </p:sp>
      <p:pic>
        <p:nvPicPr>
          <p:cNvPr id="6" name="Image 0" descr="../work35/modulos/modulo03/img/lab03_paso5_repetidas.png">    </p:cNvPr>
          <p:cNvPicPr>
            <a:picLocks noChangeAspect="1"/>
          </p:cNvPicPr>
          <p:nvPr/>
        </p:nvPicPr>
        <p:blipFill>
          <a:blip r:embed="rId1"/>
          <a:stretch>
            <a:fillRect/>
          </a:stretch>
        </p:blipFill>
        <p:spPr>
          <a:xfrm>
            <a:off x="548640" y="1463040"/>
            <a:ext cx="11091672" cy="408609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¿Hay filas repetidas?</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a:t>
            </a:r>
            <a:endParaRPr lang="en-US" sz="1400" dirty="0"/>
          </a:p>
        </p:txBody>
      </p:sp>
      <p:sp>
        <p:nvSpPr>
          <p:cNvPr id="6" name="Shape 4"/>
          <p:cNvSpPr/>
          <p:nvPr/>
        </p:nvSpPr>
        <p:spPr>
          <a:xfrm>
            <a:off x="548640" y="1481328"/>
            <a:ext cx="11091672" cy="1915668"/>
          </a:xfrm>
          <a:prstGeom prst="roundRect">
            <a:avLst>
              <a:gd name="adj" fmla="val 2864"/>
            </a:avLst>
          </a:prstGeom>
          <a:solidFill>
            <a:srgbClr val="F8F9FA"/>
          </a:solidFill>
          <a:ln w="25400">
            <a:solidFill>
              <a:srgbClr val="F9AB00"/>
            </a:solidFill>
            <a:prstDash val="solid"/>
          </a:ln>
        </p:spPr>
      </p:sp>
      <p:sp>
        <p:nvSpPr>
          <p:cNvPr id="7"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8"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9" name="Text 7"/>
          <p:cNvSpPr/>
          <p:nvPr/>
        </p:nvSpPr>
        <p:spPr>
          <a:xfrm>
            <a:off x="1325880" y="1600200"/>
            <a:ext cx="10085832" cy="1723644"/>
          </a:xfrm>
          <a:prstGeom prst="rect">
            <a:avLst/>
          </a:prstGeom>
          <a:noFill/>
          <a:ln/>
        </p:spPr>
        <p:txBody>
          <a:bodyPr wrap="square" lIns="0" tIns="0" rIns="0" bIns="0" rtlCol="0" anchor="t"/>
          <a:lstStyle/>
          <a:p>
            <a:pPr indent="0" marL="0">
              <a:buNone/>
            </a:pPr>
            <a:r>
              <a:rPr lang="en-US" sz="1300" dirty="0">
                <a:solidFill>
                  <a:srgbClr val="188038"/>
                </a:solidFill>
                <a:latin typeface="Courier New" pitchFamily="34" charset="0"/>
                <a:ea typeface="Courier New" pitchFamily="34" charset="-122"/>
                <a:cs typeface="Courier New" pitchFamily="34" charset="-120"/>
              </a:rPr>
              <a:t># Paso 4</a:t>
            </a:r>
            <a:endParaRPr lang="en-US" sz="1300" dirty="0"/>
          </a:p>
          <a:p>
            <a:pPr indent="0" marL="0">
              <a:buNone/>
            </a:pPr>
            <a:r>
              <a:rPr lang="en-US" sz="1300" dirty="0">
                <a:solidFill>
                  <a:srgbClr val="188038"/>
                </a:solidFill>
                <a:latin typeface="Courier New" pitchFamily="34" charset="0"/>
                <a:ea typeface="Courier New" pitchFamily="34" charset="-122"/>
                <a:cs typeface="Courier New" pitchFamily="34" charset="-120"/>
              </a:rPr>
              <a:t># duplicated marca cada fila idéntica a una que ya apareció antes.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"Filas repetidas "</a:t>
            </a:r>
            <a:pPr indent="0" marL="0">
              <a:buNone/>
            </a:pPr>
            <a:r>
              <a:rPr lang="en-US" sz="1300" dirty="0">
                <a:solidFill>
                  <a:srgbClr val="202124"/>
                </a:solidFill>
                <a:latin typeface="Courier New" pitchFamily="34" charset="0"/>
                <a:ea typeface="Courier New" pitchFamily="34" charset="-122"/>
                <a:cs typeface="Courier New" pitchFamily="34" charset="-120"/>
              </a:rPr>
              <a:t>, limpia.duplicated().sum())</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188038"/>
                </a:solidFill>
                <a:latin typeface="Courier New" pitchFamily="34" charset="0"/>
                <a:ea typeface="Courier New" pitchFamily="34" charset="-122"/>
                <a:cs typeface="Courier New" pitchFamily="34" charset="-120"/>
              </a:rPr>
              <a:t># drop_duplicates deja la primera y quita las copias.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sin_repetidas = limpia.drop_duplicates()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"Filas que quedan"</a:t>
            </a:r>
            <a:pPr indent="0" marL="0">
              <a:buNone/>
            </a:pPr>
            <a:r>
              <a:rPr lang="en-US" sz="1300" dirty="0">
                <a:solidFill>
                  <a:srgbClr val="202124"/>
                </a:solidFill>
                <a:latin typeface="Courier New" pitchFamily="34" charset="0"/>
                <a:ea typeface="Courier New" pitchFamily="34" charset="-122"/>
                <a:cs typeface="Courier New" pitchFamily="34" charset="-120"/>
              </a:rPr>
              <a:t>, len(sin_repetidas))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"Filas esperadas "</a:t>
            </a:r>
            <a:pPr indent="0" marL="0">
              <a:buNone/>
            </a:pPr>
            <a:r>
              <a:rPr lang="en-US" sz="1300" dirty="0">
                <a:solidFill>
                  <a:srgbClr val="202124"/>
                </a:solidFill>
                <a:latin typeface="Courier New" pitchFamily="34" charset="0"/>
                <a:ea typeface="Courier New" pitchFamily="34" charset="-122"/>
                <a:cs typeface="Courier New" pitchFamily="34" charset="-120"/>
              </a:rPr>
              <a:t>, esperadas)</a:t>
            </a:r>
            <a:endParaRPr lang="en-US" sz="1300" dirty="0"/>
          </a:p>
        </p:txBody>
      </p:sp>
      <p:sp>
        <p:nvSpPr>
          <p:cNvPr id="10" name="Text 8"/>
          <p:cNvSpPr/>
          <p:nvPr/>
        </p:nvSpPr>
        <p:spPr>
          <a:xfrm>
            <a:off x="1325880" y="3424428"/>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1" name="Text 9"/>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2" name="Shape 10"/>
          <p:cNvSpPr/>
          <p:nvPr/>
        </p:nvSpPr>
        <p:spPr>
          <a:xfrm>
            <a:off x="548640" y="6062472"/>
            <a:ext cx="1714500" cy="512064"/>
          </a:xfrm>
          <a:prstGeom prst="roundRect">
            <a:avLst>
              <a:gd name="adj" fmla="val 12500"/>
            </a:avLst>
          </a:prstGeom>
          <a:solidFill>
            <a:srgbClr val="F1F3F4"/>
          </a:solidFill>
          <a:ln w="12700">
            <a:solidFill>
              <a:srgbClr val="DADCE0"/>
            </a:solidFill>
            <a:prstDash val="solid"/>
          </a:ln>
        </p:spPr>
      </p:sp>
      <p:sp>
        <p:nvSpPr>
          <p:cNvPr id="13" name="Text 11"/>
          <p:cNvSpPr/>
          <p:nvPr/>
        </p:nvSpPr>
        <p:spPr>
          <a:xfrm>
            <a:off x="640080"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limpia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61508 × 4</a:t>
            </a:r>
            <a:endParaRPr lang="en-US" sz="1200" dirty="0"/>
          </a:p>
        </p:txBody>
      </p:sp>
      <p:sp>
        <p:nvSpPr>
          <p:cNvPr id="14" name="Shape 12"/>
          <p:cNvSpPr/>
          <p:nvPr/>
        </p:nvSpPr>
        <p:spPr>
          <a:xfrm>
            <a:off x="2400300" y="6062472"/>
            <a:ext cx="1149401" cy="512064"/>
          </a:xfrm>
          <a:prstGeom prst="roundRect">
            <a:avLst>
              <a:gd name="adj" fmla="val 12500"/>
            </a:avLst>
          </a:prstGeom>
          <a:solidFill>
            <a:srgbClr val="F1F3F4"/>
          </a:solidFill>
          <a:ln w="12700">
            <a:solidFill>
              <a:srgbClr val="DADCE0"/>
            </a:solidFill>
            <a:prstDash val="solid"/>
          </a:ln>
        </p:spPr>
      </p:sp>
      <p:sp>
        <p:nvSpPr>
          <p:cNvPr id="15" name="Text 13"/>
          <p:cNvSpPr/>
          <p:nvPr/>
        </p:nvSpPr>
        <p:spPr>
          <a:xfrm>
            <a:off x="2491740" y="6071616"/>
            <a:ext cx="1012241"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esperadas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61488</a:t>
            </a:r>
            <a:endParaRPr lang="en-US" sz="1200" dirty="0"/>
          </a:p>
        </p:txBody>
      </p:sp>
      <p:sp>
        <p:nvSpPr>
          <p:cNvPr id="16" name="Shape 14"/>
          <p:cNvSpPr/>
          <p:nvPr/>
        </p:nvSpPr>
        <p:spPr>
          <a:xfrm>
            <a:off x="3686861" y="6062472"/>
            <a:ext cx="1714500" cy="512064"/>
          </a:xfrm>
          <a:prstGeom prst="roundRect">
            <a:avLst>
              <a:gd name="adj" fmla="val 12500"/>
            </a:avLst>
          </a:prstGeom>
          <a:solidFill>
            <a:srgbClr val="F1F3F4"/>
          </a:solidFill>
          <a:ln w="12700">
            <a:solidFill>
              <a:srgbClr val="DADCE0"/>
            </a:solidFill>
            <a:prstDash val="solid"/>
          </a:ln>
        </p:spPr>
      </p:sp>
      <p:sp>
        <p:nvSpPr>
          <p:cNvPr id="17" name="Text 15"/>
          <p:cNvSpPr/>
          <p:nvPr/>
        </p:nvSpPr>
        <p:spPr>
          <a:xfrm>
            <a:off x="3778301"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sucia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61508 × 4</a:t>
            </a:r>
            <a:endParaRPr lang="en-US" sz="1200" dirty="0"/>
          </a:p>
        </p:txBody>
      </p:sp>
      <p:sp>
        <p:nvSpPr>
          <p:cNvPr id="18" name="Shape 16"/>
          <p:cNvSpPr/>
          <p:nvPr/>
        </p:nvSpPr>
        <p:spPr>
          <a:xfrm>
            <a:off x="5538521" y="6062472"/>
            <a:ext cx="1143000" cy="512064"/>
          </a:xfrm>
          <a:prstGeom prst="roundRect">
            <a:avLst>
              <a:gd name="adj" fmla="val 12500"/>
            </a:avLst>
          </a:prstGeom>
          <a:solidFill>
            <a:srgbClr val="F1F3F4"/>
          </a:solidFill>
          <a:ln w="12700">
            <a:solidFill>
              <a:srgbClr val="DADCE0"/>
            </a:solidFill>
            <a:prstDash val="solid"/>
          </a:ln>
        </p:spPr>
      </p:sp>
      <p:sp>
        <p:nvSpPr>
          <p:cNvPr id="19" name="Text 17"/>
          <p:cNvSpPr/>
          <p:nvPr/>
        </p:nvSpPr>
        <p:spPr>
          <a:xfrm>
            <a:off x="5629961"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20" name="Shape 18"/>
          <p:cNvSpPr/>
          <p:nvPr/>
        </p:nvSpPr>
        <p:spPr>
          <a:xfrm>
            <a:off x="6818681" y="6062472"/>
            <a:ext cx="2750515" cy="512064"/>
          </a:xfrm>
          <a:prstGeom prst="roundRect">
            <a:avLst>
              <a:gd name="adj" fmla="val 12500"/>
            </a:avLst>
          </a:prstGeom>
          <a:solidFill>
            <a:srgbClr val="F1F3F4"/>
          </a:solidFill>
          <a:ln w="12700">
            <a:solidFill>
              <a:srgbClr val="DADCE0"/>
            </a:solidFill>
            <a:prstDash val="solid"/>
          </a:ln>
        </p:spPr>
      </p:sp>
      <p:sp>
        <p:nvSpPr>
          <p:cNvPr id="21" name="Text 19"/>
          <p:cNvSpPr/>
          <p:nvPr/>
        </p:nvSpPr>
        <p:spPr>
          <a:xfrm>
            <a:off x="6910121" y="6071616"/>
            <a:ext cx="2613355"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¿Hay filas repetidas?</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lee esta línea, pieza por pieza</a:t>
            </a:r>
            <a:endParaRPr lang="en-US" sz="1400" dirty="0"/>
          </a:p>
        </p:txBody>
      </p:sp>
      <p:sp>
        <p:nvSpPr>
          <p:cNvPr id="6" name="Shape 4"/>
          <p:cNvSpPr/>
          <p:nvPr/>
        </p:nvSpPr>
        <p:spPr>
          <a:xfrm>
            <a:off x="548640" y="1463040"/>
            <a:ext cx="11091672" cy="484632"/>
          </a:xfrm>
          <a:prstGeom prst="roundRect">
            <a:avLst>
              <a:gd name="adj" fmla="val 11321"/>
            </a:avLst>
          </a:prstGeom>
          <a:solidFill>
            <a:srgbClr val="F8F9FA"/>
          </a:solidFill>
          <a:ln w="12700">
            <a:solidFill>
              <a:srgbClr val="DADCE0"/>
            </a:solidFill>
            <a:prstDash val="solid"/>
          </a:ln>
        </p:spPr>
      </p:sp>
      <p:sp>
        <p:nvSpPr>
          <p:cNvPr id="7" name="Text 5"/>
          <p:cNvSpPr/>
          <p:nvPr/>
        </p:nvSpPr>
        <p:spPr>
          <a:xfrm>
            <a:off x="822960" y="1572768"/>
            <a:ext cx="10634472" cy="265176"/>
          </a:xfrm>
          <a:prstGeom prst="rect">
            <a:avLst/>
          </a:prstGeom>
          <a:noFill/>
          <a:ln/>
        </p:spPr>
        <p:txBody>
          <a:bodyPr wrap="square" lIns="0" tIns="0" rIns="0" bIns="0" rtlCol="0" anchor="t"/>
          <a:lstStyle/>
          <a:p>
            <a:pPr indent="0" marL="0">
              <a:buNone/>
            </a:pPr>
            <a:r>
              <a:rPr lang="en-US" sz="1600" dirty="0">
                <a:solidFill>
                  <a:srgbClr val="202124"/>
                </a:solidFill>
                <a:latin typeface="Courier New" pitchFamily="34" charset="0"/>
                <a:ea typeface="Courier New" pitchFamily="34" charset="-122"/>
                <a:cs typeface="Courier New" pitchFamily="34" charset="-120"/>
              </a:rPr>
              <a:t>print(</a:t>
            </a:r>
            <a:pPr indent="0" marL="0">
              <a:buNone/>
            </a:pPr>
            <a:r>
              <a:rPr lang="en-US" sz="1600" dirty="0">
                <a:solidFill>
                  <a:srgbClr val="A31515"/>
                </a:solidFill>
                <a:latin typeface="Courier New" pitchFamily="34" charset="0"/>
                <a:ea typeface="Courier New" pitchFamily="34" charset="-122"/>
                <a:cs typeface="Courier New" pitchFamily="34" charset="-120"/>
              </a:rPr>
              <a:t>"Filas repetidas "</a:t>
            </a:r>
            <a:pPr indent="0" marL="0">
              <a:buNone/>
            </a:pPr>
            <a:r>
              <a:rPr lang="en-US" sz="1600" dirty="0">
                <a:solidFill>
                  <a:srgbClr val="202124"/>
                </a:solidFill>
                <a:latin typeface="Courier New" pitchFamily="34" charset="0"/>
                <a:ea typeface="Courier New" pitchFamily="34" charset="-122"/>
                <a:cs typeface="Courier New" pitchFamily="34" charset="-120"/>
              </a:rPr>
              <a:t>, limpia.duplicated().sum())</a:t>
            </a:r>
            <a:endParaRPr lang="en-US" sz="1600" dirty="0"/>
          </a:p>
        </p:txBody>
      </p:sp>
      <p:sp>
        <p:nvSpPr>
          <p:cNvPr id="8" name="Shape 6"/>
          <p:cNvSpPr/>
          <p:nvPr/>
        </p:nvSpPr>
        <p:spPr>
          <a:xfrm>
            <a:off x="548640" y="2414016"/>
            <a:ext cx="329184" cy="329184"/>
          </a:xfrm>
          <a:prstGeom prst="ellipse">
            <a:avLst/>
          </a:prstGeom>
          <a:solidFill>
            <a:srgbClr val="1A6FD4"/>
          </a:solidFill>
          <a:ln w="12700">
            <a:solidFill>
              <a:srgbClr val="1A6FD4"/>
            </a:solidFill>
            <a:prstDash val="solid"/>
          </a:ln>
        </p:spPr>
      </p:sp>
      <p:sp>
        <p:nvSpPr>
          <p:cNvPr id="9" name="Text 7"/>
          <p:cNvSpPr/>
          <p:nvPr/>
        </p:nvSpPr>
        <p:spPr>
          <a:xfrm>
            <a:off x="548640" y="241401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2221992"/>
            <a:ext cx="4937760" cy="713232"/>
          </a:xfrm>
          <a:prstGeom prst="roundRect">
            <a:avLst>
              <a:gd name="adj" fmla="val 6410"/>
            </a:avLst>
          </a:prstGeom>
          <a:solidFill>
            <a:srgbClr val="DBE9FB"/>
          </a:solidFill>
          <a:ln w="12700">
            <a:solidFill>
              <a:srgbClr val="DBE9FB"/>
            </a:solidFill>
            <a:prstDash val="solid"/>
          </a:ln>
        </p:spPr>
      </p:sp>
      <p:sp>
        <p:nvSpPr>
          <p:cNvPr id="11" name="Text 9"/>
          <p:cNvSpPr/>
          <p:nvPr/>
        </p:nvSpPr>
        <p:spPr>
          <a:xfrm>
            <a:off x="1170432" y="2221992"/>
            <a:ext cx="4754880" cy="71323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limpia.duplicated()</a:t>
            </a:r>
            <a:endParaRPr lang="en-US" sz="1400" dirty="0"/>
          </a:p>
        </p:txBody>
      </p:sp>
      <p:sp>
        <p:nvSpPr>
          <p:cNvPr id="12" name="Text 10"/>
          <p:cNvSpPr/>
          <p:nvPr/>
        </p:nvSpPr>
        <p:spPr>
          <a:xfrm>
            <a:off x="6263640" y="2221992"/>
            <a:ext cx="5376672" cy="71323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Una columna de True y False. True en cada fila idéntica a una anterior.</a:t>
            </a:r>
            <a:endParaRPr lang="en-US" sz="1600" dirty="0"/>
          </a:p>
        </p:txBody>
      </p:sp>
      <p:sp>
        <p:nvSpPr>
          <p:cNvPr id="13" name="Shape 11"/>
          <p:cNvSpPr/>
          <p:nvPr/>
        </p:nvSpPr>
        <p:spPr>
          <a:xfrm>
            <a:off x="548640" y="3218688"/>
            <a:ext cx="329184" cy="329184"/>
          </a:xfrm>
          <a:prstGeom prst="ellipse">
            <a:avLst/>
          </a:prstGeom>
          <a:solidFill>
            <a:srgbClr val="1E8E3E"/>
          </a:solidFill>
          <a:ln w="12700">
            <a:solidFill>
              <a:srgbClr val="1E8E3E"/>
            </a:solidFill>
            <a:prstDash val="solid"/>
          </a:ln>
        </p:spPr>
      </p:sp>
      <p:sp>
        <p:nvSpPr>
          <p:cNvPr id="14" name="Text 12"/>
          <p:cNvSpPr/>
          <p:nvPr/>
        </p:nvSpPr>
        <p:spPr>
          <a:xfrm>
            <a:off x="548640" y="32186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3026664"/>
            <a:ext cx="4937760" cy="713232"/>
          </a:xfrm>
          <a:prstGeom prst="roundRect">
            <a:avLst>
              <a:gd name="adj" fmla="val 6410"/>
            </a:avLst>
          </a:prstGeom>
          <a:solidFill>
            <a:srgbClr val="DCEFE0"/>
          </a:solidFill>
          <a:ln w="12700">
            <a:solidFill>
              <a:srgbClr val="DCEFE0"/>
            </a:solidFill>
            <a:prstDash val="solid"/>
          </a:ln>
        </p:spPr>
      </p:sp>
      <p:sp>
        <p:nvSpPr>
          <p:cNvPr id="16" name="Text 14"/>
          <p:cNvSpPr/>
          <p:nvPr/>
        </p:nvSpPr>
        <p:spPr>
          <a:xfrm>
            <a:off x="1170432" y="3026664"/>
            <a:ext cx="4754880" cy="71323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.sum()</a:t>
            </a:r>
            <a:endParaRPr lang="en-US" sz="1400" dirty="0"/>
          </a:p>
        </p:txBody>
      </p:sp>
      <p:sp>
        <p:nvSpPr>
          <p:cNvPr id="17" name="Text 15"/>
          <p:cNvSpPr/>
          <p:nvPr/>
        </p:nvSpPr>
        <p:spPr>
          <a:xfrm>
            <a:off x="6263640" y="3026664"/>
            <a:ext cx="5376672" cy="71323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Suma la columna. Cada True vale 1, así que cuenta las filas repetidas.</a:t>
            </a:r>
            <a:endParaRPr lang="en-US" sz="1600" dirty="0"/>
          </a:p>
        </p:txBody>
      </p:sp>
      <p:sp>
        <p:nvSpPr>
          <p:cNvPr id="18" name="Shape 16"/>
          <p:cNvSpPr/>
          <p:nvPr/>
        </p:nvSpPr>
        <p:spPr>
          <a:xfrm>
            <a:off x="548640" y="3931920"/>
            <a:ext cx="329184" cy="329184"/>
          </a:xfrm>
          <a:prstGeom prst="ellipse">
            <a:avLst/>
          </a:prstGeom>
          <a:solidFill>
            <a:srgbClr val="B07D00"/>
          </a:solidFill>
          <a:ln w="12700">
            <a:solidFill>
              <a:srgbClr val="B07D00"/>
            </a:solidFill>
            <a:prstDash val="solid"/>
          </a:ln>
        </p:spPr>
      </p:sp>
      <p:sp>
        <p:nvSpPr>
          <p:cNvPr id="19" name="Text 17"/>
          <p:cNvSpPr/>
          <p:nvPr/>
        </p:nvSpPr>
        <p:spPr>
          <a:xfrm>
            <a:off x="548640" y="39319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Shape 18"/>
          <p:cNvSpPr/>
          <p:nvPr/>
        </p:nvSpPr>
        <p:spPr>
          <a:xfrm>
            <a:off x="1051560" y="3831336"/>
            <a:ext cx="4937760" cy="530352"/>
          </a:xfrm>
          <a:prstGeom prst="roundRect">
            <a:avLst>
              <a:gd name="adj" fmla="val 8621"/>
            </a:avLst>
          </a:prstGeom>
          <a:solidFill>
            <a:srgbClr val="FDF0C8"/>
          </a:solidFill>
          <a:ln w="12700">
            <a:solidFill>
              <a:srgbClr val="FDF0C8"/>
            </a:solidFill>
            <a:prstDash val="solid"/>
          </a:ln>
        </p:spPr>
      </p:sp>
      <p:sp>
        <p:nvSpPr>
          <p:cNvPr id="21" name="Text 19"/>
          <p:cNvSpPr/>
          <p:nvPr/>
        </p:nvSpPr>
        <p:spPr>
          <a:xfrm>
            <a:off x="1170432" y="3831336"/>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print( ... )</a:t>
            </a:r>
            <a:endParaRPr lang="en-US" sz="1400" dirty="0"/>
          </a:p>
        </p:txBody>
      </p:sp>
      <p:sp>
        <p:nvSpPr>
          <p:cNvPr id="22" name="Text 20"/>
          <p:cNvSpPr/>
          <p:nvPr/>
        </p:nvSpPr>
        <p:spPr>
          <a:xfrm>
            <a:off x="6263640" y="3831336"/>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Muestra el texto y el número en una línea.</a:t>
            </a:r>
            <a:endParaRPr lang="en-US" sz="1600" dirty="0"/>
          </a:p>
        </p:txBody>
      </p:sp>
      <p:sp>
        <p:nvSpPr>
          <p:cNvPr id="23" name="Shape 21"/>
          <p:cNvSpPr/>
          <p:nvPr/>
        </p:nvSpPr>
        <p:spPr>
          <a:xfrm>
            <a:off x="548640" y="5989320"/>
            <a:ext cx="73152" cy="548640"/>
          </a:xfrm>
          <a:prstGeom prst="rect">
            <a:avLst/>
          </a:prstGeom>
          <a:solidFill>
            <a:srgbClr val="0B3D62"/>
          </a:solidFill>
          <a:ln w="12700">
            <a:solidFill>
              <a:srgbClr val="0B3D62"/>
            </a:solidFill>
            <a:prstDash val="solid"/>
          </a:ln>
        </p:spPr>
      </p:sp>
      <p:sp>
        <p:nvSpPr>
          <p:cNvPr id="24" name="Text 22"/>
          <p:cNvSpPr/>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cuenta cuántas filas son copia de una anterior y muéstralo.</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¿Hay filas repetidas?</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a:t>
            </a:r>
            <a:endParaRPr lang="en-US" sz="1400" dirty="0"/>
          </a:p>
        </p:txBody>
      </p:sp>
      <p:sp>
        <p:nvSpPr>
          <p:cNvPr id="6" name="Shape 4"/>
          <p:cNvSpPr/>
          <p:nvPr/>
        </p:nvSpPr>
        <p:spPr>
          <a:xfrm>
            <a:off x="548640" y="1481328"/>
            <a:ext cx="11091672" cy="1783080"/>
          </a:xfrm>
          <a:prstGeom prst="roundRect">
            <a:avLst>
              <a:gd name="adj" fmla="val 3077"/>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p:nvPr/>
        </p:nvSpPr>
        <p:spPr>
          <a:xfrm>
            <a:off x="1325880" y="1600200"/>
            <a:ext cx="10085832" cy="1591056"/>
          </a:xfrm>
          <a:prstGeom prst="rect">
            <a:avLst/>
          </a:prstGeom>
          <a:noFill/>
          <a:ln/>
        </p:spPr>
        <p:txBody>
          <a:bodyPr wrap="square" lIns="0" tIns="0" rIns="0" bIns="0" rtlCol="0" anchor="t"/>
          <a:lstStyle/>
          <a:p>
            <a:pPr indent="0" marL="0">
              <a:buNone/>
            </a:pPr>
            <a:r>
              <a:rPr lang="en-US" sz="1200" dirty="0">
                <a:solidFill>
                  <a:srgbClr val="188038"/>
                </a:solidFill>
                <a:latin typeface="Courier New" pitchFamily="34" charset="0"/>
                <a:ea typeface="Courier New" pitchFamily="34" charset="-122"/>
                <a:cs typeface="Courier New" pitchFamily="34" charset="-120"/>
              </a:rPr>
              <a:t># Paso 4</a:t>
            </a:r>
            <a:endParaRPr lang="en-US" sz="1200" dirty="0"/>
          </a:p>
          <a:p>
            <a:pPr indent="0" marL="0">
              <a:buNone/>
            </a:pPr>
            <a:r>
              <a:rPr lang="en-US" sz="1200" dirty="0">
                <a:solidFill>
                  <a:srgbClr val="188038"/>
                </a:solidFill>
                <a:latin typeface="Courier New" pitchFamily="34" charset="0"/>
                <a:ea typeface="Courier New" pitchFamily="34" charset="-122"/>
                <a:cs typeface="Courier New" pitchFamily="34" charset="-120"/>
              </a:rPr>
              <a:t># duplicated marca cada fila idéntica a una que ya apareció antes.</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print(</a:t>
            </a:r>
            <a:pPr indent="0" marL="0">
              <a:buNone/>
            </a:pPr>
            <a:r>
              <a:rPr lang="en-US" sz="1200" dirty="0">
                <a:solidFill>
                  <a:srgbClr val="A31515"/>
                </a:solidFill>
                <a:latin typeface="Courier New" pitchFamily="34" charset="0"/>
                <a:ea typeface="Courier New" pitchFamily="34" charset="-122"/>
                <a:cs typeface="Courier New" pitchFamily="34" charset="-120"/>
              </a:rPr>
              <a:t>"Filas repetidas "</a:t>
            </a:r>
            <a:pPr indent="0" marL="0">
              <a:buNone/>
            </a:pPr>
            <a:r>
              <a:rPr lang="en-US" sz="1200" dirty="0">
                <a:solidFill>
                  <a:srgbClr val="202124"/>
                </a:solidFill>
                <a:latin typeface="Courier New" pitchFamily="34" charset="0"/>
                <a:ea typeface="Courier New" pitchFamily="34" charset="-122"/>
                <a:cs typeface="Courier New" pitchFamily="34" charset="-120"/>
              </a:rPr>
              <a:t>, limpia.duplicated().sum())</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188038"/>
                </a:solidFill>
                <a:latin typeface="Courier New" pitchFamily="34" charset="0"/>
                <a:ea typeface="Courier New" pitchFamily="34" charset="-122"/>
                <a:cs typeface="Courier New" pitchFamily="34" charset="-120"/>
              </a:rPr>
              <a:t># drop_duplicates deja la primera y quita las copias.</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sin_repetidas = limpia.drop_duplicates()</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print(</a:t>
            </a:r>
            <a:pPr indent="0" marL="0">
              <a:buNone/>
            </a:pPr>
            <a:r>
              <a:rPr lang="en-US" sz="1200" dirty="0">
                <a:solidFill>
                  <a:srgbClr val="A31515"/>
                </a:solidFill>
                <a:latin typeface="Courier New" pitchFamily="34" charset="0"/>
                <a:ea typeface="Courier New" pitchFamily="34" charset="-122"/>
                <a:cs typeface="Courier New" pitchFamily="34" charset="-120"/>
              </a:rPr>
              <a:t>"Filas que quedan"</a:t>
            </a:r>
            <a:pPr indent="0" marL="0">
              <a:buNone/>
            </a:pPr>
            <a:r>
              <a:rPr lang="en-US" sz="1200" dirty="0">
                <a:solidFill>
                  <a:srgbClr val="202124"/>
                </a:solidFill>
                <a:latin typeface="Courier New" pitchFamily="34" charset="0"/>
                <a:ea typeface="Courier New" pitchFamily="34" charset="-122"/>
                <a:cs typeface="Courier New" pitchFamily="34" charset="-120"/>
              </a:rPr>
              <a:t>, len(sin_repetidas))</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print(</a:t>
            </a:r>
            <a:pPr indent="0" marL="0">
              <a:buNone/>
            </a:pPr>
            <a:r>
              <a:rPr lang="en-US" sz="1200" dirty="0">
                <a:solidFill>
                  <a:srgbClr val="A31515"/>
                </a:solidFill>
                <a:latin typeface="Courier New" pitchFamily="34" charset="0"/>
                <a:ea typeface="Courier New" pitchFamily="34" charset="-122"/>
                <a:cs typeface="Courier New" pitchFamily="34" charset="-120"/>
              </a:rPr>
              <a:t>"Filas esperadas "</a:t>
            </a:r>
            <a:pPr indent="0" marL="0">
              <a:buNone/>
            </a:pPr>
            <a:r>
              <a:rPr lang="en-US" sz="1200" dirty="0">
                <a:solidFill>
                  <a:srgbClr val="202124"/>
                </a:solidFill>
                <a:latin typeface="Courier New" pitchFamily="34" charset="0"/>
                <a:ea typeface="Courier New" pitchFamily="34" charset="-122"/>
                <a:cs typeface="Courier New" pitchFamily="34" charset="-120"/>
              </a:rPr>
              <a:t>, esperadas)</a:t>
            </a:r>
            <a:endParaRPr lang="en-US" sz="1200" dirty="0"/>
          </a:p>
        </p:txBody>
      </p:sp>
      <p:sp>
        <p:nvSpPr>
          <p:cNvPr id="10" name="Shape 8"/>
          <p:cNvSpPr/>
          <p:nvPr/>
        </p:nvSpPr>
        <p:spPr>
          <a:xfrm>
            <a:off x="1325880" y="3374136"/>
            <a:ext cx="10314432" cy="764438"/>
          </a:xfrm>
          <a:prstGeom prst="rect">
            <a:avLst/>
          </a:prstGeom>
          <a:solidFill>
            <a:srgbClr val="FFFFFF"/>
          </a:solidFill>
          <a:ln w="12700">
            <a:solidFill>
              <a:srgbClr val="DADCE0"/>
            </a:solidFill>
            <a:prstDash val="solid"/>
          </a:ln>
        </p:spPr>
      </p:sp>
      <p:sp>
        <p:nvSpPr>
          <p:cNvPr id="11" name="Text 9"/>
          <p:cNvSpPr/>
          <p:nvPr/>
        </p:nvSpPr>
        <p:spPr>
          <a:xfrm>
            <a:off x="1463040" y="3447288"/>
            <a:ext cx="10085832" cy="636422"/>
          </a:xfrm>
          <a:prstGeom prst="rect">
            <a:avLst/>
          </a:prstGeom>
          <a:noFill/>
          <a:ln/>
        </p:spPr>
        <p:txBody>
          <a:bodyPr wrap="square" lIns="0" tIns="0" rIns="0" bIns="0" rtlCol="0" anchor="t"/>
          <a:lstStyle/>
          <a:p>
            <a:pPr indent="0" marL="0">
              <a:buNone/>
            </a:pPr>
            <a:r>
              <a:rPr lang="en-US" sz="1200" dirty="0">
                <a:solidFill>
                  <a:srgbClr val="202124"/>
                </a:solidFill>
                <a:latin typeface="Courier New" pitchFamily="34" charset="0"/>
                <a:ea typeface="Courier New" pitchFamily="34" charset="-122"/>
                <a:cs typeface="Courier New" pitchFamily="34" charset="-120"/>
              </a:rPr>
              <a:t>Filas repetidas  20</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Filas que quedan 61488</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Filas esperadas  61488</a:t>
            </a:r>
            <a:endParaRPr lang="en-US" sz="1200" dirty="0"/>
          </a:p>
        </p:txBody>
      </p:sp>
      <p:sp>
        <p:nvSpPr>
          <p:cNvPr id="12" name="Text 10"/>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3" name="Shape 11"/>
          <p:cNvSpPr/>
          <p:nvPr/>
        </p:nvSpPr>
        <p:spPr>
          <a:xfrm>
            <a:off x="548640" y="6062472"/>
            <a:ext cx="1714500" cy="512064"/>
          </a:xfrm>
          <a:prstGeom prst="roundRect">
            <a:avLst>
              <a:gd name="adj" fmla="val 12500"/>
            </a:avLst>
          </a:prstGeom>
          <a:solidFill>
            <a:srgbClr val="FEF3D6"/>
          </a:solidFill>
          <a:ln w="25400">
            <a:solidFill>
              <a:srgbClr val="F9AB00"/>
            </a:solidFill>
            <a:prstDash val="solid"/>
          </a:ln>
        </p:spPr>
      </p:sp>
      <p:sp>
        <p:nvSpPr>
          <p:cNvPr id="14" name="Text 12"/>
          <p:cNvSpPr/>
          <p:nvPr/>
        </p:nvSpPr>
        <p:spPr>
          <a:xfrm>
            <a:off x="640080"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sin_repetidas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61488 × 4</a:t>
            </a:r>
            <a:endParaRPr lang="en-US" sz="1200" dirty="0"/>
          </a:p>
        </p:txBody>
      </p:sp>
      <p:sp>
        <p:nvSpPr>
          <p:cNvPr id="15" name="Shape 13"/>
          <p:cNvSpPr/>
          <p:nvPr/>
        </p:nvSpPr>
        <p:spPr>
          <a:xfrm>
            <a:off x="2400300" y="6062472"/>
            <a:ext cx="1149401" cy="512064"/>
          </a:xfrm>
          <a:prstGeom prst="roundRect">
            <a:avLst>
              <a:gd name="adj" fmla="val 12500"/>
            </a:avLst>
          </a:prstGeom>
          <a:solidFill>
            <a:srgbClr val="E8F0FE"/>
          </a:solidFill>
          <a:ln w="28575">
            <a:solidFill>
              <a:srgbClr val="1A73E8"/>
            </a:solidFill>
            <a:prstDash val="solid"/>
          </a:ln>
        </p:spPr>
      </p:sp>
      <p:sp>
        <p:nvSpPr>
          <p:cNvPr id="16" name="Text 14"/>
          <p:cNvSpPr/>
          <p:nvPr/>
        </p:nvSpPr>
        <p:spPr>
          <a:xfrm>
            <a:off x="2491740" y="6071616"/>
            <a:ext cx="1012241"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esperadas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61488</a:t>
            </a:r>
            <a:endParaRPr lang="en-US" sz="1200" dirty="0"/>
          </a:p>
        </p:txBody>
      </p:sp>
      <p:sp>
        <p:nvSpPr>
          <p:cNvPr id="17" name="Shape 15"/>
          <p:cNvSpPr/>
          <p:nvPr/>
        </p:nvSpPr>
        <p:spPr>
          <a:xfrm>
            <a:off x="3686861" y="6062472"/>
            <a:ext cx="1714500" cy="512064"/>
          </a:xfrm>
          <a:prstGeom prst="roundRect">
            <a:avLst>
              <a:gd name="adj" fmla="val 12500"/>
            </a:avLst>
          </a:prstGeom>
          <a:solidFill>
            <a:srgbClr val="E8F0FE"/>
          </a:solidFill>
          <a:ln w="28575">
            <a:solidFill>
              <a:srgbClr val="1A73E8"/>
            </a:solidFill>
            <a:prstDash val="solid"/>
          </a:ln>
        </p:spPr>
      </p:sp>
      <p:sp>
        <p:nvSpPr>
          <p:cNvPr id="18" name="Text 16"/>
          <p:cNvSpPr/>
          <p:nvPr/>
        </p:nvSpPr>
        <p:spPr>
          <a:xfrm>
            <a:off x="3778301"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limpia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61508 × 4</a:t>
            </a:r>
            <a:endParaRPr lang="en-US" sz="1200" dirty="0"/>
          </a:p>
        </p:txBody>
      </p:sp>
      <p:sp>
        <p:nvSpPr>
          <p:cNvPr id="19" name="Shape 17"/>
          <p:cNvSpPr/>
          <p:nvPr/>
        </p:nvSpPr>
        <p:spPr>
          <a:xfrm>
            <a:off x="5538521" y="6062472"/>
            <a:ext cx="1714500" cy="512064"/>
          </a:xfrm>
          <a:prstGeom prst="roundRect">
            <a:avLst>
              <a:gd name="adj" fmla="val 12500"/>
            </a:avLst>
          </a:prstGeom>
          <a:solidFill>
            <a:srgbClr val="F1F3F4"/>
          </a:solidFill>
          <a:ln w="12700">
            <a:solidFill>
              <a:srgbClr val="DADCE0"/>
            </a:solidFill>
            <a:prstDash val="solid"/>
          </a:ln>
        </p:spPr>
      </p:sp>
      <p:sp>
        <p:nvSpPr>
          <p:cNvPr id="20" name="Text 18"/>
          <p:cNvSpPr/>
          <p:nvPr/>
        </p:nvSpPr>
        <p:spPr>
          <a:xfrm>
            <a:off x="5629961"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sucia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61508 × 4</a:t>
            </a:r>
            <a:endParaRPr lang="en-US" sz="1200" dirty="0"/>
          </a:p>
        </p:txBody>
      </p:sp>
      <p:sp>
        <p:nvSpPr>
          <p:cNvPr id="21" name="Shape 19"/>
          <p:cNvSpPr/>
          <p:nvPr/>
        </p:nvSpPr>
        <p:spPr>
          <a:xfrm>
            <a:off x="7390181" y="6062472"/>
            <a:ext cx="1143000" cy="512064"/>
          </a:xfrm>
          <a:prstGeom prst="roundRect">
            <a:avLst>
              <a:gd name="adj" fmla="val 12500"/>
            </a:avLst>
          </a:prstGeom>
          <a:solidFill>
            <a:srgbClr val="F1F3F4"/>
          </a:solidFill>
          <a:ln w="12700">
            <a:solidFill>
              <a:srgbClr val="DADCE0"/>
            </a:solidFill>
            <a:prstDash val="solid"/>
          </a:ln>
        </p:spPr>
      </p:sp>
      <p:sp>
        <p:nvSpPr>
          <p:cNvPr id="22" name="Text 20"/>
          <p:cNvSpPr/>
          <p:nvPr/>
        </p:nvSpPr>
        <p:spPr>
          <a:xfrm>
            <a:off x="7481621"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23" name="Shape 21"/>
          <p:cNvSpPr/>
          <p:nvPr/>
        </p:nvSpPr>
        <p:spPr>
          <a:xfrm>
            <a:off x="8670341" y="6062472"/>
            <a:ext cx="2750515" cy="512064"/>
          </a:xfrm>
          <a:prstGeom prst="roundRect">
            <a:avLst>
              <a:gd name="adj" fmla="val 12500"/>
            </a:avLst>
          </a:prstGeom>
          <a:solidFill>
            <a:srgbClr val="F1F3F4"/>
          </a:solidFill>
          <a:ln w="12700">
            <a:solidFill>
              <a:srgbClr val="DADCE0"/>
            </a:solidFill>
            <a:prstDash val="solid"/>
          </a:ln>
        </p:spPr>
      </p:sp>
      <p:sp>
        <p:nvSpPr>
          <p:cNvPr id="24" name="Text 22"/>
          <p:cNvSpPr/>
          <p:nvPr/>
        </p:nvSpPr>
        <p:spPr>
          <a:xfrm>
            <a:off x="8761781" y="6071616"/>
            <a:ext cx="2613355"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
        <p:nvSpPr>
          <p:cNvPr id="25" name="Text 23"/>
          <p:cNvSpPr/>
          <p:nvPr/>
        </p:nvSpPr>
        <p:spPr>
          <a:xfrm>
            <a:off x="548640" y="6592824"/>
            <a:ext cx="11091672" cy="219456"/>
          </a:xfrm>
          <a:prstGeom prst="rect">
            <a:avLst/>
          </a:prstGeom>
          <a:noFill/>
          <a:ln/>
        </p:spPr>
        <p:txBody>
          <a:bodyPr wrap="square" lIns="0" tIns="0" rIns="0" bIns="0" rtlCol="0" anchor="ctr"/>
          <a:lstStyle/>
          <a:p>
            <a:pPr indent="0" marL="0">
              <a:buNone/>
            </a:pPr>
            <a:r>
              <a:rPr lang="en-US" sz="1300" dirty="0">
                <a:solidFill>
                  <a:srgbClr val="0B3D62"/>
                </a:solidFill>
                <a:latin typeface="Calibri" pitchFamily="34" charset="0"/>
                <a:ea typeface="Calibri" pitchFamily="34" charset="-122"/>
                <a:cs typeface="Calibri" pitchFamily="34" charset="-120"/>
              </a:rPr>
              <a:t>Las 20 filas que sobraban eran copias. Sin ellas quedan las 61.488 esperadas.</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¿Hay filas repetidas?</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hay que llevarse de este paso.</a:t>
            </a:r>
            <a:endParaRPr lang="en-US" sz="1400" dirty="0"/>
          </a:p>
        </p:txBody>
      </p:sp>
      <p:sp>
        <p:nvSpPr>
          <p:cNvPr id="6" name="Shape 4"/>
          <p:cNvSpPr/>
          <p:nvPr/>
        </p:nvSpPr>
        <p:spPr>
          <a:xfrm>
            <a:off x="548640" y="1828800"/>
            <a:ext cx="11091672" cy="2377440"/>
          </a:xfrm>
          <a:prstGeom prst="roundRect">
            <a:avLst>
              <a:gd name="adj" fmla="val 3846"/>
            </a:avLst>
          </a:prstGeom>
          <a:solidFill>
            <a:srgbClr val="FFF8D6"/>
          </a:solidFill>
          <a:ln w="12700">
            <a:solidFill>
              <a:srgbClr val="FFF8D6"/>
            </a:solidFill>
            <a:prstDash val="solid"/>
          </a:ln>
        </p:spPr>
      </p:sp>
      <p:sp>
        <p:nvSpPr>
          <p:cNvPr id="7" name="Text 5"/>
          <p:cNvSpPr/>
          <p:nvPr/>
        </p:nvSpPr>
        <p:spPr>
          <a:xfrm>
            <a:off x="1005840" y="2057400"/>
            <a:ext cx="10177272" cy="1005840"/>
          </a:xfrm>
          <a:prstGeom prst="rect">
            <a:avLst/>
          </a:prstGeom>
          <a:noFill/>
          <a:ln/>
        </p:spPr>
        <p:txBody>
          <a:bodyPr wrap="square" lIns="0" tIns="0" rIns="0" bIns="0" rtlCol="0" anchor="t"/>
          <a:lstStyle/>
          <a:p>
            <a:pPr indent="0" marL="0">
              <a:buNone/>
            </a:pPr>
            <a:r>
              <a:rPr lang="en-US" sz="2800" b="1" dirty="0">
                <a:solidFill>
                  <a:srgbClr val="8A6D00"/>
                </a:solidFill>
                <a:latin typeface="Calibri" pitchFamily="34" charset="0"/>
                <a:ea typeface="Calibri" pitchFamily="34" charset="-122"/>
                <a:cs typeface="Calibri" pitchFamily="34" charset="-120"/>
              </a:rPr>
              <a:t>Una fila repetida no da error, suma dos veces.</a:t>
            </a:r>
            <a:endParaRPr lang="en-US" sz="2800" dirty="0"/>
          </a:p>
        </p:txBody>
      </p:sp>
      <p:sp>
        <p:nvSpPr>
          <p:cNvPr id="8" name="Text 6"/>
          <p:cNvSpPr/>
          <p:nvPr/>
        </p:nvSpPr>
        <p:spPr>
          <a:xfrm>
            <a:off x="1005840" y="3154680"/>
            <a:ext cx="10177272" cy="914400"/>
          </a:xfrm>
          <a:prstGeom prst="rect">
            <a:avLst/>
          </a:prstGeom>
          <a:noFill/>
          <a:ln/>
        </p:spPr>
        <p:txBody>
          <a:bodyPr wrap="square" lIns="0" tIns="0" rIns="0" bIns="0" rtlCol="0" anchor="t"/>
          <a:lstStyle/>
          <a:p>
            <a:pPr indent="0" marL="0">
              <a:buNone/>
            </a:pPr>
            <a:r>
              <a:rPr lang="en-US" sz="2200" dirty="0">
                <a:solidFill>
                  <a:srgbClr val="202124"/>
                </a:solidFill>
                <a:latin typeface="Calibri" pitchFamily="34" charset="0"/>
                <a:ea typeface="Calibri" pitchFamily="34" charset="-122"/>
                <a:cs typeface="Calibri" pitchFamily="34" charset="-120"/>
              </a:rPr>
              <a:t>Se detecta con duplicated, se quita con drop_duplicates y se confirma contando las filas.</a:t>
            </a:r>
            <a:endParaRPr lang="en-US" sz="2200" dirty="0"/>
          </a:p>
        </p:txBody>
      </p:sp>
      <p:sp>
        <p:nvSpPr>
          <p:cNvPr id="9" name="Text 7"/>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0" name="Shape 8"/>
          <p:cNvSpPr/>
          <p:nvPr/>
        </p:nvSpPr>
        <p:spPr>
          <a:xfrm>
            <a:off x="548640" y="6062472"/>
            <a:ext cx="1714500" cy="512064"/>
          </a:xfrm>
          <a:prstGeom prst="roundRect">
            <a:avLst>
              <a:gd name="adj" fmla="val 12500"/>
            </a:avLst>
          </a:prstGeom>
          <a:solidFill>
            <a:srgbClr val="FEF3D6"/>
          </a:solidFill>
          <a:ln w="25400">
            <a:solidFill>
              <a:srgbClr val="F9AB00"/>
            </a:solidFill>
            <a:prstDash val="solid"/>
          </a:ln>
        </p:spPr>
      </p:sp>
      <p:sp>
        <p:nvSpPr>
          <p:cNvPr id="11" name="Text 9"/>
          <p:cNvSpPr/>
          <p:nvPr/>
        </p:nvSpPr>
        <p:spPr>
          <a:xfrm>
            <a:off x="640080"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sin_repetidas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61488 × 4</a:t>
            </a:r>
            <a:endParaRPr lang="en-US" sz="1200" dirty="0"/>
          </a:p>
        </p:txBody>
      </p:sp>
      <p:sp>
        <p:nvSpPr>
          <p:cNvPr id="12" name="Shape 10"/>
          <p:cNvSpPr/>
          <p:nvPr/>
        </p:nvSpPr>
        <p:spPr>
          <a:xfrm>
            <a:off x="2400300" y="6062472"/>
            <a:ext cx="1149401" cy="512064"/>
          </a:xfrm>
          <a:prstGeom prst="roundRect">
            <a:avLst>
              <a:gd name="adj" fmla="val 12500"/>
            </a:avLst>
          </a:prstGeom>
          <a:solidFill>
            <a:srgbClr val="E8F0FE"/>
          </a:solidFill>
          <a:ln w="28575">
            <a:solidFill>
              <a:srgbClr val="1A73E8"/>
            </a:solidFill>
            <a:prstDash val="solid"/>
          </a:ln>
        </p:spPr>
      </p:sp>
      <p:sp>
        <p:nvSpPr>
          <p:cNvPr id="13" name="Text 11"/>
          <p:cNvSpPr/>
          <p:nvPr/>
        </p:nvSpPr>
        <p:spPr>
          <a:xfrm>
            <a:off x="2491740" y="6071616"/>
            <a:ext cx="1012241"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esperadas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61488</a:t>
            </a:r>
            <a:endParaRPr lang="en-US" sz="1200" dirty="0"/>
          </a:p>
        </p:txBody>
      </p:sp>
      <p:sp>
        <p:nvSpPr>
          <p:cNvPr id="14" name="Shape 12"/>
          <p:cNvSpPr/>
          <p:nvPr/>
        </p:nvSpPr>
        <p:spPr>
          <a:xfrm>
            <a:off x="3686861" y="6062472"/>
            <a:ext cx="1714500" cy="512064"/>
          </a:xfrm>
          <a:prstGeom prst="roundRect">
            <a:avLst>
              <a:gd name="adj" fmla="val 12500"/>
            </a:avLst>
          </a:prstGeom>
          <a:solidFill>
            <a:srgbClr val="E8F0FE"/>
          </a:solidFill>
          <a:ln w="28575">
            <a:solidFill>
              <a:srgbClr val="1A73E8"/>
            </a:solidFill>
            <a:prstDash val="solid"/>
          </a:ln>
        </p:spPr>
      </p:sp>
      <p:sp>
        <p:nvSpPr>
          <p:cNvPr id="15" name="Text 13"/>
          <p:cNvSpPr/>
          <p:nvPr/>
        </p:nvSpPr>
        <p:spPr>
          <a:xfrm>
            <a:off x="3778301"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limpia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61508 × 4</a:t>
            </a:r>
            <a:endParaRPr lang="en-US" sz="1200" dirty="0"/>
          </a:p>
        </p:txBody>
      </p:sp>
      <p:sp>
        <p:nvSpPr>
          <p:cNvPr id="16" name="Shape 14"/>
          <p:cNvSpPr/>
          <p:nvPr/>
        </p:nvSpPr>
        <p:spPr>
          <a:xfrm>
            <a:off x="5538521" y="6062472"/>
            <a:ext cx="1714500" cy="512064"/>
          </a:xfrm>
          <a:prstGeom prst="roundRect">
            <a:avLst>
              <a:gd name="adj" fmla="val 12500"/>
            </a:avLst>
          </a:prstGeom>
          <a:solidFill>
            <a:srgbClr val="F1F3F4"/>
          </a:solidFill>
          <a:ln w="12700">
            <a:solidFill>
              <a:srgbClr val="DADCE0"/>
            </a:solidFill>
            <a:prstDash val="solid"/>
          </a:ln>
        </p:spPr>
      </p:sp>
      <p:sp>
        <p:nvSpPr>
          <p:cNvPr id="17" name="Text 15"/>
          <p:cNvSpPr/>
          <p:nvPr/>
        </p:nvSpPr>
        <p:spPr>
          <a:xfrm>
            <a:off x="5629961"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sucia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61508 × 4</a:t>
            </a:r>
            <a:endParaRPr lang="en-US" sz="1200" dirty="0"/>
          </a:p>
        </p:txBody>
      </p:sp>
      <p:sp>
        <p:nvSpPr>
          <p:cNvPr id="18" name="Shape 16"/>
          <p:cNvSpPr/>
          <p:nvPr/>
        </p:nvSpPr>
        <p:spPr>
          <a:xfrm>
            <a:off x="7390181" y="6062472"/>
            <a:ext cx="1143000" cy="512064"/>
          </a:xfrm>
          <a:prstGeom prst="roundRect">
            <a:avLst>
              <a:gd name="adj" fmla="val 12500"/>
            </a:avLst>
          </a:prstGeom>
          <a:solidFill>
            <a:srgbClr val="F1F3F4"/>
          </a:solidFill>
          <a:ln w="12700">
            <a:solidFill>
              <a:srgbClr val="DADCE0"/>
            </a:solidFill>
            <a:prstDash val="solid"/>
          </a:ln>
        </p:spPr>
      </p:sp>
      <p:sp>
        <p:nvSpPr>
          <p:cNvPr id="19" name="Text 17"/>
          <p:cNvSpPr/>
          <p:nvPr/>
        </p:nvSpPr>
        <p:spPr>
          <a:xfrm>
            <a:off x="7481621"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20" name="Shape 18"/>
          <p:cNvSpPr/>
          <p:nvPr/>
        </p:nvSpPr>
        <p:spPr>
          <a:xfrm>
            <a:off x="8670341" y="6062472"/>
            <a:ext cx="2750515" cy="512064"/>
          </a:xfrm>
          <a:prstGeom prst="roundRect">
            <a:avLst>
              <a:gd name="adj" fmla="val 12500"/>
            </a:avLst>
          </a:prstGeom>
          <a:solidFill>
            <a:srgbClr val="F1F3F4"/>
          </a:solidFill>
          <a:ln w="12700">
            <a:solidFill>
              <a:srgbClr val="DADCE0"/>
            </a:solidFill>
            <a:prstDash val="solid"/>
          </a:ln>
        </p:spPr>
      </p:sp>
      <p:sp>
        <p:nvSpPr>
          <p:cNvPr id="21" name="Text 19"/>
          <p:cNvSpPr/>
          <p:nvPr/>
        </p:nvSpPr>
        <p:spPr>
          <a:xfrm>
            <a:off x="8761781" y="6071616"/>
            <a:ext cx="2613355"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5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¿Con qué se rellena una hora vacía?</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Que respondan en el chat o en voz alta.</a:t>
            </a:r>
            <a:endParaRPr lang="en-US" sz="1400" dirty="0"/>
          </a:p>
        </p:txBody>
      </p:sp>
      <p:sp>
        <p:nvSpPr>
          <p:cNvPr id="6" name="Shape 4"/>
          <p:cNvSpPr/>
          <p:nvPr/>
        </p:nvSpPr>
        <p:spPr>
          <a:xfrm>
            <a:off x="548640" y="1600200"/>
            <a:ext cx="11091672" cy="502920"/>
          </a:xfrm>
          <a:prstGeom prst="roundRect">
            <a:avLst>
              <a:gd name="adj" fmla="val 10909"/>
            </a:avLst>
          </a:prstGeom>
          <a:solidFill>
            <a:srgbClr val="0B3D62"/>
          </a:solidFill>
          <a:ln w="12700">
            <a:solidFill>
              <a:srgbClr val="0B3D62"/>
            </a:solidFill>
            <a:prstDash val="solid"/>
          </a:ln>
        </p:spPr>
      </p:sp>
      <p:sp>
        <p:nvSpPr>
          <p:cNvPr id="7" name="Text 5"/>
          <p:cNvSpPr/>
          <p:nvPr/>
        </p:nvSpPr>
        <p:spPr>
          <a:xfrm>
            <a:off x="822960" y="1600200"/>
            <a:ext cx="10543032" cy="5029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¿QUÉ CREEN QUE VA A SALIR?</a:t>
            </a:r>
            <a:endParaRPr lang="en-US" sz="1600" dirty="0"/>
          </a:p>
        </p:txBody>
      </p:sp>
      <p:sp>
        <p:nvSpPr>
          <p:cNvPr id="8" name="Text 6"/>
          <p:cNvSpPr/>
          <p:nvPr/>
        </p:nvSpPr>
        <p:spPr>
          <a:xfrm>
            <a:off x="548640" y="2331720"/>
            <a:ext cx="11091672" cy="822960"/>
          </a:xfrm>
          <a:prstGeom prst="rect">
            <a:avLst/>
          </a:prstGeom>
          <a:noFill/>
          <a:ln/>
        </p:spPr>
        <p:txBody>
          <a:bodyPr wrap="square" lIns="0" tIns="0" rIns="0" bIns="0" rtlCol="0" anchor="t"/>
          <a:lstStyle/>
          <a:p>
            <a:pPr indent="0" marL="0">
              <a:buNone/>
            </a:pPr>
            <a:r>
              <a:rPr lang="en-US" sz="2000" dirty="0">
                <a:solidFill>
                  <a:srgbClr val="5F6368"/>
                </a:solidFill>
                <a:latin typeface="Calibri" pitchFamily="34" charset="0"/>
                <a:ea typeface="Calibri" pitchFamily="34" charset="-122"/>
                <a:cs typeface="Calibri" pitchFamily="34" charset="-120"/>
              </a:rPr>
              <a:t>Valparaíso tiene 248 horas sin dato en el año.</a:t>
            </a:r>
            <a:endParaRPr lang="en-US" sz="2000" dirty="0"/>
          </a:p>
        </p:txBody>
      </p:sp>
      <p:sp>
        <p:nvSpPr>
          <p:cNvPr id="9" name="Text 7"/>
          <p:cNvSpPr/>
          <p:nvPr/>
        </p:nvSpPr>
        <p:spPr>
          <a:xfrm>
            <a:off x="548640" y="3154680"/>
            <a:ext cx="11091672" cy="1097280"/>
          </a:xfrm>
          <a:prstGeom prst="rect">
            <a:avLst/>
          </a:prstGeom>
          <a:noFill/>
          <a:ln/>
        </p:spPr>
        <p:txBody>
          <a:bodyPr wrap="square" lIns="0" tIns="0" rIns="0" bIns="0" rtlCol="0" anchor="t"/>
          <a:lstStyle/>
          <a:p>
            <a:pPr indent="0" marL="0">
              <a:buNone/>
            </a:pPr>
            <a:r>
              <a:rPr lang="en-US" sz="3000" b="1" dirty="0">
                <a:solidFill>
                  <a:srgbClr val="202124"/>
                </a:solidFill>
                <a:latin typeface="Calibri" pitchFamily="34" charset="0"/>
                <a:ea typeface="Calibri" pitchFamily="34" charset="-122"/>
                <a:cs typeface="Calibri" pitchFamily="34" charset="-120"/>
              </a:rPr>
              <a:t>Si esas horas se rellenan con cero, ¿qué le pasa al promedio del año?</a:t>
            </a:r>
            <a:endParaRPr lang="en-US" sz="3000" dirty="0"/>
          </a:p>
        </p:txBody>
      </p:sp>
      <p:sp>
        <p:nvSpPr>
          <p:cNvPr id="10" name="Shape 8"/>
          <p:cNvSpPr/>
          <p:nvPr/>
        </p:nvSpPr>
        <p:spPr>
          <a:xfrm>
            <a:off x="548640" y="4572000"/>
            <a:ext cx="3511296" cy="822960"/>
          </a:xfrm>
          <a:prstGeom prst="roundRect">
            <a:avLst>
              <a:gd name="adj" fmla="val 8889"/>
            </a:avLst>
          </a:prstGeom>
          <a:solidFill>
            <a:srgbClr val="FEF3D6"/>
          </a:solidFill>
          <a:ln w="19050">
            <a:solidFill>
              <a:srgbClr val="F9AB00"/>
            </a:solidFill>
            <a:prstDash val="solid"/>
          </a:ln>
        </p:spPr>
      </p:sp>
      <p:sp>
        <p:nvSpPr>
          <p:cNvPr id="11" name="Text 9"/>
          <p:cNvSpPr/>
          <p:nvPr/>
        </p:nvSpPr>
        <p:spPr>
          <a:xfrm>
            <a:off x="548640" y="4572000"/>
            <a:ext cx="3511296" cy="822960"/>
          </a:xfrm>
          <a:prstGeom prst="rect">
            <a:avLst/>
          </a:prstGeom>
          <a:noFill/>
          <a:ln/>
        </p:spPr>
        <p:txBody>
          <a:bodyPr wrap="square" lIns="0" tIns="0" rIns="0" bIns="0" rtlCol="0" anchor="ctr"/>
          <a:lstStyle/>
          <a:p>
            <a:pPr algn="ctr" indent="0" marL="0">
              <a:buNone/>
            </a:pPr>
            <a:r>
              <a:rPr lang="en-US" sz="2000" b="1" dirty="0">
                <a:solidFill>
                  <a:srgbClr val="202124"/>
                </a:solidFill>
                <a:latin typeface="Calibri" pitchFamily="34" charset="0"/>
                <a:ea typeface="Calibri" pitchFamily="34" charset="-122"/>
                <a:cs typeface="Calibri" pitchFamily="34" charset="-120"/>
              </a:rPr>
              <a:t>Sube</a:t>
            </a:r>
            <a:endParaRPr lang="en-US" sz="2000" dirty="0"/>
          </a:p>
        </p:txBody>
      </p:sp>
      <p:sp>
        <p:nvSpPr>
          <p:cNvPr id="12" name="Shape 10"/>
          <p:cNvSpPr/>
          <p:nvPr/>
        </p:nvSpPr>
        <p:spPr>
          <a:xfrm>
            <a:off x="4338828" y="4572000"/>
            <a:ext cx="3511296" cy="822960"/>
          </a:xfrm>
          <a:prstGeom prst="roundRect">
            <a:avLst>
              <a:gd name="adj" fmla="val 8889"/>
            </a:avLst>
          </a:prstGeom>
          <a:solidFill>
            <a:srgbClr val="FEF3D6"/>
          </a:solidFill>
          <a:ln w="19050">
            <a:solidFill>
              <a:srgbClr val="F9AB00"/>
            </a:solidFill>
            <a:prstDash val="solid"/>
          </a:ln>
        </p:spPr>
      </p:sp>
      <p:sp>
        <p:nvSpPr>
          <p:cNvPr id="13" name="Text 11"/>
          <p:cNvSpPr/>
          <p:nvPr/>
        </p:nvSpPr>
        <p:spPr>
          <a:xfrm>
            <a:off x="4338828" y="4572000"/>
            <a:ext cx="3511296" cy="822960"/>
          </a:xfrm>
          <a:prstGeom prst="rect">
            <a:avLst/>
          </a:prstGeom>
          <a:noFill/>
          <a:ln/>
        </p:spPr>
        <p:txBody>
          <a:bodyPr wrap="square" lIns="0" tIns="0" rIns="0" bIns="0" rtlCol="0" anchor="ctr"/>
          <a:lstStyle/>
          <a:p>
            <a:pPr algn="ctr" indent="0" marL="0">
              <a:buNone/>
            </a:pPr>
            <a:r>
              <a:rPr lang="en-US" sz="2000" b="1" dirty="0">
                <a:solidFill>
                  <a:srgbClr val="202124"/>
                </a:solidFill>
                <a:latin typeface="Calibri" pitchFamily="34" charset="0"/>
                <a:ea typeface="Calibri" pitchFamily="34" charset="-122"/>
                <a:cs typeface="Calibri" pitchFamily="34" charset="-120"/>
              </a:rPr>
              <a:t>No cambia</a:t>
            </a:r>
            <a:endParaRPr lang="en-US" sz="2000" dirty="0"/>
          </a:p>
        </p:txBody>
      </p:sp>
      <p:sp>
        <p:nvSpPr>
          <p:cNvPr id="14" name="Shape 12"/>
          <p:cNvSpPr/>
          <p:nvPr/>
        </p:nvSpPr>
        <p:spPr>
          <a:xfrm>
            <a:off x="8129016" y="4572000"/>
            <a:ext cx="3511296" cy="822960"/>
          </a:xfrm>
          <a:prstGeom prst="roundRect">
            <a:avLst>
              <a:gd name="adj" fmla="val 8889"/>
            </a:avLst>
          </a:prstGeom>
          <a:solidFill>
            <a:srgbClr val="FEF3D6"/>
          </a:solidFill>
          <a:ln w="19050">
            <a:solidFill>
              <a:srgbClr val="F9AB00"/>
            </a:solidFill>
            <a:prstDash val="solid"/>
          </a:ln>
        </p:spPr>
      </p:sp>
      <p:sp>
        <p:nvSpPr>
          <p:cNvPr id="15" name="Text 13"/>
          <p:cNvSpPr/>
          <p:nvPr/>
        </p:nvSpPr>
        <p:spPr>
          <a:xfrm>
            <a:off x="8129016" y="4572000"/>
            <a:ext cx="3511296" cy="822960"/>
          </a:xfrm>
          <a:prstGeom prst="rect">
            <a:avLst/>
          </a:prstGeom>
          <a:noFill/>
          <a:ln/>
        </p:spPr>
        <p:txBody>
          <a:bodyPr wrap="square" lIns="0" tIns="0" rIns="0" bIns="0" rtlCol="0" anchor="ctr"/>
          <a:lstStyle/>
          <a:p>
            <a:pPr algn="ctr" indent="0" marL="0">
              <a:buNone/>
            </a:pPr>
            <a:r>
              <a:rPr lang="en-US" sz="2000" b="1" dirty="0">
                <a:solidFill>
                  <a:srgbClr val="202124"/>
                </a:solidFill>
                <a:latin typeface="Calibri" pitchFamily="34" charset="0"/>
                <a:ea typeface="Calibri" pitchFamily="34" charset="-122"/>
                <a:cs typeface="Calibri" pitchFamily="34" charset="-120"/>
              </a:rPr>
              <a:t>Baja</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5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¿Con qué se rellena una hora vacía?</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qué hace cada forma de rellenar con el mismo día.</a:t>
            </a:r>
            <a:endParaRPr lang="en-US" sz="1400" dirty="0"/>
          </a:p>
        </p:txBody>
      </p:sp>
      <p:pic>
        <p:nvPicPr>
          <p:cNvPr id="6" name="Image 0" descr="../work35/modulos/modulo03/img/lab03_paso6_huecos.png">    </p:cNvPr>
          <p:cNvPicPr>
            <a:picLocks noChangeAspect="1"/>
          </p:cNvPicPr>
          <p:nvPr/>
        </p:nvPicPr>
        <p:blipFill>
          <a:blip r:embed="rId1"/>
          <a:stretch>
            <a:fillRect/>
          </a:stretch>
        </p:blipFill>
        <p:spPr>
          <a:xfrm>
            <a:off x="548640" y="1463040"/>
            <a:ext cx="11091672" cy="4035373"/>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5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¿Con qué se rellena una hora vacía?</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Compara el promedio que deja cada forma y mira cómo queda el día en cada columna. Decide cuál usarías y por qué.</a:t>
            </a:r>
            <a:endParaRPr lang="en-US" sz="1400" dirty="0"/>
          </a:p>
        </p:txBody>
      </p:sp>
      <p:sp>
        <p:nvSpPr>
          <p:cNvPr id="6" name="Shape 4"/>
          <p:cNvSpPr/>
          <p:nvPr/>
        </p:nvSpPr>
        <p:spPr>
          <a:xfrm>
            <a:off x="548640" y="1481328"/>
            <a:ext cx="11091672" cy="3970782"/>
          </a:xfrm>
          <a:prstGeom prst="roundRect">
            <a:avLst>
              <a:gd name="adj" fmla="val 1382"/>
            </a:avLst>
          </a:prstGeom>
          <a:solidFill>
            <a:srgbClr val="F8F9FA"/>
          </a:solidFill>
          <a:ln w="25400">
            <a:solidFill>
              <a:srgbClr val="F9AB00"/>
            </a:solidFill>
            <a:prstDash val="solid"/>
          </a:ln>
        </p:spPr>
      </p:sp>
      <p:sp>
        <p:nvSpPr>
          <p:cNvPr id="7"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8"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9" name="Text 7"/>
          <p:cNvSpPr/>
          <p:nvPr/>
        </p:nvSpPr>
        <p:spPr>
          <a:xfrm>
            <a:off x="1325880" y="1600200"/>
            <a:ext cx="10085832" cy="3778758"/>
          </a:xfrm>
          <a:prstGeom prst="rect">
            <a:avLst/>
          </a:prstGeom>
          <a:noFill/>
          <a:ln/>
        </p:spPr>
        <p:txBody>
          <a:bodyPr wrap="square" lIns="0" tIns="0" rIns="0" bIns="0" rtlCol="0" anchor="t"/>
          <a:lstStyle/>
          <a:p>
            <a:pPr indent="0" marL="0">
              <a:buNone/>
            </a:pPr>
            <a:r>
              <a:rPr lang="en-US" sz="1200" dirty="0">
                <a:solidFill>
                  <a:srgbClr val="188038"/>
                </a:solidFill>
                <a:latin typeface="Courier New" pitchFamily="34" charset="0"/>
                <a:ea typeface="Courier New" pitchFamily="34" charset="-122"/>
                <a:cs typeface="Courier New" pitchFamily="34" charset="-120"/>
              </a:rPr>
              <a:t># Paso 5</a:t>
            </a:r>
            <a:endParaRPr lang="en-US" sz="1200" dirty="0"/>
          </a:p>
          <a:p>
            <a:pPr indent="0" marL="0">
              <a:buNone/>
            </a:pPr>
            <a:r>
              <a:rPr lang="en-US" sz="1200" dirty="0">
                <a:solidFill>
                  <a:srgbClr val="188038"/>
                </a:solidFill>
                <a:latin typeface="Courier New" pitchFamily="34" charset="0"/>
                <a:ea typeface="Courier New" pitchFamily="34" charset="-122"/>
                <a:cs typeface="Courier New" pitchFamily="34" charset="-120"/>
              </a:rPr>
              <a:t># Todas las horas de Valparaíso, en orden. copy la deja como una tabla aparte.</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valpo = sin_repetidas[sin_repetidas[</a:t>
            </a:r>
            <a:pPr indent="0" marL="0">
              <a:buNone/>
            </a:pPr>
            <a:r>
              <a:rPr lang="en-US" sz="1200" dirty="0">
                <a:solidFill>
                  <a:srgbClr val="A31515"/>
                </a:solidFill>
                <a:latin typeface="Courier New" pitchFamily="34" charset="0"/>
                <a:ea typeface="Courier New" pitchFamily="34" charset="-122"/>
                <a:cs typeface="Courier New" pitchFamily="34" charset="-120"/>
              </a:rPr>
              <a:t>"region"</a:t>
            </a:r>
            <a:pPr indent="0" marL="0">
              <a:buNone/>
            </a:pPr>
            <a:r>
              <a:rPr lang="en-US" sz="1200" dirty="0">
                <a:solidFill>
                  <a:srgbClr val="202124"/>
                </a:solidFill>
                <a:latin typeface="Courier New" pitchFamily="34" charset="0"/>
                <a:ea typeface="Courier New" pitchFamily="34" charset="-122"/>
                <a:cs typeface="Courier New" pitchFamily="34" charset="-120"/>
              </a:rPr>
              <a:t>] == </a:t>
            </a:r>
            <a:pPr indent="0" marL="0">
              <a:buNone/>
            </a:pPr>
            <a:r>
              <a:rPr lang="en-US" sz="1200" dirty="0">
                <a:solidFill>
                  <a:srgbClr val="A31515"/>
                </a:solidFill>
                <a:latin typeface="Courier New" pitchFamily="34" charset="0"/>
                <a:ea typeface="Courier New" pitchFamily="34" charset="-122"/>
                <a:cs typeface="Courier New" pitchFamily="34" charset="-120"/>
              </a:rPr>
              <a:t>"Valparaíso"</a:t>
            </a:r>
            <a:pPr indent="0" marL="0">
              <a:buNone/>
            </a:pPr>
            <a:r>
              <a:rPr lang="en-US" sz="1200" dirty="0">
                <a:solidFill>
                  <a:srgbClr val="202124"/>
                </a:solidFill>
                <a:latin typeface="Courier New" pitchFamily="34" charset="0"/>
                <a:ea typeface="Courier New" pitchFamily="34" charset="-122"/>
                <a:cs typeface="Courier New" pitchFamily="34" charset="-120"/>
              </a:rPr>
              <a:t>].copy()</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print(</a:t>
            </a:r>
            <a:pPr indent="0" marL="0">
              <a:buNone/>
            </a:pPr>
            <a:r>
              <a:rPr lang="en-US" sz="1200" dirty="0">
                <a:solidFill>
                  <a:srgbClr val="A31515"/>
                </a:solidFill>
                <a:latin typeface="Courier New" pitchFamily="34" charset="0"/>
                <a:ea typeface="Courier New" pitchFamily="34" charset="-122"/>
                <a:cs typeface="Courier New" pitchFamily="34" charset="-120"/>
              </a:rPr>
              <a:t>"Horas sin dato"</a:t>
            </a:r>
            <a:pPr indent="0" marL="0">
              <a:buNone/>
            </a:pPr>
            <a:r>
              <a:rPr lang="en-US" sz="1200" dirty="0">
                <a:solidFill>
                  <a:srgbClr val="202124"/>
                </a:solidFill>
                <a:latin typeface="Courier New" pitchFamily="34" charset="0"/>
                <a:ea typeface="Courier New" pitchFamily="34" charset="-122"/>
                <a:cs typeface="Courier New" pitchFamily="34" charset="-120"/>
              </a:rPr>
              <a:t>, valpo[</a:t>
            </a:r>
            <a:pPr indent="0" marL="0">
              <a:buNone/>
            </a:pPr>
            <a:r>
              <a:rPr lang="en-US" sz="1200" dirty="0">
                <a:solidFill>
                  <a:srgbClr val="A31515"/>
                </a:solidFill>
                <a:latin typeface="Courier New" pitchFamily="34" charset="0"/>
                <a:ea typeface="Courier New" pitchFamily="34" charset="-122"/>
                <a:cs typeface="Courier New" pitchFamily="34" charset="-120"/>
              </a:rPr>
              <a:t>"mwh"</a:t>
            </a:r>
            <a:pPr indent="0" marL="0">
              <a:buNone/>
            </a:pPr>
            <a:r>
              <a:rPr lang="en-US" sz="1200" dirty="0">
                <a:solidFill>
                  <a:srgbClr val="202124"/>
                </a:solidFill>
                <a:latin typeface="Courier New" pitchFamily="34" charset="0"/>
                <a:ea typeface="Courier New" pitchFamily="34" charset="-122"/>
                <a:cs typeface="Courier New" pitchFamily="34" charset="-120"/>
              </a:rPr>
              <a:t>].isna().sum())</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188038"/>
                </a:solidFill>
                <a:latin typeface="Courier New" pitchFamily="34" charset="0"/>
                <a:ea typeface="Courier New" pitchFamily="34" charset="-122"/>
                <a:cs typeface="Courier New" pitchFamily="34" charset="-120"/>
              </a:rPr>
              <a:t># Una columna nueva por cada forma de rellenar las horas vacías.</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valpo[</a:t>
            </a:r>
            <a:pPr indent="0" marL="0">
              <a:buNone/>
            </a:pPr>
            <a:r>
              <a:rPr lang="en-US" sz="1200" dirty="0">
                <a:solidFill>
                  <a:srgbClr val="A31515"/>
                </a:solidFill>
                <a:latin typeface="Courier New" pitchFamily="34" charset="0"/>
                <a:ea typeface="Courier New" pitchFamily="34" charset="-122"/>
                <a:cs typeface="Courier New" pitchFamily="34" charset="-120"/>
              </a:rPr>
              <a:t>"poner_cero"</a:t>
            </a:r>
            <a:pPr indent="0" marL="0">
              <a:buNone/>
            </a:pPr>
            <a:r>
              <a:rPr lang="en-US" sz="1200" dirty="0">
                <a:solidFill>
                  <a:srgbClr val="202124"/>
                </a:solidFill>
                <a:latin typeface="Courier New" pitchFamily="34" charset="0"/>
                <a:ea typeface="Courier New" pitchFamily="34" charset="-122"/>
                <a:cs typeface="Courier New" pitchFamily="34" charset="-120"/>
              </a:rPr>
              <a:t>] = valpo[</a:t>
            </a:r>
            <a:pPr indent="0" marL="0">
              <a:buNone/>
            </a:pPr>
            <a:r>
              <a:rPr lang="en-US" sz="1200" dirty="0">
                <a:solidFill>
                  <a:srgbClr val="A31515"/>
                </a:solidFill>
                <a:latin typeface="Courier New" pitchFamily="34" charset="0"/>
                <a:ea typeface="Courier New" pitchFamily="34" charset="-122"/>
                <a:cs typeface="Courier New" pitchFamily="34" charset="-120"/>
              </a:rPr>
              <a:t>"mwh"</a:t>
            </a:r>
            <a:pPr indent="0" marL="0">
              <a:buNone/>
            </a:pPr>
            <a:r>
              <a:rPr lang="en-US" sz="1200" dirty="0">
                <a:solidFill>
                  <a:srgbClr val="202124"/>
                </a:solidFill>
                <a:latin typeface="Courier New" pitchFamily="34" charset="0"/>
                <a:ea typeface="Courier New" pitchFamily="34" charset="-122"/>
                <a:cs typeface="Courier New" pitchFamily="34" charset="-120"/>
              </a:rPr>
              <a:t>].fillna(0)</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valpo[</a:t>
            </a:r>
            <a:pPr indent="0" marL="0">
              <a:buNone/>
            </a:pPr>
            <a:r>
              <a:rPr lang="en-US" sz="1200" dirty="0">
                <a:solidFill>
                  <a:srgbClr val="A31515"/>
                </a:solidFill>
                <a:latin typeface="Courier New" pitchFamily="34" charset="0"/>
                <a:ea typeface="Courier New" pitchFamily="34" charset="-122"/>
                <a:cs typeface="Courier New" pitchFamily="34" charset="-120"/>
              </a:rPr>
              <a:t>"repetir_anterior"</a:t>
            </a:r>
            <a:pPr indent="0" marL="0">
              <a:buNone/>
            </a:pPr>
            <a:r>
              <a:rPr lang="en-US" sz="1200" dirty="0">
                <a:solidFill>
                  <a:srgbClr val="202124"/>
                </a:solidFill>
                <a:latin typeface="Courier New" pitchFamily="34" charset="0"/>
                <a:ea typeface="Courier New" pitchFamily="34" charset="-122"/>
                <a:cs typeface="Courier New" pitchFamily="34" charset="-120"/>
              </a:rPr>
              <a:t>] = valpo[</a:t>
            </a:r>
            <a:pPr indent="0" marL="0">
              <a:buNone/>
            </a:pPr>
            <a:r>
              <a:rPr lang="en-US" sz="1200" dirty="0">
                <a:solidFill>
                  <a:srgbClr val="A31515"/>
                </a:solidFill>
                <a:latin typeface="Courier New" pitchFamily="34" charset="0"/>
                <a:ea typeface="Courier New" pitchFamily="34" charset="-122"/>
                <a:cs typeface="Courier New" pitchFamily="34" charset="-120"/>
              </a:rPr>
              <a:t>"mwh"</a:t>
            </a:r>
            <a:pPr indent="0" marL="0">
              <a:buNone/>
            </a:pPr>
            <a:r>
              <a:rPr lang="en-US" sz="1200" dirty="0">
                <a:solidFill>
                  <a:srgbClr val="202124"/>
                </a:solidFill>
                <a:latin typeface="Courier New" pitchFamily="34" charset="0"/>
                <a:ea typeface="Courier New" pitchFamily="34" charset="-122"/>
                <a:cs typeface="Courier New" pitchFamily="34" charset="-120"/>
              </a:rPr>
              <a:t>].ffill()</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valpo[</a:t>
            </a:r>
            <a:pPr indent="0" marL="0">
              <a:buNone/>
            </a:pPr>
            <a:r>
              <a:rPr lang="en-US" sz="1200" dirty="0">
                <a:solidFill>
                  <a:srgbClr val="A31515"/>
                </a:solidFill>
                <a:latin typeface="Courier New" pitchFamily="34" charset="0"/>
                <a:ea typeface="Courier New" pitchFamily="34" charset="-122"/>
                <a:cs typeface="Courier New" pitchFamily="34" charset="-120"/>
              </a:rPr>
              <a:t>"trazar_recta"</a:t>
            </a:r>
            <a:pPr indent="0" marL="0">
              <a:buNone/>
            </a:pPr>
            <a:r>
              <a:rPr lang="en-US" sz="1200" dirty="0">
                <a:solidFill>
                  <a:srgbClr val="202124"/>
                </a:solidFill>
                <a:latin typeface="Courier New" pitchFamily="34" charset="0"/>
                <a:ea typeface="Courier New" pitchFamily="34" charset="-122"/>
                <a:cs typeface="Courier New" pitchFamily="34" charset="-120"/>
              </a:rPr>
              <a:t>] = valpo[</a:t>
            </a:r>
            <a:pPr indent="0" marL="0">
              <a:buNone/>
            </a:pPr>
            <a:r>
              <a:rPr lang="en-US" sz="1200" dirty="0">
                <a:solidFill>
                  <a:srgbClr val="A31515"/>
                </a:solidFill>
                <a:latin typeface="Courier New" pitchFamily="34" charset="0"/>
                <a:ea typeface="Courier New" pitchFamily="34" charset="-122"/>
                <a:cs typeface="Courier New" pitchFamily="34" charset="-120"/>
              </a:rPr>
              <a:t>"mwh"</a:t>
            </a:r>
            <a:pPr indent="0" marL="0">
              <a:buNone/>
            </a:pPr>
            <a:r>
              <a:rPr lang="en-US" sz="1200" dirty="0">
                <a:solidFill>
                  <a:srgbClr val="202124"/>
                </a:solidFill>
                <a:latin typeface="Courier New" pitchFamily="34" charset="0"/>
                <a:ea typeface="Courier New" pitchFamily="34" charset="-122"/>
                <a:cs typeface="Courier New" pitchFamily="34" charset="-120"/>
              </a:rPr>
              <a:t>].interpolate().round(2)</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188038"/>
                </a:solidFill>
                <a:latin typeface="Courier New" pitchFamily="34" charset="0"/>
                <a:ea typeface="Courier New" pitchFamily="34" charset="-122"/>
                <a:cs typeface="Courier New" pitchFamily="34" charset="-120"/>
              </a:rPr>
              <a:t># El promedio por hora del año con cada forma. mean salta las horas vacías.</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print(</a:t>
            </a:r>
            <a:pPr indent="0" marL="0">
              <a:buNone/>
            </a:pPr>
            <a:r>
              <a:rPr lang="en-US" sz="1200" dirty="0">
                <a:solidFill>
                  <a:srgbClr val="A31515"/>
                </a:solidFill>
                <a:latin typeface="Courier New" pitchFamily="34" charset="0"/>
                <a:ea typeface="Courier New" pitchFamily="34" charset="-122"/>
                <a:cs typeface="Courier New" pitchFamily="34" charset="-120"/>
              </a:rPr>
              <a:t>"Promedio borrando las vacías"</a:t>
            </a:r>
            <a:pPr indent="0" marL="0">
              <a:buNone/>
            </a:pPr>
            <a:r>
              <a:rPr lang="en-US" sz="1200" dirty="0">
                <a:solidFill>
                  <a:srgbClr val="202124"/>
                </a:solidFill>
                <a:latin typeface="Courier New" pitchFamily="34" charset="0"/>
                <a:ea typeface="Courier New" pitchFamily="34" charset="-122"/>
                <a:cs typeface="Courier New" pitchFamily="34" charset="-120"/>
              </a:rPr>
              <a:t>, round(valpo[</a:t>
            </a:r>
            <a:pPr indent="0" marL="0">
              <a:buNone/>
            </a:pPr>
            <a:r>
              <a:rPr lang="en-US" sz="1200" dirty="0">
                <a:solidFill>
                  <a:srgbClr val="A31515"/>
                </a:solidFill>
                <a:latin typeface="Courier New" pitchFamily="34" charset="0"/>
                <a:ea typeface="Courier New" pitchFamily="34" charset="-122"/>
                <a:cs typeface="Courier New" pitchFamily="34" charset="-120"/>
              </a:rPr>
              <a:t>"mwh"</a:t>
            </a:r>
            <a:pPr indent="0" marL="0">
              <a:buNone/>
            </a:pPr>
            <a:r>
              <a:rPr lang="en-US" sz="1200" dirty="0">
                <a:solidFill>
                  <a:srgbClr val="202124"/>
                </a:solidFill>
                <a:latin typeface="Courier New" pitchFamily="34" charset="0"/>
                <a:ea typeface="Courier New" pitchFamily="34" charset="-122"/>
                <a:cs typeface="Courier New" pitchFamily="34" charset="-120"/>
              </a:rPr>
              <a:t>].mean(), 1))</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print(</a:t>
            </a:r>
            <a:pPr indent="0" marL="0">
              <a:buNone/>
            </a:pPr>
            <a:r>
              <a:rPr lang="en-US" sz="1200" dirty="0">
                <a:solidFill>
                  <a:srgbClr val="A31515"/>
                </a:solidFill>
                <a:latin typeface="Courier New" pitchFamily="34" charset="0"/>
                <a:ea typeface="Courier New" pitchFamily="34" charset="-122"/>
                <a:cs typeface="Courier New" pitchFamily="34" charset="-120"/>
              </a:rPr>
              <a:t>"Promedio poniendo cero      "</a:t>
            </a:r>
            <a:pPr indent="0" marL="0">
              <a:buNone/>
            </a:pPr>
            <a:r>
              <a:rPr lang="en-US" sz="1200" dirty="0">
                <a:solidFill>
                  <a:srgbClr val="202124"/>
                </a:solidFill>
                <a:latin typeface="Courier New" pitchFamily="34" charset="0"/>
                <a:ea typeface="Courier New" pitchFamily="34" charset="-122"/>
                <a:cs typeface="Courier New" pitchFamily="34" charset="-120"/>
              </a:rPr>
              <a:t>, round(valpo[</a:t>
            </a:r>
            <a:pPr indent="0" marL="0">
              <a:buNone/>
            </a:pPr>
            <a:r>
              <a:rPr lang="en-US" sz="1200" dirty="0">
                <a:solidFill>
                  <a:srgbClr val="A31515"/>
                </a:solidFill>
                <a:latin typeface="Courier New" pitchFamily="34" charset="0"/>
                <a:ea typeface="Courier New" pitchFamily="34" charset="-122"/>
                <a:cs typeface="Courier New" pitchFamily="34" charset="-120"/>
              </a:rPr>
              <a:t>"poner_cero"</a:t>
            </a:r>
            <a:pPr indent="0" marL="0">
              <a:buNone/>
            </a:pPr>
            <a:r>
              <a:rPr lang="en-US" sz="1200" dirty="0">
                <a:solidFill>
                  <a:srgbClr val="202124"/>
                </a:solidFill>
                <a:latin typeface="Courier New" pitchFamily="34" charset="0"/>
                <a:ea typeface="Courier New" pitchFamily="34" charset="-122"/>
                <a:cs typeface="Courier New" pitchFamily="34" charset="-120"/>
              </a:rPr>
              <a:t>].mean(), 1))</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print(</a:t>
            </a:r>
            <a:pPr indent="0" marL="0">
              <a:buNone/>
            </a:pPr>
            <a:r>
              <a:rPr lang="en-US" sz="1200" dirty="0">
                <a:solidFill>
                  <a:srgbClr val="A31515"/>
                </a:solidFill>
                <a:latin typeface="Courier New" pitchFamily="34" charset="0"/>
                <a:ea typeface="Courier New" pitchFamily="34" charset="-122"/>
                <a:cs typeface="Courier New" pitchFamily="34" charset="-120"/>
              </a:rPr>
              <a:t>"Promedio repitiendo         "</a:t>
            </a:r>
            <a:pPr indent="0" marL="0">
              <a:buNone/>
            </a:pPr>
            <a:r>
              <a:rPr lang="en-US" sz="1200" dirty="0">
                <a:solidFill>
                  <a:srgbClr val="202124"/>
                </a:solidFill>
                <a:latin typeface="Courier New" pitchFamily="34" charset="0"/>
                <a:ea typeface="Courier New" pitchFamily="34" charset="-122"/>
                <a:cs typeface="Courier New" pitchFamily="34" charset="-120"/>
              </a:rPr>
              <a:t>, round(valpo[</a:t>
            </a:r>
            <a:pPr indent="0" marL="0">
              <a:buNone/>
            </a:pPr>
            <a:r>
              <a:rPr lang="en-US" sz="1200" dirty="0">
                <a:solidFill>
                  <a:srgbClr val="A31515"/>
                </a:solidFill>
                <a:latin typeface="Courier New" pitchFamily="34" charset="0"/>
                <a:ea typeface="Courier New" pitchFamily="34" charset="-122"/>
                <a:cs typeface="Courier New" pitchFamily="34" charset="-120"/>
              </a:rPr>
              <a:t>"repetir_anterior"</a:t>
            </a:r>
            <a:pPr indent="0" marL="0">
              <a:buNone/>
            </a:pPr>
            <a:r>
              <a:rPr lang="en-US" sz="1200" dirty="0">
                <a:solidFill>
                  <a:srgbClr val="202124"/>
                </a:solidFill>
                <a:latin typeface="Courier New" pitchFamily="34" charset="0"/>
                <a:ea typeface="Courier New" pitchFamily="34" charset="-122"/>
                <a:cs typeface="Courier New" pitchFamily="34" charset="-120"/>
              </a:rPr>
              <a:t>].mean(), 1))</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print(</a:t>
            </a:r>
            <a:pPr indent="0" marL="0">
              <a:buNone/>
            </a:pPr>
            <a:r>
              <a:rPr lang="en-US" sz="1200" dirty="0">
                <a:solidFill>
                  <a:srgbClr val="A31515"/>
                </a:solidFill>
                <a:latin typeface="Courier New" pitchFamily="34" charset="0"/>
                <a:ea typeface="Courier New" pitchFamily="34" charset="-122"/>
                <a:cs typeface="Courier New" pitchFamily="34" charset="-120"/>
              </a:rPr>
              <a:t>"Promedio con una recta      "</a:t>
            </a:r>
            <a:pPr indent="0" marL="0">
              <a:buNone/>
            </a:pPr>
            <a:r>
              <a:rPr lang="en-US" sz="1200" dirty="0">
                <a:solidFill>
                  <a:srgbClr val="202124"/>
                </a:solidFill>
                <a:latin typeface="Courier New" pitchFamily="34" charset="0"/>
                <a:ea typeface="Courier New" pitchFamily="34" charset="-122"/>
                <a:cs typeface="Courier New" pitchFamily="34" charset="-120"/>
              </a:rPr>
              <a:t>, round(valpo[</a:t>
            </a:r>
            <a:pPr indent="0" marL="0">
              <a:buNone/>
            </a:pPr>
            <a:r>
              <a:rPr lang="en-US" sz="1200" dirty="0">
                <a:solidFill>
                  <a:srgbClr val="A31515"/>
                </a:solidFill>
                <a:latin typeface="Courier New" pitchFamily="34" charset="0"/>
                <a:ea typeface="Courier New" pitchFamily="34" charset="-122"/>
                <a:cs typeface="Courier New" pitchFamily="34" charset="-120"/>
              </a:rPr>
              <a:t>"trazar_recta"</a:t>
            </a:r>
            <a:pPr indent="0" marL="0">
              <a:buNone/>
            </a:pPr>
            <a:r>
              <a:rPr lang="en-US" sz="1200" dirty="0">
                <a:solidFill>
                  <a:srgbClr val="202124"/>
                </a:solidFill>
                <a:latin typeface="Courier New" pitchFamily="34" charset="0"/>
                <a:ea typeface="Courier New" pitchFamily="34" charset="-122"/>
                <a:cs typeface="Courier New" pitchFamily="34" charset="-120"/>
              </a:rPr>
              <a:t>].mean(), 1))</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188038"/>
                </a:solidFill>
                <a:latin typeface="Courier New" pitchFamily="34" charset="0"/>
                <a:ea typeface="Courier New" pitchFamily="34" charset="-122"/>
                <a:cs typeface="Courier New" pitchFamily="34" charset="-120"/>
              </a:rPr>
              <a:t># Un día que vino con ocho horas vacías.</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dia = valpo[valpo[</a:t>
            </a:r>
            <a:pPr indent="0" marL="0">
              <a:buNone/>
            </a:pPr>
            <a:r>
              <a:rPr lang="en-US" sz="1200" dirty="0">
                <a:solidFill>
                  <a:srgbClr val="A31515"/>
                </a:solidFill>
                <a:latin typeface="Courier New" pitchFamily="34" charset="0"/>
                <a:ea typeface="Courier New" pitchFamily="34" charset="-122"/>
                <a:cs typeface="Courier New" pitchFamily="34" charset="-120"/>
              </a:rPr>
              <a:t>"fecha"</a:t>
            </a:r>
            <a:pPr indent="0" marL="0">
              <a:buNone/>
            </a:pPr>
            <a:r>
              <a:rPr lang="en-US" sz="1200" dirty="0">
                <a:solidFill>
                  <a:srgbClr val="202124"/>
                </a:solidFill>
                <a:latin typeface="Courier New" pitchFamily="34" charset="0"/>
                <a:ea typeface="Courier New" pitchFamily="34" charset="-122"/>
                <a:cs typeface="Courier New" pitchFamily="34" charset="-120"/>
              </a:rPr>
              <a:t>] == </a:t>
            </a:r>
            <a:pPr indent="0" marL="0">
              <a:buNone/>
            </a:pPr>
            <a:r>
              <a:rPr lang="en-US" sz="1200" dirty="0">
                <a:solidFill>
                  <a:srgbClr val="A31515"/>
                </a:solidFill>
                <a:latin typeface="Courier New" pitchFamily="34" charset="0"/>
                <a:ea typeface="Courier New" pitchFamily="34" charset="-122"/>
                <a:cs typeface="Courier New" pitchFamily="34" charset="-120"/>
              </a:rPr>
              <a:t>"2024-09-16"</a:t>
            </a:r>
            <a:pPr indent="0" marL="0">
              <a:buNone/>
            </a:pPr>
            <a:r>
              <a:rPr lang="en-US" sz="1200" dirty="0">
                <a:solidFill>
                  <a:srgbClr val="202124"/>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dia</a:t>
            </a:r>
            <a:endParaRPr lang="en-US" sz="1200" dirty="0"/>
          </a:p>
        </p:txBody>
      </p:sp>
      <p:sp>
        <p:nvSpPr>
          <p:cNvPr id="10" name="Text 8"/>
          <p:cNvSpPr/>
          <p:nvPr/>
        </p:nvSpPr>
        <p:spPr>
          <a:xfrm>
            <a:off x="1325880" y="5479542"/>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1" name="Text 9"/>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2" name="Shape 10"/>
          <p:cNvSpPr/>
          <p:nvPr/>
        </p:nvSpPr>
        <p:spPr>
          <a:xfrm>
            <a:off x="548640" y="6062472"/>
            <a:ext cx="1714500" cy="512064"/>
          </a:xfrm>
          <a:prstGeom prst="roundRect">
            <a:avLst>
              <a:gd name="adj" fmla="val 12500"/>
            </a:avLst>
          </a:prstGeom>
          <a:solidFill>
            <a:srgbClr val="F1F3F4"/>
          </a:solidFill>
          <a:ln w="12700">
            <a:solidFill>
              <a:srgbClr val="DADCE0"/>
            </a:solidFill>
            <a:prstDash val="solid"/>
          </a:ln>
        </p:spPr>
      </p:sp>
      <p:sp>
        <p:nvSpPr>
          <p:cNvPr id="13" name="Text 11"/>
          <p:cNvSpPr/>
          <p:nvPr/>
        </p:nvSpPr>
        <p:spPr>
          <a:xfrm>
            <a:off x="640080"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sin_repetidas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61488 × 4</a:t>
            </a:r>
            <a:endParaRPr lang="en-US" sz="1200" dirty="0"/>
          </a:p>
        </p:txBody>
      </p:sp>
      <p:sp>
        <p:nvSpPr>
          <p:cNvPr id="14" name="Shape 12"/>
          <p:cNvSpPr/>
          <p:nvPr/>
        </p:nvSpPr>
        <p:spPr>
          <a:xfrm>
            <a:off x="2400300" y="6062472"/>
            <a:ext cx="1714500" cy="512064"/>
          </a:xfrm>
          <a:prstGeom prst="roundRect">
            <a:avLst>
              <a:gd name="adj" fmla="val 12500"/>
            </a:avLst>
          </a:prstGeom>
          <a:solidFill>
            <a:srgbClr val="F1F3F4"/>
          </a:solidFill>
          <a:ln w="12700">
            <a:solidFill>
              <a:srgbClr val="DADCE0"/>
            </a:solidFill>
            <a:prstDash val="solid"/>
          </a:ln>
        </p:spPr>
      </p:sp>
      <p:sp>
        <p:nvSpPr>
          <p:cNvPr id="15" name="Text 13"/>
          <p:cNvSpPr/>
          <p:nvPr/>
        </p:nvSpPr>
        <p:spPr>
          <a:xfrm>
            <a:off x="2491740"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limpia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61508 × 4</a:t>
            </a:r>
            <a:endParaRPr lang="en-US" sz="1200" dirty="0"/>
          </a:p>
        </p:txBody>
      </p:sp>
      <p:sp>
        <p:nvSpPr>
          <p:cNvPr id="16" name="Shape 14"/>
          <p:cNvSpPr/>
          <p:nvPr/>
        </p:nvSpPr>
        <p:spPr>
          <a:xfrm>
            <a:off x="4251960" y="6062472"/>
            <a:ext cx="1149401" cy="512064"/>
          </a:xfrm>
          <a:prstGeom prst="roundRect">
            <a:avLst>
              <a:gd name="adj" fmla="val 12500"/>
            </a:avLst>
          </a:prstGeom>
          <a:solidFill>
            <a:srgbClr val="F1F3F4"/>
          </a:solidFill>
          <a:ln w="12700">
            <a:solidFill>
              <a:srgbClr val="DADCE0"/>
            </a:solidFill>
            <a:prstDash val="solid"/>
          </a:ln>
        </p:spPr>
      </p:sp>
      <p:sp>
        <p:nvSpPr>
          <p:cNvPr id="17" name="Text 15"/>
          <p:cNvSpPr/>
          <p:nvPr/>
        </p:nvSpPr>
        <p:spPr>
          <a:xfrm>
            <a:off x="4343400" y="6071616"/>
            <a:ext cx="1012241"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esperadas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61488</a:t>
            </a:r>
            <a:endParaRPr lang="en-US" sz="1200" dirty="0"/>
          </a:p>
        </p:txBody>
      </p:sp>
      <p:sp>
        <p:nvSpPr>
          <p:cNvPr id="18" name="Shape 16"/>
          <p:cNvSpPr/>
          <p:nvPr/>
        </p:nvSpPr>
        <p:spPr>
          <a:xfrm>
            <a:off x="5538521" y="6062472"/>
            <a:ext cx="1714500" cy="512064"/>
          </a:xfrm>
          <a:prstGeom prst="roundRect">
            <a:avLst>
              <a:gd name="adj" fmla="val 12500"/>
            </a:avLst>
          </a:prstGeom>
          <a:solidFill>
            <a:srgbClr val="F1F3F4"/>
          </a:solidFill>
          <a:ln w="12700">
            <a:solidFill>
              <a:srgbClr val="DADCE0"/>
            </a:solidFill>
            <a:prstDash val="solid"/>
          </a:ln>
        </p:spPr>
      </p:sp>
      <p:sp>
        <p:nvSpPr>
          <p:cNvPr id="19" name="Text 17"/>
          <p:cNvSpPr/>
          <p:nvPr/>
        </p:nvSpPr>
        <p:spPr>
          <a:xfrm>
            <a:off x="5629961"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sucia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61508 × 4</a:t>
            </a:r>
            <a:endParaRPr lang="en-US" sz="1200" dirty="0"/>
          </a:p>
        </p:txBody>
      </p:sp>
      <p:sp>
        <p:nvSpPr>
          <p:cNvPr id="20" name="Shape 18"/>
          <p:cNvSpPr/>
          <p:nvPr/>
        </p:nvSpPr>
        <p:spPr>
          <a:xfrm>
            <a:off x="7390181" y="6062472"/>
            <a:ext cx="1143000" cy="512064"/>
          </a:xfrm>
          <a:prstGeom prst="roundRect">
            <a:avLst>
              <a:gd name="adj" fmla="val 12500"/>
            </a:avLst>
          </a:prstGeom>
          <a:solidFill>
            <a:srgbClr val="F1F3F4"/>
          </a:solidFill>
          <a:ln w="12700">
            <a:solidFill>
              <a:srgbClr val="DADCE0"/>
            </a:solidFill>
            <a:prstDash val="solid"/>
          </a:ln>
        </p:spPr>
      </p:sp>
      <p:sp>
        <p:nvSpPr>
          <p:cNvPr id="21" name="Text 19"/>
          <p:cNvSpPr/>
          <p:nvPr/>
        </p:nvSpPr>
        <p:spPr>
          <a:xfrm>
            <a:off x="7481621"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22" name="Shape 20"/>
          <p:cNvSpPr/>
          <p:nvPr/>
        </p:nvSpPr>
        <p:spPr>
          <a:xfrm>
            <a:off x="8670341" y="6062472"/>
            <a:ext cx="2750515" cy="512064"/>
          </a:xfrm>
          <a:prstGeom prst="roundRect">
            <a:avLst>
              <a:gd name="adj" fmla="val 12500"/>
            </a:avLst>
          </a:prstGeom>
          <a:solidFill>
            <a:srgbClr val="F1F3F4"/>
          </a:solidFill>
          <a:ln w="12700">
            <a:solidFill>
              <a:srgbClr val="DADCE0"/>
            </a:solidFill>
            <a:prstDash val="solid"/>
          </a:ln>
        </p:spPr>
      </p:sp>
      <p:sp>
        <p:nvSpPr>
          <p:cNvPr id="23" name="Text 21"/>
          <p:cNvSpPr/>
          <p:nvPr/>
        </p:nvSpPr>
        <p:spPr>
          <a:xfrm>
            <a:off x="8761781" y="6071616"/>
            <a:ext cx="2613355"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5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¿Con qué se rellena una hora vacía?</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lee esta línea, pieza por pieza</a:t>
            </a:r>
            <a:endParaRPr lang="en-US" sz="1400" dirty="0"/>
          </a:p>
        </p:txBody>
      </p:sp>
      <p:sp>
        <p:nvSpPr>
          <p:cNvPr id="6" name="Shape 4"/>
          <p:cNvSpPr/>
          <p:nvPr/>
        </p:nvSpPr>
        <p:spPr>
          <a:xfrm>
            <a:off x="548640" y="1463040"/>
            <a:ext cx="11091672" cy="484632"/>
          </a:xfrm>
          <a:prstGeom prst="roundRect">
            <a:avLst>
              <a:gd name="adj" fmla="val 11321"/>
            </a:avLst>
          </a:prstGeom>
          <a:solidFill>
            <a:srgbClr val="F8F9FA"/>
          </a:solidFill>
          <a:ln w="12700">
            <a:solidFill>
              <a:srgbClr val="DADCE0"/>
            </a:solidFill>
            <a:prstDash val="solid"/>
          </a:ln>
        </p:spPr>
      </p:sp>
      <p:sp>
        <p:nvSpPr>
          <p:cNvPr id="7" name="Text 5"/>
          <p:cNvSpPr/>
          <p:nvPr/>
        </p:nvSpPr>
        <p:spPr>
          <a:xfrm>
            <a:off x="822960" y="1572768"/>
            <a:ext cx="10634472" cy="265176"/>
          </a:xfrm>
          <a:prstGeom prst="rect">
            <a:avLst/>
          </a:prstGeom>
          <a:noFill/>
          <a:ln/>
        </p:spPr>
        <p:txBody>
          <a:bodyPr wrap="square" lIns="0" tIns="0" rIns="0" bIns="0" rtlCol="0" anchor="t"/>
          <a:lstStyle/>
          <a:p>
            <a:pPr indent="0" marL="0">
              <a:buNone/>
            </a:pPr>
            <a:r>
              <a:rPr lang="en-US" sz="1600" dirty="0">
                <a:solidFill>
                  <a:srgbClr val="202124"/>
                </a:solidFill>
                <a:latin typeface="Courier New" pitchFamily="34" charset="0"/>
                <a:ea typeface="Courier New" pitchFamily="34" charset="-122"/>
                <a:cs typeface="Courier New" pitchFamily="34" charset="-120"/>
              </a:rPr>
              <a:t>valpo[</a:t>
            </a:r>
            <a:pPr indent="0" marL="0">
              <a:buNone/>
            </a:pPr>
            <a:r>
              <a:rPr lang="en-US" sz="1600" dirty="0">
                <a:solidFill>
                  <a:srgbClr val="A31515"/>
                </a:solidFill>
                <a:latin typeface="Courier New" pitchFamily="34" charset="0"/>
                <a:ea typeface="Courier New" pitchFamily="34" charset="-122"/>
                <a:cs typeface="Courier New" pitchFamily="34" charset="-120"/>
              </a:rPr>
              <a:t>"repetir_anterior"</a:t>
            </a:r>
            <a:pPr indent="0" marL="0">
              <a:buNone/>
            </a:pPr>
            <a:r>
              <a:rPr lang="en-US" sz="1600" dirty="0">
                <a:solidFill>
                  <a:srgbClr val="202124"/>
                </a:solidFill>
                <a:latin typeface="Courier New" pitchFamily="34" charset="0"/>
                <a:ea typeface="Courier New" pitchFamily="34" charset="-122"/>
                <a:cs typeface="Courier New" pitchFamily="34" charset="-120"/>
              </a:rPr>
              <a:t>] = valpo[</a:t>
            </a:r>
            <a:pPr indent="0" marL="0">
              <a:buNone/>
            </a:pPr>
            <a:r>
              <a:rPr lang="en-US" sz="1600" dirty="0">
                <a:solidFill>
                  <a:srgbClr val="A31515"/>
                </a:solidFill>
                <a:latin typeface="Courier New" pitchFamily="34" charset="0"/>
                <a:ea typeface="Courier New" pitchFamily="34" charset="-122"/>
                <a:cs typeface="Courier New" pitchFamily="34" charset="-120"/>
              </a:rPr>
              <a:t>"mwh"</a:t>
            </a:r>
            <a:pPr indent="0" marL="0">
              <a:buNone/>
            </a:pPr>
            <a:r>
              <a:rPr lang="en-US" sz="1600" dirty="0">
                <a:solidFill>
                  <a:srgbClr val="202124"/>
                </a:solidFill>
                <a:latin typeface="Courier New" pitchFamily="34" charset="0"/>
                <a:ea typeface="Courier New" pitchFamily="34" charset="-122"/>
                <a:cs typeface="Courier New" pitchFamily="34" charset="-120"/>
              </a:rPr>
              <a:t>].ffill()</a:t>
            </a:r>
            <a:endParaRPr lang="en-US" sz="1600" dirty="0"/>
          </a:p>
        </p:txBody>
      </p:sp>
      <p:sp>
        <p:nvSpPr>
          <p:cNvPr id="8" name="Shape 6"/>
          <p:cNvSpPr/>
          <p:nvPr/>
        </p:nvSpPr>
        <p:spPr>
          <a:xfrm>
            <a:off x="548640" y="2414016"/>
            <a:ext cx="329184" cy="329184"/>
          </a:xfrm>
          <a:prstGeom prst="ellipse">
            <a:avLst/>
          </a:prstGeom>
          <a:solidFill>
            <a:srgbClr val="1A6FD4"/>
          </a:solidFill>
          <a:ln w="12700">
            <a:solidFill>
              <a:srgbClr val="1A6FD4"/>
            </a:solidFill>
            <a:prstDash val="solid"/>
          </a:ln>
        </p:spPr>
      </p:sp>
      <p:sp>
        <p:nvSpPr>
          <p:cNvPr id="9" name="Text 7"/>
          <p:cNvSpPr/>
          <p:nvPr/>
        </p:nvSpPr>
        <p:spPr>
          <a:xfrm>
            <a:off x="548640" y="241401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2221992"/>
            <a:ext cx="4937760" cy="713232"/>
          </a:xfrm>
          <a:prstGeom prst="roundRect">
            <a:avLst>
              <a:gd name="adj" fmla="val 6410"/>
            </a:avLst>
          </a:prstGeom>
          <a:solidFill>
            <a:srgbClr val="DBE9FB"/>
          </a:solidFill>
          <a:ln w="12700">
            <a:solidFill>
              <a:srgbClr val="DBE9FB"/>
            </a:solidFill>
            <a:prstDash val="solid"/>
          </a:ln>
        </p:spPr>
      </p:sp>
      <p:sp>
        <p:nvSpPr>
          <p:cNvPr id="11" name="Text 9"/>
          <p:cNvSpPr/>
          <p:nvPr/>
        </p:nvSpPr>
        <p:spPr>
          <a:xfrm>
            <a:off x="1170432" y="2221992"/>
            <a:ext cx="4754880" cy="71323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valpo["mwh"]</a:t>
            </a:r>
            <a:endParaRPr lang="en-US" sz="1400" dirty="0"/>
          </a:p>
        </p:txBody>
      </p:sp>
      <p:sp>
        <p:nvSpPr>
          <p:cNvPr id="12" name="Text 10"/>
          <p:cNvSpPr/>
          <p:nvPr/>
        </p:nvSpPr>
        <p:spPr>
          <a:xfrm>
            <a:off x="6263640" y="2221992"/>
            <a:ext cx="5376672" cy="71323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La demanda de Valparaíso, hora por hora, con sus horas vacías.</a:t>
            </a:r>
            <a:endParaRPr lang="en-US" sz="1600" dirty="0"/>
          </a:p>
        </p:txBody>
      </p:sp>
      <p:sp>
        <p:nvSpPr>
          <p:cNvPr id="13" name="Shape 11"/>
          <p:cNvSpPr/>
          <p:nvPr/>
        </p:nvSpPr>
        <p:spPr>
          <a:xfrm>
            <a:off x="548640" y="3218688"/>
            <a:ext cx="329184" cy="329184"/>
          </a:xfrm>
          <a:prstGeom prst="ellipse">
            <a:avLst/>
          </a:prstGeom>
          <a:solidFill>
            <a:srgbClr val="1E8E3E"/>
          </a:solidFill>
          <a:ln w="12700">
            <a:solidFill>
              <a:srgbClr val="1E8E3E"/>
            </a:solidFill>
            <a:prstDash val="solid"/>
          </a:ln>
        </p:spPr>
      </p:sp>
      <p:sp>
        <p:nvSpPr>
          <p:cNvPr id="14" name="Text 12"/>
          <p:cNvSpPr/>
          <p:nvPr/>
        </p:nvSpPr>
        <p:spPr>
          <a:xfrm>
            <a:off x="548640" y="32186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3026664"/>
            <a:ext cx="4937760" cy="713232"/>
          </a:xfrm>
          <a:prstGeom prst="roundRect">
            <a:avLst>
              <a:gd name="adj" fmla="val 6410"/>
            </a:avLst>
          </a:prstGeom>
          <a:solidFill>
            <a:srgbClr val="DCEFE0"/>
          </a:solidFill>
          <a:ln w="12700">
            <a:solidFill>
              <a:srgbClr val="DCEFE0"/>
            </a:solidFill>
            <a:prstDash val="solid"/>
          </a:ln>
        </p:spPr>
      </p:sp>
      <p:sp>
        <p:nvSpPr>
          <p:cNvPr id="16" name="Text 14"/>
          <p:cNvSpPr/>
          <p:nvPr/>
        </p:nvSpPr>
        <p:spPr>
          <a:xfrm>
            <a:off x="1170432" y="3026664"/>
            <a:ext cx="4754880" cy="71323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.ffill()</a:t>
            </a:r>
            <a:endParaRPr lang="en-US" sz="1400" dirty="0"/>
          </a:p>
        </p:txBody>
      </p:sp>
      <p:sp>
        <p:nvSpPr>
          <p:cNvPr id="17" name="Text 15"/>
          <p:cNvSpPr/>
          <p:nvPr/>
        </p:nvSpPr>
        <p:spPr>
          <a:xfrm>
            <a:off x="6263640" y="3026664"/>
            <a:ext cx="5376672" cy="71323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Rellena cada hora vacía repitiendo el valor de la hora anterior.</a:t>
            </a:r>
            <a:endParaRPr lang="en-US" sz="1600" dirty="0"/>
          </a:p>
        </p:txBody>
      </p:sp>
      <p:sp>
        <p:nvSpPr>
          <p:cNvPr id="18" name="Shape 16"/>
          <p:cNvSpPr/>
          <p:nvPr/>
        </p:nvSpPr>
        <p:spPr>
          <a:xfrm>
            <a:off x="548640" y="4023360"/>
            <a:ext cx="329184" cy="329184"/>
          </a:xfrm>
          <a:prstGeom prst="ellipse">
            <a:avLst/>
          </a:prstGeom>
          <a:solidFill>
            <a:srgbClr val="B07D00"/>
          </a:solidFill>
          <a:ln w="12700">
            <a:solidFill>
              <a:srgbClr val="B07D00"/>
            </a:solidFill>
            <a:prstDash val="solid"/>
          </a:ln>
        </p:spPr>
      </p:sp>
      <p:sp>
        <p:nvSpPr>
          <p:cNvPr id="19" name="Text 17"/>
          <p:cNvSpPr/>
          <p:nvPr/>
        </p:nvSpPr>
        <p:spPr>
          <a:xfrm>
            <a:off x="548640" y="40233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Shape 18"/>
          <p:cNvSpPr/>
          <p:nvPr/>
        </p:nvSpPr>
        <p:spPr>
          <a:xfrm>
            <a:off x="1051560" y="3831336"/>
            <a:ext cx="4937760" cy="713232"/>
          </a:xfrm>
          <a:prstGeom prst="roundRect">
            <a:avLst>
              <a:gd name="adj" fmla="val 6410"/>
            </a:avLst>
          </a:prstGeom>
          <a:solidFill>
            <a:srgbClr val="FDF0C8"/>
          </a:solidFill>
          <a:ln w="12700">
            <a:solidFill>
              <a:srgbClr val="FDF0C8"/>
            </a:solidFill>
            <a:prstDash val="solid"/>
          </a:ln>
        </p:spPr>
      </p:sp>
      <p:sp>
        <p:nvSpPr>
          <p:cNvPr id="21" name="Text 19"/>
          <p:cNvSpPr/>
          <p:nvPr/>
        </p:nvSpPr>
        <p:spPr>
          <a:xfrm>
            <a:off x="1170432" y="3831336"/>
            <a:ext cx="4754880" cy="71323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valpo["repetir_anterior"] =</a:t>
            </a:r>
            <a:endParaRPr lang="en-US" sz="1400" dirty="0"/>
          </a:p>
        </p:txBody>
      </p:sp>
      <p:sp>
        <p:nvSpPr>
          <p:cNvPr id="22" name="Text 20"/>
          <p:cNvSpPr/>
          <p:nvPr/>
        </p:nvSpPr>
        <p:spPr>
          <a:xfrm>
            <a:off x="6263640" y="3831336"/>
            <a:ext cx="5376672" cy="71323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Guarda el resultado como una columna nueva, sin tocar mwh.</a:t>
            </a:r>
            <a:endParaRPr lang="en-US" sz="1600" dirty="0"/>
          </a:p>
        </p:txBody>
      </p:sp>
      <p:sp>
        <p:nvSpPr>
          <p:cNvPr id="23" name="Shape 21"/>
          <p:cNvSpPr/>
          <p:nvPr/>
        </p:nvSpPr>
        <p:spPr>
          <a:xfrm>
            <a:off x="548640" y="5989320"/>
            <a:ext cx="73152" cy="548640"/>
          </a:xfrm>
          <a:prstGeom prst="rect">
            <a:avLst/>
          </a:prstGeom>
          <a:solidFill>
            <a:srgbClr val="0B3D62"/>
          </a:solidFill>
          <a:ln w="12700">
            <a:solidFill>
              <a:srgbClr val="0B3D62"/>
            </a:solidFill>
            <a:prstDash val="solid"/>
          </a:ln>
        </p:spPr>
      </p:sp>
      <p:sp>
        <p:nvSpPr>
          <p:cNvPr id="24" name="Text 22"/>
          <p:cNvSpPr/>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copia la columna mwh rellenando cada hueco con el valor de arriba, y guárdala como repetir_anterior.</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5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¿Con qué se rellena una hora vacía?</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lee esta línea, pieza por pieza</a:t>
            </a:r>
            <a:endParaRPr lang="en-US" sz="1400" dirty="0"/>
          </a:p>
        </p:txBody>
      </p:sp>
      <p:sp>
        <p:nvSpPr>
          <p:cNvPr id="6" name="Shape 4"/>
          <p:cNvSpPr/>
          <p:nvPr/>
        </p:nvSpPr>
        <p:spPr>
          <a:xfrm>
            <a:off x="548640" y="1463040"/>
            <a:ext cx="11091672" cy="484632"/>
          </a:xfrm>
          <a:prstGeom prst="roundRect">
            <a:avLst>
              <a:gd name="adj" fmla="val 11321"/>
            </a:avLst>
          </a:prstGeom>
          <a:solidFill>
            <a:srgbClr val="F8F9FA"/>
          </a:solidFill>
          <a:ln w="12700">
            <a:solidFill>
              <a:srgbClr val="DADCE0"/>
            </a:solidFill>
            <a:prstDash val="solid"/>
          </a:ln>
        </p:spPr>
      </p:sp>
      <p:sp>
        <p:nvSpPr>
          <p:cNvPr id="7" name="Text 5"/>
          <p:cNvSpPr/>
          <p:nvPr/>
        </p:nvSpPr>
        <p:spPr>
          <a:xfrm>
            <a:off x="822960" y="1572768"/>
            <a:ext cx="10634472" cy="265176"/>
          </a:xfrm>
          <a:prstGeom prst="rect">
            <a:avLst/>
          </a:prstGeom>
          <a:noFill/>
          <a:ln/>
        </p:spPr>
        <p:txBody>
          <a:bodyPr wrap="square" lIns="0" tIns="0" rIns="0" bIns="0" rtlCol="0" anchor="t"/>
          <a:lstStyle/>
          <a:p>
            <a:pPr indent="0" marL="0">
              <a:buNone/>
            </a:pPr>
            <a:r>
              <a:rPr lang="en-US" sz="1600" dirty="0">
                <a:solidFill>
                  <a:srgbClr val="202124"/>
                </a:solidFill>
                <a:latin typeface="Courier New" pitchFamily="34" charset="0"/>
                <a:ea typeface="Courier New" pitchFamily="34" charset="-122"/>
                <a:cs typeface="Courier New" pitchFamily="34" charset="-120"/>
              </a:rPr>
              <a:t>valpo = sin_repetidas[sin_repetidas[</a:t>
            </a:r>
            <a:pPr indent="0" marL="0">
              <a:buNone/>
            </a:pPr>
            <a:r>
              <a:rPr lang="en-US" sz="1600" dirty="0">
                <a:solidFill>
                  <a:srgbClr val="A31515"/>
                </a:solidFill>
                <a:latin typeface="Courier New" pitchFamily="34" charset="0"/>
                <a:ea typeface="Courier New" pitchFamily="34" charset="-122"/>
                <a:cs typeface="Courier New" pitchFamily="34" charset="-120"/>
              </a:rPr>
              <a:t>"region"</a:t>
            </a:r>
            <a:pPr indent="0" marL="0">
              <a:buNone/>
            </a:pPr>
            <a:r>
              <a:rPr lang="en-US" sz="1600" dirty="0">
                <a:solidFill>
                  <a:srgbClr val="202124"/>
                </a:solidFill>
                <a:latin typeface="Courier New" pitchFamily="34" charset="0"/>
                <a:ea typeface="Courier New" pitchFamily="34" charset="-122"/>
                <a:cs typeface="Courier New" pitchFamily="34" charset="-120"/>
              </a:rPr>
              <a:t>] == </a:t>
            </a:r>
            <a:pPr indent="0" marL="0">
              <a:buNone/>
            </a:pPr>
            <a:r>
              <a:rPr lang="en-US" sz="1600" dirty="0">
                <a:solidFill>
                  <a:srgbClr val="A31515"/>
                </a:solidFill>
                <a:latin typeface="Courier New" pitchFamily="34" charset="0"/>
                <a:ea typeface="Courier New" pitchFamily="34" charset="-122"/>
                <a:cs typeface="Courier New" pitchFamily="34" charset="-120"/>
              </a:rPr>
              <a:t>"Valparaíso"</a:t>
            </a:r>
            <a:pPr indent="0" marL="0">
              <a:buNone/>
            </a:pPr>
            <a:r>
              <a:rPr lang="en-US" sz="1600" dirty="0">
                <a:solidFill>
                  <a:srgbClr val="202124"/>
                </a:solidFill>
                <a:latin typeface="Courier New" pitchFamily="34" charset="0"/>
                <a:ea typeface="Courier New" pitchFamily="34" charset="-122"/>
                <a:cs typeface="Courier New" pitchFamily="34" charset="-120"/>
              </a:rPr>
              <a:t>].copy()</a:t>
            </a:r>
            <a:endParaRPr lang="en-US" sz="1600" dirty="0"/>
          </a:p>
        </p:txBody>
      </p:sp>
      <p:sp>
        <p:nvSpPr>
          <p:cNvPr id="8" name="Shape 6"/>
          <p:cNvSpPr/>
          <p:nvPr/>
        </p:nvSpPr>
        <p:spPr>
          <a:xfrm>
            <a:off x="548640" y="2414016"/>
            <a:ext cx="329184" cy="329184"/>
          </a:xfrm>
          <a:prstGeom prst="ellipse">
            <a:avLst/>
          </a:prstGeom>
          <a:solidFill>
            <a:srgbClr val="1A6FD4"/>
          </a:solidFill>
          <a:ln w="12700">
            <a:solidFill>
              <a:srgbClr val="1A6FD4"/>
            </a:solidFill>
            <a:prstDash val="solid"/>
          </a:ln>
        </p:spPr>
      </p:sp>
      <p:sp>
        <p:nvSpPr>
          <p:cNvPr id="9" name="Text 7"/>
          <p:cNvSpPr/>
          <p:nvPr/>
        </p:nvSpPr>
        <p:spPr>
          <a:xfrm>
            <a:off x="548640" y="241401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2221992"/>
            <a:ext cx="4937760" cy="713232"/>
          </a:xfrm>
          <a:prstGeom prst="roundRect">
            <a:avLst>
              <a:gd name="adj" fmla="val 6410"/>
            </a:avLst>
          </a:prstGeom>
          <a:solidFill>
            <a:srgbClr val="DBE9FB"/>
          </a:solidFill>
          <a:ln w="12700">
            <a:solidFill>
              <a:srgbClr val="DBE9FB"/>
            </a:solidFill>
            <a:prstDash val="solid"/>
          </a:ln>
        </p:spPr>
      </p:sp>
      <p:sp>
        <p:nvSpPr>
          <p:cNvPr id="11" name="Text 9"/>
          <p:cNvSpPr/>
          <p:nvPr/>
        </p:nvSpPr>
        <p:spPr>
          <a:xfrm>
            <a:off x="1170432" y="2221992"/>
            <a:ext cx="4754880" cy="713232"/>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sin_repetidas["region"] == "Valparaíso"</a:t>
            </a:r>
            <a:endParaRPr lang="en-US" sz="1200" dirty="0"/>
          </a:p>
        </p:txBody>
      </p:sp>
      <p:sp>
        <p:nvSpPr>
          <p:cNvPr id="12" name="Text 10"/>
          <p:cNvSpPr/>
          <p:nvPr/>
        </p:nvSpPr>
        <p:spPr>
          <a:xfrm>
            <a:off x="6263640" y="2221992"/>
            <a:ext cx="5376672" cy="71323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La pregunta a cada fila, si su región es Valparaíso. Da True o False.</a:t>
            </a:r>
            <a:endParaRPr lang="en-US" sz="1600" dirty="0"/>
          </a:p>
        </p:txBody>
      </p:sp>
      <p:sp>
        <p:nvSpPr>
          <p:cNvPr id="13" name="Shape 11"/>
          <p:cNvSpPr/>
          <p:nvPr/>
        </p:nvSpPr>
        <p:spPr>
          <a:xfrm>
            <a:off x="548640" y="3218688"/>
            <a:ext cx="329184" cy="329184"/>
          </a:xfrm>
          <a:prstGeom prst="ellipse">
            <a:avLst/>
          </a:prstGeom>
          <a:solidFill>
            <a:srgbClr val="1E8E3E"/>
          </a:solidFill>
          <a:ln w="12700">
            <a:solidFill>
              <a:srgbClr val="1E8E3E"/>
            </a:solidFill>
            <a:prstDash val="solid"/>
          </a:ln>
        </p:spPr>
      </p:sp>
      <p:sp>
        <p:nvSpPr>
          <p:cNvPr id="14" name="Text 12"/>
          <p:cNvSpPr/>
          <p:nvPr/>
        </p:nvSpPr>
        <p:spPr>
          <a:xfrm>
            <a:off x="548640" y="32186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3026664"/>
            <a:ext cx="4937760" cy="713232"/>
          </a:xfrm>
          <a:prstGeom prst="roundRect">
            <a:avLst>
              <a:gd name="adj" fmla="val 6410"/>
            </a:avLst>
          </a:prstGeom>
          <a:solidFill>
            <a:srgbClr val="DCEFE0"/>
          </a:solidFill>
          <a:ln w="12700">
            <a:solidFill>
              <a:srgbClr val="DCEFE0"/>
            </a:solidFill>
            <a:prstDash val="solid"/>
          </a:ln>
        </p:spPr>
      </p:sp>
      <p:sp>
        <p:nvSpPr>
          <p:cNvPr id="16" name="Text 14"/>
          <p:cNvSpPr/>
          <p:nvPr/>
        </p:nvSpPr>
        <p:spPr>
          <a:xfrm>
            <a:off x="1170432" y="3026664"/>
            <a:ext cx="4754880" cy="71323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sin_repetidas[ ... ]</a:t>
            </a:r>
            <a:endParaRPr lang="en-US" sz="1400" dirty="0"/>
          </a:p>
        </p:txBody>
      </p:sp>
      <p:sp>
        <p:nvSpPr>
          <p:cNvPr id="17" name="Text 15"/>
          <p:cNvSpPr/>
          <p:nvPr/>
        </p:nvSpPr>
        <p:spPr>
          <a:xfrm>
            <a:off x="6263640" y="3026664"/>
            <a:ext cx="5376672" cy="71323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El filtro deja pasar las filas con True, como en el Lab 02.</a:t>
            </a:r>
            <a:endParaRPr lang="en-US" sz="1600" dirty="0"/>
          </a:p>
        </p:txBody>
      </p:sp>
      <p:sp>
        <p:nvSpPr>
          <p:cNvPr id="18" name="Shape 16"/>
          <p:cNvSpPr/>
          <p:nvPr/>
        </p:nvSpPr>
        <p:spPr>
          <a:xfrm>
            <a:off x="548640" y="4023360"/>
            <a:ext cx="329184" cy="329184"/>
          </a:xfrm>
          <a:prstGeom prst="ellipse">
            <a:avLst/>
          </a:prstGeom>
          <a:solidFill>
            <a:srgbClr val="B07D00"/>
          </a:solidFill>
          <a:ln w="12700">
            <a:solidFill>
              <a:srgbClr val="B07D00"/>
            </a:solidFill>
            <a:prstDash val="solid"/>
          </a:ln>
        </p:spPr>
      </p:sp>
      <p:sp>
        <p:nvSpPr>
          <p:cNvPr id="19" name="Text 17"/>
          <p:cNvSpPr/>
          <p:nvPr/>
        </p:nvSpPr>
        <p:spPr>
          <a:xfrm>
            <a:off x="548640" y="40233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Shape 18"/>
          <p:cNvSpPr/>
          <p:nvPr/>
        </p:nvSpPr>
        <p:spPr>
          <a:xfrm>
            <a:off x="1051560" y="3831336"/>
            <a:ext cx="4937760" cy="713232"/>
          </a:xfrm>
          <a:prstGeom prst="roundRect">
            <a:avLst>
              <a:gd name="adj" fmla="val 6410"/>
            </a:avLst>
          </a:prstGeom>
          <a:solidFill>
            <a:srgbClr val="FDF0C8"/>
          </a:solidFill>
          <a:ln w="12700">
            <a:solidFill>
              <a:srgbClr val="FDF0C8"/>
            </a:solidFill>
            <a:prstDash val="solid"/>
          </a:ln>
        </p:spPr>
      </p:sp>
      <p:sp>
        <p:nvSpPr>
          <p:cNvPr id="21" name="Text 19"/>
          <p:cNvSpPr/>
          <p:nvPr/>
        </p:nvSpPr>
        <p:spPr>
          <a:xfrm>
            <a:off x="1170432" y="3831336"/>
            <a:ext cx="4754880" cy="71323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.copy()</a:t>
            </a:r>
            <a:endParaRPr lang="en-US" sz="1400" dirty="0"/>
          </a:p>
        </p:txBody>
      </p:sp>
      <p:sp>
        <p:nvSpPr>
          <p:cNvPr id="22" name="Text 20"/>
          <p:cNvSpPr/>
          <p:nvPr/>
        </p:nvSpPr>
        <p:spPr>
          <a:xfrm>
            <a:off x="6263640" y="3831336"/>
            <a:ext cx="5376672" cy="71323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Guarda esas filas como una tabla aparte, así pandas no muestra un aviso al agregarle columnas.</a:t>
            </a:r>
            <a:endParaRPr lang="en-US" sz="1600" dirty="0"/>
          </a:p>
        </p:txBody>
      </p:sp>
      <p:sp>
        <p:nvSpPr>
          <p:cNvPr id="23" name="Shape 21"/>
          <p:cNvSpPr/>
          <p:nvPr/>
        </p:nvSpPr>
        <p:spPr>
          <a:xfrm>
            <a:off x="548640" y="5989320"/>
            <a:ext cx="73152" cy="548640"/>
          </a:xfrm>
          <a:prstGeom prst="rect">
            <a:avLst/>
          </a:prstGeom>
          <a:solidFill>
            <a:srgbClr val="0B3D62"/>
          </a:solidFill>
          <a:ln w="12700">
            <a:solidFill>
              <a:srgbClr val="0B3D62"/>
            </a:solidFill>
            <a:prstDash val="solid"/>
          </a:ln>
        </p:spPr>
      </p:sp>
      <p:sp>
        <p:nvSpPr>
          <p:cNvPr id="24" name="Text 22"/>
          <p:cNvSpPr/>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deja solo las horas de Valparaíso y guárdalas como una tabla aparte llamada valpo.</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5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¿Con qué se rellena una hora vacía?</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Compara el promedio que deja cada forma y mira cómo queda el día en cada columna. Decide cuál usarías y por qué.</a:t>
            </a:r>
            <a:endParaRPr lang="en-US" sz="1400" dirty="0"/>
          </a:p>
        </p:txBody>
      </p:sp>
      <p:sp>
        <p:nvSpPr>
          <p:cNvPr id="6" name="Text 4"/>
          <p:cNvSpPr/>
          <p:nvPr/>
        </p:nvSpPr>
        <p:spPr>
          <a:xfrm>
            <a:off x="548640" y="1481328"/>
            <a:ext cx="5486400" cy="274320"/>
          </a:xfrm>
          <a:prstGeom prst="rect">
            <a:avLst/>
          </a:prstGeom>
          <a:noFill/>
          <a:ln/>
        </p:spPr>
        <p:txBody>
          <a:bodyPr wrap="square" lIns="0" tIns="0" rIns="0" bIns="0" rtlCol="0" anchor="ctr"/>
          <a:lstStyle/>
          <a:p>
            <a:pPr indent="0" marL="0">
              <a:buNone/>
            </a:pPr>
            <a:r>
              <a:rPr lang="en-US" sz="1300" b="1" dirty="0">
                <a:solidFill>
                  <a:srgbClr val="5F6368"/>
                </a:solidFill>
                <a:latin typeface="Calibri" pitchFamily="34" charset="0"/>
                <a:ea typeface="Calibri" pitchFamily="34" charset="-122"/>
                <a:cs typeface="Calibri" pitchFamily="34" charset="-120"/>
              </a:rPr>
              <a:t>Respuesta de la celda</a:t>
            </a:r>
            <a:endParaRPr lang="en-US" sz="1300" dirty="0"/>
          </a:p>
        </p:txBody>
      </p:sp>
      <p:sp>
        <p:nvSpPr>
          <p:cNvPr id="7" name="Shape 5"/>
          <p:cNvSpPr/>
          <p:nvPr/>
        </p:nvSpPr>
        <p:spPr>
          <a:xfrm>
            <a:off x="1325880" y="1828800"/>
            <a:ext cx="10314432" cy="1188720"/>
          </a:xfrm>
          <a:prstGeom prst="rect">
            <a:avLst/>
          </a:prstGeom>
          <a:solidFill>
            <a:srgbClr val="FFFFFF"/>
          </a:solidFill>
          <a:ln w="12700">
            <a:solidFill>
              <a:srgbClr val="DADCE0"/>
            </a:solidFill>
            <a:prstDash val="solid"/>
          </a:ln>
        </p:spPr>
      </p:sp>
      <p:sp>
        <p:nvSpPr>
          <p:cNvPr id="8" name="Text 6"/>
          <p:cNvSpPr/>
          <p:nvPr/>
        </p:nvSpPr>
        <p:spPr>
          <a:xfrm>
            <a:off x="1463040" y="1901952"/>
            <a:ext cx="10085832" cy="1060704"/>
          </a:xfrm>
          <a:prstGeom prst="rect">
            <a:avLst/>
          </a:prstGeom>
          <a:noFill/>
          <a:ln/>
        </p:spPr>
        <p:txBody>
          <a:bodyPr wrap="square" lIns="0" tIns="0" rIns="0" bIns="0" rtlCol="0" anchor="t"/>
          <a:lstStyle/>
          <a:p>
            <a:pPr indent="0" marL="0">
              <a:buNone/>
            </a:pPr>
            <a:r>
              <a:rPr lang="en-US" sz="1200" dirty="0">
                <a:solidFill>
                  <a:srgbClr val="202124"/>
                </a:solidFill>
                <a:latin typeface="Courier New" pitchFamily="34" charset="0"/>
                <a:ea typeface="Courier New" pitchFamily="34" charset="-122"/>
                <a:cs typeface="Courier New" pitchFamily="34" charset="-120"/>
              </a:rPr>
              <a:t>Horas sin dato 248</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Promedio borrando las vacías 208.9</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Promedio poniendo cero       203.0</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Promedio repitiendo          208.8</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Promedio con una recta       208.8</a:t>
            </a:r>
            <a:endParaRPr lang="en-US" sz="1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1325880" y="3108960"/>
          <a:ext cx="9144000" cy="914400"/>
        </p:xfrm>
        <a:graphic>
          <a:graphicData uri="http://schemas.openxmlformats.org/drawingml/2006/table">
            <a:tbl>
              <a:tblPr/>
              <a:tblGrid>
                <a:gridCol w="681228"/>
                <a:gridCol w="1179576"/>
                <a:gridCol w="581558"/>
                <a:gridCol w="1179576"/>
                <a:gridCol w="780898"/>
                <a:gridCol w="1179576"/>
                <a:gridCol w="1777594"/>
                <a:gridCol w="1378915"/>
              </a:tblGrid>
              <a:tr h="237744">
                <a:tc>
                  <a:txBody>
                    <a:bodyPr/>
                    <a:lstStyle/>
                    <a:p>
                      <a:pPr indent="0" marL="0">
                        <a:buNone/>
                      </a:pP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fecha</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hora</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region</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mwh</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poner_cero</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repetir_anterior</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trazar_recta</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32579</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2024-09-16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Valparaíso</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177.03</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177.03</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177.03</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177.03</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32580</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2024-09-16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Valparaíso</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NaN</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0.00</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177.03</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173.35</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32581</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2024-09-16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Valparaíso</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NaN</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0.00</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177.03</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169.66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32582</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2024-09-16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Valparaíso</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165.98</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165.98</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165.98</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165.98</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32583</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2024-09-16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Valparaíso</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164.67</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164.67</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164.67</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164.67</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32584</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2024-09-16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5</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Valparaíso</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179.25</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179.25</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179.25</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179.25</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32585</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2024-09-16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Valparaíso</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191.42</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191.42</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191.42</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191.42</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32586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2024-09-16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7</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Valparaíso</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222.46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222.46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222.46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222.46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bl>
          </a:graphicData>
        </a:graphic>
      </p:graphicFrame>
      <p:sp>
        <p:nvSpPr>
          <p:cNvPr id="10" name="Text 7"/>
          <p:cNvSpPr/>
          <p:nvPr/>
        </p:nvSpPr>
        <p:spPr>
          <a:xfrm>
            <a:off x="1325880" y="5340096"/>
            <a:ext cx="7315200" cy="256032"/>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 y 16 filas más, 24 en total. En Colab se ven todas.</a:t>
            </a:r>
            <a:endParaRPr lang="en-US" sz="1200" dirty="0"/>
          </a:p>
        </p:txBody>
      </p:sp>
      <p:sp>
        <p:nvSpPr>
          <p:cNvPr id="11" name="Text 8"/>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2" name="Shape 9"/>
          <p:cNvSpPr/>
          <p:nvPr/>
        </p:nvSpPr>
        <p:spPr>
          <a:xfrm>
            <a:off x="548640" y="6062472"/>
            <a:ext cx="1620317" cy="512064"/>
          </a:xfrm>
          <a:prstGeom prst="roundRect">
            <a:avLst>
              <a:gd name="adj" fmla="val 12500"/>
            </a:avLst>
          </a:prstGeom>
          <a:solidFill>
            <a:srgbClr val="FEF3D6"/>
          </a:solidFill>
          <a:ln w="25400">
            <a:solidFill>
              <a:srgbClr val="F9AB00"/>
            </a:solidFill>
            <a:prstDash val="solid"/>
          </a:ln>
        </p:spPr>
      </p:sp>
      <p:sp>
        <p:nvSpPr>
          <p:cNvPr id="13" name="Text 10"/>
          <p:cNvSpPr/>
          <p:nvPr/>
        </p:nvSpPr>
        <p:spPr>
          <a:xfrm>
            <a:off x="640080" y="6071616"/>
            <a:ext cx="148315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valpo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8784 × 7</a:t>
            </a:r>
            <a:endParaRPr lang="en-US" sz="1200" dirty="0"/>
          </a:p>
        </p:txBody>
      </p:sp>
      <p:sp>
        <p:nvSpPr>
          <p:cNvPr id="14" name="Shape 11"/>
          <p:cNvSpPr/>
          <p:nvPr/>
        </p:nvSpPr>
        <p:spPr>
          <a:xfrm>
            <a:off x="2306117" y="6062472"/>
            <a:ext cx="1431950" cy="512064"/>
          </a:xfrm>
          <a:prstGeom prst="roundRect">
            <a:avLst>
              <a:gd name="adj" fmla="val 12500"/>
            </a:avLst>
          </a:prstGeom>
          <a:solidFill>
            <a:srgbClr val="FEF3D6"/>
          </a:solidFill>
          <a:ln w="25400">
            <a:solidFill>
              <a:srgbClr val="F9AB00"/>
            </a:solidFill>
            <a:prstDash val="solid"/>
          </a:ln>
        </p:spPr>
      </p:sp>
      <p:sp>
        <p:nvSpPr>
          <p:cNvPr id="15" name="Text 12"/>
          <p:cNvSpPr/>
          <p:nvPr/>
        </p:nvSpPr>
        <p:spPr>
          <a:xfrm>
            <a:off x="2397557" y="6071616"/>
            <a:ext cx="129479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24 × 7</a:t>
            </a:r>
            <a:endParaRPr lang="en-US" sz="1200" dirty="0"/>
          </a:p>
        </p:txBody>
      </p:sp>
      <p:sp>
        <p:nvSpPr>
          <p:cNvPr id="16" name="Shape 13"/>
          <p:cNvSpPr/>
          <p:nvPr/>
        </p:nvSpPr>
        <p:spPr>
          <a:xfrm>
            <a:off x="3875227" y="6062472"/>
            <a:ext cx="1714500" cy="512064"/>
          </a:xfrm>
          <a:prstGeom prst="roundRect">
            <a:avLst>
              <a:gd name="adj" fmla="val 12500"/>
            </a:avLst>
          </a:prstGeom>
          <a:solidFill>
            <a:srgbClr val="E8F0FE"/>
          </a:solidFill>
          <a:ln w="28575">
            <a:solidFill>
              <a:srgbClr val="1A73E8"/>
            </a:solidFill>
            <a:prstDash val="solid"/>
          </a:ln>
        </p:spPr>
      </p:sp>
      <p:sp>
        <p:nvSpPr>
          <p:cNvPr id="17" name="Text 14"/>
          <p:cNvSpPr/>
          <p:nvPr/>
        </p:nvSpPr>
        <p:spPr>
          <a:xfrm>
            <a:off x="3966667"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sin_repetidas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61488 × 4</a:t>
            </a:r>
            <a:endParaRPr lang="en-US" sz="1200" dirty="0"/>
          </a:p>
        </p:txBody>
      </p:sp>
      <p:sp>
        <p:nvSpPr>
          <p:cNvPr id="18" name="Shape 15"/>
          <p:cNvSpPr/>
          <p:nvPr/>
        </p:nvSpPr>
        <p:spPr>
          <a:xfrm>
            <a:off x="5726887" y="6062472"/>
            <a:ext cx="1714500" cy="512064"/>
          </a:xfrm>
          <a:prstGeom prst="roundRect">
            <a:avLst>
              <a:gd name="adj" fmla="val 12500"/>
            </a:avLst>
          </a:prstGeom>
          <a:solidFill>
            <a:srgbClr val="F1F3F4"/>
          </a:solidFill>
          <a:ln w="12700">
            <a:solidFill>
              <a:srgbClr val="DADCE0"/>
            </a:solidFill>
            <a:prstDash val="solid"/>
          </a:ln>
        </p:spPr>
      </p:sp>
      <p:sp>
        <p:nvSpPr>
          <p:cNvPr id="19" name="Text 16"/>
          <p:cNvSpPr/>
          <p:nvPr/>
        </p:nvSpPr>
        <p:spPr>
          <a:xfrm>
            <a:off x="5818327"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limpia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61508 × 4</a:t>
            </a:r>
            <a:endParaRPr lang="en-US" sz="1200" dirty="0"/>
          </a:p>
        </p:txBody>
      </p:sp>
      <p:sp>
        <p:nvSpPr>
          <p:cNvPr id="20" name="Shape 17"/>
          <p:cNvSpPr/>
          <p:nvPr/>
        </p:nvSpPr>
        <p:spPr>
          <a:xfrm>
            <a:off x="7578547" y="6062472"/>
            <a:ext cx="1149401" cy="512064"/>
          </a:xfrm>
          <a:prstGeom prst="roundRect">
            <a:avLst>
              <a:gd name="adj" fmla="val 12500"/>
            </a:avLst>
          </a:prstGeom>
          <a:solidFill>
            <a:srgbClr val="F1F3F4"/>
          </a:solidFill>
          <a:ln w="12700">
            <a:solidFill>
              <a:srgbClr val="DADCE0"/>
            </a:solidFill>
            <a:prstDash val="solid"/>
          </a:ln>
        </p:spPr>
      </p:sp>
      <p:sp>
        <p:nvSpPr>
          <p:cNvPr id="21" name="Text 18"/>
          <p:cNvSpPr/>
          <p:nvPr/>
        </p:nvSpPr>
        <p:spPr>
          <a:xfrm>
            <a:off x="7669987" y="6071616"/>
            <a:ext cx="1012241"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esperadas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61488</a:t>
            </a:r>
            <a:endParaRPr lang="en-US" sz="1200" dirty="0"/>
          </a:p>
        </p:txBody>
      </p:sp>
      <p:sp>
        <p:nvSpPr>
          <p:cNvPr id="22" name="Text 19"/>
          <p:cNvSpPr/>
          <p:nvPr/>
        </p:nvSpPr>
        <p:spPr>
          <a:xfrm>
            <a:off x="8865108" y="6062472"/>
            <a:ext cx="1005840" cy="512064"/>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y 3 más</a:t>
            </a:r>
            <a:endParaRPr lang="en-US" sz="1200" dirty="0"/>
          </a:p>
        </p:txBody>
      </p:sp>
      <p:sp>
        <p:nvSpPr>
          <p:cNvPr id="23" name="Text 20"/>
          <p:cNvSpPr/>
          <p:nvPr/>
        </p:nvSpPr>
        <p:spPr>
          <a:xfrm>
            <a:off x="548640" y="6592824"/>
            <a:ext cx="11091672" cy="219456"/>
          </a:xfrm>
          <a:prstGeom prst="rect">
            <a:avLst/>
          </a:prstGeom>
          <a:noFill/>
          <a:ln/>
        </p:spPr>
        <p:txBody>
          <a:bodyPr wrap="square" lIns="0" tIns="0" rIns="0" bIns="0" rtlCol="0" anchor="ctr"/>
          <a:lstStyle/>
          <a:p>
            <a:pPr indent="0" marL="0">
              <a:buNone/>
            </a:pPr>
            <a:r>
              <a:rPr lang="en-US" sz="1300" dirty="0">
                <a:solidFill>
                  <a:srgbClr val="0B3D62"/>
                </a:solidFill>
                <a:latin typeface="Calibri" pitchFamily="34" charset="0"/>
                <a:ea typeface="Calibri" pitchFamily="34" charset="-122"/>
                <a:cs typeface="Calibri" pitchFamily="34" charset="-120"/>
              </a:rPr>
              <a:t>Poner cero baja el promedio. Repetir aplana las horas vacías y la recta las une con sus vecinas.</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5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¿Con qué se rellena una hora vacía?</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hay que llevarse de este paso.</a:t>
            </a:r>
            <a:endParaRPr lang="en-US" sz="1400" dirty="0"/>
          </a:p>
        </p:txBody>
      </p:sp>
      <p:sp>
        <p:nvSpPr>
          <p:cNvPr id="6" name="Shape 4"/>
          <p:cNvSpPr/>
          <p:nvPr/>
        </p:nvSpPr>
        <p:spPr>
          <a:xfrm>
            <a:off x="548640" y="1828800"/>
            <a:ext cx="11091672" cy="2377440"/>
          </a:xfrm>
          <a:prstGeom prst="roundRect">
            <a:avLst>
              <a:gd name="adj" fmla="val 3846"/>
            </a:avLst>
          </a:prstGeom>
          <a:solidFill>
            <a:srgbClr val="FFF8D6"/>
          </a:solidFill>
          <a:ln w="12700">
            <a:solidFill>
              <a:srgbClr val="FFF8D6"/>
            </a:solidFill>
            <a:prstDash val="solid"/>
          </a:ln>
        </p:spPr>
      </p:sp>
      <p:sp>
        <p:nvSpPr>
          <p:cNvPr id="7" name="Text 5"/>
          <p:cNvSpPr/>
          <p:nvPr/>
        </p:nvSpPr>
        <p:spPr>
          <a:xfrm>
            <a:off x="1005840" y="2057400"/>
            <a:ext cx="10177272" cy="1005840"/>
          </a:xfrm>
          <a:prstGeom prst="rect">
            <a:avLst/>
          </a:prstGeom>
          <a:noFill/>
          <a:ln/>
        </p:spPr>
        <p:txBody>
          <a:bodyPr wrap="square" lIns="0" tIns="0" rIns="0" bIns="0" rtlCol="0" anchor="t"/>
          <a:lstStyle/>
          <a:p>
            <a:pPr indent="0" marL="0">
              <a:buNone/>
            </a:pPr>
            <a:r>
              <a:rPr lang="en-US" sz="2800" b="1" dirty="0">
                <a:solidFill>
                  <a:srgbClr val="8A6D00"/>
                </a:solidFill>
                <a:latin typeface="Calibri" pitchFamily="34" charset="0"/>
                <a:ea typeface="Calibri" pitchFamily="34" charset="-122"/>
                <a:cs typeface="Calibri" pitchFamily="34" charset="-120"/>
              </a:rPr>
              <a:t>Rellenar un hueco es una decisión, y cambia el resultado.</a:t>
            </a:r>
            <a:endParaRPr lang="en-US" sz="2800" dirty="0"/>
          </a:p>
        </p:txBody>
      </p:sp>
      <p:sp>
        <p:nvSpPr>
          <p:cNvPr id="8" name="Text 6"/>
          <p:cNvSpPr/>
          <p:nvPr/>
        </p:nvSpPr>
        <p:spPr>
          <a:xfrm>
            <a:off x="1005840" y="3154680"/>
            <a:ext cx="10177272" cy="914400"/>
          </a:xfrm>
          <a:prstGeom prst="rect">
            <a:avLst/>
          </a:prstGeom>
          <a:noFill/>
          <a:ln/>
        </p:spPr>
        <p:txBody>
          <a:bodyPr wrap="square" lIns="0" tIns="0" rIns="0" bIns="0" rtlCol="0" anchor="t"/>
          <a:lstStyle/>
          <a:p>
            <a:pPr indent="0" marL="0">
              <a:buNone/>
            </a:pPr>
            <a:r>
              <a:rPr lang="en-US" sz="2200" dirty="0">
                <a:solidFill>
                  <a:srgbClr val="202124"/>
                </a:solidFill>
                <a:latin typeface="Calibri" pitchFamily="34" charset="0"/>
                <a:ea typeface="Calibri" pitchFamily="34" charset="-122"/>
                <a:cs typeface="Calibri" pitchFamily="34" charset="-120"/>
              </a:rPr>
              <a:t>Poner cero baja el promedio y repetir aplana el día. La forma que se use se deja escrita en el informe.</a:t>
            </a:r>
            <a:endParaRPr lang="en-US" sz="2200" dirty="0"/>
          </a:p>
        </p:txBody>
      </p:sp>
      <p:sp>
        <p:nvSpPr>
          <p:cNvPr id="9" name="Text 7"/>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0" name="Shape 8"/>
          <p:cNvSpPr/>
          <p:nvPr/>
        </p:nvSpPr>
        <p:spPr>
          <a:xfrm>
            <a:off x="548640" y="6062472"/>
            <a:ext cx="1620317" cy="512064"/>
          </a:xfrm>
          <a:prstGeom prst="roundRect">
            <a:avLst>
              <a:gd name="adj" fmla="val 12500"/>
            </a:avLst>
          </a:prstGeom>
          <a:solidFill>
            <a:srgbClr val="FEF3D6"/>
          </a:solidFill>
          <a:ln w="25400">
            <a:solidFill>
              <a:srgbClr val="F9AB00"/>
            </a:solidFill>
            <a:prstDash val="solid"/>
          </a:ln>
        </p:spPr>
      </p:sp>
      <p:sp>
        <p:nvSpPr>
          <p:cNvPr id="11" name="Text 9"/>
          <p:cNvSpPr/>
          <p:nvPr/>
        </p:nvSpPr>
        <p:spPr>
          <a:xfrm>
            <a:off x="640080" y="6071616"/>
            <a:ext cx="148315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valpo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8784 × 7</a:t>
            </a:r>
            <a:endParaRPr lang="en-US" sz="1200" dirty="0"/>
          </a:p>
        </p:txBody>
      </p:sp>
      <p:sp>
        <p:nvSpPr>
          <p:cNvPr id="12" name="Shape 10"/>
          <p:cNvSpPr/>
          <p:nvPr/>
        </p:nvSpPr>
        <p:spPr>
          <a:xfrm>
            <a:off x="2306117" y="6062472"/>
            <a:ext cx="1431950" cy="512064"/>
          </a:xfrm>
          <a:prstGeom prst="roundRect">
            <a:avLst>
              <a:gd name="adj" fmla="val 12500"/>
            </a:avLst>
          </a:prstGeom>
          <a:solidFill>
            <a:srgbClr val="FEF3D6"/>
          </a:solidFill>
          <a:ln w="25400">
            <a:solidFill>
              <a:srgbClr val="F9AB00"/>
            </a:solidFill>
            <a:prstDash val="solid"/>
          </a:ln>
        </p:spPr>
      </p:sp>
      <p:sp>
        <p:nvSpPr>
          <p:cNvPr id="13" name="Text 11"/>
          <p:cNvSpPr/>
          <p:nvPr/>
        </p:nvSpPr>
        <p:spPr>
          <a:xfrm>
            <a:off x="2397557" y="6071616"/>
            <a:ext cx="129479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24 × 7</a:t>
            </a:r>
            <a:endParaRPr lang="en-US" sz="1200" dirty="0"/>
          </a:p>
        </p:txBody>
      </p:sp>
      <p:sp>
        <p:nvSpPr>
          <p:cNvPr id="14" name="Shape 12"/>
          <p:cNvSpPr/>
          <p:nvPr/>
        </p:nvSpPr>
        <p:spPr>
          <a:xfrm>
            <a:off x="3875227" y="6062472"/>
            <a:ext cx="1714500" cy="512064"/>
          </a:xfrm>
          <a:prstGeom prst="roundRect">
            <a:avLst>
              <a:gd name="adj" fmla="val 12500"/>
            </a:avLst>
          </a:prstGeom>
          <a:solidFill>
            <a:srgbClr val="E8F0FE"/>
          </a:solidFill>
          <a:ln w="28575">
            <a:solidFill>
              <a:srgbClr val="1A73E8"/>
            </a:solidFill>
            <a:prstDash val="solid"/>
          </a:ln>
        </p:spPr>
      </p:sp>
      <p:sp>
        <p:nvSpPr>
          <p:cNvPr id="15" name="Text 13"/>
          <p:cNvSpPr/>
          <p:nvPr/>
        </p:nvSpPr>
        <p:spPr>
          <a:xfrm>
            <a:off x="3966667"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sin_repetidas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61488 × 4</a:t>
            </a:r>
            <a:endParaRPr lang="en-US" sz="1200" dirty="0"/>
          </a:p>
        </p:txBody>
      </p:sp>
      <p:sp>
        <p:nvSpPr>
          <p:cNvPr id="16" name="Shape 14"/>
          <p:cNvSpPr/>
          <p:nvPr/>
        </p:nvSpPr>
        <p:spPr>
          <a:xfrm>
            <a:off x="5726887" y="6062472"/>
            <a:ext cx="1714500" cy="512064"/>
          </a:xfrm>
          <a:prstGeom prst="roundRect">
            <a:avLst>
              <a:gd name="adj" fmla="val 12500"/>
            </a:avLst>
          </a:prstGeom>
          <a:solidFill>
            <a:srgbClr val="F1F3F4"/>
          </a:solidFill>
          <a:ln w="12700">
            <a:solidFill>
              <a:srgbClr val="DADCE0"/>
            </a:solidFill>
            <a:prstDash val="solid"/>
          </a:ln>
        </p:spPr>
      </p:sp>
      <p:sp>
        <p:nvSpPr>
          <p:cNvPr id="17" name="Text 15"/>
          <p:cNvSpPr/>
          <p:nvPr/>
        </p:nvSpPr>
        <p:spPr>
          <a:xfrm>
            <a:off x="5818327"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limpia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61508 × 4</a:t>
            </a:r>
            <a:endParaRPr lang="en-US" sz="1200" dirty="0"/>
          </a:p>
        </p:txBody>
      </p:sp>
      <p:sp>
        <p:nvSpPr>
          <p:cNvPr id="18" name="Shape 16"/>
          <p:cNvSpPr/>
          <p:nvPr/>
        </p:nvSpPr>
        <p:spPr>
          <a:xfrm>
            <a:off x="7578547" y="6062472"/>
            <a:ext cx="1149401" cy="512064"/>
          </a:xfrm>
          <a:prstGeom prst="roundRect">
            <a:avLst>
              <a:gd name="adj" fmla="val 12500"/>
            </a:avLst>
          </a:prstGeom>
          <a:solidFill>
            <a:srgbClr val="F1F3F4"/>
          </a:solidFill>
          <a:ln w="12700">
            <a:solidFill>
              <a:srgbClr val="DADCE0"/>
            </a:solidFill>
            <a:prstDash val="solid"/>
          </a:ln>
        </p:spPr>
      </p:sp>
      <p:sp>
        <p:nvSpPr>
          <p:cNvPr id="19" name="Text 17"/>
          <p:cNvSpPr/>
          <p:nvPr/>
        </p:nvSpPr>
        <p:spPr>
          <a:xfrm>
            <a:off x="7669987" y="6071616"/>
            <a:ext cx="1012241"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esperadas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61488</a:t>
            </a:r>
            <a:endParaRPr lang="en-US" sz="1200" dirty="0"/>
          </a:p>
        </p:txBody>
      </p:sp>
      <p:sp>
        <p:nvSpPr>
          <p:cNvPr id="20" name="Text 18"/>
          <p:cNvSpPr/>
          <p:nvPr/>
        </p:nvSpPr>
        <p:spPr>
          <a:xfrm>
            <a:off x="8865108" y="6062472"/>
            <a:ext cx="1005840" cy="512064"/>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y 3 más</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6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decide qué valor es imposible</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qué separa la regla de las 3 veces el promedio.</a:t>
            </a:r>
            <a:endParaRPr lang="en-US" sz="1400" dirty="0"/>
          </a:p>
        </p:txBody>
      </p:sp>
      <p:pic>
        <p:nvPicPr>
          <p:cNvPr id="6" name="Image 0" descr="../work35/modulos/modulo03/img/lab03_paso7_imposibles.png">    </p:cNvPr>
          <p:cNvPicPr>
            <a:picLocks noChangeAspect="1"/>
          </p:cNvPicPr>
          <p:nvPr/>
        </p:nvPicPr>
        <p:blipFill>
          <a:blip r:embed="rId1"/>
          <a:stretch>
            <a:fillRect/>
          </a:stretch>
        </p:blipFill>
        <p:spPr>
          <a:xfrm>
            <a:off x="548640" y="1463040"/>
            <a:ext cx="11091672" cy="4391471"/>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6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decide qué valor es imposible</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Qué dice cada uno de los ocho números de describe.</a:t>
            </a:r>
            <a:endParaRPr lang="en-US" sz="1400" dirty="0"/>
          </a:p>
        </p:txBody>
      </p:sp>
      <p:pic>
        <p:nvPicPr>
          <p:cNvPr id="6" name="Image 0" descr="../work35/modulos/modulo03/img/lab03_paso6_describe.png">    </p:cNvPr>
          <p:cNvPicPr>
            <a:picLocks noChangeAspect="1"/>
          </p:cNvPicPr>
          <p:nvPr/>
        </p:nvPicPr>
        <p:blipFill>
          <a:blip r:embed="rId1"/>
          <a:stretch>
            <a:fillRect/>
          </a:stretch>
        </p:blipFill>
        <p:spPr>
          <a:xfrm>
            <a:off x="548640" y="1463040"/>
            <a:ext cx="11091672" cy="4818898"/>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6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decide qué valor es imposible</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y mira el mínimo y el máximo. Después mueve el deslizador a 1 y a 10, vuelve a correrla y mira cuántas horas marca. Prueba también con Metropolitana.</a:t>
            </a:r>
            <a:endParaRPr lang="en-US" sz="1400" dirty="0"/>
          </a:p>
        </p:txBody>
      </p:sp>
      <p:sp>
        <p:nvSpPr>
          <p:cNvPr id="6" name="Shape 4"/>
          <p:cNvSpPr/>
          <p:nvPr/>
        </p:nvSpPr>
        <p:spPr>
          <a:xfrm>
            <a:off x="548640" y="1481328"/>
            <a:ext cx="11091672" cy="3639312"/>
          </a:xfrm>
          <a:prstGeom prst="roundRect">
            <a:avLst>
              <a:gd name="adj" fmla="val 1508"/>
            </a:avLst>
          </a:prstGeom>
          <a:solidFill>
            <a:srgbClr val="F8F9FA"/>
          </a:solidFill>
          <a:ln w="25400">
            <a:solidFill>
              <a:srgbClr val="F9AB00"/>
            </a:solidFill>
            <a:prstDash val="solid"/>
          </a:ln>
        </p:spPr>
      </p:sp>
      <p:sp>
        <p:nvSpPr>
          <p:cNvPr id="7"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8"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9" name="Text 7"/>
          <p:cNvSpPr/>
          <p:nvPr/>
        </p:nvSpPr>
        <p:spPr>
          <a:xfrm>
            <a:off x="1325880" y="1600200"/>
            <a:ext cx="7360920" cy="3447288"/>
          </a:xfrm>
          <a:prstGeom prst="rect">
            <a:avLst/>
          </a:prstGeom>
          <a:noFill/>
          <a:ln/>
        </p:spPr>
        <p:txBody>
          <a:bodyPr wrap="square" lIns="0" tIns="0" rIns="0" bIns="0" rtlCol="0" anchor="t"/>
          <a:lstStyle/>
          <a:p>
            <a:pPr indent="0" marL="0">
              <a:buNone/>
            </a:pPr>
            <a:r>
              <a:rPr lang="en-US" sz="1300" dirty="0">
                <a:solidFill>
                  <a:srgbClr val="188038"/>
                </a:solidFill>
                <a:latin typeface="Courier New" pitchFamily="34" charset="0"/>
                <a:ea typeface="Courier New" pitchFamily="34" charset="-122"/>
                <a:cs typeface="Courier New" pitchFamily="34" charset="-120"/>
              </a:rPr>
              <a:t># Paso 6</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region = </a:t>
            </a:r>
            <a:pPr indent="0" marL="0">
              <a:buNone/>
            </a:pPr>
            <a:r>
              <a:rPr lang="en-US" sz="1300" dirty="0">
                <a:solidFill>
                  <a:srgbClr val="A31515"/>
                </a:solidFill>
                <a:latin typeface="Courier New" pitchFamily="34" charset="0"/>
                <a:ea typeface="Courier New" pitchFamily="34" charset="-122"/>
                <a:cs typeface="Courier New" pitchFamily="34" charset="-120"/>
              </a:rPr>
              <a:t>"Atacama"</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80868B"/>
                </a:solidFill>
                <a:latin typeface="Courier New" pitchFamily="34" charset="0"/>
                <a:ea typeface="Courier New" pitchFamily="34" charset="-122"/>
                <a:cs typeface="Courier New" pitchFamily="34" charset="-120"/>
              </a:rPr>
              <a:t>#@param ["Antofagasta", "Atacama", "Coquimbo", "Valpar…</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veces = 3 </a:t>
            </a:r>
            <a:pPr indent="0" marL="0">
              <a:buNone/>
            </a:pPr>
            <a:r>
              <a:rPr lang="en-US" sz="1300" dirty="0">
                <a:solidFill>
                  <a:srgbClr val="80868B"/>
                </a:solidFill>
                <a:latin typeface="Courier New" pitchFamily="34" charset="0"/>
                <a:ea typeface="Courier New" pitchFamily="34" charset="-122"/>
                <a:cs typeface="Courier New" pitchFamily="34" charset="-120"/>
              </a:rPr>
              <a:t>#@param {type:"slider", min:1, max:10, step:1}</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una = sin_repetidas[sin_repetidas[</a:t>
            </a:r>
            <a:pPr indent="0" marL="0">
              <a:buNone/>
            </a:pPr>
            <a:r>
              <a:rPr lang="en-US" sz="1300" dirty="0">
                <a:solidFill>
                  <a:srgbClr val="A31515"/>
                </a:solidFill>
                <a:latin typeface="Courier New" pitchFamily="34" charset="0"/>
                <a:ea typeface="Courier New" pitchFamily="34" charset="-122"/>
                <a:cs typeface="Courier New" pitchFamily="34" charset="-120"/>
              </a:rPr>
              <a:t>"region"</a:t>
            </a:r>
            <a:pPr indent="0" marL="0">
              <a:buNone/>
            </a:pPr>
            <a:r>
              <a:rPr lang="en-US" sz="1300" dirty="0">
                <a:solidFill>
                  <a:srgbClr val="202124"/>
                </a:solidFill>
                <a:latin typeface="Courier New" pitchFamily="34" charset="0"/>
                <a:ea typeface="Courier New" pitchFamily="34" charset="-122"/>
                <a:cs typeface="Courier New" pitchFamily="34" charset="-120"/>
              </a:rPr>
              <a:t>] == region]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188038"/>
                </a:solidFill>
                <a:latin typeface="Courier New" pitchFamily="34" charset="0"/>
                <a:ea typeface="Courier New" pitchFamily="34" charset="-122"/>
                <a:cs typeface="Courier New" pitchFamily="34" charset="-120"/>
              </a:rPr>
              <a:t># describe resume la columna en ocho números. Mira el mínimo y el máximo.</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print(una[</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].describe().round(1))</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188038"/>
                </a:solidFill>
                <a:latin typeface="Courier New" pitchFamily="34" charset="0"/>
                <a:ea typeface="Courier New" pitchFamily="34" charset="-122"/>
                <a:cs typeface="Courier New" pitchFamily="34" charset="-120"/>
              </a:rPr>
              <a:t># Dos reglas de negocio. La demanda no puede ser negativa,</a:t>
            </a:r>
            <a:endParaRPr lang="en-US" sz="1300" dirty="0"/>
          </a:p>
          <a:p>
            <a:pPr indent="0" marL="0">
              <a:buNone/>
            </a:pPr>
            <a:r>
              <a:rPr lang="en-US" sz="1300" dirty="0">
                <a:solidFill>
                  <a:srgbClr val="188038"/>
                </a:solidFill>
                <a:latin typeface="Courier New" pitchFamily="34" charset="0"/>
                <a:ea typeface="Courier New" pitchFamily="34" charset="-122"/>
                <a:cs typeface="Courier New" pitchFamily="34" charset="-120"/>
              </a:rPr>
              <a:t># y una hora muchas veces mayor que el promedio es sospechosa.</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promedio = una[</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].mean()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negativas = una[una[</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 &lt; 0]</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picos = una[una[</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 &gt; veces * promedio]</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"Horas con demanda negativa"</a:t>
            </a:r>
            <a:pPr indent="0" marL="0">
              <a:buNone/>
            </a:pPr>
            <a:r>
              <a:rPr lang="en-US" sz="1300" dirty="0">
                <a:solidFill>
                  <a:srgbClr val="202124"/>
                </a:solidFill>
                <a:latin typeface="Courier New" pitchFamily="34" charset="0"/>
                <a:ea typeface="Courier New" pitchFamily="34" charset="-122"/>
                <a:cs typeface="Courier New" pitchFamily="34" charset="-120"/>
              </a:rPr>
              <a:t>, len(negativas))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print(f</a:t>
            </a:r>
            <a:pPr indent="0" marL="0">
              <a:buNone/>
            </a:pPr>
            <a:r>
              <a:rPr lang="en-US" sz="1300" dirty="0">
                <a:solidFill>
                  <a:srgbClr val="A31515"/>
                </a:solidFill>
                <a:latin typeface="Courier New" pitchFamily="34" charset="0"/>
                <a:ea typeface="Courier New" pitchFamily="34" charset="-122"/>
                <a:cs typeface="Courier New" pitchFamily="34" charset="-120"/>
              </a:rPr>
              <a:t>"Horas sobre {veces} veces el promedio"</a:t>
            </a:r>
            <a:pPr indent="0" marL="0">
              <a:buNone/>
            </a:pPr>
            <a:r>
              <a:rPr lang="en-US" sz="1300" dirty="0">
                <a:solidFill>
                  <a:srgbClr val="202124"/>
                </a:solidFill>
                <a:latin typeface="Courier New" pitchFamily="34" charset="0"/>
                <a:ea typeface="Courier New" pitchFamily="34" charset="-122"/>
                <a:cs typeface="Courier New" pitchFamily="34" charset="-120"/>
              </a:rPr>
              <a:t>, len(picos))</a:t>
            </a:r>
            <a:endParaRPr lang="en-US" sz="1300" dirty="0"/>
          </a:p>
        </p:txBody>
      </p:sp>
      <p:sp>
        <p:nvSpPr>
          <p:cNvPr id="10" name="Text 8"/>
          <p:cNvSpPr/>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region</a:t>
            </a:r>
            <a:endParaRPr lang="en-US" sz="1100" dirty="0"/>
          </a:p>
        </p:txBody>
      </p:sp>
      <p:sp>
        <p:nvSpPr>
          <p:cNvPr id="11" name="Shape 9"/>
          <p:cNvSpPr/>
          <p:nvPr/>
        </p:nvSpPr>
        <p:spPr>
          <a:xfrm>
            <a:off x="8823960" y="1874520"/>
            <a:ext cx="2651760" cy="347472"/>
          </a:xfrm>
          <a:prstGeom prst="rect">
            <a:avLst/>
          </a:prstGeom>
          <a:solidFill>
            <a:srgbClr val="FFFFFF"/>
          </a:solidFill>
          <a:ln w="12700">
            <a:solidFill>
              <a:srgbClr val="9AA0A6"/>
            </a:solidFill>
            <a:prstDash val="solid"/>
          </a:ln>
        </p:spPr>
      </p:sp>
      <p:sp>
        <p:nvSpPr>
          <p:cNvPr id="12" name="Text 10"/>
          <p:cNvSpPr/>
          <p:nvPr/>
        </p:nvSpPr>
        <p:spPr>
          <a:xfrm>
            <a:off x="8915400" y="187452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Atacama</a:t>
            </a:r>
            <a:endParaRPr lang="en-US" sz="1200" dirty="0"/>
          </a:p>
        </p:txBody>
      </p:sp>
      <p:sp>
        <p:nvSpPr>
          <p:cNvPr id="13" name="Shape 11"/>
          <p:cNvSpPr/>
          <p:nvPr/>
        </p:nvSpPr>
        <p:spPr>
          <a:xfrm rot="10800000">
            <a:off x="11201400" y="2011680"/>
            <a:ext cx="128016" cy="82296"/>
          </a:xfrm>
          <a:prstGeom prst="triangle">
            <a:avLst/>
          </a:prstGeom>
          <a:solidFill>
            <a:srgbClr val="5F6368"/>
          </a:solidFill>
          <a:ln w="12700">
            <a:solidFill>
              <a:srgbClr val="5F6368"/>
            </a:solidFill>
            <a:prstDash val="solid"/>
          </a:ln>
        </p:spPr>
      </p:sp>
      <p:sp>
        <p:nvSpPr>
          <p:cNvPr id="14" name="Text 12"/>
          <p:cNvSpPr/>
          <p:nvPr/>
        </p:nvSpPr>
        <p:spPr>
          <a:xfrm>
            <a:off x="8823960" y="235000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veces</a:t>
            </a:r>
            <a:endParaRPr lang="en-US" sz="1100" dirty="0"/>
          </a:p>
        </p:txBody>
      </p:sp>
      <p:sp>
        <p:nvSpPr>
          <p:cNvPr id="15" name="Shape 13"/>
          <p:cNvSpPr/>
          <p:nvPr/>
        </p:nvSpPr>
        <p:spPr>
          <a:xfrm>
            <a:off x="8823960" y="2734056"/>
            <a:ext cx="1965960" cy="45720"/>
          </a:xfrm>
          <a:prstGeom prst="rect">
            <a:avLst/>
          </a:prstGeom>
          <a:solidFill>
            <a:srgbClr val="C4C7C5"/>
          </a:solidFill>
          <a:ln w="12700">
            <a:solidFill>
              <a:srgbClr val="C4C7C5"/>
            </a:solidFill>
            <a:prstDash val="solid"/>
          </a:ln>
        </p:spPr>
      </p:sp>
      <p:sp>
        <p:nvSpPr>
          <p:cNvPr id="16" name="Shape 14"/>
          <p:cNvSpPr/>
          <p:nvPr/>
        </p:nvSpPr>
        <p:spPr>
          <a:xfrm>
            <a:off x="8823960" y="2734056"/>
            <a:ext cx="436880" cy="45720"/>
          </a:xfrm>
          <a:prstGeom prst="rect">
            <a:avLst/>
          </a:prstGeom>
          <a:solidFill>
            <a:srgbClr val="1A73E8"/>
          </a:solidFill>
          <a:ln w="12700">
            <a:solidFill>
              <a:srgbClr val="1A73E8"/>
            </a:solidFill>
            <a:prstDash val="solid"/>
          </a:ln>
        </p:spPr>
      </p:sp>
      <p:sp>
        <p:nvSpPr>
          <p:cNvPr id="17" name="Shape 15"/>
          <p:cNvSpPr/>
          <p:nvPr/>
        </p:nvSpPr>
        <p:spPr>
          <a:xfrm>
            <a:off x="9173972" y="2670048"/>
            <a:ext cx="173736" cy="173736"/>
          </a:xfrm>
          <a:prstGeom prst="ellipse">
            <a:avLst/>
          </a:prstGeom>
          <a:solidFill>
            <a:srgbClr val="1A73E8"/>
          </a:solidFill>
          <a:ln w="12700">
            <a:solidFill>
              <a:srgbClr val="1A73E8"/>
            </a:solidFill>
            <a:prstDash val="solid"/>
          </a:ln>
        </p:spPr>
      </p:sp>
      <p:sp>
        <p:nvSpPr>
          <p:cNvPr id="18" name="Text 16"/>
          <p:cNvSpPr/>
          <p:nvPr/>
        </p:nvSpPr>
        <p:spPr>
          <a:xfrm>
            <a:off x="10972800" y="2624328"/>
            <a:ext cx="502920" cy="274320"/>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1325880" y="5148072"/>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20" name="Text 18"/>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21" name="Shape 19"/>
          <p:cNvSpPr/>
          <p:nvPr/>
        </p:nvSpPr>
        <p:spPr>
          <a:xfrm>
            <a:off x="548640" y="6062472"/>
            <a:ext cx="1431950" cy="512064"/>
          </a:xfrm>
          <a:prstGeom prst="roundRect">
            <a:avLst>
              <a:gd name="adj" fmla="val 12500"/>
            </a:avLst>
          </a:prstGeom>
          <a:solidFill>
            <a:srgbClr val="F1F3F4"/>
          </a:solidFill>
          <a:ln w="12700">
            <a:solidFill>
              <a:srgbClr val="DADCE0"/>
            </a:solidFill>
            <a:prstDash val="solid"/>
          </a:ln>
        </p:spPr>
      </p:sp>
      <p:sp>
        <p:nvSpPr>
          <p:cNvPr id="22" name="Text 20"/>
          <p:cNvSpPr/>
          <p:nvPr/>
        </p:nvSpPr>
        <p:spPr>
          <a:xfrm>
            <a:off x="640080" y="6071616"/>
            <a:ext cx="129479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24 × 7</a:t>
            </a:r>
            <a:endParaRPr lang="en-US" sz="1200" dirty="0"/>
          </a:p>
        </p:txBody>
      </p:sp>
      <p:sp>
        <p:nvSpPr>
          <p:cNvPr id="23" name="Shape 21"/>
          <p:cNvSpPr/>
          <p:nvPr/>
        </p:nvSpPr>
        <p:spPr>
          <a:xfrm>
            <a:off x="2117750" y="6062472"/>
            <a:ext cx="1620317" cy="512064"/>
          </a:xfrm>
          <a:prstGeom prst="roundRect">
            <a:avLst>
              <a:gd name="adj" fmla="val 12500"/>
            </a:avLst>
          </a:prstGeom>
          <a:solidFill>
            <a:srgbClr val="F1F3F4"/>
          </a:solidFill>
          <a:ln w="12700">
            <a:solidFill>
              <a:srgbClr val="DADCE0"/>
            </a:solidFill>
            <a:prstDash val="solid"/>
          </a:ln>
        </p:spPr>
      </p:sp>
      <p:sp>
        <p:nvSpPr>
          <p:cNvPr id="24" name="Text 22"/>
          <p:cNvSpPr/>
          <p:nvPr/>
        </p:nvSpPr>
        <p:spPr>
          <a:xfrm>
            <a:off x="2209190" y="6071616"/>
            <a:ext cx="148315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valpo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8784 × 7</a:t>
            </a:r>
            <a:endParaRPr lang="en-US" sz="1200" dirty="0"/>
          </a:p>
        </p:txBody>
      </p:sp>
      <p:sp>
        <p:nvSpPr>
          <p:cNvPr id="25" name="Shape 23"/>
          <p:cNvSpPr/>
          <p:nvPr/>
        </p:nvSpPr>
        <p:spPr>
          <a:xfrm>
            <a:off x="3875227" y="6062472"/>
            <a:ext cx="1714500" cy="512064"/>
          </a:xfrm>
          <a:prstGeom prst="roundRect">
            <a:avLst>
              <a:gd name="adj" fmla="val 12500"/>
            </a:avLst>
          </a:prstGeom>
          <a:solidFill>
            <a:srgbClr val="F1F3F4"/>
          </a:solidFill>
          <a:ln w="12700">
            <a:solidFill>
              <a:srgbClr val="DADCE0"/>
            </a:solidFill>
            <a:prstDash val="solid"/>
          </a:ln>
        </p:spPr>
      </p:sp>
      <p:sp>
        <p:nvSpPr>
          <p:cNvPr id="26" name="Text 24"/>
          <p:cNvSpPr/>
          <p:nvPr/>
        </p:nvSpPr>
        <p:spPr>
          <a:xfrm>
            <a:off x="3966667"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sin_repetidas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61488 × 4</a:t>
            </a:r>
            <a:endParaRPr lang="en-US" sz="1200" dirty="0"/>
          </a:p>
        </p:txBody>
      </p:sp>
      <p:sp>
        <p:nvSpPr>
          <p:cNvPr id="27" name="Shape 25"/>
          <p:cNvSpPr/>
          <p:nvPr/>
        </p:nvSpPr>
        <p:spPr>
          <a:xfrm>
            <a:off x="5726887" y="6062472"/>
            <a:ext cx="1714500" cy="512064"/>
          </a:xfrm>
          <a:prstGeom prst="roundRect">
            <a:avLst>
              <a:gd name="adj" fmla="val 12500"/>
            </a:avLst>
          </a:prstGeom>
          <a:solidFill>
            <a:srgbClr val="F1F3F4"/>
          </a:solidFill>
          <a:ln w="12700">
            <a:solidFill>
              <a:srgbClr val="DADCE0"/>
            </a:solidFill>
            <a:prstDash val="solid"/>
          </a:ln>
        </p:spPr>
      </p:sp>
      <p:sp>
        <p:nvSpPr>
          <p:cNvPr id="28" name="Text 26"/>
          <p:cNvSpPr/>
          <p:nvPr/>
        </p:nvSpPr>
        <p:spPr>
          <a:xfrm>
            <a:off x="5818327"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limpia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61508 × 4</a:t>
            </a:r>
            <a:endParaRPr lang="en-US" sz="1200" dirty="0"/>
          </a:p>
        </p:txBody>
      </p:sp>
      <p:sp>
        <p:nvSpPr>
          <p:cNvPr id="29" name="Shape 27"/>
          <p:cNvSpPr/>
          <p:nvPr/>
        </p:nvSpPr>
        <p:spPr>
          <a:xfrm>
            <a:off x="7578547" y="6062472"/>
            <a:ext cx="1149401" cy="512064"/>
          </a:xfrm>
          <a:prstGeom prst="roundRect">
            <a:avLst>
              <a:gd name="adj" fmla="val 12500"/>
            </a:avLst>
          </a:prstGeom>
          <a:solidFill>
            <a:srgbClr val="F1F3F4"/>
          </a:solidFill>
          <a:ln w="12700">
            <a:solidFill>
              <a:srgbClr val="DADCE0"/>
            </a:solidFill>
            <a:prstDash val="solid"/>
          </a:ln>
        </p:spPr>
      </p:sp>
      <p:sp>
        <p:nvSpPr>
          <p:cNvPr id="30" name="Text 28"/>
          <p:cNvSpPr/>
          <p:nvPr/>
        </p:nvSpPr>
        <p:spPr>
          <a:xfrm>
            <a:off x="7669987" y="6071616"/>
            <a:ext cx="1012241"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esperadas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61488</a:t>
            </a:r>
            <a:endParaRPr lang="en-US" sz="1200" dirty="0"/>
          </a:p>
        </p:txBody>
      </p:sp>
      <p:sp>
        <p:nvSpPr>
          <p:cNvPr id="31" name="Text 29"/>
          <p:cNvSpPr/>
          <p:nvPr/>
        </p:nvSpPr>
        <p:spPr>
          <a:xfrm>
            <a:off x="8865108" y="6062472"/>
            <a:ext cx="1005840" cy="512064"/>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y 3 más</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6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decide qué valor es imposible</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lee esta línea, pieza por pieza</a:t>
            </a:r>
            <a:endParaRPr lang="en-US" sz="1400" dirty="0"/>
          </a:p>
        </p:txBody>
      </p:sp>
      <p:sp>
        <p:nvSpPr>
          <p:cNvPr id="6" name="Shape 4"/>
          <p:cNvSpPr/>
          <p:nvPr/>
        </p:nvSpPr>
        <p:spPr>
          <a:xfrm>
            <a:off x="548640" y="1463040"/>
            <a:ext cx="11091672" cy="484632"/>
          </a:xfrm>
          <a:prstGeom prst="roundRect">
            <a:avLst>
              <a:gd name="adj" fmla="val 11321"/>
            </a:avLst>
          </a:prstGeom>
          <a:solidFill>
            <a:srgbClr val="F8F9FA"/>
          </a:solidFill>
          <a:ln w="12700">
            <a:solidFill>
              <a:srgbClr val="DADCE0"/>
            </a:solidFill>
            <a:prstDash val="solid"/>
          </a:ln>
        </p:spPr>
      </p:sp>
      <p:sp>
        <p:nvSpPr>
          <p:cNvPr id="7" name="Text 5"/>
          <p:cNvSpPr/>
          <p:nvPr/>
        </p:nvSpPr>
        <p:spPr>
          <a:xfrm>
            <a:off x="822960" y="1572768"/>
            <a:ext cx="10634472" cy="265176"/>
          </a:xfrm>
          <a:prstGeom prst="rect">
            <a:avLst/>
          </a:prstGeom>
          <a:noFill/>
          <a:ln/>
        </p:spPr>
        <p:txBody>
          <a:bodyPr wrap="square" lIns="0" tIns="0" rIns="0" bIns="0" rtlCol="0" anchor="t"/>
          <a:lstStyle/>
          <a:p>
            <a:pPr indent="0" marL="0">
              <a:buNone/>
            </a:pPr>
            <a:r>
              <a:rPr lang="en-US" sz="1600" dirty="0">
                <a:solidFill>
                  <a:srgbClr val="202124"/>
                </a:solidFill>
                <a:latin typeface="Courier New" pitchFamily="34" charset="0"/>
                <a:ea typeface="Courier New" pitchFamily="34" charset="-122"/>
                <a:cs typeface="Courier New" pitchFamily="34" charset="-120"/>
              </a:rPr>
              <a:t>picos = una[una[</a:t>
            </a:r>
            <a:pPr indent="0" marL="0">
              <a:buNone/>
            </a:pPr>
            <a:r>
              <a:rPr lang="en-US" sz="1600" dirty="0">
                <a:solidFill>
                  <a:srgbClr val="A31515"/>
                </a:solidFill>
                <a:latin typeface="Courier New" pitchFamily="34" charset="0"/>
                <a:ea typeface="Courier New" pitchFamily="34" charset="-122"/>
                <a:cs typeface="Courier New" pitchFamily="34" charset="-120"/>
              </a:rPr>
              <a:t>"mwh"</a:t>
            </a:r>
            <a:pPr indent="0" marL="0">
              <a:buNone/>
            </a:pPr>
            <a:r>
              <a:rPr lang="en-US" sz="1600" dirty="0">
                <a:solidFill>
                  <a:srgbClr val="202124"/>
                </a:solidFill>
                <a:latin typeface="Courier New" pitchFamily="34" charset="0"/>
                <a:ea typeface="Courier New" pitchFamily="34" charset="-122"/>
                <a:cs typeface="Courier New" pitchFamily="34" charset="-120"/>
              </a:rPr>
              <a:t>] &gt; veces * promedio]</a:t>
            </a:r>
            <a:endParaRPr lang="en-US" sz="1600" dirty="0"/>
          </a:p>
        </p:txBody>
      </p:sp>
      <p:sp>
        <p:nvSpPr>
          <p:cNvPr id="8" name="Shape 6"/>
          <p:cNvSpPr/>
          <p:nvPr/>
        </p:nvSpPr>
        <p:spPr>
          <a:xfrm>
            <a:off x="548640" y="2414016"/>
            <a:ext cx="329184" cy="329184"/>
          </a:xfrm>
          <a:prstGeom prst="ellipse">
            <a:avLst/>
          </a:prstGeom>
          <a:solidFill>
            <a:srgbClr val="1A6FD4"/>
          </a:solidFill>
          <a:ln w="12700">
            <a:solidFill>
              <a:srgbClr val="1A6FD4"/>
            </a:solidFill>
            <a:prstDash val="solid"/>
          </a:ln>
        </p:spPr>
      </p:sp>
      <p:sp>
        <p:nvSpPr>
          <p:cNvPr id="9" name="Text 7"/>
          <p:cNvSpPr/>
          <p:nvPr/>
        </p:nvSpPr>
        <p:spPr>
          <a:xfrm>
            <a:off x="548640" y="241401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2221992"/>
            <a:ext cx="4937760" cy="713232"/>
          </a:xfrm>
          <a:prstGeom prst="roundRect">
            <a:avLst>
              <a:gd name="adj" fmla="val 6410"/>
            </a:avLst>
          </a:prstGeom>
          <a:solidFill>
            <a:srgbClr val="DBE9FB"/>
          </a:solidFill>
          <a:ln w="12700">
            <a:solidFill>
              <a:srgbClr val="DBE9FB"/>
            </a:solidFill>
            <a:prstDash val="solid"/>
          </a:ln>
        </p:spPr>
      </p:sp>
      <p:sp>
        <p:nvSpPr>
          <p:cNvPr id="11" name="Text 9"/>
          <p:cNvSpPr/>
          <p:nvPr/>
        </p:nvSpPr>
        <p:spPr>
          <a:xfrm>
            <a:off x="1170432" y="2221992"/>
            <a:ext cx="4754880" cy="71323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veces * promedio</a:t>
            </a:r>
            <a:endParaRPr lang="en-US" sz="1400" dirty="0"/>
          </a:p>
        </p:txBody>
      </p:sp>
      <p:sp>
        <p:nvSpPr>
          <p:cNvPr id="12" name="Text 10"/>
          <p:cNvSpPr/>
          <p:nvPr/>
        </p:nvSpPr>
        <p:spPr>
          <a:xfrm>
            <a:off x="6263640" y="2221992"/>
            <a:ext cx="5376672" cy="71323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El umbral. Con veces en 3 y un promedio de 35,2, da 105,6 MWh.</a:t>
            </a:r>
            <a:endParaRPr lang="en-US" sz="1600" dirty="0"/>
          </a:p>
        </p:txBody>
      </p:sp>
      <p:sp>
        <p:nvSpPr>
          <p:cNvPr id="13" name="Shape 11"/>
          <p:cNvSpPr/>
          <p:nvPr/>
        </p:nvSpPr>
        <p:spPr>
          <a:xfrm>
            <a:off x="548640" y="3218688"/>
            <a:ext cx="329184" cy="329184"/>
          </a:xfrm>
          <a:prstGeom prst="ellipse">
            <a:avLst/>
          </a:prstGeom>
          <a:solidFill>
            <a:srgbClr val="1E8E3E"/>
          </a:solidFill>
          <a:ln w="12700">
            <a:solidFill>
              <a:srgbClr val="1E8E3E"/>
            </a:solidFill>
            <a:prstDash val="solid"/>
          </a:ln>
        </p:spPr>
      </p:sp>
      <p:sp>
        <p:nvSpPr>
          <p:cNvPr id="14" name="Text 12"/>
          <p:cNvSpPr/>
          <p:nvPr/>
        </p:nvSpPr>
        <p:spPr>
          <a:xfrm>
            <a:off x="548640" y="32186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3026664"/>
            <a:ext cx="4937760" cy="713232"/>
          </a:xfrm>
          <a:prstGeom prst="roundRect">
            <a:avLst>
              <a:gd name="adj" fmla="val 6410"/>
            </a:avLst>
          </a:prstGeom>
          <a:solidFill>
            <a:srgbClr val="DCEFE0"/>
          </a:solidFill>
          <a:ln w="12700">
            <a:solidFill>
              <a:srgbClr val="DCEFE0"/>
            </a:solidFill>
            <a:prstDash val="solid"/>
          </a:ln>
        </p:spPr>
      </p:sp>
      <p:sp>
        <p:nvSpPr>
          <p:cNvPr id="16" name="Text 14"/>
          <p:cNvSpPr/>
          <p:nvPr/>
        </p:nvSpPr>
        <p:spPr>
          <a:xfrm>
            <a:off x="1170432" y="3026664"/>
            <a:ext cx="4754880" cy="71323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una["mwh"] &gt; ...</a:t>
            </a:r>
            <a:endParaRPr lang="en-US" sz="1400" dirty="0"/>
          </a:p>
        </p:txBody>
      </p:sp>
      <p:sp>
        <p:nvSpPr>
          <p:cNvPr id="17" name="Text 15"/>
          <p:cNvSpPr/>
          <p:nvPr/>
        </p:nvSpPr>
        <p:spPr>
          <a:xfrm>
            <a:off x="6263640" y="3026664"/>
            <a:ext cx="5376672" cy="71323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La pregunta a cada hora, si su demanda supera el umbral. Da True o False.</a:t>
            </a:r>
            <a:endParaRPr lang="en-US" sz="1600" dirty="0"/>
          </a:p>
        </p:txBody>
      </p:sp>
      <p:sp>
        <p:nvSpPr>
          <p:cNvPr id="18" name="Shape 16"/>
          <p:cNvSpPr/>
          <p:nvPr/>
        </p:nvSpPr>
        <p:spPr>
          <a:xfrm>
            <a:off x="548640" y="3931920"/>
            <a:ext cx="329184" cy="329184"/>
          </a:xfrm>
          <a:prstGeom prst="ellipse">
            <a:avLst/>
          </a:prstGeom>
          <a:solidFill>
            <a:srgbClr val="B07D00"/>
          </a:solidFill>
          <a:ln w="12700">
            <a:solidFill>
              <a:srgbClr val="B07D00"/>
            </a:solidFill>
            <a:prstDash val="solid"/>
          </a:ln>
        </p:spPr>
      </p:sp>
      <p:sp>
        <p:nvSpPr>
          <p:cNvPr id="19" name="Text 17"/>
          <p:cNvSpPr/>
          <p:nvPr/>
        </p:nvSpPr>
        <p:spPr>
          <a:xfrm>
            <a:off x="548640" y="39319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Shape 18"/>
          <p:cNvSpPr/>
          <p:nvPr/>
        </p:nvSpPr>
        <p:spPr>
          <a:xfrm>
            <a:off x="1051560" y="3831336"/>
            <a:ext cx="4937760" cy="530352"/>
          </a:xfrm>
          <a:prstGeom prst="roundRect">
            <a:avLst>
              <a:gd name="adj" fmla="val 8621"/>
            </a:avLst>
          </a:prstGeom>
          <a:solidFill>
            <a:srgbClr val="FDF0C8"/>
          </a:solidFill>
          <a:ln w="12700">
            <a:solidFill>
              <a:srgbClr val="FDF0C8"/>
            </a:solidFill>
            <a:prstDash val="solid"/>
          </a:ln>
        </p:spPr>
      </p:sp>
      <p:sp>
        <p:nvSpPr>
          <p:cNvPr id="21" name="Text 19"/>
          <p:cNvSpPr/>
          <p:nvPr/>
        </p:nvSpPr>
        <p:spPr>
          <a:xfrm>
            <a:off x="1170432" y="3831336"/>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una[ ... ]</a:t>
            </a:r>
            <a:endParaRPr lang="en-US" sz="1400" dirty="0"/>
          </a:p>
        </p:txBody>
      </p:sp>
      <p:sp>
        <p:nvSpPr>
          <p:cNvPr id="22" name="Text 20"/>
          <p:cNvSpPr/>
          <p:nvPr/>
        </p:nvSpPr>
        <p:spPr>
          <a:xfrm>
            <a:off x="6263640" y="3831336"/>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El filtro deja pasar solo las horas con True.</a:t>
            </a:r>
            <a:endParaRPr lang="en-US" sz="1600" dirty="0"/>
          </a:p>
        </p:txBody>
      </p:sp>
      <p:sp>
        <p:nvSpPr>
          <p:cNvPr id="23" name="Shape 21"/>
          <p:cNvSpPr/>
          <p:nvPr/>
        </p:nvSpPr>
        <p:spPr>
          <a:xfrm>
            <a:off x="548640" y="4553712"/>
            <a:ext cx="329184" cy="329184"/>
          </a:xfrm>
          <a:prstGeom prst="ellipse">
            <a:avLst/>
          </a:prstGeom>
          <a:solidFill>
            <a:srgbClr val="7B4FC9"/>
          </a:solidFill>
          <a:ln w="12700">
            <a:solidFill>
              <a:srgbClr val="7B4FC9"/>
            </a:solidFill>
            <a:prstDash val="solid"/>
          </a:ln>
        </p:spPr>
      </p:sp>
      <p:sp>
        <p:nvSpPr>
          <p:cNvPr id="24" name="Text 22"/>
          <p:cNvSpPr/>
          <p:nvPr/>
        </p:nvSpPr>
        <p:spPr>
          <a:xfrm>
            <a:off x="548640" y="455371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Shape 23"/>
          <p:cNvSpPr/>
          <p:nvPr/>
        </p:nvSpPr>
        <p:spPr>
          <a:xfrm>
            <a:off x="1051560" y="4453128"/>
            <a:ext cx="4937760" cy="530352"/>
          </a:xfrm>
          <a:prstGeom prst="roundRect">
            <a:avLst>
              <a:gd name="adj" fmla="val 8621"/>
            </a:avLst>
          </a:prstGeom>
          <a:solidFill>
            <a:srgbClr val="ECE2FA"/>
          </a:solidFill>
          <a:ln w="12700">
            <a:solidFill>
              <a:srgbClr val="ECE2FA"/>
            </a:solidFill>
            <a:prstDash val="solid"/>
          </a:ln>
        </p:spPr>
      </p:sp>
      <p:sp>
        <p:nvSpPr>
          <p:cNvPr id="26" name="Text 24"/>
          <p:cNvSpPr/>
          <p:nvPr/>
        </p:nvSpPr>
        <p:spPr>
          <a:xfrm>
            <a:off x="1170432" y="4453128"/>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picos =</a:t>
            </a:r>
            <a:endParaRPr lang="en-US" sz="1400" dirty="0"/>
          </a:p>
        </p:txBody>
      </p:sp>
      <p:sp>
        <p:nvSpPr>
          <p:cNvPr id="27" name="Text 25"/>
          <p:cNvSpPr/>
          <p:nvPr/>
        </p:nvSpPr>
        <p:spPr>
          <a:xfrm>
            <a:off x="6263640" y="4453128"/>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Guarda esas horas con el nombre picos.</a:t>
            </a:r>
            <a:endParaRPr lang="en-US" sz="1600" dirty="0"/>
          </a:p>
        </p:txBody>
      </p:sp>
      <p:sp>
        <p:nvSpPr>
          <p:cNvPr id="28" name="Shape 26"/>
          <p:cNvSpPr/>
          <p:nvPr/>
        </p:nvSpPr>
        <p:spPr>
          <a:xfrm>
            <a:off x="548640" y="5989320"/>
            <a:ext cx="73152" cy="548640"/>
          </a:xfrm>
          <a:prstGeom prst="rect">
            <a:avLst/>
          </a:prstGeom>
          <a:solidFill>
            <a:srgbClr val="0B3D62"/>
          </a:solidFill>
          <a:ln w="12700">
            <a:solidFill>
              <a:srgbClr val="0B3D62"/>
            </a:solidFill>
            <a:prstDash val="solid"/>
          </a:ln>
        </p:spPr>
      </p:sp>
      <p:sp>
        <p:nvSpPr>
          <p:cNvPr id="29" name="Text 27"/>
          <p:cNvSpPr/>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deja las horas cuya demanda supera veces el promedio, y guárdalas como picos.</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6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decide qué valor es imposible</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y mira el mínimo y el máximo. Después mueve el deslizador a 1 y a 10, vuelve a correrla y mira cuántas horas marca. Prueba también con Metropolitana.</a:t>
            </a:r>
            <a:endParaRPr lang="en-US" sz="1400" dirty="0"/>
          </a:p>
        </p:txBody>
      </p:sp>
      <p:sp>
        <p:nvSpPr>
          <p:cNvPr id="6" name="Text 4"/>
          <p:cNvSpPr/>
          <p:nvPr/>
        </p:nvSpPr>
        <p:spPr>
          <a:xfrm>
            <a:off x="548640" y="1481328"/>
            <a:ext cx="5486400" cy="274320"/>
          </a:xfrm>
          <a:prstGeom prst="rect">
            <a:avLst/>
          </a:prstGeom>
          <a:noFill/>
          <a:ln/>
        </p:spPr>
        <p:txBody>
          <a:bodyPr wrap="square" lIns="0" tIns="0" rIns="0" bIns="0" rtlCol="0" anchor="ctr"/>
          <a:lstStyle/>
          <a:p>
            <a:pPr indent="0" marL="0">
              <a:buNone/>
            </a:pPr>
            <a:r>
              <a:rPr lang="en-US" sz="1300" b="1" dirty="0">
                <a:solidFill>
                  <a:srgbClr val="5F6368"/>
                </a:solidFill>
                <a:latin typeface="Calibri" pitchFamily="34" charset="0"/>
                <a:ea typeface="Calibri" pitchFamily="34" charset="-122"/>
                <a:cs typeface="Calibri" pitchFamily="34" charset="-120"/>
              </a:rPr>
              <a:t>Respuesta de la celda</a:t>
            </a:r>
            <a:endParaRPr lang="en-US" sz="1300" dirty="0"/>
          </a:p>
        </p:txBody>
      </p:sp>
      <p:sp>
        <p:nvSpPr>
          <p:cNvPr id="7" name="Shape 5"/>
          <p:cNvSpPr/>
          <p:nvPr/>
        </p:nvSpPr>
        <p:spPr>
          <a:xfrm>
            <a:off x="1325880" y="1828800"/>
            <a:ext cx="10314432" cy="2461565"/>
          </a:xfrm>
          <a:prstGeom prst="rect">
            <a:avLst/>
          </a:prstGeom>
          <a:solidFill>
            <a:srgbClr val="FFFFFF"/>
          </a:solidFill>
          <a:ln w="12700">
            <a:solidFill>
              <a:srgbClr val="DADCE0"/>
            </a:solidFill>
            <a:prstDash val="solid"/>
          </a:ln>
        </p:spPr>
      </p:sp>
      <p:sp>
        <p:nvSpPr>
          <p:cNvPr id="8" name="Text 6"/>
          <p:cNvSpPr/>
          <p:nvPr/>
        </p:nvSpPr>
        <p:spPr>
          <a:xfrm>
            <a:off x="1463040" y="1901952"/>
            <a:ext cx="10085832" cy="2333549"/>
          </a:xfrm>
          <a:prstGeom prst="rect">
            <a:avLst/>
          </a:prstGeom>
          <a:noFill/>
          <a:ln/>
        </p:spPr>
        <p:txBody>
          <a:bodyPr wrap="square" lIns="0" tIns="0" rIns="0" bIns="0" rtlCol="0" anchor="t"/>
          <a:lstStyle/>
          <a:p>
            <a:pPr indent="0" marL="0">
              <a:buNone/>
            </a:pPr>
            <a:r>
              <a:rPr lang="en-US" sz="1200" dirty="0">
                <a:solidFill>
                  <a:srgbClr val="202124"/>
                </a:solidFill>
                <a:latin typeface="Courier New" pitchFamily="34" charset="0"/>
                <a:ea typeface="Courier New" pitchFamily="34" charset="-122"/>
                <a:cs typeface="Courier New" pitchFamily="34" charset="-120"/>
              </a:rPr>
              <a:t>count    8512.0</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mean       35.2</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std        11.3</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min       -42.6</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25%        29.7</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50%        34.5</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75%        41.0</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max       442.7</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Name: mwh, dtype: float64</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Horas con demanda negativa 5</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Horas sobre 3 veces el promedio 6</a:t>
            </a:r>
            <a:endParaRPr lang="en-US" sz="1200" dirty="0"/>
          </a:p>
        </p:txBody>
      </p:sp>
      <p:sp>
        <p:nvSpPr>
          <p:cNvPr id="9" name="Text 7"/>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0" name="Shape 8"/>
          <p:cNvSpPr/>
          <p:nvPr/>
        </p:nvSpPr>
        <p:spPr>
          <a:xfrm>
            <a:off x="548640" y="6062472"/>
            <a:ext cx="1149401" cy="512064"/>
          </a:xfrm>
          <a:prstGeom prst="roundRect">
            <a:avLst>
              <a:gd name="adj" fmla="val 12500"/>
            </a:avLst>
          </a:prstGeom>
          <a:solidFill>
            <a:srgbClr val="FEF3D6"/>
          </a:solidFill>
          <a:ln w="25400">
            <a:solidFill>
              <a:srgbClr val="F9AB00"/>
            </a:solidFill>
            <a:prstDash val="solid"/>
          </a:ln>
        </p:spPr>
      </p:sp>
      <p:sp>
        <p:nvSpPr>
          <p:cNvPr id="11" name="Text 9"/>
          <p:cNvSpPr/>
          <p:nvPr/>
        </p:nvSpPr>
        <p:spPr>
          <a:xfrm>
            <a:off x="640080" y="6071616"/>
            <a:ext cx="1012241"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region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"Atacama"</a:t>
            </a:r>
            <a:endParaRPr lang="en-US" sz="1200" dirty="0"/>
          </a:p>
        </p:txBody>
      </p:sp>
      <p:sp>
        <p:nvSpPr>
          <p:cNvPr id="12" name="Shape 10"/>
          <p:cNvSpPr/>
          <p:nvPr/>
        </p:nvSpPr>
        <p:spPr>
          <a:xfrm>
            <a:off x="1835201" y="6062472"/>
            <a:ext cx="1143000" cy="512064"/>
          </a:xfrm>
          <a:prstGeom prst="roundRect">
            <a:avLst>
              <a:gd name="adj" fmla="val 12500"/>
            </a:avLst>
          </a:prstGeom>
          <a:solidFill>
            <a:srgbClr val="FEF3D6"/>
          </a:solidFill>
          <a:ln w="25400">
            <a:solidFill>
              <a:srgbClr val="F9AB00"/>
            </a:solidFill>
            <a:prstDash val="solid"/>
          </a:ln>
        </p:spPr>
      </p:sp>
      <p:sp>
        <p:nvSpPr>
          <p:cNvPr id="13" name="Text 11"/>
          <p:cNvSpPr/>
          <p:nvPr/>
        </p:nvSpPr>
        <p:spPr>
          <a:xfrm>
            <a:off x="1926641"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veces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3</a:t>
            </a:r>
            <a:endParaRPr lang="en-US" sz="1200" dirty="0"/>
          </a:p>
        </p:txBody>
      </p:sp>
      <p:sp>
        <p:nvSpPr>
          <p:cNvPr id="14" name="Shape 12"/>
          <p:cNvSpPr/>
          <p:nvPr/>
        </p:nvSpPr>
        <p:spPr>
          <a:xfrm>
            <a:off x="3115361" y="6062472"/>
            <a:ext cx="1620317" cy="512064"/>
          </a:xfrm>
          <a:prstGeom prst="roundRect">
            <a:avLst>
              <a:gd name="adj" fmla="val 12500"/>
            </a:avLst>
          </a:prstGeom>
          <a:solidFill>
            <a:srgbClr val="FEF3D6"/>
          </a:solidFill>
          <a:ln w="25400">
            <a:solidFill>
              <a:srgbClr val="F9AB00"/>
            </a:solidFill>
            <a:prstDash val="solid"/>
          </a:ln>
        </p:spPr>
      </p:sp>
      <p:sp>
        <p:nvSpPr>
          <p:cNvPr id="15" name="Text 13"/>
          <p:cNvSpPr/>
          <p:nvPr/>
        </p:nvSpPr>
        <p:spPr>
          <a:xfrm>
            <a:off x="3206801" y="6071616"/>
            <a:ext cx="148315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8784 × 4</a:t>
            </a:r>
            <a:endParaRPr lang="en-US" sz="1200" dirty="0"/>
          </a:p>
        </p:txBody>
      </p:sp>
      <p:sp>
        <p:nvSpPr>
          <p:cNvPr id="16" name="Shape 14"/>
          <p:cNvSpPr/>
          <p:nvPr/>
        </p:nvSpPr>
        <p:spPr>
          <a:xfrm>
            <a:off x="4872838" y="6062472"/>
            <a:ext cx="1143000" cy="512064"/>
          </a:xfrm>
          <a:prstGeom prst="roundRect">
            <a:avLst>
              <a:gd name="adj" fmla="val 12500"/>
            </a:avLst>
          </a:prstGeom>
          <a:solidFill>
            <a:srgbClr val="FEF3D6"/>
          </a:solidFill>
          <a:ln w="25400">
            <a:solidFill>
              <a:srgbClr val="F9AB00"/>
            </a:solidFill>
            <a:prstDash val="solid"/>
          </a:ln>
        </p:spPr>
      </p:sp>
      <p:sp>
        <p:nvSpPr>
          <p:cNvPr id="17" name="Text 15"/>
          <p:cNvSpPr/>
          <p:nvPr/>
        </p:nvSpPr>
        <p:spPr>
          <a:xfrm>
            <a:off x="4964278"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promedio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35.22…</a:t>
            </a:r>
            <a:endParaRPr lang="en-US" sz="1200" dirty="0"/>
          </a:p>
        </p:txBody>
      </p:sp>
      <p:sp>
        <p:nvSpPr>
          <p:cNvPr id="18" name="Shape 16"/>
          <p:cNvSpPr/>
          <p:nvPr/>
        </p:nvSpPr>
        <p:spPr>
          <a:xfrm>
            <a:off x="6152998" y="6062472"/>
            <a:ext cx="1337767" cy="512064"/>
          </a:xfrm>
          <a:prstGeom prst="roundRect">
            <a:avLst>
              <a:gd name="adj" fmla="val 12500"/>
            </a:avLst>
          </a:prstGeom>
          <a:solidFill>
            <a:srgbClr val="FEF3D6"/>
          </a:solidFill>
          <a:ln w="25400">
            <a:solidFill>
              <a:srgbClr val="F9AB00"/>
            </a:solidFill>
            <a:prstDash val="solid"/>
          </a:ln>
        </p:spPr>
      </p:sp>
      <p:sp>
        <p:nvSpPr>
          <p:cNvPr id="19" name="Text 17"/>
          <p:cNvSpPr/>
          <p:nvPr/>
        </p:nvSpPr>
        <p:spPr>
          <a:xfrm>
            <a:off x="6244438" y="6071616"/>
            <a:ext cx="120060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negativas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 × 4</a:t>
            </a:r>
            <a:endParaRPr lang="en-US" sz="1200" dirty="0"/>
          </a:p>
        </p:txBody>
      </p:sp>
      <p:sp>
        <p:nvSpPr>
          <p:cNvPr id="20" name="Shape 18"/>
          <p:cNvSpPr/>
          <p:nvPr/>
        </p:nvSpPr>
        <p:spPr>
          <a:xfrm>
            <a:off x="7627925" y="6062472"/>
            <a:ext cx="1337767" cy="512064"/>
          </a:xfrm>
          <a:prstGeom prst="roundRect">
            <a:avLst>
              <a:gd name="adj" fmla="val 12500"/>
            </a:avLst>
          </a:prstGeom>
          <a:solidFill>
            <a:srgbClr val="FEF3D6"/>
          </a:solidFill>
          <a:ln w="25400">
            <a:solidFill>
              <a:srgbClr val="F9AB00"/>
            </a:solidFill>
            <a:prstDash val="solid"/>
          </a:ln>
        </p:spPr>
      </p:sp>
      <p:sp>
        <p:nvSpPr>
          <p:cNvPr id="21" name="Text 19"/>
          <p:cNvSpPr/>
          <p:nvPr/>
        </p:nvSpPr>
        <p:spPr>
          <a:xfrm>
            <a:off x="7719365" y="6071616"/>
            <a:ext cx="120060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picos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 × 4</a:t>
            </a:r>
            <a:endParaRPr lang="en-US" sz="1200" dirty="0"/>
          </a:p>
        </p:txBody>
      </p:sp>
      <p:sp>
        <p:nvSpPr>
          <p:cNvPr id="22" name="Text 20"/>
          <p:cNvSpPr/>
          <p:nvPr/>
        </p:nvSpPr>
        <p:spPr>
          <a:xfrm>
            <a:off x="9102852" y="6062472"/>
            <a:ext cx="1005840" cy="512064"/>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y 8 más</a:t>
            </a:r>
            <a:endParaRPr lang="en-US" sz="1200" dirty="0"/>
          </a:p>
        </p:txBody>
      </p:sp>
      <p:sp>
        <p:nvSpPr>
          <p:cNvPr id="23" name="Text 21"/>
          <p:cNvSpPr/>
          <p:nvPr/>
        </p:nvSpPr>
        <p:spPr>
          <a:xfrm>
            <a:off x="548640" y="6592824"/>
            <a:ext cx="11091672" cy="219456"/>
          </a:xfrm>
          <a:prstGeom prst="rect">
            <a:avLst/>
          </a:prstGeom>
          <a:noFill/>
          <a:ln/>
        </p:spPr>
        <p:txBody>
          <a:bodyPr wrap="square" lIns="0" tIns="0" rIns="0" bIns="0" rtlCol="0" anchor="ctr"/>
          <a:lstStyle/>
          <a:p>
            <a:pPr indent="0" marL="0">
              <a:buNone/>
            </a:pPr>
            <a:r>
              <a:rPr lang="en-US" sz="1300" dirty="0">
                <a:solidFill>
                  <a:srgbClr val="0B3D62"/>
                </a:solidFill>
                <a:latin typeface="Calibri" pitchFamily="34" charset="0"/>
                <a:ea typeface="Calibri" pitchFamily="34" charset="-122"/>
                <a:cs typeface="Calibri" pitchFamily="34" charset="-120"/>
              </a:rPr>
              <a:t>Atacama tiene 5 horas negativas y 6 picos sobre 3 veces el promedio.</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6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decide qué valor es imposible</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Que respondan en el chat o en voz alta.</a:t>
            </a:r>
            <a:endParaRPr lang="en-US" sz="1400" dirty="0"/>
          </a:p>
        </p:txBody>
      </p:sp>
      <p:sp>
        <p:nvSpPr>
          <p:cNvPr id="6" name="Shape 4"/>
          <p:cNvSpPr/>
          <p:nvPr/>
        </p:nvSpPr>
        <p:spPr>
          <a:xfrm>
            <a:off x="548640" y="1600200"/>
            <a:ext cx="11091672" cy="502920"/>
          </a:xfrm>
          <a:prstGeom prst="roundRect">
            <a:avLst>
              <a:gd name="adj" fmla="val 10909"/>
            </a:avLst>
          </a:prstGeom>
          <a:solidFill>
            <a:srgbClr val="0B3D62"/>
          </a:solidFill>
          <a:ln w="12700">
            <a:solidFill>
              <a:srgbClr val="0B3D62"/>
            </a:solidFill>
            <a:prstDash val="solid"/>
          </a:ln>
        </p:spPr>
      </p:sp>
      <p:sp>
        <p:nvSpPr>
          <p:cNvPr id="7" name="Text 5"/>
          <p:cNvSpPr/>
          <p:nvPr/>
        </p:nvSpPr>
        <p:spPr>
          <a:xfrm>
            <a:off x="822960" y="1600200"/>
            <a:ext cx="10543032" cy="5029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¿QUÉ CREEN QUE VA A SALIR?</a:t>
            </a:r>
            <a:endParaRPr lang="en-US" sz="1600" dirty="0"/>
          </a:p>
        </p:txBody>
      </p:sp>
      <p:sp>
        <p:nvSpPr>
          <p:cNvPr id="8" name="Text 6"/>
          <p:cNvSpPr/>
          <p:nvPr/>
        </p:nvSpPr>
        <p:spPr>
          <a:xfrm>
            <a:off x="548640" y="2331720"/>
            <a:ext cx="11091672" cy="822960"/>
          </a:xfrm>
          <a:prstGeom prst="rect">
            <a:avLst/>
          </a:prstGeom>
          <a:noFill/>
          <a:ln/>
        </p:spPr>
        <p:txBody>
          <a:bodyPr wrap="square" lIns="0" tIns="0" rIns="0" bIns="0" rtlCol="0" anchor="t"/>
          <a:lstStyle/>
          <a:p>
            <a:pPr indent="0" marL="0">
              <a:buNone/>
            </a:pPr>
            <a:r>
              <a:rPr lang="en-US" sz="2000" dirty="0">
                <a:solidFill>
                  <a:srgbClr val="5F6368"/>
                </a:solidFill>
                <a:latin typeface="Calibri" pitchFamily="34" charset="0"/>
                <a:ea typeface="Calibri" pitchFamily="34" charset="-122"/>
                <a:cs typeface="Calibri" pitchFamily="34" charset="-120"/>
              </a:rPr>
              <a:t>Atacama consume en promedio 35 MWh por hora.</a:t>
            </a:r>
            <a:endParaRPr lang="en-US" sz="2000" dirty="0"/>
          </a:p>
        </p:txBody>
      </p:sp>
      <p:sp>
        <p:nvSpPr>
          <p:cNvPr id="9" name="Text 7"/>
          <p:cNvSpPr/>
          <p:nvPr/>
        </p:nvSpPr>
        <p:spPr>
          <a:xfrm>
            <a:off x="548640" y="3154680"/>
            <a:ext cx="11091672" cy="1097280"/>
          </a:xfrm>
          <a:prstGeom prst="rect">
            <a:avLst/>
          </a:prstGeom>
          <a:noFill/>
          <a:ln/>
        </p:spPr>
        <p:txBody>
          <a:bodyPr wrap="square" lIns="0" tIns="0" rIns="0" bIns="0" rtlCol="0" anchor="t"/>
          <a:lstStyle/>
          <a:p>
            <a:pPr indent="0" marL="0">
              <a:buNone/>
            </a:pPr>
            <a:r>
              <a:rPr lang="en-US" sz="3000" b="1" dirty="0">
                <a:solidFill>
                  <a:srgbClr val="202124"/>
                </a:solidFill>
                <a:latin typeface="Calibri" pitchFamily="34" charset="0"/>
                <a:ea typeface="Calibri" pitchFamily="34" charset="-122"/>
                <a:cs typeface="Calibri" pitchFamily="34" charset="-120"/>
              </a:rPr>
              <a:t>Con veces en 1, ¿cuántas horas va a marcar como picos?</a:t>
            </a:r>
            <a:endParaRPr lang="en-US" sz="3000" dirty="0"/>
          </a:p>
        </p:txBody>
      </p:sp>
      <p:sp>
        <p:nvSpPr>
          <p:cNvPr id="10" name="Shape 8"/>
          <p:cNvSpPr/>
          <p:nvPr/>
        </p:nvSpPr>
        <p:spPr>
          <a:xfrm>
            <a:off x="548640" y="4572000"/>
            <a:ext cx="3511296" cy="822960"/>
          </a:xfrm>
          <a:prstGeom prst="roundRect">
            <a:avLst>
              <a:gd name="adj" fmla="val 8889"/>
            </a:avLst>
          </a:prstGeom>
          <a:solidFill>
            <a:srgbClr val="FEF3D6"/>
          </a:solidFill>
          <a:ln w="19050">
            <a:solidFill>
              <a:srgbClr val="F9AB00"/>
            </a:solidFill>
            <a:prstDash val="solid"/>
          </a:ln>
        </p:spPr>
      </p:sp>
      <p:sp>
        <p:nvSpPr>
          <p:cNvPr id="11" name="Text 9"/>
          <p:cNvSpPr/>
          <p:nvPr/>
        </p:nvSpPr>
        <p:spPr>
          <a:xfrm>
            <a:off x="548640" y="4572000"/>
            <a:ext cx="3511296" cy="822960"/>
          </a:xfrm>
          <a:prstGeom prst="rect">
            <a:avLst/>
          </a:prstGeom>
          <a:noFill/>
          <a:ln/>
        </p:spPr>
        <p:txBody>
          <a:bodyPr wrap="square" lIns="0" tIns="0" rIns="0" bIns="0" rtlCol="0" anchor="ctr"/>
          <a:lstStyle/>
          <a:p>
            <a:pPr algn="ctr" indent="0" marL="0">
              <a:buNone/>
            </a:pPr>
            <a:r>
              <a:rPr lang="en-US" sz="2000" b="1" dirty="0">
                <a:solidFill>
                  <a:srgbClr val="202124"/>
                </a:solidFill>
                <a:latin typeface="Calibri" pitchFamily="34" charset="0"/>
                <a:ea typeface="Calibri" pitchFamily="34" charset="-122"/>
                <a:cs typeface="Calibri" pitchFamily="34" charset="-120"/>
              </a:rPr>
              <a:t>Ninguna</a:t>
            </a:r>
            <a:endParaRPr lang="en-US" sz="2000" dirty="0"/>
          </a:p>
        </p:txBody>
      </p:sp>
      <p:sp>
        <p:nvSpPr>
          <p:cNvPr id="12" name="Shape 10"/>
          <p:cNvSpPr/>
          <p:nvPr/>
        </p:nvSpPr>
        <p:spPr>
          <a:xfrm>
            <a:off x="4338828" y="4572000"/>
            <a:ext cx="3511296" cy="822960"/>
          </a:xfrm>
          <a:prstGeom prst="roundRect">
            <a:avLst>
              <a:gd name="adj" fmla="val 8889"/>
            </a:avLst>
          </a:prstGeom>
          <a:solidFill>
            <a:srgbClr val="FEF3D6"/>
          </a:solidFill>
          <a:ln w="19050">
            <a:solidFill>
              <a:srgbClr val="F9AB00"/>
            </a:solidFill>
            <a:prstDash val="solid"/>
          </a:ln>
        </p:spPr>
      </p:sp>
      <p:sp>
        <p:nvSpPr>
          <p:cNvPr id="13" name="Text 11"/>
          <p:cNvSpPr/>
          <p:nvPr/>
        </p:nvSpPr>
        <p:spPr>
          <a:xfrm>
            <a:off x="4338828" y="4572000"/>
            <a:ext cx="3511296" cy="822960"/>
          </a:xfrm>
          <a:prstGeom prst="rect">
            <a:avLst/>
          </a:prstGeom>
          <a:noFill/>
          <a:ln/>
        </p:spPr>
        <p:txBody>
          <a:bodyPr wrap="square" lIns="0" tIns="0" rIns="0" bIns="0" rtlCol="0" anchor="ctr"/>
          <a:lstStyle/>
          <a:p>
            <a:pPr algn="ctr" indent="0" marL="0">
              <a:buNone/>
            </a:pPr>
            <a:r>
              <a:rPr lang="en-US" sz="2000" b="1" dirty="0">
                <a:solidFill>
                  <a:srgbClr val="202124"/>
                </a:solidFill>
                <a:latin typeface="Calibri" pitchFamily="34" charset="0"/>
                <a:ea typeface="Calibri" pitchFamily="34" charset="-122"/>
                <a:cs typeface="Calibri" pitchFamily="34" charset="-120"/>
              </a:rPr>
              <a:t>Unas pocas</a:t>
            </a:r>
            <a:endParaRPr lang="en-US" sz="2000" dirty="0"/>
          </a:p>
        </p:txBody>
      </p:sp>
      <p:sp>
        <p:nvSpPr>
          <p:cNvPr id="14" name="Shape 12"/>
          <p:cNvSpPr/>
          <p:nvPr/>
        </p:nvSpPr>
        <p:spPr>
          <a:xfrm>
            <a:off x="8129016" y="4572000"/>
            <a:ext cx="3511296" cy="822960"/>
          </a:xfrm>
          <a:prstGeom prst="roundRect">
            <a:avLst>
              <a:gd name="adj" fmla="val 8889"/>
            </a:avLst>
          </a:prstGeom>
          <a:solidFill>
            <a:srgbClr val="FEF3D6"/>
          </a:solidFill>
          <a:ln w="19050">
            <a:solidFill>
              <a:srgbClr val="F9AB00"/>
            </a:solidFill>
            <a:prstDash val="solid"/>
          </a:ln>
        </p:spPr>
      </p:sp>
      <p:sp>
        <p:nvSpPr>
          <p:cNvPr id="15" name="Text 13"/>
          <p:cNvSpPr/>
          <p:nvPr/>
        </p:nvSpPr>
        <p:spPr>
          <a:xfrm>
            <a:off x="8129016" y="4572000"/>
            <a:ext cx="3511296" cy="822960"/>
          </a:xfrm>
          <a:prstGeom prst="rect">
            <a:avLst/>
          </a:prstGeom>
          <a:noFill/>
          <a:ln/>
        </p:spPr>
        <p:txBody>
          <a:bodyPr wrap="square" lIns="0" tIns="0" rIns="0" bIns="0" rtlCol="0" anchor="ctr"/>
          <a:lstStyle/>
          <a:p>
            <a:pPr algn="ctr" indent="0" marL="0">
              <a:buNone/>
            </a:pPr>
            <a:r>
              <a:rPr lang="en-US" sz="2000" b="1" dirty="0">
                <a:solidFill>
                  <a:srgbClr val="202124"/>
                </a:solidFill>
                <a:latin typeface="Calibri" pitchFamily="34" charset="0"/>
                <a:ea typeface="Calibri" pitchFamily="34" charset="-122"/>
                <a:cs typeface="Calibri" pitchFamily="34" charset="-120"/>
              </a:rPr>
              <a:t>Casi la mitad</a:t>
            </a:r>
            <a:endParaRPr lang="en-US"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6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decide qué valor es imposible</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Se mueve el deslizador a 1 y se vuelve a correr la celda.</a:t>
            </a:r>
            <a:endParaRPr lang="en-US" sz="1400" dirty="0"/>
          </a:p>
        </p:txBody>
      </p:sp>
      <p:sp>
        <p:nvSpPr>
          <p:cNvPr id="6" name="Shape 4"/>
          <p:cNvSpPr/>
          <p:nvPr/>
        </p:nvSpPr>
        <p:spPr>
          <a:xfrm>
            <a:off x="548640" y="1481328"/>
            <a:ext cx="11091672" cy="2131124"/>
          </a:xfrm>
          <a:prstGeom prst="roundRect">
            <a:avLst>
              <a:gd name="adj" fmla="val 2574"/>
            </a:avLst>
          </a:prstGeom>
          <a:solidFill>
            <a:srgbClr val="F8F9FA"/>
          </a:solidFill>
          <a:ln w="25400">
            <a:solidFill>
              <a:srgbClr val="F9AB00"/>
            </a:solidFill>
            <a:prstDash val="solid"/>
          </a:ln>
        </p:spPr>
      </p:sp>
      <p:sp>
        <p:nvSpPr>
          <p:cNvPr id="7"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8"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9" name="Text 7"/>
          <p:cNvSpPr/>
          <p:nvPr/>
        </p:nvSpPr>
        <p:spPr>
          <a:xfrm>
            <a:off x="1325880" y="1600200"/>
            <a:ext cx="7360920" cy="1939100"/>
          </a:xfrm>
          <a:prstGeom prst="rect">
            <a:avLst/>
          </a:prstGeom>
          <a:noFill/>
          <a:ln/>
        </p:spPr>
        <p:txBody>
          <a:bodyPr wrap="square" lIns="0" tIns="0" rIns="0" bIns="0" rtlCol="0" anchor="t"/>
          <a:lstStyle/>
          <a:p>
            <a:pPr indent="0" marL="0">
              <a:buNone/>
            </a:pPr>
            <a:r>
              <a:rPr lang="en-US" sz="1300" dirty="0">
                <a:solidFill>
                  <a:srgbClr val="202124"/>
                </a:solidFill>
                <a:latin typeface="Courier New" pitchFamily="34" charset="0"/>
                <a:ea typeface="Courier New" pitchFamily="34" charset="-122"/>
                <a:cs typeface="Courier New" pitchFamily="34" charset="-120"/>
              </a:rPr>
              <a:t>region = </a:t>
            </a:r>
            <a:pPr indent="0" marL="0">
              <a:buNone/>
            </a:pPr>
            <a:r>
              <a:rPr lang="en-US" sz="1300" dirty="0">
                <a:solidFill>
                  <a:srgbClr val="A31515"/>
                </a:solidFill>
                <a:latin typeface="Courier New" pitchFamily="34" charset="0"/>
                <a:ea typeface="Courier New" pitchFamily="34" charset="-122"/>
                <a:cs typeface="Courier New" pitchFamily="34" charset="-120"/>
              </a:rPr>
              <a:t>"Atacama"</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80868B"/>
                </a:solidFill>
                <a:latin typeface="Courier New" pitchFamily="34" charset="0"/>
                <a:ea typeface="Courier New" pitchFamily="34" charset="-122"/>
                <a:cs typeface="Courier New" pitchFamily="34" charset="-120"/>
              </a:rPr>
              <a:t>#@param ["Antofagasta", "Atacama", "Coquimbo", "Valpar…</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veces = 1 </a:t>
            </a:r>
            <a:pPr indent="0" marL="0">
              <a:buNone/>
            </a:pPr>
            <a:r>
              <a:rPr lang="en-US" sz="1300" dirty="0">
                <a:solidFill>
                  <a:srgbClr val="80868B"/>
                </a:solidFill>
                <a:latin typeface="Courier New" pitchFamily="34" charset="0"/>
                <a:ea typeface="Courier New" pitchFamily="34" charset="-122"/>
                <a:cs typeface="Courier New" pitchFamily="34" charset="-120"/>
              </a:rPr>
              <a:t>#@param {type:"slider", min:1, max:10, step:1}</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una = sin_repetidas[sin_repetidas[</a:t>
            </a:r>
            <a:pPr indent="0" marL="0">
              <a:buNone/>
            </a:pPr>
            <a:r>
              <a:rPr lang="en-US" sz="1300" dirty="0">
                <a:solidFill>
                  <a:srgbClr val="A31515"/>
                </a:solidFill>
                <a:latin typeface="Courier New" pitchFamily="34" charset="0"/>
                <a:ea typeface="Courier New" pitchFamily="34" charset="-122"/>
                <a:cs typeface="Courier New" pitchFamily="34" charset="-120"/>
              </a:rPr>
              <a:t>"region"</a:t>
            </a:r>
            <a:pPr indent="0" marL="0">
              <a:buNone/>
            </a:pPr>
            <a:r>
              <a:rPr lang="en-US" sz="1300" dirty="0">
                <a:solidFill>
                  <a:srgbClr val="202124"/>
                </a:solidFill>
                <a:latin typeface="Courier New" pitchFamily="34" charset="0"/>
                <a:ea typeface="Courier New" pitchFamily="34" charset="-122"/>
                <a:cs typeface="Courier New" pitchFamily="34" charset="-120"/>
              </a:rPr>
              <a:t>] == region]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print(una[</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].describe().round(1))</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promedio = una[</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].mean()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negativas = una[una[</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 &lt; 0]</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picos = una[una[</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 &gt; veces * promedio]</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"Horas con demanda negativa"</a:t>
            </a:r>
            <a:pPr indent="0" marL="0">
              <a:buNone/>
            </a:pPr>
            <a:r>
              <a:rPr lang="en-US" sz="1300" dirty="0">
                <a:solidFill>
                  <a:srgbClr val="202124"/>
                </a:solidFill>
                <a:latin typeface="Courier New" pitchFamily="34" charset="0"/>
                <a:ea typeface="Courier New" pitchFamily="34" charset="-122"/>
                <a:cs typeface="Courier New" pitchFamily="34" charset="-120"/>
              </a:rPr>
              <a:t>, len(negativas))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print(f</a:t>
            </a:r>
            <a:pPr indent="0" marL="0">
              <a:buNone/>
            </a:pPr>
            <a:r>
              <a:rPr lang="en-US" sz="1300" dirty="0">
                <a:solidFill>
                  <a:srgbClr val="A31515"/>
                </a:solidFill>
                <a:latin typeface="Courier New" pitchFamily="34" charset="0"/>
                <a:ea typeface="Courier New" pitchFamily="34" charset="-122"/>
                <a:cs typeface="Courier New" pitchFamily="34" charset="-120"/>
              </a:rPr>
              <a:t>"Horas sobre {veces} veces el promedio"</a:t>
            </a:r>
            <a:pPr indent="0" marL="0">
              <a:buNone/>
            </a:pPr>
            <a:r>
              <a:rPr lang="en-US" sz="1300" dirty="0">
                <a:solidFill>
                  <a:srgbClr val="202124"/>
                </a:solidFill>
                <a:latin typeface="Courier New" pitchFamily="34" charset="0"/>
                <a:ea typeface="Courier New" pitchFamily="34" charset="-122"/>
                <a:cs typeface="Courier New" pitchFamily="34" charset="-120"/>
              </a:rPr>
              <a:t>, len(picos))</a:t>
            </a:r>
            <a:endParaRPr lang="en-US" sz="1300" dirty="0"/>
          </a:p>
        </p:txBody>
      </p:sp>
      <p:sp>
        <p:nvSpPr>
          <p:cNvPr id="10" name="Text 8"/>
          <p:cNvSpPr/>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region</a:t>
            </a:r>
            <a:endParaRPr lang="en-US" sz="1100" dirty="0"/>
          </a:p>
        </p:txBody>
      </p:sp>
      <p:sp>
        <p:nvSpPr>
          <p:cNvPr id="11" name="Shape 9"/>
          <p:cNvSpPr/>
          <p:nvPr/>
        </p:nvSpPr>
        <p:spPr>
          <a:xfrm>
            <a:off x="8823960" y="1874520"/>
            <a:ext cx="2651760" cy="347472"/>
          </a:xfrm>
          <a:prstGeom prst="rect">
            <a:avLst/>
          </a:prstGeom>
          <a:solidFill>
            <a:srgbClr val="FFFFFF"/>
          </a:solidFill>
          <a:ln w="12700">
            <a:solidFill>
              <a:srgbClr val="9AA0A6"/>
            </a:solidFill>
            <a:prstDash val="solid"/>
          </a:ln>
        </p:spPr>
      </p:sp>
      <p:sp>
        <p:nvSpPr>
          <p:cNvPr id="12" name="Text 10"/>
          <p:cNvSpPr/>
          <p:nvPr/>
        </p:nvSpPr>
        <p:spPr>
          <a:xfrm>
            <a:off x="8915400" y="187452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Atacama</a:t>
            </a:r>
            <a:endParaRPr lang="en-US" sz="1200" dirty="0"/>
          </a:p>
        </p:txBody>
      </p:sp>
      <p:sp>
        <p:nvSpPr>
          <p:cNvPr id="13" name="Shape 11"/>
          <p:cNvSpPr/>
          <p:nvPr/>
        </p:nvSpPr>
        <p:spPr>
          <a:xfrm rot="10800000">
            <a:off x="11201400" y="2011680"/>
            <a:ext cx="128016" cy="82296"/>
          </a:xfrm>
          <a:prstGeom prst="triangle">
            <a:avLst/>
          </a:prstGeom>
          <a:solidFill>
            <a:srgbClr val="5F6368"/>
          </a:solidFill>
          <a:ln w="12700">
            <a:solidFill>
              <a:srgbClr val="5F6368"/>
            </a:solidFill>
            <a:prstDash val="solid"/>
          </a:ln>
        </p:spPr>
      </p:sp>
      <p:sp>
        <p:nvSpPr>
          <p:cNvPr id="14" name="Text 12"/>
          <p:cNvSpPr/>
          <p:nvPr/>
        </p:nvSpPr>
        <p:spPr>
          <a:xfrm>
            <a:off x="8823960" y="235000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veces</a:t>
            </a:r>
            <a:endParaRPr lang="en-US" sz="1100" dirty="0"/>
          </a:p>
        </p:txBody>
      </p:sp>
      <p:sp>
        <p:nvSpPr>
          <p:cNvPr id="15" name="Shape 13"/>
          <p:cNvSpPr/>
          <p:nvPr/>
        </p:nvSpPr>
        <p:spPr>
          <a:xfrm>
            <a:off x="8823960" y="2734056"/>
            <a:ext cx="1965960" cy="45720"/>
          </a:xfrm>
          <a:prstGeom prst="rect">
            <a:avLst/>
          </a:prstGeom>
          <a:solidFill>
            <a:srgbClr val="C4C7C5"/>
          </a:solidFill>
          <a:ln w="12700">
            <a:solidFill>
              <a:srgbClr val="C4C7C5"/>
            </a:solidFill>
            <a:prstDash val="solid"/>
          </a:ln>
        </p:spPr>
      </p:sp>
      <p:sp>
        <p:nvSpPr>
          <p:cNvPr id="16" name="Shape 14"/>
          <p:cNvSpPr/>
          <p:nvPr/>
        </p:nvSpPr>
        <p:spPr>
          <a:xfrm>
            <a:off x="8737092" y="2670048"/>
            <a:ext cx="173736" cy="173736"/>
          </a:xfrm>
          <a:prstGeom prst="ellipse">
            <a:avLst/>
          </a:prstGeom>
          <a:solidFill>
            <a:srgbClr val="1A73E8"/>
          </a:solidFill>
          <a:ln w="25400">
            <a:solidFill>
              <a:srgbClr val="0B3D62"/>
            </a:solidFill>
            <a:prstDash val="solid"/>
          </a:ln>
        </p:spPr>
      </p:sp>
      <p:sp>
        <p:nvSpPr>
          <p:cNvPr id="17" name="Text 15"/>
          <p:cNvSpPr/>
          <p:nvPr/>
        </p:nvSpPr>
        <p:spPr>
          <a:xfrm>
            <a:off x="10972800" y="2624328"/>
            <a:ext cx="502920" cy="274320"/>
          </a:xfrm>
          <a:prstGeom prst="rect">
            <a:avLst/>
          </a:prstGeom>
          <a:noFill/>
          <a:ln/>
        </p:spPr>
        <p:txBody>
          <a:bodyPr wrap="square" lIns="0" tIns="0" rIns="0" bIns="0" rtlCol="0" anchor="ctr"/>
          <a:lstStyle/>
          <a:p>
            <a:pPr indent="0" marL="0">
              <a:buNone/>
            </a:pPr>
            <a:r>
              <a:rPr lang="en-US" sz="1200" b="1" dirty="0">
                <a:solidFill>
                  <a:srgbClr val="202124"/>
                </a:solidFill>
                <a:latin typeface="Calibri" pitchFamily="34" charset="0"/>
                <a:ea typeface="Calibri" pitchFamily="34" charset="-122"/>
                <a:cs typeface="Calibri" pitchFamily="34" charset="-120"/>
              </a:rPr>
              <a:t>1</a:t>
            </a:r>
            <a:endParaRPr lang="en-US" sz="1200" dirty="0"/>
          </a:p>
        </p:txBody>
      </p:sp>
      <p:sp>
        <p:nvSpPr>
          <p:cNvPr id="18" name="Text 16"/>
          <p:cNvSpPr/>
          <p:nvPr/>
        </p:nvSpPr>
        <p:spPr>
          <a:xfrm>
            <a:off x="1325880" y="3639884"/>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9" name="Text 17"/>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20" name="Shape 18"/>
          <p:cNvSpPr/>
          <p:nvPr/>
        </p:nvSpPr>
        <p:spPr>
          <a:xfrm>
            <a:off x="548640" y="6062472"/>
            <a:ext cx="1337767" cy="512064"/>
          </a:xfrm>
          <a:prstGeom prst="roundRect">
            <a:avLst>
              <a:gd name="adj" fmla="val 12500"/>
            </a:avLst>
          </a:prstGeom>
          <a:solidFill>
            <a:srgbClr val="F1F3F4"/>
          </a:solidFill>
          <a:ln w="12700">
            <a:solidFill>
              <a:srgbClr val="DADCE0"/>
            </a:solidFill>
            <a:prstDash val="solid"/>
          </a:ln>
        </p:spPr>
      </p:sp>
      <p:sp>
        <p:nvSpPr>
          <p:cNvPr id="21" name="Text 19"/>
          <p:cNvSpPr/>
          <p:nvPr/>
        </p:nvSpPr>
        <p:spPr>
          <a:xfrm>
            <a:off x="640080" y="6071616"/>
            <a:ext cx="120060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picos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 × 4</a:t>
            </a:r>
            <a:endParaRPr lang="en-US" sz="1200" dirty="0"/>
          </a:p>
        </p:txBody>
      </p:sp>
      <p:sp>
        <p:nvSpPr>
          <p:cNvPr id="22" name="Shape 20"/>
          <p:cNvSpPr/>
          <p:nvPr/>
        </p:nvSpPr>
        <p:spPr>
          <a:xfrm>
            <a:off x="2023567" y="6062472"/>
            <a:ext cx="1337767" cy="512064"/>
          </a:xfrm>
          <a:prstGeom prst="roundRect">
            <a:avLst>
              <a:gd name="adj" fmla="val 12500"/>
            </a:avLst>
          </a:prstGeom>
          <a:solidFill>
            <a:srgbClr val="F1F3F4"/>
          </a:solidFill>
          <a:ln w="12700">
            <a:solidFill>
              <a:srgbClr val="DADCE0"/>
            </a:solidFill>
            <a:prstDash val="solid"/>
          </a:ln>
        </p:spPr>
      </p:sp>
      <p:sp>
        <p:nvSpPr>
          <p:cNvPr id="23" name="Text 21"/>
          <p:cNvSpPr/>
          <p:nvPr/>
        </p:nvSpPr>
        <p:spPr>
          <a:xfrm>
            <a:off x="2115007" y="6071616"/>
            <a:ext cx="120060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negativas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 × 4</a:t>
            </a:r>
            <a:endParaRPr lang="en-US" sz="1200" dirty="0"/>
          </a:p>
        </p:txBody>
      </p:sp>
      <p:sp>
        <p:nvSpPr>
          <p:cNvPr id="24" name="Shape 22"/>
          <p:cNvSpPr/>
          <p:nvPr/>
        </p:nvSpPr>
        <p:spPr>
          <a:xfrm>
            <a:off x="3498494" y="6062472"/>
            <a:ext cx="1143000" cy="512064"/>
          </a:xfrm>
          <a:prstGeom prst="roundRect">
            <a:avLst>
              <a:gd name="adj" fmla="val 12500"/>
            </a:avLst>
          </a:prstGeom>
          <a:solidFill>
            <a:srgbClr val="F1F3F4"/>
          </a:solidFill>
          <a:ln w="12700">
            <a:solidFill>
              <a:srgbClr val="DADCE0"/>
            </a:solidFill>
            <a:prstDash val="solid"/>
          </a:ln>
        </p:spPr>
      </p:sp>
      <p:sp>
        <p:nvSpPr>
          <p:cNvPr id="25" name="Text 23"/>
          <p:cNvSpPr/>
          <p:nvPr/>
        </p:nvSpPr>
        <p:spPr>
          <a:xfrm>
            <a:off x="3589934"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promedio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35.22…</a:t>
            </a:r>
            <a:endParaRPr lang="en-US" sz="1200" dirty="0"/>
          </a:p>
        </p:txBody>
      </p:sp>
      <p:sp>
        <p:nvSpPr>
          <p:cNvPr id="26" name="Shape 24"/>
          <p:cNvSpPr/>
          <p:nvPr/>
        </p:nvSpPr>
        <p:spPr>
          <a:xfrm>
            <a:off x="4778654" y="6062472"/>
            <a:ext cx="1620317" cy="512064"/>
          </a:xfrm>
          <a:prstGeom prst="roundRect">
            <a:avLst>
              <a:gd name="adj" fmla="val 12500"/>
            </a:avLst>
          </a:prstGeom>
          <a:solidFill>
            <a:srgbClr val="F1F3F4"/>
          </a:solidFill>
          <a:ln w="12700">
            <a:solidFill>
              <a:srgbClr val="DADCE0"/>
            </a:solidFill>
            <a:prstDash val="solid"/>
          </a:ln>
        </p:spPr>
      </p:sp>
      <p:sp>
        <p:nvSpPr>
          <p:cNvPr id="27" name="Text 25"/>
          <p:cNvSpPr/>
          <p:nvPr/>
        </p:nvSpPr>
        <p:spPr>
          <a:xfrm>
            <a:off x="4870094" y="6071616"/>
            <a:ext cx="148315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8784 × 4</a:t>
            </a:r>
            <a:endParaRPr lang="en-US" sz="1200" dirty="0"/>
          </a:p>
        </p:txBody>
      </p:sp>
      <p:sp>
        <p:nvSpPr>
          <p:cNvPr id="28" name="Shape 26"/>
          <p:cNvSpPr/>
          <p:nvPr/>
        </p:nvSpPr>
        <p:spPr>
          <a:xfrm>
            <a:off x="6536131" y="6062472"/>
            <a:ext cx="1143000" cy="512064"/>
          </a:xfrm>
          <a:prstGeom prst="roundRect">
            <a:avLst>
              <a:gd name="adj" fmla="val 12500"/>
            </a:avLst>
          </a:prstGeom>
          <a:solidFill>
            <a:srgbClr val="F1F3F4"/>
          </a:solidFill>
          <a:ln w="12700">
            <a:solidFill>
              <a:srgbClr val="DADCE0"/>
            </a:solidFill>
            <a:prstDash val="solid"/>
          </a:ln>
        </p:spPr>
      </p:sp>
      <p:sp>
        <p:nvSpPr>
          <p:cNvPr id="29" name="Text 27"/>
          <p:cNvSpPr/>
          <p:nvPr/>
        </p:nvSpPr>
        <p:spPr>
          <a:xfrm>
            <a:off x="6627571"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veces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3</a:t>
            </a:r>
            <a:endParaRPr lang="en-US" sz="1200" dirty="0"/>
          </a:p>
        </p:txBody>
      </p:sp>
      <p:sp>
        <p:nvSpPr>
          <p:cNvPr id="30" name="Shape 28"/>
          <p:cNvSpPr/>
          <p:nvPr/>
        </p:nvSpPr>
        <p:spPr>
          <a:xfrm>
            <a:off x="7816291" y="6062472"/>
            <a:ext cx="1149401" cy="512064"/>
          </a:xfrm>
          <a:prstGeom prst="roundRect">
            <a:avLst>
              <a:gd name="adj" fmla="val 12500"/>
            </a:avLst>
          </a:prstGeom>
          <a:solidFill>
            <a:srgbClr val="F1F3F4"/>
          </a:solidFill>
          <a:ln w="12700">
            <a:solidFill>
              <a:srgbClr val="DADCE0"/>
            </a:solidFill>
            <a:prstDash val="solid"/>
          </a:ln>
        </p:spPr>
      </p:sp>
      <p:sp>
        <p:nvSpPr>
          <p:cNvPr id="31" name="Text 29"/>
          <p:cNvSpPr/>
          <p:nvPr/>
        </p:nvSpPr>
        <p:spPr>
          <a:xfrm>
            <a:off x="7907731" y="6071616"/>
            <a:ext cx="1012241"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region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"Atacama"</a:t>
            </a:r>
            <a:endParaRPr lang="en-US" sz="1200" dirty="0"/>
          </a:p>
        </p:txBody>
      </p:sp>
      <p:sp>
        <p:nvSpPr>
          <p:cNvPr id="32" name="Text 30"/>
          <p:cNvSpPr/>
          <p:nvPr/>
        </p:nvSpPr>
        <p:spPr>
          <a:xfrm>
            <a:off x="9102852" y="6062472"/>
            <a:ext cx="1005840" cy="512064"/>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y 8 más</a:t>
            </a:r>
            <a:endParaRPr lang="en-US" sz="1200" dirty="0"/>
          </a:p>
        </p:txBody>
      </p:sp>
      <p:sp>
        <p:nvSpPr>
          <p:cNvPr id="33" name="Text 31"/>
          <p:cNvSpPr/>
          <p:nvPr/>
        </p:nvSpPr>
        <p:spPr>
          <a:xfrm>
            <a:off x="548640" y="6592824"/>
            <a:ext cx="11091672" cy="219456"/>
          </a:xfrm>
          <a:prstGeom prst="rect">
            <a:avLst/>
          </a:prstGeom>
          <a:noFill/>
          <a:ln/>
        </p:spPr>
        <p:txBody>
          <a:bodyPr wrap="square" lIns="0" tIns="0" rIns="0" bIns="0" rtlCol="0" anchor="ctr"/>
          <a:lstStyle/>
          <a:p>
            <a:pPr indent="0" marL="0">
              <a:buNone/>
            </a:pPr>
            <a:r>
              <a:rPr lang="en-US" sz="1300" dirty="0">
                <a:solidFill>
                  <a:srgbClr val="0B3D62"/>
                </a:solidFill>
                <a:latin typeface="Calibri" pitchFamily="34" charset="0"/>
                <a:ea typeface="Calibri" pitchFamily="34" charset="-122"/>
                <a:cs typeface="Calibri" pitchFamily="34" charset="-120"/>
              </a:rPr>
              <a:t>Mientras no se corra la celda, Python sigue recordando los valores anteriores.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6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decide qué valor es imposible</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Se mueve el deslizador a 1 y se vuelve a correr la celda.</a:t>
            </a:r>
            <a:endParaRPr lang="en-US" sz="1400" dirty="0"/>
          </a:p>
        </p:txBody>
      </p:sp>
      <p:sp>
        <p:nvSpPr>
          <p:cNvPr id="6" name="Text 4"/>
          <p:cNvSpPr/>
          <p:nvPr/>
        </p:nvSpPr>
        <p:spPr>
          <a:xfrm>
            <a:off x="548640" y="1481328"/>
            <a:ext cx="5486400" cy="274320"/>
          </a:xfrm>
          <a:prstGeom prst="rect">
            <a:avLst/>
          </a:prstGeom>
          <a:noFill/>
          <a:ln/>
        </p:spPr>
        <p:txBody>
          <a:bodyPr wrap="square" lIns="0" tIns="0" rIns="0" bIns="0" rtlCol="0" anchor="ctr"/>
          <a:lstStyle/>
          <a:p>
            <a:pPr indent="0" marL="0">
              <a:buNone/>
            </a:pPr>
            <a:r>
              <a:rPr lang="en-US" sz="1300" b="1" dirty="0">
                <a:solidFill>
                  <a:srgbClr val="5F6368"/>
                </a:solidFill>
                <a:latin typeface="Calibri" pitchFamily="34" charset="0"/>
                <a:ea typeface="Calibri" pitchFamily="34" charset="-122"/>
                <a:cs typeface="Calibri" pitchFamily="34" charset="-120"/>
              </a:rPr>
              <a:t>Respuesta de la celda</a:t>
            </a:r>
            <a:endParaRPr lang="en-US" sz="1300" dirty="0"/>
          </a:p>
        </p:txBody>
      </p:sp>
      <p:sp>
        <p:nvSpPr>
          <p:cNvPr id="7" name="Shape 5"/>
          <p:cNvSpPr/>
          <p:nvPr/>
        </p:nvSpPr>
        <p:spPr>
          <a:xfrm>
            <a:off x="1325880" y="1828800"/>
            <a:ext cx="10314432" cy="2461565"/>
          </a:xfrm>
          <a:prstGeom prst="rect">
            <a:avLst/>
          </a:prstGeom>
          <a:solidFill>
            <a:srgbClr val="FFFFFF"/>
          </a:solidFill>
          <a:ln w="12700">
            <a:solidFill>
              <a:srgbClr val="DADCE0"/>
            </a:solidFill>
            <a:prstDash val="solid"/>
          </a:ln>
        </p:spPr>
      </p:sp>
      <p:sp>
        <p:nvSpPr>
          <p:cNvPr id="8" name="Text 6"/>
          <p:cNvSpPr/>
          <p:nvPr/>
        </p:nvSpPr>
        <p:spPr>
          <a:xfrm>
            <a:off x="1463040" y="1901952"/>
            <a:ext cx="10085832" cy="2333549"/>
          </a:xfrm>
          <a:prstGeom prst="rect">
            <a:avLst/>
          </a:prstGeom>
          <a:noFill/>
          <a:ln/>
        </p:spPr>
        <p:txBody>
          <a:bodyPr wrap="square" lIns="0" tIns="0" rIns="0" bIns="0" rtlCol="0" anchor="t"/>
          <a:lstStyle/>
          <a:p>
            <a:pPr indent="0" marL="0">
              <a:buNone/>
            </a:pPr>
            <a:r>
              <a:rPr lang="en-US" sz="1200" dirty="0">
                <a:solidFill>
                  <a:srgbClr val="202124"/>
                </a:solidFill>
                <a:latin typeface="Courier New" pitchFamily="34" charset="0"/>
                <a:ea typeface="Courier New" pitchFamily="34" charset="-122"/>
                <a:cs typeface="Courier New" pitchFamily="34" charset="-120"/>
              </a:rPr>
              <a:t>count    8512.0</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mean       35.2</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std        11.3</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min       -42.6</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25%        29.7</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50%        34.5</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75%        41.0</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max       442.7</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Name: mwh, dtype: float64</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Horas con demanda negativa 5</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Horas sobre 1 veces el promedio 4000</a:t>
            </a:r>
            <a:endParaRPr lang="en-US" sz="1200" dirty="0"/>
          </a:p>
        </p:txBody>
      </p:sp>
      <p:sp>
        <p:nvSpPr>
          <p:cNvPr id="9" name="Text 7"/>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0" name="Shape 8"/>
          <p:cNvSpPr/>
          <p:nvPr/>
        </p:nvSpPr>
        <p:spPr>
          <a:xfrm>
            <a:off x="548640" y="6062472"/>
            <a:ext cx="1143000" cy="512064"/>
          </a:xfrm>
          <a:prstGeom prst="roundRect">
            <a:avLst>
              <a:gd name="adj" fmla="val 12500"/>
            </a:avLst>
          </a:prstGeom>
          <a:solidFill>
            <a:srgbClr val="FEF3D6"/>
          </a:solidFill>
          <a:ln w="25400">
            <a:solidFill>
              <a:srgbClr val="F9AB00"/>
            </a:solidFill>
            <a:prstDash val="solid"/>
          </a:ln>
        </p:spPr>
      </p:sp>
      <p:sp>
        <p:nvSpPr>
          <p:cNvPr id="11" name="Text 9"/>
          <p:cNvSpPr/>
          <p:nvPr/>
        </p:nvSpPr>
        <p:spPr>
          <a:xfrm>
            <a:off x="640080"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veces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1</a:t>
            </a:r>
            <a:endParaRPr lang="en-US" sz="1200" dirty="0"/>
          </a:p>
        </p:txBody>
      </p:sp>
      <p:sp>
        <p:nvSpPr>
          <p:cNvPr id="12" name="Shape 10"/>
          <p:cNvSpPr/>
          <p:nvPr/>
        </p:nvSpPr>
        <p:spPr>
          <a:xfrm>
            <a:off x="1828800" y="6062472"/>
            <a:ext cx="1620317" cy="512064"/>
          </a:xfrm>
          <a:prstGeom prst="roundRect">
            <a:avLst>
              <a:gd name="adj" fmla="val 12500"/>
            </a:avLst>
          </a:prstGeom>
          <a:solidFill>
            <a:srgbClr val="FEF3D6"/>
          </a:solidFill>
          <a:ln w="25400">
            <a:solidFill>
              <a:srgbClr val="F9AB00"/>
            </a:solidFill>
            <a:prstDash val="solid"/>
          </a:ln>
        </p:spPr>
      </p:sp>
      <p:sp>
        <p:nvSpPr>
          <p:cNvPr id="13" name="Text 11"/>
          <p:cNvSpPr/>
          <p:nvPr/>
        </p:nvSpPr>
        <p:spPr>
          <a:xfrm>
            <a:off x="1920240" y="6071616"/>
            <a:ext cx="148315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picos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4000 × 4</a:t>
            </a:r>
            <a:endParaRPr lang="en-US" sz="1200" dirty="0"/>
          </a:p>
        </p:txBody>
      </p:sp>
      <p:sp>
        <p:nvSpPr>
          <p:cNvPr id="14" name="Shape 12"/>
          <p:cNvSpPr/>
          <p:nvPr/>
        </p:nvSpPr>
        <p:spPr>
          <a:xfrm>
            <a:off x="3586277" y="6062472"/>
            <a:ext cx="1714500" cy="512064"/>
          </a:xfrm>
          <a:prstGeom prst="roundRect">
            <a:avLst>
              <a:gd name="adj" fmla="val 12500"/>
            </a:avLst>
          </a:prstGeom>
          <a:solidFill>
            <a:srgbClr val="E8F0FE"/>
          </a:solidFill>
          <a:ln w="28575">
            <a:solidFill>
              <a:srgbClr val="1A73E8"/>
            </a:solidFill>
            <a:prstDash val="solid"/>
          </a:ln>
        </p:spPr>
      </p:sp>
      <p:sp>
        <p:nvSpPr>
          <p:cNvPr id="15" name="Text 13"/>
          <p:cNvSpPr/>
          <p:nvPr/>
        </p:nvSpPr>
        <p:spPr>
          <a:xfrm>
            <a:off x="3677717"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sin_repetidas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61488 × 4</a:t>
            </a:r>
            <a:endParaRPr lang="en-US" sz="1200" dirty="0"/>
          </a:p>
        </p:txBody>
      </p:sp>
      <p:sp>
        <p:nvSpPr>
          <p:cNvPr id="16" name="Shape 14"/>
          <p:cNvSpPr/>
          <p:nvPr/>
        </p:nvSpPr>
        <p:spPr>
          <a:xfrm>
            <a:off x="5437937" y="6062472"/>
            <a:ext cx="1149401" cy="512064"/>
          </a:xfrm>
          <a:prstGeom prst="roundRect">
            <a:avLst>
              <a:gd name="adj" fmla="val 12500"/>
            </a:avLst>
          </a:prstGeom>
          <a:solidFill>
            <a:srgbClr val="E8F0FE"/>
          </a:solidFill>
          <a:ln w="28575">
            <a:solidFill>
              <a:srgbClr val="1A73E8"/>
            </a:solidFill>
            <a:prstDash val="solid"/>
          </a:ln>
        </p:spPr>
      </p:sp>
      <p:sp>
        <p:nvSpPr>
          <p:cNvPr id="17" name="Text 15"/>
          <p:cNvSpPr/>
          <p:nvPr/>
        </p:nvSpPr>
        <p:spPr>
          <a:xfrm>
            <a:off x="5529377" y="6071616"/>
            <a:ext cx="1012241"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region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"Atacama"</a:t>
            </a:r>
            <a:endParaRPr lang="en-US" sz="1200" dirty="0"/>
          </a:p>
        </p:txBody>
      </p:sp>
      <p:sp>
        <p:nvSpPr>
          <p:cNvPr id="18" name="Shape 16"/>
          <p:cNvSpPr/>
          <p:nvPr/>
        </p:nvSpPr>
        <p:spPr>
          <a:xfrm>
            <a:off x="6724498" y="6062472"/>
            <a:ext cx="1620317" cy="512064"/>
          </a:xfrm>
          <a:prstGeom prst="roundRect">
            <a:avLst>
              <a:gd name="adj" fmla="val 12500"/>
            </a:avLst>
          </a:prstGeom>
          <a:solidFill>
            <a:srgbClr val="E8F0FE"/>
          </a:solidFill>
          <a:ln w="28575">
            <a:solidFill>
              <a:srgbClr val="1A73E8"/>
            </a:solidFill>
            <a:prstDash val="solid"/>
          </a:ln>
        </p:spPr>
      </p:sp>
      <p:sp>
        <p:nvSpPr>
          <p:cNvPr id="19" name="Text 17"/>
          <p:cNvSpPr/>
          <p:nvPr/>
        </p:nvSpPr>
        <p:spPr>
          <a:xfrm>
            <a:off x="6815938" y="6071616"/>
            <a:ext cx="148315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8784 × 4</a:t>
            </a:r>
            <a:endParaRPr lang="en-US" sz="1200" dirty="0"/>
          </a:p>
        </p:txBody>
      </p:sp>
      <p:sp>
        <p:nvSpPr>
          <p:cNvPr id="20" name="Shape 18"/>
          <p:cNvSpPr/>
          <p:nvPr/>
        </p:nvSpPr>
        <p:spPr>
          <a:xfrm>
            <a:off x="8481974" y="6062472"/>
            <a:ext cx="1143000" cy="512064"/>
          </a:xfrm>
          <a:prstGeom prst="roundRect">
            <a:avLst>
              <a:gd name="adj" fmla="val 12500"/>
            </a:avLst>
          </a:prstGeom>
          <a:solidFill>
            <a:srgbClr val="E8F0FE"/>
          </a:solidFill>
          <a:ln w="28575">
            <a:solidFill>
              <a:srgbClr val="1A73E8"/>
            </a:solidFill>
            <a:prstDash val="solid"/>
          </a:ln>
        </p:spPr>
      </p:sp>
      <p:sp>
        <p:nvSpPr>
          <p:cNvPr id="21" name="Text 19"/>
          <p:cNvSpPr/>
          <p:nvPr/>
        </p:nvSpPr>
        <p:spPr>
          <a:xfrm>
            <a:off x="8573414"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promedio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35.22…</a:t>
            </a:r>
            <a:endParaRPr lang="en-US" sz="1200" dirty="0"/>
          </a:p>
        </p:txBody>
      </p:sp>
      <p:sp>
        <p:nvSpPr>
          <p:cNvPr id="22" name="Text 20"/>
          <p:cNvSpPr/>
          <p:nvPr/>
        </p:nvSpPr>
        <p:spPr>
          <a:xfrm>
            <a:off x="9762134" y="6062472"/>
            <a:ext cx="1005840" cy="512064"/>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y 8 más</a:t>
            </a:r>
            <a:endParaRPr lang="en-US" sz="1200" dirty="0"/>
          </a:p>
        </p:txBody>
      </p:sp>
      <p:sp>
        <p:nvSpPr>
          <p:cNvPr id="23" name="Text 21"/>
          <p:cNvSpPr/>
          <p:nvPr/>
        </p:nvSpPr>
        <p:spPr>
          <a:xfrm>
            <a:off x="548640" y="6592824"/>
            <a:ext cx="11091672" cy="219456"/>
          </a:xfrm>
          <a:prstGeom prst="rect">
            <a:avLst/>
          </a:prstGeom>
          <a:noFill/>
          <a:ln/>
        </p:spPr>
        <p:txBody>
          <a:bodyPr wrap="square" lIns="0" tIns="0" rIns="0" bIns="0" rtlCol="0" anchor="ctr"/>
          <a:lstStyle/>
          <a:p>
            <a:pPr indent="0" marL="0">
              <a:buNone/>
            </a:pPr>
            <a:r>
              <a:rPr lang="en-US" sz="1300" dirty="0">
                <a:solidFill>
                  <a:srgbClr val="0B3D62"/>
                </a:solidFill>
                <a:latin typeface="Calibri" pitchFamily="34" charset="0"/>
                <a:ea typeface="Calibri" pitchFamily="34" charset="-122"/>
                <a:cs typeface="Calibri" pitchFamily="34" charset="-120"/>
              </a:rPr>
              <a:t>Con 1 vez el promedio se marcan 4.000 horas, casi la mitad del año.</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6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decide qué valor es imposible</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Se mueve el deslizador a 10 y se vuelve a correr la celda.</a:t>
            </a:r>
            <a:endParaRPr lang="en-US" sz="1400" dirty="0"/>
          </a:p>
        </p:txBody>
      </p:sp>
      <p:sp>
        <p:nvSpPr>
          <p:cNvPr id="6" name="Shape 4"/>
          <p:cNvSpPr/>
          <p:nvPr/>
        </p:nvSpPr>
        <p:spPr>
          <a:xfrm>
            <a:off x="548640" y="1481328"/>
            <a:ext cx="11091672" cy="2131124"/>
          </a:xfrm>
          <a:prstGeom prst="roundRect">
            <a:avLst>
              <a:gd name="adj" fmla="val 2574"/>
            </a:avLst>
          </a:prstGeom>
          <a:solidFill>
            <a:srgbClr val="F8F9FA"/>
          </a:solidFill>
          <a:ln w="25400">
            <a:solidFill>
              <a:srgbClr val="F9AB00"/>
            </a:solidFill>
            <a:prstDash val="solid"/>
          </a:ln>
        </p:spPr>
      </p:sp>
      <p:sp>
        <p:nvSpPr>
          <p:cNvPr id="7"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8"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9" name="Text 7"/>
          <p:cNvSpPr/>
          <p:nvPr/>
        </p:nvSpPr>
        <p:spPr>
          <a:xfrm>
            <a:off x="1325880" y="1600200"/>
            <a:ext cx="7360920" cy="1939100"/>
          </a:xfrm>
          <a:prstGeom prst="rect">
            <a:avLst/>
          </a:prstGeom>
          <a:noFill/>
          <a:ln/>
        </p:spPr>
        <p:txBody>
          <a:bodyPr wrap="square" lIns="0" tIns="0" rIns="0" bIns="0" rtlCol="0" anchor="t"/>
          <a:lstStyle/>
          <a:p>
            <a:pPr indent="0" marL="0">
              <a:buNone/>
            </a:pPr>
            <a:r>
              <a:rPr lang="en-US" sz="1300" dirty="0">
                <a:solidFill>
                  <a:srgbClr val="202124"/>
                </a:solidFill>
                <a:latin typeface="Courier New" pitchFamily="34" charset="0"/>
                <a:ea typeface="Courier New" pitchFamily="34" charset="-122"/>
                <a:cs typeface="Courier New" pitchFamily="34" charset="-120"/>
              </a:rPr>
              <a:t>region = </a:t>
            </a:r>
            <a:pPr indent="0" marL="0">
              <a:buNone/>
            </a:pPr>
            <a:r>
              <a:rPr lang="en-US" sz="1300" dirty="0">
                <a:solidFill>
                  <a:srgbClr val="A31515"/>
                </a:solidFill>
                <a:latin typeface="Courier New" pitchFamily="34" charset="0"/>
                <a:ea typeface="Courier New" pitchFamily="34" charset="-122"/>
                <a:cs typeface="Courier New" pitchFamily="34" charset="-120"/>
              </a:rPr>
              <a:t>"Atacama"</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80868B"/>
                </a:solidFill>
                <a:latin typeface="Courier New" pitchFamily="34" charset="0"/>
                <a:ea typeface="Courier New" pitchFamily="34" charset="-122"/>
                <a:cs typeface="Courier New" pitchFamily="34" charset="-120"/>
              </a:rPr>
              <a:t>#@param ["Antofagasta", "Atacama", "Coquimbo", "Valpar…</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veces = 10 </a:t>
            </a:r>
            <a:pPr indent="0" marL="0">
              <a:buNone/>
            </a:pPr>
            <a:r>
              <a:rPr lang="en-US" sz="1300" dirty="0">
                <a:solidFill>
                  <a:srgbClr val="80868B"/>
                </a:solidFill>
                <a:latin typeface="Courier New" pitchFamily="34" charset="0"/>
                <a:ea typeface="Courier New" pitchFamily="34" charset="-122"/>
                <a:cs typeface="Courier New" pitchFamily="34" charset="-120"/>
              </a:rPr>
              <a:t>#@param {type:"slider", min:1, max:10, step:1}</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una = sin_repetidas[sin_repetidas[</a:t>
            </a:r>
            <a:pPr indent="0" marL="0">
              <a:buNone/>
            </a:pPr>
            <a:r>
              <a:rPr lang="en-US" sz="1300" dirty="0">
                <a:solidFill>
                  <a:srgbClr val="A31515"/>
                </a:solidFill>
                <a:latin typeface="Courier New" pitchFamily="34" charset="0"/>
                <a:ea typeface="Courier New" pitchFamily="34" charset="-122"/>
                <a:cs typeface="Courier New" pitchFamily="34" charset="-120"/>
              </a:rPr>
              <a:t>"region"</a:t>
            </a:r>
            <a:pPr indent="0" marL="0">
              <a:buNone/>
            </a:pPr>
            <a:r>
              <a:rPr lang="en-US" sz="1300" dirty="0">
                <a:solidFill>
                  <a:srgbClr val="202124"/>
                </a:solidFill>
                <a:latin typeface="Courier New" pitchFamily="34" charset="0"/>
                <a:ea typeface="Courier New" pitchFamily="34" charset="-122"/>
                <a:cs typeface="Courier New" pitchFamily="34" charset="-120"/>
              </a:rPr>
              <a:t>] == region]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print(una[</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].describe().round(1))</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promedio = una[</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].mean()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negativas = una[una[</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 &lt; 0]</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picos = una[una[</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 &gt; veces * promedio]</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"Horas con demanda negativa"</a:t>
            </a:r>
            <a:pPr indent="0" marL="0">
              <a:buNone/>
            </a:pPr>
            <a:r>
              <a:rPr lang="en-US" sz="1300" dirty="0">
                <a:solidFill>
                  <a:srgbClr val="202124"/>
                </a:solidFill>
                <a:latin typeface="Courier New" pitchFamily="34" charset="0"/>
                <a:ea typeface="Courier New" pitchFamily="34" charset="-122"/>
                <a:cs typeface="Courier New" pitchFamily="34" charset="-120"/>
              </a:rPr>
              <a:t>, len(negativas))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print(f</a:t>
            </a:r>
            <a:pPr indent="0" marL="0">
              <a:buNone/>
            </a:pPr>
            <a:r>
              <a:rPr lang="en-US" sz="1300" dirty="0">
                <a:solidFill>
                  <a:srgbClr val="A31515"/>
                </a:solidFill>
                <a:latin typeface="Courier New" pitchFamily="34" charset="0"/>
                <a:ea typeface="Courier New" pitchFamily="34" charset="-122"/>
                <a:cs typeface="Courier New" pitchFamily="34" charset="-120"/>
              </a:rPr>
              <a:t>"Horas sobre {veces} veces el promedio"</a:t>
            </a:r>
            <a:pPr indent="0" marL="0">
              <a:buNone/>
            </a:pPr>
            <a:r>
              <a:rPr lang="en-US" sz="1300" dirty="0">
                <a:solidFill>
                  <a:srgbClr val="202124"/>
                </a:solidFill>
                <a:latin typeface="Courier New" pitchFamily="34" charset="0"/>
                <a:ea typeface="Courier New" pitchFamily="34" charset="-122"/>
                <a:cs typeface="Courier New" pitchFamily="34" charset="-120"/>
              </a:rPr>
              <a:t>, len(picos))</a:t>
            </a:r>
            <a:endParaRPr lang="en-US" sz="1300" dirty="0"/>
          </a:p>
        </p:txBody>
      </p:sp>
      <p:sp>
        <p:nvSpPr>
          <p:cNvPr id="10" name="Text 8"/>
          <p:cNvSpPr/>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region</a:t>
            </a:r>
            <a:endParaRPr lang="en-US" sz="1100" dirty="0"/>
          </a:p>
        </p:txBody>
      </p:sp>
      <p:sp>
        <p:nvSpPr>
          <p:cNvPr id="11" name="Shape 9"/>
          <p:cNvSpPr/>
          <p:nvPr/>
        </p:nvSpPr>
        <p:spPr>
          <a:xfrm>
            <a:off x="8823960" y="1874520"/>
            <a:ext cx="2651760" cy="347472"/>
          </a:xfrm>
          <a:prstGeom prst="rect">
            <a:avLst/>
          </a:prstGeom>
          <a:solidFill>
            <a:srgbClr val="FFFFFF"/>
          </a:solidFill>
          <a:ln w="12700">
            <a:solidFill>
              <a:srgbClr val="9AA0A6"/>
            </a:solidFill>
            <a:prstDash val="solid"/>
          </a:ln>
        </p:spPr>
      </p:sp>
      <p:sp>
        <p:nvSpPr>
          <p:cNvPr id="12" name="Text 10"/>
          <p:cNvSpPr/>
          <p:nvPr/>
        </p:nvSpPr>
        <p:spPr>
          <a:xfrm>
            <a:off x="8915400" y="187452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Atacama</a:t>
            </a:r>
            <a:endParaRPr lang="en-US" sz="1200" dirty="0"/>
          </a:p>
        </p:txBody>
      </p:sp>
      <p:sp>
        <p:nvSpPr>
          <p:cNvPr id="13" name="Shape 11"/>
          <p:cNvSpPr/>
          <p:nvPr/>
        </p:nvSpPr>
        <p:spPr>
          <a:xfrm rot="10800000">
            <a:off x="11201400" y="2011680"/>
            <a:ext cx="128016" cy="82296"/>
          </a:xfrm>
          <a:prstGeom prst="triangle">
            <a:avLst/>
          </a:prstGeom>
          <a:solidFill>
            <a:srgbClr val="5F6368"/>
          </a:solidFill>
          <a:ln w="12700">
            <a:solidFill>
              <a:srgbClr val="5F6368"/>
            </a:solidFill>
            <a:prstDash val="solid"/>
          </a:ln>
        </p:spPr>
      </p:sp>
      <p:sp>
        <p:nvSpPr>
          <p:cNvPr id="14" name="Text 12"/>
          <p:cNvSpPr/>
          <p:nvPr/>
        </p:nvSpPr>
        <p:spPr>
          <a:xfrm>
            <a:off x="8823960" y="235000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veces</a:t>
            </a:r>
            <a:endParaRPr lang="en-US" sz="1100" dirty="0"/>
          </a:p>
        </p:txBody>
      </p:sp>
      <p:sp>
        <p:nvSpPr>
          <p:cNvPr id="15" name="Shape 13"/>
          <p:cNvSpPr/>
          <p:nvPr/>
        </p:nvSpPr>
        <p:spPr>
          <a:xfrm>
            <a:off x="8823960" y="2734056"/>
            <a:ext cx="1965960" cy="45720"/>
          </a:xfrm>
          <a:prstGeom prst="rect">
            <a:avLst/>
          </a:prstGeom>
          <a:solidFill>
            <a:srgbClr val="C4C7C5"/>
          </a:solidFill>
          <a:ln w="12700">
            <a:solidFill>
              <a:srgbClr val="C4C7C5"/>
            </a:solidFill>
            <a:prstDash val="solid"/>
          </a:ln>
        </p:spPr>
      </p:sp>
      <p:sp>
        <p:nvSpPr>
          <p:cNvPr id="16" name="Shape 14"/>
          <p:cNvSpPr/>
          <p:nvPr/>
        </p:nvSpPr>
        <p:spPr>
          <a:xfrm>
            <a:off x="8823960" y="2734056"/>
            <a:ext cx="1965960" cy="45720"/>
          </a:xfrm>
          <a:prstGeom prst="rect">
            <a:avLst/>
          </a:prstGeom>
          <a:solidFill>
            <a:srgbClr val="1A73E8"/>
          </a:solidFill>
          <a:ln w="12700">
            <a:solidFill>
              <a:srgbClr val="1A73E8"/>
            </a:solidFill>
            <a:prstDash val="solid"/>
          </a:ln>
        </p:spPr>
      </p:sp>
      <p:sp>
        <p:nvSpPr>
          <p:cNvPr id="17" name="Shape 15"/>
          <p:cNvSpPr/>
          <p:nvPr/>
        </p:nvSpPr>
        <p:spPr>
          <a:xfrm>
            <a:off x="10703052" y="2670048"/>
            <a:ext cx="173736" cy="173736"/>
          </a:xfrm>
          <a:prstGeom prst="ellipse">
            <a:avLst/>
          </a:prstGeom>
          <a:solidFill>
            <a:srgbClr val="1A73E8"/>
          </a:solidFill>
          <a:ln w="25400">
            <a:solidFill>
              <a:srgbClr val="0B3D62"/>
            </a:solidFill>
            <a:prstDash val="solid"/>
          </a:ln>
        </p:spPr>
      </p:sp>
      <p:sp>
        <p:nvSpPr>
          <p:cNvPr id="18" name="Text 16"/>
          <p:cNvSpPr/>
          <p:nvPr/>
        </p:nvSpPr>
        <p:spPr>
          <a:xfrm>
            <a:off x="10972800" y="2624328"/>
            <a:ext cx="502920" cy="274320"/>
          </a:xfrm>
          <a:prstGeom prst="rect">
            <a:avLst/>
          </a:prstGeom>
          <a:noFill/>
          <a:ln/>
        </p:spPr>
        <p:txBody>
          <a:bodyPr wrap="square" lIns="0" tIns="0" rIns="0" bIns="0" rtlCol="0" anchor="ctr"/>
          <a:lstStyle/>
          <a:p>
            <a:pPr indent="0" marL="0">
              <a:buNone/>
            </a:pPr>
            <a:r>
              <a:rPr lang="en-US" sz="1200" b="1" dirty="0">
                <a:solidFill>
                  <a:srgbClr val="202124"/>
                </a:solidFill>
                <a:latin typeface="Calibri" pitchFamily="34" charset="0"/>
                <a:ea typeface="Calibri" pitchFamily="34" charset="-122"/>
                <a:cs typeface="Calibri" pitchFamily="34" charset="-120"/>
              </a:rPr>
              <a:t>10</a:t>
            </a:r>
            <a:endParaRPr lang="en-US" sz="1200" dirty="0"/>
          </a:p>
        </p:txBody>
      </p:sp>
      <p:sp>
        <p:nvSpPr>
          <p:cNvPr id="19" name="Text 17"/>
          <p:cNvSpPr/>
          <p:nvPr/>
        </p:nvSpPr>
        <p:spPr>
          <a:xfrm>
            <a:off x="1325880" y="3639884"/>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20" name="Text 18"/>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21" name="Shape 19"/>
          <p:cNvSpPr/>
          <p:nvPr/>
        </p:nvSpPr>
        <p:spPr>
          <a:xfrm>
            <a:off x="548640" y="6062472"/>
            <a:ext cx="1620317" cy="512064"/>
          </a:xfrm>
          <a:prstGeom prst="roundRect">
            <a:avLst>
              <a:gd name="adj" fmla="val 12500"/>
            </a:avLst>
          </a:prstGeom>
          <a:solidFill>
            <a:srgbClr val="F1F3F4"/>
          </a:solidFill>
          <a:ln w="12700">
            <a:solidFill>
              <a:srgbClr val="DADCE0"/>
            </a:solidFill>
            <a:prstDash val="solid"/>
          </a:ln>
        </p:spPr>
      </p:sp>
      <p:sp>
        <p:nvSpPr>
          <p:cNvPr id="22" name="Text 20"/>
          <p:cNvSpPr/>
          <p:nvPr/>
        </p:nvSpPr>
        <p:spPr>
          <a:xfrm>
            <a:off x="640080" y="6071616"/>
            <a:ext cx="148315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picos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4000 × 4</a:t>
            </a:r>
            <a:endParaRPr lang="en-US" sz="1200" dirty="0"/>
          </a:p>
        </p:txBody>
      </p:sp>
      <p:sp>
        <p:nvSpPr>
          <p:cNvPr id="23" name="Shape 21"/>
          <p:cNvSpPr/>
          <p:nvPr/>
        </p:nvSpPr>
        <p:spPr>
          <a:xfrm>
            <a:off x="2306117" y="6062472"/>
            <a:ext cx="1337767" cy="512064"/>
          </a:xfrm>
          <a:prstGeom prst="roundRect">
            <a:avLst>
              <a:gd name="adj" fmla="val 12500"/>
            </a:avLst>
          </a:prstGeom>
          <a:solidFill>
            <a:srgbClr val="F1F3F4"/>
          </a:solidFill>
          <a:ln w="12700">
            <a:solidFill>
              <a:srgbClr val="DADCE0"/>
            </a:solidFill>
            <a:prstDash val="solid"/>
          </a:ln>
        </p:spPr>
      </p:sp>
      <p:sp>
        <p:nvSpPr>
          <p:cNvPr id="24" name="Text 22"/>
          <p:cNvSpPr/>
          <p:nvPr/>
        </p:nvSpPr>
        <p:spPr>
          <a:xfrm>
            <a:off x="2397557" y="6071616"/>
            <a:ext cx="120060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negativas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 × 4</a:t>
            </a:r>
            <a:endParaRPr lang="en-US" sz="1200" dirty="0"/>
          </a:p>
        </p:txBody>
      </p:sp>
      <p:sp>
        <p:nvSpPr>
          <p:cNvPr id="25" name="Shape 23"/>
          <p:cNvSpPr/>
          <p:nvPr/>
        </p:nvSpPr>
        <p:spPr>
          <a:xfrm>
            <a:off x="3781044" y="6062472"/>
            <a:ext cx="1143000" cy="512064"/>
          </a:xfrm>
          <a:prstGeom prst="roundRect">
            <a:avLst>
              <a:gd name="adj" fmla="val 12500"/>
            </a:avLst>
          </a:prstGeom>
          <a:solidFill>
            <a:srgbClr val="F1F3F4"/>
          </a:solidFill>
          <a:ln w="12700">
            <a:solidFill>
              <a:srgbClr val="DADCE0"/>
            </a:solidFill>
            <a:prstDash val="solid"/>
          </a:ln>
        </p:spPr>
      </p:sp>
      <p:sp>
        <p:nvSpPr>
          <p:cNvPr id="26" name="Text 24"/>
          <p:cNvSpPr/>
          <p:nvPr/>
        </p:nvSpPr>
        <p:spPr>
          <a:xfrm>
            <a:off x="3872484"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promedio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35.22…</a:t>
            </a:r>
            <a:endParaRPr lang="en-US" sz="1200" dirty="0"/>
          </a:p>
        </p:txBody>
      </p:sp>
      <p:sp>
        <p:nvSpPr>
          <p:cNvPr id="27" name="Shape 25"/>
          <p:cNvSpPr/>
          <p:nvPr/>
        </p:nvSpPr>
        <p:spPr>
          <a:xfrm>
            <a:off x="5061204" y="6062472"/>
            <a:ext cx="1620317" cy="512064"/>
          </a:xfrm>
          <a:prstGeom prst="roundRect">
            <a:avLst>
              <a:gd name="adj" fmla="val 12500"/>
            </a:avLst>
          </a:prstGeom>
          <a:solidFill>
            <a:srgbClr val="F1F3F4"/>
          </a:solidFill>
          <a:ln w="12700">
            <a:solidFill>
              <a:srgbClr val="DADCE0"/>
            </a:solidFill>
            <a:prstDash val="solid"/>
          </a:ln>
        </p:spPr>
      </p:sp>
      <p:sp>
        <p:nvSpPr>
          <p:cNvPr id="28" name="Text 26"/>
          <p:cNvSpPr/>
          <p:nvPr/>
        </p:nvSpPr>
        <p:spPr>
          <a:xfrm>
            <a:off x="5152644" y="6071616"/>
            <a:ext cx="148315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8784 × 4</a:t>
            </a:r>
            <a:endParaRPr lang="en-US" sz="1200" dirty="0"/>
          </a:p>
        </p:txBody>
      </p:sp>
      <p:sp>
        <p:nvSpPr>
          <p:cNvPr id="29" name="Shape 27"/>
          <p:cNvSpPr/>
          <p:nvPr/>
        </p:nvSpPr>
        <p:spPr>
          <a:xfrm>
            <a:off x="6818681" y="6062472"/>
            <a:ext cx="1143000" cy="512064"/>
          </a:xfrm>
          <a:prstGeom prst="roundRect">
            <a:avLst>
              <a:gd name="adj" fmla="val 12500"/>
            </a:avLst>
          </a:prstGeom>
          <a:solidFill>
            <a:srgbClr val="F1F3F4"/>
          </a:solidFill>
          <a:ln w="12700">
            <a:solidFill>
              <a:srgbClr val="DADCE0"/>
            </a:solidFill>
            <a:prstDash val="solid"/>
          </a:ln>
        </p:spPr>
      </p:sp>
      <p:sp>
        <p:nvSpPr>
          <p:cNvPr id="30" name="Text 28"/>
          <p:cNvSpPr/>
          <p:nvPr/>
        </p:nvSpPr>
        <p:spPr>
          <a:xfrm>
            <a:off x="6910121"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veces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1</a:t>
            </a:r>
            <a:endParaRPr lang="en-US" sz="1200" dirty="0"/>
          </a:p>
        </p:txBody>
      </p:sp>
      <p:sp>
        <p:nvSpPr>
          <p:cNvPr id="31" name="Shape 29"/>
          <p:cNvSpPr/>
          <p:nvPr/>
        </p:nvSpPr>
        <p:spPr>
          <a:xfrm>
            <a:off x="8098841" y="6062472"/>
            <a:ext cx="1149401" cy="512064"/>
          </a:xfrm>
          <a:prstGeom prst="roundRect">
            <a:avLst>
              <a:gd name="adj" fmla="val 12500"/>
            </a:avLst>
          </a:prstGeom>
          <a:solidFill>
            <a:srgbClr val="F1F3F4"/>
          </a:solidFill>
          <a:ln w="12700">
            <a:solidFill>
              <a:srgbClr val="DADCE0"/>
            </a:solidFill>
            <a:prstDash val="solid"/>
          </a:ln>
        </p:spPr>
      </p:sp>
      <p:sp>
        <p:nvSpPr>
          <p:cNvPr id="32" name="Text 30"/>
          <p:cNvSpPr/>
          <p:nvPr/>
        </p:nvSpPr>
        <p:spPr>
          <a:xfrm>
            <a:off x="8190281" y="6071616"/>
            <a:ext cx="1012241"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region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"Atacama"</a:t>
            </a:r>
            <a:endParaRPr lang="en-US" sz="1200" dirty="0"/>
          </a:p>
        </p:txBody>
      </p:sp>
      <p:sp>
        <p:nvSpPr>
          <p:cNvPr id="33" name="Text 31"/>
          <p:cNvSpPr/>
          <p:nvPr/>
        </p:nvSpPr>
        <p:spPr>
          <a:xfrm>
            <a:off x="9385402" y="6062472"/>
            <a:ext cx="1005840" cy="512064"/>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y 8 más</a:t>
            </a:r>
            <a:endParaRPr lang="en-US" sz="1200" dirty="0"/>
          </a:p>
        </p:txBody>
      </p:sp>
      <p:sp>
        <p:nvSpPr>
          <p:cNvPr id="34" name="Text 32"/>
          <p:cNvSpPr/>
          <p:nvPr/>
        </p:nvSpPr>
        <p:spPr>
          <a:xfrm>
            <a:off x="548640" y="6592824"/>
            <a:ext cx="11091672" cy="219456"/>
          </a:xfrm>
          <a:prstGeom prst="rect">
            <a:avLst/>
          </a:prstGeom>
          <a:noFill/>
          <a:ln/>
        </p:spPr>
        <p:txBody>
          <a:bodyPr wrap="square" lIns="0" tIns="0" rIns="0" bIns="0" rtlCol="0" anchor="ctr"/>
          <a:lstStyle/>
          <a:p>
            <a:pPr indent="0" marL="0">
              <a:buNone/>
            </a:pPr>
            <a:r>
              <a:rPr lang="en-US" sz="1300" dirty="0">
                <a:solidFill>
                  <a:srgbClr val="0B3D62"/>
                </a:solidFill>
                <a:latin typeface="Calibri" pitchFamily="34" charset="0"/>
                <a:ea typeface="Calibri" pitchFamily="34" charset="-122"/>
                <a:cs typeface="Calibri" pitchFamily="34" charset="-120"/>
              </a:rPr>
              <a:t>Mientras no se corra la celda, Python sigue recordando los valores anteriores.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6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decide qué valor es imposible</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Se mueve el deslizador a 10 y se vuelve a correr la celda.</a:t>
            </a:r>
            <a:endParaRPr lang="en-US" sz="1400" dirty="0"/>
          </a:p>
        </p:txBody>
      </p:sp>
      <p:sp>
        <p:nvSpPr>
          <p:cNvPr id="6" name="Text 4"/>
          <p:cNvSpPr/>
          <p:nvPr/>
        </p:nvSpPr>
        <p:spPr>
          <a:xfrm>
            <a:off x="548640" y="1481328"/>
            <a:ext cx="5486400" cy="274320"/>
          </a:xfrm>
          <a:prstGeom prst="rect">
            <a:avLst/>
          </a:prstGeom>
          <a:noFill/>
          <a:ln/>
        </p:spPr>
        <p:txBody>
          <a:bodyPr wrap="square" lIns="0" tIns="0" rIns="0" bIns="0" rtlCol="0" anchor="ctr"/>
          <a:lstStyle/>
          <a:p>
            <a:pPr indent="0" marL="0">
              <a:buNone/>
            </a:pPr>
            <a:r>
              <a:rPr lang="en-US" sz="1300" b="1" dirty="0">
                <a:solidFill>
                  <a:srgbClr val="5F6368"/>
                </a:solidFill>
                <a:latin typeface="Calibri" pitchFamily="34" charset="0"/>
                <a:ea typeface="Calibri" pitchFamily="34" charset="-122"/>
                <a:cs typeface="Calibri" pitchFamily="34" charset="-120"/>
              </a:rPr>
              <a:t>Respuesta de la celda</a:t>
            </a:r>
            <a:endParaRPr lang="en-US" sz="1300" dirty="0"/>
          </a:p>
        </p:txBody>
      </p:sp>
      <p:sp>
        <p:nvSpPr>
          <p:cNvPr id="7" name="Shape 5"/>
          <p:cNvSpPr/>
          <p:nvPr/>
        </p:nvSpPr>
        <p:spPr>
          <a:xfrm>
            <a:off x="1325880" y="1828800"/>
            <a:ext cx="10314432" cy="2461565"/>
          </a:xfrm>
          <a:prstGeom prst="rect">
            <a:avLst/>
          </a:prstGeom>
          <a:solidFill>
            <a:srgbClr val="FFFFFF"/>
          </a:solidFill>
          <a:ln w="12700">
            <a:solidFill>
              <a:srgbClr val="DADCE0"/>
            </a:solidFill>
            <a:prstDash val="solid"/>
          </a:ln>
        </p:spPr>
      </p:sp>
      <p:sp>
        <p:nvSpPr>
          <p:cNvPr id="8" name="Text 6"/>
          <p:cNvSpPr/>
          <p:nvPr/>
        </p:nvSpPr>
        <p:spPr>
          <a:xfrm>
            <a:off x="1463040" y="1901952"/>
            <a:ext cx="10085832" cy="2333549"/>
          </a:xfrm>
          <a:prstGeom prst="rect">
            <a:avLst/>
          </a:prstGeom>
          <a:noFill/>
          <a:ln/>
        </p:spPr>
        <p:txBody>
          <a:bodyPr wrap="square" lIns="0" tIns="0" rIns="0" bIns="0" rtlCol="0" anchor="t"/>
          <a:lstStyle/>
          <a:p>
            <a:pPr indent="0" marL="0">
              <a:buNone/>
            </a:pPr>
            <a:r>
              <a:rPr lang="en-US" sz="1200" dirty="0">
                <a:solidFill>
                  <a:srgbClr val="202124"/>
                </a:solidFill>
                <a:latin typeface="Courier New" pitchFamily="34" charset="0"/>
                <a:ea typeface="Courier New" pitchFamily="34" charset="-122"/>
                <a:cs typeface="Courier New" pitchFamily="34" charset="-120"/>
              </a:rPr>
              <a:t>count    8512.0</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mean       35.2</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std        11.3</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min       -42.6</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25%        29.7</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50%        34.5</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75%        41.0</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max       442.7</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Name: mwh, dtype: float64</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Horas con demanda negativa 5</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Horas sobre 10 veces el promedio 2</a:t>
            </a:r>
            <a:endParaRPr lang="en-US" sz="1200" dirty="0"/>
          </a:p>
        </p:txBody>
      </p:sp>
      <p:sp>
        <p:nvSpPr>
          <p:cNvPr id="9" name="Text 7"/>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0" name="Shape 8"/>
          <p:cNvSpPr/>
          <p:nvPr/>
        </p:nvSpPr>
        <p:spPr>
          <a:xfrm>
            <a:off x="548640" y="6062472"/>
            <a:ext cx="1143000" cy="512064"/>
          </a:xfrm>
          <a:prstGeom prst="roundRect">
            <a:avLst>
              <a:gd name="adj" fmla="val 12500"/>
            </a:avLst>
          </a:prstGeom>
          <a:solidFill>
            <a:srgbClr val="FEF3D6"/>
          </a:solidFill>
          <a:ln w="25400">
            <a:solidFill>
              <a:srgbClr val="F9AB00"/>
            </a:solidFill>
            <a:prstDash val="solid"/>
          </a:ln>
        </p:spPr>
      </p:sp>
      <p:sp>
        <p:nvSpPr>
          <p:cNvPr id="11" name="Text 9"/>
          <p:cNvSpPr/>
          <p:nvPr/>
        </p:nvSpPr>
        <p:spPr>
          <a:xfrm>
            <a:off x="640080"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veces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10</a:t>
            </a:r>
            <a:endParaRPr lang="en-US" sz="1200" dirty="0"/>
          </a:p>
        </p:txBody>
      </p:sp>
      <p:sp>
        <p:nvSpPr>
          <p:cNvPr id="12" name="Shape 10"/>
          <p:cNvSpPr/>
          <p:nvPr/>
        </p:nvSpPr>
        <p:spPr>
          <a:xfrm>
            <a:off x="1828800" y="6062472"/>
            <a:ext cx="1337767" cy="512064"/>
          </a:xfrm>
          <a:prstGeom prst="roundRect">
            <a:avLst>
              <a:gd name="adj" fmla="val 12500"/>
            </a:avLst>
          </a:prstGeom>
          <a:solidFill>
            <a:srgbClr val="FEF3D6"/>
          </a:solidFill>
          <a:ln w="25400">
            <a:solidFill>
              <a:srgbClr val="F9AB00"/>
            </a:solidFill>
            <a:prstDash val="solid"/>
          </a:ln>
        </p:spPr>
      </p:sp>
      <p:sp>
        <p:nvSpPr>
          <p:cNvPr id="13" name="Text 11"/>
          <p:cNvSpPr/>
          <p:nvPr/>
        </p:nvSpPr>
        <p:spPr>
          <a:xfrm>
            <a:off x="1920240" y="6071616"/>
            <a:ext cx="120060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picos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 × 4</a:t>
            </a:r>
            <a:endParaRPr lang="en-US" sz="1200" dirty="0"/>
          </a:p>
        </p:txBody>
      </p:sp>
      <p:sp>
        <p:nvSpPr>
          <p:cNvPr id="14" name="Shape 12"/>
          <p:cNvSpPr/>
          <p:nvPr/>
        </p:nvSpPr>
        <p:spPr>
          <a:xfrm>
            <a:off x="3303727" y="6062472"/>
            <a:ext cx="1714500" cy="512064"/>
          </a:xfrm>
          <a:prstGeom prst="roundRect">
            <a:avLst>
              <a:gd name="adj" fmla="val 12500"/>
            </a:avLst>
          </a:prstGeom>
          <a:solidFill>
            <a:srgbClr val="E8F0FE"/>
          </a:solidFill>
          <a:ln w="28575">
            <a:solidFill>
              <a:srgbClr val="1A73E8"/>
            </a:solidFill>
            <a:prstDash val="solid"/>
          </a:ln>
        </p:spPr>
      </p:sp>
      <p:sp>
        <p:nvSpPr>
          <p:cNvPr id="15" name="Text 13"/>
          <p:cNvSpPr/>
          <p:nvPr/>
        </p:nvSpPr>
        <p:spPr>
          <a:xfrm>
            <a:off x="3395167"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sin_repetidas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61488 × 4</a:t>
            </a:r>
            <a:endParaRPr lang="en-US" sz="1200" dirty="0"/>
          </a:p>
        </p:txBody>
      </p:sp>
      <p:sp>
        <p:nvSpPr>
          <p:cNvPr id="16" name="Shape 14"/>
          <p:cNvSpPr/>
          <p:nvPr/>
        </p:nvSpPr>
        <p:spPr>
          <a:xfrm>
            <a:off x="5155387" y="6062472"/>
            <a:ext cx="1149401" cy="512064"/>
          </a:xfrm>
          <a:prstGeom prst="roundRect">
            <a:avLst>
              <a:gd name="adj" fmla="val 12500"/>
            </a:avLst>
          </a:prstGeom>
          <a:solidFill>
            <a:srgbClr val="E8F0FE"/>
          </a:solidFill>
          <a:ln w="28575">
            <a:solidFill>
              <a:srgbClr val="1A73E8"/>
            </a:solidFill>
            <a:prstDash val="solid"/>
          </a:ln>
        </p:spPr>
      </p:sp>
      <p:sp>
        <p:nvSpPr>
          <p:cNvPr id="17" name="Text 15"/>
          <p:cNvSpPr/>
          <p:nvPr/>
        </p:nvSpPr>
        <p:spPr>
          <a:xfrm>
            <a:off x="5246827" y="6071616"/>
            <a:ext cx="1012241"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region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"Atacama"</a:t>
            </a:r>
            <a:endParaRPr lang="en-US" sz="1200" dirty="0"/>
          </a:p>
        </p:txBody>
      </p:sp>
      <p:sp>
        <p:nvSpPr>
          <p:cNvPr id="18" name="Shape 16"/>
          <p:cNvSpPr/>
          <p:nvPr/>
        </p:nvSpPr>
        <p:spPr>
          <a:xfrm>
            <a:off x="6441948" y="6062472"/>
            <a:ext cx="1620317" cy="512064"/>
          </a:xfrm>
          <a:prstGeom prst="roundRect">
            <a:avLst>
              <a:gd name="adj" fmla="val 12500"/>
            </a:avLst>
          </a:prstGeom>
          <a:solidFill>
            <a:srgbClr val="E8F0FE"/>
          </a:solidFill>
          <a:ln w="28575">
            <a:solidFill>
              <a:srgbClr val="1A73E8"/>
            </a:solidFill>
            <a:prstDash val="solid"/>
          </a:ln>
        </p:spPr>
      </p:sp>
      <p:sp>
        <p:nvSpPr>
          <p:cNvPr id="19" name="Text 17"/>
          <p:cNvSpPr/>
          <p:nvPr/>
        </p:nvSpPr>
        <p:spPr>
          <a:xfrm>
            <a:off x="6533388" y="6071616"/>
            <a:ext cx="148315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8784 × 4</a:t>
            </a:r>
            <a:endParaRPr lang="en-US" sz="1200" dirty="0"/>
          </a:p>
        </p:txBody>
      </p:sp>
      <p:sp>
        <p:nvSpPr>
          <p:cNvPr id="20" name="Shape 18"/>
          <p:cNvSpPr/>
          <p:nvPr/>
        </p:nvSpPr>
        <p:spPr>
          <a:xfrm>
            <a:off x="8199425" y="6062472"/>
            <a:ext cx="1143000" cy="512064"/>
          </a:xfrm>
          <a:prstGeom prst="roundRect">
            <a:avLst>
              <a:gd name="adj" fmla="val 12500"/>
            </a:avLst>
          </a:prstGeom>
          <a:solidFill>
            <a:srgbClr val="E8F0FE"/>
          </a:solidFill>
          <a:ln w="28575">
            <a:solidFill>
              <a:srgbClr val="1A73E8"/>
            </a:solidFill>
            <a:prstDash val="solid"/>
          </a:ln>
        </p:spPr>
      </p:sp>
      <p:sp>
        <p:nvSpPr>
          <p:cNvPr id="21" name="Text 19"/>
          <p:cNvSpPr/>
          <p:nvPr/>
        </p:nvSpPr>
        <p:spPr>
          <a:xfrm>
            <a:off x="8290865"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promedio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35.22…</a:t>
            </a:r>
            <a:endParaRPr lang="en-US" sz="1200" dirty="0"/>
          </a:p>
        </p:txBody>
      </p:sp>
      <p:sp>
        <p:nvSpPr>
          <p:cNvPr id="22" name="Text 20"/>
          <p:cNvSpPr/>
          <p:nvPr/>
        </p:nvSpPr>
        <p:spPr>
          <a:xfrm>
            <a:off x="9479585" y="6062472"/>
            <a:ext cx="1005840" cy="512064"/>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y 8 más</a:t>
            </a:r>
            <a:endParaRPr lang="en-US" sz="1200" dirty="0"/>
          </a:p>
        </p:txBody>
      </p:sp>
      <p:sp>
        <p:nvSpPr>
          <p:cNvPr id="23" name="Text 21"/>
          <p:cNvSpPr/>
          <p:nvPr/>
        </p:nvSpPr>
        <p:spPr>
          <a:xfrm>
            <a:off x="548640" y="6592824"/>
            <a:ext cx="11091672" cy="219456"/>
          </a:xfrm>
          <a:prstGeom prst="rect">
            <a:avLst/>
          </a:prstGeom>
          <a:noFill/>
          <a:ln/>
        </p:spPr>
        <p:txBody>
          <a:bodyPr wrap="square" lIns="0" tIns="0" rIns="0" bIns="0" rtlCol="0" anchor="ctr"/>
          <a:lstStyle/>
          <a:p>
            <a:pPr indent="0" marL="0">
              <a:buNone/>
            </a:pPr>
            <a:r>
              <a:rPr lang="en-US" sz="1300" dirty="0">
                <a:solidFill>
                  <a:srgbClr val="0B3D62"/>
                </a:solidFill>
                <a:latin typeface="Calibri" pitchFamily="34" charset="0"/>
                <a:ea typeface="Calibri" pitchFamily="34" charset="-122"/>
                <a:cs typeface="Calibri" pitchFamily="34" charset="-120"/>
              </a:rPr>
              <a:t>Con 10 veces el promedio se marcan solo 2 horas. Se escapan 4 picos.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6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decide qué valor es imposible</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Se elige Metropolitana y se vuelve el deslizador a 3.</a:t>
            </a:r>
            <a:endParaRPr lang="en-US" sz="1400" dirty="0"/>
          </a:p>
        </p:txBody>
      </p:sp>
      <p:sp>
        <p:nvSpPr>
          <p:cNvPr id="6" name="Shape 4"/>
          <p:cNvSpPr/>
          <p:nvPr/>
        </p:nvSpPr>
        <p:spPr>
          <a:xfrm>
            <a:off x="548640" y="1481328"/>
            <a:ext cx="11091672" cy="2131124"/>
          </a:xfrm>
          <a:prstGeom prst="roundRect">
            <a:avLst>
              <a:gd name="adj" fmla="val 2574"/>
            </a:avLst>
          </a:prstGeom>
          <a:solidFill>
            <a:srgbClr val="F8F9FA"/>
          </a:solidFill>
          <a:ln w="25400">
            <a:solidFill>
              <a:srgbClr val="F9AB00"/>
            </a:solidFill>
            <a:prstDash val="solid"/>
          </a:ln>
        </p:spPr>
      </p:sp>
      <p:sp>
        <p:nvSpPr>
          <p:cNvPr id="7"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8"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9" name="Text 7"/>
          <p:cNvSpPr/>
          <p:nvPr/>
        </p:nvSpPr>
        <p:spPr>
          <a:xfrm>
            <a:off x="1325880" y="1600200"/>
            <a:ext cx="7360920" cy="1939100"/>
          </a:xfrm>
          <a:prstGeom prst="rect">
            <a:avLst/>
          </a:prstGeom>
          <a:noFill/>
          <a:ln/>
        </p:spPr>
        <p:txBody>
          <a:bodyPr wrap="square" lIns="0" tIns="0" rIns="0" bIns="0" rtlCol="0" anchor="t"/>
          <a:lstStyle/>
          <a:p>
            <a:pPr indent="0" marL="0">
              <a:buNone/>
            </a:pPr>
            <a:r>
              <a:rPr lang="en-US" sz="1300" dirty="0">
                <a:solidFill>
                  <a:srgbClr val="202124"/>
                </a:solidFill>
                <a:latin typeface="Courier New" pitchFamily="34" charset="0"/>
                <a:ea typeface="Courier New" pitchFamily="34" charset="-122"/>
                <a:cs typeface="Courier New" pitchFamily="34" charset="-120"/>
              </a:rPr>
              <a:t>region = </a:t>
            </a:r>
            <a:pPr indent="0" marL="0">
              <a:buNone/>
            </a:pPr>
            <a:r>
              <a:rPr lang="en-US" sz="1300" dirty="0">
                <a:solidFill>
                  <a:srgbClr val="A31515"/>
                </a:solidFill>
                <a:latin typeface="Courier New" pitchFamily="34" charset="0"/>
                <a:ea typeface="Courier New" pitchFamily="34" charset="-122"/>
                <a:cs typeface="Courier New" pitchFamily="34" charset="-120"/>
              </a:rPr>
              <a:t>"Metropolitana"</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80868B"/>
                </a:solidFill>
                <a:latin typeface="Courier New" pitchFamily="34" charset="0"/>
                <a:ea typeface="Courier New" pitchFamily="34" charset="-122"/>
                <a:cs typeface="Courier New" pitchFamily="34" charset="-120"/>
              </a:rPr>
              <a:t>#@param ["Antofagasta", "Atacama", "Coquimbo",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veces = 3 </a:t>
            </a:r>
            <a:pPr indent="0" marL="0">
              <a:buNone/>
            </a:pPr>
            <a:r>
              <a:rPr lang="en-US" sz="1300" dirty="0">
                <a:solidFill>
                  <a:srgbClr val="80868B"/>
                </a:solidFill>
                <a:latin typeface="Courier New" pitchFamily="34" charset="0"/>
                <a:ea typeface="Courier New" pitchFamily="34" charset="-122"/>
                <a:cs typeface="Courier New" pitchFamily="34" charset="-120"/>
              </a:rPr>
              <a:t>#@param {type:"slider", min:1, max:10, step:1}</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una = sin_repetidas[sin_repetidas[</a:t>
            </a:r>
            <a:pPr indent="0" marL="0">
              <a:buNone/>
            </a:pPr>
            <a:r>
              <a:rPr lang="en-US" sz="1300" dirty="0">
                <a:solidFill>
                  <a:srgbClr val="A31515"/>
                </a:solidFill>
                <a:latin typeface="Courier New" pitchFamily="34" charset="0"/>
                <a:ea typeface="Courier New" pitchFamily="34" charset="-122"/>
                <a:cs typeface="Courier New" pitchFamily="34" charset="-120"/>
              </a:rPr>
              <a:t>"region"</a:t>
            </a:r>
            <a:pPr indent="0" marL="0">
              <a:buNone/>
            </a:pPr>
            <a:r>
              <a:rPr lang="en-US" sz="1300" dirty="0">
                <a:solidFill>
                  <a:srgbClr val="202124"/>
                </a:solidFill>
                <a:latin typeface="Courier New" pitchFamily="34" charset="0"/>
                <a:ea typeface="Courier New" pitchFamily="34" charset="-122"/>
                <a:cs typeface="Courier New" pitchFamily="34" charset="-120"/>
              </a:rPr>
              <a:t>] == region]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print(una[</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].describe().round(1))</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promedio = una[</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].mean()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negativas = una[una[</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 &lt; 0]</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picos = una[una[</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 &gt; veces * promedio]</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"Horas con demanda negativa"</a:t>
            </a:r>
            <a:pPr indent="0" marL="0">
              <a:buNone/>
            </a:pPr>
            <a:r>
              <a:rPr lang="en-US" sz="1300" dirty="0">
                <a:solidFill>
                  <a:srgbClr val="202124"/>
                </a:solidFill>
                <a:latin typeface="Courier New" pitchFamily="34" charset="0"/>
                <a:ea typeface="Courier New" pitchFamily="34" charset="-122"/>
                <a:cs typeface="Courier New" pitchFamily="34" charset="-120"/>
              </a:rPr>
              <a:t>, len(negativas))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print(f</a:t>
            </a:r>
            <a:pPr indent="0" marL="0">
              <a:buNone/>
            </a:pPr>
            <a:r>
              <a:rPr lang="en-US" sz="1300" dirty="0">
                <a:solidFill>
                  <a:srgbClr val="A31515"/>
                </a:solidFill>
                <a:latin typeface="Courier New" pitchFamily="34" charset="0"/>
                <a:ea typeface="Courier New" pitchFamily="34" charset="-122"/>
                <a:cs typeface="Courier New" pitchFamily="34" charset="-120"/>
              </a:rPr>
              <a:t>"Horas sobre {veces} veces el promedio"</a:t>
            </a:r>
            <a:pPr indent="0" marL="0">
              <a:buNone/>
            </a:pPr>
            <a:r>
              <a:rPr lang="en-US" sz="1300" dirty="0">
                <a:solidFill>
                  <a:srgbClr val="202124"/>
                </a:solidFill>
                <a:latin typeface="Courier New" pitchFamily="34" charset="0"/>
                <a:ea typeface="Courier New" pitchFamily="34" charset="-122"/>
                <a:cs typeface="Courier New" pitchFamily="34" charset="-120"/>
              </a:rPr>
              <a:t>, len(picos))</a:t>
            </a:r>
            <a:endParaRPr lang="en-US" sz="1300" dirty="0"/>
          </a:p>
        </p:txBody>
      </p:sp>
      <p:sp>
        <p:nvSpPr>
          <p:cNvPr id="10" name="Text 8"/>
          <p:cNvSpPr/>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region</a:t>
            </a:r>
            <a:endParaRPr lang="en-US" sz="1100" dirty="0"/>
          </a:p>
        </p:txBody>
      </p:sp>
      <p:sp>
        <p:nvSpPr>
          <p:cNvPr id="11" name="Shape 9"/>
          <p:cNvSpPr/>
          <p:nvPr/>
        </p:nvSpPr>
        <p:spPr>
          <a:xfrm>
            <a:off x="8823960" y="1874520"/>
            <a:ext cx="2651760" cy="347472"/>
          </a:xfrm>
          <a:prstGeom prst="rect">
            <a:avLst/>
          </a:prstGeom>
          <a:solidFill>
            <a:srgbClr val="FFFFFF"/>
          </a:solidFill>
          <a:ln w="25400">
            <a:solidFill>
              <a:srgbClr val="1A73E8"/>
            </a:solidFill>
            <a:prstDash val="solid"/>
          </a:ln>
        </p:spPr>
      </p:sp>
      <p:sp>
        <p:nvSpPr>
          <p:cNvPr id="12" name="Text 10"/>
          <p:cNvSpPr/>
          <p:nvPr/>
        </p:nvSpPr>
        <p:spPr>
          <a:xfrm>
            <a:off x="8915400" y="187452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Metropolitana</a:t>
            </a:r>
            <a:endParaRPr lang="en-US" sz="1200" dirty="0"/>
          </a:p>
        </p:txBody>
      </p:sp>
      <p:sp>
        <p:nvSpPr>
          <p:cNvPr id="13" name="Shape 11"/>
          <p:cNvSpPr/>
          <p:nvPr/>
        </p:nvSpPr>
        <p:spPr>
          <a:xfrm rot="10800000">
            <a:off x="11201400" y="2011680"/>
            <a:ext cx="128016" cy="82296"/>
          </a:xfrm>
          <a:prstGeom prst="triangle">
            <a:avLst/>
          </a:prstGeom>
          <a:solidFill>
            <a:srgbClr val="5F6368"/>
          </a:solidFill>
          <a:ln w="12700">
            <a:solidFill>
              <a:srgbClr val="5F6368"/>
            </a:solidFill>
            <a:prstDash val="solid"/>
          </a:ln>
        </p:spPr>
      </p:sp>
      <p:sp>
        <p:nvSpPr>
          <p:cNvPr id="14" name="Text 12"/>
          <p:cNvSpPr/>
          <p:nvPr/>
        </p:nvSpPr>
        <p:spPr>
          <a:xfrm>
            <a:off x="8823960" y="235000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veces</a:t>
            </a:r>
            <a:endParaRPr lang="en-US" sz="1100" dirty="0"/>
          </a:p>
        </p:txBody>
      </p:sp>
      <p:sp>
        <p:nvSpPr>
          <p:cNvPr id="15" name="Shape 13"/>
          <p:cNvSpPr/>
          <p:nvPr/>
        </p:nvSpPr>
        <p:spPr>
          <a:xfrm>
            <a:off x="8823960" y="2734056"/>
            <a:ext cx="1965960" cy="45720"/>
          </a:xfrm>
          <a:prstGeom prst="rect">
            <a:avLst/>
          </a:prstGeom>
          <a:solidFill>
            <a:srgbClr val="C4C7C5"/>
          </a:solidFill>
          <a:ln w="12700">
            <a:solidFill>
              <a:srgbClr val="C4C7C5"/>
            </a:solidFill>
            <a:prstDash val="solid"/>
          </a:ln>
        </p:spPr>
      </p:sp>
      <p:sp>
        <p:nvSpPr>
          <p:cNvPr id="16" name="Shape 14"/>
          <p:cNvSpPr/>
          <p:nvPr/>
        </p:nvSpPr>
        <p:spPr>
          <a:xfrm>
            <a:off x="8823960" y="2734056"/>
            <a:ext cx="436880" cy="45720"/>
          </a:xfrm>
          <a:prstGeom prst="rect">
            <a:avLst/>
          </a:prstGeom>
          <a:solidFill>
            <a:srgbClr val="1A73E8"/>
          </a:solidFill>
          <a:ln w="12700">
            <a:solidFill>
              <a:srgbClr val="1A73E8"/>
            </a:solidFill>
            <a:prstDash val="solid"/>
          </a:ln>
        </p:spPr>
      </p:sp>
      <p:sp>
        <p:nvSpPr>
          <p:cNvPr id="17" name="Shape 15"/>
          <p:cNvSpPr/>
          <p:nvPr/>
        </p:nvSpPr>
        <p:spPr>
          <a:xfrm>
            <a:off x="9173972" y="2670048"/>
            <a:ext cx="173736" cy="173736"/>
          </a:xfrm>
          <a:prstGeom prst="ellipse">
            <a:avLst/>
          </a:prstGeom>
          <a:solidFill>
            <a:srgbClr val="1A73E8"/>
          </a:solidFill>
          <a:ln w="25400">
            <a:solidFill>
              <a:srgbClr val="0B3D62"/>
            </a:solidFill>
            <a:prstDash val="solid"/>
          </a:ln>
        </p:spPr>
      </p:sp>
      <p:sp>
        <p:nvSpPr>
          <p:cNvPr id="18" name="Text 16"/>
          <p:cNvSpPr/>
          <p:nvPr/>
        </p:nvSpPr>
        <p:spPr>
          <a:xfrm>
            <a:off x="10972800" y="2624328"/>
            <a:ext cx="502920" cy="274320"/>
          </a:xfrm>
          <a:prstGeom prst="rect">
            <a:avLst/>
          </a:prstGeom>
          <a:noFill/>
          <a:ln/>
        </p:spPr>
        <p:txBody>
          <a:bodyPr wrap="square" lIns="0" tIns="0" rIns="0" bIns="0" rtlCol="0" anchor="ctr"/>
          <a:lstStyle/>
          <a:p>
            <a:pPr indent="0" marL="0">
              <a:buNone/>
            </a:pPr>
            <a:r>
              <a:rPr lang="en-US" sz="1200" b="1" dirty="0">
                <a:solidFill>
                  <a:srgbClr val="202124"/>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1325880" y="3639884"/>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20" name="Text 18"/>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21" name="Shape 19"/>
          <p:cNvSpPr/>
          <p:nvPr/>
        </p:nvSpPr>
        <p:spPr>
          <a:xfrm>
            <a:off x="548640" y="6062472"/>
            <a:ext cx="1337767" cy="512064"/>
          </a:xfrm>
          <a:prstGeom prst="roundRect">
            <a:avLst>
              <a:gd name="adj" fmla="val 12500"/>
            </a:avLst>
          </a:prstGeom>
          <a:solidFill>
            <a:srgbClr val="F1F3F4"/>
          </a:solidFill>
          <a:ln w="12700">
            <a:solidFill>
              <a:srgbClr val="DADCE0"/>
            </a:solidFill>
            <a:prstDash val="solid"/>
          </a:ln>
        </p:spPr>
      </p:sp>
      <p:sp>
        <p:nvSpPr>
          <p:cNvPr id="22" name="Text 20"/>
          <p:cNvSpPr/>
          <p:nvPr/>
        </p:nvSpPr>
        <p:spPr>
          <a:xfrm>
            <a:off x="640080" y="6071616"/>
            <a:ext cx="120060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picos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 × 4</a:t>
            </a:r>
            <a:endParaRPr lang="en-US" sz="1200" dirty="0"/>
          </a:p>
        </p:txBody>
      </p:sp>
      <p:sp>
        <p:nvSpPr>
          <p:cNvPr id="23" name="Shape 21"/>
          <p:cNvSpPr/>
          <p:nvPr/>
        </p:nvSpPr>
        <p:spPr>
          <a:xfrm>
            <a:off x="2023567" y="6062472"/>
            <a:ext cx="1337767" cy="512064"/>
          </a:xfrm>
          <a:prstGeom prst="roundRect">
            <a:avLst>
              <a:gd name="adj" fmla="val 12500"/>
            </a:avLst>
          </a:prstGeom>
          <a:solidFill>
            <a:srgbClr val="F1F3F4"/>
          </a:solidFill>
          <a:ln w="12700">
            <a:solidFill>
              <a:srgbClr val="DADCE0"/>
            </a:solidFill>
            <a:prstDash val="solid"/>
          </a:ln>
        </p:spPr>
      </p:sp>
      <p:sp>
        <p:nvSpPr>
          <p:cNvPr id="24" name="Text 22"/>
          <p:cNvSpPr/>
          <p:nvPr/>
        </p:nvSpPr>
        <p:spPr>
          <a:xfrm>
            <a:off x="2115007" y="6071616"/>
            <a:ext cx="120060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negativas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 × 4</a:t>
            </a:r>
            <a:endParaRPr lang="en-US" sz="1200" dirty="0"/>
          </a:p>
        </p:txBody>
      </p:sp>
      <p:sp>
        <p:nvSpPr>
          <p:cNvPr id="25" name="Shape 23"/>
          <p:cNvSpPr/>
          <p:nvPr/>
        </p:nvSpPr>
        <p:spPr>
          <a:xfrm>
            <a:off x="3498494" y="6062472"/>
            <a:ext cx="1143000" cy="512064"/>
          </a:xfrm>
          <a:prstGeom prst="roundRect">
            <a:avLst>
              <a:gd name="adj" fmla="val 12500"/>
            </a:avLst>
          </a:prstGeom>
          <a:solidFill>
            <a:srgbClr val="F1F3F4"/>
          </a:solidFill>
          <a:ln w="12700">
            <a:solidFill>
              <a:srgbClr val="DADCE0"/>
            </a:solidFill>
            <a:prstDash val="solid"/>
          </a:ln>
        </p:spPr>
      </p:sp>
      <p:sp>
        <p:nvSpPr>
          <p:cNvPr id="26" name="Text 24"/>
          <p:cNvSpPr/>
          <p:nvPr/>
        </p:nvSpPr>
        <p:spPr>
          <a:xfrm>
            <a:off x="3589934"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promedio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35.22…</a:t>
            </a:r>
            <a:endParaRPr lang="en-US" sz="1200" dirty="0"/>
          </a:p>
        </p:txBody>
      </p:sp>
      <p:sp>
        <p:nvSpPr>
          <p:cNvPr id="27" name="Shape 25"/>
          <p:cNvSpPr/>
          <p:nvPr/>
        </p:nvSpPr>
        <p:spPr>
          <a:xfrm>
            <a:off x="4778654" y="6062472"/>
            <a:ext cx="1620317" cy="512064"/>
          </a:xfrm>
          <a:prstGeom prst="roundRect">
            <a:avLst>
              <a:gd name="adj" fmla="val 12500"/>
            </a:avLst>
          </a:prstGeom>
          <a:solidFill>
            <a:srgbClr val="F1F3F4"/>
          </a:solidFill>
          <a:ln w="12700">
            <a:solidFill>
              <a:srgbClr val="DADCE0"/>
            </a:solidFill>
            <a:prstDash val="solid"/>
          </a:ln>
        </p:spPr>
      </p:sp>
      <p:sp>
        <p:nvSpPr>
          <p:cNvPr id="28" name="Text 26"/>
          <p:cNvSpPr/>
          <p:nvPr/>
        </p:nvSpPr>
        <p:spPr>
          <a:xfrm>
            <a:off x="4870094" y="6071616"/>
            <a:ext cx="148315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8784 × 4</a:t>
            </a:r>
            <a:endParaRPr lang="en-US" sz="1200" dirty="0"/>
          </a:p>
        </p:txBody>
      </p:sp>
      <p:sp>
        <p:nvSpPr>
          <p:cNvPr id="29" name="Shape 27"/>
          <p:cNvSpPr/>
          <p:nvPr/>
        </p:nvSpPr>
        <p:spPr>
          <a:xfrm>
            <a:off x="6536131" y="6062472"/>
            <a:ext cx="1143000" cy="512064"/>
          </a:xfrm>
          <a:prstGeom prst="roundRect">
            <a:avLst>
              <a:gd name="adj" fmla="val 12500"/>
            </a:avLst>
          </a:prstGeom>
          <a:solidFill>
            <a:srgbClr val="F1F3F4"/>
          </a:solidFill>
          <a:ln w="12700">
            <a:solidFill>
              <a:srgbClr val="DADCE0"/>
            </a:solidFill>
            <a:prstDash val="solid"/>
          </a:ln>
        </p:spPr>
      </p:sp>
      <p:sp>
        <p:nvSpPr>
          <p:cNvPr id="30" name="Text 28"/>
          <p:cNvSpPr/>
          <p:nvPr/>
        </p:nvSpPr>
        <p:spPr>
          <a:xfrm>
            <a:off x="6627571"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veces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10</a:t>
            </a:r>
            <a:endParaRPr lang="en-US" sz="1200" dirty="0"/>
          </a:p>
        </p:txBody>
      </p:sp>
      <p:sp>
        <p:nvSpPr>
          <p:cNvPr id="31" name="Shape 29"/>
          <p:cNvSpPr/>
          <p:nvPr/>
        </p:nvSpPr>
        <p:spPr>
          <a:xfrm>
            <a:off x="7816291" y="6062472"/>
            <a:ext cx="1149401" cy="512064"/>
          </a:xfrm>
          <a:prstGeom prst="roundRect">
            <a:avLst>
              <a:gd name="adj" fmla="val 12500"/>
            </a:avLst>
          </a:prstGeom>
          <a:solidFill>
            <a:srgbClr val="F1F3F4"/>
          </a:solidFill>
          <a:ln w="12700">
            <a:solidFill>
              <a:srgbClr val="DADCE0"/>
            </a:solidFill>
            <a:prstDash val="solid"/>
          </a:ln>
        </p:spPr>
      </p:sp>
      <p:sp>
        <p:nvSpPr>
          <p:cNvPr id="32" name="Text 30"/>
          <p:cNvSpPr/>
          <p:nvPr/>
        </p:nvSpPr>
        <p:spPr>
          <a:xfrm>
            <a:off x="7907731" y="6071616"/>
            <a:ext cx="1012241"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region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"Atacama"</a:t>
            </a:r>
            <a:endParaRPr lang="en-US" sz="1200" dirty="0"/>
          </a:p>
        </p:txBody>
      </p:sp>
      <p:sp>
        <p:nvSpPr>
          <p:cNvPr id="33" name="Text 31"/>
          <p:cNvSpPr/>
          <p:nvPr/>
        </p:nvSpPr>
        <p:spPr>
          <a:xfrm>
            <a:off x="9102852" y="6062472"/>
            <a:ext cx="1005840" cy="512064"/>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y 8 más</a:t>
            </a:r>
            <a:endParaRPr lang="en-US" sz="1200" dirty="0"/>
          </a:p>
        </p:txBody>
      </p:sp>
      <p:sp>
        <p:nvSpPr>
          <p:cNvPr id="34" name="Text 32"/>
          <p:cNvSpPr/>
          <p:nvPr/>
        </p:nvSpPr>
        <p:spPr>
          <a:xfrm>
            <a:off x="548640" y="6592824"/>
            <a:ext cx="11091672" cy="219456"/>
          </a:xfrm>
          <a:prstGeom prst="rect">
            <a:avLst/>
          </a:prstGeom>
          <a:noFill/>
          <a:ln/>
        </p:spPr>
        <p:txBody>
          <a:bodyPr wrap="square" lIns="0" tIns="0" rIns="0" bIns="0" rtlCol="0" anchor="ctr"/>
          <a:lstStyle/>
          <a:p>
            <a:pPr indent="0" marL="0">
              <a:buNone/>
            </a:pPr>
            <a:r>
              <a:rPr lang="en-US" sz="1300" dirty="0">
                <a:solidFill>
                  <a:srgbClr val="0B3D62"/>
                </a:solidFill>
                <a:latin typeface="Calibri" pitchFamily="34" charset="0"/>
                <a:ea typeface="Calibri" pitchFamily="34" charset="-122"/>
                <a:cs typeface="Calibri" pitchFamily="34" charset="-120"/>
              </a:rPr>
              <a:t>Mientras no se corra la celda, Python sigue recordando los valores anteriores.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6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decide qué valor es imposible</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Se elige Metropolitana y se vuelve el deslizador a 3.</a:t>
            </a:r>
            <a:endParaRPr lang="en-US" sz="1400" dirty="0"/>
          </a:p>
        </p:txBody>
      </p:sp>
      <p:sp>
        <p:nvSpPr>
          <p:cNvPr id="6" name="Text 4"/>
          <p:cNvSpPr/>
          <p:nvPr/>
        </p:nvSpPr>
        <p:spPr>
          <a:xfrm>
            <a:off x="548640" y="1481328"/>
            <a:ext cx="5486400" cy="274320"/>
          </a:xfrm>
          <a:prstGeom prst="rect">
            <a:avLst/>
          </a:prstGeom>
          <a:noFill/>
          <a:ln/>
        </p:spPr>
        <p:txBody>
          <a:bodyPr wrap="square" lIns="0" tIns="0" rIns="0" bIns="0" rtlCol="0" anchor="ctr"/>
          <a:lstStyle/>
          <a:p>
            <a:pPr indent="0" marL="0">
              <a:buNone/>
            </a:pPr>
            <a:r>
              <a:rPr lang="en-US" sz="1300" b="1" dirty="0">
                <a:solidFill>
                  <a:srgbClr val="5F6368"/>
                </a:solidFill>
                <a:latin typeface="Calibri" pitchFamily="34" charset="0"/>
                <a:ea typeface="Calibri" pitchFamily="34" charset="-122"/>
                <a:cs typeface="Calibri" pitchFamily="34" charset="-120"/>
              </a:rPr>
              <a:t>Respuesta de la celda</a:t>
            </a:r>
            <a:endParaRPr lang="en-US" sz="1300" dirty="0"/>
          </a:p>
        </p:txBody>
      </p:sp>
      <p:sp>
        <p:nvSpPr>
          <p:cNvPr id="7" name="Shape 5"/>
          <p:cNvSpPr/>
          <p:nvPr/>
        </p:nvSpPr>
        <p:spPr>
          <a:xfrm>
            <a:off x="1325880" y="1828800"/>
            <a:ext cx="10314432" cy="2461565"/>
          </a:xfrm>
          <a:prstGeom prst="rect">
            <a:avLst/>
          </a:prstGeom>
          <a:solidFill>
            <a:srgbClr val="FFFFFF"/>
          </a:solidFill>
          <a:ln w="12700">
            <a:solidFill>
              <a:srgbClr val="DADCE0"/>
            </a:solidFill>
            <a:prstDash val="solid"/>
          </a:ln>
        </p:spPr>
      </p:sp>
      <p:sp>
        <p:nvSpPr>
          <p:cNvPr id="8" name="Text 6"/>
          <p:cNvSpPr/>
          <p:nvPr/>
        </p:nvSpPr>
        <p:spPr>
          <a:xfrm>
            <a:off x="1463040" y="1901952"/>
            <a:ext cx="10085832" cy="2333549"/>
          </a:xfrm>
          <a:prstGeom prst="rect">
            <a:avLst/>
          </a:prstGeom>
          <a:noFill/>
          <a:ln/>
        </p:spPr>
        <p:txBody>
          <a:bodyPr wrap="square" lIns="0" tIns="0" rIns="0" bIns="0" rtlCol="0" anchor="t"/>
          <a:lstStyle/>
          <a:p>
            <a:pPr indent="0" marL="0">
              <a:buNone/>
            </a:pPr>
            <a:r>
              <a:rPr lang="en-US" sz="1200" dirty="0">
                <a:solidFill>
                  <a:srgbClr val="202124"/>
                </a:solidFill>
                <a:latin typeface="Courier New" pitchFamily="34" charset="0"/>
                <a:ea typeface="Courier New" pitchFamily="34" charset="-122"/>
                <a:cs typeface="Courier New" pitchFamily="34" charset="-120"/>
              </a:rPr>
              <a:t>count     8507.0</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mean       892.3</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std        306.5</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min       -493.4</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25%        750.8</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50%        873.5</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75%       1034.4</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max      11195.0</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Name: mwh, dtype: float64</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Horas con demanda negativa 1</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Horas sobre 3 veces el promedio 7</a:t>
            </a:r>
            <a:endParaRPr lang="en-US" sz="1200" dirty="0"/>
          </a:p>
        </p:txBody>
      </p:sp>
      <p:sp>
        <p:nvSpPr>
          <p:cNvPr id="9" name="Text 7"/>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0" name="Shape 8"/>
          <p:cNvSpPr/>
          <p:nvPr/>
        </p:nvSpPr>
        <p:spPr>
          <a:xfrm>
            <a:off x="548640" y="6062472"/>
            <a:ext cx="1714500" cy="512064"/>
          </a:xfrm>
          <a:prstGeom prst="roundRect">
            <a:avLst>
              <a:gd name="adj" fmla="val 12500"/>
            </a:avLst>
          </a:prstGeom>
          <a:solidFill>
            <a:srgbClr val="FEF3D6"/>
          </a:solidFill>
          <a:ln w="25400">
            <a:solidFill>
              <a:srgbClr val="F9AB00"/>
            </a:solidFill>
            <a:prstDash val="solid"/>
          </a:ln>
        </p:spPr>
      </p:sp>
      <p:sp>
        <p:nvSpPr>
          <p:cNvPr id="11" name="Text 9"/>
          <p:cNvSpPr/>
          <p:nvPr/>
        </p:nvSpPr>
        <p:spPr>
          <a:xfrm>
            <a:off x="640080"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region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"Metropolitana"</a:t>
            </a:r>
            <a:endParaRPr lang="en-US" sz="1200" dirty="0"/>
          </a:p>
        </p:txBody>
      </p:sp>
      <p:sp>
        <p:nvSpPr>
          <p:cNvPr id="12" name="Shape 10"/>
          <p:cNvSpPr/>
          <p:nvPr/>
        </p:nvSpPr>
        <p:spPr>
          <a:xfrm>
            <a:off x="2400300" y="6062472"/>
            <a:ext cx="1143000" cy="512064"/>
          </a:xfrm>
          <a:prstGeom prst="roundRect">
            <a:avLst>
              <a:gd name="adj" fmla="val 12500"/>
            </a:avLst>
          </a:prstGeom>
          <a:solidFill>
            <a:srgbClr val="FEF3D6"/>
          </a:solidFill>
          <a:ln w="25400">
            <a:solidFill>
              <a:srgbClr val="F9AB00"/>
            </a:solidFill>
            <a:prstDash val="solid"/>
          </a:ln>
        </p:spPr>
      </p:sp>
      <p:sp>
        <p:nvSpPr>
          <p:cNvPr id="13" name="Text 11"/>
          <p:cNvSpPr/>
          <p:nvPr/>
        </p:nvSpPr>
        <p:spPr>
          <a:xfrm>
            <a:off x="2491740"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veces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3</a:t>
            </a:r>
            <a:endParaRPr lang="en-US" sz="1200" dirty="0"/>
          </a:p>
        </p:txBody>
      </p:sp>
      <p:sp>
        <p:nvSpPr>
          <p:cNvPr id="14" name="Shape 12"/>
          <p:cNvSpPr/>
          <p:nvPr/>
        </p:nvSpPr>
        <p:spPr>
          <a:xfrm>
            <a:off x="3680460" y="6062472"/>
            <a:ext cx="1620317" cy="512064"/>
          </a:xfrm>
          <a:prstGeom prst="roundRect">
            <a:avLst>
              <a:gd name="adj" fmla="val 12500"/>
            </a:avLst>
          </a:prstGeom>
          <a:solidFill>
            <a:srgbClr val="FEF3D6"/>
          </a:solidFill>
          <a:ln w="25400">
            <a:solidFill>
              <a:srgbClr val="F9AB00"/>
            </a:solidFill>
            <a:prstDash val="solid"/>
          </a:ln>
        </p:spPr>
      </p:sp>
      <p:sp>
        <p:nvSpPr>
          <p:cNvPr id="15" name="Text 13"/>
          <p:cNvSpPr/>
          <p:nvPr/>
        </p:nvSpPr>
        <p:spPr>
          <a:xfrm>
            <a:off x="3771900" y="6071616"/>
            <a:ext cx="148315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8784 × 4</a:t>
            </a:r>
            <a:endParaRPr lang="en-US" sz="1200" dirty="0"/>
          </a:p>
        </p:txBody>
      </p:sp>
      <p:sp>
        <p:nvSpPr>
          <p:cNvPr id="16" name="Shape 14"/>
          <p:cNvSpPr/>
          <p:nvPr/>
        </p:nvSpPr>
        <p:spPr>
          <a:xfrm>
            <a:off x="5437937" y="6062472"/>
            <a:ext cx="1143000" cy="512064"/>
          </a:xfrm>
          <a:prstGeom prst="roundRect">
            <a:avLst>
              <a:gd name="adj" fmla="val 12500"/>
            </a:avLst>
          </a:prstGeom>
          <a:solidFill>
            <a:srgbClr val="FEF3D6"/>
          </a:solidFill>
          <a:ln w="25400">
            <a:solidFill>
              <a:srgbClr val="F9AB00"/>
            </a:solidFill>
            <a:prstDash val="solid"/>
          </a:ln>
        </p:spPr>
      </p:sp>
      <p:sp>
        <p:nvSpPr>
          <p:cNvPr id="17" name="Text 15"/>
          <p:cNvSpPr/>
          <p:nvPr/>
        </p:nvSpPr>
        <p:spPr>
          <a:xfrm>
            <a:off x="5529377"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promedio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892.34…</a:t>
            </a:r>
            <a:endParaRPr lang="en-US" sz="1200" dirty="0"/>
          </a:p>
        </p:txBody>
      </p:sp>
      <p:sp>
        <p:nvSpPr>
          <p:cNvPr id="18" name="Shape 16"/>
          <p:cNvSpPr/>
          <p:nvPr/>
        </p:nvSpPr>
        <p:spPr>
          <a:xfrm>
            <a:off x="6718097" y="6062472"/>
            <a:ext cx="1337767" cy="512064"/>
          </a:xfrm>
          <a:prstGeom prst="roundRect">
            <a:avLst>
              <a:gd name="adj" fmla="val 12500"/>
            </a:avLst>
          </a:prstGeom>
          <a:solidFill>
            <a:srgbClr val="FEF3D6"/>
          </a:solidFill>
          <a:ln w="25400">
            <a:solidFill>
              <a:srgbClr val="F9AB00"/>
            </a:solidFill>
            <a:prstDash val="solid"/>
          </a:ln>
        </p:spPr>
      </p:sp>
      <p:sp>
        <p:nvSpPr>
          <p:cNvPr id="19" name="Text 17"/>
          <p:cNvSpPr/>
          <p:nvPr/>
        </p:nvSpPr>
        <p:spPr>
          <a:xfrm>
            <a:off x="6809537" y="6071616"/>
            <a:ext cx="120060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negativas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 × 4</a:t>
            </a:r>
            <a:endParaRPr lang="en-US" sz="1200" dirty="0"/>
          </a:p>
        </p:txBody>
      </p:sp>
      <p:sp>
        <p:nvSpPr>
          <p:cNvPr id="20" name="Shape 18"/>
          <p:cNvSpPr/>
          <p:nvPr/>
        </p:nvSpPr>
        <p:spPr>
          <a:xfrm>
            <a:off x="8193024" y="6062472"/>
            <a:ext cx="1337767" cy="512064"/>
          </a:xfrm>
          <a:prstGeom prst="roundRect">
            <a:avLst>
              <a:gd name="adj" fmla="val 12500"/>
            </a:avLst>
          </a:prstGeom>
          <a:solidFill>
            <a:srgbClr val="FEF3D6"/>
          </a:solidFill>
          <a:ln w="25400">
            <a:solidFill>
              <a:srgbClr val="F9AB00"/>
            </a:solidFill>
            <a:prstDash val="solid"/>
          </a:ln>
        </p:spPr>
      </p:sp>
      <p:sp>
        <p:nvSpPr>
          <p:cNvPr id="21" name="Text 19"/>
          <p:cNvSpPr/>
          <p:nvPr/>
        </p:nvSpPr>
        <p:spPr>
          <a:xfrm>
            <a:off x="8284464" y="6071616"/>
            <a:ext cx="120060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picos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7 × 4</a:t>
            </a:r>
            <a:endParaRPr lang="en-US" sz="1200" dirty="0"/>
          </a:p>
        </p:txBody>
      </p:sp>
      <p:sp>
        <p:nvSpPr>
          <p:cNvPr id="22" name="Text 20"/>
          <p:cNvSpPr/>
          <p:nvPr/>
        </p:nvSpPr>
        <p:spPr>
          <a:xfrm>
            <a:off x="9667951" y="6062472"/>
            <a:ext cx="1005840" cy="512064"/>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y 8 más</a:t>
            </a:r>
            <a:endParaRPr lang="en-US" sz="1200" dirty="0"/>
          </a:p>
        </p:txBody>
      </p:sp>
      <p:sp>
        <p:nvSpPr>
          <p:cNvPr id="23" name="Text 21"/>
          <p:cNvSpPr/>
          <p:nvPr/>
        </p:nvSpPr>
        <p:spPr>
          <a:xfrm>
            <a:off x="548640" y="6592824"/>
            <a:ext cx="11091672" cy="219456"/>
          </a:xfrm>
          <a:prstGeom prst="rect">
            <a:avLst/>
          </a:prstGeom>
          <a:noFill/>
          <a:ln/>
        </p:spPr>
        <p:txBody>
          <a:bodyPr wrap="square" lIns="0" tIns="0" rIns="0" bIns="0" rtlCol="0" anchor="ctr"/>
          <a:lstStyle/>
          <a:p>
            <a:pPr indent="0" marL="0">
              <a:buNone/>
            </a:pPr>
            <a:r>
              <a:rPr lang="en-US" sz="1300" dirty="0">
                <a:solidFill>
                  <a:srgbClr val="0B3D62"/>
                </a:solidFill>
                <a:latin typeface="Calibri" pitchFamily="34" charset="0"/>
                <a:ea typeface="Calibri" pitchFamily="34" charset="-122"/>
                <a:cs typeface="Calibri" pitchFamily="34" charset="-120"/>
              </a:rPr>
              <a:t>En la Metropolitana hay 1 hora negativa y 7 picos. Su umbral es mucho más alto, porque consume más.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6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decide qué valor es imposible</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acabamos de probar con el deslizador, dibujado.</a:t>
            </a:r>
            <a:endParaRPr lang="en-US" sz="1400" dirty="0"/>
          </a:p>
        </p:txBody>
      </p:sp>
      <p:pic>
        <p:nvPicPr>
          <p:cNvPr id="6" name="Image 0" descr="../work35/modulos/modulo03/img/lab03_paso6_umbral.png">    </p:cNvPr>
          <p:cNvPicPr>
            <a:picLocks noChangeAspect="1"/>
          </p:cNvPicPr>
          <p:nvPr/>
        </p:nvPicPr>
        <p:blipFill>
          <a:blip r:embed="rId1"/>
          <a:stretch>
            <a:fillRect/>
          </a:stretch>
        </p:blipFill>
        <p:spPr>
          <a:xfrm>
            <a:off x="548640" y="1463040"/>
            <a:ext cx="11091672" cy="3771953"/>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6 de 6</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decide qué valor es imposible</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hay que llevarse de este paso.</a:t>
            </a:r>
            <a:endParaRPr lang="en-US" sz="1400" dirty="0"/>
          </a:p>
        </p:txBody>
      </p:sp>
      <p:sp>
        <p:nvSpPr>
          <p:cNvPr id="6" name="Shape 4"/>
          <p:cNvSpPr/>
          <p:nvPr/>
        </p:nvSpPr>
        <p:spPr>
          <a:xfrm>
            <a:off x="548640" y="1828800"/>
            <a:ext cx="11091672" cy="2377440"/>
          </a:xfrm>
          <a:prstGeom prst="roundRect">
            <a:avLst>
              <a:gd name="adj" fmla="val 3846"/>
            </a:avLst>
          </a:prstGeom>
          <a:solidFill>
            <a:srgbClr val="FFF8D6"/>
          </a:solidFill>
          <a:ln w="12700">
            <a:solidFill>
              <a:srgbClr val="FFF8D6"/>
            </a:solidFill>
            <a:prstDash val="solid"/>
          </a:ln>
        </p:spPr>
      </p:sp>
      <p:sp>
        <p:nvSpPr>
          <p:cNvPr id="7" name="Text 5"/>
          <p:cNvSpPr/>
          <p:nvPr/>
        </p:nvSpPr>
        <p:spPr>
          <a:xfrm>
            <a:off x="1005840" y="2057400"/>
            <a:ext cx="10177272" cy="1005840"/>
          </a:xfrm>
          <a:prstGeom prst="rect">
            <a:avLst/>
          </a:prstGeom>
          <a:noFill/>
          <a:ln/>
        </p:spPr>
        <p:txBody>
          <a:bodyPr wrap="square" lIns="0" tIns="0" rIns="0" bIns="0" rtlCol="0" anchor="t"/>
          <a:lstStyle/>
          <a:p>
            <a:pPr indent="0" marL="0">
              <a:buNone/>
            </a:pPr>
            <a:r>
              <a:rPr lang="en-US" sz="2800" b="1" dirty="0">
                <a:solidFill>
                  <a:srgbClr val="8A6D00"/>
                </a:solidFill>
                <a:latin typeface="Calibri" pitchFamily="34" charset="0"/>
                <a:ea typeface="Calibri" pitchFamily="34" charset="-122"/>
                <a:cs typeface="Calibri" pitchFamily="34" charset="-120"/>
              </a:rPr>
              <a:t>Un valor imposible se encuentra con una regla de negocio.</a:t>
            </a:r>
            <a:endParaRPr lang="en-US" sz="2800" dirty="0"/>
          </a:p>
        </p:txBody>
      </p:sp>
      <p:sp>
        <p:nvSpPr>
          <p:cNvPr id="8" name="Text 6"/>
          <p:cNvSpPr/>
          <p:nvPr/>
        </p:nvSpPr>
        <p:spPr>
          <a:xfrm>
            <a:off x="1005840" y="3154680"/>
            <a:ext cx="10177272" cy="914400"/>
          </a:xfrm>
          <a:prstGeom prst="rect">
            <a:avLst/>
          </a:prstGeom>
          <a:noFill/>
          <a:ln/>
        </p:spPr>
        <p:txBody>
          <a:bodyPr wrap="square" lIns="0" tIns="0" rIns="0" bIns="0" rtlCol="0" anchor="t"/>
          <a:lstStyle/>
          <a:p>
            <a:pPr indent="0" marL="0">
              <a:buNone/>
            </a:pPr>
            <a:r>
              <a:rPr lang="en-US" sz="2200" dirty="0">
                <a:solidFill>
                  <a:srgbClr val="202124"/>
                </a:solidFill>
                <a:latin typeface="Calibri" pitchFamily="34" charset="0"/>
                <a:ea typeface="Calibri" pitchFamily="34" charset="-122"/>
                <a:cs typeface="Calibri" pitchFamily="34" charset="-120"/>
              </a:rPr>
              <a:t>El umbral lo decide quien analiza, mirando los datos, y se deja escrito junto con el resultado.</a:t>
            </a:r>
            <a:endParaRPr lang="en-US" sz="2200" dirty="0"/>
          </a:p>
        </p:txBody>
      </p:sp>
      <p:sp>
        <p:nvSpPr>
          <p:cNvPr id="9" name="Text 7"/>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0" name="Shape 8"/>
          <p:cNvSpPr/>
          <p:nvPr/>
        </p:nvSpPr>
        <p:spPr>
          <a:xfrm>
            <a:off x="548640" y="6062472"/>
            <a:ext cx="1714500" cy="512064"/>
          </a:xfrm>
          <a:prstGeom prst="roundRect">
            <a:avLst>
              <a:gd name="adj" fmla="val 12500"/>
            </a:avLst>
          </a:prstGeom>
          <a:solidFill>
            <a:srgbClr val="FEF3D6"/>
          </a:solidFill>
          <a:ln w="25400">
            <a:solidFill>
              <a:srgbClr val="F9AB00"/>
            </a:solidFill>
            <a:prstDash val="solid"/>
          </a:ln>
        </p:spPr>
      </p:sp>
      <p:sp>
        <p:nvSpPr>
          <p:cNvPr id="11" name="Text 9"/>
          <p:cNvSpPr/>
          <p:nvPr/>
        </p:nvSpPr>
        <p:spPr>
          <a:xfrm>
            <a:off x="640080"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region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"Metropolitana"</a:t>
            </a:r>
            <a:endParaRPr lang="en-US" sz="1200" dirty="0"/>
          </a:p>
        </p:txBody>
      </p:sp>
      <p:sp>
        <p:nvSpPr>
          <p:cNvPr id="12" name="Shape 10"/>
          <p:cNvSpPr/>
          <p:nvPr/>
        </p:nvSpPr>
        <p:spPr>
          <a:xfrm>
            <a:off x="2400300" y="6062472"/>
            <a:ext cx="1143000" cy="512064"/>
          </a:xfrm>
          <a:prstGeom prst="roundRect">
            <a:avLst>
              <a:gd name="adj" fmla="val 12500"/>
            </a:avLst>
          </a:prstGeom>
          <a:solidFill>
            <a:srgbClr val="FEF3D6"/>
          </a:solidFill>
          <a:ln w="25400">
            <a:solidFill>
              <a:srgbClr val="F9AB00"/>
            </a:solidFill>
            <a:prstDash val="solid"/>
          </a:ln>
        </p:spPr>
      </p:sp>
      <p:sp>
        <p:nvSpPr>
          <p:cNvPr id="13" name="Text 11"/>
          <p:cNvSpPr/>
          <p:nvPr/>
        </p:nvSpPr>
        <p:spPr>
          <a:xfrm>
            <a:off x="2491740"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veces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3</a:t>
            </a:r>
            <a:endParaRPr lang="en-US" sz="1200" dirty="0"/>
          </a:p>
        </p:txBody>
      </p:sp>
      <p:sp>
        <p:nvSpPr>
          <p:cNvPr id="14" name="Shape 12"/>
          <p:cNvSpPr/>
          <p:nvPr/>
        </p:nvSpPr>
        <p:spPr>
          <a:xfrm>
            <a:off x="3680460" y="6062472"/>
            <a:ext cx="1620317" cy="512064"/>
          </a:xfrm>
          <a:prstGeom prst="roundRect">
            <a:avLst>
              <a:gd name="adj" fmla="val 12500"/>
            </a:avLst>
          </a:prstGeom>
          <a:solidFill>
            <a:srgbClr val="FEF3D6"/>
          </a:solidFill>
          <a:ln w="25400">
            <a:solidFill>
              <a:srgbClr val="F9AB00"/>
            </a:solidFill>
            <a:prstDash val="solid"/>
          </a:ln>
        </p:spPr>
      </p:sp>
      <p:sp>
        <p:nvSpPr>
          <p:cNvPr id="15" name="Text 13"/>
          <p:cNvSpPr/>
          <p:nvPr/>
        </p:nvSpPr>
        <p:spPr>
          <a:xfrm>
            <a:off x="3771900" y="6071616"/>
            <a:ext cx="148315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8784 × 4</a:t>
            </a:r>
            <a:endParaRPr lang="en-US" sz="1200" dirty="0"/>
          </a:p>
        </p:txBody>
      </p:sp>
      <p:sp>
        <p:nvSpPr>
          <p:cNvPr id="16" name="Shape 14"/>
          <p:cNvSpPr/>
          <p:nvPr/>
        </p:nvSpPr>
        <p:spPr>
          <a:xfrm>
            <a:off x="5437937" y="6062472"/>
            <a:ext cx="1143000" cy="512064"/>
          </a:xfrm>
          <a:prstGeom prst="roundRect">
            <a:avLst>
              <a:gd name="adj" fmla="val 12500"/>
            </a:avLst>
          </a:prstGeom>
          <a:solidFill>
            <a:srgbClr val="FEF3D6"/>
          </a:solidFill>
          <a:ln w="25400">
            <a:solidFill>
              <a:srgbClr val="F9AB00"/>
            </a:solidFill>
            <a:prstDash val="solid"/>
          </a:ln>
        </p:spPr>
      </p:sp>
      <p:sp>
        <p:nvSpPr>
          <p:cNvPr id="17" name="Text 15"/>
          <p:cNvSpPr/>
          <p:nvPr/>
        </p:nvSpPr>
        <p:spPr>
          <a:xfrm>
            <a:off x="5529377"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promedio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892.34…</a:t>
            </a:r>
            <a:endParaRPr lang="en-US" sz="1200" dirty="0"/>
          </a:p>
        </p:txBody>
      </p:sp>
      <p:sp>
        <p:nvSpPr>
          <p:cNvPr id="18" name="Shape 16"/>
          <p:cNvSpPr/>
          <p:nvPr/>
        </p:nvSpPr>
        <p:spPr>
          <a:xfrm>
            <a:off x="6718097" y="6062472"/>
            <a:ext cx="1337767" cy="512064"/>
          </a:xfrm>
          <a:prstGeom prst="roundRect">
            <a:avLst>
              <a:gd name="adj" fmla="val 12500"/>
            </a:avLst>
          </a:prstGeom>
          <a:solidFill>
            <a:srgbClr val="FEF3D6"/>
          </a:solidFill>
          <a:ln w="25400">
            <a:solidFill>
              <a:srgbClr val="F9AB00"/>
            </a:solidFill>
            <a:prstDash val="solid"/>
          </a:ln>
        </p:spPr>
      </p:sp>
      <p:sp>
        <p:nvSpPr>
          <p:cNvPr id="19" name="Text 17"/>
          <p:cNvSpPr/>
          <p:nvPr/>
        </p:nvSpPr>
        <p:spPr>
          <a:xfrm>
            <a:off x="6809537" y="6071616"/>
            <a:ext cx="120060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negativas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 × 4</a:t>
            </a:r>
            <a:endParaRPr lang="en-US" sz="1200" dirty="0"/>
          </a:p>
        </p:txBody>
      </p:sp>
      <p:sp>
        <p:nvSpPr>
          <p:cNvPr id="20" name="Shape 18"/>
          <p:cNvSpPr/>
          <p:nvPr/>
        </p:nvSpPr>
        <p:spPr>
          <a:xfrm>
            <a:off x="8193024" y="6062472"/>
            <a:ext cx="1337767" cy="512064"/>
          </a:xfrm>
          <a:prstGeom prst="roundRect">
            <a:avLst>
              <a:gd name="adj" fmla="val 12500"/>
            </a:avLst>
          </a:prstGeom>
          <a:solidFill>
            <a:srgbClr val="FEF3D6"/>
          </a:solidFill>
          <a:ln w="25400">
            <a:solidFill>
              <a:srgbClr val="F9AB00"/>
            </a:solidFill>
            <a:prstDash val="solid"/>
          </a:ln>
        </p:spPr>
      </p:sp>
      <p:sp>
        <p:nvSpPr>
          <p:cNvPr id="21" name="Text 19"/>
          <p:cNvSpPr/>
          <p:nvPr/>
        </p:nvSpPr>
        <p:spPr>
          <a:xfrm>
            <a:off x="8284464" y="6071616"/>
            <a:ext cx="120060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picos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7 × 4</a:t>
            </a:r>
            <a:endParaRPr lang="en-US" sz="1200" dirty="0"/>
          </a:p>
        </p:txBody>
      </p:sp>
      <p:sp>
        <p:nvSpPr>
          <p:cNvPr id="22" name="Text 20"/>
          <p:cNvSpPr/>
          <p:nvPr/>
        </p:nvSpPr>
        <p:spPr>
          <a:xfrm>
            <a:off x="9667951" y="6062472"/>
            <a:ext cx="1005840" cy="512064"/>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y 8 más</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9AB00"/>
        </a:solidFill>
      </p:bgPr>
    </p:bg>
    <p:spTree>
      <p:nvGrpSpPr>
        <p:cNvPr id="1" name=""/>
        <p:cNvGrpSpPr/>
        <p:nvPr/>
      </p:nvGrpSpPr>
      <p:grpSpPr>
        <a:xfrm>
          <a:off x="0" y="0"/>
          <a:ext cx="0" cy="0"/>
          <a:chOff x="0" y="0"/>
          <a:chExt cx="0" cy="0"/>
        </a:xfrm>
      </p:grpSpPr>
      <p:sp>
        <p:nvSpPr>
          <p:cNvPr id="2" name="Text 0"/>
          <p:cNvSpPr/>
          <p:nvPr/>
        </p:nvSpPr>
        <p:spPr>
          <a:xfrm>
            <a:off x="731520" y="548640"/>
            <a:ext cx="10698480" cy="822960"/>
          </a:xfrm>
          <a:prstGeom prst="rect">
            <a:avLst/>
          </a:prstGeom>
          <a:noFill/>
          <a:ln/>
        </p:spPr>
        <p:txBody>
          <a:bodyPr wrap="square" lIns="0" tIns="0" rIns="0" bIns="0" rtlCol="0" anchor="ctr"/>
          <a:lstStyle/>
          <a:p>
            <a:pPr indent="0" marL="0">
              <a:buNone/>
            </a:pPr>
            <a:r>
              <a:rPr lang="en-US" sz="4400" b="1" dirty="0">
                <a:solidFill>
                  <a:srgbClr val="0B3D62"/>
                </a:solidFill>
                <a:latin typeface="Calibri" pitchFamily="34" charset="0"/>
                <a:ea typeface="Calibri" pitchFamily="34" charset="-122"/>
                <a:cs typeface="Calibri" pitchFamily="34" charset="-120"/>
              </a:rPr>
              <a:t>PARTE 2 · PARA LA CASA</a:t>
            </a:r>
            <a:endParaRPr lang="en-US" sz="4400" dirty="0"/>
          </a:p>
        </p:txBody>
      </p:sp>
      <p:sp>
        <p:nvSpPr>
          <p:cNvPr id="3" name="Text 1"/>
          <p:cNvSpPr/>
          <p:nvPr/>
        </p:nvSpPr>
        <p:spPr>
          <a:xfrm>
            <a:off x="731520" y="1371600"/>
            <a:ext cx="10698480" cy="457200"/>
          </a:xfrm>
          <a:prstGeom prst="rect">
            <a:avLst/>
          </a:prstGeom>
          <a:noFill/>
          <a:ln/>
        </p:spPr>
        <p:txBody>
          <a:bodyPr wrap="square" lIns="0" tIns="0" rIns="0" bIns="0" rtlCol="0" anchor="ctr"/>
          <a:lstStyle/>
          <a:p>
            <a:pPr indent="0" marL="0">
              <a:buNone/>
            </a:pPr>
            <a:r>
              <a:rPr lang="en-US" sz="2000" dirty="0">
                <a:solidFill>
                  <a:srgbClr val="0B3D62"/>
                </a:solidFill>
                <a:latin typeface="Calibri" pitchFamily="34" charset="0"/>
                <a:ea typeface="Calibri" pitchFamily="34" charset="-122"/>
                <a:cs typeface="Calibri" pitchFamily="34" charset="-120"/>
              </a:rPr>
              <a:t>No se ve en clase. Cada estudio viene explicado en las láminas que siguen, con la guía como apoyo.</a:t>
            </a:r>
            <a:endParaRPr lang="en-US" sz="2000" dirty="0"/>
          </a:p>
        </p:txBody>
      </p:sp>
      <p:sp>
        <p:nvSpPr>
          <p:cNvPr id="4" name="Shape 2"/>
          <p:cNvSpPr/>
          <p:nvPr/>
        </p:nvSpPr>
        <p:spPr>
          <a:xfrm>
            <a:off x="731520" y="2240280"/>
            <a:ext cx="548640" cy="548640"/>
          </a:xfrm>
          <a:prstGeom prst="ellipse">
            <a:avLst/>
          </a:prstGeom>
          <a:solidFill>
            <a:srgbClr val="0B3D62"/>
          </a:solidFill>
          <a:ln w="12700">
            <a:solidFill>
              <a:srgbClr val="0B3D62"/>
            </a:solidFill>
            <a:prstDash val="solid"/>
          </a:ln>
        </p:spPr>
      </p:sp>
      <p:sp>
        <p:nvSpPr>
          <p:cNvPr id="5" name="Text 3"/>
          <p:cNvSpPr/>
          <p:nvPr/>
        </p:nvSpPr>
        <p:spPr>
          <a:xfrm>
            <a:off x="731520" y="22402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1508760" y="2240280"/>
            <a:ext cx="9966960" cy="548640"/>
          </a:xfrm>
          <a:prstGeom prst="rect">
            <a:avLst/>
          </a:prstGeom>
          <a:noFill/>
          <a:ln/>
        </p:spPr>
        <p:txBody>
          <a:bodyPr wrap="square" lIns="0" tIns="0" rIns="0" bIns="0" rtlCol="0" anchor="ctr"/>
          <a:lstStyle/>
          <a:p>
            <a:pPr indent="0" marL="0">
              <a:buNone/>
            </a:pPr>
            <a:r>
              <a:rPr lang="en-US" sz="2400" b="1" dirty="0">
                <a:solidFill>
                  <a:srgbClr val="0B3D62"/>
                </a:solidFill>
                <a:latin typeface="Calibri" pitchFamily="34" charset="0"/>
                <a:ea typeface="Calibri" pitchFamily="34" charset="-122"/>
                <a:cs typeface="Calibri" pitchFamily="34" charset="-120"/>
              </a:rPr>
              <a:t>Estudio 1   </a:t>
            </a:r>
            <a:pPr indent="0" marL="0">
              <a:buNone/>
            </a:pPr>
            <a:r>
              <a:rPr lang="en-US" sz="2400" dirty="0">
                <a:solidFill>
                  <a:srgbClr val="0B3D62"/>
                </a:solidFill>
                <a:latin typeface="Calibri" pitchFamily="34" charset="0"/>
                <a:ea typeface="Calibri" pitchFamily="34" charset="-122"/>
                <a:cs typeface="Calibri" pitchFamily="34" charset="-120"/>
              </a:rPr>
              <a:t>¿Qué forma de rellenar se acercó más a la verdad?</a:t>
            </a:r>
            <a:endParaRPr lang="en-US" sz="2400" dirty="0"/>
          </a:p>
        </p:txBody>
      </p:sp>
      <p:sp>
        <p:nvSpPr>
          <p:cNvPr id="7" name="Shape 5"/>
          <p:cNvSpPr/>
          <p:nvPr/>
        </p:nvSpPr>
        <p:spPr>
          <a:xfrm>
            <a:off x="731520" y="3017520"/>
            <a:ext cx="548640" cy="548640"/>
          </a:xfrm>
          <a:prstGeom prst="ellipse">
            <a:avLst/>
          </a:prstGeom>
          <a:solidFill>
            <a:srgbClr val="0B3D62"/>
          </a:solidFill>
          <a:ln w="12700">
            <a:solidFill>
              <a:srgbClr val="0B3D62"/>
            </a:solidFill>
            <a:prstDash val="solid"/>
          </a:ln>
        </p:spPr>
      </p:sp>
      <p:sp>
        <p:nvSpPr>
          <p:cNvPr id="8" name="Text 6"/>
          <p:cNvSpPr/>
          <p:nvPr/>
        </p:nvSpPr>
        <p:spPr>
          <a:xfrm>
            <a:off x="731520" y="30175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9" name="Text 7"/>
          <p:cNvSpPr/>
          <p:nvPr/>
        </p:nvSpPr>
        <p:spPr>
          <a:xfrm>
            <a:off x="1508760" y="3017520"/>
            <a:ext cx="9966960" cy="548640"/>
          </a:xfrm>
          <a:prstGeom prst="rect">
            <a:avLst/>
          </a:prstGeom>
          <a:noFill/>
          <a:ln/>
        </p:spPr>
        <p:txBody>
          <a:bodyPr wrap="square" lIns="0" tIns="0" rIns="0" bIns="0" rtlCol="0" anchor="ctr"/>
          <a:lstStyle/>
          <a:p>
            <a:pPr indent="0" marL="0">
              <a:buNone/>
            </a:pPr>
            <a:r>
              <a:rPr lang="en-US" sz="2400" b="1" dirty="0">
                <a:solidFill>
                  <a:srgbClr val="0B3D62"/>
                </a:solidFill>
                <a:latin typeface="Calibri" pitchFamily="34" charset="0"/>
                <a:ea typeface="Calibri" pitchFamily="34" charset="-122"/>
                <a:cs typeface="Calibri" pitchFamily="34" charset="-120"/>
              </a:rPr>
              <a:t>Estudio 2   </a:t>
            </a:r>
            <a:pPr indent="0" marL="0">
              <a:buNone/>
            </a:pPr>
            <a:r>
              <a:rPr lang="en-US" sz="2400" dirty="0">
                <a:solidFill>
                  <a:srgbClr val="0B3D62"/>
                </a:solidFill>
                <a:latin typeface="Calibri" pitchFamily="34" charset="0"/>
                <a:ea typeface="Calibri" pitchFamily="34" charset="-122"/>
                <a:cs typeface="Calibri" pitchFamily="34" charset="-120"/>
              </a:rPr>
              <a:t>Tu turno, mira cómo está escrita cada región</a:t>
            </a:r>
            <a:endParaRPr lang="en-US" sz="2400" dirty="0"/>
          </a:p>
        </p:txBody>
      </p:sp>
      <p:sp>
        <p:nvSpPr>
          <p:cNvPr id="10" name="Shape 8"/>
          <p:cNvSpPr/>
          <p:nvPr/>
        </p:nvSpPr>
        <p:spPr>
          <a:xfrm>
            <a:off x="731520" y="3794760"/>
            <a:ext cx="548640" cy="548640"/>
          </a:xfrm>
          <a:prstGeom prst="ellipse">
            <a:avLst/>
          </a:prstGeom>
          <a:solidFill>
            <a:srgbClr val="0B3D62"/>
          </a:solidFill>
          <a:ln w="12700">
            <a:solidFill>
              <a:srgbClr val="0B3D62"/>
            </a:solidFill>
            <a:prstDash val="solid"/>
          </a:ln>
        </p:spPr>
      </p:sp>
      <p:sp>
        <p:nvSpPr>
          <p:cNvPr id="11" name="Text 9"/>
          <p:cNvSpPr/>
          <p:nvPr/>
        </p:nvSpPr>
        <p:spPr>
          <a:xfrm>
            <a:off x="731520" y="37947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Text 10"/>
          <p:cNvSpPr/>
          <p:nvPr/>
        </p:nvSpPr>
        <p:spPr>
          <a:xfrm>
            <a:off x="1508760" y="3794760"/>
            <a:ext cx="9966960" cy="548640"/>
          </a:xfrm>
          <a:prstGeom prst="rect">
            <a:avLst/>
          </a:prstGeom>
          <a:noFill/>
          <a:ln/>
        </p:spPr>
        <p:txBody>
          <a:bodyPr wrap="square" lIns="0" tIns="0" rIns="0" bIns="0" rtlCol="0" anchor="ctr"/>
          <a:lstStyle/>
          <a:p>
            <a:pPr indent="0" marL="0">
              <a:buNone/>
            </a:pPr>
            <a:r>
              <a:rPr lang="en-US" sz="2400" b="1" dirty="0">
                <a:solidFill>
                  <a:srgbClr val="0B3D62"/>
                </a:solidFill>
                <a:latin typeface="Calibri" pitchFamily="34" charset="0"/>
                <a:ea typeface="Calibri" pitchFamily="34" charset="-122"/>
                <a:cs typeface="Calibri" pitchFamily="34" charset="-120"/>
              </a:rPr>
              <a:t>Estudio 3   </a:t>
            </a:r>
            <a:pPr indent="0" marL="0">
              <a:buNone/>
            </a:pPr>
            <a:r>
              <a:rPr lang="en-US" sz="2400" dirty="0">
                <a:solidFill>
                  <a:srgbClr val="0B3D62"/>
                </a:solidFill>
                <a:latin typeface="Calibri" pitchFamily="34" charset="0"/>
                <a:ea typeface="Calibri" pitchFamily="34" charset="-122"/>
                <a:cs typeface="Calibri" pitchFamily="34" charset="-120"/>
              </a:rPr>
              <a:t>¿Cuánto consume una región en una hora normal?</a:t>
            </a:r>
            <a:endParaRPr lang="en-US" sz="2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1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forma de rellenar se acercó más a la verdad?</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el día del Paso 5 comparado con la demanda real.</a:t>
            </a:r>
            <a:endParaRPr lang="en-US" sz="1400" dirty="0"/>
          </a:p>
        </p:txBody>
      </p:sp>
      <p:pic>
        <p:nvPicPr>
          <p:cNvPr id="6" name="Image 0" descr="../work35/modulos/modulo03/img/lab03_paso6_auditoria.png">    </p:cNvPr>
          <p:cNvPicPr>
            <a:picLocks noChangeAspect="1"/>
          </p:cNvPicPr>
          <p:nvPr/>
        </p:nvPicPr>
        <p:blipFill>
          <a:blip r:embed="rId1"/>
          <a:stretch>
            <a:fillRect/>
          </a:stretch>
        </p:blipFill>
        <p:spPr>
          <a:xfrm>
            <a:off x="548640" y="1463040"/>
            <a:ext cx="11091672" cy="4758556"/>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1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forma de rellenar se acercó más a la verdad?</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Compara cada columna con la columna real en las horas que vinieron vacías.</a:t>
            </a:r>
            <a:endParaRPr lang="en-US" sz="1400" dirty="0"/>
          </a:p>
        </p:txBody>
      </p:sp>
      <p:sp>
        <p:nvSpPr>
          <p:cNvPr id="6" name="Shape 4"/>
          <p:cNvSpPr/>
          <p:nvPr/>
        </p:nvSpPr>
        <p:spPr>
          <a:xfrm>
            <a:off x="548640" y="1481328"/>
            <a:ext cx="11091672" cy="2346579"/>
          </a:xfrm>
          <a:prstGeom prst="roundRect">
            <a:avLst>
              <a:gd name="adj" fmla="val 2338"/>
            </a:avLst>
          </a:prstGeom>
          <a:solidFill>
            <a:srgbClr val="F8F9FA"/>
          </a:solidFill>
          <a:ln w="25400">
            <a:solidFill>
              <a:srgbClr val="F9AB00"/>
            </a:solidFill>
            <a:prstDash val="solid"/>
          </a:ln>
        </p:spPr>
      </p:sp>
      <p:sp>
        <p:nvSpPr>
          <p:cNvPr id="7"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8"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9" name="Text 7"/>
          <p:cNvSpPr/>
          <p:nvPr/>
        </p:nvSpPr>
        <p:spPr>
          <a:xfrm>
            <a:off x="1325880" y="1600200"/>
            <a:ext cx="10085832" cy="2154555"/>
          </a:xfrm>
          <a:prstGeom prst="rect">
            <a:avLst/>
          </a:prstGeom>
          <a:noFill/>
          <a:ln/>
        </p:spPr>
        <p:txBody>
          <a:bodyPr wrap="square" lIns="0" tIns="0" rIns="0" bIns="0" rtlCol="0" anchor="t"/>
          <a:lstStyle/>
          <a:p>
            <a:pPr indent="0" marL="0">
              <a:buNone/>
            </a:pPr>
            <a:r>
              <a:rPr lang="en-US" sz="1300" dirty="0">
                <a:solidFill>
                  <a:srgbClr val="188038"/>
                </a:solidFill>
                <a:latin typeface="Courier New" pitchFamily="34" charset="0"/>
                <a:ea typeface="Courier New" pitchFamily="34" charset="-122"/>
                <a:cs typeface="Courier New" pitchFamily="34" charset="-120"/>
              </a:rPr>
              <a:t># Estudio 1</a:t>
            </a:r>
            <a:endParaRPr lang="en-US" sz="1300" dirty="0"/>
          </a:p>
          <a:p>
            <a:pPr indent="0" marL="0">
              <a:buNone/>
            </a:pPr>
            <a:r>
              <a:rPr lang="en-US" sz="1300" dirty="0">
                <a:solidFill>
                  <a:srgbClr val="188038"/>
                </a:solidFill>
                <a:latin typeface="Courier New" pitchFamily="34" charset="0"/>
                <a:ea typeface="Courier New" pitchFamily="34" charset="-122"/>
                <a:cs typeface="Courier New" pitchFamily="34" charset="-120"/>
              </a:rPr>
              <a:t># Este curso tiene algo que el trabajo real no tiene, el archivo original sin errores.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verdad = pd.read_csv(DATOS + </a:t>
            </a:r>
            <a:pPr indent="0" marL="0">
              <a:buNone/>
            </a:pPr>
            <a:r>
              <a:rPr lang="en-US" sz="1300" dirty="0">
                <a:solidFill>
                  <a:srgbClr val="A31515"/>
                </a:solidFill>
                <a:latin typeface="Courier New" pitchFamily="34" charset="0"/>
                <a:ea typeface="Courier New" pitchFamily="34" charset="-122"/>
                <a:cs typeface="Courier New" pitchFamily="34" charset="-120"/>
              </a:rPr>
              <a:t>"demanda.csv"</a:t>
            </a:r>
            <a:pPr indent="0" marL="0">
              <a:buNone/>
            </a:pPr>
            <a:r>
              <a:rPr lang="en-US" sz="1300" dirty="0">
                <a:solidFill>
                  <a:srgbClr val="202124"/>
                </a:solidFill>
                <a:latin typeface="Courier New" pitchFamily="34" charset="0"/>
                <a:ea typeface="Courier New" pitchFamily="34" charset="-122"/>
                <a:cs typeface="Courier New" pitchFamily="34" charset="-120"/>
              </a:rPr>
              <a:t>, parse_dates=[</a:t>
            </a:r>
            <a:pPr indent="0" marL="0">
              <a:buNone/>
            </a:pPr>
            <a:r>
              <a:rPr lang="en-US" sz="1300" dirty="0">
                <a:solidFill>
                  <a:srgbClr val="A31515"/>
                </a:solidFill>
                <a:latin typeface="Courier New" pitchFamily="34" charset="0"/>
                <a:ea typeface="Courier New" pitchFamily="34" charset="-122"/>
                <a:cs typeface="Courier New" pitchFamily="34" charset="-120"/>
              </a:rPr>
              <a:t>"fecha"</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real = verdad[(verdad[</a:t>
            </a:r>
            <a:pPr indent="0" marL="0">
              <a:buNone/>
            </a:pPr>
            <a:r>
              <a:rPr lang="en-US" sz="1300" dirty="0">
                <a:solidFill>
                  <a:srgbClr val="A31515"/>
                </a:solidFill>
                <a:latin typeface="Courier New" pitchFamily="34" charset="0"/>
                <a:ea typeface="Courier New" pitchFamily="34" charset="-122"/>
                <a:cs typeface="Courier New" pitchFamily="34" charset="-120"/>
              </a:rPr>
              <a:t>"region"</a:t>
            </a:r>
            <a:pPr indent="0" marL="0">
              <a:buNone/>
            </a:pPr>
            <a:r>
              <a:rPr lang="en-US" sz="1300" dirty="0">
                <a:solidFill>
                  <a:srgbClr val="202124"/>
                </a:solidFill>
                <a:latin typeface="Courier New" pitchFamily="34" charset="0"/>
                <a:ea typeface="Courier New" pitchFamily="34" charset="-122"/>
                <a:cs typeface="Courier New" pitchFamily="34" charset="-120"/>
              </a:rPr>
              <a:t>] == </a:t>
            </a:r>
            <a:pPr indent="0" marL="0">
              <a:buNone/>
            </a:pPr>
            <a:r>
              <a:rPr lang="en-US" sz="1300" dirty="0">
                <a:solidFill>
                  <a:srgbClr val="A31515"/>
                </a:solidFill>
                <a:latin typeface="Courier New" pitchFamily="34" charset="0"/>
                <a:ea typeface="Courier New" pitchFamily="34" charset="-122"/>
                <a:cs typeface="Courier New" pitchFamily="34" charset="-120"/>
              </a:rPr>
              <a:t>"Valparaíso"</a:t>
            </a:r>
            <a:pPr indent="0" marL="0">
              <a:buNone/>
            </a:pPr>
            <a:r>
              <a:rPr lang="en-US" sz="1300" dirty="0">
                <a:solidFill>
                  <a:srgbClr val="202124"/>
                </a:solidFill>
                <a:latin typeface="Courier New" pitchFamily="34" charset="0"/>
                <a:ea typeface="Courier New" pitchFamily="34" charset="-122"/>
                <a:cs typeface="Courier New" pitchFamily="34" charset="-120"/>
              </a:rPr>
              <a:t>) &amp; (verdad[</a:t>
            </a:r>
            <a:pPr indent="0" marL="0">
              <a:buNone/>
            </a:pPr>
            <a:r>
              <a:rPr lang="en-US" sz="1300" dirty="0">
                <a:solidFill>
                  <a:srgbClr val="A31515"/>
                </a:solidFill>
                <a:latin typeface="Courier New" pitchFamily="34" charset="0"/>
                <a:ea typeface="Courier New" pitchFamily="34" charset="-122"/>
                <a:cs typeface="Courier New" pitchFamily="34" charset="-120"/>
              </a:rPr>
              <a:t>"fecha"</a:t>
            </a:r>
            <a:pPr indent="0" marL="0">
              <a:buNone/>
            </a:pPr>
            <a:r>
              <a:rPr lang="en-US" sz="1300" dirty="0">
                <a:solidFill>
                  <a:srgbClr val="202124"/>
                </a:solidFill>
                <a:latin typeface="Courier New" pitchFamily="34" charset="0"/>
                <a:ea typeface="Courier New" pitchFamily="34" charset="-122"/>
                <a:cs typeface="Courier New" pitchFamily="34" charset="-120"/>
              </a:rPr>
              <a:t>] == </a:t>
            </a:r>
            <a:pPr indent="0" marL="0">
              <a:buNone/>
            </a:pPr>
            <a:r>
              <a:rPr lang="en-US" sz="1300" dirty="0">
                <a:solidFill>
                  <a:srgbClr val="A31515"/>
                </a:solidFill>
                <a:latin typeface="Courier New" pitchFamily="34" charset="0"/>
                <a:ea typeface="Courier New" pitchFamily="34" charset="-122"/>
                <a:cs typeface="Courier New" pitchFamily="34" charset="-120"/>
              </a:rPr>
              <a:t>"2024-09-16"</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188038"/>
                </a:solidFill>
                <a:latin typeface="Courier New" pitchFamily="34" charset="0"/>
                <a:ea typeface="Courier New" pitchFamily="34" charset="-122"/>
                <a:cs typeface="Courier New" pitchFamily="34" charset="-120"/>
              </a:rPr>
              <a:t># Se copia el día del Paso 5 y se le agrega la demanda real de cada hora.</a:t>
            </a:r>
            <a:endParaRPr lang="en-US" sz="1300" dirty="0"/>
          </a:p>
          <a:p>
            <a:pPr indent="0" marL="0">
              <a:buNone/>
            </a:pPr>
            <a:r>
              <a:rPr lang="en-US" sz="1300" dirty="0">
                <a:solidFill>
                  <a:srgbClr val="188038"/>
                </a:solidFill>
                <a:latin typeface="Courier New" pitchFamily="34" charset="0"/>
                <a:ea typeface="Courier New" pitchFamily="34" charset="-122"/>
                <a:cs typeface="Courier New" pitchFamily="34" charset="-120"/>
              </a:rPr>
              <a:t># list toma los 24 valores de real, en orden.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comparar = dia.copy()</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comparar[</a:t>
            </a:r>
            <a:pPr indent="0" marL="0">
              <a:buNone/>
            </a:pPr>
            <a:r>
              <a:rPr lang="en-US" sz="1300" dirty="0">
                <a:solidFill>
                  <a:srgbClr val="A31515"/>
                </a:solidFill>
                <a:latin typeface="Courier New" pitchFamily="34" charset="0"/>
                <a:ea typeface="Courier New" pitchFamily="34" charset="-122"/>
                <a:cs typeface="Courier New" pitchFamily="34" charset="-120"/>
              </a:rPr>
              <a:t>"real"</a:t>
            </a:r>
            <a:pPr indent="0" marL="0">
              <a:buNone/>
            </a:pPr>
            <a:r>
              <a:rPr lang="en-US" sz="1300" dirty="0">
                <a:solidFill>
                  <a:srgbClr val="202124"/>
                </a:solidFill>
                <a:latin typeface="Courier New" pitchFamily="34" charset="0"/>
                <a:ea typeface="Courier New" pitchFamily="34" charset="-122"/>
                <a:cs typeface="Courier New" pitchFamily="34" charset="-120"/>
              </a:rPr>
              <a:t>] = list(real[</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comparar</a:t>
            </a:r>
            <a:endParaRPr lang="en-US" sz="1300" dirty="0"/>
          </a:p>
        </p:txBody>
      </p:sp>
      <p:sp>
        <p:nvSpPr>
          <p:cNvPr id="10" name="Text 8"/>
          <p:cNvSpPr/>
          <p:nvPr/>
        </p:nvSpPr>
        <p:spPr>
          <a:xfrm>
            <a:off x="1325880" y="3855339"/>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1" name="Text 9"/>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2" name="Shape 10"/>
          <p:cNvSpPr/>
          <p:nvPr/>
        </p:nvSpPr>
        <p:spPr>
          <a:xfrm>
            <a:off x="548640" y="6062472"/>
            <a:ext cx="1337767" cy="512064"/>
          </a:xfrm>
          <a:prstGeom prst="roundRect">
            <a:avLst>
              <a:gd name="adj" fmla="val 12500"/>
            </a:avLst>
          </a:prstGeom>
          <a:solidFill>
            <a:srgbClr val="F1F3F4"/>
          </a:solidFill>
          <a:ln w="12700">
            <a:solidFill>
              <a:srgbClr val="DADCE0"/>
            </a:solidFill>
            <a:prstDash val="solid"/>
          </a:ln>
        </p:spPr>
      </p:sp>
      <p:sp>
        <p:nvSpPr>
          <p:cNvPr id="13" name="Text 11"/>
          <p:cNvSpPr/>
          <p:nvPr/>
        </p:nvSpPr>
        <p:spPr>
          <a:xfrm>
            <a:off x="640080" y="6071616"/>
            <a:ext cx="120060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picos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7 × 4</a:t>
            </a:r>
            <a:endParaRPr lang="en-US" sz="1200" dirty="0"/>
          </a:p>
        </p:txBody>
      </p:sp>
      <p:sp>
        <p:nvSpPr>
          <p:cNvPr id="14" name="Shape 12"/>
          <p:cNvSpPr/>
          <p:nvPr/>
        </p:nvSpPr>
        <p:spPr>
          <a:xfrm>
            <a:off x="2023567" y="6062472"/>
            <a:ext cx="1337767" cy="512064"/>
          </a:xfrm>
          <a:prstGeom prst="roundRect">
            <a:avLst>
              <a:gd name="adj" fmla="val 12500"/>
            </a:avLst>
          </a:prstGeom>
          <a:solidFill>
            <a:srgbClr val="F1F3F4"/>
          </a:solidFill>
          <a:ln w="12700">
            <a:solidFill>
              <a:srgbClr val="DADCE0"/>
            </a:solidFill>
            <a:prstDash val="solid"/>
          </a:ln>
        </p:spPr>
      </p:sp>
      <p:sp>
        <p:nvSpPr>
          <p:cNvPr id="15" name="Text 13"/>
          <p:cNvSpPr/>
          <p:nvPr/>
        </p:nvSpPr>
        <p:spPr>
          <a:xfrm>
            <a:off x="2115007" y="6071616"/>
            <a:ext cx="120060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negativas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 × 4</a:t>
            </a:r>
            <a:endParaRPr lang="en-US" sz="1200" dirty="0"/>
          </a:p>
        </p:txBody>
      </p:sp>
      <p:sp>
        <p:nvSpPr>
          <p:cNvPr id="16" name="Shape 14"/>
          <p:cNvSpPr/>
          <p:nvPr/>
        </p:nvSpPr>
        <p:spPr>
          <a:xfrm>
            <a:off x="3498494" y="6062472"/>
            <a:ext cx="1143000" cy="512064"/>
          </a:xfrm>
          <a:prstGeom prst="roundRect">
            <a:avLst>
              <a:gd name="adj" fmla="val 12500"/>
            </a:avLst>
          </a:prstGeom>
          <a:solidFill>
            <a:srgbClr val="F1F3F4"/>
          </a:solidFill>
          <a:ln w="12700">
            <a:solidFill>
              <a:srgbClr val="DADCE0"/>
            </a:solidFill>
            <a:prstDash val="solid"/>
          </a:ln>
        </p:spPr>
      </p:sp>
      <p:sp>
        <p:nvSpPr>
          <p:cNvPr id="17" name="Text 15"/>
          <p:cNvSpPr/>
          <p:nvPr/>
        </p:nvSpPr>
        <p:spPr>
          <a:xfrm>
            <a:off x="3589934"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promedio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892.34…</a:t>
            </a:r>
            <a:endParaRPr lang="en-US" sz="1200" dirty="0"/>
          </a:p>
        </p:txBody>
      </p:sp>
      <p:sp>
        <p:nvSpPr>
          <p:cNvPr id="18" name="Shape 16"/>
          <p:cNvSpPr/>
          <p:nvPr/>
        </p:nvSpPr>
        <p:spPr>
          <a:xfrm>
            <a:off x="4778654" y="6062472"/>
            <a:ext cx="1620317" cy="512064"/>
          </a:xfrm>
          <a:prstGeom prst="roundRect">
            <a:avLst>
              <a:gd name="adj" fmla="val 12500"/>
            </a:avLst>
          </a:prstGeom>
          <a:solidFill>
            <a:srgbClr val="F1F3F4"/>
          </a:solidFill>
          <a:ln w="12700">
            <a:solidFill>
              <a:srgbClr val="DADCE0"/>
            </a:solidFill>
            <a:prstDash val="solid"/>
          </a:ln>
        </p:spPr>
      </p:sp>
      <p:sp>
        <p:nvSpPr>
          <p:cNvPr id="19" name="Text 17"/>
          <p:cNvSpPr/>
          <p:nvPr/>
        </p:nvSpPr>
        <p:spPr>
          <a:xfrm>
            <a:off x="4870094" y="6071616"/>
            <a:ext cx="148315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8784 × 4</a:t>
            </a:r>
            <a:endParaRPr lang="en-US" sz="1200" dirty="0"/>
          </a:p>
        </p:txBody>
      </p:sp>
      <p:sp>
        <p:nvSpPr>
          <p:cNvPr id="20" name="Shape 18"/>
          <p:cNvSpPr/>
          <p:nvPr/>
        </p:nvSpPr>
        <p:spPr>
          <a:xfrm>
            <a:off x="6536131" y="6062472"/>
            <a:ext cx="1143000" cy="512064"/>
          </a:xfrm>
          <a:prstGeom prst="roundRect">
            <a:avLst>
              <a:gd name="adj" fmla="val 12500"/>
            </a:avLst>
          </a:prstGeom>
          <a:solidFill>
            <a:srgbClr val="F1F3F4"/>
          </a:solidFill>
          <a:ln w="12700">
            <a:solidFill>
              <a:srgbClr val="DADCE0"/>
            </a:solidFill>
            <a:prstDash val="solid"/>
          </a:ln>
        </p:spPr>
      </p:sp>
      <p:sp>
        <p:nvSpPr>
          <p:cNvPr id="21" name="Text 19"/>
          <p:cNvSpPr/>
          <p:nvPr/>
        </p:nvSpPr>
        <p:spPr>
          <a:xfrm>
            <a:off x="6627571"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veces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3</a:t>
            </a:r>
            <a:endParaRPr lang="en-US" sz="1200" dirty="0"/>
          </a:p>
        </p:txBody>
      </p:sp>
      <p:sp>
        <p:nvSpPr>
          <p:cNvPr id="22" name="Shape 20"/>
          <p:cNvSpPr/>
          <p:nvPr/>
        </p:nvSpPr>
        <p:spPr>
          <a:xfrm>
            <a:off x="7816291" y="6062472"/>
            <a:ext cx="1714500" cy="512064"/>
          </a:xfrm>
          <a:prstGeom prst="roundRect">
            <a:avLst>
              <a:gd name="adj" fmla="val 12500"/>
            </a:avLst>
          </a:prstGeom>
          <a:solidFill>
            <a:srgbClr val="F1F3F4"/>
          </a:solidFill>
          <a:ln w="12700">
            <a:solidFill>
              <a:srgbClr val="DADCE0"/>
            </a:solidFill>
            <a:prstDash val="solid"/>
          </a:ln>
        </p:spPr>
      </p:sp>
      <p:sp>
        <p:nvSpPr>
          <p:cNvPr id="23" name="Text 21"/>
          <p:cNvSpPr/>
          <p:nvPr/>
        </p:nvSpPr>
        <p:spPr>
          <a:xfrm>
            <a:off x="7907731"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region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"Metropolitana"</a:t>
            </a:r>
            <a:endParaRPr lang="en-US" sz="1200" dirty="0"/>
          </a:p>
        </p:txBody>
      </p:sp>
      <p:sp>
        <p:nvSpPr>
          <p:cNvPr id="24" name="Text 22"/>
          <p:cNvSpPr/>
          <p:nvPr/>
        </p:nvSpPr>
        <p:spPr>
          <a:xfrm>
            <a:off x="9667951" y="6062472"/>
            <a:ext cx="1005840" cy="512064"/>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y 8 más</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1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forma de rellenar se acercó más a la verdad?</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lee esta línea, pieza por pieza</a:t>
            </a:r>
            <a:endParaRPr lang="en-US" sz="1400" dirty="0"/>
          </a:p>
        </p:txBody>
      </p:sp>
      <p:sp>
        <p:nvSpPr>
          <p:cNvPr id="6" name="Shape 4"/>
          <p:cNvSpPr/>
          <p:nvPr/>
        </p:nvSpPr>
        <p:spPr>
          <a:xfrm>
            <a:off x="548640" y="1463040"/>
            <a:ext cx="11091672" cy="484632"/>
          </a:xfrm>
          <a:prstGeom prst="roundRect">
            <a:avLst>
              <a:gd name="adj" fmla="val 11321"/>
            </a:avLst>
          </a:prstGeom>
          <a:solidFill>
            <a:srgbClr val="F8F9FA"/>
          </a:solidFill>
          <a:ln w="12700">
            <a:solidFill>
              <a:srgbClr val="DADCE0"/>
            </a:solidFill>
            <a:prstDash val="solid"/>
          </a:ln>
        </p:spPr>
      </p:sp>
      <p:sp>
        <p:nvSpPr>
          <p:cNvPr id="7" name="Text 5"/>
          <p:cNvSpPr/>
          <p:nvPr/>
        </p:nvSpPr>
        <p:spPr>
          <a:xfrm>
            <a:off x="822960" y="1572768"/>
            <a:ext cx="10634472" cy="265176"/>
          </a:xfrm>
          <a:prstGeom prst="rect">
            <a:avLst/>
          </a:prstGeom>
          <a:noFill/>
          <a:ln/>
        </p:spPr>
        <p:txBody>
          <a:bodyPr wrap="square" lIns="0" tIns="0" rIns="0" bIns="0" rtlCol="0" anchor="t"/>
          <a:lstStyle/>
          <a:p>
            <a:pPr indent="0" marL="0">
              <a:buNone/>
            </a:pPr>
            <a:r>
              <a:rPr lang="en-US" sz="1600" dirty="0">
                <a:solidFill>
                  <a:srgbClr val="202124"/>
                </a:solidFill>
                <a:latin typeface="Courier New" pitchFamily="34" charset="0"/>
                <a:ea typeface="Courier New" pitchFamily="34" charset="-122"/>
                <a:cs typeface="Courier New" pitchFamily="34" charset="-120"/>
              </a:rPr>
              <a:t>comparar[</a:t>
            </a:r>
            <a:pPr indent="0" marL="0">
              <a:buNone/>
            </a:pPr>
            <a:r>
              <a:rPr lang="en-US" sz="1600" dirty="0">
                <a:solidFill>
                  <a:srgbClr val="A31515"/>
                </a:solidFill>
                <a:latin typeface="Courier New" pitchFamily="34" charset="0"/>
                <a:ea typeface="Courier New" pitchFamily="34" charset="-122"/>
                <a:cs typeface="Courier New" pitchFamily="34" charset="-120"/>
              </a:rPr>
              <a:t>"real"</a:t>
            </a:r>
            <a:pPr indent="0" marL="0">
              <a:buNone/>
            </a:pPr>
            <a:r>
              <a:rPr lang="en-US" sz="1600" dirty="0">
                <a:solidFill>
                  <a:srgbClr val="202124"/>
                </a:solidFill>
                <a:latin typeface="Courier New" pitchFamily="34" charset="0"/>
                <a:ea typeface="Courier New" pitchFamily="34" charset="-122"/>
                <a:cs typeface="Courier New" pitchFamily="34" charset="-120"/>
              </a:rPr>
              <a:t>] = list(real[</a:t>
            </a:r>
            <a:pPr indent="0" marL="0">
              <a:buNone/>
            </a:pPr>
            <a:r>
              <a:rPr lang="en-US" sz="1600" dirty="0">
                <a:solidFill>
                  <a:srgbClr val="A31515"/>
                </a:solidFill>
                <a:latin typeface="Courier New" pitchFamily="34" charset="0"/>
                <a:ea typeface="Courier New" pitchFamily="34" charset="-122"/>
                <a:cs typeface="Courier New" pitchFamily="34" charset="-120"/>
              </a:rPr>
              <a:t>"mwh"</a:t>
            </a:r>
            <a:pPr indent="0" marL="0">
              <a:buNone/>
            </a:pPr>
            <a:r>
              <a:rPr lang="en-US" sz="1600" dirty="0">
                <a:solidFill>
                  <a:srgbClr val="202124"/>
                </a:solidFill>
                <a:latin typeface="Courier New" pitchFamily="34" charset="0"/>
                <a:ea typeface="Courier New" pitchFamily="34" charset="-122"/>
                <a:cs typeface="Courier New" pitchFamily="34" charset="-120"/>
              </a:rPr>
              <a:t>])</a:t>
            </a:r>
            <a:endParaRPr lang="en-US" sz="1600" dirty="0"/>
          </a:p>
        </p:txBody>
      </p:sp>
      <p:sp>
        <p:nvSpPr>
          <p:cNvPr id="8" name="Shape 6"/>
          <p:cNvSpPr/>
          <p:nvPr/>
        </p:nvSpPr>
        <p:spPr>
          <a:xfrm>
            <a:off x="548640" y="2322576"/>
            <a:ext cx="329184" cy="329184"/>
          </a:xfrm>
          <a:prstGeom prst="ellipse">
            <a:avLst/>
          </a:prstGeom>
          <a:solidFill>
            <a:srgbClr val="1A6FD4"/>
          </a:solidFill>
          <a:ln w="12700">
            <a:solidFill>
              <a:srgbClr val="1A6FD4"/>
            </a:solidFill>
            <a:prstDash val="solid"/>
          </a:ln>
        </p:spPr>
      </p:sp>
      <p:sp>
        <p:nvSpPr>
          <p:cNvPr id="9" name="Text 7"/>
          <p:cNvSpPr/>
          <p:nvPr/>
        </p:nvSpPr>
        <p:spPr>
          <a:xfrm>
            <a:off x="548640" y="232257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2221992"/>
            <a:ext cx="4937760" cy="530352"/>
          </a:xfrm>
          <a:prstGeom prst="roundRect">
            <a:avLst>
              <a:gd name="adj" fmla="val 8621"/>
            </a:avLst>
          </a:prstGeom>
          <a:solidFill>
            <a:srgbClr val="DBE9FB"/>
          </a:solidFill>
          <a:ln w="12700">
            <a:solidFill>
              <a:srgbClr val="DBE9FB"/>
            </a:solidFill>
            <a:prstDash val="solid"/>
          </a:ln>
        </p:spPr>
      </p:sp>
      <p:sp>
        <p:nvSpPr>
          <p:cNvPr id="11" name="Text 9"/>
          <p:cNvSpPr/>
          <p:nvPr/>
        </p:nvSpPr>
        <p:spPr>
          <a:xfrm>
            <a:off x="1170432" y="2221992"/>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real["mwh"]</a:t>
            </a:r>
            <a:endParaRPr lang="en-US" sz="1400" dirty="0"/>
          </a:p>
        </p:txBody>
      </p:sp>
      <p:sp>
        <p:nvSpPr>
          <p:cNvPr id="12" name="Text 10"/>
          <p:cNvSpPr/>
          <p:nvPr/>
        </p:nvSpPr>
        <p:spPr>
          <a:xfrm>
            <a:off x="6263640" y="2221992"/>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La demanda real de las 24 horas del día.</a:t>
            </a:r>
            <a:endParaRPr lang="en-US" sz="1600" dirty="0"/>
          </a:p>
        </p:txBody>
      </p:sp>
      <p:sp>
        <p:nvSpPr>
          <p:cNvPr id="13" name="Shape 11"/>
          <p:cNvSpPr/>
          <p:nvPr/>
        </p:nvSpPr>
        <p:spPr>
          <a:xfrm>
            <a:off x="548640" y="3035808"/>
            <a:ext cx="329184" cy="329184"/>
          </a:xfrm>
          <a:prstGeom prst="ellipse">
            <a:avLst/>
          </a:prstGeom>
          <a:solidFill>
            <a:srgbClr val="1E8E3E"/>
          </a:solidFill>
          <a:ln w="12700">
            <a:solidFill>
              <a:srgbClr val="1E8E3E"/>
            </a:solidFill>
            <a:prstDash val="solid"/>
          </a:ln>
        </p:spPr>
      </p:sp>
      <p:sp>
        <p:nvSpPr>
          <p:cNvPr id="14" name="Text 12"/>
          <p:cNvSpPr/>
          <p:nvPr/>
        </p:nvSpPr>
        <p:spPr>
          <a:xfrm>
            <a:off x="548640" y="30358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2843784"/>
            <a:ext cx="4937760" cy="713232"/>
          </a:xfrm>
          <a:prstGeom prst="roundRect">
            <a:avLst>
              <a:gd name="adj" fmla="val 6410"/>
            </a:avLst>
          </a:prstGeom>
          <a:solidFill>
            <a:srgbClr val="DCEFE0"/>
          </a:solidFill>
          <a:ln w="12700">
            <a:solidFill>
              <a:srgbClr val="DCEFE0"/>
            </a:solidFill>
            <a:prstDash val="solid"/>
          </a:ln>
        </p:spPr>
      </p:sp>
      <p:sp>
        <p:nvSpPr>
          <p:cNvPr id="16" name="Text 14"/>
          <p:cNvSpPr/>
          <p:nvPr/>
        </p:nvSpPr>
        <p:spPr>
          <a:xfrm>
            <a:off x="1170432" y="2843784"/>
            <a:ext cx="4754880" cy="71323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list( ... )</a:t>
            </a:r>
            <a:endParaRPr lang="en-US" sz="1400" dirty="0"/>
          </a:p>
        </p:txBody>
      </p:sp>
      <p:sp>
        <p:nvSpPr>
          <p:cNvPr id="17" name="Text 15"/>
          <p:cNvSpPr/>
          <p:nvPr/>
        </p:nvSpPr>
        <p:spPr>
          <a:xfrm>
            <a:off x="6263640" y="2843784"/>
            <a:ext cx="5376672" cy="71323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Convierte la columna en una lista de 24 números, en orden, sin el número de fila.</a:t>
            </a:r>
            <a:endParaRPr lang="en-US" sz="1600" dirty="0"/>
          </a:p>
        </p:txBody>
      </p:sp>
      <p:sp>
        <p:nvSpPr>
          <p:cNvPr id="18" name="Shape 16"/>
          <p:cNvSpPr/>
          <p:nvPr/>
        </p:nvSpPr>
        <p:spPr>
          <a:xfrm>
            <a:off x="548640" y="3749040"/>
            <a:ext cx="329184" cy="329184"/>
          </a:xfrm>
          <a:prstGeom prst="ellipse">
            <a:avLst/>
          </a:prstGeom>
          <a:solidFill>
            <a:srgbClr val="B07D00"/>
          </a:solidFill>
          <a:ln w="12700">
            <a:solidFill>
              <a:srgbClr val="B07D00"/>
            </a:solidFill>
            <a:prstDash val="solid"/>
          </a:ln>
        </p:spPr>
      </p:sp>
      <p:sp>
        <p:nvSpPr>
          <p:cNvPr id="19" name="Text 17"/>
          <p:cNvSpPr/>
          <p:nvPr/>
        </p:nvSpPr>
        <p:spPr>
          <a:xfrm>
            <a:off x="548640" y="37490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Shape 18"/>
          <p:cNvSpPr/>
          <p:nvPr/>
        </p:nvSpPr>
        <p:spPr>
          <a:xfrm>
            <a:off x="1051560" y="3648456"/>
            <a:ext cx="4937760" cy="530352"/>
          </a:xfrm>
          <a:prstGeom prst="roundRect">
            <a:avLst>
              <a:gd name="adj" fmla="val 8621"/>
            </a:avLst>
          </a:prstGeom>
          <a:solidFill>
            <a:srgbClr val="FDF0C8"/>
          </a:solidFill>
          <a:ln w="12700">
            <a:solidFill>
              <a:srgbClr val="FDF0C8"/>
            </a:solidFill>
            <a:prstDash val="solid"/>
          </a:ln>
        </p:spPr>
      </p:sp>
      <p:sp>
        <p:nvSpPr>
          <p:cNvPr id="21" name="Text 19"/>
          <p:cNvSpPr/>
          <p:nvPr/>
        </p:nvSpPr>
        <p:spPr>
          <a:xfrm>
            <a:off x="1170432" y="3648456"/>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comparar["real"] =</a:t>
            </a:r>
            <a:endParaRPr lang="en-US" sz="1400" dirty="0"/>
          </a:p>
        </p:txBody>
      </p:sp>
      <p:sp>
        <p:nvSpPr>
          <p:cNvPr id="22" name="Text 20"/>
          <p:cNvSpPr/>
          <p:nvPr/>
        </p:nvSpPr>
        <p:spPr>
          <a:xfrm>
            <a:off x="6263640" y="3648456"/>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Pone esa lista como columna nueva, fila por fila.</a:t>
            </a:r>
            <a:endParaRPr lang="en-US" sz="1600" dirty="0"/>
          </a:p>
        </p:txBody>
      </p:sp>
      <p:sp>
        <p:nvSpPr>
          <p:cNvPr id="23" name="Shape 21"/>
          <p:cNvSpPr/>
          <p:nvPr/>
        </p:nvSpPr>
        <p:spPr>
          <a:xfrm>
            <a:off x="548640" y="5989320"/>
            <a:ext cx="73152" cy="548640"/>
          </a:xfrm>
          <a:prstGeom prst="rect">
            <a:avLst/>
          </a:prstGeom>
          <a:solidFill>
            <a:srgbClr val="0B3D62"/>
          </a:solidFill>
          <a:ln w="12700">
            <a:solidFill>
              <a:srgbClr val="0B3D62"/>
            </a:solidFill>
            <a:prstDash val="solid"/>
          </a:ln>
        </p:spPr>
      </p:sp>
      <p:sp>
        <p:nvSpPr>
          <p:cNvPr id="24" name="Text 22"/>
          <p:cNvSpPr/>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toma los 24 valores reales y ponlos al lado del día, en una columna llamada real.</a:t>
            </a:r>
            <a:endParaRPr lang="en-US" sz="15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1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forma de rellenar se acercó más a la verdad?</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Compara cada columna con la columna real en las horas que vinieron vacías.</a:t>
            </a:r>
            <a:endParaRPr lang="en-US" sz="1400" dirty="0"/>
          </a:p>
        </p:txBody>
      </p:sp>
      <p:sp>
        <p:nvSpPr>
          <p:cNvPr id="6" name="Text 4"/>
          <p:cNvSpPr/>
          <p:nvPr/>
        </p:nvSpPr>
        <p:spPr>
          <a:xfrm>
            <a:off x="548640" y="1481328"/>
            <a:ext cx="5486400" cy="274320"/>
          </a:xfrm>
          <a:prstGeom prst="rect">
            <a:avLst/>
          </a:prstGeom>
          <a:noFill/>
          <a:ln/>
        </p:spPr>
        <p:txBody>
          <a:bodyPr wrap="square" lIns="0" tIns="0" rIns="0" bIns="0" rtlCol="0" anchor="ctr"/>
          <a:lstStyle/>
          <a:p>
            <a:pPr indent="0" marL="0">
              <a:buNone/>
            </a:pPr>
            <a:r>
              <a:rPr lang="en-US" sz="1300" b="1" dirty="0">
                <a:solidFill>
                  <a:srgbClr val="5F6368"/>
                </a:solidFill>
                <a:latin typeface="Calibri" pitchFamily="34" charset="0"/>
                <a:ea typeface="Calibri" pitchFamily="34" charset="-122"/>
                <a:cs typeface="Calibri" pitchFamily="34" charset="-120"/>
              </a:rPr>
              <a:t>Respuesta de la celda</a:t>
            </a:r>
            <a:endParaRPr lang="en-US" sz="13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325880" y="1828800"/>
          <a:ext cx="9144000" cy="914400"/>
        </p:xfrm>
        <a:graphic>
          <a:graphicData uri="http://schemas.openxmlformats.org/drawingml/2006/table">
            <a:tbl>
              <a:tblPr/>
              <a:tblGrid>
                <a:gridCol w="681228"/>
                <a:gridCol w="1179576"/>
                <a:gridCol w="581558"/>
                <a:gridCol w="1179576"/>
                <a:gridCol w="780898"/>
                <a:gridCol w="1179576"/>
                <a:gridCol w="1777594"/>
                <a:gridCol w="1378915"/>
                <a:gridCol w="780898"/>
              </a:tblGrid>
              <a:tr h="237744">
                <a:tc>
                  <a:txBody>
                    <a:bodyPr/>
                    <a:lstStyle/>
                    <a:p>
                      <a:pPr indent="0" marL="0">
                        <a:buNone/>
                      </a:pP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fecha</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hora</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region</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mwh</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poner_cero</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repetir_anterior</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trazar_recta</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real</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32579</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2024-09-16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Valparaíso</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177.03</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177.03</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177.03</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177.03</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177.03</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32580</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2024-09-16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Valparaíso</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NaN</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0.00</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177.03</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173.35</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168.14</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32581</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2024-09-16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Valparaíso</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NaN</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0.00</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177.03</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169.66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167.37</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32582</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2024-09-16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Valparaíso</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165.98</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165.98</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165.98</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165.98</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165.98</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32583</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2024-09-16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Valparaíso</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164.67</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164.67</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164.67</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164.67</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164.67</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32584</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2024-09-16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5</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Valparaíso</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179.25</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179.25</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179.25</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179.25</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179.25</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32585</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2024-09-16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Valparaíso</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191.42</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191.42</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191.42</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191.42</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191.42</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32586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2024-09-16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7</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Valparaíso</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222.46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222.46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222.46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222.46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222.46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32587</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2024-09-16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8</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Valparaíso</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NaN</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0.00</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222.46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230.77</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234.15</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32588</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2024-09-16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9</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Valparaíso</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NaN</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0.00</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222.46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239.08</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241.76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32589</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2024-09-16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10</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Valparaíso</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247.39</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247.39</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247.39</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247.39</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247.39</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32590</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2024-09-16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11</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Valparaíso</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259.55</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259.55</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259.55</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259.55</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259.55</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bl>
          </a:graphicData>
        </a:graphic>
      </p:graphicFrame>
      <p:sp>
        <p:nvSpPr>
          <p:cNvPr id="8" name="Text 5"/>
          <p:cNvSpPr/>
          <p:nvPr/>
        </p:nvSpPr>
        <p:spPr>
          <a:xfrm>
            <a:off x="1325880" y="5010912"/>
            <a:ext cx="7315200" cy="256032"/>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 y 12 filas más, 24 en total. En Colab se ven todas.</a:t>
            </a:r>
            <a:endParaRPr lang="en-US" sz="1200" dirty="0"/>
          </a:p>
        </p:txBody>
      </p:sp>
      <p:sp>
        <p:nvSpPr>
          <p:cNvPr id="9" name="Text 6"/>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0" name="Shape 7"/>
          <p:cNvSpPr/>
          <p:nvPr/>
        </p:nvSpPr>
        <p:spPr>
          <a:xfrm>
            <a:off x="548640" y="6062472"/>
            <a:ext cx="1714500" cy="512064"/>
          </a:xfrm>
          <a:prstGeom prst="roundRect">
            <a:avLst>
              <a:gd name="adj" fmla="val 12500"/>
            </a:avLst>
          </a:prstGeom>
          <a:solidFill>
            <a:srgbClr val="FEF3D6"/>
          </a:solidFill>
          <a:ln w="25400">
            <a:solidFill>
              <a:srgbClr val="F9AB00"/>
            </a:solidFill>
            <a:prstDash val="solid"/>
          </a:ln>
        </p:spPr>
      </p:sp>
      <p:sp>
        <p:nvSpPr>
          <p:cNvPr id="11" name="Text 8"/>
          <p:cNvSpPr/>
          <p:nvPr/>
        </p:nvSpPr>
        <p:spPr>
          <a:xfrm>
            <a:off x="640080"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verdad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61488 × 4</a:t>
            </a:r>
            <a:endParaRPr lang="en-US" sz="1200" dirty="0"/>
          </a:p>
        </p:txBody>
      </p:sp>
      <p:sp>
        <p:nvSpPr>
          <p:cNvPr id="12" name="Shape 9"/>
          <p:cNvSpPr/>
          <p:nvPr/>
        </p:nvSpPr>
        <p:spPr>
          <a:xfrm>
            <a:off x="2400300" y="6062472"/>
            <a:ext cx="1431950" cy="512064"/>
          </a:xfrm>
          <a:prstGeom prst="roundRect">
            <a:avLst>
              <a:gd name="adj" fmla="val 12500"/>
            </a:avLst>
          </a:prstGeom>
          <a:solidFill>
            <a:srgbClr val="FEF3D6"/>
          </a:solidFill>
          <a:ln w="25400">
            <a:solidFill>
              <a:srgbClr val="F9AB00"/>
            </a:solidFill>
            <a:prstDash val="solid"/>
          </a:ln>
        </p:spPr>
      </p:sp>
      <p:sp>
        <p:nvSpPr>
          <p:cNvPr id="13" name="Text 10"/>
          <p:cNvSpPr/>
          <p:nvPr/>
        </p:nvSpPr>
        <p:spPr>
          <a:xfrm>
            <a:off x="2491740" y="6071616"/>
            <a:ext cx="129479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real</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24 × 4</a:t>
            </a:r>
            <a:endParaRPr lang="en-US" sz="1200" dirty="0"/>
          </a:p>
        </p:txBody>
      </p:sp>
      <p:sp>
        <p:nvSpPr>
          <p:cNvPr id="14" name="Shape 11"/>
          <p:cNvSpPr/>
          <p:nvPr/>
        </p:nvSpPr>
        <p:spPr>
          <a:xfrm>
            <a:off x="3969410" y="6062472"/>
            <a:ext cx="1431950" cy="512064"/>
          </a:xfrm>
          <a:prstGeom prst="roundRect">
            <a:avLst>
              <a:gd name="adj" fmla="val 12500"/>
            </a:avLst>
          </a:prstGeom>
          <a:solidFill>
            <a:srgbClr val="FEF3D6"/>
          </a:solidFill>
          <a:ln w="25400">
            <a:solidFill>
              <a:srgbClr val="F9AB00"/>
            </a:solidFill>
            <a:prstDash val="solid"/>
          </a:ln>
        </p:spPr>
      </p:sp>
      <p:sp>
        <p:nvSpPr>
          <p:cNvPr id="15" name="Text 12"/>
          <p:cNvSpPr/>
          <p:nvPr/>
        </p:nvSpPr>
        <p:spPr>
          <a:xfrm>
            <a:off x="4060850" y="6071616"/>
            <a:ext cx="129479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comparar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24 × 8</a:t>
            </a:r>
            <a:endParaRPr lang="en-US" sz="1200" dirty="0"/>
          </a:p>
        </p:txBody>
      </p:sp>
      <p:sp>
        <p:nvSpPr>
          <p:cNvPr id="16" name="Shape 13"/>
          <p:cNvSpPr/>
          <p:nvPr/>
        </p:nvSpPr>
        <p:spPr>
          <a:xfrm>
            <a:off x="5538521" y="6062472"/>
            <a:ext cx="2750515" cy="512064"/>
          </a:xfrm>
          <a:prstGeom prst="roundRect">
            <a:avLst>
              <a:gd name="adj" fmla="val 12500"/>
            </a:avLst>
          </a:prstGeom>
          <a:solidFill>
            <a:srgbClr val="E8F0FE"/>
          </a:solidFill>
          <a:ln w="28575">
            <a:solidFill>
              <a:srgbClr val="1A73E8"/>
            </a:solidFill>
            <a:prstDash val="solid"/>
          </a:ln>
        </p:spPr>
      </p:sp>
      <p:sp>
        <p:nvSpPr>
          <p:cNvPr id="17" name="Text 14"/>
          <p:cNvSpPr/>
          <p:nvPr/>
        </p:nvSpPr>
        <p:spPr>
          <a:xfrm>
            <a:off x="5629961" y="6071616"/>
            <a:ext cx="2613355"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
        <p:nvSpPr>
          <p:cNvPr id="18" name="Shape 15"/>
          <p:cNvSpPr/>
          <p:nvPr/>
        </p:nvSpPr>
        <p:spPr>
          <a:xfrm>
            <a:off x="8426196" y="6062472"/>
            <a:ext cx="1143000" cy="512064"/>
          </a:xfrm>
          <a:prstGeom prst="roundRect">
            <a:avLst>
              <a:gd name="adj" fmla="val 12500"/>
            </a:avLst>
          </a:prstGeom>
          <a:solidFill>
            <a:srgbClr val="E8F0FE"/>
          </a:solidFill>
          <a:ln w="28575">
            <a:solidFill>
              <a:srgbClr val="1A73E8"/>
            </a:solidFill>
            <a:prstDash val="solid"/>
          </a:ln>
        </p:spPr>
      </p:sp>
      <p:sp>
        <p:nvSpPr>
          <p:cNvPr id="19" name="Text 16"/>
          <p:cNvSpPr/>
          <p:nvPr/>
        </p:nvSpPr>
        <p:spPr>
          <a:xfrm>
            <a:off x="8517636"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20" name="Text 17"/>
          <p:cNvSpPr/>
          <p:nvPr/>
        </p:nvSpPr>
        <p:spPr>
          <a:xfrm>
            <a:off x="9706356" y="6062472"/>
            <a:ext cx="1005840" cy="512064"/>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y 12 más</a:t>
            </a:r>
            <a:endParaRPr lang="en-US" sz="1200" dirty="0"/>
          </a:p>
        </p:txBody>
      </p:sp>
      <p:sp>
        <p:nvSpPr>
          <p:cNvPr id="21" name="Text 18"/>
          <p:cNvSpPr/>
          <p:nvPr/>
        </p:nvSpPr>
        <p:spPr>
          <a:xfrm>
            <a:off x="548640" y="6592824"/>
            <a:ext cx="11091672" cy="219456"/>
          </a:xfrm>
          <a:prstGeom prst="rect">
            <a:avLst/>
          </a:prstGeom>
          <a:noFill/>
          <a:ln/>
        </p:spPr>
        <p:txBody>
          <a:bodyPr wrap="square" lIns="0" tIns="0" rIns="0" bIns="0" rtlCol="0" anchor="ctr"/>
          <a:lstStyle/>
          <a:p>
            <a:pPr indent="0" marL="0">
              <a:buNone/>
            </a:pPr>
            <a:r>
              <a:rPr lang="en-US" sz="1300" dirty="0">
                <a:solidFill>
                  <a:srgbClr val="0B3D62"/>
                </a:solidFill>
                <a:latin typeface="Calibri" pitchFamily="34" charset="0"/>
                <a:ea typeface="Calibri" pitchFamily="34" charset="-122"/>
                <a:cs typeface="Calibri" pitchFamily="34" charset="-120"/>
              </a:rPr>
              <a:t>En las horas vacías la recta queda a pocos MWh de la real. Cero queda a cerca de 200.</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1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forma de rellenar se acercó más a la verdad?</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hay que llevarse de este paso.</a:t>
            </a:r>
            <a:endParaRPr lang="en-US" sz="1400" dirty="0"/>
          </a:p>
        </p:txBody>
      </p:sp>
      <p:sp>
        <p:nvSpPr>
          <p:cNvPr id="6" name="Shape 4"/>
          <p:cNvSpPr/>
          <p:nvPr/>
        </p:nvSpPr>
        <p:spPr>
          <a:xfrm>
            <a:off x="548640" y="1828800"/>
            <a:ext cx="11091672" cy="2377440"/>
          </a:xfrm>
          <a:prstGeom prst="roundRect">
            <a:avLst>
              <a:gd name="adj" fmla="val 3846"/>
            </a:avLst>
          </a:prstGeom>
          <a:solidFill>
            <a:srgbClr val="FFF8D6"/>
          </a:solidFill>
          <a:ln w="12700">
            <a:solidFill>
              <a:srgbClr val="FFF8D6"/>
            </a:solidFill>
            <a:prstDash val="solid"/>
          </a:ln>
        </p:spPr>
      </p:sp>
      <p:sp>
        <p:nvSpPr>
          <p:cNvPr id="7" name="Text 5"/>
          <p:cNvSpPr/>
          <p:nvPr/>
        </p:nvSpPr>
        <p:spPr>
          <a:xfrm>
            <a:off x="1005840" y="2057400"/>
            <a:ext cx="10177272" cy="1005840"/>
          </a:xfrm>
          <a:prstGeom prst="rect">
            <a:avLst/>
          </a:prstGeom>
          <a:noFill/>
          <a:ln/>
        </p:spPr>
        <p:txBody>
          <a:bodyPr wrap="square" lIns="0" tIns="0" rIns="0" bIns="0" rtlCol="0" anchor="t"/>
          <a:lstStyle/>
          <a:p>
            <a:pPr indent="0" marL="0">
              <a:buNone/>
            </a:pPr>
            <a:r>
              <a:rPr lang="en-US" sz="2800" b="1" dirty="0">
                <a:solidFill>
                  <a:srgbClr val="8A6D00"/>
                </a:solidFill>
                <a:latin typeface="Calibri" pitchFamily="34" charset="0"/>
                <a:ea typeface="Calibri" pitchFamily="34" charset="-122"/>
                <a:cs typeface="Calibri" pitchFamily="34" charset="-120"/>
              </a:rPr>
              <a:t>Lo que suena razonable se mide cuando se puede.</a:t>
            </a:r>
            <a:endParaRPr lang="en-US" sz="2800" dirty="0"/>
          </a:p>
        </p:txBody>
      </p:sp>
      <p:sp>
        <p:nvSpPr>
          <p:cNvPr id="8" name="Text 6"/>
          <p:cNvSpPr/>
          <p:nvPr/>
        </p:nvSpPr>
        <p:spPr>
          <a:xfrm>
            <a:off x="1005840" y="3154680"/>
            <a:ext cx="10177272" cy="914400"/>
          </a:xfrm>
          <a:prstGeom prst="rect">
            <a:avLst/>
          </a:prstGeom>
          <a:noFill/>
          <a:ln/>
        </p:spPr>
        <p:txBody>
          <a:bodyPr wrap="square" lIns="0" tIns="0" rIns="0" bIns="0" rtlCol="0" anchor="t"/>
          <a:lstStyle/>
          <a:p>
            <a:pPr indent="0" marL="0">
              <a:buNone/>
            </a:pPr>
            <a:r>
              <a:rPr lang="en-US" sz="2200" dirty="0">
                <a:solidFill>
                  <a:srgbClr val="202124"/>
                </a:solidFill>
                <a:latin typeface="Calibri" pitchFamily="34" charset="0"/>
                <a:ea typeface="Calibri" pitchFamily="34" charset="-122"/>
                <a:cs typeface="Calibri" pitchFamily="34" charset="-120"/>
              </a:rPr>
              <a:t>En el trabajo real no existe el original, por eso la forma de rellenar se elige con criterio y se deja escrita.</a:t>
            </a:r>
            <a:endParaRPr lang="en-US" sz="2200" dirty="0"/>
          </a:p>
        </p:txBody>
      </p:sp>
      <p:sp>
        <p:nvSpPr>
          <p:cNvPr id="9" name="Text 7"/>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0" name="Shape 8"/>
          <p:cNvSpPr/>
          <p:nvPr/>
        </p:nvSpPr>
        <p:spPr>
          <a:xfrm>
            <a:off x="548640" y="6062472"/>
            <a:ext cx="1714500" cy="512064"/>
          </a:xfrm>
          <a:prstGeom prst="roundRect">
            <a:avLst>
              <a:gd name="adj" fmla="val 12500"/>
            </a:avLst>
          </a:prstGeom>
          <a:solidFill>
            <a:srgbClr val="FEF3D6"/>
          </a:solidFill>
          <a:ln w="25400">
            <a:solidFill>
              <a:srgbClr val="F9AB00"/>
            </a:solidFill>
            <a:prstDash val="solid"/>
          </a:ln>
        </p:spPr>
      </p:sp>
      <p:sp>
        <p:nvSpPr>
          <p:cNvPr id="11" name="Text 9"/>
          <p:cNvSpPr/>
          <p:nvPr/>
        </p:nvSpPr>
        <p:spPr>
          <a:xfrm>
            <a:off x="640080"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verdad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61488 × 4</a:t>
            </a:r>
            <a:endParaRPr lang="en-US" sz="1200" dirty="0"/>
          </a:p>
        </p:txBody>
      </p:sp>
      <p:sp>
        <p:nvSpPr>
          <p:cNvPr id="12" name="Shape 10"/>
          <p:cNvSpPr/>
          <p:nvPr/>
        </p:nvSpPr>
        <p:spPr>
          <a:xfrm>
            <a:off x="2400300" y="6062472"/>
            <a:ext cx="1431950" cy="512064"/>
          </a:xfrm>
          <a:prstGeom prst="roundRect">
            <a:avLst>
              <a:gd name="adj" fmla="val 12500"/>
            </a:avLst>
          </a:prstGeom>
          <a:solidFill>
            <a:srgbClr val="FEF3D6"/>
          </a:solidFill>
          <a:ln w="25400">
            <a:solidFill>
              <a:srgbClr val="F9AB00"/>
            </a:solidFill>
            <a:prstDash val="solid"/>
          </a:ln>
        </p:spPr>
      </p:sp>
      <p:sp>
        <p:nvSpPr>
          <p:cNvPr id="13" name="Text 11"/>
          <p:cNvSpPr/>
          <p:nvPr/>
        </p:nvSpPr>
        <p:spPr>
          <a:xfrm>
            <a:off x="2491740" y="6071616"/>
            <a:ext cx="129479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real</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24 × 4</a:t>
            </a:r>
            <a:endParaRPr lang="en-US" sz="1200" dirty="0"/>
          </a:p>
        </p:txBody>
      </p:sp>
      <p:sp>
        <p:nvSpPr>
          <p:cNvPr id="14" name="Shape 12"/>
          <p:cNvSpPr/>
          <p:nvPr/>
        </p:nvSpPr>
        <p:spPr>
          <a:xfrm>
            <a:off x="3969410" y="6062472"/>
            <a:ext cx="1431950" cy="512064"/>
          </a:xfrm>
          <a:prstGeom prst="roundRect">
            <a:avLst>
              <a:gd name="adj" fmla="val 12500"/>
            </a:avLst>
          </a:prstGeom>
          <a:solidFill>
            <a:srgbClr val="FEF3D6"/>
          </a:solidFill>
          <a:ln w="25400">
            <a:solidFill>
              <a:srgbClr val="F9AB00"/>
            </a:solidFill>
            <a:prstDash val="solid"/>
          </a:ln>
        </p:spPr>
      </p:sp>
      <p:sp>
        <p:nvSpPr>
          <p:cNvPr id="15" name="Text 13"/>
          <p:cNvSpPr/>
          <p:nvPr/>
        </p:nvSpPr>
        <p:spPr>
          <a:xfrm>
            <a:off x="4060850" y="6071616"/>
            <a:ext cx="129479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comparar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24 × 8</a:t>
            </a:r>
            <a:endParaRPr lang="en-US" sz="1200" dirty="0"/>
          </a:p>
        </p:txBody>
      </p:sp>
      <p:sp>
        <p:nvSpPr>
          <p:cNvPr id="16" name="Shape 14"/>
          <p:cNvSpPr/>
          <p:nvPr/>
        </p:nvSpPr>
        <p:spPr>
          <a:xfrm>
            <a:off x="5538521" y="6062472"/>
            <a:ext cx="2750515" cy="512064"/>
          </a:xfrm>
          <a:prstGeom prst="roundRect">
            <a:avLst>
              <a:gd name="adj" fmla="val 12500"/>
            </a:avLst>
          </a:prstGeom>
          <a:solidFill>
            <a:srgbClr val="E8F0FE"/>
          </a:solidFill>
          <a:ln w="28575">
            <a:solidFill>
              <a:srgbClr val="1A73E8"/>
            </a:solidFill>
            <a:prstDash val="solid"/>
          </a:ln>
        </p:spPr>
      </p:sp>
      <p:sp>
        <p:nvSpPr>
          <p:cNvPr id="17" name="Text 15"/>
          <p:cNvSpPr/>
          <p:nvPr/>
        </p:nvSpPr>
        <p:spPr>
          <a:xfrm>
            <a:off x="5629961" y="6071616"/>
            <a:ext cx="2613355"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
        <p:nvSpPr>
          <p:cNvPr id="18" name="Shape 16"/>
          <p:cNvSpPr/>
          <p:nvPr/>
        </p:nvSpPr>
        <p:spPr>
          <a:xfrm>
            <a:off x="8426196" y="6062472"/>
            <a:ext cx="1143000" cy="512064"/>
          </a:xfrm>
          <a:prstGeom prst="roundRect">
            <a:avLst>
              <a:gd name="adj" fmla="val 12500"/>
            </a:avLst>
          </a:prstGeom>
          <a:solidFill>
            <a:srgbClr val="E8F0FE"/>
          </a:solidFill>
          <a:ln w="28575">
            <a:solidFill>
              <a:srgbClr val="1A73E8"/>
            </a:solidFill>
            <a:prstDash val="solid"/>
          </a:ln>
        </p:spPr>
      </p:sp>
      <p:sp>
        <p:nvSpPr>
          <p:cNvPr id="19" name="Text 17"/>
          <p:cNvSpPr/>
          <p:nvPr/>
        </p:nvSpPr>
        <p:spPr>
          <a:xfrm>
            <a:off x="8517636"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20" name="Text 18"/>
          <p:cNvSpPr/>
          <p:nvPr/>
        </p:nvSpPr>
        <p:spPr>
          <a:xfrm>
            <a:off x="9706356" y="6062472"/>
            <a:ext cx="1005840" cy="512064"/>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y 12 más</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2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mira cómo está escrita cada región</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cuántas formas distintas tiene Biobío y cómo quedan después del Paso 3.</a:t>
            </a:r>
            <a:endParaRPr lang="en-US" sz="1400" dirty="0"/>
          </a:p>
        </p:txBody>
      </p:sp>
      <p:pic>
        <p:nvPicPr>
          <p:cNvPr id="6" name="Image 0" descr="../work35/modulos/modulo03/img/lab03_estudio2_formas.png">    </p:cNvPr>
          <p:cNvPicPr>
            <a:picLocks noChangeAspect="1"/>
          </p:cNvPicPr>
          <p:nvPr/>
        </p:nvPicPr>
        <p:blipFill>
          <a:blip r:embed="rId1"/>
          <a:stretch>
            <a:fillRect/>
          </a:stretch>
        </p:blipFill>
        <p:spPr>
          <a:xfrm>
            <a:off x="548640" y="1463040"/>
            <a:ext cx="11091672" cy="453164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2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mira cómo está escrita cada región</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Mueve el deslizador para ver más filas y vuelve a correr la celda. Las siete primeras son las bien escritas.</a:t>
            </a:r>
            <a:endParaRPr lang="en-US" sz="1400" dirty="0"/>
          </a:p>
        </p:txBody>
      </p:sp>
      <p:sp>
        <p:nvSpPr>
          <p:cNvPr id="6" name="Shape 4"/>
          <p:cNvSpPr/>
          <p:nvPr/>
        </p:nvSpPr>
        <p:spPr>
          <a:xfrm>
            <a:off x="548640" y="1481328"/>
            <a:ext cx="11091672" cy="1269302"/>
          </a:xfrm>
          <a:prstGeom prst="roundRect">
            <a:avLst>
              <a:gd name="adj" fmla="val 4322"/>
            </a:avLst>
          </a:prstGeom>
          <a:solidFill>
            <a:srgbClr val="F8F9FA"/>
          </a:solidFill>
          <a:ln w="25400">
            <a:solidFill>
              <a:srgbClr val="F9AB00"/>
            </a:solidFill>
            <a:prstDash val="solid"/>
          </a:ln>
        </p:spPr>
      </p:sp>
      <p:sp>
        <p:nvSpPr>
          <p:cNvPr id="7"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8"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9" name="Text 7"/>
          <p:cNvSpPr/>
          <p:nvPr/>
        </p:nvSpPr>
        <p:spPr>
          <a:xfrm>
            <a:off x="1325880" y="1600200"/>
            <a:ext cx="7360920" cy="1077278"/>
          </a:xfrm>
          <a:prstGeom prst="rect">
            <a:avLst/>
          </a:prstGeom>
          <a:noFill/>
          <a:ln/>
        </p:spPr>
        <p:txBody>
          <a:bodyPr wrap="square" lIns="0" tIns="0" rIns="0" bIns="0" rtlCol="0" anchor="t"/>
          <a:lstStyle/>
          <a:p>
            <a:pPr indent="0" marL="0">
              <a:buNone/>
            </a:pPr>
            <a:r>
              <a:rPr lang="en-US" sz="1300" dirty="0">
                <a:solidFill>
                  <a:srgbClr val="188038"/>
                </a:solidFill>
                <a:latin typeface="Courier New" pitchFamily="34" charset="0"/>
                <a:ea typeface="Courier New" pitchFamily="34" charset="-122"/>
                <a:cs typeface="Courier New" pitchFamily="34" charset="-120"/>
              </a:rPr>
              <a:t># Estudio 2</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cuantas = 12 </a:t>
            </a:r>
            <a:pPr indent="0" marL="0">
              <a:buNone/>
            </a:pPr>
            <a:r>
              <a:rPr lang="en-US" sz="1300" dirty="0">
                <a:solidFill>
                  <a:srgbClr val="80868B"/>
                </a:solidFill>
                <a:latin typeface="Courier New" pitchFamily="34" charset="0"/>
                <a:ea typeface="Courier New" pitchFamily="34" charset="-122"/>
                <a:cs typeface="Courier New" pitchFamily="34" charset="-120"/>
              </a:rPr>
              <a:t>#@param {type:"slider", min:5, max:49, step:1}</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188038"/>
                </a:solidFill>
                <a:latin typeface="Courier New" pitchFamily="34" charset="0"/>
                <a:ea typeface="Courier New" pitchFamily="34" charset="-122"/>
                <a:cs typeface="Courier New" pitchFamily="34" charset="-120"/>
              </a:rPr>
              <a:t># value_counts cuenta cuántas veces aparece cada forma, de mayor a menor.</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sucia[</a:t>
            </a:r>
            <a:pPr indent="0" marL="0">
              <a:buNone/>
            </a:pPr>
            <a:r>
              <a:rPr lang="en-US" sz="1300" dirty="0">
                <a:solidFill>
                  <a:srgbClr val="A31515"/>
                </a:solidFill>
                <a:latin typeface="Courier New" pitchFamily="34" charset="0"/>
                <a:ea typeface="Courier New" pitchFamily="34" charset="-122"/>
                <a:cs typeface="Courier New" pitchFamily="34" charset="-120"/>
              </a:rPr>
              <a:t>"region"</a:t>
            </a:r>
            <a:pPr indent="0" marL="0">
              <a:buNone/>
            </a:pPr>
            <a:r>
              <a:rPr lang="en-US" sz="1300" dirty="0">
                <a:solidFill>
                  <a:srgbClr val="202124"/>
                </a:solidFill>
                <a:latin typeface="Courier New" pitchFamily="34" charset="0"/>
                <a:ea typeface="Courier New" pitchFamily="34" charset="-122"/>
                <a:cs typeface="Courier New" pitchFamily="34" charset="-120"/>
              </a:rPr>
              <a:t>].value_counts().head(cuantas)</a:t>
            </a:r>
            <a:endParaRPr lang="en-US" sz="1300" dirty="0"/>
          </a:p>
        </p:txBody>
      </p:sp>
      <p:sp>
        <p:nvSpPr>
          <p:cNvPr id="10" name="Text 8"/>
          <p:cNvSpPr/>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cuantas</a:t>
            </a:r>
            <a:endParaRPr lang="en-US" sz="1100" dirty="0"/>
          </a:p>
        </p:txBody>
      </p:sp>
      <p:sp>
        <p:nvSpPr>
          <p:cNvPr id="11" name="Shape 9"/>
          <p:cNvSpPr/>
          <p:nvPr/>
        </p:nvSpPr>
        <p:spPr>
          <a:xfrm>
            <a:off x="8823960" y="2002536"/>
            <a:ext cx="1965960" cy="45720"/>
          </a:xfrm>
          <a:prstGeom prst="rect">
            <a:avLst/>
          </a:prstGeom>
          <a:solidFill>
            <a:srgbClr val="C4C7C5"/>
          </a:solidFill>
          <a:ln w="12700">
            <a:solidFill>
              <a:srgbClr val="C4C7C5"/>
            </a:solidFill>
            <a:prstDash val="solid"/>
          </a:ln>
        </p:spPr>
      </p:sp>
      <p:sp>
        <p:nvSpPr>
          <p:cNvPr id="12" name="Shape 10"/>
          <p:cNvSpPr/>
          <p:nvPr/>
        </p:nvSpPr>
        <p:spPr>
          <a:xfrm>
            <a:off x="8823960" y="2002536"/>
            <a:ext cx="312766" cy="45720"/>
          </a:xfrm>
          <a:prstGeom prst="rect">
            <a:avLst/>
          </a:prstGeom>
          <a:solidFill>
            <a:srgbClr val="1A73E8"/>
          </a:solidFill>
          <a:ln w="12700">
            <a:solidFill>
              <a:srgbClr val="1A73E8"/>
            </a:solidFill>
            <a:prstDash val="solid"/>
          </a:ln>
        </p:spPr>
      </p:sp>
      <p:sp>
        <p:nvSpPr>
          <p:cNvPr id="13" name="Shape 11"/>
          <p:cNvSpPr/>
          <p:nvPr/>
        </p:nvSpPr>
        <p:spPr>
          <a:xfrm>
            <a:off x="9049858" y="1938528"/>
            <a:ext cx="173736" cy="173736"/>
          </a:xfrm>
          <a:prstGeom prst="ellipse">
            <a:avLst/>
          </a:prstGeom>
          <a:solidFill>
            <a:srgbClr val="1A73E8"/>
          </a:solidFill>
          <a:ln w="12700">
            <a:solidFill>
              <a:srgbClr val="1A73E8"/>
            </a:solidFill>
            <a:prstDash val="solid"/>
          </a:ln>
        </p:spPr>
      </p:sp>
      <p:sp>
        <p:nvSpPr>
          <p:cNvPr id="14" name="Text 12"/>
          <p:cNvSpPr/>
          <p:nvPr/>
        </p:nvSpPr>
        <p:spPr>
          <a:xfrm>
            <a:off x="10972800" y="1892808"/>
            <a:ext cx="502920" cy="274320"/>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12</a:t>
            </a:r>
            <a:endParaRPr lang="en-US" sz="1200" dirty="0"/>
          </a:p>
        </p:txBody>
      </p:sp>
      <p:sp>
        <p:nvSpPr>
          <p:cNvPr id="15" name="Text 13"/>
          <p:cNvSpPr/>
          <p:nvPr/>
        </p:nvSpPr>
        <p:spPr>
          <a:xfrm>
            <a:off x="1325880" y="2778062"/>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6" name="Text 14"/>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7" name="Shape 15"/>
          <p:cNvSpPr/>
          <p:nvPr/>
        </p:nvSpPr>
        <p:spPr>
          <a:xfrm>
            <a:off x="548640" y="6062472"/>
            <a:ext cx="1431950" cy="512064"/>
          </a:xfrm>
          <a:prstGeom prst="roundRect">
            <a:avLst>
              <a:gd name="adj" fmla="val 12500"/>
            </a:avLst>
          </a:prstGeom>
          <a:solidFill>
            <a:srgbClr val="F1F3F4"/>
          </a:solidFill>
          <a:ln w="12700">
            <a:solidFill>
              <a:srgbClr val="DADCE0"/>
            </a:solidFill>
            <a:prstDash val="solid"/>
          </a:ln>
        </p:spPr>
      </p:sp>
      <p:sp>
        <p:nvSpPr>
          <p:cNvPr id="18" name="Text 16"/>
          <p:cNvSpPr/>
          <p:nvPr/>
        </p:nvSpPr>
        <p:spPr>
          <a:xfrm>
            <a:off x="640080" y="6071616"/>
            <a:ext cx="129479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comparar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24 × 8</a:t>
            </a:r>
            <a:endParaRPr lang="en-US" sz="1200" dirty="0"/>
          </a:p>
        </p:txBody>
      </p:sp>
      <p:sp>
        <p:nvSpPr>
          <p:cNvPr id="19" name="Shape 17"/>
          <p:cNvSpPr/>
          <p:nvPr/>
        </p:nvSpPr>
        <p:spPr>
          <a:xfrm>
            <a:off x="2117750" y="6062472"/>
            <a:ext cx="1431950" cy="512064"/>
          </a:xfrm>
          <a:prstGeom prst="roundRect">
            <a:avLst>
              <a:gd name="adj" fmla="val 12500"/>
            </a:avLst>
          </a:prstGeom>
          <a:solidFill>
            <a:srgbClr val="F1F3F4"/>
          </a:solidFill>
          <a:ln w="12700">
            <a:solidFill>
              <a:srgbClr val="DADCE0"/>
            </a:solidFill>
            <a:prstDash val="solid"/>
          </a:ln>
        </p:spPr>
      </p:sp>
      <p:sp>
        <p:nvSpPr>
          <p:cNvPr id="20" name="Text 18"/>
          <p:cNvSpPr/>
          <p:nvPr/>
        </p:nvSpPr>
        <p:spPr>
          <a:xfrm>
            <a:off x="2209190" y="6071616"/>
            <a:ext cx="129479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real</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24 × 4</a:t>
            </a:r>
            <a:endParaRPr lang="en-US" sz="1200" dirty="0"/>
          </a:p>
        </p:txBody>
      </p:sp>
      <p:sp>
        <p:nvSpPr>
          <p:cNvPr id="21" name="Shape 19"/>
          <p:cNvSpPr/>
          <p:nvPr/>
        </p:nvSpPr>
        <p:spPr>
          <a:xfrm>
            <a:off x="3686861" y="6062472"/>
            <a:ext cx="1714500" cy="512064"/>
          </a:xfrm>
          <a:prstGeom prst="roundRect">
            <a:avLst>
              <a:gd name="adj" fmla="val 12500"/>
            </a:avLst>
          </a:prstGeom>
          <a:solidFill>
            <a:srgbClr val="F1F3F4"/>
          </a:solidFill>
          <a:ln w="12700">
            <a:solidFill>
              <a:srgbClr val="DADCE0"/>
            </a:solidFill>
            <a:prstDash val="solid"/>
          </a:ln>
        </p:spPr>
      </p:sp>
      <p:sp>
        <p:nvSpPr>
          <p:cNvPr id="22" name="Text 20"/>
          <p:cNvSpPr/>
          <p:nvPr/>
        </p:nvSpPr>
        <p:spPr>
          <a:xfrm>
            <a:off x="3778301"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verdad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61488 × 4</a:t>
            </a:r>
            <a:endParaRPr lang="en-US" sz="1200" dirty="0"/>
          </a:p>
        </p:txBody>
      </p:sp>
      <p:sp>
        <p:nvSpPr>
          <p:cNvPr id="23" name="Shape 21"/>
          <p:cNvSpPr/>
          <p:nvPr/>
        </p:nvSpPr>
        <p:spPr>
          <a:xfrm>
            <a:off x="5538521" y="6062472"/>
            <a:ext cx="1337767" cy="512064"/>
          </a:xfrm>
          <a:prstGeom prst="roundRect">
            <a:avLst>
              <a:gd name="adj" fmla="val 12500"/>
            </a:avLst>
          </a:prstGeom>
          <a:solidFill>
            <a:srgbClr val="F1F3F4"/>
          </a:solidFill>
          <a:ln w="12700">
            <a:solidFill>
              <a:srgbClr val="DADCE0"/>
            </a:solidFill>
            <a:prstDash val="solid"/>
          </a:ln>
        </p:spPr>
      </p:sp>
      <p:sp>
        <p:nvSpPr>
          <p:cNvPr id="24" name="Text 22"/>
          <p:cNvSpPr/>
          <p:nvPr/>
        </p:nvSpPr>
        <p:spPr>
          <a:xfrm>
            <a:off x="5629961" y="6071616"/>
            <a:ext cx="120060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picos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7 × 4</a:t>
            </a:r>
            <a:endParaRPr lang="en-US" sz="1200" dirty="0"/>
          </a:p>
        </p:txBody>
      </p:sp>
      <p:sp>
        <p:nvSpPr>
          <p:cNvPr id="25" name="Shape 23"/>
          <p:cNvSpPr/>
          <p:nvPr/>
        </p:nvSpPr>
        <p:spPr>
          <a:xfrm>
            <a:off x="7013448" y="6062472"/>
            <a:ext cx="1337767" cy="512064"/>
          </a:xfrm>
          <a:prstGeom prst="roundRect">
            <a:avLst>
              <a:gd name="adj" fmla="val 12500"/>
            </a:avLst>
          </a:prstGeom>
          <a:solidFill>
            <a:srgbClr val="F1F3F4"/>
          </a:solidFill>
          <a:ln w="12700">
            <a:solidFill>
              <a:srgbClr val="DADCE0"/>
            </a:solidFill>
            <a:prstDash val="solid"/>
          </a:ln>
        </p:spPr>
      </p:sp>
      <p:sp>
        <p:nvSpPr>
          <p:cNvPr id="26" name="Text 24"/>
          <p:cNvSpPr/>
          <p:nvPr/>
        </p:nvSpPr>
        <p:spPr>
          <a:xfrm>
            <a:off x="7104888" y="6071616"/>
            <a:ext cx="120060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negativas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 × 4</a:t>
            </a:r>
            <a:endParaRPr lang="en-US" sz="1200" dirty="0"/>
          </a:p>
        </p:txBody>
      </p:sp>
      <p:sp>
        <p:nvSpPr>
          <p:cNvPr id="27" name="Shape 25"/>
          <p:cNvSpPr/>
          <p:nvPr/>
        </p:nvSpPr>
        <p:spPr>
          <a:xfrm>
            <a:off x="8488375" y="6062472"/>
            <a:ext cx="1143000" cy="512064"/>
          </a:xfrm>
          <a:prstGeom prst="roundRect">
            <a:avLst>
              <a:gd name="adj" fmla="val 12500"/>
            </a:avLst>
          </a:prstGeom>
          <a:solidFill>
            <a:srgbClr val="F1F3F4"/>
          </a:solidFill>
          <a:ln w="12700">
            <a:solidFill>
              <a:srgbClr val="DADCE0"/>
            </a:solidFill>
            <a:prstDash val="solid"/>
          </a:ln>
        </p:spPr>
      </p:sp>
      <p:sp>
        <p:nvSpPr>
          <p:cNvPr id="28" name="Text 26"/>
          <p:cNvSpPr/>
          <p:nvPr/>
        </p:nvSpPr>
        <p:spPr>
          <a:xfrm>
            <a:off x="8579815"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promedio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892.34…</a:t>
            </a:r>
            <a:endParaRPr lang="en-US" sz="1200" dirty="0"/>
          </a:p>
        </p:txBody>
      </p:sp>
      <p:sp>
        <p:nvSpPr>
          <p:cNvPr id="29" name="Text 27"/>
          <p:cNvSpPr/>
          <p:nvPr/>
        </p:nvSpPr>
        <p:spPr>
          <a:xfrm>
            <a:off x="9768535" y="6062472"/>
            <a:ext cx="1005840" cy="512064"/>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y 11 más</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2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mira cómo está escrita cada región</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lee esta línea, pieza por pieza</a:t>
            </a:r>
            <a:endParaRPr lang="en-US" sz="1400" dirty="0"/>
          </a:p>
        </p:txBody>
      </p:sp>
      <p:sp>
        <p:nvSpPr>
          <p:cNvPr id="6" name="Shape 4"/>
          <p:cNvSpPr/>
          <p:nvPr/>
        </p:nvSpPr>
        <p:spPr>
          <a:xfrm>
            <a:off x="548640" y="1463040"/>
            <a:ext cx="11091672" cy="484632"/>
          </a:xfrm>
          <a:prstGeom prst="roundRect">
            <a:avLst>
              <a:gd name="adj" fmla="val 11321"/>
            </a:avLst>
          </a:prstGeom>
          <a:solidFill>
            <a:srgbClr val="F8F9FA"/>
          </a:solidFill>
          <a:ln w="12700">
            <a:solidFill>
              <a:srgbClr val="DADCE0"/>
            </a:solidFill>
            <a:prstDash val="solid"/>
          </a:ln>
        </p:spPr>
      </p:sp>
      <p:sp>
        <p:nvSpPr>
          <p:cNvPr id="7" name="Text 5"/>
          <p:cNvSpPr/>
          <p:nvPr/>
        </p:nvSpPr>
        <p:spPr>
          <a:xfrm>
            <a:off x="822960" y="1572768"/>
            <a:ext cx="10634472" cy="265176"/>
          </a:xfrm>
          <a:prstGeom prst="rect">
            <a:avLst/>
          </a:prstGeom>
          <a:noFill/>
          <a:ln/>
        </p:spPr>
        <p:txBody>
          <a:bodyPr wrap="square" lIns="0" tIns="0" rIns="0" bIns="0" rtlCol="0" anchor="t"/>
          <a:lstStyle/>
          <a:p>
            <a:pPr indent="0" marL="0">
              <a:buNone/>
            </a:pPr>
            <a:r>
              <a:rPr lang="en-US" sz="1600" dirty="0">
                <a:solidFill>
                  <a:srgbClr val="202124"/>
                </a:solidFill>
                <a:latin typeface="Courier New" pitchFamily="34" charset="0"/>
                <a:ea typeface="Courier New" pitchFamily="34" charset="-122"/>
                <a:cs typeface="Courier New" pitchFamily="34" charset="-120"/>
              </a:rPr>
              <a:t>sucia[</a:t>
            </a:r>
            <a:pPr indent="0" marL="0">
              <a:buNone/>
            </a:pPr>
            <a:r>
              <a:rPr lang="en-US" sz="1600" dirty="0">
                <a:solidFill>
                  <a:srgbClr val="A31515"/>
                </a:solidFill>
                <a:latin typeface="Courier New" pitchFamily="34" charset="0"/>
                <a:ea typeface="Courier New" pitchFamily="34" charset="-122"/>
                <a:cs typeface="Courier New" pitchFamily="34" charset="-120"/>
              </a:rPr>
              <a:t>"region"</a:t>
            </a:r>
            <a:pPr indent="0" marL="0">
              <a:buNone/>
            </a:pPr>
            <a:r>
              <a:rPr lang="en-US" sz="1600" dirty="0">
                <a:solidFill>
                  <a:srgbClr val="202124"/>
                </a:solidFill>
                <a:latin typeface="Courier New" pitchFamily="34" charset="0"/>
                <a:ea typeface="Courier New" pitchFamily="34" charset="-122"/>
                <a:cs typeface="Courier New" pitchFamily="34" charset="-120"/>
              </a:rPr>
              <a:t>].value_counts().head(cuantas)</a:t>
            </a:r>
            <a:endParaRPr lang="en-US" sz="1600" dirty="0"/>
          </a:p>
        </p:txBody>
      </p:sp>
      <p:sp>
        <p:nvSpPr>
          <p:cNvPr id="8" name="Shape 6"/>
          <p:cNvSpPr/>
          <p:nvPr/>
        </p:nvSpPr>
        <p:spPr>
          <a:xfrm>
            <a:off x="548640" y="2414016"/>
            <a:ext cx="329184" cy="329184"/>
          </a:xfrm>
          <a:prstGeom prst="ellipse">
            <a:avLst/>
          </a:prstGeom>
          <a:solidFill>
            <a:srgbClr val="1A6FD4"/>
          </a:solidFill>
          <a:ln w="12700">
            <a:solidFill>
              <a:srgbClr val="1A6FD4"/>
            </a:solidFill>
            <a:prstDash val="solid"/>
          </a:ln>
        </p:spPr>
      </p:sp>
      <p:sp>
        <p:nvSpPr>
          <p:cNvPr id="9" name="Text 7"/>
          <p:cNvSpPr/>
          <p:nvPr/>
        </p:nvSpPr>
        <p:spPr>
          <a:xfrm>
            <a:off x="548640" y="241401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2221992"/>
            <a:ext cx="4937760" cy="713232"/>
          </a:xfrm>
          <a:prstGeom prst="roundRect">
            <a:avLst>
              <a:gd name="adj" fmla="val 6410"/>
            </a:avLst>
          </a:prstGeom>
          <a:solidFill>
            <a:srgbClr val="DBE9FB"/>
          </a:solidFill>
          <a:ln w="12700">
            <a:solidFill>
              <a:srgbClr val="DBE9FB"/>
            </a:solidFill>
            <a:prstDash val="solid"/>
          </a:ln>
        </p:spPr>
      </p:sp>
      <p:sp>
        <p:nvSpPr>
          <p:cNvPr id="11" name="Text 9"/>
          <p:cNvSpPr/>
          <p:nvPr/>
        </p:nvSpPr>
        <p:spPr>
          <a:xfrm>
            <a:off x="1170432" y="2221992"/>
            <a:ext cx="4754880" cy="71323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sucia["region"]</a:t>
            </a:r>
            <a:endParaRPr lang="en-US" sz="1400" dirty="0"/>
          </a:p>
        </p:txBody>
      </p:sp>
      <p:sp>
        <p:nvSpPr>
          <p:cNvPr id="12" name="Text 10"/>
          <p:cNvSpPr/>
          <p:nvPr/>
        </p:nvSpPr>
        <p:spPr>
          <a:xfrm>
            <a:off x="6263640" y="2221992"/>
            <a:ext cx="5376672" cy="71323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La columna region del archivo como llegó, antes del Paso 3.</a:t>
            </a:r>
            <a:endParaRPr lang="en-US" sz="1600" dirty="0"/>
          </a:p>
        </p:txBody>
      </p:sp>
      <p:sp>
        <p:nvSpPr>
          <p:cNvPr id="13" name="Shape 11"/>
          <p:cNvSpPr/>
          <p:nvPr/>
        </p:nvSpPr>
        <p:spPr>
          <a:xfrm>
            <a:off x="548640" y="3218688"/>
            <a:ext cx="329184" cy="329184"/>
          </a:xfrm>
          <a:prstGeom prst="ellipse">
            <a:avLst/>
          </a:prstGeom>
          <a:solidFill>
            <a:srgbClr val="1E8E3E"/>
          </a:solidFill>
          <a:ln w="12700">
            <a:solidFill>
              <a:srgbClr val="1E8E3E"/>
            </a:solidFill>
            <a:prstDash val="solid"/>
          </a:ln>
        </p:spPr>
      </p:sp>
      <p:sp>
        <p:nvSpPr>
          <p:cNvPr id="14" name="Text 12"/>
          <p:cNvSpPr/>
          <p:nvPr/>
        </p:nvSpPr>
        <p:spPr>
          <a:xfrm>
            <a:off x="548640" y="32186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3026664"/>
            <a:ext cx="4937760" cy="713232"/>
          </a:xfrm>
          <a:prstGeom prst="roundRect">
            <a:avLst>
              <a:gd name="adj" fmla="val 6410"/>
            </a:avLst>
          </a:prstGeom>
          <a:solidFill>
            <a:srgbClr val="DCEFE0"/>
          </a:solidFill>
          <a:ln w="12700">
            <a:solidFill>
              <a:srgbClr val="DCEFE0"/>
            </a:solidFill>
            <a:prstDash val="solid"/>
          </a:ln>
        </p:spPr>
      </p:sp>
      <p:sp>
        <p:nvSpPr>
          <p:cNvPr id="16" name="Text 14"/>
          <p:cNvSpPr/>
          <p:nvPr/>
        </p:nvSpPr>
        <p:spPr>
          <a:xfrm>
            <a:off x="1170432" y="3026664"/>
            <a:ext cx="4754880" cy="71323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.value_counts()</a:t>
            </a:r>
            <a:endParaRPr lang="en-US" sz="1400" dirty="0"/>
          </a:p>
        </p:txBody>
      </p:sp>
      <p:sp>
        <p:nvSpPr>
          <p:cNvPr id="17" name="Text 15"/>
          <p:cNvSpPr/>
          <p:nvPr/>
        </p:nvSpPr>
        <p:spPr>
          <a:xfrm>
            <a:off x="6263640" y="3026664"/>
            <a:ext cx="5376672" cy="71323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Cuenta cuántas filas tiene cada valor distinto, de mayor a menor.</a:t>
            </a:r>
            <a:endParaRPr lang="en-US" sz="1600" dirty="0"/>
          </a:p>
        </p:txBody>
      </p:sp>
      <p:sp>
        <p:nvSpPr>
          <p:cNvPr id="18" name="Shape 16"/>
          <p:cNvSpPr/>
          <p:nvPr/>
        </p:nvSpPr>
        <p:spPr>
          <a:xfrm>
            <a:off x="548640" y="4023360"/>
            <a:ext cx="329184" cy="329184"/>
          </a:xfrm>
          <a:prstGeom prst="ellipse">
            <a:avLst/>
          </a:prstGeom>
          <a:solidFill>
            <a:srgbClr val="B07D00"/>
          </a:solidFill>
          <a:ln w="12700">
            <a:solidFill>
              <a:srgbClr val="B07D00"/>
            </a:solidFill>
            <a:prstDash val="solid"/>
          </a:ln>
        </p:spPr>
      </p:sp>
      <p:sp>
        <p:nvSpPr>
          <p:cNvPr id="19" name="Text 17"/>
          <p:cNvSpPr/>
          <p:nvPr/>
        </p:nvSpPr>
        <p:spPr>
          <a:xfrm>
            <a:off x="548640" y="40233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Shape 18"/>
          <p:cNvSpPr/>
          <p:nvPr/>
        </p:nvSpPr>
        <p:spPr>
          <a:xfrm>
            <a:off x="1051560" y="3831336"/>
            <a:ext cx="4937760" cy="713232"/>
          </a:xfrm>
          <a:prstGeom prst="roundRect">
            <a:avLst>
              <a:gd name="adj" fmla="val 6410"/>
            </a:avLst>
          </a:prstGeom>
          <a:solidFill>
            <a:srgbClr val="FDF0C8"/>
          </a:solidFill>
          <a:ln w="12700">
            <a:solidFill>
              <a:srgbClr val="FDF0C8"/>
            </a:solidFill>
            <a:prstDash val="solid"/>
          </a:ln>
        </p:spPr>
      </p:sp>
      <p:sp>
        <p:nvSpPr>
          <p:cNvPr id="21" name="Text 19"/>
          <p:cNvSpPr/>
          <p:nvPr/>
        </p:nvSpPr>
        <p:spPr>
          <a:xfrm>
            <a:off x="1170432" y="3831336"/>
            <a:ext cx="4754880" cy="71323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.head(cuantas)</a:t>
            </a:r>
            <a:endParaRPr lang="en-US" sz="1400" dirty="0"/>
          </a:p>
        </p:txBody>
      </p:sp>
      <p:sp>
        <p:nvSpPr>
          <p:cNvPr id="22" name="Text 20"/>
          <p:cNvSpPr/>
          <p:nvPr/>
        </p:nvSpPr>
        <p:spPr>
          <a:xfrm>
            <a:off x="6263640" y="3831336"/>
            <a:ext cx="5376672" cy="71323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Muestra solo las primeras, tantas como diga el deslizador.</a:t>
            </a:r>
            <a:endParaRPr lang="en-US" sz="1600" dirty="0"/>
          </a:p>
        </p:txBody>
      </p:sp>
      <p:sp>
        <p:nvSpPr>
          <p:cNvPr id="23" name="Shape 21"/>
          <p:cNvSpPr/>
          <p:nvPr/>
        </p:nvSpPr>
        <p:spPr>
          <a:xfrm>
            <a:off x="548640" y="5989320"/>
            <a:ext cx="73152" cy="548640"/>
          </a:xfrm>
          <a:prstGeom prst="rect">
            <a:avLst/>
          </a:prstGeom>
          <a:solidFill>
            <a:srgbClr val="0B3D62"/>
          </a:solidFill>
          <a:ln w="12700">
            <a:solidFill>
              <a:srgbClr val="0B3D62"/>
            </a:solidFill>
            <a:prstDash val="solid"/>
          </a:ln>
        </p:spPr>
      </p:sp>
      <p:sp>
        <p:nvSpPr>
          <p:cNvPr id="24" name="Text 22"/>
          <p:cNvSpPr/>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cuenta cuántas veces aparece cada forma de escribir la región y muestra las primeras.</a:t>
            </a:r>
            <a:endParaRPr lang="en-US" sz="15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2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mira cómo está escrita cada región</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Mueve el deslizador para ver más filas y vuelve a correr la celda. Las siete primeras son las bien escritas.</a:t>
            </a:r>
            <a:endParaRPr lang="en-US" sz="1400" dirty="0"/>
          </a:p>
        </p:txBody>
      </p:sp>
      <p:sp>
        <p:nvSpPr>
          <p:cNvPr id="6" name="Text 4"/>
          <p:cNvSpPr/>
          <p:nvPr/>
        </p:nvSpPr>
        <p:spPr>
          <a:xfrm>
            <a:off x="548640" y="1481328"/>
            <a:ext cx="5486400" cy="274320"/>
          </a:xfrm>
          <a:prstGeom prst="rect">
            <a:avLst/>
          </a:prstGeom>
          <a:noFill/>
          <a:ln/>
        </p:spPr>
        <p:txBody>
          <a:bodyPr wrap="square" lIns="0" tIns="0" rIns="0" bIns="0" rtlCol="0" anchor="ctr"/>
          <a:lstStyle/>
          <a:p>
            <a:pPr indent="0" marL="0">
              <a:buNone/>
            </a:pPr>
            <a:r>
              <a:rPr lang="en-US" sz="1300" b="1" dirty="0">
                <a:solidFill>
                  <a:srgbClr val="5F6368"/>
                </a:solidFill>
                <a:latin typeface="Calibri" pitchFamily="34" charset="0"/>
                <a:ea typeface="Calibri" pitchFamily="34" charset="-122"/>
                <a:cs typeface="Calibri" pitchFamily="34" charset="-120"/>
              </a:rPr>
              <a:t>Respuesta de la celda</a:t>
            </a:r>
            <a:endParaRPr lang="en-US" sz="1300" dirty="0"/>
          </a:p>
        </p:txBody>
      </p:sp>
      <p:sp>
        <p:nvSpPr>
          <p:cNvPr id="7" name="Shape 5"/>
          <p:cNvSpPr/>
          <p:nvPr/>
        </p:nvSpPr>
        <p:spPr>
          <a:xfrm>
            <a:off x="1325880" y="1828800"/>
            <a:ext cx="10314432" cy="3097987"/>
          </a:xfrm>
          <a:prstGeom prst="rect">
            <a:avLst/>
          </a:prstGeom>
          <a:solidFill>
            <a:srgbClr val="FFFFFF"/>
          </a:solidFill>
          <a:ln w="12700">
            <a:solidFill>
              <a:srgbClr val="DADCE0"/>
            </a:solidFill>
            <a:prstDash val="solid"/>
          </a:ln>
        </p:spPr>
      </p:sp>
      <p:sp>
        <p:nvSpPr>
          <p:cNvPr id="8" name="Text 6"/>
          <p:cNvSpPr/>
          <p:nvPr/>
        </p:nvSpPr>
        <p:spPr>
          <a:xfrm>
            <a:off x="1463040" y="1901952"/>
            <a:ext cx="10085832" cy="2969971"/>
          </a:xfrm>
          <a:prstGeom prst="rect">
            <a:avLst/>
          </a:prstGeom>
          <a:noFill/>
          <a:ln/>
        </p:spPr>
        <p:txBody>
          <a:bodyPr wrap="square" lIns="0" tIns="0" rIns="0" bIns="0" rtlCol="0" anchor="t"/>
          <a:lstStyle/>
          <a:p>
            <a:pPr indent="0" marL="0">
              <a:buNone/>
            </a:pPr>
            <a:r>
              <a:rPr lang="en-US" sz="1200" dirty="0">
                <a:solidFill>
                  <a:srgbClr val="202124"/>
                </a:solidFill>
                <a:latin typeface="Courier New" pitchFamily="34" charset="0"/>
                <a:ea typeface="Courier New" pitchFamily="34" charset="-122"/>
                <a:cs typeface="Courier New" pitchFamily="34" charset="-120"/>
              </a:rPr>
              <a:t>region</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Valparaíso       8714</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Antofagasta      8713</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Coquimbo         8707</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Metropolitana    8698</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Atacama          8693</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Los Lagos        8686</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Biobío           8683</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biobío             26</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BIOBÍO             21</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los lagos          21</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metropolitana      20</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atacama            19</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Name: count, dtype: int64</a:t>
            </a:r>
            <a:endParaRPr lang="en-US" sz="1200" dirty="0"/>
          </a:p>
        </p:txBody>
      </p:sp>
      <p:sp>
        <p:nvSpPr>
          <p:cNvPr id="9" name="Text 7"/>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0" name="Shape 8"/>
          <p:cNvSpPr/>
          <p:nvPr/>
        </p:nvSpPr>
        <p:spPr>
          <a:xfrm>
            <a:off x="548640" y="6062472"/>
            <a:ext cx="1143000" cy="512064"/>
          </a:xfrm>
          <a:prstGeom prst="roundRect">
            <a:avLst>
              <a:gd name="adj" fmla="val 12500"/>
            </a:avLst>
          </a:prstGeom>
          <a:solidFill>
            <a:srgbClr val="FEF3D6"/>
          </a:solidFill>
          <a:ln w="25400">
            <a:solidFill>
              <a:srgbClr val="F9AB00"/>
            </a:solidFill>
            <a:prstDash val="solid"/>
          </a:ln>
        </p:spPr>
      </p:sp>
      <p:sp>
        <p:nvSpPr>
          <p:cNvPr id="11" name="Text 9"/>
          <p:cNvSpPr/>
          <p:nvPr/>
        </p:nvSpPr>
        <p:spPr>
          <a:xfrm>
            <a:off x="640080"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cuantas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12</a:t>
            </a:r>
            <a:endParaRPr lang="en-US" sz="1200" dirty="0"/>
          </a:p>
        </p:txBody>
      </p:sp>
      <p:sp>
        <p:nvSpPr>
          <p:cNvPr id="12" name="Shape 10"/>
          <p:cNvSpPr/>
          <p:nvPr/>
        </p:nvSpPr>
        <p:spPr>
          <a:xfrm>
            <a:off x="1828800" y="6062472"/>
            <a:ext cx="1714500" cy="512064"/>
          </a:xfrm>
          <a:prstGeom prst="roundRect">
            <a:avLst>
              <a:gd name="adj" fmla="val 12500"/>
            </a:avLst>
          </a:prstGeom>
          <a:solidFill>
            <a:srgbClr val="E8F0FE"/>
          </a:solidFill>
          <a:ln w="28575">
            <a:solidFill>
              <a:srgbClr val="1A73E8"/>
            </a:solidFill>
            <a:prstDash val="solid"/>
          </a:ln>
        </p:spPr>
      </p:sp>
      <p:sp>
        <p:nvSpPr>
          <p:cNvPr id="13" name="Text 11"/>
          <p:cNvSpPr/>
          <p:nvPr/>
        </p:nvSpPr>
        <p:spPr>
          <a:xfrm>
            <a:off x="1920240"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sucia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61508 × 4</a:t>
            </a:r>
            <a:endParaRPr lang="en-US" sz="1200" dirty="0"/>
          </a:p>
        </p:txBody>
      </p:sp>
      <p:sp>
        <p:nvSpPr>
          <p:cNvPr id="14" name="Shape 12"/>
          <p:cNvSpPr/>
          <p:nvPr/>
        </p:nvSpPr>
        <p:spPr>
          <a:xfrm>
            <a:off x="3680460" y="6062472"/>
            <a:ext cx="1431950" cy="512064"/>
          </a:xfrm>
          <a:prstGeom prst="roundRect">
            <a:avLst>
              <a:gd name="adj" fmla="val 12500"/>
            </a:avLst>
          </a:prstGeom>
          <a:solidFill>
            <a:srgbClr val="F1F3F4"/>
          </a:solidFill>
          <a:ln w="12700">
            <a:solidFill>
              <a:srgbClr val="DADCE0"/>
            </a:solidFill>
            <a:prstDash val="solid"/>
          </a:ln>
        </p:spPr>
      </p:sp>
      <p:sp>
        <p:nvSpPr>
          <p:cNvPr id="15" name="Text 13"/>
          <p:cNvSpPr/>
          <p:nvPr/>
        </p:nvSpPr>
        <p:spPr>
          <a:xfrm>
            <a:off x="3771900" y="6071616"/>
            <a:ext cx="129479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comparar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24 × 8</a:t>
            </a:r>
            <a:endParaRPr lang="en-US" sz="1200" dirty="0"/>
          </a:p>
        </p:txBody>
      </p:sp>
      <p:sp>
        <p:nvSpPr>
          <p:cNvPr id="16" name="Shape 14"/>
          <p:cNvSpPr/>
          <p:nvPr/>
        </p:nvSpPr>
        <p:spPr>
          <a:xfrm>
            <a:off x="5249570" y="6062472"/>
            <a:ext cx="1431950" cy="512064"/>
          </a:xfrm>
          <a:prstGeom prst="roundRect">
            <a:avLst>
              <a:gd name="adj" fmla="val 12500"/>
            </a:avLst>
          </a:prstGeom>
          <a:solidFill>
            <a:srgbClr val="F1F3F4"/>
          </a:solidFill>
          <a:ln w="12700">
            <a:solidFill>
              <a:srgbClr val="DADCE0"/>
            </a:solidFill>
            <a:prstDash val="solid"/>
          </a:ln>
        </p:spPr>
      </p:sp>
      <p:sp>
        <p:nvSpPr>
          <p:cNvPr id="17" name="Text 15"/>
          <p:cNvSpPr/>
          <p:nvPr/>
        </p:nvSpPr>
        <p:spPr>
          <a:xfrm>
            <a:off x="5341010" y="6071616"/>
            <a:ext cx="129479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real</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24 × 4</a:t>
            </a:r>
            <a:endParaRPr lang="en-US" sz="1200" dirty="0"/>
          </a:p>
        </p:txBody>
      </p:sp>
      <p:sp>
        <p:nvSpPr>
          <p:cNvPr id="18" name="Shape 16"/>
          <p:cNvSpPr/>
          <p:nvPr/>
        </p:nvSpPr>
        <p:spPr>
          <a:xfrm>
            <a:off x="6818681" y="6062472"/>
            <a:ext cx="1714500" cy="512064"/>
          </a:xfrm>
          <a:prstGeom prst="roundRect">
            <a:avLst>
              <a:gd name="adj" fmla="val 12500"/>
            </a:avLst>
          </a:prstGeom>
          <a:solidFill>
            <a:srgbClr val="F1F3F4"/>
          </a:solidFill>
          <a:ln w="12700">
            <a:solidFill>
              <a:srgbClr val="DADCE0"/>
            </a:solidFill>
            <a:prstDash val="solid"/>
          </a:ln>
        </p:spPr>
      </p:sp>
      <p:sp>
        <p:nvSpPr>
          <p:cNvPr id="19" name="Text 17"/>
          <p:cNvSpPr/>
          <p:nvPr/>
        </p:nvSpPr>
        <p:spPr>
          <a:xfrm>
            <a:off x="6910121"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verdad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61488 × 4</a:t>
            </a:r>
            <a:endParaRPr lang="en-US" sz="1200" dirty="0"/>
          </a:p>
        </p:txBody>
      </p:sp>
      <p:sp>
        <p:nvSpPr>
          <p:cNvPr id="20" name="Shape 18"/>
          <p:cNvSpPr/>
          <p:nvPr/>
        </p:nvSpPr>
        <p:spPr>
          <a:xfrm>
            <a:off x="8670341" y="6062472"/>
            <a:ext cx="1337767" cy="512064"/>
          </a:xfrm>
          <a:prstGeom prst="roundRect">
            <a:avLst>
              <a:gd name="adj" fmla="val 12500"/>
            </a:avLst>
          </a:prstGeom>
          <a:solidFill>
            <a:srgbClr val="F1F3F4"/>
          </a:solidFill>
          <a:ln w="12700">
            <a:solidFill>
              <a:srgbClr val="DADCE0"/>
            </a:solidFill>
            <a:prstDash val="solid"/>
          </a:ln>
        </p:spPr>
      </p:sp>
      <p:sp>
        <p:nvSpPr>
          <p:cNvPr id="21" name="Text 19"/>
          <p:cNvSpPr/>
          <p:nvPr/>
        </p:nvSpPr>
        <p:spPr>
          <a:xfrm>
            <a:off x="8761781" y="6071616"/>
            <a:ext cx="120060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picos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7 × 4</a:t>
            </a:r>
            <a:endParaRPr lang="en-US" sz="1200" dirty="0"/>
          </a:p>
        </p:txBody>
      </p:sp>
      <p:sp>
        <p:nvSpPr>
          <p:cNvPr id="22" name="Text 20"/>
          <p:cNvSpPr/>
          <p:nvPr/>
        </p:nvSpPr>
        <p:spPr>
          <a:xfrm>
            <a:off x="10145268" y="6062472"/>
            <a:ext cx="1005840" cy="512064"/>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y 12 más</a:t>
            </a:r>
            <a:endParaRPr lang="en-US" sz="1200" dirty="0"/>
          </a:p>
        </p:txBody>
      </p:sp>
      <p:sp>
        <p:nvSpPr>
          <p:cNvPr id="23" name="Text 21"/>
          <p:cNvSpPr/>
          <p:nvPr/>
        </p:nvSpPr>
        <p:spPr>
          <a:xfrm>
            <a:off x="548640" y="6592824"/>
            <a:ext cx="11091672" cy="219456"/>
          </a:xfrm>
          <a:prstGeom prst="rect">
            <a:avLst/>
          </a:prstGeom>
          <a:noFill/>
          <a:ln/>
        </p:spPr>
        <p:txBody>
          <a:bodyPr wrap="square" lIns="0" tIns="0" rIns="0" bIns="0" rtlCol="0" anchor="ctr"/>
          <a:lstStyle/>
          <a:p>
            <a:pPr indent="0" marL="0">
              <a:buNone/>
            </a:pPr>
            <a:r>
              <a:rPr lang="en-US" sz="1300" dirty="0">
                <a:solidFill>
                  <a:srgbClr val="0B3D62"/>
                </a:solidFill>
                <a:latin typeface="Calibri" pitchFamily="34" charset="0"/>
                <a:ea typeface="Calibri" pitchFamily="34" charset="-122"/>
                <a:cs typeface="Calibri" pitchFamily="34" charset="-120"/>
              </a:rPr>
              <a:t>Las 7 primeras son las bien escritas. Desde la octava aparecen las mal escritas.</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2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mira cómo está escrita cada región</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Se mueve el deslizador a 21 y se vuelve a correr la celda.</a:t>
            </a:r>
            <a:endParaRPr lang="en-US" sz="1400" dirty="0"/>
          </a:p>
        </p:txBody>
      </p:sp>
      <p:sp>
        <p:nvSpPr>
          <p:cNvPr id="6" name="Shape 4"/>
          <p:cNvSpPr/>
          <p:nvPr/>
        </p:nvSpPr>
        <p:spPr>
          <a:xfrm>
            <a:off x="548640" y="1481328"/>
            <a:ext cx="11091672" cy="622935"/>
          </a:xfrm>
          <a:prstGeom prst="roundRect">
            <a:avLst>
              <a:gd name="adj" fmla="val 8807"/>
            </a:avLst>
          </a:prstGeom>
          <a:solidFill>
            <a:srgbClr val="F8F9FA"/>
          </a:solidFill>
          <a:ln w="25400">
            <a:solidFill>
              <a:srgbClr val="F9AB00"/>
            </a:solidFill>
            <a:prstDash val="solid"/>
          </a:ln>
        </p:spPr>
      </p:sp>
      <p:sp>
        <p:nvSpPr>
          <p:cNvPr id="7"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8"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9" name="Text 7"/>
          <p:cNvSpPr/>
          <p:nvPr/>
        </p:nvSpPr>
        <p:spPr>
          <a:xfrm>
            <a:off x="1325880" y="1600200"/>
            <a:ext cx="7360920" cy="430911"/>
          </a:xfrm>
          <a:prstGeom prst="rect">
            <a:avLst/>
          </a:prstGeom>
          <a:noFill/>
          <a:ln/>
        </p:spPr>
        <p:txBody>
          <a:bodyPr wrap="square" lIns="0" tIns="0" rIns="0" bIns="0" rtlCol="0" anchor="t"/>
          <a:lstStyle/>
          <a:p>
            <a:pPr indent="0" marL="0">
              <a:buNone/>
            </a:pPr>
            <a:r>
              <a:rPr lang="en-US" sz="1300" dirty="0">
                <a:solidFill>
                  <a:srgbClr val="202124"/>
                </a:solidFill>
                <a:latin typeface="Courier New" pitchFamily="34" charset="0"/>
                <a:ea typeface="Courier New" pitchFamily="34" charset="-122"/>
                <a:cs typeface="Courier New" pitchFamily="34" charset="-120"/>
              </a:rPr>
              <a:t>cuantas = 21 </a:t>
            </a:r>
            <a:pPr indent="0" marL="0">
              <a:buNone/>
            </a:pPr>
            <a:r>
              <a:rPr lang="en-US" sz="1300" dirty="0">
                <a:solidFill>
                  <a:srgbClr val="80868B"/>
                </a:solidFill>
                <a:latin typeface="Courier New" pitchFamily="34" charset="0"/>
                <a:ea typeface="Courier New" pitchFamily="34" charset="-122"/>
                <a:cs typeface="Courier New" pitchFamily="34" charset="-120"/>
              </a:rPr>
              <a:t>#@param {type:"slider", min:5, max:49, step:1}</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sucia[</a:t>
            </a:r>
            <a:pPr indent="0" marL="0">
              <a:buNone/>
            </a:pPr>
            <a:r>
              <a:rPr lang="en-US" sz="1300" dirty="0">
                <a:solidFill>
                  <a:srgbClr val="A31515"/>
                </a:solidFill>
                <a:latin typeface="Courier New" pitchFamily="34" charset="0"/>
                <a:ea typeface="Courier New" pitchFamily="34" charset="-122"/>
                <a:cs typeface="Courier New" pitchFamily="34" charset="-120"/>
              </a:rPr>
              <a:t>"region"</a:t>
            </a:r>
            <a:pPr indent="0" marL="0">
              <a:buNone/>
            </a:pPr>
            <a:r>
              <a:rPr lang="en-US" sz="1300" dirty="0">
                <a:solidFill>
                  <a:srgbClr val="202124"/>
                </a:solidFill>
                <a:latin typeface="Courier New" pitchFamily="34" charset="0"/>
                <a:ea typeface="Courier New" pitchFamily="34" charset="-122"/>
                <a:cs typeface="Courier New" pitchFamily="34" charset="-120"/>
              </a:rPr>
              <a:t>].value_counts().head(cuantas)</a:t>
            </a:r>
            <a:endParaRPr lang="en-US" sz="1300" dirty="0"/>
          </a:p>
        </p:txBody>
      </p:sp>
      <p:sp>
        <p:nvSpPr>
          <p:cNvPr id="10" name="Text 8"/>
          <p:cNvSpPr/>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cuantas</a:t>
            </a:r>
            <a:endParaRPr lang="en-US" sz="1100" dirty="0"/>
          </a:p>
        </p:txBody>
      </p:sp>
      <p:sp>
        <p:nvSpPr>
          <p:cNvPr id="11" name="Shape 9"/>
          <p:cNvSpPr/>
          <p:nvPr/>
        </p:nvSpPr>
        <p:spPr>
          <a:xfrm>
            <a:off x="8823960" y="2002536"/>
            <a:ext cx="1965960" cy="45720"/>
          </a:xfrm>
          <a:prstGeom prst="rect">
            <a:avLst/>
          </a:prstGeom>
          <a:solidFill>
            <a:srgbClr val="C4C7C5"/>
          </a:solidFill>
          <a:ln w="12700">
            <a:solidFill>
              <a:srgbClr val="C4C7C5"/>
            </a:solidFill>
            <a:prstDash val="solid"/>
          </a:ln>
        </p:spPr>
      </p:sp>
      <p:sp>
        <p:nvSpPr>
          <p:cNvPr id="12" name="Shape 10"/>
          <p:cNvSpPr/>
          <p:nvPr/>
        </p:nvSpPr>
        <p:spPr>
          <a:xfrm>
            <a:off x="8823960" y="2002536"/>
            <a:ext cx="714895" cy="45720"/>
          </a:xfrm>
          <a:prstGeom prst="rect">
            <a:avLst/>
          </a:prstGeom>
          <a:solidFill>
            <a:srgbClr val="1A73E8"/>
          </a:solidFill>
          <a:ln w="12700">
            <a:solidFill>
              <a:srgbClr val="1A73E8"/>
            </a:solidFill>
            <a:prstDash val="solid"/>
          </a:ln>
        </p:spPr>
      </p:sp>
      <p:sp>
        <p:nvSpPr>
          <p:cNvPr id="13" name="Shape 11"/>
          <p:cNvSpPr/>
          <p:nvPr/>
        </p:nvSpPr>
        <p:spPr>
          <a:xfrm>
            <a:off x="9451987" y="1938528"/>
            <a:ext cx="173736" cy="173736"/>
          </a:xfrm>
          <a:prstGeom prst="ellipse">
            <a:avLst/>
          </a:prstGeom>
          <a:solidFill>
            <a:srgbClr val="1A73E8"/>
          </a:solidFill>
          <a:ln w="25400">
            <a:solidFill>
              <a:srgbClr val="0B3D62"/>
            </a:solidFill>
            <a:prstDash val="solid"/>
          </a:ln>
        </p:spPr>
      </p:sp>
      <p:sp>
        <p:nvSpPr>
          <p:cNvPr id="14" name="Text 12"/>
          <p:cNvSpPr/>
          <p:nvPr/>
        </p:nvSpPr>
        <p:spPr>
          <a:xfrm>
            <a:off x="10972800" y="1892808"/>
            <a:ext cx="502920" cy="274320"/>
          </a:xfrm>
          <a:prstGeom prst="rect">
            <a:avLst/>
          </a:prstGeom>
          <a:noFill/>
          <a:ln/>
        </p:spPr>
        <p:txBody>
          <a:bodyPr wrap="square" lIns="0" tIns="0" rIns="0" bIns="0" rtlCol="0" anchor="ctr"/>
          <a:lstStyle/>
          <a:p>
            <a:pPr indent="0" marL="0">
              <a:buNone/>
            </a:pPr>
            <a:r>
              <a:rPr lang="en-US" sz="1200" b="1" dirty="0">
                <a:solidFill>
                  <a:srgbClr val="202124"/>
                </a:solidFill>
                <a:latin typeface="Calibri" pitchFamily="34" charset="0"/>
                <a:ea typeface="Calibri" pitchFamily="34" charset="-122"/>
                <a:cs typeface="Calibri" pitchFamily="34" charset="-120"/>
              </a:rPr>
              <a:t>21</a:t>
            </a:r>
            <a:endParaRPr lang="en-US" sz="1200" dirty="0"/>
          </a:p>
        </p:txBody>
      </p:sp>
      <p:sp>
        <p:nvSpPr>
          <p:cNvPr id="15" name="Text 13"/>
          <p:cNvSpPr/>
          <p:nvPr/>
        </p:nvSpPr>
        <p:spPr>
          <a:xfrm>
            <a:off x="1325880" y="2131695"/>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6" name="Text 14"/>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7" name="Shape 15"/>
          <p:cNvSpPr/>
          <p:nvPr/>
        </p:nvSpPr>
        <p:spPr>
          <a:xfrm>
            <a:off x="548640" y="6062472"/>
            <a:ext cx="1143000" cy="512064"/>
          </a:xfrm>
          <a:prstGeom prst="roundRect">
            <a:avLst>
              <a:gd name="adj" fmla="val 12500"/>
            </a:avLst>
          </a:prstGeom>
          <a:solidFill>
            <a:srgbClr val="F1F3F4"/>
          </a:solidFill>
          <a:ln w="12700">
            <a:solidFill>
              <a:srgbClr val="DADCE0"/>
            </a:solidFill>
            <a:prstDash val="solid"/>
          </a:ln>
        </p:spPr>
      </p:sp>
      <p:sp>
        <p:nvSpPr>
          <p:cNvPr id="18" name="Text 16"/>
          <p:cNvSpPr/>
          <p:nvPr/>
        </p:nvSpPr>
        <p:spPr>
          <a:xfrm>
            <a:off x="640080"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cuantas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12</a:t>
            </a:r>
            <a:endParaRPr lang="en-US" sz="1200" dirty="0"/>
          </a:p>
        </p:txBody>
      </p:sp>
      <p:sp>
        <p:nvSpPr>
          <p:cNvPr id="19" name="Shape 17"/>
          <p:cNvSpPr/>
          <p:nvPr/>
        </p:nvSpPr>
        <p:spPr>
          <a:xfrm>
            <a:off x="1828800" y="6062472"/>
            <a:ext cx="1431950" cy="512064"/>
          </a:xfrm>
          <a:prstGeom prst="roundRect">
            <a:avLst>
              <a:gd name="adj" fmla="val 12500"/>
            </a:avLst>
          </a:prstGeom>
          <a:solidFill>
            <a:srgbClr val="F1F3F4"/>
          </a:solidFill>
          <a:ln w="12700">
            <a:solidFill>
              <a:srgbClr val="DADCE0"/>
            </a:solidFill>
            <a:prstDash val="solid"/>
          </a:ln>
        </p:spPr>
      </p:sp>
      <p:sp>
        <p:nvSpPr>
          <p:cNvPr id="20" name="Text 18"/>
          <p:cNvSpPr/>
          <p:nvPr/>
        </p:nvSpPr>
        <p:spPr>
          <a:xfrm>
            <a:off x="1920240" y="6071616"/>
            <a:ext cx="129479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comparar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24 × 8</a:t>
            </a:r>
            <a:endParaRPr lang="en-US" sz="1200" dirty="0"/>
          </a:p>
        </p:txBody>
      </p:sp>
      <p:sp>
        <p:nvSpPr>
          <p:cNvPr id="21" name="Shape 19"/>
          <p:cNvSpPr/>
          <p:nvPr/>
        </p:nvSpPr>
        <p:spPr>
          <a:xfrm>
            <a:off x="3397910" y="6062472"/>
            <a:ext cx="1431950" cy="512064"/>
          </a:xfrm>
          <a:prstGeom prst="roundRect">
            <a:avLst>
              <a:gd name="adj" fmla="val 12500"/>
            </a:avLst>
          </a:prstGeom>
          <a:solidFill>
            <a:srgbClr val="F1F3F4"/>
          </a:solidFill>
          <a:ln w="12700">
            <a:solidFill>
              <a:srgbClr val="DADCE0"/>
            </a:solidFill>
            <a:prstDash val="solid"/>
          </a:ln>
        </p:spPr>
      </p:sp>
      <p:sp>
        <p:nvSpPr>
          <p:cNvPr id="22" name="Text 20"/>
          <p:cNvSpPr/>
          <p:nvPr/>
        </p:nvSpPr>
        <p:spPr>
          <a:xfrm>
            <a:off x="3489350" y="6071616"/>
            <a:ext cx="129479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real</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24 × 4</a:t>
            </a:r>
            <a:endParaRPr lang="en-US" sz="1200" dirty="0"/>
          </a:p>
        </p:txBody>
      </p:sp>
      <p:sp>
        <p:nvSpPr>
          <p:cNvPr id="23" name="Shape 21"/>
          <p:cNvSpPr/>
          <p:nvPr/>
        </p:nvSpPr>
        <p:spPr>
          <a:xfrm>
            <a:off x="4967021" y="6062472"/>
            <a:ext cx="1714500" cy="512064"/>
          </a:xfrm>
          <a:prstGeom prst="roundRect">
            <a:avLst>
              <a:gd name="adj" fmla="val 12500"/>
            </a:avLst>
          </a:prstGeom>
          <a:solidFill>
            <a:srgbClr val="F1F3F4"/>
          </a:solidFill>
          <a:ln w="12700">
            <a:solidFill>
              <a:srgbClr val="DADCE0"/>
            </a:solidFill>
            <a:prstDash val="solid"/>
          </a:ln>
        </p:spPr>
      </p:sp>
      <p:sp>
        <p:nvSpPr>
          <p:cNvPr id="24" name="Text 22"/>
          <p:cNvSpPr/>
          <p:nvPr/>
        </p:nvSpPr>
        <p:spPr>
          <a:xfrm>
            <a:off x="5058461"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verdad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61488 × 4</a:t>
            </a:r>
            <a:endParaRPr lang="en-US" sz="1200" dirty="0"/>
          </a:p>
        </p:txBody>
      </p:sp>
      <p:sp>
        <p:nvSpPr>
          <p:cNvPr id="25" name="Shape 23"/>
          <p:cNvSpPr/>
          <p:nvPr/>
        </p:nvSpPr>
        <p:spPr>
          <a:xfrm>
            <a:off x="6818681" y="6062472"/>
            <a:ext cx="1337767" cy="512064"/>
          </a:xfrm>
          <a:prstGeom prst="roundRect">
            <a:avLst>
              <a:gd name="adj" fmla="val 12500"/>
            </a:avLst>
          </a:prstGeom>
          <a:solidFill>
            <a:srgbClr val="F1F3F4"/>
          </a:solidFill>
          <a:ln w="12700">
            <a:solidFill>
              <a:srgbClr val="DADCE0"/>
            </a:solidFill>
            <a:prstDash val="solid"/>
          </a:ln>
        </p:spPr>
      </p:sp>
      <p:sp>
        <p:nvSpPr>
          <p:cNvPr id="26" name="Text 24"/>
          <p:cNvSpPr/>
          <p:nvPr/>
        </p:nvSpPr>
        <p:spPr>
          <a:xfrm>
            <a:off x="6910121" y="6071616"/>
            <a:ext cx="120060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picos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7 × 4</a:t>
            </a:r>
            <a:endParaRPr lang="en-US" sz="1200" dirty="0"/>
          </a:p>
        </p:txBody>
      </p:sp>
      <p:sp>
        <p:nvSpPr>
          <p:cNvPr id="27" name="Shape 25"/>
          <p:cNvSpPr/>
          <p:nvPr/>
        </p:nvSpPr>
        <p:spPr>
          <a:xfrm>
            <a:off x="8293608" y="6062472"/>
            <a:ext cx="1337767" cy="512064"/>
          </a:xfrm>
          <a:prstGeom prst="roundRect">
            <a:avLst>
              <a:gd name="adj" fmla="val 12500"/>
            </a:avLst>
          </a:prstGeom>
          <a:solidFill>
            <a:srgbClr val="F1F3F4"/>
          </a:solidFill>
          <a:ln w="12700">
            <a:solidFill>
              <a:srgbClr val="DADCE0"/>
            </a:solidFill>
            <a:prstDash val="solid"/>
          </a:ln>
        </p:spPr>
      </p:sp>
      <p:sp>
        <p:nvSpPr>
          <p:cNvPr id="28" name="Text 26"/>
          <p:cNvSpPr/>
          <p:nvPr/>
        </p:nvSpPr>
        <p:spPr>
          <a:xfrm>
            <a:off x="8385048" y="6071616"/>
            <a:ext cx="120060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negativas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 × 4</a:t>
            </a:r>
            <a:endParaRPr lang="en-US" sz="1200" dirty="0"/>
          </a:p>
        </p:txBody>
      </p:sp>
      <p:sp>
        <p:nvSpPr>
          <p:cNvPr id="29" name="Text 27"/>
          <p:cNvSpPr/>
          <p:nvPr/>
        </p:nvSpPr>
        <p:spPr>
          <a:xfrm>
            <a:off x="9768535" y="6062472"/>
            <a:ext cx="1005840" cy="512064"/>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y 12 más</a:t>
            </a:r>
            <a:endParaRPr lang="en-US" sz="1200" dirty="0"/>
          </a:p>
        </p:txBody>
      </p:sp>
      <p:sp>
        <p:nvSpPr>
          <p:cNvPr id="30" name="Text 28"/>
          <p:cNvSpPr/>
          <p:nvPr/>
        </p:nvSpPr>
        <p:spPr>
          <a:xfrm>
            <a:off x="548640" y="6592824"/>
            <a:ext cx="11091672" cy="219456"/>
          </a:xfrm>
          <a:prstGeom prst="rect">
            <a:avLst/>
          </a:prstGeom>
          <a:noFill/>
          <a:ln/>
        </p:spPr>
        <p:txBody>
          <a:bodyPr wrap="square" lIns="0" tIns="0" rIns="0" bIns="0" rtlCol="0" anchor="ctr"/>
          <a:lstStyle/>
          <a:p>
            <a:pPr indent="0" marL="0">
              <a:buNone/>
            </a:pPr>
            <a:r>
              <a:rPr lang="en-US" sz="1300" dirty="0">
                <a:solidFill>
                  <a:srgbClr val="0B3D62"/>
                </a:solidFill>
                <a:latin typeface="Calibri" pitchFamily="34" charset="0"/>
                <a:ea typeface="Calibri" pitchFamily="34" charset="-122"/>
                <a:cs typeface="Calibri" pitchFamily="34" charset="-120"/>
              </a:rPr>
              <a:t>Mientras no se corra la celda, Python sigue recordando los valores anteriores.</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2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mira cómo está escrita cada región</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Se mueve el deslizador a 21 y se vuelve a correr la celda.</a:t>
            </a:r>
            <a:endParaRPr lang="en-US" sz="1400" dirty="0"/>
          </a:p>
        </p:txBody>
      </p:sp>
      <p:sp>
        <p:nvSpPr>
          <p:cNvPr id="6" name="Text 4"/>
          <p:cNvSpPr/>
          <p:nvPr/>
        </p:nvSpPr>
        <p:spPr>
          <a:xfrm>
            <a:off x="548640" y="1481328"/>
            <a:ext cx="5486400" cy="274320"/>
          </a:xfrm>
          <a:prstGeom prst="rect">
            <a:avLst/>
          </a:prstGeom>
          <a:noFill/>
          <a:ln/>
        </p:spPr>
        <p:txBody>
          <a:bodyPr wrap="square" lIns="0" tIns="0" rIns="0" bIns="0" rtlCol="0" anchor="ctr"/>
          <a:lstStyle/>
          <a:p>
            <a:pPr indent="0" marL="0">
              <a:buNone/>
            </a:pPr>
            <a:r>
              <a:rPr lang="en-US" sz="1300" b="1" dirty="0">
                <a:solidFill>
                  <a:srgbClr val="5F6368"/>
                </a:solidFill>
                <a:latin typeface="Calibri" pitchFamily="34" charset="0"/>
                <a:ea typeface="Calibri" pitchFamily="34" charset="-122"/>
                <a:cs typeface="Calibri" pitchFamily="34" charset="-120"/>
              </a:rPr>
              <a:t>Respuesta de la celda</a:t>
            </a:r>
            <a:endParaRPr lang="en-US" sz="1300" dirty="0"/>
          </a:p>
        </p:txBody>
      </p:sp>
      <p:sp>
        <p:nvSpPr>
          <p:cNvPr id="7" name="Shape 5"/>
          <p:cNvSpPr/>
          <p:nvPr/>
        </p:nvSpPr>
        <p:spPr>
          <a:xfrm>
            <a:off x="1325880" y="1828800"/>
            <a:ext cx="10314432" cy="3787445"/>
          </a:xfrm>
          <a:prstGeom prst="rect">
            <a:avLst/>
          </a:prstGeom>
          <a:solidFill>
            <a:srgbClr val="FFFFFF"/>
          </a:solidFill>
          <a:ln w="12700">
            <a:solidFill>
              <a:srgbClr val="DADCE0"/>
            </a:solidFill>
            <a:prstDash val="solid"/>
          </a:ln>
        </p:spPr>
      </p:sp>
      <p:sp>
        <p:nvSpPr>
          <p:cNvPr id="8" name="Text 6"/>
          <p:cNvSpPr/>
          <p:nvPr/>
        </p:nvSpPr>
        <p:spPr>
          <a:xfrm>
            <a:off x="1463040" y="1901952"/>
            <a:ext cx="10085832" cy="3659429"/>
          </a:xfrm>
          <a:prstGeom prst="rect">
            <a:avLst/>
          </a:prstGeom>
          <a:noFill/>
          <a:ln/>
        </p:spPr>
        <p:txBody>
          <a:bodyPr wrap="square" lIns="0" tIns="0" rIns="0" bIns="0" rtlCol="0" anchor="t"/>
          <a:lstStyle/>
          <a:p>
            <a:pPr indent="0" marL="0">
              <a:buNone/>
            </a:pPr>
            <a:r>
              <a:rPr lang="en-US" sz="900" dirty="0">
                <a:solidFill>
                  <a:srgbClr val="202124"/>
                </a:solidFill>
                <a:latin typeface="Courier New" pitchFamily="34" charset="0"/>
                <a:ea typeface="Courier New" pitchFamily="34" charset="-122"/>
                <a:cs typeface="Courier New" pitchFamily="34" charset="-120"/>
              </a:rPr>
              <a:t>region</a:t>
            </a:r>
            <a:endParaRPr lang="en-US" sz="900" dirty="0"/>
          </a:p>
          <a:p>
            <a:pPr indent="0" marL="0">
              <a:buNone/>
            </a:pPr>
            <a:r>
              <a:rPr lang="en-US" sz="900" dirty="0">
                <a:solidFill>
                  <a:srgbClr val="202124"/>
                </a:solidFill>
                <a:latin typeface="Courier New" pitchFamily="34" charset="0"/>
                <a:ea typeface="Courier New" pitchFamily="34" charset="-122"/>
                <a:cs typeface="Courier New" pitchFamily="34" charset="-120"/>
              </a:rPr>
              <a:t>Valparaíso        8714</a:t>
            </a:r>
            <a:endParaRPr lang="en-US" sz="900" dirty="0"/>
          </a:p>
          <a:p>
            <a:pPr indent="0" marL="0">
              <a:buNone/>
            </a:pPr>
            <a:r>
              <a:rPr lang="en-US" sz="900" dirty="0">
                <a:solidFill>
                  <a:srgbClr val="202124"/>
                </a:solidFill>
                <a:latin typeface="Courier New" pitchFamily="34" charset="0"/>
                <a:ea typeface="Courier New" pitchFamily="34" charset="-122"/>
                <a:cs typeface="Courier New" pitchFamily="34" charset="-120"/>
              </a:rPr>
              <a:t>Antofagasta       8713</a:t>
            </a:r>
            <a:endParaRPr lang="en-US" sz="900" dirty="0"/>
          </a:p>
          <a:p>
            <a:pPr indent="0" marL="0">
              <a:buNone/>
            </a:pPr>
            <a:r>
              <a:rPr lang="en-US" sz="900" dirty="0">
                <a:solidFill>
                  <a:srgbClr val="202124"/>
                </a:solidFill>
                <a:latin typeface="Courier New" pitchFamily="34" charset="0"/>
                <a:ea typeface="Courier New" pitchFamily="34" charset="-122"/>
                <a:cs typeface="Courier New" pitchFamily="34" charset="-120"/>
              </a:rPr>
              <a:t>Coquimbo          8707</a:t>
            </a:r>
            <a:endParaRPr lang="en-US" sz="900" dirty="0"/>
          </a:p>
          <a:p>
            <a:pPr indent="0" marL="0">
              <a:buNone/>
            </a:pPr>
            <a:r>
              <a:rPr lang="en-US" sz="900" dirty="0">
                <a:solidFill>
                  <a:srgbClr val="202124"/>
                </a:solidFill>
                <a:latin typeface="Courier New" pitchFamily="34" charset="0"/>
                <a:ea typeface="Courier New" pitchFamily="34" charset="-122"/>
                <a:cs typeface="Courier New" pitchFamily="34" charset="-120"/>
              </a:rPr>
              <a:t>Metropolitana     8698</a:t>
            </a:r>
            <a:endParaRPr lang="en-US" sz="900" dirty="0"/>
          </a:p>
          <a:p>
            <a:pPr indent="0" marL="0">
              <a:buNone/>
            </a:pPr>
            <a:r>
              <a:rPr lang="en-US" sz="900" dirty="0">
                <a:solidFill>
                  <a:srgbClr val="202124"/>
                </a:solidFill>
                <a:latin typeface="Courier New" pitchFamily="34" charset="0"/>
                <a:ea typeface="Courier New" pitchFamily="34" charset="-122"/>
                <a:cs typeface="Courier New" pitchFamily="34" charset="-120"/>
              </a:rPr>
              <a:t>Atacama           8693</a:t>
            </a:r>
            <a:endParaRPr lang="en-US" sz="900" dirty="0"/>
          </a:p>
          <a:p>
            <a:pPr indent="0" marL="0">
              <a:buNone/>
            </a:pPr>
            <a:r>
              <a:rPr lang="en-US" sz="900" dirty="0">
                <a:solidFill>
                  <a:srgbClr val="202124"/>
                </a:solidFill>
                <a:latin typeface="Courier New" pitchFamily="34" charset="0"/>
                <a:ea typeface="Courier New" pitchFamily="34" charset="-122"/>
                <a:cs typeface="Courier New" pitchFamily="34" charset="-120"/>
              </a:rPr>
              <a:t>Los Lagos         8686</a:t>
            </a:r>
            <a:endParaRPr lang="en-US" sz="900" dirty="0"/>
          </a:p>
          <a:p>
            <a:pPr indent="0" marL="0">
              <a:buNone/>
            </a:pPr>
            <a:r>
              <a:rPr lang="en-US" sz="900" dirty="0">
                <a:solidFill>
                  <a:srgbClr val="202124"/>
                </a:solidFill>
                <a:latin typeface="Courier New" pitchFamily="34" charset="0"/>
                <a:ea typeface="Courier New" pitchFamily="34" charset="-122"/>
                <a:cs typeface="Courier New" pitchFamily="34" charset="-120"/>
              </a:rPr>
              <a:t>Biobío            8683</a:t>
            </a:r>
            <a:endParaRPr lang="en-US" sz="900" dirty="0"/>
          </a:p>
          <a:p>
            <a:pPr indent="0" marL="0">
              <a:buNone/>
            </a:pPr>
            <a:r>
              <a:rPr lang="en-US" sz="900" dirty="0">
                <a:solidFill>
                  <a:srgbClr val="202124"/>
                </a:solidFill>
                <a:latin typeface="Courier New" pitchFamily="34" charset="0"/>
                <a:ea typeface="Courier New" pitchFamily="34" charset="-122"/>
                <a:cs typeface="Courier New" pitchFamily="34" charset="-120"/>
              </a:rPr>
              <a:t>biobío              26</a:t>
            </a:r>
            <a:endParaRPr lang="en-US" sz="900" dirty="0"/>
          </a:p>
          <a:p>
            <a:pPr indent="0" marL="0">
              <a:buNone/>
            </a:pPr>
            <a:r>
              <a:rPr lang="en-US" sz="900" dirty="0">
                <a:solidFill>
                  <a:srgbClr val="202124"/>
                </a:solidFill>
                <a:latin typeface="Courier New" pitchFamily="34" charset="0"/>
                <a:ea typeface="Courier New" pitchFamily="34" charset="-122"/>
                <a:cs typeface="Courier New" pitchFamily="34" charset="-120"/>
              </a:rPr>
              <a:t>BIOBÍO              21</a:t>
            </a:r>
            <a:endParaRPr lang="en-US" sz="900" dirty="0"/>
          </a:p>
          <a:p>
            <a:pPr indent="0" marL="0">
              <a:buNone/>
            </a:pPr>
            <a:r>
              <a:rPr lang="en-US" sz="900" dirty="0">
                <a:solidFill>
                  <a:srgbClr val="202124"/>
                </a:solidFill>
                <a:latin typeface="Courier New" pitchFamily="34" charset="0"/>
                <a:ea typeface="Courier New" pitchFamily="34" charset="-122"/>
                <a:cs typeface="Courier New" pitchFamily="34" charset="-120"/>
              </a:rPr>
              <a:t>los lagos           21</a:t>
            </a:r>
            <a:endParaRPr lang="en-US" sz="900" dirty="0"/>
          </a:p>
          <a:p>
            <a:pPr indent="0" marL="0">
              <a:buNone/>
            </a:pPr>
            <a:r>
              <a:rPr lang="en-US" sz="900" dirty="0">
                <a:solidFill>
                  <a:srgbClr val="202124"/>
                </a:solidFill>
                <a:latin typeface="Courier New" pitchFamily="34" charset="0"/>
                <a:ea typeface="Courier New" pitchFamily="34" charset="-122"/>
                <a:cs typeface="Courier New" pitchFamily="34" charset="-120"/>
              </a:rPr>
              <a:t>metropolitana       20</a:t>
            </a:r>
            <a:endParaRPr lang="en-US" sz="900" dirty="0"/>
          </a:p>
          <a:p>
            <a:pPr indent="0" marL="0">
              <a:buNone/>
            </a:pPr>
            <a:r>
              <a:rPr lang="en-US" sz="900" dirty="0">
                <a:solidFill>
                  <a:srgbClr val="202124"/>
                </a:solidFill>
                <a:latin typeface="Courier New" pitchFamily="34" charset="0"/>
                <a:ea typeface="Courier New" pitchFamily="34" charset="-122"/>
                <a:cs typeface="Courier New" pitchFamily="34" charset="-120"/>
              </a:rPr>
              <a:t>atacama             19</a:t>
            </a:r>
            <a:endParaRPr lang="en-US" sz="900" dirty="0"/>
          </a:p>
          <a:p>
            <a:pPr indent="0" marL="0">
              <a:buNone/>
            </a:pPr>
            <a:r>
              <a:rPr lang="en-US" sz="900" dirty="0">
                <a:solidFill>
                  <a:srgbClr val="202124"/>
                </a:solidFill>
                <a:latin typeface="Courier New" pitchFamily="34" charset="0"/>
                <a:ea typeface="Courier New" pitchFamily="34" charset="-122"/>
                <a:cs typeface="Courier New" pitchFamily="34" charset="-120"/>
              </a:rPr>
              <a:t>ATACAMA             18</a:t>
            </a:r>
            <a:endParaRPr lang="en-US" sz="900" dirty="0"/>
          </a:p>
          <a:p>
            <a:pPr indent="0" marL="0">
              <a:buNone/>
            </a:pPr>
            <a:r>
              <a:rPr lang="en-US" sz="900" dirty="0">
                <a:solidFill>
                  <a:srgbClr val="202124"/>
                </a:solidFill>
                <a:latin typeface="Courier New" pitchFamily="34" charset="0"/>
                <a:ea typeface="Courier New" pitchFamily="34" charset="-122"/>
                <a:cs typeface="Courier New" pitchFamily="34" charset="-120"/>
              </a:rPr>
              <a:t>Atacama             18</a:t>
            </a:r>
            <a:endParaRPr lang="en-US" sz="900" dirty="0"/>
          </a:p>
          <a:p>
            <a:pPr indent="0" marL="0">
              <a:buNone/>
            </a:pPr>
            <a:r>
              <a:rPr lang="en-US" sz="900" dirty="0">
                <a:solidFill>
                  <a:srgbClr val="202124"/>
                </a:solidFill>
                <a:latin typeface="Courier New" pitchFamily="34" charset="0"/>
                <a:ea typeface="Courier New" pitchFamily="34" charset="-122"/>
                <a:cs typeface="Courier New" pitchFamily="34" charset="-120"/>
              </a:rPr>
              <a:t> Coquimbo           18</a:t>
            </a:r>
            <a:endParaRPr lang="en-US" sz="900" dirty="0"/>
          </a:p>
          <a:p>
            <a:pPr indent="0" marL="0">
              <a:buNone/>
            </a:pPr>
            <a:r>
              <a:rPr lang="en-US" sz="900" dirty="0">
                <a:solidFill>
                  <a:srgbClr val="202124"/>
                </a:solidFill>
                <a:latin typeface="Courier New" pitchFamily="34" charset="0"/>
                <a:ea typeface="Courier New" pitchFamily="34" charset="-122"/>
                <a:cs typeface="Courier New" pitchFamily="34" charset="-120"/>
              </a:rPr>
              <a:t>Metropolitana       17</a:t>
            </a:r>
            <a:endParaRPr lang="en-US" sz="900" dirty="0"/>
          </a:p>
          <a:p>
            <a:pPr indent="0" marL="0">
              <a:buNone/>
            </a:pPr>
            <a:r>
              <a:rPr lang="en-US" sz="900" dirty="0">
                <a:solidFill>
                  <a:srgbClr val="202124"/>
                </a:solidFill>
                <a:latin typeface="Courier New" pitchFamily="34" charset="0"/>
                <a:ea typeface="Courier New" pitchFamily="34" charset="-122"/>
                <a:cs typeface="Courier New" pitchFamily="34" charset="-120"/>
              </a:rPr>
              <a:t> Biobío             17</a:t>
            </a:r>
            <a:endParaRPr lang="en-US" sz="900" dirty="0"/>
          </a:p>
          <a:p>
            <a:pPr indent="0" marL="0">
              <a:buNone/>
            </a:pPr>
            <a:r>
              <a:rPr lang="en-US" sz="900" dirty="0">
                <a:solidFill>
                  <a:srgbClr val="202124"/>
                </a:solidFill>
                <a:latin typeface="Courier New" pitchFamily="34" charset="0"/>
                <a:ea typeface="Courier New" pitchFamily="34" charset="-122"/>
                <a:cs typeface="Courier New" pitchFamily="34" charset="-120"/>
              </a:rPr>
              <a:t>Los Lagos           17</a:t>
            </a:r>
            <a:endParaRPr lang="en-US" sz="900" dirty="0"/>
          </a:p>
          <a:p>
            <a:pPr indent="0" marL="0">
              <a:buNone/>
            </a:pPr>
            <a:r>
              <a:rPr lang="en-US" sz="900" dirty="0">
                <a:solidFill>
                  <a:srgbClr val="202124"/>
                </a:solidFill>
                <a:latin typeface="Courier New" pitchFamily="34" charset="0"/>
                <a:ea typeface="Courier New" pitchFamily="34" charset="-122"/>
                <a:cs typeface="Courier New" pitchFamily="34" charset="-120"/>
              </a:rPr>
              <a:t>los lagos           17</a:t>
            </a:r>
            <a:endParaRPr lang="en-US" sz="900" dirty="0"/>
          </a:p>
          <a:p>
            <a:pPr indent="0" marL="0">
              <a:buNone/>
            </a:pPr>
            <a:r>
              <a:rPr lang="en-US" sz="900" dirty="0">
                <a:solidFill>
                  <a:srgbClr val="202124"/>
                </a:solidFill>
                <a:latin typeface="Courier New" pitchFamily="34" charset="0"/>
                <a:ea typeface="Courier New" pitchFamily="34" charset="-122"/>
                <a:cs typeface="Courier New" pitchFamily="34" charset="-120"/>
              </a:rPr>
              <a:t>  LOS LAGOS         17</a:t>
            </a:r>
            <a:endParaRPr lang="en-US" sz="900" dirty="0"/>
          </a:p>
          <a:p>
            <a:pPr indent="0" marL="0">
              <a:buNone/>
            </a:pPr>
            <a:r>
              <a:rPr lang="en-US" sz="900" dirty="0">
                <a:solidFill>
                  <a:srgbClr val="202124"/>
                </a:solidFill>
                <a:latin typeface="Courier New" pitchFamily="34" charset="0"/>
                <a:ea typeface="Courier New" pitchFamily="34" charset="-122"/>
                <a:cs typeface="Courier New" pitchFamily="34" charset="-120"/>
              </a:rPr>
              <a:t>coquimbo            16</a:t>
            </a:r>
            <a:endParaRPr lang="en-US" sz="900" dirty="0"/>
          </a:p>
          <a:p>
            <a:pPr indent="0" marL="0">
              <a:buNone/>
            </a:pPr>
            <a:r>
              <a:rPr lang="en-US" sz="900" dirty="0">
                <a:solidFill>
                  <a:srgbClr val="202124"/>
                </a:solidFill>
                <a:latin typeface="Courier New" pitchFamily="34" charset="0"/>
                <a:ea typeface="Courier New" pitchFamily="34" charset="-122"/>
                <a:cs typeface="Courier New" pitchFamily="34" charset="-120"/>
              </a:rPr>
              <a:t>Name: count, dtype: int64</a:t>
            </a:r>
            <a:endParaRPr lang="en-US" sz="900" dirty="0"/>
          </a:p>
        </p:txBody>
      </p:sp>
      <p:sp>
        <p:nvSpPr>
          <p:cNvPr id="9" name="Text 7"/>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0" name="Shape 8"/>
          <p:cNvSpPr/>
          <p:nvPr/>
        </p:nvSpPr>
        <p:spPr>
          <a:xfrm>
            <a:off x="548640" y="6062472"/>
            <a:ext cx="1143000" cy="512064"/>
          </a:xfrm>
          <a:prstGeom prst="roundRect">
            <a:avLst>
              <a:gd name="adj" fmla="val 12500"/>
            </a:avLst>
          </a:prstGeom>
          <a:solidFill>
            <a:srgbClr val="FEF3D6"/>
          </a:solidFill>
          <a:ln w="25400">
            <a:solidFill>
              <a:srgbClr val="F9AB00"/>
            </a:solidFill>
            <a:prstDash val="solid"/>
          </a:ln>
        </p:spPr>
      </p:sp>
      <p:sp>
        <p:nvSpPr>
          <p:cNvPr id="11" name="Text 9"/>
          <p:cNvSpPr/>
          <p:nvPr/>
        </p:nvSpPr>
        <p:spPr>
          <a:xfrm>
            <a:off x="640080"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cuantas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21</a:t>
            </a:r>
            <a:endParaRPr lang="en-US" sz="1200" dirty="0"/>
          </a:p>
        </p:txBody>
      </p:sp>
      <p:sp>
        <p:nvSpPr>
          <p:cNvPr id="12" name="Shape 10"/>
          <p:cNvSpPr/>
          <p:nvPr/>
        </p:nvSpPr>
        <p:spPr>
          <a:xfrm>
            <a:off x="1828800" y="6062472"/>
            <a:ext cx="1714500" cy="512064"/>
          </a:xfrm>
          <a:prstGeom prst="roundRect">
            <a:avLst>
              <a:gd name="adj" fmla="val 12500"/>
            </a:avLst>
          </a:prstGeom>
          <a:solidFill>
            <a:srgbClr val="E8F0FE"/>
          </a:solidFill>
          <a:ln w="28575">
            <a:solidFill>
              <a:srgbClr val="1A73E8"/>
            </a:solidFill>
            <a:prstDash val="solid"/>
          </a:ln>
        </p:spPr>
      </p:sp>
      <p:sp>
        <p:nvSpPr>
          <p:cNvPr id="13" name="Text 11"/>
          <p:cNvSpPr/>
          <p:nvPr/>
        </p:nvSpPr>
        <p:spPr>
          <a:xfrm>
            <a:off x="1920240"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sucia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61508 × 4</a:t>
            </a:r>
            <a:endParaRPr lang="en-US" sz="1200" dirty="0"/>
          </a:p>
        </p:txBody>
      </p:sp>
      <p:sp>
        <p:nvSpPr>
          <p:cNvPr id="14" name="Shape 12"/>
          <p:cNvSpPr/>
          <p:nvPr/>
        </p:nvSpPr>
        <p:spPr>
          <a:xfrm>
            <a:off x="3680460" y="6062472"/>
            <a:ext cx="1431950" cy="512064"/>
          </a:xfrm>
          <a:prstGeom prst="roundRect">
            <a:avLst>
              <a:gd name="adj" fmla="val 12500"/>
            </a:avLst>
          </a:prstGeom>
          <a:solidFill>
            <a:srgbClr val="F1F3F4"/>
          </a:solidFill>
          <a:ln w="12700">
            <a:solidFill>
              <a:srgbClr val="DADCE0"/>
            </a:solidFill>
            <a:prstDash val="solid"/>
          </a:ln>
        </p:spPr>
      </p:sp>
      <p:sp>
        <p:nvSpPr>
          <p:cNvPr id="15" name="Text 13"/>
          <p:cNvSpPr/>
          <p:nvPr/>
        </p:nvSpPr>
        <p:spPr>
          <a:xfrm>
            <a:off x="3771900" y="6071616"/>
            <a:ext cx="129479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comparar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24 × 8</a:t>
            </a:r>
            <a:endParaRPr lang="en-US" sz="1200" dirty="0"/>
          </a:p>
        </p:txBody>
      </p:sp>
      <p:sp>
        <p:nvSpPr>
          <p:cNvPr id="16" name="Shape 14"/>
          <p:cNvSpPr/>
          <p:nvPr/>
        </p:nvSpPr>
        <p:spPr>
          <a:xfrm>
            <a:off x="5249570" y="6062472"/>
            <a:ext cx="1431950" cy="512064"/>
          </a:xfrm>
          <a:prstGeom prst="roundRect">
            <a:avLst>
              <a:gd name="adj" fmla="val 12500"/>
            </a:avLst>
          </a:prstGeom>
          <a:solidFill>
            <a:srgbClr val="F1F3F4"/>
          </a:solidFill>
          <a:ln w="12700">
            <a:solidFill>
              <a:srgbClr val="DADCE0"/>
            </a:solidFill>
            <a:prstDash val="solid"/>
          </a:ln>
        </p:spPr>
      </p:sp>
      <p:sp>
        <p:nvSpPr>
          <p:cNvPr id="17" name="Text 15"/>
          <p:cNvSpPr/>
          <p:nvPr/>
        </p:nvSpPr>
        <p:spPr>
          <a:xfrm>
            <a:off x="5341010" y="6071616"/>
            <a:ext cx="129479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real</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24 × 4</a:t>
            </a:r>
            <a:endParaRPr lang="en-US" sz="1200" dirty="0"/>
          </a:p>
        </p:txBody>
      </p:sp>
      <p:sp>
        <p:nvSpPr>
          <p:cNvPr id="18" name="Shape 16"/>
          <p:cNvSpPr/>
          <p:nvPr/>
        </p:nvSpPr>
        <p:spPr>
          <a:xfrm>
            <a:off x="6818681" y="6062472"/>
            <a:ext cx="1714500" cy="512064"/>
          </a:xfrm>
          <a:prstGeom prst="roundRect">
            <a:avLst>
              <a:gd name="adj" fmla="val 12500"/>
            </a:avLst>
          </a:prstGeom>
          <a:solidFill>
            <a:srgbClr val="F1F3F4"/>
          </a:solidFill>
          <a:ln w="12700">
            <a:solidFill>
              <a:srgbClr val="DADCE0"/>
            </a:solidFill>
            <a:prstDash val="solid"/>
          </a:ln>
        </p:spPr>
      </p:sp>
      <p:sp>
        <p:nvSpPr>
          <p:cNvPr id="19" name="Text 17"/>
          <p:cNvSpPr/>
          <p:nvPr/>
        </p:nvSpPr>
        <p:spPr>
          <a:xfrm>
            <a:off x="6910121"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verdad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61488 × 4</a:t>
            </a:r>
            <a:endParaRPr lang="en-US" sz="1200" dirty="0"/>
          </a:p>
        </p:txBody>
      </p:sp>
      <p:sp>
        <p:nvSpPr>
          <p:cNvPr id="20" name="Shape 18"/>
          <p:cNvSpPr/>
          <p:nvPr/>
        </p:nvSpPr>
        <p:spPr>
          <a:xfrm>
            <a:off x="8670341" y="6062472"/>
            <a:ext cx="1337767" cy="512064"/>
          </a:xfrm>
          <a:prstGeom prst="roundRect">
            <a:avLst>
              <a:gd name="adj" fmla="val 12500"/>
            </a:avLst>
          </a:prstGeom>
          <a:solidFill>
            <a:srgbClr val="F1F3F4"/>
          </a:solidFill>
          <a:ln w="12700">
            <a:solidFill>
              <a:srgbClr val="DADCE0"/>
            </a:solidFill>
            <a:prstDash val="solid"/>
          </a:ln>
        </p:spPr>
      </p:sp>
      <p:sp>
        <p:nvSpPr>
          <p:cNvPr id="21" name="Text 19"/>
          <p:cNvSpPr/>
          <p:nvPr/>
        </p:nvSpPr>
        <p:spPr>
          <a:xfrm>
            <a:off x="8761781" y="6071616"/>
            <a:ext cx="120060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picos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7 × 4</a:t>
            </a:r>
            <a:endParaRPr lang="en-US" sz="1200" dirty="0"/>
          </a:p>
        </p:txBody>
      </p:sp>
      <p:sp>
        <p:nvSpPr>
          <p:cNvPr id="22" name="Text 20"/>
          <p:cNvSpPr/>
          <p:nvPr/>
        </p:nvSpPr>
        <p:spPr>
          <a:xfrm>
            <a:off x="10145268" y="6062472"/>
            <a:ext cx="1005840" cy="512064"/>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y 12 más</a:t>
            </a:r>
            <a:endParaRPr lang="en-US" sz="1200" dirty="0"/>
          </a:p>
        </p:txBody>
      </p:sp>
      <p:sp>
        <p:nvSpPr>
          <p:cNvPr id="23" name="Text 21"/>
          <p:cNvSpPr/>
          <p:nvPr/>
        </p:nvSpPr>
        <p:spPr>
          <a:xfrm>
            <a:off x="548640" y="6592824"/>
            <a:ext cx="11091672" cy="219456"/>
          </a:xfrm>
          <a:prstGeom prst="rect">
            <a:avLst/>
          </a:prstGeom>
          <a:noFill/>
          <a:ln/>
        </p:spPr>
        <p:txBody>
          <a:bodyPr wrap="square" lIns="0" tIns="0" rIns="0" bIns="0" rtlCol="0" anchor="ctr"/>
          <a:lstStyle/>
          <a:p>
            <a:pPr indent="0" marL="0">
              <a:buNone/>
            </a:pPr>
            <a:r>
              <a:rPr lang="en-US" sz="1300" dirty="0">
                <a:solidFill>
                  <a:srgbClr val="0B3D62"/>
                </a:solidFill>
                <a:latin typeface="Calibri" pitchFamily="34" charset="0"/>
                <a:ea typeface="Calibri" pitchFamily="34" charset="-122"/>
                <a:cs typeface="Calibri" pitchFamily="34" charset="-120"/>
              </a:rPr>
              <a:t>Con 21 filas aparecen más formas mal escritas, todas con pocas filas.</a:t>
            </a:r>
            <a:endParaRPr lang="en-US" sz="13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2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mira cómo está escrita cada región</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hay que llevarse de este paso.</a:t>
            </a:r>
            <a:endParaRPr lang="en-US" sz="1400" dirty="0"/>
          </a:p>
        </p:txBody>
      </p:sp>
      <p:sp>
        <p:nvSpPr>
          <p:cNvPr id="6" name="Shape 4"/>
          <p:cNvSpPr/>
          <p:nvPr/>
        </p:nvSpPr>
        <p:spPr>
          <a:xfrm>
            <a:off x="548640" y="1828800"/>
            <a:ext cx="11091672" cy="2377440"/>
          </a:xfrm>
          <a:prstGeom prst="roundRect">
            <a:avLst>
              <a:gd name="adj" fmla="val 3846"/>
            </a:avLst>
          </a:prstGeom>
          <a:solidFill>
            <a:srgbClr val="FFF8D6"/>
          </a:solidFill>
          <a:ln w="12700">
            <a:solidFill>
              <a:srgbClr val="FFF8D6"/>
            </a:solidFill>
            <a:prstDash val="solid"/>
          </a:ln>
        </p:spPr>
      </p:sp>
      <p:sp>
        <p:nvSpPr>
          <p:cNvPr id="7" name="Text 5"/>
          <p:cNvSpPr/>
          <p:nvPr/>
        </p:nvSpPr>
        <p:spPr>
          <a:xfrm>
            <a:off x="1005840" y="2057400"/>
            <a:ext cx="10177272" cy="1005840"/>
          </a:xfrm>
          <a:prstGeom prst="rect">
            <a:avLst/>
          </a:prstGeom>
          <a:noFill/>
          <a:ln/>
        </p:spPr>
        <p:txBody>
          <a:bodyPr wrap="square" lIns="0" tIns="0" rIns="0" bIns="0" rtlCol="0" anchor="t"/>
          <a:lstStyle/>
          <a:p>
            <a:pPr indent="0" marL="0">
              <a:buNone/>
            </a:pPr>
            <a:r>
              <a:rPr lang="en-US" sz="2800" b="1" dirty="0">
                <a:solidFill>
                  <a:srgbClr val="8A6D00"/>
                </a:solidFill>
                <a:latin typeface="Calibri" pitchFamily="34" charset="0"/>
                <a:ea typeface="Calibri" pitchFamily="34" charset="-122"/>
                <a:cs typeface="Calibri" pitchFamily="34" charset="-120"/>
              </a:rPr>
              <a:t>value_counts muestra qué trae una columna.</a:t>
            </a:r>
            <a:endParaRPr lang="en-US" sz="2800" dirty="0"/>
          </a:p>
        </p:txBody>
      </p:sp>
      <p:sp>
        <p:nvSpPr>
          <p:cNvPr id="8" name="Text 6"/>
          <p:cNvSpPr/>
          <p:nvPr/>
        </p:nvSpPr>
        <p:spPr>
          <a:xfrm>
            <a:off x="1005840" y="3154680"/>
            <a:ext cx="10177272" cy="914400"/>
          </a:xfrm>
          <a:prstGeom prst="rect">
            <a:avLst/>
          </a:prstGeom>
          <a:noFill/>
          <a:ln/>
        </p:spPr>
        <p:txBody>
          <a:bodyPr wrap="square" lIns="0" tIns="0" rIns="0" bIns="0" rtlCol="0" anchor="t"/>
          <a:lstStyle/>
          <a:p>
            <a:pPr indent="0" marL="0">
              <a:buNone/>
            </a:pPr>
            <a:r>
              <a:rPr lang="en-US" sz="2200" dirty="0">
                <a:solidFill>
                  <a:srgbClr val="202124"/>
                </a:solidFill>
                <a:latin typeface="Calibri" pitchFamily="34" charset="0"/>
                <a:ea typeface="Calibri" pitchFamily="34" charset="-122"/>
                <a:cs typeface="Calibri" pitchFamily="34" charset="-120"/>
              </a:rPr>
              <a:t>Si hay más valores distintos de los que debería haber, hay nombres mal escritos.</a:t>
            </a:r>
            <a:endParaRPr lang="en-US" sz="2200" dirty="0"/>
          </a:p>
        </p:txBody>
      </p:sp>
      <p:sp>
        <p:nvSpPr>
          <p:cNvPr id="9" name="Text 7"/>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0" name="Shape 8"/>
          <p:cNvSpPr/>
          <p:nvPr/>
        </p:nvSpPr>
        <p:spPr>
          <a:xfrm>
            <a:off x="548640" y="6062472"/>
            <a:ext cx="1143000" cy="512064"/>
          </a:xfrm>
          <a:prstGeom prst="roundRect">
            <a:avLst>
              <a:gd name="adj" fmla="val 12500"/>
            </a:avLst>
          </a:prstGeom>
          <a:solidFill>
            <a:srgbClr val="FEF3D6"/>
          </a:solidFill>
          <a:ln w="25400">
            <a:solidFill>
              <a:srgbClr val="F9AB00"/>
            </a:solidFill>
            <a:prstDash val="solid"/>
          </a:ln>
        </p:spPr>
      </p:sp>
      <p:sp>
        <p:nvSpPr>
          <p:cNvPr id="11" name="Text 9"/>
          <p:cNvSpPr/>
          <p:nvPr/>
        </p:nvSpPr>
        <p:spPr>
          <a:xfrm>
            <a:off x="640080"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cuantas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21</a:t>
            </a:r>
            <a:endParaRPr lang="en-US" sz="1200" dirty="0"/>
          </a:p>
        </p:txBody>
      </p:sp>
      <p:sp>
        <p:nvSpPr>
          <p:cNvPr id="12" name="Shape 10"/>
          <p:cNvSpPr/>
          <p:nvPr/>
        </p:nvSpPr>
        <p:spPr>
          <a:xfrm>
            <a:off x="1828800" y="6062472"/>
            <a:ext cx="1714500" cy="512064"/>
          </a:xfrm>
          <a:prstGeom prst="roundRect">
            <a:avLst>
              <a:gd name="adj" fmla="val 12500"/>
            </a:avLst>
          </a:prstGeom>
          <a:solidFill>
            <a:srgbClr val="E8F0FE"/>
          </a:solidFill>
          <a:ln w="28575">
            <a:solidFill>
              <a:srgbClr val="1A73E8"/>
            </a:solidFill>
            <a:prstDash val="solid"/>
          </a:ln>
        </p:spPr>
      </p:sp>
      <p:sp>
        <p:nvSpPr>
          <p:cNvPr id="13" name="Text 11"/>
          <p:cNvSpPr/>
          <p:nvPr/>
        </p:nvSpPr>
        <p:spPr>
          <a:xfrm>
            <a:off x="1920240"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sucia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61508 × 4</a:t>
            </a:r>
            <a:endParaRPr lang="en-US" sz="1200" dirty="0"/>
          </a:p>
        </p:txBody>
      </p:sp>
      <p:sp>
        <p:nvSpPr>
          <p:cNvPr id="14" name="Shape 12"/>
          <p:cNvSpPr/>
          <p:nvPr/>
        </p:nvSpPr>
        <p:spPr>
          <a:xfrm>
            <a:off x="3680460" y="6062472"/>
            <a:ext cx="1431950" cy="512064"/>
          </a:xfrm>
          <a:prstGeom prst="roundRect">
            <a:avLst>
              <a:gd name="adj" fmla="val 12500"/>
            </a:avLst>
          </a:prstGeom>
          <a:solidFill>
            <a:srgbClr val="F1F3F4"/>
          </a:solidFill>
          <a:ln w="12700">
            <a:solidFill>
              <a:srgbClr val="DADCE0"/>
            </a:solidFill>
            <a:prstDash val="solid"/>
          </a:ln>
        </p:spPr>
      </p:sp>
      <p:sp>
        <p:nvSpPr>
          <p:cNvPr id="15" name="Text 13"/>
          <p:cNvSpPr/>
          <p:nvPr/>
        </p:nvSpPr>
        <p:spPr>
          <a:xfrm>
            <a:off x="3771900" y="6071616"/>
            <a:ext cx="129479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comparar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24 × 8</a:t>
            </a:r>
            <a:endParaRPr lang="en-US" sz="1200" dirty="0"/>
          </a:p>
        </p:txBody>
      </p:sp>
      <p:sp>
        <p:nvSpPr>
          <p:cNvPr id="16" name="Shape 14"/>
          <p:cNvSpPr/>
          <p:nvPr/>
        </p:nvSpPr>
        <p:spPr>
          <a:xfrm>
            <a:off x="5249570" y="6062472"/>
            <a:ext cx="1431950" cy="512064"/>
          </a:xfrm>
          <a:prstGeom prst="roundRect">
            <a:avLst>
              <a:gd name="adj" fmla="val 12500"/>
            </a:avLst>
          </a:prstGeom>
          <a:solidFill>
            <a:srgbClr val="F1F3F4"/>
          </a:solidFill>
          <a:ln w="12700">
            <a:solidFill>
              <a:srgbClr val="DADCE0"/>
            </a:solidFill>
            <a:prstDash val="solid"/>
          </a:ln>
        </p:spPr>
      </p:sp>
      <p:sp>
        <p:nvSpPr>
          <p:cNvPr id="17" name="Text 15"/>
          <p:cNvSpPr/>
          <p:nvPr/>
        </p:nvSpPr>
        <p:spPr>
          <a:xfrm>
            <a:off x="5341010" y="6071616"/>
            <a:ext cx="129479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real</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24 × 4</a:t>
            </a:r>
            <a:endParaRPr lang="en-US" sz="1200" dirty="0"/>
          </a:p>
        </p:txBody>
      </p:sp>
      <p:sp>
        <p:nvSpPr>
          <p:cNvPr id="18" name="Shape 16"/>
          <p:cNvSpPr/>
          <p:nvPr/>
        </p:nvSpPr>
        <p:spPr>
          <a:xfrm>
            <a:off x="6818681" y="6062472"/>
            <a:ext cx="1714500" cy="512064"/>
          </a:xfrm>
          <a:prstGeom prst="roundRect">
            <a:avLst>
              <a:gd name="adj" fmla="val 12500"/>
            </a:avLst>
          </a:prstGeom>
          <a:solidFill>
            <a:srgbClr val="F1F3F4"/>
          </a:solidFill>
          <a:ln w="12700">
            <a:solidFill>
              <a:srgbClr val="DADCE0"/>
            </a:solidFill>
            <a:prstDash val="solid"/>
          </a:ln>
        </p:spPr>
      </p:sp>
      <p:sp>
        <p:nvSpPr>
          <p:cNvPr id="19" name="Text 17"/>
          <p:cNvSpPr/>
          <p:nvPr/>
        </p:nvSpPr>
        <p:spPr>
          <a:xfrm>
            <a:off x="6910121"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verdad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61488 × 4</a:t>
            </a:r>
            <a:endParaRPr lang="en-US" sz="1200" dirty="0"/>
          </a:p>
        </p:txBody>
      </p:sp>
      <p:sp>
        <p:nvSpPr>
          <p:cNvPr id="20" name="Shape 18"/>
          <p:cNvSpPr/>
          <p:nvPr/>
        </p:nvSpPr>
        <p:spPr>
          <a:xfrm>
            <a:off x="8670341" y="6062472"/>
            <a:ext cx="1337767" cy="512064"/>
          </a:xfrm>
          <a:prstGeom prst="roundRect">
            <a:avLst>
              <a:gd name="adj" fmla="val 12500"/>
            </a:avLst>
          </a:prstGeom>
          <a:solidFill>
            <a:srgbClr val="F1F3F4"/>
          </a:solidFill>
          <a:ln w="12700">
            <a:solidFill>
              <a:srgbClr val="DADCE0"/>
            </a:solidFill>
            <a:prstDash val="solid"/>
          </a:ln>
        </p:spPr>
      </p:sp>
      <p:sp>
        <p:nvSpPr>
          <p:cNvPr id="21" name="Text 19"/>
          <p:cNvSpPr/>
          <p:nvPr/>
        </p:nvSpPr>
        <p:spPr>
          <a:xfrm>
            <a:off x="8761781" y="6071616"/>
            <a:ext cx="120060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picos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7 × 4</a:t>
            </a:r>
            <a:endParaRPr lang="en-US" sz="1200" dirty="0"/>
          </a:p>
        </p:txBody>
      </p:sp>
      <p:sp>
        <p:nvSpPr>
          <p:cNvPr id="22" name="Text 20"/>
          <p:cNvSpPr/>
          <p:nvPr/>
        </p:nvSpPr>
        <p:spPr>
          <a:xfrm>
            <a:off x="10145268" y="6062472"/>
            <a:ext cx="1005840" cy="512064"/>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y 12 más</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3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¿Cuánto consume una región en una hora normal?</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el promedio y la mediana de todo el país y de cada región.</a:t>
            </a:r>
            <a:endParaRPr lang="en-US" sz="1400" dirty="0"/>
          </a:p>
        </p:txBody>
      </p:sp>
      <p:pic>
        <p:nvPicPr>
          <p:cNvPr id="6" name="Image 0" descr="../work35/modulos/modulo03/img/lab03_estudio3_mediana.png">    </p:cNvPr>
          <p:cNvPicPr>
            <a:picLocks noChangeAspect="1"/>
          </p:cNvPicPr>
          <p:nvPr/>
        </p:nvPicPr>
        <p:blipFill>
          <a:blip r:embed="rId1"/>
          <a:stretch>
            <a:fillRect/>
          </a:stretch>
        </p:blipFill>
        <p:spPr>
          <a:xfrm>
            <a:off x="548640" y="1463040"/>
            <a:ext cx="11091672" cy="4240792"/>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3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¿Cuánto consume una región en una hora normal?</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Compara el promedio y la mediana de todo el país con los de cada región.</a:t>
            </a:r>
            <a:endParaRPr lang="en-US" sz="1400" dirty="0"/>
          </a:p>
        </p:txBody>
      </p:sp>
      <p:sp>
        <p:nvSpPr>
          <p:cNvPr id="6" name="Shape 4"/>
          <p:cNvSpPr/>
          <p:nvPr/>
        </p:nvSpPr>
        <p:spPr>
          <a:xfrm>
            <a:off x="548640" y="1481328"/>
            <a:ext cx="11091672" cy="1526191"/>
          </a:xfrm>
          <a:prstGeom prst="roundRect">
            <a:avLst>
              <a:gd name="adj" fmla="val 3595"/>
            </a:avLst>
          </a:prstGeom>
          <a:solidFill>
            <a:srgbClr val="F8F9FA"/>
          </a:solidFill>
          <a:ln w="25400">
            <a:solidFill>
              <a:srgbClr val="F9AB00"/>
            </a:solidFill>
            <a:prstDash val="solid"/>
          </a:ln>
        </p:spPr>
      </p:sp>
      <p:sp>
        <p:nvSpPr>
          <p:cNvPr id="7"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8"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9" name="Text 7"/>
          <p:cNvSpPr/>
          <p:nvPr/>
        </p:nvSpPr>
        <p:spPr>
          <a:xfrm>
            <a:off x="1325880" y="1600200"/>
            <a:ext cx="10085832" cy="1334167"/>
          </a:xfrm>
          <a:prstGeom prst="rect">
            <a:avLst/>
          </a:prstGeom>
          <a:noFill/>
          <a:ln/>
        </p:spPr>
        <p:txBody>
          <a:bodyPr wrap="square" lIns="0" tIns="0" rIns="0" bIns="0" rtlCol="0" anchor="t"/>
          <a:lstStyle/>
          <a:p>
            <a:pPr indent="0" marL="0">
              <a:buNone/>
            </a:pPr>
            <a:r>
              <a:rPr lang="en-US" sz="1150" dirty="0">
                <a:solidFill>
                  <a:srgbClr val="188038"/>
                </a:solidFill>
                <a:latin typeface="Courier New" pitchFamily="34" charset="0"/>
                <a:ea typeface="Courier New" pitchFamily="34" charset="-122"/>
                <a:cs typeface="Courier New" pitchFamily="34" charset="-120"/>
              </a:rPr>
              <a:t># Estudio 3</a:t>
            </a:r>
            <a:endParaRPr lang="en-US" sz="1150" dirty="0"/>
          </a:p>
          <a:p>
            <a:pPr indent="0" marL="0">
              <a:buNone/>
            </a:pPr>
            <a:r>
              <a:rPr lang="en-US" sz="1150" dirty="0">
                <a:solidFill>
                  <a:srgbClr val="188038"/>
                </a:solidFill>
                <a:latin typeface="Courier New" pitchFamily="34" charset="0"/>
                <a:ea typeface="Courier New" pitchFamily="34" charset="-122"/>
                <a:cs typeface="Courier New" pitchFamily="34" charset="-120"/>
              </a:rPr>
              <a:t># La mediana es el valor del medio. La mitad de las horas está por debajo y la otra mitad por encima.</a:t>
            </a:r>
            <a:endParaRPr lang="en-US" sz="1150" dirty="0"/>
          </a:p>
          <a:p>
            <a:pPr indent="0" marL="0">
              <a:buNone/>
            </a:pPr>
            <a:r>
              <a:rPr lang="en-US" sz="1150" dirty="0">
                <a:solidFill>
                  <a:srgbClr val="202124"/>
                </a:solidFill>
                <a:latin typeface="Courier New" pitchFamily="34" charset="0"/>
                <a:ea typeface="Courier New" pitchFamily="34" charset="-122"/>
                <a:cs typeface="Courier New" pitchFamily="34" charset="-120"/>
              </a:rPr>
              <a:t>print(</a:t>
            </a:r>
            <a:pPr indent="0" marL="0">
              <a:buNone/>
            </a:pPr>
            <a:r>
              <a:rPr lang="en-US" sz="1150" dirty="0">
                <a:solidFill>
                  <a:srgbClr val="A31515"/>
                </a:solidFill>
                <a:latin typeface="Courier New" pitchFamily="34" charset="0"/>
                <a:ea typeface="Courier New" pitchFamily="34" charset="-122"/>
                <a:cs typeface="Courier New" pitchFamily="34" charset="-120"/>
              </a:rPr>
              <a:t>"Todo el país junto"</a:t>
            </a:r>
            <a:pPr indent="0" marL="0">
              <a:buNone/>
            </a:pPr>
            <a:r>
              <a:rPr lang="en-US" sz="1150" dirty="0">
                <a:solidFill>
                  <a:srgbClr val="202124"/>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202124"/>
                </a:solidFill>
                <a:latin typeface="Courier New" pitchFamily="34" charset="0"/>
                <a:ea typeface="Courier New" pitchFamily="34" charset="-122"/>
                <a:cs typeface="Courier New" pitchFamily="34" charset="-120"/>
              </a:rPr>
              <a:t>print(</a:t>
            </a:r>
            <a:pPr indent="0" marL="0">
              <a:buNone/>
            </a:pPr>
            <a:r>
              <a:rPr lang="en-US" sz="1150" dirty="0">
                <a:solidFill>
                  <a:srgbClr val="A31515"/>
                </a:solidFill>
                <a:latin typeface="Courier New" pitchFamily="34" charset="0"/>
                <a:ea typeface="Courier New" pitchFamily="34" charset="-122"/>
                <a:cs typeface="Courier New" pitchFamily="34" charset="-120"/>
              </a:rPr>
              <a:t>"  Promedio"</a:t>
            </a:r>
            <a:pPr indent="0" marL="0">
              <a:buNone/>
            </a:pPr>
            <a:r>
              <a:rPr lang="en-US" sz="1150" dirty="0">
                <a:solidFill>
                  <a:srgbClr val="202124"/>
                </a:solidFill>
                <a:latin typeface="Courier New" pitchFamily="34" charset="0"/>
                <a:ea typeface="Courier New" pitchFamily="34" charset="-122"/>
                <a:cs typeface="Courier New" pitchFamily="34" charset="-120"/>
              </a:rPr>
              <a:t>, round(sin_repetidas[</a:t>
            </a:r>
            <a:pPr indent="0" marL="0">
              <a:buNone/>
            </a:pPr>
            <a:r>
              <a:rPr lang="en-US" sz="1150" dirty="0">
                <a:solidFill>
                  <a:srgbClr val="A31515"/>
                </a:solidFill>
                <a:latin typeface="Courier New" pitchFamily="34" charset="0"/>
                <a:ea typeface="Courier New" pitchFamily="34" charset="-122"/>
                <a:cs typeface="Courier New" pitchFamily="34" charset="-120"/>
              </a:rPr>
              <a:t>"mwh"</a:t>
            </a:r>
            <a:pPr indent="0" marL="0">
              <a:buNone/>
            </a:pPr>
            <a:r>
              <a:rPr lang="en-US" sz="1150" dirty="0">
                <a:solidFill>
                  <a:srgbClr val="202124"/>
                </a:solidFill>
                <a:latin typeface="Courier New" pitchFamily="34" charset="0"/>
                <a:ea typeface="Courier New" pitchFamily="34" charset="-122"/>
                <a:cs typeface="Courier New" pitchFamily="34" charset="-120"/>
              </a:rPr>
              <a:t>].mean(), 1), </a:t>
            </a:r>
            <a:pPr indent="0" marL="0">
              <a:buNone/>
            </a:pPr>
            <a:r>
              <a:rPr lang="en-US" sz="1150" dirty="0">
                <a:solidFill>
                  <a:srgbClr val="A31515"/>
                </a:solidFill>
                <a:latin typeface="Courier New" pitchFamily="34" charset="0"/>
                <a:ea typeface="Courier New" pitchFamily="34" charset="-122"/>
                <a:cs typeface="Courier New" pitchFamily="34" charset="-120"/>
              </a:rPr>
              <a:t>" Mediana"</a:t>
            </a:r>
            <a:pPr indent="0" marL="0">
              <a:buNone/>
            </a:pPr>
            <a:r>
              <a:rPr lang="en-US" sz="1150" dirty="0">
                <a:solidFill>
                  <a:srgbClr val="202124"/>
                </a:solidFill>
                <a:latin typeface="Courier New" pitchFamily="34" charset="0"/>
                <a:ea typeface="Courier New" pitchFamily="34" charset="-122"/>
                <a:cs typeface="Courier New" pitchFamily="34" charset="-120"/>
              </a:rPr>
              <a:t>, round(sin_repetidas[</a:t>
            </a:r>
            <a:pPr indent="0" marL="0">
              <a:buNone/>
            </a:pPr>
            <a:r>
              <a:rPr lang="en-US" sz="1150" dirty="0">
                <a:solidFill>
                  <a:srgbClr val="A31515"/>
                </a:solidFill>
                <a:latin typeface="Courier New" pitchFamily="34" charset="0"/>
                <a:ea typeface="Courier New" pitchFamily="34" charset="-122"/>
                <a:cs typeface="Courier New" pitchFamily="34" charset="-120"/>
              </a:rPr>
              <a:t>"mwh"</a:t>
            </a:r>
            <a:pPr indent="0" marL="0">
              <a:buNone/>
            </a:pPr>
            <a:r>
              <a:rPr lang="en-US" sz="1150" dirty="0">
                <a:solidFill>
                  <a:srgbClr val="202124"/>
                </a:solidFill>
                <a:latin typeface="Courier New" pitchFamily="34" charset="0"/>
                <a:ea typeface="Courier New" pitchFamily="34" charset="-122"/>
                <a:cs typeface="Courier New" pitchFamily="34" charset="-120"/>
              </a:rPr>
              <a:t>].median(), 1))</a:t>
            </a:r>
            <a:endParaRPr lang="en-US" sz="1150" dirty="0"/>
          </a:p>
          <a:p>
            <a:pPr indent="0" marL="0">
              <a:buNone/>
            </a:pPr>
            <a:r>
              <a:rPr lang="en-US" sz="1150" dirty="0">
                <a:solidFill>
                  <a:srgbClr val="202124"/>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202124"/>
                </a:solidFill>
                <a:latin typeface="Courier New" pitchFamily="34" charset="0"/>
                <a:ea typeface="Courier New" pitchFamily="34" charset="-122"/>
                <a:cs typeface="Courier New" pitchFamily="34" charset="-120"/>
              </a:rPr>
              <a:t>resumen = sin_repetidas.groupby(</a:t>
            </a:r>
            <a:pPr indent="0" marL="0">
              <a:buNone/>
            </a:pPr>
            <a:r>
              <a:rPr lang="en-US" sz="1150" dirty="0">
                <a:solidFill>
                  <a:srgbClr val="A31515"/>
                </a:solidFill>
                <a:latin typeface="Courier New" pitchFamily="34" charset="0"/>
                <a:ea typeface="Courier New" pitchFamily="34" charset="-122"/>
                <a:cs typeface="Courier New" pitchFamily="34" charset="-120"/>
              </a:rPr>
              <a:t>"region"</a:t>
            </a:r>
            <a:pPr indent="0" marL="0">
              <a:buNone/>
            </a:pPr>
            <a:r>
              <a:rPr lang="en-US" sz="1150" dirty="0">
                <a:solidFill>
                  <a:srgbClr val="202124"/>
                </a:solidFill>
                <a:latin typeface="Courier New" pitchFamily="34" charset="0"/>
                <a:ea typeface="Courier New" pitchFamily="34" charset="-122"/>
                <a:cs typeface="Courier New" pitchFamily="34" charset="-120"/>
              </a:rPr>
              <a:t>)[</a:t>
            </a:r>
            <a:pPr indent="0" marL="0">
              <a:buNone/>
            </a:pPr>
            <a:r>
              <a:rPr lang="en-US" sz="1150" dirty="0">
                <a:solidFill>
                  <a:srgbClr val="A31515"/>
                </a:solidFill>
                <a:latin typeface="Courier New" pitchFamily="34" charset="0"/>
                <a:ea typeface="Courier New" pitchFamily="34" charset="-122"/>
                <a:cs typeface="Courier New" pitchFamily="34" charset="-120"/>
              </a:rPr>
              <a:t>"mwh"</a:t>
            </a:r>
            <a:pPr indent="0" marL="0">
              <a:buNone/>
            </a:pPr>
            <a:r>
              <a:rPr lang="en-US" sz="1150" dirty="0">
                <a:solidFill>
                  <a:srgbClr val="202124"/>
                </a:solidFill>
                <a:latin typeface="Courier New" pitchFamily="34" charset="0"/>
                <a:ea typeface="Courier New" pitchFamily="34" charset="-122"/>
                <a:cs typeface="Courier New" pitchFamily="34" charset="-120"/>
              </a:rPr>
              <a:t>].agg(promedio=</a:t>
            </a:r>
            <a:pPr indent="0" marL="0">
              <a:buNone/>
            </a:pPr>
            <a:r>
              <a:rPr lang="en-US" sz="1150" dirty="0">
                <a:solidFill>
                  <a:srgbClr val="A31515"/>
                </a:solidFill>
                <a:latin typeface="Courier New" pitchFamily="34" charset="0"/>
                <a:ea typeface="Courier New" pitchFamily="34" charset="-122"/>
                <a:cs typeface="Courier New" pitchFamily="34" charset="-120"/>
              </a:rPr>
              <a:t>"mean"</a:t>
            </a:r>
            <a:pPr indent="0" marL="0">
              <a:buNone/>
            </a:pPr>
            <a:r>
              <a:rPr lang="en-US" sz="1150" dirty="0">
                <a:solidFill>
                  <a:srgbClr val="202124"/>
                </a:solidFill>
                <a:latin typeface="Courier New" pitchFamily="34" charset="0"/>
                <a:ea typeface="Courier New" pitchFamily="34" charset="-122"/>
                <a:cs typeface="Courier New" pitchFamily="34" charset="-120"/>
              </a:rPr>
              <a:t>, mediana=</a:t>
            </a:r>
            <a:pPr indent="0" marL="0">
              <a:buNone/>
            </a:pPr>
            <a:r>
              <a:rPr lang="en-US" sz="1150" dirty="0">
                <a:solidFill>
                  <a:srgbClr val="A31515"/>
                </a:solidFill>
                <a:latin typeface="Courier New" pitchFamily="34" charset="0"/>
                <a:ea typeface="Courier New" pitchFamily="34" charset="-122"/>
                <a:cs typeface="Courier New" pitchFamily="34" charset="-120"/>
              </a:rPr>
              <a:t>"median"</a:t>
            </a:r>
            <a:pPr indent="0" marL="0">
              <a:buNone/>
            </a:pPr>
            <a:r>
              <a:rPr lang="en-US" sz="1150" dirty="0">
                <a:solidFill>
                  <a:srgbClr val="202124"/>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202124"/>
                </a:solidFill>
                <a:latin typeface="Courier New" pitchFamily="34" charset="0"/>
                <a:ea typeface="Courier New" pitchFamily="34" charset="-122"/>
                <a:cs typeface="Courier New" pitchFamily="34" charset="-120"/>
              </a:rPr>
              <a:t>resumen.round(1).sort_values(</a:t>
            </a:r>
            <a:pPr indent="0" marL="0">
              <a:buNone/>
            </a:pPr>
            <a:r>
              <a:rPr lang="en-US" sz="1150" dirty="0">
                <a:solidFill>
                  <a:srgbClr val="A31515"/>
                </a:solidFill>
                <a:latin typeface="Courier New" pitchFamily="34" charset="0"/>
                <a:ea typeface="Courier New" pitchFamily="34" charset="-122"/>
                <a:cs typeface="Courier New" pitchFamily="34" charset="-120"/>
              </a:rPr>
              <a:t>"promedio"</a:t>
            </a:r>
            <a:pPr indent="0" marL="0">
              <a:buNone/>
            </a:pPr>
            <a:r>
              <a:rPr lang="en-US" sz="1150" dirty="0">
                <a:solidFill>
                  <a:srgbClr val="202124"/>
                </a:solidFill>
                <a:latin typeface="Courier New" pitchFamily="34" charset="0"/>
                <a:ea typeface="Courier New" pitchFamily="34" charset="-122"/>
                <a:cs typeface="Courier New" pitchFamily="34" charset="-120"/>
              </a:rPr>
              <a:t>, ascending=False)</a:t>
            </a:r>
            <a:endParaRPr lang="en-US" sz="1150" dirty="0"/>
          </a:p>
        </p:txBody>
      </p:sp>
      <p:sp>
        <p:nvSpPr>
          <p:cNvPr id="10" name="Text 8"/>
          <p:cNvSpPr/>
          <p:nvPr/>
        </p:nvSpPr>
        <p:spPr>
          <a:xfrm>
            <a:off x="1325880" y="3034951"/>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1" name="Text 9"/>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2" name="Shape 10"/>
          <p:cNvSpPr/>
          <p:nvPr/>
        </p:nvSpPr>
        <p:spPr>
          <a:xfrm>
            <a:off x="548640" y="6062472"/>
            <a:ext cx="1143000" cy="512064"/>
          </a:xfrm>
          <a:prstGeom prst="roundRect">
            <a:avLst>
              <a:gd name="adj" fmla="val 12500"/>
            </a:avLst>
          </a:prstGeom>
          <a:solidFill>
            <a:srgbClr val="F1F3F4"/>
          </a:solidFill>
          <a:ln w="12700">
            <a:solidFill>
              <a:srgbClr val="DADCE0"/>
            </a:solidFill>
            <a:prstDash val="solid"/>
          </a:ln>
        </p:spPr>
      </p:sp>
      <p:sp>
        <p:nvSpPr>
          <p:cNvPr id="13" name="Text 11"/>
          <p:cNvSpPr/>
          <p:nvPr/>
        </p:nvSpPr>
        <p:spPr>
          <a:xfrm>
            <a:off x="640080"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cuantas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21</a:t>
            </a:r>
            <a:endParaRPr lang="en-US" sz="1200" dirty="0"/>
          </a:p>
        </p:txBody>
      </p:sp>
      <p:sp>
        <p:nvSpPr>
          <p:cNvPr id="14" name="Shape 12"/>
          <p:cNvSpPr/>
          <p:nvPr/>
        </p:nvSpPr>
        <p:spPr>
          <a:xfrm>
            <a:off x="1828800" y="6062472"/>
            <a:ext cx="1431950" cy="512064"/>
          </a:xfrm>
          <a:prstGeom prst="roundRect">
            <a:avLst>
              <a:gd name="adj" fmla="val 12500"/>
            </a:avLst>
          </a:prstGeom>
          <a:solidFill>
            <a:srgbClr val="F1F3F4"/>
          </a:solidFill>
          <a:ln w="12700">
            <a:solidFill>
              <a:srgbClr val="DADCE0"/>
            </a:solidFill>
            <a:prstDash val="solid"/>
          </a:ln>
        </p:spPr>
      </p:sp>
      <p:sp>
        <p:nvSpPr>
          <p:cNvPr id="15" name="Text 13"/>
          <p:cNvSpPr/>
          <p:nvPr/>
        </p:nvSpPr>
        <p:spPr>
          <a:xfrm>
            <a:off x="1920240" y="6071616"/>
            <a:ext cx="129479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comparar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24 × 8</a:t>
            </a:r>
            <a:endParaRPr lang="en-US" sz="1200" dirty="0"/>
          </a:p>
        </p:txBody>
      </p:sp>
      <p:sp>
        <p:nvSpPr>
          <p:cNvPr id="16" name="Shape 14"/>
          <p:cNvSpPr/>
          <p:nvPr/>
        </p:nvSpPr>
        <p:spPr>
          <a:xfrm>
            <a:off x="3397910" y="6062472"/>
            <a:ext cx="1431950" cy="512064"/>
          </a:xfrm>
          <a:prstGeom prst="roundRect">
            <a:avLst>
              <a:gd name="adj" fmla="val 12500"/>
            </a:avLst>
          </a:prstGeom>
          <a:solidFill>
            <a:srgbClr val="F1F3F4"/>
          </a:solidFill>
          <a:ln w="12700">
            <a:solidFill>
              <a:srgbClr val="DADCE0"/>
            </a:solidFill>
            <a:prstDash val="solid"/>
          </a:ln>
        </p:spPr>
      </p:sp>
      <p:sp>
        <p:nvSpPr>
          <p:cNvPr id="17" name="Text 15"/>
          <p:cNvSpPr/>
          <p:nvPr/>
        </p:nvSpPr>
        <p:spPr>
          <a:xfrm>
            <a:off x="3489350" y="6071616"/>
            <a:ext cx="129479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real</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24 × 4</a:t>
            </a:r>
            <a:endParaRPr lang="en-US" sz="1200" dirty="0"/>
          </a:p>
        </p:txBody>
      </p:sp>
      <p:sp>
        <p:nvSpPr>
          <p:cNvPr id="18" name="Shape 16"/>
          <p:cNvSpPr/>
          <p:nvPr/>
        </p:nvSpPr>
        <p:spPr>
          <a:xfrm>
            <a:off x="4967021" y="6062472"/>
            <a:ext cx="1714500" cy="512064"/>
          </a:xfrm>
          <a:prstGeom prst="roundRect">
            <a:avLst>
              <a:gd name="adj" fmla="val 12500"/>
            </a:avLst>
          </a:prstGeom>
          <a:solidFill>
            <a:srgbClr val="F1F3F4"/>
          </a:solidFill>
          <a:ln w="12700">
            <a:solidFill>
              <a:srgbClr val="DADCE0"/>
            </a:solidFill>
            <a:prstDash val="solid"/>
          </a:ln>
        </p:spPr>
      </p:sp>
      <p:sp>
        <p:nvSpPr>
          <p:cNvPr id="19" name="Text 17"/>
          <p:cNvSpPr/>
          <p:nvPr/>
        </p:nvSpPr>
        <p:spPr>
          <a:xfrm>
            <a:off x="5058461"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verdad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61488 × 4</a:t>
            </a:r>
            <a:endParaRPr lang="en-US" sz="1200" dirty="0"/>
          </a:p>
        </p:txBody>
      </p:sp>
      <p:sp>
        <p:nvSpPr>
          <p:cNvPr id="20" name="Shape 18"/>
          <p:cNvSpPr/>
          <p:nvPr/>
        </p:nvSpPr>
        <p:spPr>
          <a:xfrm>
            <a:off x="6818681" y="6062472"/>
            <a:ext cx="1337767" cy="512064"/>
          </a:xfrm>
          <a:prstGeom prst="roundRect">
            <a:avLst>
              <a:gd name="adj" fmla="val 12500"/>
            </a:avLst>
          </a:prstGeom>
          <a:solidFill>
            <a:srgbClr val="F1F3F4"/>
          </a:solidFill>
          <a:ln w="12700">
            <a:solidFill>
              <a:srgbClr val="DADCE0"/>
            </a:solidFill>
            <a:prstDash val="solid"/>
          </a:ln>
        </p:spPr>
      </p:sp>
      <p:sp>
        <p:nvSpPr>
          <p:cNvPr id="21" name="Text 19"/>
          <p:cNvSpPr/>
          <p:nvPr/>
        </p:nvSpPr>
        <p:spPr>
          <a:xfrm>
            <a:off x="6910121" y="6071616"/>
            <a:ext cx="120060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picos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7 × 4</a:t>
            </a:r>
            <a:endParaRPr lang="en-US" sz="1200" dirty="0"/>
          </a:p>
        </p:txBody>
      </p:sp>
      <p:sp>
        <p:nvSpPr>
          <p:cNvPr id="22" name="Shape 20"/>
          <p:cNvSpPr/>
          <p:nvPr/>
        </p:nvSpPr>
        <p:spPr>
          <a:xfrm>
            <a:off x="8293608" y="6062472"/>
            <a:ext cx="1337767" cy="512064"/>
          </a:xfrm>
          <a:prstGeom prst="roundRect">
            <a:avLst>
              <a:gd name="adj" fmla="val 12500"/>
            </a:avLst>
          </a:prstGeom>
          <a:solidFill>
            <a:srgbClr val="F1F3F4"/>
          </a:solidFill>
          <a:ln w="12700">
            <a:solidFill>
              <a:srgbClr val="DADCE0"/>
            </a:solidFill>
            <a:prstDash val="solid"/>
          </a:ln>
        </p:spPr>
      </p:sp>
      <p:sp>
        <p:nvSpPr>
          <p:cNvPr id="23" name="Text 21"/>
          <p:cNvSpPr/>
          <p:nvPr/>
        </p:nvSpPr>
        <p:spPr>
          <a:xfrm>
            <a:off x="8385048" y="6071616"/>
            <a:ext cx="120060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negativas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 × 4</a:t>
            </a:r>
            <a:endParaRPr lang="en-US" sz="1200" dirty="0"/>
          </a:p>
        </p:txBody>
      </p:sp>
      <p:sp>
        <p:nvSpPr>
          <p:cNvPr id="24" name="Text 22"/>
          <p:cNvSpPr/>
          <p:nvPr/>
        </p:nvSpPr>
        <p:spPr>
          <a:xfrm>
            <a:off x="9768535" y="6062472"/>
            <a:ext cx="1005840" cy="512064"/>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y 12 más</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3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¿Cuánto consume una región en una hora normal?</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lee esta línea, pieza por pieza</a:t>
            </a:r>
            <a:endParaRPr lang="en-US" sz="1400" dirty="0"/>
          </a:p>
        </p:txBody>
      </p:sp>
      <p:sp>
        <p:nvSpPr>
          <p:cNvPr id="6" name="Shape 4"/>
          <p:cNvSpPr/>
          <p:nvPr/>
        </p:nvSpPr>
        <p:spPr>
          <a:xfrm>
            <a:off x="548640" y="1463040"/>
            <a:ext cx="11091672" cy="484632"/>
          </a:xfrm>
          <a:prstGeom prst="roundRect">
            <a:avLst>
              <a:gd name="adj" fmla="val 11321"/>
            </a:avLst>
          </a:prstGeom>
          <a:solidFill>
            <a:srgbClr val="F8F9FA"/>
          </a:solidFill>
          <a:ln w="12700">
            <a:solidFill>
              <a:srgbClr val="DADCE0"/>
            </a:solidFill>
            <a:prstDash val="solid"/>
          </a:ln>
        </p:spPr>
      </p:sp>
      <p:sp>
        <p:nvSpPr>
          <p:cNvPr id="7" name="Text 5"/>
          <p:cNvSpPr/>
          <p:nvPr/>
        </p:nvSpPr>
        <p:spPr>
          <a:xfrm>
            <a:off x="822960" y="1597628"/>
            <a:ext cx="10634472" cy="215456"/>
          </a:xfrm>
          <a:prstGeom prst="rect">
            <a:avLst/>
          </a:prstGeom>
          <a:noFill/>
          <a:ln/>
        </p:spPr>
        <p:txBody>
          <a:bodyPr wrap="square" lIns="0" tIns="0" rIns="0" bIns="0" rtlCol="0" anchor="t"/>
          <a:lstStyle/>
          <a:p>
            <a:pPr indent="0" marL="0">
              <a:buNone/>
            </a:pPr>
            <a:r>
              <a:rPr lang="en-US" sz="1300" dirty="0">
                <a:solidFill>
                  <a:srgbClr val="202124"/>
                </a:solidFill>
                <a:latin typeface="Courier New" pitchFamily="34" charset="0"/>
                <a:ea typeface="Courier New" pitchFamily="34" charset="-122"/>
                <a:cs typeface="Courier New" pitchFamily="34" charset="-120"/>
              </a:rPr>
              <a:t>resumen = sin_repetidas.groupby(</a:t>
            </a:r>
            <a:pPr indent="0" marL="0">
              <a:buNone/>
            </a:pPr>
            <a:r>
              <a:rPr lang="en-US" sz="1300" dirty="0">
                <a:solidFill>
                  <a:srgbClr val="A31515"/>
                </a:solidFill>
                <a:latin typeface="Courier New" pitchFamily="34" charset="0"/>
                <a:ea typeface="Courier New" pitchFamily="34" charset="-122"/>
                <a:cs typeface="Courier New" pitchFamily="34" charset="-120"/>
              </a:rPr>
              <a:t>"region"</a:t>
            </a:r>
            <a:pPr indent="0" marL="0">
              <a:buNone/>
            </a:pPr>
            <a:r>
              <a:rPr lang="en-US" sz="1300" dirty="0">
                <a:solidFill>
                  <a:srgbClr val="202124"/>
                </a:solidFill>
                <a:latin typeface="Courier New" pitchFamily="34" charset="0"/>
                <a:ea typeface="Courier New" pitchFamily="34" charset="-122"/>
                <a:cs typeface="Courier New" pitchFamily="34" charset="-120"/>
              </a:rPr>
              <a:t>)[</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].agg(promedio=</a:t>
            </a:r>
            <a:pPr indent="0" marL="0">
              <a:buNone/>
            </a:pPr>
            <a:r>
              <a:rPr lang="en-US" sz="1300" dirty="0">
                <a:solidFill>
                  <a:srgbClr val="A31515"/>
                </a:solidFill>
                <a:latin typeface="Courier New" pitchFamily="34" charset="0"/>
                <a:ea typeface="Courier New" pitchFamily="34" charset="-122"/>
                <a:cs typeface="Courier New" pitchFamily="34" charset="-120"/>
              </a:rPr>
              <a:t>"mean"</a:t>
            </a:r>
            <a:pPr indent="0" marL="0">
              <a:buNone/>
            </a:pPr>
            <a:r>
              <a:rPr lang="en-US" sz="1300" dirty="0">
                <a:solidFill>
                  <a:srgbClr val="202124"/>
                </a:solidFill>
                <a:latin typeface="Courier New" pitchFamily="34" charset="0"/>
                <a:ea typeface="Courier New" pitchFamily="34" charset="-122"/>
                <a:cs typeface="Courier New" pitchFamily="34" charset="-120"/>
              </a:rPr>
              <a:t>, mediana=</a:t>
            </a:r>
            <a:pPr indent="0" marL="0">
              <a:buNone/>
            </a:pPr>
            <a:r>
              <a:rPr lang="en-US" sz="1300" dirty="0">
                <a:solidFill>
                  <a:srgbClr val="A31515"/>
                </a:solidFill>
                <a:latin typeface="Courier New" pitchFamily="34" charset="0"/>
                <a:ea typeface="Courier New" pitchFamily="34" charset="-122"/>
                <a:cs typeface="Courier New" pitchFamily="34" charset="-120"/>
              </a:rPr>
              <a:t>"median"</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p:txBody>
      </p:sp>
      <p:sp>
        <p:nvSpPr>
          <p:cNvPr id="8" name="Shape 6"/>
          <p:cNvSpPr/>
          <p:nvPr/>
        </p:nvSpPr>
        <p:spPr>
          <a:xfrm>
            <a:off x="548640" y="2322576"/>
            <a:ext cx="329184" cy="329184"/>
          </a:xfrm>
          <a:prstGeom prst="ellipse">
            <a:avLst/>
          </a:prstGeom>
          <a:solidFill>
            <a:srgbClr val="1A6FD4"/>
          </a:solidFill>
          <a:ln w="12700">
            <a:solidFill>
              <a:srgbClr val="1A6FD4"/>
            </a:solidFill>
            <a:prstDash val="solid"/>
          </a:ln>
        </p:spPr>
      </p:sp>
      <p:sp>
        <p:nvSpPr>
          <p:cNvPr id="9" name="Text 7"/>
          <p:cNvSpPr/>
          <p:nvPr/>
        </p:nvSpPr>
        <p:spPr>
          <a:xfrm>
            <a:off x="548640" y="232257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2221992"/>
            <a:ext cx="4937760" cy="530352"/>
          </a:xfrm>
          <a:prstGeom prst="roundRect">
            <a:avLst>
              <a:gd name="adj" fmla="val 8621"/>
            </a:avLst>
          </a:prstGeom>
          <a:solidFill>
            <a:srgbClr val="DBE9FB"/>
          </a:solidFill>
          <a:ln w="12700">
            <a:solidFill>
              <a:srgbClr val="DBE9FB"/>
            </a:solidFill>
            <a:prstDash val="solid"/>
          </a:ln>
        </p:spPr>
      </p:sp>
      <p:sp>
        <p:nvSpPr>
          <p:cNvPr id="11" name="Text 9"/>
          <p:cNvSpPr/>
          <p:nvPr/>
        </p:nvSpPr>
        <p:spPr>
          <a:xfrm>
            <a:off x="1170432" y="2221992"/>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.groupby("region")["mwh"]</a:t>
            </a:r>
            <a:endParaRPr lang="en-US" sz="1400" dirty="0"/>
          </a:p>
        </p:txBody>
      </p:sp>
      <p:sp>
        <p:nvSpPr>
          <p:cNvPr id="12" name="Text 10"/>
          <p:cNvSpPr/>
          <p:nvPr/>
        </p:nvSpPr>
        <p:spPr>
          <a:xfrm>
            <a:off x="6263640" y="2221992"/>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Separa las horas por región y toma la columna mwh.</a:t>
            </a:r>
            <a:endParaRPr lang="en-US" sz="1600" dirty="0"/>
          </a:p>
        </p:txBody>
      </p:sp>
      <p:sp>
        <p:nvSpPr>
          <p:cNvPr id="13" name="Shape 11"/>
          <p:cNvSpPr/>
          <p:nvPr/>
        </p:nvSpPr>
        <p:spPr>
          <a:xfrm>
            <a:off x="548640" y="3035808"/>
            <a:ext cx="329184" cy="329184"/>
          </a:xfrm>
          <a:prstGeom prst="ellipse">
            <a:avLst/>
          </a:prstGeom>
          <a:solidFill>
            <a:srgbClr val="1E8E3E"/>
          </a:solidFill>
          <a:ln w="12700">
            <a:solidFill>
              <a:srgbClr val="1E8E3E"/>
            </a:solidFill>
            <a:prstDash val="solid"/>
          </a:ln>
        </p:spPr>
      </p:sp>
      <p:sp>
        <p:nvSpPr>
          <p:cNvPr id="14" name="Text 12"/>
          <p:cNvSpPr/>
          <p:nvPr/>
        </p:nvSpPr>
        <p:spPr>
          <a:xfrm>
            <a:off x="548640" y="30358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2843784"/>
            <a:ext cx="4937760" cy="713232"/>
          </a:xfrm>
          <a:prstGeom prst="roundRect">
            <a:avLst>
              <a:gd name="adj" fmla="val 6410"/>
            </a:avLst>
          </a:prstGeom>
          <a:solidFill>
            <a:srgbClr val="DCEFE0"/>
          </a:solidFill>
          <a:ln w="12700">
            <a:solidFill>
              <a:srgbClr val="DCEFE0"/>
            </a:solidFill>
            <a:prstDash val="solid"/>
          </a:ln>
        </p:spPr>
      </p:sp>
      <p:sp>
        <p:nvSpPr>
          <p:cNvPr id="16" name="Text 14"/>
          <p:cNvSpPr/>
          <p:nvPr/>
        </p:nvSpPr>
        <p:spPr>
          <a:xfrm>
            <a:off x="1170432" y="2843784"/>
            <a:ext cx="4754880" cy="713232"/>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.agg(promedio="mean", mediana="median")</a:t>
            </a:r>
            <a:endParaRPr lang="en-US" sz="1200" dirty="0"/>
          </a:p>
        </p:txBody>
      </p:sp>
      <p:sp>
        <p:nvSpPr>
          <p:cNvPr id="17" name="Text 15"/>
          <p:cNvSpPr/>
          <p:nvPr/>
        </p:nvSpPr>
        <p:spPr>
          <a:xfrm>
            <a:off x="6263640" y="2843784"/>
            <a:ext cx="5376672" cy="71323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Calcula dos cosas por grupo. A la izquierda el nombre de la columna, a la derecha el cálculo.</a:t>
            </a:r>
            <a:endParaRPr lang="en-US" sz="1600" dirty="0"/>
          </a:p>
        </p:txBody>
      </p:sp>
      <p:sp>
        <p:nvSpPr>
          <p:cNvPr id="18" name="Shape 16"/>
          <p:cNvSpPr/>
          <p:nvPr/>
        </p:nvSpPr>
        <p:spPr>
          <a:xfrm>
            <a:off x="548640" y="5989320"/>
            <a:ext cx="73152" cy="548640"/>
          </a:xfrm>
          <a:prstGeom prst="rect">
            <a:avLst/>
          </a:prstGeom>
          <a:solidFill>
            <a:srgbClr val="0B3D62"/>
          </a:solidFill>
          <a:ln w="12700">
            <a:solidFill>
              <a:srgbClr val="0B3D62"/>
            </a:solidFill>
            <a:prstDash val="solid"/>
          </a:ln>
        </p:spPr>
      </p:sp>
      <p:sp>
        <p:nvSpPr>
          <p:cNvPr id="19" name="Text 17"/>
          <p:cNvSpPr/>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por cada región, calcula el promedio y la mediana de la demanda, y guárdalo como resumen.</a:t>
            </a:r>
            <a:endParaRPr lang="en-US" sz="15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3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¿Cuánto consume una región en una hora normal?</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Compara el promedio y la mediana de todo el país con los de cada región.</a:t>
            </a:r>
            <a:endParaRPr lang="en-US" sz="1400" dirty="0"/>
          </a:p>
        </p:txBody>
      </p:sp>
      <p:sp>
        <p:nvSpPr>
          <p:cNvPr id="6" name="Text 4"/>
          <p:cNvSpPr/>
          <p:nvPr/>
        </p:nvSpPr>
        <p:spPr>
          <a:xfrm>
            <a:off x="548640" y="1481328"/>
            <a:ext cx="5486400" cy="274320"/>
          </a:xfrm>
          <a:prstGeom prst="rect">
            <a:avLst/>
          </a:prstGeom>
          <a:noFill/>
          <a:ln/>
        </p:spPr>
        <p:txBody>
          <a:bodyPr wrap="square" lIns="0" tIns="0" rIns="0" bIns="0" rtlCol="0" anchor="ctr"/>
          <a:lstStyle/>
          <a:p>
            <a:pPr indent="0" marL="0">
              <a:buNone/>
            </a:pPr>
            <a:r>
              <a:rPr lang="en-US" sz="1300" b="1" dirty="0">
                <a:solidFill>
                  <a:srgbClr val="5F6368"/>
                </a:solidFill>
                <a:latin typeface="Calibri" pitchFamily="34" charset="0"/>
                <a:ea typeface="Calibri" pitchFamily="34" charset="-122"/>
                <a:cs typeface="Calibri" pitchFamily="34" charset="-120"/>
              </a:rPr>
              <a:t>Respuesta de la celda</a:t>
            </a:r>
            <a:endParaRPr lang="en-US" sz="1300" dirty="0"/>
          </a:p>
        </p:txBody>
      </p:sp>
      <p:sp>
        <p:nvSpPr>
          <p:cNvPr id="7" name="Shape 5"/>
          <p:cNvSpPr/>
          <p:nvPr/>
        </p:nvSpPr>
        <p:spPr>
          <a:xfrm>
            <a:off x="1325880" y="1828800"/>
            <a:ext cx="10314432" cy="552298"/>
          </a:xfrm>
          <a:prstGeom prst="rect">
            <a:avLst/>
          </a:prstGeom>
          <a:solidFill>
            <a:srgbClr val="FFFFFF"/>
          </a:solidFill>
          <a:ln w="12700">
            <a:solidFill>
              <a:srgbClr val="DADCE0"/>
            </a:solidFill>
            <a:prstDash val="solid"/>
          </a:ln>
        </p:spPr>
      </p:sp>
      <p:sp>
        <p:nvSpPr>
          <p:cNvPr id="8" name="Text 6"/>
          <p:cNvSpPr/>
          <p:nvPr/>
        </p:nvSpPr>
        <p:spPr>
          <a:xfrm>
            <a:off x="1463040" y="1901952"/>
            <a:ext cx="10085832" cy="424282"/>
          </a:xfrm>
          <a:prstGeom prst="rect">
            <a:avLst/>
          </a:prstGeom>
          <a:noFill/>
          <a:ln/>
        </p:spPr>
        <p:txBody>
          <a:bodyPr wrap="square" lIns="0" tIns="0" rIns="0" bIns="0" rtlCol="0" anchor="t"/>
          <a:lstStyle/>
          <a:p>
            <a:pPr indent="0" marL="0">
              <a:buNone/>
            </a:pPr>
            <a:r>
              <a:rPr lang="en-US" sz="1200" dirty="0">
                <a:solidFill>
                  <a:srgbClr val="202124"/>
                </a:solidFill>
                <a:latin typeface="Courier New" pitchFamily="34" charset="0"/>
                <a:ea typeface="Courier New" pitchFamily="34" charset="-122"/>
                <a:cs typeface="Courier New" pitchFamily="34" charset="-120"/>
              </a:rPr>
              <a:t>Todo el país junto</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  Promedio 227.3  Mediana 111.2</a:t>
            </a:r>
            <a:endParaRPr lang="en-US" sz="12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1325880" y="2472538"/>
          <a:ext cx="9144000" cy="914400"/>
        </p:xfrm>
        <a:graphic>
          <a:graphicData uri="http://schemas.openxmlformats.org/drawingml/2006/table">
            <a:tbl>
              <a:tblPr/>
              <a:tblGrid>
                <a:gridCol w="1478585"/>
                <a:gridCol w="980237"/>
                <a:gridCol w="880567"/>
              </a:tblGrid>
              <a:tr h="237744">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region</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promedio</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mediana</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Metropolitana</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892.3</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873.5</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Valparaíso</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208.9</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204.8</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Biobío</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186.9</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182.7</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Los Lagos</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99.1</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96.9</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Coquimbo</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93.3</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91.6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Antofagasta</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76.9</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75.6</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Atacama</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35.2</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34.5</a:t>
                      </a:r>
                      <a:endParaRPr lang="en-US" sz="1100" dirty="0">
                        <a:latin typeface="Courier New" charset="0"/>
                        <a:ea typeface="Courier New" charset="0"/>
                        <a:cs typeface="Courier New" charset="0"/>
                      </a:endParaRPr>
                    </a:p>
                  </a:txBody>
                  <a:tcPr marL="54864" marR="54864" marT="18288" marB="18288"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bl>
          </a:graphicData>
        </a:graphic>
      </p:graphicFrame>
      <p:sp>
        <p:nvSpPr>
          <p:cNvPr id="10" name="Text 7"/>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1" name="Shape 8"/>
          <p:cNvSpPr/>
          <p:nvPr/>
        </p:nvSpPr>
        <p:spPr>
          <a:xfrm>
            <a:off x="548640" y="6062472"/>
            <a:ext cx="1337767" cy="512064"/>
          </a:xfrm>
          <a:prstGeom prst="roundRect">
            <a:avLst>
              <a:gd name="adj" fmla="val 12500"/>
            </a:avLst>
          </a:prstGeom>
          <a:solidFill>
            <a:srgbClr val="FEF3D6"/>
          </a:solidFill>
          <a:ln w="25400">
            <a:solidFill>
              <a:srgbClr val="F9AB00"/>
            </a:solidFill>
            <a:prstDash val="solid"/>
          </a:ln>
        </p:spPr>
      </p:sp>
      <p:sp>
        <p:nvSpPr>
          <p:cNvPr id="12" name="Text 9"/>
          <p:cNvSpPr/>
          <p:nvPr/>
        </p:nvSpPr>
        <p:spPr>
          <a:xfrm>
            <a:off x="640080" y="6071616"/>
            <a:ext cx="120060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resumen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7 × 2</a:t>
            </a:r>
            <a:endParaRPr lang="en-US" sz="1200" dirty="0"/>
          </a:p>
        </p:txBody>
      </p:sp>
      <p:sp>
        <p:nvSpPr>
          <p:cNvPr id="13" name="Shape 10"/>
          <p:cNvSpPr/>
          <p:nvPr/>
        </p:nvSpPr>
        <p:spPr>
          <a:xfrm>
            <a:off x="2023567" y="6062472"/>
            <a:ext cx="1714500" cy="512064"/>
          </a:xfrm>
          <a:prstGeom prst="roundRect">
            <a:avLst>
              <a:gd name="adj" fmla="val 12500"/>
            </a:avLst>
          </a:prstGeom>
          <a:solidFill>
            <a:srgbClr val="E8F0FE"/>
          </a:solidFill>
          <a:ln w="28575">
            <a:solidFill>
              <a:srgbClr val="1A73E8"/>
            </a:solidFill>
            <a:prstDash val="solid"/>
          </a:ln>
        </p:spPr>
      </p:sp>
      <p:sp>
        <p:nvSpPr>
          <p:cNvPr id="14" name="Text 11"/>
          <p:cNvSpPr/>
          <p:nvPr/>
        </p:nvSpPr>
        <p:spPr>
          <a:xfrm>
            <a:off x="2115007"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sin_repetidas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61488 × 4</a:t>
            </a:r>
            <a:endParaRPr lang="en-US" sz="1200" dirty="0"/>
          </a:p>
        </p:txBody>
      </p:sp>
      <p:sp>
        <p:nvSpPr>
          <p:cNvPr id="15" name="Shape 12"/>
          <p:cNvSpPr/>
          <p:nvPr/>
        </p:nvSpPr>
        <p:spPr>
          <a:xfrm>
            <a:off x="3875227" y="6062472"/>
            <a:ext cx="1143000" cy="512064"/>
          </a:xfrm>
          <a:prstGeom prst="roundRect">
            <a:avLst>
              <a:gd name="adj" fmla="val 12500"/>
            </a:avLst>
          </a:prstGeom>
          <a:solidFill>
            <a:srgbClr val="F1F3F4"/>
          </a:solidFill>
          <a:ln w="12700">
            <a:solidFill>
              <a:srgbClr val="DADCE0"/>
            </a:solidFill>
            <a:prstDash val="solid"/>
          </a:ln>
        </p:spPr>
      </p:sp>
      <p:sp>
        <p:nvSpPr>
          <p:cNvPr id="16" name="Text 13"/>
          <p:cNvSpPr/>
          <p:nvPr/>
        </p:nvSpPr>
        <p:spPr>
          <a:xfrm>
            <a:off x="3966667"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cuantas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21</a:t>
            </a:r>
            <a:endParaRPr lang="en-US" sz="1200" dirty="0"/>
          </a:p>
        </p:txBody>
      </p:sp>
      <p:sp>
        <p:nvSpPr>
          <p:cNvPr id="17" name="Shape 14"/>
          <p:cNvSpPr/>
          <p:nvPr/>
        </p:nvSpPr>
        <p:spPr>
          <a:xfrm>
            <a:off x="5155387" y="6062472"/>
            <a:ext cx="1431950" cy="512064"/>
          </a:xfrm>
          <a:prstGeom prst="roundRect">
            <a:avLst>
              <a:gd name="adj" fmla="val 12500"/>
            </a:avLst>
          </a:prstGeom>
          <a:solidFill>
            <a:srgbClr val="F1F3F4"/>
          </a:solidFill>
          <a:ln w="12700">
            <a:solidFill>
              <a:srgbClr val="DADCE0"/>
            </a:solidFill>
            <a:prstDash val="solid"/>
          </a:ln>
        </p:spPr>
      </p:sp>
      <p:sp>
        <p:nvSpPr>
          <p:cNvPr id="18" name="Text 15"/>
          <p:cNvSpPr/>
          <p:nvPr/>
        </p:nvSpPr>
        <p:spPr>
          <a:xfrm>
            <a:off x="5246827" y="6071616"/>
            <a:ext cx="129479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comparar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24 × 8</a:t>
            </a:r>
            <a:endParaRPr lang="en-US" sz="1200" dirty="0"/>
          </a:p>
        </p:txBody>
      </p:sp>
      <p:sp>
        <p:nvSpPr>
          <p:cNvPr id="19" name="Shape 16"/>
          <p:cNvSpPr/>
          <p:nvPr/>
        </p:nvSpPr>
        <p:spPr>
          <a:xfrm>
            <a:off x="6724498" y="6062472"/>
            <a:ext cx="1431950" cy="512064"/>
          </a:xfrm>
          <a:prstGeom prst="roundRect">
            <a:avLst>
              <a:gd name="adj" fmla="val 12500"/>
            </a:avLst>
          </a:prstGeom>
          <a:solidFill>
            <a:srgbClr val="F1F3F4"/>
          </a:solidFill>
          <a:ln w="12700">
            <a:solidFill>
              <a:srgbClr val="DADCE0"/>
            </a:solidFill>
            <a:prstDash val="solid"/>
          </a:ln>
        </p:spPr>
      </p:sp>
      <p:sp>
        <p:nvSpPr>
          <p:cNvPr id="20" name="Text 17"/>
          <p:cNvSpPr/>
          <p:nvPr/>
        </p:nvSpPr>
        <p:spPr>
          <a:xfrm>
            <a:off x="6815938" y="6071616"/>
            <a:ext cx="129479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real</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24 × 4</a:t>
            </a:r>
            <a:endParaRPr lang="en-US" sz="1200" dirty="0"/>
          </a:p>
        </p:txBody>
      </p:sp>
      <p:sp>
        <p:nvSpPr>
          <p:cNvPr id="21" name="Shape 18"/>
          <p:cNvSpPr/>
          <p:nvPr/>
        </p:nvSpPr>
        <p:spPr>
          <a:xfrm>
            <a:off x="8293608" y="6062472"/>
            <a:ext cx="1714500" cy="512064"/>
          </a:xfrm>
          <a:prstGeom prst="roundRect">
            <a:avLst>
              <a:gd name="adj" fmla="val 12500"/>
            </a:avLst>
          </a:prstGeom>
          <a:solidFill>
            <a:srgbClr val="F1F3F4"/>
          </a:solidFill>
          <a:ln w="12700">
            <a:solidFill>
              <a:srgbClr val="DADCE0"/>
            </a:solidFill>
            <a:prstDash val="solid"/>
          </a:ln>
        </p:spPr>
      </p:sp>
      <p:sp>
        <p:nvSpPr>
          <p:cNvPr id="22" name="Text 19"/>
          <p:cNvSpPr/>
          <p:nvPr/>
        </p:nvSpPr>
        <p:spPr>
          <a:xfrm>
            <a:off x="8385048"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verdad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61488 × 4</a:t>
            </a:r>
            <a:endParaRPr lang="en-US" sz="1200" dirty="0"/>
          </a:p>
        </p:txBody>
      </p:sp>
      <p:sp>
        <p:nvSpPr>
          <p:cNvPr id="23" name="Text 20"/>
          <p:cNvSpPr/>
          <p:nvPr/>
        </p:nvSpPr>
        <p:spPr>
          <a:xfrm>
            <a:off x="10145268" y="6062472"/>
            <a:ext cx="1005840" cy="512064"/>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y 13 más</a:t>
            </a:r>
            <a:endParaRPr lang="en-US" sz="1200" dirty="0"/>
          </a:p>
        </p:txBody>
      </p:sp>
      <p:sp>
        <p:nvSpPr>
          <p:cNvPr id="24" name="Text 21"/>
          <p:cNvSpPr/>
          <p:nvPr/>
        </p:nvSpPr>
        <p:spPr>
          <a:xfrm>
            <a:off x="548640" y="6592824"/>
            <a:ext cx="11091672" cy="219456"/>
          </a:xfrm>
          <a:prstGeom prst="rect">
            <a:avLst/>
          </a:prstGeom>
          <a:noFill/>
          <a:ln/>
        </p:spPr>
        <p:txBody>
          <a:bodyPr wrap="square" lIns="0" tIns="0" rIns="0" bIns="0" rtlCol="0" anchor="ctr"/>
          <a:lstStyle/>
          <a:p>
            <a:pPr indent="0" marL="0">
              <a:buNone/>
            </a:pPr>
            <a:r>
              <a:rPr lang="en-US" sz="1300" dirty="0">
                <a:solidFill>
                  <a:srgbClr val="0B3D62"/>
                </a:solidFill>
                <a:latin typeface="Calibri" pitchFamily="34" charset="0"/>
                <a:ea typeface="Calibri" pitchFamily="34" charset="-122"/>
                <a:cs typeface="Calibri" pitchFamily="34" charset="-120"/>
              </a:rPr>
              <a:t>Todo el país junto, el promedio es el doble de la mediana. Dentro de cada región son casi iguales.</a:t>
            </a:r>
            <a:endParaRPr lang="en-US" sz="13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3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¿Cuánto consume una región en una hora normal?</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hay que llevarse de este paso.</a:t>
            </a:r>
            <a:endParaRPr lang="en-US" sz="1400" dirty="0"/>
          </a:p>
        </p:txBody>
      </p:sp>
      <p:sp>
        <p:nvSpPr>
          <p:cNvPr id="6" name="Shape 4"/>
          <p:cNvSpPr/>
          <p:nvPr/>
        </p:nvSpPr>
        <p:spPr>
          <a:xfrm>
            <a:off x="548640" y="1828800"/>
            <a:ext cx="11091672" cy="2377440"/>
          </a:xfrm>
          <a:prstGeom prst="roundRect">
            <a:avLst>
              <a:gd name="adj" fmla="val 3846"/>
            </a:avLst>
          </a:prstGeom>
          <a:solidFill>
            <a:srgbClr val="FFF8D6"/>
          </a:solidFill>
          <a:ln w="12700">
            <a:solidFill>
              <a:srgbClr val="FFF8D6"/>
            </a:solidFill>
            <a:prstDash val="solid"/>
          </a:ln>
        </p:spPr>
      </p:sp>
      <p:sp>
        <p:nvSpPr>
          <p:cNvPr id="7" name="Text 5"/>
          <p:cNvSpPr/>
          <p:nvPr/>
        </p:nvSpPr>
        <p:spPr>
          <a:xfrm>
            <a:off x="1005840" y="2057400"/>
            <a:ext cx="10177272" cy="1005840"/>
          </a:xfrm>
          <a:prstGeom prst="rect">
            <a:avLst/>
          </a:prstGeom>
          <a:noFill/>
          <a:ln/>
        </p:spPr>
        <p:txBody>
          <a:bodyPr wrap="square" lIns="0" tIns="0" rIns="0" bIns="0" rtlCol="0" anchor="t"/>
          <a:lstStyle/>
          <a:p>
            <a:pPr indent="0" marL="0">
              <a:buNone/>
            </a:pPr>
            <a:r>
              <a:rPr lang="en-US" sz="2800" b="1" dirty="0">
                <a:solidFill>
                  <a:srgbClr val="8A6D00"/>
                </a:solidFill>
                <a:latin typeface="Calibri" pitchFamily="34" charset="0"/>
                <a:ea typeface="Calibri" pitchFamily="34" charset="-122"/>
                <a:cs typeface="Calibri" pitchFamily="34" charset="-120"/>
              </a:rPr>
              <a:t>El promedio de todo junto puede no describir a nadie.</a:t>
            </a:r>
            <a:endParaRPr lang="en-US" sz="2800" dirty="0"/>
          </a:p>
        </p:txBody>
      </p:sp>
      <p:sp>
        <p:nvSpPr>
          <p:cNvPr id="8" name="Text 6"/>
          <p:cNvSpPr/>
          <p:nvPr/>
        </p:nvSpPr>
        <p:spPr>
          <a:xfrm>
            <a:off x="1005840" y="3154680"/>
            <a:ext cx="10177272" cy="914400"/>
          </a:xfrm>
          <a:prstGeom prst="rect">
            <a:avLst/>
          </a:prstGeom>
          <a:noFill/>
          <a:ln/>
        </p:spPr>
        <p:txBody>
          <a:bodyPr wrap="square" lIns="0" tIns="0" rIns="0" bIns="0" rtlCol="0" anchor="t"/>
          <a:lstStyle/>
          <a:p>
            <a:pPr indent="0" marL="0">
              <a:buNone/>
            </a:pPr>
            <a:r>
              <a:rPr lang="en-US" sz="2200" dirty="0">
                <a:solidFill>
                  <a:srgbClr val="202124"/>
                </a:solidFill>
                <a:latin typeface="Calibri" pitchFamily="34" charset="0"/>
                <a:ea typeface="Calibri" pitchFamily="34" charset="-122"/>
                <a:cs typeface="Calibri" pitchFamily="34" charset="-120"/>
              </a:rPr>
              <a:t>Antes de resumir con un promedio se mira si los grupos se parecen. Si no se parecen, se resume por grupo.</a:t>
            </a:r>
            <a:endParaRPr lang="en-US" sz="2200" dirty="0"/>
          </a:p>
        </p:txBody>
      </p:sp>
      <p:sp>
        <p:nvSpPr>
          <p:cNvPr id="9" name="Text 7"/>
          <p:cNvSpPr/>
          <p:nvPr/>
        </p:nvSpPr>
        <p:spPr>
          <a:xfrm>
            <a:off x="548640" y="5788152"/>
            <a:ext cx="4572000" cy="228600"/>
          </a:xfrm>
          <a:prstGeom prst="rect">
            <a:avLst/>
          </a:prstGeom>
          <a:noFill/>
          <a:ln/>
        </p:spPr>
        <p:txBody>
          <a:bodyPr wrap="square" lIns="0" tIns="0" rIns="0" bIns="0" rtlCol="0" anchor="ctr"/>
          <a:lstStyle/>
          <a:p>
            <a:pPr indent="0" marL="0">
              <a:buNone/>
            </a:pPr>
            <a:r>
              <a:rPr lang="en-US" sz="1100" b="1"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0" name="Shape 8"/>
          <p:cNvSpPr/>
          <p:nvPr/>
        </p:nvSpPr>
        <p:spPr>
          <a:xfrm>
            <a:off x="548640" y="6062472"/>
            <a:ext cx="1337767" cy="512064"/>
          </a:xfrm>
          <a:prstGeom prst="roundRect">
            <a:avLst>
              <a:gd name="adj" fmla="val 12500"/>
            </a:avLst>
          </a:prstGeom>
          <a:solidFill>
            <a:srgbClr val="FEF3D6"/>
          </a:solidFill>
          <a:ln w="25400">
            <a:solidFill>
              <a:srgbClr val="F9AB00"/>
            </a:solidFill>
            <a:prstDash val="solid"/>
          </a:ln>
        </p:spPr>
      </p:sp>
      <p:sp>
        <p:nvSpPr>
          <p:cNvPr id="11" name="Text 9"/>
          <p:cNvSpPr/>
          <p:nvPr/>
        </p:nvSpPr>
        <p:spPr>
          <a:xfrm>
            <a:off x="640080" y="6071616"/>
            <a:ext cx="1200607"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resumen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7 × 2</a:t>
            </a:r>
            <a:endParaRPr lang="en-US" sz="1200" dirty="0"/>
          </a:p>
        </p:txBody>
      </p:sp>
      <p:sp>
        <p:nvSpPr>
          <p:cNvPr id="12" name="Shape 10"/>
          <p:cNvSpPr/>
          <p:nvPr/>
        </p:nvSpPr>
        <p:spPr>
          <a:xfrm>
            <a:off x="2023567" y="6062472"/>
            <a:ext cx="1714500" cy="512064"/>
          </a:xfrm>
          <a:prstGeom prst="roundRect">
            <a:avLst>
              <a:gd name="adj" fmla="val 12500"/>
            </a:avLst>
          </a:prstGeom>
          <a:solidFill>
            <a:srgbClr val="E8F0FE"/>
          </a:solidFill>
          <a:ln w="28575">
            <a:solidFill>
              <a:srgbClr val="1A73E8"/>
            </a:solidFill>
            <a:prstDash val="solid"/>
          </a:ln>
        </p:spPr>
      </p:sp>
      <p:sp>
        <p:nvSpPr>
          <p:cNvPr id="13" name="Text 11"/>
          <p:cNvSpPr/>
          <p:nvPr/>
        </p:nvSpPr>
        <p:spPr>
          <a:xfrm>
            <a:off x="2115007"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sin_repetidas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61488 × 4</a:t>
            </a:r>
            <a:endParaRPr lang="en-US" sz="1200" dirty="0"/>
          </a:p>
        </p:txBody>
      </p:sp>
      <p:sp>
        <p:nvSpPr>
          <p:cNvPr id="14" name="Shape 12"/>
          <p:cNvSpPr/>
          <p:nvPr/>
        </p:nvSpPr>
        <p:spPr>
          <a:xfrm>
            <a:off x="3875227" y="6062472"/>
            <a:ext cx="1143000" cy="512064"/>
          </a:xfrm>
          <a:prstGeom prst="roundRect">
            <a:avLst>
              <a:gd name="adj" fmla="val 12500"/>
            </a:avLst>
          </a:prstGeom>
          <a:solidFill>
            <a:srgbClr val="F1F3F4"/>
          </a:solidFill>
          <a:ln w="12700">
            <a:solidFill>
              <a:srgbClr val="DADCE0"/>
            </a:solidFill>
            <a:prstDash val="solid"/>
          </a:ln>
        </p:spPr>
      </p:sp>
      <p:sp>
        <p:nvSpPr>
          <p:cNvPr id="15" name="Text 13"/>
          <p:cNvSpPr/>
          <p:nvPr/>
        </p:nvSpPr>
        <p:spPr>
          <a:xfrm>
            <a:off x="3966667" y="6071616"/>
            <a:ext cx="10058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cuantas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21</a:t>
            </a:r>
            <a:endParaRPr lang="en-US" sz="1200" dirty="0"/>
          </a:p>
        </p:txBody>
      </p:sp>
      <p:sp>
        <p:nvSpPr>
          <p:cNvPr id="16" name="Shape 14"/>
          <p:cNvSpPr/>
          <p:nvPr/>
        </p:nvSpPr>
        <p:spPr>
          <a:xfrm>
            <a:off x="5155387" y="6062472"/>
            <a:ext cx="1431950" cy="512064"/>
          </a:xfrm>
          <a:prstGeom prst="roundRect">
            <a:avLst>
              <a:gd name="adj" fmla="val 12500"/>
            </a:avLst>
          </a:prstGeom>
          <a:solidFill>
            <a:srgbClr val="F1F3F4"/>
          </a:solidFill>
          <a:ln w="12700">
            <a:solidFill>
              <a:srgbClr val="DADCE0"/>
            </a:solidFill>
            <a:prstDash val="solid"/>
          </a:ln>
        </p:spPr>
      </p:sp>
      <p:sp>
        <p:nvSpPr>
          <p:cNvPr id="17" name="Text 15"/>
          <p:cNvSpPr/>
          <p:nvPr/>
        </p:nvSpPr>
        <p:spPr>
          <a:xfrm>
            <a:off x="5246827" y="6071616"/>
            <a:ext cx="129479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comparar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24 × 8</a:t>
            </a:r>
            <a:endParaRPr lang="en-US" sz="1200" dirty="0"/>
          </a:p>
        </p:txBody>
      </p:sp>
      <p:sp>
        <p:nvSpPr>
          <p:cNvPr id="18" name="Shape 16"/>
          <p:cNvSpPr/>
          <p:nvPr/>
        </p:nvSpPr>
        <p:spPr>
          <a:xfrm>
            <a:off x="6724498" y="6062472"/>
            <a:ext cx="1431950" cy="512064"/>
          </a:xfrm>
          <a:prstGeom prst="roundRect">
            <a:avLst>
              <a:gd name="adj" fmla="val 12500"/>
            </a:avLst>
          </a:prstGeom>
          <a:solidFill>
            <a:srgbClr val="F1F3F4"/>
          </a:solidFill>
          <a:ln w="12700">
            <a:solidFill>
              <a:srgbClr val="DADCE0"/>
            </a:solidFill>
            <a:prstDash val="solid"/>
          </a:ln>
        </p:spPr>
      </p:sp>
      <p:sp>
        <p:nvSpPr>
          <p:cNvPr id="19" name="Text 17"/>
          <p:cNvSpPr/>
          <p:nvPr/>
        </p:nvSpPr>
        <p:spPr>
          <a:xfrm>
            <a:off x="6815938" y="6071616"/>
            <a:ext cx="129479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real</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24 × 4</a:t>
            </a:r>
            <a:endParaRPr lang="en-US" sz="1200" dirty="0"/>
          </a:p>
        </p:txBody>
      </p:sp>
      <p:sp>
        <p:nvSpPr>
          <p:cNvPr id="20" name="Shape 18"/>
          <p:cNvSpPr/>
          <p:nvPr/>
        </p:nvSpPr>
        <p:spPr>
          <a:xfrm>
            <a:off x="8293608" y="6062472"/>
            <a:ext cx="1714500" cy="512064"/>
          </a:xfrm>
          <a:prstGeom prst="roundRect">
            <a:avLst>
              <a:gd name="adj" fmla="val 12500"/>
            </a:avLst>
          </a:prstGeom>
          <a:solidFill>
            <a:srgbClr val="F1F3F4"/>
          </a:solidFill>
          <a:ln w="12700">
            <a:solidFill>
              <a:srgbClr val="DADCE0"/>
            </a:solidFill>
            <a:prstDash val="solid"/>
          </a:ln>
        </p:spPr>
      </p:sp>
      <p:sp>
        <p:nvSpPr>
          <p:cNvPr id="21" name="Text 19"/>
          <p:cNvSpPr/>
          <p:nvPr/>
        </p:nvSpPr>
        <p:spPr>
          <a:xfrm>
            <a:off x="8385048" y="6071616"/>
            <a:ext cx="1577340" cy="493776"/>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verdad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61488 × 4</a:t>
            </a:r>
            <a:endParaRPr lang="en-US" sz="1200" dirty="0"/>
          </a:p>
        </p:txBody>
      </p:sp>
      <p:sp>
        <p:nvSpPr>
          <p:cNvPr id="22" name="Text 20"/>
          <p:cNvSpPr/>
          <p:nvPr/>
        </p:nvSpPr>
        <p:spPr>
          <a:xfrm>
            <a:off x="10145268" y="6062472"/>
            <a:ext cx="1005840" cy="512064"/>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y 13 más</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B3D62"/>
        </a:solidFill>
      </p:bgPr>
    </p:bg>
    <p:spTree>
      <p:nvGrpSpPr>
        <p:cNvPr id="1" name=""/>
        <p:cNvGrpSpPr/>
        <p:nvPr/>
      </p:nvGrpSpPr>
      <p:grpSpPr>
        <a:xfrm>
          <a:off x="0" y="0"/>
          <a:ext cx="0" cy="0"/>
          <a:chOff x="0" y="0"/>
          <a:chExt cx="0" cy="0"/>
        </a:xfrm>
      </p:grpSpPr>
      <p:sp>
        <p:nvSpPr>
          <p:cNvPr id="2" name="Text 0"/>
          <p:cNvSpPr/>
          <p:nvPr/>
        </p:nvSpPr>
        <p:spPr>
          <a:xfrm>
            <a:off x="731520" y="1645920"/>
            <a:ext cx="1069848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Ahora en Colab</a:t>
            </a:r>
            <a:endParaRPr lang="en-US" sz="4000" dirty="0"/>
          </a:p>
        </p:txBody>
      </p:sp>
      <p:sp>
        <p:nvSpPr>
          <p:cNvPr id="3" name="Text 1"/>
          <p:cNvSpPr/>
          <p:nvPr/>
        </p:nvSpPr>
        <p:spPr>
          <a:xfrm>
            <a:off x="731520" y="2560320"/>
            <a:ext cx="10698480" cy="82296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Ahora abran el Lab 03 guiado y hagan los 6 pasos de la Parte 1. La Parte 2 queda para la casa, con la guía y estas láminas.</a:t>
            </a:r>
            <a:endParaRPr lang="en-US" sz="2000" dirty="0"/>
          </a:p>
        </p:txBody>
      </p:sp>
      <p:sp>
        <p:nvSpPr>
          <p:cNvPr id="4" name="Text 2"/>
          <p:cNvSpPr/>
          <p:nvPr/>
        </p:nvSpPr>
        <p:spPr>
          <a:xfrm>
            <a:off x="731520" y="3611880"/>
            <a:ext cx="10698480" cy="457200"/>
          </a:xfrm>
          <a:prstGeom prst="rect">
            <a:avLst/>
          </a:prstGeom>
          <a:noFill/>
          <a:ln/>
        </p:spPr>
        <p:txBody>
          <a:bodyPr wrap="square" lIns="0" tIns="0" rIns="0" bIns="0" rtlCol="0" anchor="ctr"/>
          <a:lstStyle/>
          <a:p>
            <a:pPr indent="0" marL="0">
              <a:buNone/>
            </a:pPr>
            <a:r>
              <a:rPr lang="en-US" sz="1800" dirty="0">
                <a:solidFill>
                  <a:srgbClr val="F9AB00"/>
                </a:solidFill>
                <a:latin typeface="Calibri" pitchFamily="34" charset="0"/>
                <a:ea typeface="Calibri" pitchFamily="34" charset="-122"/>
                <a:cs typeface="Calibri" pitchFamily="34" charset="-120"/>
              </a:rPr>
              <a:t>Si algo no calza, escriban en el chat el número del paso.</a:t>
            </a:r>
            <a:endParaRPr lang="en-US" sz="1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640080"/>
          </a:xfrm>
          <a:prstGeom prst="rect">
            <a:avLst/>
          </a:prstGeom>
          <a:noFill/>
          <a:ln/>
        </p:spPr>
        <p:txBody>
          <a:bodyPr wrap="square" lIns="0" tIns="0" rIns="0" bIns="0" rtlCol="0" anchor="ctr"/>
          <a:lstStyle/>
          <a:p>
            <a:pPr indent="0" marL="0">
              <a:buNone/>
            </a:pPr>
            <a:r>
              <a:rPr lang="en-US" sz="3200" b="1" dirty="0">
                <a:solidFill>
                  <a:srgbClr val="0B3D62"/>
                </a:solidFill>
                <a:latin typeface="Calibri" pitchFamily="34" charset="0"/>
                <a:ea typeface="Calibri" pitchFamily="34" charset="-122"/>
                <a:cs typeface="Calibri" pitchFamily="34" charset="-120"/>
              </a:rPr>
              <a:t>Del Lab 03 al Lab 04</a:t>
            </a:r>
            <a:endParaRPr lang="en-US" sz="3200" dirty="0"/>
          </a:p>
        </p:txBody>
      </p:sp>
      <p:sp>
        <p:nvSpPr>
          <p:cNvPr id="3" name="Text 1"/>
          <p:cNvSpPr/>
          <p:nvPr/>
        </p:nvSpPr>
        <p:spPr>
          <a:xfrm>
            <a:off x="548640" y="1143000"/>
            <a:ext cx="11091672" cy="457200"/>
          </a:xfrm>
          <a:prstGeom prst="rect">
            <a:avLst/>
          </a:prstGeom>
          <a:noFill/>
          <a:ln/>
        </p:spPr>
        <p:txBody>
          <a:bodyPr wrap="square" lIns="0" tIns="0" rIns="0" bIns="0" rtlCol="0" anchor="ctr"/>
          <a:lstStyle/>
          <a:p>
            <a:pPr indent="0" marL="0">
              <a:buNone/>
            </a:pPr>
            <a:r>
              <a:rPr lang="en-US" sz="1800" dirty="0">
                <a:solidFill>
                  <a:srgbClr val="5F6368"/>
                </a:solidFill>
                <a:latin typeface="Calibri" pitchFamily="34" charset="0"/>
                <a:ea typeface="Calibri" pitchFamily="34" charset="-122"/>
                <a:cs typeface="Calibri" pitchFamily="34" charset="-120"/>
              </a:rPr>
              <a:t>Lo que nos llevamos y cómo sigue</a:t>
            </a:r>
            <a:endParaRPr lang="en-US" sz="1800" dirty="0"/>
          </a:p>
        </p:txBody>
      </p:sp>
      <p:sp>
        <p:nvSpPr>
          <p:cNvPr id="4" name="Shape 2"/>
          <p:cNvSpPr/>
          <p:nvPr/>
        </p:nvSpPr>
        <p:spPr>
          <a:xfrm>
            <a:off x="548640" y="2011680"/>
            <a:ext cx="548640" cy="548640"/>
          </a:xfrm>
          <a:prstGeom prst="ellipse">
            <a:avLst/>
          </a:prstGeom>
          <a:solidFill>
            <a:srgbClr val="1A73E8"/>
          </a:solidFill>
          <a:ln w="12700">
            <a:solidFill>
              <a:srgbClr val="1A73E8"/>
            </a:solidFill>
            <a:prstDash val="solid"/>
          </a:ln>
        </p:spPr>
      </p:sp>
      <p:sp>
        <p:nvSpPr>
          <p:cNvPr id="5" name="Text 3"/>
          <p:cNvSpPr/>
          <p:nvPr/>
        </p:nvSpPr>
        <p:spPr>
          <a:xfrm>
            <a:off x="548640" y="20116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1371600" y="1920240"/>
            <a:ext cx="10268712" cy="731520"/>
          </a:xfrm>
          <a:prstGeom prst="rect">
            <a:avLst/>
          </a:prstGeom>
          <a:noFill/>
          <a:ln/>
        </p:spPr>
        <p:txBody>
          <a:bodyPr wrap="square" lIns="0" tIns="0" rIns="0" bIns="0" rtlCol="0" anchor="ctr"/>
          <a:lstStyle/>
          <a:p>
            <a:pPr indent="0" marL="0">
              <a:buNone/>
            </a:pPr>
            <a:r>
              <a:rPr lang="en-US" sz="2200" dirty="0">
                <a:solidFill>
                  <a:srgbClr val="202124"/>
                </a:solidFill>
                <a:latin typeface="Calibri" pitchFamily="34" charset="0"/>
                <a:ea typeface="Calibri" pitchFamily="34" charset="-122"/>
                <a:cs typeface="Calibri" pitchFamily="34" charset="-120"/>
              </a:rPr>
              <a:t>Antes de calcular se cuentan las filas y se mira cómo vienen escritos los datos.</a:t>
            </a:r>
            <a:endParaRPr lang="en-US" sz="2200" dirty="0"/>
          </a:p>
        </p:txBody>
      </p:sp>
      <p:sp>
        <p:nvSpPr>
          <p:cNvPr id="7" name="Shape 5"/>
          <p:cNvSpPr/>
          <p:nvPr/>
        </p:nvSpPr>
        <p:spPr>
          <a:xfrm>
            <a:off x="548640" y="3200400"/>
            <a:ext cx="548640" cy="548640"/>
          </a:xfrm>
          <a:prstGeom prst="ellipse">
            <a:avLst/>
          </a:prstGeom>
          <a:solidFill>
            <a:srgbClr val="1A73E8"/>
          </a:solidFill>
          <a:ln w="12700">
            <a:solidFill>
              <a:srgbClr val="1A73E8"/>
            </a:solidFill>
            <a:prstDash val="solid"/>
          </a:ln>
        </p:spPr>
      </p:sp>
      <p:sp>
        <p:nvSpPr>
          <p:cNvPr id="8" name="Text 6"/>
          <p:cNvSpPr/>
          <p:nvPr/>
        </p:nvSpPr>
        <p:spPr>
          <a:xfrm>
            <a:off x="548640" y="32004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9" name="Text 7"/>
          <p:cNvSpPr/>
          <p:nvPr/>
        </p:nvSpPr>
        <p:spPr>
          <a:xfrm>
            <a:off x="1371600" y="3108960"/>
            <a:ext cx="10268712" cy="731520"/>
          </a:xfrm>
          <a:prstGeom prst="rect">
            <a:avLst/>
          </a:prstGeom>
          <a:noFill/>
          <a:ln/>
        </p:spPr>
        <p:txBody>
          <a:bodyPr wrap="square" lIns="0" tIns="0" rIns="0" bIns="0" rtlCol="0" anchor="ctr"/>
          <a:lstStyle/>
          <a:p>
            <a:pPr indent="0" marL="0">
              <a:buNone/>
            </a:pPr>
            <a:r>
              <a:rPr lang="en-US" sz="2200" dirty="0">
                <a:solidFill>
                  <a:srgbClr val="202124"/>
                </a:solidFill>
                <a:latin typeface="Calibri" pitchFamily="34" charset="0"/>
                <a:ea typeface="Calibri" pitchFamily="34" charset="-122"/>
                <a:cs typeface="Calibri" pitchFamily="34" charset="-120"/>
              </a:rPr>
              <a:t>Rellenar un hueco o marcar un valor imposible son decisiones que cambian el resultado, y se dejan escritas.</a:t>
            </a:r>
            <a:endParaRPr lang="en-US" sz="2200" dirty="0"/>
          </a:p>
        </p:txBody>
      </p:sp>
      <p:sp>
        <p:nvSpPr>
          <p:cNvPr id="10" name="Shape 8"/>
          <p:cNvSpPr/>
          <p:nvPr/>
        </p:nvSpPr>
        <p:spPr>
          <a:xfrm>
            <a:off x="548640" y="4389120"/>
            <a:ext cx="548640" cy="548640"/>
          </a:xfrm>
          <a:prstGeom prst="ellipse">
            <a:avLst/>
          </a:prstGeom>
          <a:solidFill>
            <a:srgbClr val="0B3D62"/>
          </a:solidFill>
          <a:ln w="12700">
            <a:solidFill>
              <a:srgbClr val="0B3D62"/>
            </a:solidFill>
            <a:prstDash val="solid"/>
          </a:ln>
        </p:spPr>
      </p:sp>
      <p:sp>
        <p:nvSpPr>
          <p:cNvPr id="11" name="Text 9"/>
          <p:cNvSpPr/>
          <p:nvPr/>
        </p:nvSpPr>
        <p:spPr>
          <a:xfrm>
            <a:off x="548640" y="43891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Text 10"/>
          <p:cNvSpPr/>
          <p:nvPr/>
        </p:nvSpPr>
        <p:spPr>
          <a:xfrm>
            <a:off x="1371600" y="4297680"/>
            <a:ext cx="10268712" cy="731520"/>
          </a:xfrm>
          <a:prstGeom prst="rect">
            <a:avLst/>
          </a:prstGeom>
          <a:noFill/>
          <a:ln/>
        </p:spPr>
        <p:txBody>
          <a:bodyPr wrap="square" lIns="0" tIns="0" rIns="0" bIns="0" rtlCol="0" anchor="ctr"/>
          <a:lstStyle/>
          <a:p>
            <a:pPr indent="0" marL="0">
              <a:buNone/>
            </a:pPr>
            <a:r>
              <a:rPr lang="en-US" sz="2200" dirty="0">
                <a:solidFill>
                  <a:srgbClr val="202124"/>
                </a:solidFill>
                <a:latin typeface="Calibri" pitchFamily="34" charset="0"/>
                <a:ea typeface="Calibri" pitchFamily="34" charset="-122"/>
                <a:cs typeface="Calibri" pitchFamily="34" charset="-120"/>
              </a:rPr>
              <a:t>El Lab 04 trabaja con la bitácora de mantenimiento y busca qué eventos aparecen juntos y cuál viene después de otro.</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65</Slides>
  <Notes>65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65</vt:i4>
      </vt:variant>
    </vt:vector>
  </HeadingPairs>
  <TitlesOfParts>
    <vt:vector size="6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 03 guiado · Limpieza y análisis exploratorio</dc:title>
  <dc:subject>PptxGenJS Presentation</dc:subject>
  <dc:creator>PptxGenJS</dc:creator>
  <cp:lastModifiedBy>PptxGenJS</cp:lastModifiedBy>
  <cp:revision>1</cp:revision>
  <dcterms:created xsi:type="dcterms:W3CDTF">2026-10-19T23:57:17Z</dcterms:created>
  <dcterms:modified xsi:type="dcterms:W3CDTF">2026-10-19T23:57:17Z</dcterms:modified>
</cp:coreProperties>
</file>