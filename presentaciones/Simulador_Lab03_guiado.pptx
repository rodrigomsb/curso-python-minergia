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SUGERIDOS
Esta presentación 30 min y el Lab 03 guiado en Colab 45 min.
ESTA LÁMINA
Tres ideas. Mirar un archivo antes de calcularle nada, arreglar lo que llegó mal y medir qué tan bien quedó la limpieza. La idea de fondo es que cada arreglo es una decisión y se deja escrita.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esta lámina al comienzo. Hoy se ven solo estos 6 pasos, que son la Parte 1 del cuaderno. La Parte 2 está al final del mismo cuaderno y queda para la casa, con la guía en PDF. Se muestra en la última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el archivo tal como viene, con punto y coma entre columnas y coma decimal. A la derecha la cuenta de filas que deberían ser.
DECIR
366 por 24 por 7 da 61.488. Llegaron 61.508, sobran 20. Nada dio error y aun así algo viene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DATOS y import pandas as pd
Igual que en los labs anteriores, la carpeta de datos y la herramienta de tablas.
sucia = pd.read_csv(DATOS + "demanda_sucia.csv", sep=";")
Lee el archivo tal como llegó. sep=";" avisa que las columnas vienen separadas por punto y coma, que es como guarda Excel en Chile. Sin eso, todo quedaría en una sola columna.
esperadas = 366 * 24 * 7
Cuántas filas debería tener. 366 días porque 2024 fue bisiesto, 24 horas y 7 regiones.
Los print
Comparan las filas que llegaron con las que deberían.
sucia.head()
Muestra las primeras cinco filas.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sep=
El separador de columnas del archivo. Por defecto es la coma.
*
Multiplica.
print( ... )
Muestra en pantalla lo que va dentro. Si van varias cosas separadas por coma, las muestra en una línea con un espacio entre ellas.
len( ... )
Cuenta cuántos elementos tiene una lista o cuántas filas tiene una tabla.
-
Resta. Restar dos fechas da el tiempo que pasó entre ellas.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sep=
El separador de columnas del archivo. Por defecto es la coma.
*
Multiplica.
print( ... )
Muestra en pantalla lo que va dentro. Si van varias cosas separadas por coma, las muestra en una línea con un espacio entre ellas.
len( ... )
Cuenta cuántos elementos tiene una lista o cuántas filas tiene una tabla.
-
Resta. Restar dos fechas da el tiempo que pasó entre ellas.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61.508 filas cuando deberían ser 61.488. Sobran 20.
PREGUNTAR
¿Se fijan en algo raro en las primeras filas? La fecha viene con el día primero y el número con coma. Lo vamos a arreglar en el Paso 2.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sep=
El separador de columnas del archivo. Por defecto es la coma.
*
Multiplica.
print( ... )
Muestra en pantalla lo que va dentro. Si van varias cosas separadas por coma, las muestra en una línea con un espacio entre ellas.
len( ... )
Cuenta cuántos elementos tiene una lista o cuántas filas tiene una tabla.
-
Resta. Restar dos fechas da el tiempo que pasó entre ellas.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Contar filas es el primer control. Nada dio error y sin embargo sobran 20 filas. En el Paso 3 vamos a ver que son repetidas.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cómo llega cada columna, en rojo. Al medio la instrucción que la arregla. A la derecha cómo queda.
DECIR
Las 49 formas de escribir las regiones quedan en 7 con una sola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limpia = sucia.copy()
Una copia. Todo lo que sigue se hace sobre la copia y el original queda intacto.
El número
str.replace cambia la coma por punto y astype(float) convierte el texto en número decimal. Ver la lámina de sintaxis.
La fecha
to_datetime convierte el texto en fecha. format dice cómo viene escrita, día, mes y año.
La región
str.strip quita espacios de los extremos y str.title deja la primera letra de cada palabra en mayúscula.
Los print
Confirman siete regiones, el total del año y el rango de fechas.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.copy()
Una copia. Lo que se cambie en la copia no toca el original.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.str.
Abre las herramientas de texto de la columna, para aplicarlas a todas las filas.
a.b().c()
Cadena de pasos. Cada punto toma lo que salió a su izquierda y le aplica algo más. Se lee de izquierda a derecha.
.replace(a, b)
Cambia a por b.
.astype(tipo)
Convierte el tipo de la columna. float es número con decimales.
pd.to_datetime( ... )
Convierte texto en fecha.
format="%d/%m/%Y"
Cómo viene escrita la fecha. %d día, %m mes, %Y año de cuatro cifras.
/
Divide.
.strip()
Quita los espacios del comienzo y del final.
.title()
Primera letra de cada palabra en mayúscula y el resto en minúscula.
print( ... )
Muestra en pantalla lo que va dentro. Si van varias cosas separadas por coma, las muestra en una línea con un espacio entre ellas.
.nunique()
Cuántos valores distintos hay.
round(valor, n)
Redondea un número a n decimales. Sin n, al entero más cercano.
.sum()
Suma la columna. En una columna de True y False, cuenta los True.
.min()
El valor más chico. En fechas, la más antigua.
.date()
Deja solo el día de una fecha, sin la hora.
.max()
El valor más grande. En fechas, la más reciente.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usa punto decimal. Por eso hay que cambiar la coma antes de convertir.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.copy()
Una copia. Lo que se cambie en la copia no toca el original.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.str.
Abre las herramientas de texto de la columna, para aplicarlas a todas las filas.
a.b().c()
Cadena de pasos. Cada punto toma lo que salió a su izquierda y le aplica algo más. Se lee de izquierda a derecha.
.replace(a, b)
Cambia a por b.
.astype(tipo)
Convierte el tipo de la columna. float es número con decimales.
pd.to_datetime( ... )
Convierte texto en fecha.
format="%d/%m/%Y"
Cómo viene escrita la fecha. %d día, %m mes, %Y año de cuatro cifras.
/
Divide.
.strip()
Quita los espacios del comienzo y del final.
.title()
Primera letra de cada palabra en mayúscula y el resto en minúscula.
print( ... )
Muestra en pantalla lo que va dentro. Si van varias cosas separadas por coma, las muestra en una línea con un espacio entre ellas.
.nunique()
Cuántos valores distintos hay.
round(valor, n)
Redondea un número a n decimales. Sin n, al entero más cercano.
.sum()
Suma la columna. En una columna de True y False, cuenta los True.
.min()
El valor más chico. En fechas, la más antigua.
.date()
Deja solo el día de una fecha, sin la hora.
.max()
El valor más grande. En fechas, la más reciente.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format, Python podría leer el 3 de junio como el 6 de marzo sin avisar.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.copy()
Una copia. Lo que se cambie en la copia no toca el original.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.str.
Abre las herramientas de texto de la columna, para aplicarlas a todas las filas.
a.b().c()
Cadena de pasos. Cada punto toma lo que salió a su izquierda y le aplica algo más. Se lee de izquierda a derecha.
.replace(a, b)
Cambia a por b.
.astype(tipo)
Convierte el tipo de la columna. float es número con decimales.
pd.to_datetime( ... )
Convierte texto en fecha.
format="%d/%m/%Y"
Cómo viene escrita la fecha. %d día, %m mes, %Y año de cuatro cifras.
/
Divide.
.strip()
Quita los espacios del comienzo y del final.
.title()
Primera letra de cada palabra en mayúscula y el resto en minúscula.
print( ... )
Muestra en pantalla lo que va dentro. Si van varias cosas separadas por coma, las muestra en una línea con un espacio entre ellas.
.nunique()
Cuántos valores distintos hay.
round(valor, n)
Redondea un número a n decimales. Sin n, al entero más cercano.
.sum()
Suma la columna. En una columna de True y False, cuenta los True.
.min()
El valor más chico. En fechas, la más antigua.
.date()
Deja solo el día de una fecha, sin la hora.
.max()
El valor más grande. En fechas, la más reciente.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arreglos encadenados. Primero se quitan los espacios y después se arreglan las mayúsculas.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.copy()
Una copia. Lo que se cambie en la copia no toca el original.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.str.
Abre las herramientas de texto de la columna, para aplicarlas a todas las filas.
a.b().c()
Cadena de pasos. Cada punto toma lo que salió a su izquierda y le aplica algo más. Se lee de izquierda a derecha.
.replace(a, b)
Cambia a por b.
.astype(tipo)
Convierte el tipo de la columna. float es número con decimales.
pd.to_datetime( ... )
Convierte texto en fecha.
format="%d/%m/%Y"
Cómo viene escrita la fecha. %d día, %m mes, %Y año de cuatro cifras.
/
Divide.
.strip()
Quita los espacios del comienzo y del final.
.title()
Primera letra de cada palabra en mayúscula y el resto en minúscula.
print( ... )
Muestra en pantalla lo que va dentro. Si van varias cosas separadas por coma, las muestra en una línea con un espacio entre ellas.
.nunique()
Cuántos valores distintos hay.
round(valor, n)
Redondea un número a n decimales. Sin n, al entero más cercano.
.sum()
Suma la columna. En una columna de True y False, cuenta los True.
.min()
El valor más chico. En fechas, la más antigua.
.date()
Deja solo el día de una fecha, sin la hora.
.max()
El valor más grande. En fechas, la más reciente.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7 regiones, 13.560.560 MWh en el año y fechas del 1 de enero al 31 de diciembre.
DECIR
El total recién se puede calcular ahora. Antes la columna era texto.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.copy()
Una copia. Lo que se cambie en la copia no toca el original.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.str.
Abre las herramientas de texto de la columna, para aplicarlas a todas las filas.
a.b().c()
Cadena de pasos. Cada punto toma lo que salió a su izquierda y le aplica algo más. Se lee de izquierda a derecha.
.replace(a, b)
Cambia a por b.
.astype(tipo)
Convierte el tipo de la columna. float es número con decimales.
pd.to_datetime( ... )
Convierte texto en fecha.
format="%d/%m/%Y"
Cómo viene escrita la fecha. %d día, %m mes, %Y año de cuatro cifras.
/
Divide.
.strip()
Quita los espacios del comienzo y del final.
.title()
Primera letra de cada palabra en mayúscula y el resto en minúscula.
print( ... )
Muestra en pantalla lo que va dentro. Si van varias cosas separadas por coma, las muestra en una línea con un espacio entre ellas.
.nunique()
Cuántos valores distintos hay.
round(valor, n)
Redondea un número a n decimales. Sin n, al entero más cercano.
.sum()
Suma la columna. En una columna de True y False, cuenta los True.
.min()
El valor más chico. En fechas, la más antigua.
.date()
Deja solo el día de una fecha, sin la hora.
.max()
El valor más grande. En fechas, la más reciente.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copy deja el archivo original intacto. Si algo sale mal, se vuelve a partir desde sucia sin leer el archivo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 hora 18 aparece dos veces, idéntica. drop_duplicates se queda con la primera y quita la copia.
DECIR
Si no se quita, esa hora se suma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limpia.duplicated().sum()
duplicated marca con verdadero cada fila idéntica a una que ya apareció antes. sum cuenta los verdaderos.
sin_repetidas = limpia.drop_duplicates()
Quita las repetidas y deja la primera de cada una.
if len(sin_repetidas) == esperadas:
Si ahora calza con las filas esperadas, aparece el ✓.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a.b().c()
Cadena de pasos. Cada punto toma lo que salió a su izquierda y le aplica algo más. Se lee de izquierda a derecha.
.duplicated()
True en cada fila idéntica a una que ya apareció antes.
.sum()
Suma la columna. En una columna de True y False, cuenta los True.
nombre = valor
Un solo signo igual guarda. A la izquierda va el nombre y a la derecha lo que se guarda. Si el nombre ya existía, su valor anterior se reemplaza.
.drop_duplicates()
Quita las filas repetidas y deja la primera.
len( ... )
Cuenta cuántos elementos tiene una lista o cuántas filas tiene una tabla.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a.b().c()
Cadena de pasos. Cada punto toma lo que salió a su izquierda y le aplica algo más. Se lee de izquierda a derecha.
.duplicated()
True en cada fila idéntica a una que ya apareció antes.
.sum()
Suma la columna. En una columna de True y False, cuenta los True.
nombre = valor
Un solo signo igual guarda. A la izquierda va el nombre y a la derecha lo que se guarda. Si el nombre ya existía, su valor anterior se reemplaza.
.drop_duplicates()
Quita las filas repetidas y deja la primera.
len( ... )
Cuenta cuántos elementos tiene una lista o cuántas filas tiene una tabla.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20 repetidas. Quedan 61.488 filas, las esperadas.
DECIR
Una fila repetida suma dos veces la misma hora. Es el mismo problema del Lab 01, que inflaba el total.
DECIR
Es el mismo problema de las fichas repetidas del Lab 01. No da error, infla el total.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a.b().c()
Cadena de pasos. Cada punto toma lo que salió a su izquierda y le aplica algo más. Se lee de izquierda a derecha.
.duplicated()
True en cada fila idéntica a una que ya apareció antes.
.sum()
Suma la columna. En una columna de True y False, cuenta los True.
nombre = valor
Un solo signo igual guarda. A la izquierda va el nombre y a la derecha lo que se guarda. Si el nombre ya existía, su valor anterior se reemplaza.
.drop_duplicates()
Quita las filas repetidas y deja la primera.
len( ... )
Cuenta cuántos elementos tiene una lista o cuántas filas tiene una tabla.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Las franjas ámbar son las horas que venían vacías. En rojo lo que puso cada estrategia. Borrar deja huecos, cero hunde el día, repetir lo aplana y la recta lo suaviza.
DECIR
Abajo de cada uno, el promedio del año. Cambia según la estrategia.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estrategia con #@param
Cuatro formas de tratar las horas vacías.
orden = sin_repetidas.sort_values(["region", "fecha", "hora"]).reset_index(drop=True)
Ordena por región, fecha y hora, para que cada hora quede al lado de sus vecinas. reset_index renumera las filas desde cero.
por_region = orden.groupby("region")["mwh"]
Deja la columna mwh separada por región, para no mezclar regiones al rellenar.
El if con las cuatro estrategias
dropna borra las filas vacías. fillna(0) pone cero. ffill repite el valor anterior. interpolate traza una recta entre el valor de antes y el de después.
La vista del día
Toma Valparaíso el 16 de septiembre y muestra al lado lo que venía y lo que queda.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tabla["columna"]
Corchetes con un nombre entre comillas eligen una columna de la tabla. También eligen una llave de un diccionario.
.dropna()
Quita las filas con celdas vacías.
elif condición:
Si las condiciones de arriba no se cumplieron, prueba esta.
.fillna(valor)
Rellena las celdas vacías con un valor. Con un diccionario, un valor distinto por columna.
.ffill()
Rellena cada celda vacía repitiendo el valor anterior.
else:
En cualquier otro caso. No lleva condición.
.transform( ... )
Calcula por grupo, pero devuelve una columna del mismo largo que la tabla, con el resultado de su grupo en cada fila.
lambda x: ...
Una función de una línea y sin nombre. x es lo que recibe y lo que va después de los dos puntos es lo que devuelve.
.interpolate()
Rellena las celdas vacías trazando una recta entre el valor de antes y el de después.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
.mean()
El promedio. En una columna de True y False, la proporción de True.
tabla[condición]
Con una columna de True y False adentro, la tabla deja pasar solo las filas con True. Es un filtro.
&amp;
Se lee y. Con columnas de True y False, queda True solo donde las dos son verdaderas. Cada condición tiene que ir entre paréntesis.
pd.DataFrame( ... )
Arma una tabla. Con un diccionario de listas, cada llave es una columna. Con una lista de diccionarios, cada diccionario es una fila.
{"nombre": valor}
Un diccionario. Cada nombre entre comillas, la llave, tiene su valor a la derecha de los dos puntos. Se consulta con corchetes, diccionario["nombre"].
.reindex(rótulos)
Trae las filas con esos rótulos. Si alguna no existe, queda vacía.
.index
Los rótulos de las filas.
.head(n)
Las primeras n filas. Sin n, cinco.
.round(n)
Redondea a n decimales.
.set_index("columna")
Usa esa columna como rótulo de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lambda es la sintaxis más rara del lab. Basta con leerla como para cada pedazo s, haz esto.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tabla["columna"]
Corchetes con un nombre entre comillas eligen una columna de la tabla. También eligen una llave de un diccionario.
.dropna()
Quita las filas con celdas vacías.
elif condición:
Si las condiciones de arriba no se cumplieron, prueba esta.
.fillna(valor)
Rellena las celdas vacías con un valor. Con un diccionario, un valor distinto por columna.
.ffill()
Rellena cada celda vacía repitiendo el valor anterior.
else:
En cualquier otro caso. No lleva condición.
.transform( ... )
Calcula por grupo, pero devuelve una columna del mismo largo que la tabla, con el resultado de su grupo en cada fila.
lambda x: ...
Una función de una línea y sin nombre. x es lo que recibe y lo que va después de los dos puntos es lo que devuelve.
.interpolate()
Rellena las celdas vacías trazando una recta entre el valor de antes y el de después.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
.mean()
El promedio. En una columna de True y False, la proporción de True.
tabla[condición]
Con una columna de True y False adentro, la tabla deja pasar solo las filas con True. Es un filtro.
&amp;
Se lee y. Con columnas de True y False, queda True solo donde las dos son verdaderas. Cada condición tiene que ir entre paréntesis.
pd.DataFrame( ... )
Arma una tabla. Con un diccionario de listas, cada llave es una columna. Con una lista de diccionarios, cada diccionario es una fila.
{"nombre": valor}
Un diccionario. Cada nombre entre comillas, la llave, tiene su valor a la derecha de los dos puntos. Se consulta con corchetes, diccionario["nombre"].
.reindex(rótulos)
Trae las filas con esos rótulos. Si alguna no existe, queda vacía.
.index
Los rótulos de las filas.
.head(n)
Las primeras n filas. Sin n, cinco.
.round(n)
Redondea a n decimales.
.set_index("columna")
Usa esa columna como rótulo de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Con la recta el promedio es 227,5. Las horas 1, 2, 8 y 9 se rellenaron entre sus vecinas.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tabla["columna"]
Corchetes con un nombre entre comillas eligen una columna de la tabla. También eligen una llave de un diccionario.
.dropna()
Quita las filas con celdas vacías.
elif condición:
Si las condiciones de arriba no se cumplieron, prueba esta.
.fillna(valor)
Rellena las celdas vacías con un valor. Con un diccionario, un valor distinto por columna.
.ffill()
Rellena cada celda vacía repitiendo el valor anterior.
else:
En cualquier otro caso. No lleva condición.
.transform( ... )
Calcula por grupo, pero devuelve una columna del mismo largo que la tabla, con el resultado de su grupo en cada fila.
lambda x: ...
Una función de una línea y sin nombre. x es lo que recibe y lo que va después de los dos puntos es lo que devuelve.
.interpolate()
Rellena las celdas vacías trazando una recta entre el valor de antes y el de después.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
.mean()
El promedio. En una columna de True y False, la proporción de True.
tabla[condición]
Con una columna de True y False adentro, la tabla deja pasar solo las filas con True. Es un filtro.
&amp;
Se lee y. Con columnas de True y False, queda True solo donde las dos son verdaderas. Cada condición tiene que ir entre paréntesis.
pd.DataFrame( ... )
Arma una tabla. Con un diccionario de listas, cada llave es una columna. Con una lista de diccionarios, cada diccionario es una fila.
{"nombre": valor}
Un diccionario. Cada nombre entre comillas, la llave, tiene su valor a la derecha de los dos puntos. Se consulta con corchetes, diccionario["nombre"].
.reindex(rótulos)
Trae las filas con esos rótulos. Si alguna no existe, queda vacía.
.index
Los rótulos de las filas.
.head(n)
Las primeras n filas. Sin n, cinco.
.round(n)
Redondea a n decimales.
.set_index("columna")
Usa esa columna como rótulo de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poner cero.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tabla["columna"]
Corchetes con un nombre entre comillas eligen una columna de la tabla. También eligen una llave de un diccionario.
.dropna()
Quita las filas con celdas vacías.
elif condición:
Si las condiciones de arriba no se cumplieron, prueba esta.
.fillna(valor)
Rellena las celdas vacías con un valor. Con un diccionario, un valor distinto por columna.
.ffill()
Rellena cada celda vacía repitiendo el valor anterior.
else:
En cualquier otro caso. No lleva condición.
.transform( ... )
Calcula por grupo, pero devuelve una columna del mismo largo que la tabla, con el resultado de su grupo en cada fila.
lambda x: ...
Una función de una línea y sin nombre. x es lo que recibe y lo que va después de los dos puntos es lo que devuelve.
.interpolate()
Rellena las celdas vacías trazando una recta entre el valor de antes y el de después.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
.mean()
El promedio. En una columna de True y False, la proporción de True.
tabla[condición]
Con una columna de True y False adentro, la tabla deja pasar solo las filas con True. Es un filtro.
&amp;
Se lee y. Con columnas de True y False, queda True solo donde las dos son verdaderas. Cada condición tiene que ir entre paréntesis.
pd.DataFrame( ... )
Arma una tabla. Con un diccionario de listas, cada llave es una columna. Con una lista de diccionarios, cada diccionario es una fila.
{"nombre": valor}
Un diccionario. Cada nombre entre comillas, la llave, tiene su valor a la derecha de los dos puntos. Se consulta con corchetes, diccionario["nombre"].
.reindex(rótulos)
Trae las filas con esos rótulos. Si alguna no existe, queda vacía.
.index
Los rótulos de las filas.
.head(n)
Las primeras n filas. Sin n, cinco.
.round(n)
Redondea a n decimales.
.set_index("columna")
Usa esa columna como rótulo de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El promedio baja a 220,5 y el día queda con cuatro horas en cero.
PREGUNTAR
¿Cuál usarían en un informe? No hay una correcta siempre. Lo importante es decir cuál se usó.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.sort_values( ... )
Ordena. Por defecto de menor a mayor. En una tabla se indica la columna.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if condición:
Si la condición es verdadera, se ejecutan las líneas con sangría que vienen debajo. Los dos puntos cierran la condición.
==
Dos signos igual preguntan si dos cosas son iguales. Dan True o False. Un solo igual guarda.
sangría
Las líneas corridas hacia la derecha dependen de la línea de arriba que termina en dos puntos. En Python la sangría es obligatoria.
tabla["columna"]
Corchetes con un nombre entre comillas eligen una columna de la tabla. También eligen una llave de un diccionario.
.dropna()
Quita las filas con celdas vacías.
elif condición:
Si las condiciones de arriba no se cumplieron, prueba esta.
.fillna(valor)
Rellena las celdas vacías con un valor. Con un diccionario, un valor distinto por columna.
.ffill()
Rellena cada celda vacía repitiendo el valor anterior.
else:
En cualquier otro caso. No lleva condición.
.transform( ... )
Calcula por grupo, pero devuelve una columna del mismo largo que la tabla, con el resultado de su grupo en cada fila.
lambda x: ...
Una función de una línea y sin nombre. x es lo que recibe y lo que va después de los dos puntos es lo que devuelve.
.interpolate()
Rellena las celdas vacías trazando una recta entre el valor de antes y el de después.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
.mean()
El promedio. En una columna de True y False, la proporción de True.
tabla[condición]
Con una columna de True y False adentro, la tabla deja pasar solo las filas con True. Es un filtro.
&amp;
Se lee y. Con columnas de True y False, queda True solo donde las dos son verdaderas. Cada condición tiene que ir entre paréntesis.
pd.DataFrame( ... )
Arma una tabla. Con un diccionario de listas, cada llave es una columna. Con una lista de diccionarios, cada diccionario es una fila.
{"nombre": valor}
Un diccionario. Cada nombre entre comillas, la llave, tiene su valor a la derecha de los dos puntos. Se consulta con corchetes, diccionario["nombre"].
.reindex(rótulos)
Trae las filas con esos rótulos. Si alguna no existe, queda vacía.
.index
Los rótulos de las filas.
.head(n)
Las primeras n filas. Sin n, cinco.
.round(n)
Redondea a n decimales.
.set_index("columna")
Usa esa columna como rótulo de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al diagrama del paso si cuesta verlo. Con cero el día se hunde, repitiendo queda plano y con la recta queda suave.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punto gris es una hora de Atacama. La línea punteada es 3 veces su promedio. Los puntos rojos de arriba son picos imposibles y los triángulos de abajo son negativos.
DECIR
Una regla de negocio simple separa lo normal de lo imposible. Con el deslizador se mueve la línea punteada.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veces con #@param
Cuántas veces el promedio de su región tiene que superar una hora para considerarla imposible.
promedio_region = tabla.groupby("region")["mwh"].transform("mean")
transform pone en cada fila el promedio de su región. La columna queda del mismo largo que la tabla.
negativo y pico
Dos condiciones que dan verdadero o falso fila por fila.
final["fue_nulo"] y final["fue_corregido"]
Antes de tocar nada se marca qué horas se van a cambiar y por qué.
final.loc[final["fue_corregido"], "mwh"] = None
Vacía los valores imposibles. Ver la lámina de sintaxis.
La última línea con interpolate
Rellena todos los huecos con una recta, dentro de cada región.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forma de cambiar solo algunas celdas de una columna. Se vuelve a usar en el Paso 6.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15 negativas, 40 sobre 3 veces el promedio, 1.844 rellenadas, 55 corregidas y ninguna hora sin dato.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movió el deslizador a 1.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Marca 27.964 horas, casi la mitad. Con 1 cualquier hora sobre el promedio parece imposible.
DECIR
Una regla demasiado estricta corrige datos buenos.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volvió a 3.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De vuelta a 40 picos. Con 8 se escaparían 7 y en el Paso 6 se verían errores enormes. Pueden probarlo en Colab.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a.b().c()
Cadena de pasos. Cada punto toma lo que salió a su izquierda y le aplica algo más. Se lee de izquierda a derecha.
.sort_values( ... )
Ordena. Por defecto de menor a mayor. En una tabla se indica la columna.
["a", "b"]
Una lista de textos. Dentro de una instrucción de pandas suele indicar varias columnas a la vez.
.reset_index(drop=True)
Vuelve a numerar las filas desde cero. drop=True bota la numeración vieja.
True y False
Verdadero y falso. Al sumarlos, True vale 1 y False vale 0, por eso sumar una columna de True y False cuenta los verdaderos.
.groupby(columna)
Separa las filas en grupos según los valores de la columna. Con una lista, por varias columnas a la vez. Lo que viene después se calcula por grupo.
.transform( ... )
Calcula por grupo, pero devuelve una columna del mismo largo que la tabla, con el resultado de su grupo en cada fila.
tabla["columna"]
Corchetes con un nombre entre comillas eligen una columna de la tabla. También eligen una llave de un diccionario.
&lt; &gt; &lt;= &gt;=
Menor, mayor, menor o igual, mayor o igual. Dan True o False. Con una columna, comparan fila por fila.
*
Multiplica.
print( ... )
Muestra en pantalla lo que va dentro. Si van varias cosas separadas por coma, las muestra en una línea con un espacio entre ellas.
.sum()
Suma la columna. En una columna de True y False, cuenta los True.
f"... {nombre} ..."
Texto con una f delante. Lo que va entre llaves se reemplaza por su valor al mostrarse.
.copy()
Una copia. Lo que se cambie en la copia no toca el original.
tabla["nueva"] = ...
Guarda el resultado como una columna. Si no existía, la crea.
.isna()
True en cada celda vacía.
|
Se lee o. Queda True donde al menos una de las dos es verdadera.
.loc[filas, columna]
Elige filas y columnas a la vez. Con = a la derecha cambia solo esas celdas.
tabla[condición]
Con una columna de True y False adentro, la tabla deja pasar solo las filas con True. Es un filtro.
None
Nada. Asignado a una celda la deja vacía.
lambda x: ...
Una función de una línea y sin nombre. x es lo que recibe y lo que va después de los dos puntos es lo que devuelve.
.interpolate()
Rellena las celdas vacías trazando una recta entre el valor de antes y el de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fue_nulo y fue_corregido quedan en la tabla. Sirven para auditar en el Paso 6 y para informar qué se tocó.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una hora de cada grupo, con lo limpio, lo real y el error. A la derecha el resumen por grupo, que es lo que muestra la celda.
DECIR
Las horas que no se tocaron tienen error cero. El error está solo donde se rellenó o se corrigió. En el trabajo real no existe el original, por eso se marca qué se tocó.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verdad = pd.read_csv(DATOS + "demanda.csv", ...)
El archivo original, sin errores. Lo tenemos solo porque los datos del curso son inventados.
pd.merge(final, verdad, on=[...], suffixes=("_limpia", "_real"))
Une lo limpio con lo original por fecha, hora y región. suffixes pone apellido a las columnas que se llaman igual en las dos tablas.
auditoria["error"]
La diferencia entre lo limpio y lo real, sin signo. abs quita el signo.
auditoria["grupo"] y los loc
Etiqueta cada hora como no se tocó, se rellenó o se corrigió.
El groupby final
Cuántas horas, el error promedio y el máximo de cada grupo.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sangría
Las líneas corridas hacia la derecha dependen de la línea de arriba que termina en dos puntos. En Python la sangría es obligatoria.
suffixes=(...)
Si las dos tablas tienen una columna con el mismo nombre, le agrega estos apellidos para distinguirlas.
tabla["columna"]
Corchetes con un nombre entre comillas eligen una columna de la tabla. También eligen una llave de un diccionario.
tabla["nueva"] = ...
Guarda el resultado como una columna. Si no existía, la crea.
-
Resta. Restar dos fechas da el tiempo que pasó entre ellas.
.abs()
Quita el signo. Deja todos los números positivos.
.loc[filas, columna]
Elige filas y columnas a la vez. Con = a la derecha cambia solo esas celdas.
tabla[condición]
Con una columna de True y False adentro, la tabla deja pasar solo las filas con True. Es un filtro.
print( ... )
Muestra en pantalla lo que va dentro. Si van varias cosas separadas por coma, las muestra en una línea con un espacio entre ellas.
len( ... )
Cuenta cuántos elementos tiene una lista o cuántas filas tiene una tabla.
.groupby(columna)
Separa las filas en grupos según los valores de la columna. Con una lista, por varias columnas a la vez. Lo que viene después se calcula por grupo.
a.b().c()
Cadena de pasos. Cada punto toma lo que salió a su izquierda y le aplica algo más. Se lee de izquierda a derecha.
.agg(nombre=("columna", "cálculo"))
Calcula varias cosas por grupo. Cada argumento es una columna del resultado. Con un solo texto a la derecha, el cálculo es sobre la columna ya elegida.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sangría
Las líneas corridas hacia la derecha dependen de la línea de arriba que termina en dos puntos. En Python la sangría es obligatoria.
suffixes=(...)
Si las dos tablas tienen una columna con el mismo nombre, le agrega estos apellidos para distinguirlas.
tabla["columna"]
Corchetes con un nombre entre comillas eligen una columna de la tabla. También eligen una llave de un diccionario.
tabla["nueva"] = ...
Guarda el resultado como una columna. Si no existía, la crea.
-
Resta. Restar dos fechas da el tiempo que pasó entre ellas.
.abs()
Quita el signo. Deja todos los números positivos.
.loc[filas, columna]
Elige filas y columnas a la vez. Con = a la derecha cambia solo esas celdas.
tabla[condición]
Con una columna de True y False adentro, la tabla deja pasar solo las filas con True. Es un filtro.
print( ... )
Muestra en pantalla lo que va dentro. Si van varias cosas separadas por coma, las muestra en una línea con un espacio entre ellas.
len( ... )
Cuenta cuántos elementos tiene una lista o cuántas filas tiene una tabla.
.groupby(columna)
Separa las filas en grupos según los valores de la columna. Con una lista, por varias columnas a la vez. Lo que viene después se calcula por grupo.
a.b().c()
Cadena de pasos. Cada punto toma lo que salió a su izquierda y le aplica algo más. Se lee de izquierda a derecha.
.agg(nombre=("columna", "cálculo"))
Calcula varias cosas por grupo. Cada argumento es una columna del resultado. Con un solo texto a la derecha, el cálculo es sobre la columna ya elegida.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mismo loc del Paso 5, ahora para escribir una etiqueta.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sangría
Las líneas corridas hacia la derecha dependen de la línea de arriba que termina en dos puntos. En Python la sangría es obligatoria.
suffixes=(...)
Si las dos tablas tienen una columna con el mismo nombre, le agrega estos apellidos para distinguirlas.
tabla["columna"]
Corchetes con un nombre entre comillas eligen una columna de la tabla. También eligen una llave de un diccionario.
tabla["nueva"] = ...
Guarda el resultado como una columna. Si no existía, la crea.
-
Resta. Restar dos fechas da el tiempo que pasó entre ellas.
.abs()
Quita el signo. Deja todos los números positivos.
.loc[filas, columna]
Elige filas y columnas a la vez. Con = a la derecha cambia solo esas celdas.
tabla[condición]
Con una columna de True y False adentro, la tabla deja pasar solo las filas con True. Es un filtro.
print( ... )
Muestra en pantalla lo que va dentro. Si van varias cosas separadas por coma, las muestra en una línea con un espacio entre ellas.
len( ... )
Cuenta cuántos elementos tiene una lista o cuántas filas tiene una tabla.
.groupby(columna)
Separa las filas en grupos según los valores de la columna. Con una lista, por varias columnas a la vez. Lo que viene después se calcula por grupo.
a.b().c()
Cadena de pasos. Cada punto toma lo que salió a su izquierda y le aplica algo más. Se lee de izquierda a derecha.
.agg(nombre=("columna", "cálculo"))
Calcula varias cosas por grupo. Cada argumento es una columna del resultado. Con un solo texto a la derecha, el cálculo es sobre la columna ya elegida.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Las 59.589 horas que no se tocaron tienen error cero. Las rellenadas se equivocan 5,4 MWh en promedio y las corregidas 4,6.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sangría
Las líneas corridas hacia la derecha dependen de la línea de arriba que termina en dos puntos. En Python la sangría es obligatoria.
suffixes=(...)
Si las dos tablas tienen una columna con el mismo nombre, le agrega estos apellidos para distinguirlas.
tabla["columna"]
Corchetes con un nombre entre comillas eligen una columna de la tabla. También eligen una llave de un diccionario.
tabla["nueva"] = ...
Guarda el resultado como una columna. Si no existía, la crea.
-
Resta. Restar dos fechas da el tiempo que pasó entre ellas.
.abs()
Quita el signo. Deja todos los números positivos.
.loc[filas, columna]
Elige filas y columnas a la vez. Con = a la derecha cambia solo esas celdas.
tabla[condición]
Con una columna de True y False adentro, la tabla deja pasar solo las filas con True. Es un filtro.
print( ... )
Muestra en pantalla lo que va dentro. Si van varias cosas separadas por coma, las muestra en una línea con un espacio entre ellas.
len( ... )
Cuenta cuántos elementos tiene una lista o cuántas filas tiene una tabla.
.groupby(columna)
Separa las filas en grupos según los valores de la columna. Con una lista, por varias columnas a la vez. Lo que viene después se calcula por grupo.
a.b().c()
Cadena de pasos. Cada punto toma lo que salió a su izquierda y le aplica algo más. Se lee de izquierda a derecha.
.agg(nombre=("columna", "cálculo"))
Calcula varias cosas por grupo. Cada argumento es una columna del resultado. Con un solo texto a la derecha, el cálculo es sobre la columna ya elegida.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cómo lo harían en su trabajo, donde no existe el original. La respuesta es marcar lo que se tocó, como fue_nulo y fue_corregido, e informarlo.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PASAR ESTA LÁMINA
Aquí termina lo que se ve en clase. Desde esta lámina vienen los estudios de la Parte 2, explicados igual que los pasos, para que los alumnos los repasen en la casa. Cada lámina lleva arriba la etiqueta naranja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Cuatro tarjetas, una por problema. Las dos de la derecha muestran el valor con comillas, que es como lo ve Python.
DECIR
Si se suman dos textos, Python los pega. Por eso el número con coma hay que convertirlo antes de calcular.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sucia["region"].nunique()
Cuenta cuántos valores distintos hay en la columna región.
sucia["mwh"].isna().sum()
isna marca las celdas vacías y sum las cuenta.
repr(sucia["mwh"].iloc[0])
iloc[0] toma el primer valor de la columna. repr lo muestra con comillas si es texto. Así se ve que el número llegó como texto.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tabla["columna"]
Corchetes con un nombre entre comillas eligen una columna de la tabla. También eligen una llave de un diccionario.
.nunique()
Cuántos valores distintos hay.
a.b().c()
Cadena de pasos. Cada punto toma lo que salió a su izquierda y le aplica algo más. Se lee de izquierda a derecha.
.isna()
True en cada celda vacía.
.sum()
Suma la columna. En una columna de True y False, cuenta los True.
repr( ... )
Muestra un valor tal como lo guarda Python. Si es texto aparece entre comillas.
.iloc[n]
Elige por posición. Python cuenta desde 0, así que iloc[0] es la primera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tabla["columna"]
Corchetes con un nombre entre comillas eligen una columna de la tabla. También eligen una llave de un diccionario.
.nunique()
Cuántos valores distintos hay.
a.b().c()
Cadena de pasos. Cada punto toma lo que salió a su izquierda y le aplica algo más. Se lee de izquierda a derecha.
.isna()
True en cada celda vacía.
.sum()
Suma la columna. En una columna de True y False, cuenta los True.
repr( ... )
Muestra un valor tal como lo guarda Python. Si es texto aparece entre comillas.
.iloc[n]
Elige por posición. Python cuenta desde 0, así que iloc[0] es la primera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Sumar verdaderos para contar es un truco que se repite en todo el lab.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tabla["columna"]
Corchetes con un nombre entre comillas eligen una columna de la tabla. También eligen una llave de un diccionario.
.nunique()
Cuántos valores distintos hay.
a.b().c()
Cadena de pasos. Cada punto toma lo que salió a su izquierda y le aplica algo más. Se lee de izquierda a derecha.
.isna()
True en cada celda vacía.
.sum()
Suma la columna. En una columna de True y False, cuenta los True.
repr( ... )
Muestra un valor tal como lo guarda Python. Si es texto aparece entre comillas.
.iloc[n]
Elige por posición. Python cuenta desde 0, así que iloc[0] es la primera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49 formas de escribir 7 regiones, 1.846 horas vacías, y el número y la fecha con comillas, o sea como texto.
DECIR
Con el número como texto no se puede sumar. Python pegaría los textos uno detrás del otro.
DECIR
Estas cuatro líneas resumen todo lo que arregla la Parte 1. Conviene leerlas antes de empezar a limpiar.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tabla["columna"]
Corchetes con un nombre entre comillas eligen una columna de la tabla. También eligen una llave de un diccionario.
.nunique()
Cuántos valores distintos hay.
a.b().c()
Cadena de pasos. Cada punto toma lo que salió a su izquierda y le aplica algo más. Se lee de izquierda a derecha.
.isna()
True en cada celda vacía.
.sum()
Suma la columna. En una columna de True y False, cuenta los True.
repr( ... )
Muestra un valor tal como lo guarda Python. Si es texto aparece entre comillas.
.iloc[n]
Elige por posición. Python cuenta desde 0, así que iloc[0] es la primera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Las siete formas en que viene escrita Biobío, con cuántas filas tiene cada una. strip y title las dejan todas iguales.
DECIR
Eso es lo que hace el Paso 2 con todas las regiones. Por eso después de limpiar quedan siete.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cuantas con #@param
Un deslizador para elegir cuántas filas mostrar.
sucia["region"].value_counts().head(cuantas)
value_counts cuenta cuántas veces aparece cada forma, de la más frecuente a la menos. head deja las primeras.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tabla["columna"]
Corchetes con un nombre entre comillas eligen una columna de la tabla. También eligen una llave de un diccionario.
a.b().c()
Cadena de pasos. Cada punto toma lo que salió a su izquierda y le aplica algo más. Se lee de izquierda a derecha.
.value_counts()
Cuenta cuántas veces aparece cada valor,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el deslizador en 49 se ven todas las formas distintas.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tabla["columna"]
Corchetes con un nombre entre comillas eligen una columna de la tabla. También eligen una llave de un diccionario.
a.b().c()
Cadena de pasos. Cada punto toma lo que salió a su izquierda y le aplica algo más. Se lee de izquierda a derecha.
.value_counts()
Cuenta cuántas veces aparece cada valor,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Las siete regiones bien escritas pasan de 8.600 filas cada una. Desde la octava, biobío en minúscula con 26.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tabla["columna"]
Corchetes con un nombre entre comillas eligen una columna de la tabla. También eligen una llave de un diccionario.
a.b().c()
Cadena de pasos. Cada punto toma lo que salió a su izquierda y le aplica algo más. Se lee de izquierda a derecha.
.value_counts()
Cuenta cuántas veces aparece cada valor,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movió el deslizador a 16.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tabla["columna"]
Corchetes con un nombre entre comillas eligen una columna de la tabla. También eligen una llave de un diccionario.
a.b().c()
Cadena de pasos. Cada punto toma lo que salió a su izquierda y le aplica algo más. Se lee de izquierda a derecha.
.value_counts()
Cuenta cuántas veces aparece cada valor,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Aparecen más variantes, con mayúsculas, minúsculas y espacios.
PREGUNTAR
¿Les ha pasado en una planilla que la misma región aparece escrita de varias formas? Una tabla dinámica las cuenta por separado.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tabla["columna"]
Corchetes con un nombre entre comillas eligen una columna de la tabla. También eligen una llave de un diccionario.
a.b().c()
Cadena de pasos. Cada punto toma lo que salió a su izquierda y le aplica algo más. Se lee de izquierda a derecha.
.value_counts()
Cuenta cuántas veces aparece cada valor,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Un espacio al comienzo o al final no se ve en una planilla, pero cambia el valor. En el diagrama las comillas dejan esos espacios a la 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Arriba todo el país junto, con el promedio en el doble de la mediana. Abajo cada región, con las dos barras casi iguales.
DECIR
No es por valores extremos. Es porque la Metropolitana consume mucho más que las demás y empuja el promedio de todo junto.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final["mwh"].mean() y median()
El promedio y la mediana de todas las horas. La mediana es el valor del medio, la mitad de las horas está por debajo.
resumen = final.groupby("region")["mwh"].agg(promedio="mean", mediana="median")
Lo mismo, pero por región, como en el Lab 02.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round(valor, n)
Redondea un número a n decimales. Sin n, al entero más cercano.
tabla["columna"]
Corchetes con un nombre entre comillas eligen una columna de la tabla. También eligen una llave de un diccionario.
.mean()
El promedio. En una columna de True y False, la proporción de True.
.median()
La mediana, el valor del medio.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misma forma de agg del Lab 02, más corta porque las dos se calculan sobre la misma columna.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round(valor, n)
Redondea un número a n decimales. Sin n, al entero más cercano.
tabla["columna"]
Corchetes con un nombre entre comillas eligen una columna de la tabla. También eligen una llave de un diccionario.
.mean()
El promedio. En una columna de True y False, la proporción de True.
.median()
La mediana, el valor del medio.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Todo junto, promedio 226,1 y mediana 111,5. Por región están casi iguales, la Metropolitana 885,7 y 873,4.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round(valor, n)
Redondea un número a n decimales. Sin n, al entero más cercano.
tabla["columna"]
Corchetes con un nombre entre comillas eligen una columna de la tabla. También eligen una llave de un diccionario.
.mean()
El promedio. En una columna de True y False, la proporción de True.
.median()
La mediana, el valor del medio.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misma lección del Lab 02 con otra cara. Mezclar grupos de tamaño muy distinto da una cifra que no describe a ninguno.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Pegar en el chat el enlace del Lab 03 guiado. El Paso 6 demora unos segundos porque lee el archivo original para comparar.
CIERRE
La idea que se tienen que llevar es que antes de calcular se cuenta y se mira, y que cada forma de arreglar los datos cambia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128016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Lab 03 guiado · Limpieza y análisis exploratorio</a:t>
            </a:r>
            <a:endParaRPr lang="en-US" sz="4000" dirty="0"/>
          </a:p>
        </p:txBody>
      </p:sp>
      <p:sp>
        <p:nvSpPr>
          <p:cNvPr id="3" name="Text 1"/>
          <p:cNvSpPr txBox="1"/>
          <p:nvPr/>
        </p:nvSpPr>
        <p:spPr>
          <a:xfrm>
            <a:off x="731520" y="214884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Parte 1 en clase, 6 pasos · Parte 2 para la casa, 3 estudios</a:t>
            </a:r>
            <a:endParaRPr lang="en-US" sz="2000" dirty="0"/>
          </a:p>
        </p:txBody>
      </p:sp>
      <p:sp>
        <p:nvSpPr>
          <p:cNvPr id="4" name="Shape 2"/>
          <p:cNvSpPr/>
          <p:nvPr/>
        </p:nvSpPr>
        <p:spPr>
          <a:xfrm>
            <a:off x="731520" y="3200400"/>
            <a:ext cx="502920" cy="502920"/>
          </a:xfrm>
          <a:prstGeom prst="ellipse">
            <a:avLst/>
          </a:prstGeom>
          <a:solidFill>
            <a:srgbClr val="F9AB00"/>
          </a:solidFill>
          <a:ln w="12700">
            <a:solidFill>
              <a:srgbClr val="F9AB00"/>
            </a:solidFill>
            <a:prstDash val="solid"/>
          </a:ln>
        </p:spPr>
      </p:sp>
      <p:sp>
        <p:nvSpPr>
          <p:cNvPr id="5" name="Text 3"/>
          <p:cNvSpPr txBox="1"/>
          <p:nvPr/>
        </p:nvSpPr>
        <p:spPr>
          <a:xfrm>
            <a:off x="731520" y="320040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320040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Cada paso se muestra primero aquí. Un clic avanza.</a:t>
            </a:r>
            <a:endParaRPr lang="en-US" sz="1800" dirty="0"/>
          </a:p>
        </p:txBody>
      </p:sp>
      <p:sp>
        <p:nvSpPr>
          <p:cNvPr id="7" name="Shape 5"/>
          <p:cNvSpPr/>
          <p:nvPr/>
        </p:nvSpPr>
        <p:spPr>
          <a:xfrm>
            <a:off x="731520" y="3977640"/>
            <a:ext cx="502920" cy="502920"/>
          </a:xfrm>
          <a:prstGeom prst="ellipse">
            <a:avLst/>
          </a:prstGeom>
          <a:solidFill>
            <a:srgbClr val="F9AB00"/>
          </a:solidFill>
          <a:ln w="12700">
            <a:solidFill>
              <a:srgbClr val="F9AB00"/>
            </a:solidFill>
            <a:prstDash val="solid"/>
          </a:ln>
        </p:spPr>
      </p:sp>
      <p:sp>
        <p:nvSpPr>
          <p:cNvPr id="8" name="Text 6"/>
          <p:cNvSpPr txBox="1"/>
          <p:nvPr/>
        </p:nvSpPr>
        <p:spPr>
          <a:xfrm>
            <a:off x="731520" y="397764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463040" y="397764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Abajo aparece lo que Python recuerda, que en Colab no se ve.</a:t>
            </a:r>
            <a:endParaRPr lang="en-US" sz="1800" dirty="0"/>
          </a:p>
        </p:txBody>
      </p:sp>
      <p:sp>
        <p:nvSpPr>
          <p:cNvPr id="10" name="Shape 8"/>
          <p:cNvSpPr/>
          <p:nvPr/>
        </p:nvSpPr>
        <p:spPr>
          <a:xfrm>
            <a:off x="731520" y="4754880"/>
            <a:ext cx="502920" cy="502920"/>
          </a:xfrm>
          <a:prstGeom prst="ellipse">
            <a:avLst/>
          </a:prstGeom>
          <a:solidFill>
            <a:srgbClr val="F9AB00"/>
          </a:solidFill>
          <a:ln w="12700">
            <a:solidFill>
              <a:srgbClr val="F9AB00"/>
            </a:solidFill>
            <a:prstDash val="solid"/>
          </a:ln>
        </p:spPr>
      </p:sp>
      <p:sp>
        <p:nvSpPr>
          <p:cNvPr id="11" name="Text 9"/>
          <p:cNvSpPr txBox="1"/>
          <p:nvPr/>
        </p:nvSpPr>
        <p:spPr>
          <a:xfrm>
            <a:off x="731520" y="475488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463040" y="475488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Después lo hacen en Colab, y les tiene que salir igual.</a:t>
            </a:r>
            <a:endParaRPr lang="en-US" sz="1800" dirty="0"/>
          </a:p>
        </p:txBody>
      </p:sp>
      <p:sp>
        <p:nvSpPr>
          <p:cNvPr id="14" name="Text 11"/>
          <p:cNvSpPr txBox="1"/>
          <p:nvPr/>
        </p:nvSpPr>
        <p:spPr>
          <a:xfrm>
            <a:off x="731520" y="6126480"/>
            <a:ext cx="106984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Análisis Avanzado de Datos con Python · Subsecretaría de Energía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PARTE 1 · EN CLASE</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Hoy hacemos estos 6 pasos, juntos, con estas láminas y después en Colab.</a:t>
            </a:r>
            <a:endParaRPr lang="en-US" sz="2000" dirty="0"/>
          </a:p>
        </p:txBody>
      </p:sp>
      <p:sp>
        <p:nvSpPr>
          <p:cNvPr id="4" name="Shape 2"/>
          <p:cNvSpPr/>
          <p:nvPr/>
        </p:nvSpPr>
        <p:spPr>
          <a:xfrm>
            <a:off x="731520" y="2240280"/>
            <a:ext cx="548640" cy="548640"/>
          </a:xfrm>
          <a:prstGeom prst="ellipse">
            <a:avLst/>
          </a:prstGeom>
          <a:solidFill>
            <a:srgbClr val="F9AB00"/>
          </a:solidFill>
          <a:ln w="12700">
            <a:solidFill>
              <a:srgbClr val="F9AB00"/>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1   </a:t>
            </a:r>
            <a:pPr indent="0" marL="0">
              <a:buNone/>
            </a:pPr>
            <a:r>
              <a:rPr lang="en-US" sz="2400" dirty="0">
                <a:solidFill>
                  <a:srgbClr val="FFFFFF"/>
                </a:solidFill>
                <a:latin typeface="Calibri" pitchFamily="34" charset="0"/>
                <a:ea typeface="Calibri" pitchFamily="34" charset="-122"/>
                <a:cs typeface="Calibri" pitchFamily="34" charset="-120"/>
              </a:rPr>
              <a:t>¿Cómo llegó el archivo?</a:t>
            </a:r>
            <a:endParaRPr lang="en-US" sz="2400" dirty="0"/>
          </a:p>
        </p:txBody>
      </p:sp>
      <p:sp>
        <p:nvSpPr>
          <p:cNvPr id="7" name="Shape 5"/>
          <p:cNvSpPr/>
          <p:nvPr/>
        </p:nvSpPr>
        <p:spPr>
          <a:xfrm>
            <a:off x="731520" y="3017520"/>
            <a:ext cx="548640" cy="548640"/>
          </a:xfrm>
          <a:prstGeom prst="ellipse">
            <a:avLst/>
          </a:prstGeom>
          <a:solidFill>
            <a:srgbClr val="F9AB00"/>
          </a:solidFill>
          <a:ln w="12700">
            <a:solidFill>
              <a:srgbClr val="F9AB00"/>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2   </a:t>
            </a:r>
            <a:pPr indent="0" marL="0">
              <a:buNone/>
            </a:pPr>
            <a:r>
              <a:rPr lang="en-US" sz="2400" dirty="0">
                <a:solidFill>
                  <a:srgbClr val="FFFFFF"/>
                </a:solidFill>
                <a:latin typeface="Calibri" pitchFamily="34" charset="0"/>
                <a:ea typeface="Calibri" pitchFamily="34" charset="-122"/>
                <a:cs typeface="Calibri" pitchFamily="34" charset="-120"/>
              </a:rPr>
              <a:t>¿Cómo se ordena el desorden?</a:t>
            </a:r>
            <a:endParaRPr lang="en-US" sz="2400" dirty="0"/>
          </a:p>
        </p:txBody>
      </p:sp>
      <p:sp>
        <p:nvSpPr>
          <p:cNvPr id="10" name="Shape 8"/>
          <p:cNvSpPr/>
          <p:nvPr/>
        </p:nvSpPr>
        <p:spPr>
          <a:xfrm>
            <a:off x="731520" y="3794760"/>
            <a:ext cx="548640" cy="548640"/>
          </a:xfrm>
          <a:prstGeom prst="ellipse">
            <a:avLst/>
          </a:prstGeom>
          <a:solidFill>
            <a:srgbClr val="F9AB00"/>
          </a:solidFill>
          <a:ln w="12700">
            <a:solidFill>
              <a:srgbClr val="F9AB00"/>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3   </a:t>
            </a:r>
            <a:pPr indent="0" marL="0">
              <a:buNone/>
            </a:pPr>
            <a:r>
              <a:rPr lang="en-US" sz="2400" dirty="0">
                <a:solidFill>
                  <a:srgbClr val="FFFFFF"/>
                </a:solidFill>
                <a:latin typeface="Calibri" pitchFamily="34" charset="0"/>
                <a:ea typeface="Calibri" pitchFamily="34" charset="-122"/>
                <a:cs typeface="Calibri" pitchFamily="34" charset="-120"/>
              </a:rPr>
              <a:t>¿Hay filas repetidas?</a:t>
            </a:r>
            <a:endParaRPr lang="en-US" sz="2400" dirty="0"/>
          </a:p>
        </p:txBody>
      </p:sp>
      <p:sp>
        <p:nvSpPr>
          <p:cNvPr id="13" name="Shape 11"/>
          <p:cNvSpPr/>
          <p:nvPr/>
        </p:nvSpPr>
        <p:spPr>
          <a:xfrm>
            <a:off x="731520" y="4572000"/>
            <a:ext cx="548640" cy="548640"/>
          </a:xfrm>
          <a:prstGeom prst="ellipse">
            <a:avLst/>
          </a:prstGeom>
          <a:solidFill>
            <a:srgbClr val="F9AB00"/>
          </a:solidFill>
          <a:ln w="12700">
            <a:solidFill>
              <a:srgbClr val="F9AB00"/>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4   </a:t>
            </a:r>
            <a:pPr indent="0" marL="0">
              <a:buNone/>
            </a:pPr>
            <a:r>
              <a:rPr lang="en-US" sz="2400" dirty="0">
                <a:solidFill>
                  <a:srgbClr val="FFFFFF"/>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16" name="Shape 14"/>
          <p:cNvSpPr/>
          <p:nvPr/>
        </p:nvSpPr>
        <p:spPr>
          <a:xfrm>
            <a:off x="731520" y="5349240"/>
            <a:ext cx="548640" cy="548640"/>
          </a:xfrm>
          <a:prstGeom prst="ellipse">
            <a:avLst/>
          </a:prstGeom>
          <a:solidFill>
            <a:srgbClr val="F9AB00"/>
          </a:solidFill>
          <a:ln w="12700">
            <a:solidFill>
              <a:srgbClr val="F9AB00"/>
            </a:solidFill>
            <a:prstDash val="solid"/>
          </a:ln>
        </p:spPr>
      </p:sp>
      <p:sp>
        <p:nvSpPr>
          <p:cNvPr id="17" name="Text 15"/>
          <p:cNvSpPr txBox="1"/>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5</a:t>
            </a:r>
            <a:endParaRPr lang="en-US" sz="2000" dirty="0"/>
          </a:p>
        </p:txBody>
      </p:sp>
      <p:sp>
        <p:nvSpPr>
          <p:cNvPr id="18" name="Text 16"/>
          <p:cNvSpPr txBox="1"/>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5   </a:t>
            </a:r>
            <a:pPr indent="0" marL="0">
              <a:buNone/>
            </a:pPr>
            <a:r>
              <a:rPr lang="en-US" sz="2400" dirty="0">
                <a:solidFill>
                  <a:srgbClr val="FFFFFF"/>
                </a:solidFill>
                <a:latin typeface="Calibri" pitchFamily="34" charset="0"/>
                <a:ea typeface="Calibri" pitchFamily="34" charset="-122"/>
                <a:cs typeface="Calibri" pitchFamily="34" charset="-120"/>
              </a:rPr>
              <a:t>Tu turno, decide qué valor es imposible</a:t>
            </a:r>
            <a:endParaRPr lang="en-US" sz="2400" dirty="0"/>
          </a:p>
        </p:txBody>
      </p:sp>
      <p:sp>
        <p:nvSpPr>
          <p:cNvPr id="19" name="Shape 17"/>
          <p:cNvSpPr/>
          <p:nvPr/>
        </p:nvSpPr>
        <p:spPr>
          <a:xfrm>
            <a:off x="731520" y="6126480"/>
            <a:ext cx="548640" cy="548640"/>
          </a:xfrm>
          <a:prstGeom prst="ellipse">
            <a:avLst/>
          </a:prstGeom>
          <a:solidFill>
            <a:srgbClr val="F9AB00"/>
          </a:solidFill>
          <a:ln w="12700">
            <a:solidFill>
              <a:srgbClr val="F9AB00"/>
            </a:solidFill>
            <a:prstDash val="solid"/>
          </a:ln>
        </p:spPr>
      </p:sp>
      <p:sp>
        <p:nvSpPr>
          <p:cNvPr id="20" name="Text 18"/>
          <p:cNvSpPr txBox="1"/>
          <p:nvPr/>
        </p:nvSpPr>
        <p:spPr>
          <a:xfrm>
            <a:off x="731520" y="612648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6</a:t>
            </a:r>
            <a:endParaRPr lang="en-US" sz="2000" dirty="0"/>
          </a:p>
        </p:txBody>
      </p:sp>
      <p:sp>
        <p:nvSpPr>
          <p:cNvPr id="21" name="Text 19"/>
          <p:cNvSpPr txBox="1"/>
          <p:nvPr/>
        </p:nvSpPr>
        <p:spPr>
          <a:xfrm>
            <a:off x="1508760" y="612648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6   </a:t>
            </a:r>
            <a:pPr indent="0" marL="0">
              <a:buNone/>
            </a:pPr>
            <a:r>
              <a:rPr lang="en-US" sz="2400" dirty="0">
                <a:solidFill>
                  <a:srgbClr val="FFFFFF"/>
                </a:solidFill>
                <a:latin typeface="Calibri" pitchFamily="34" charset="0"/>
                <a:ea typeface="Calibri" pitchFamily="34" charset="-122"/>
                <a:cs typeface="Calibri" pitchFamily="34" charset="-120"/>
              </a:rPr>
              <a:t>¿Qué tan bien quedó la limpieza?</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llegó el archivo?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viene el archivo y cuántas filas debería tener.</a:t>
            </a:r>
            <a:endParaRPr lang="en-US" sz="1400" dirty="0"/>
          </a:p>
        </p:txBody>
      </p:sp>
      <p:pic>
        <p:nvPicPr>
          <p:cNvPr id="6" name="Image 0" descr="../../repo/modulos/../../diag/lab03_paso1_archivo.png">    </p:cNvPr>
          <p:cNvPicPr>
            <a:picLocks noChangeAspect="1"/>
          </p:cNvPicPr>
          <p:nvPr/>
        </p:nvPicPr>
        <p:blipFill>
          <a:blip r:embed="rId1"/>
          <a:stretch>
            <a:fillRect/>
          </a:stretch>
        </p:blipFill>
        <p:spPr>
          <a:xfrm>
            <a:off x="548640" y="1463040"/>
            <a:ext cx="11091672" cy="42516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llegó el archivo?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Lee el archivo tal como llegó, sin arreglar nada.</a:t>
            </a:r>
            <a:endParaRPr lang="en-US" sz="1400" dirty="0"/>
          </a:p>
        </p:txBody>
      </p:sp>
      <p:sp>
        <p:nvSpPr>
          <p:cNvPr id="7" name="Shape 4"/>
          <p:cNvSpPr/>
          <p:nvPr/>
        </p:nvSpPr>
        <p:spPr>
          <a:xfrm>
            <a:off x="548640" y="1481328"/>
            <a:ext cx="11091672" cy="3154680"/>
          </a:xfrm>
          <a:prstGeom prst="roundRect">
            <a:avLst>
              <a:gd name="adj" fmla="val 1739"/>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97180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DATOS = (</a:t>
            </a:r>
            <a:pPr indent="0" marL="0">
              <a:buNone/>
            </a:pPr>
            <a:r>
              <a:rPr lang="en-US" sz="1300" dirty="0">
                <a:solidFill>
                  <a:srgbClr val="A31515"/>
                </a:solidFill>
                <a:latin typeface="Courier New" pitchFamily="34" charset="0"/>
                <a:ea typeface="Courier New" pitchFamily="34" charset="-122"/>
                <a:cs typeface="Courier New" pitchFamily="34" charset="-120"/>
              </a:rPr>
              <a:t>"https://raw.githubusercontent.com/RodrigoMSB/"</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"curso-python-minergia/main/datos/"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pandas as pd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archivo viene separado por punto y coma, como lo guarda Excel en Chile.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sucia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"demanda_sucia.csv"</a:t>
            </a:r>
            <a:pPr indent="0" marL="0">
              <a:buNone/>
            </a:pPr>
            <a:r>
              <a:rPr lang="en-US" sz="1300" dirty="0">
                <a:solidFill>
                  <a:srgbClr val="202124"/>
                </a:solidFill>
                <a:latin typeface="Courier New" pitchFamily="34" charset="0"/>
                <a:ea typeface="Courier New" pitchFamily="34" charset="-122"/>
                <a:cs typeface="Courier New" pitchFamily="34" charset="-120"/>
              </a:rPr>
              <a:t>, sep=</a:t>
            </a:r>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2024 fue bisiesto. 366 días por 24 horas por 7 regiones.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esperadas = 366 * 24 * 7</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del archivo "</a:t>
            </a:r>
            <a:pPr indent="0" marL="0">
              <a:buNone/>
            </a:pPr>
            <a:r>
              <a:rPr lang="en-US" sz="1300" dirty="0">
                <a:solidFill>
                  <a:srgbClr val="202124"/>
                </a:solidFill>
                <a:latin typeface="Courier New" pitchFamily="34" charset="0"/>
                <a:ea typeface="Courier New" pitchFamily="34" charset="-122"/>
                <a:cs typeface="Courier New" pitchFamily="34" charset="-120"/>
              </a:rPr>
              <a:t>, len(sucia))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esperadas   "</a:t>
            </a:r>
            <a:pPr indent="0" marL="0">
              <a:buNone/>
            </a:pPr>
            <a:r>
              <a:rPr lang="en-US" sz="1300" dirty="0">
                <a:solidFill>
                  <a:srgbClr val="202124"/>
                </a:solidFill>
                <a:latin typeface="Courier New" pitchFamily="34" charset="0"/>
                <a:ea typeface="Courier New" pitchFamily="34" charset="-122"/>
                <a:cs typeface="Courier New" pitchFamily="34" charset="-120"/>
              </a:rPr>
              <a:t>, esperadas)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"Sobran            "</a:t>
            </a:r>
            <a:pPr indent="0" marL="0">
              <a:buNone/>
            </a:pPr>
            <a:r>
              <a:rPr lang="en-US" sz="1300" dirty="0">
                <a:solidFill>
                  <a:srgbClr val="202124"/>
                </a:solidFill>
                <a:latin typeface="Courier New" pitchFamily="34" charset="0"/>
                <a:ea typeface="Courier New" pitchFamily="34" charset="-122"/>
                <a:cs typeface="Courier New" pitchFamily="34" charset="-120"/>
              </a:rPr>
              <a:t>, len(sucia) - esperadas)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sucia.head()</a:t>
            </a:r>
            <a:endParaRPr lang="en-US" sz="1300" dirty="0"/>
          </a:p>
        </p:txBody>
      </p:sp>
      <p:sp>
        <p:nvSpPr>
          <p:cNvPr id="11" name="Text 8"/>
          <p:cNvSpPr txBox="1"/>
          <p:nvPr/>
        </p:nvSpPr>
        <p:spPr>
          <a:xfrm>
            <a:off x="1325880" y="467258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Text 10"/>
          <p:cNvSpPr txBox="1"/>
          <p:nvPr/>
        </p:nvSpPr>
        <p:spPr>
          <a:xfrm>
            <a:off x="548640" y="6089904"/>
            <a:ext cx="7315200" cy="457200"/>
          </a:xfrm>
          <a:prstGeom prst="rect">
            <a:avLst/>
          </a:prstGeom>
          <a:noFill/>
          <a:ln/>
        </p:spPr>
        <p:txBody>
          <a:bodyPr wrap="square" lIns="0" tIns="0" rIns="0" bIns="0" rtlCol="0" anchor="ctr"/>
          <a:lstStyle/>
          <a:p>
            <a:pPr indent="0" marL="0">
              <a:buNone/>
            </a:pPr>
            <a:r>
              <a:rPr lang="en-US" sz="1300" i="1" dirty="0">
                <a:solidFill>
                  <a:srgbClr val="5F6368"/>
                </a:solidFill>
                <a:latin typeface="Calibri" pitchFamily="34" charset="0"/>
                <a:ea typeface="Calibri" pitchFamily="34" charset="-122"/>
                <a:cs typeface="Calibri" pitchFamily="34" charset="-120"/>
              </a:rPr>
              <a:t>Todavía nada. La memoria está vacía.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llegó el archivo?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sucia = pd.read_csv(DATOS + </a:t>
            </a:r>
            <a:pPr indent="0" marL="0">
              <a:buNone/>
            </a:pPr>
            <a:r>
              <a:rPr lang="en-US" sz="1600" dirty="0">
                <a:solidFill>
                  <a:srgbClr val="A31515"/>
                </a:solidFill>
                <a:latin typeface="Courier New" pitchFamily="34" charset="0"/>
                <a:ea typeface="Courier New" pitchFamily="34" charset="-122"/>
                <a:cs typeface="Courier New" pitchFamily="34" charset="-120"/>
              </a:rPr>
              <a:t>"demanda_sucia.csv"</a:t>
            </a:r>
            <a:pPr indent="0" marL="0">
              <a:buNone/>
            </a:pPr>
            <a:r>
              <a:rPr lang="en-US" sz="1600" dirty="0">
                <a:solidFill>
                  <a:srgbClr val="202124"/>
                </a:solidFill>
                <a:latin typeface="Courier New" pitchFamily="34" charset="0"/>
                <a:ea typeface="Courier New" pitchFamily="34" charset="-122"/>
                <a:cs typeface="Courier New" pitchFamily="34" charset="-120"/>
              </a:rPr>
              <a:t>, sep=</a:t>
            </a:r>
            <a:pPr indent="0" marL="0">
              <a:buNone/>
            </a:pPr>
            <a:r>
              <a:rPr lang="en-US" sz="1600" dirty="0">
                <a:solidFill>
                  <a:srgbClr val="A31515"/>
                </a:solidFill>
                <a:latin typeface="Courier New" pitchFamily="34" charset="0"/>
                <a:ea typeface="Courier New" pitchFamily="34" charset="-122"/>
                <a:cs typeface="Courier New" pitchFamily="34" charset="-120"/>
              </a:rPr>
              <a:t>";"</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pd.read_csv( ... )</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Lee el archivo y lo convierte en tabla.</a:t>
            </a:r>
            <a:endParaRPr lang="en-US" sz="1600" dirty="0"/>
          </a:p>
        </p:txBody>
      </p:sp>
      <p:sp>
        <p:nvSpPr>
          <p:cNvPr id="13" name="Shape 11"/>
          <p:cNvSpPr/>
          <p:nvPr/>
        </p:nvSpPr>
        <p:spPr>
          <a:xfrm>
            <a:off x="548640" y="312978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29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905256"/>
          </a:xfrm>
          <a:prstGeom prst="roundRect">
            <a:avLst>
              <a:gd name="adj" fmla="val 5051"/>
            </a:avLst>
          </a:prstGeom>
          <a:solidFill>
            <a:srgbClr val="DCEFE0"/>
          </a:solidFill>
          <a:ln w="12700">
            <a:solidFill>
              <a:srgbClr val="DCEFE0"/>
            </a:solidFill>
            <a:prstDash val="solid"/>
          </a:ln>
        </p:spPr>
      </p:sp>
      <p:sp>
        <p:nvSpPr>
          <p:cNvPr id="16" name="Text 14"/>
          <p:cNvSpPr txBox="1"/>
          <p:nvPr/>
        </p:nvSpPr>
        <p:spPr>
          <a:xfrm>
            <a:off x="1170432" y="2841752"/>
            <a:ext cx="4754880" cy="905256"/>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sep=";"</a:t>
            </a:r>
            <a:endParaRPr lang="en-US" sz="1400" dirty="0"/>
          </a:p>
        </p:txBody>
      </p:sp>
      <p:sp>
        <p:nvSpPr>
          <p:cNvPr id="17" name="Text 15"/>
          <p:cNvSpPr txBox="1"/>
          <p:nvPr/>
        </p:nvSpPr>
        <p:spPr>
          <a:xfrm>
            <a:off x="6263640" y="2841752"/>
            <a:ext cx="5376672" cy="905256"/>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Avisa que las columnas vienen separadas por punto y coma, como guarda Excel en Chile. Sin esto todo queda en una sola columna.</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lee el archivo tal como llegó, separando las columnas por punto y coma.</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llegó el archivo?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Lee el archivo tal como llegó, sin arreglar nada.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786384"/>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65836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del archivo  61508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Filas esperadas    61488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Sobran             20</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325880" y="2706624"/>
          <a:ext cx="9144000" cy="914400"/>
        </p:xfrm>
        <a:graphic>
          <a:graphicData uri="http://schemas.openxmlformats.org/drawingml/2006/table">
            <a:tbl>
              <a:tblPr/>
              <a:tblGrid>
                <a:gridCol w="365760"/>
                <a:gridCol w="1188720"/>
                <a:gridCol w="822960"/>
                <a:gridCol w="1280160"/>
                <a:gridCol w="8229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fecha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region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mwh</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01/01/2024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51,95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01/01/2024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49,02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01/01/2024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48,22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01/01/2024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45,57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01/01/2024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47,59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8"/>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3"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4" name="Shape 10"/>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6" name="Shape 12"/>
          <p:cNvSpPr/>
          <p:nvPr/>
        </p:nvSpPr>
        <p:spPr>
          <a:xfrm>
            <a:off x="4736592" y="6062472"/>
            <a:ext cx="1714500" cy="566928"/>
          </a:xfrm>
          <a:prstGeom prst="roundRect">
            <a:avLst>
              <a:gd name="adj" fmla="val 11290"/>
            </a:avLst>
          </a:prstGeom>
          <a:solidFill>
            <a:srgbClr val="FEF3D6"/>
          </a:solidFill>
          <a:ln w="25400">
            <a:solidFill>
              <a:srgbClr val="F9AB00"/>
            </a:solidFill>
            <a:prstDash val="solid"/>
          </a:ln>
        </p:spPr>
      </p:sp>
      <p:sp>
        <p:nvSpPr>
          <p:cNvPr id="17" name="Text 13"/>
          <p:cNvSpPr txBox="1"/>
          <p:nvPr/>
        </p:nvSpPr>
        <p:spPr>
          <a:xfrm>
            <a:off x="48280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8" name="Shape 14"/>
          <p:cNvSpPr/>
          <p:nvPr/>
        </p:nvSpPr>
        <p:spPr>
          <a:xfrm>
            <a:off x="6588252" y="6062472"/>
            <a:ext cx="1143000" cy="566928"/>
          </a:xfrm>
          <a:prstGeom prst="roundRect">
            <a:avLst>
              <a:gd name="adj" fmla="val 11290"/>
            </a:avLst>
          </a:prstGeom>
          <a:solidFill>
            <a:srgbClr val="FEF3D6"/>
          </a:solidFill>
          <a:ln w="25400">
            <a:solidFill>
              <a:srgbClr val="F9AB00"/>
            </a:solidFill>
            <a:prstDash val="solid"/>
          </a:ln>
        </p:spPr>
      </p:sp>
      <p:sp>
        <p:nvSpPr>
          <p:cNvPr id="19" name="Text 15"/>
          <p:cNvSpPr txBox="1"/>
          <p:nvPr/>
        </p:nvSpPr>
        <p:spPr>
          <a:xfrm>
            <a:off x="667969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20" name="Text 16"/>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El archivo trae 20 filas de más. Antes de calcular nada, se cuenta.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llegó el archivo?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Antes de arreglar nada, se cuentan las filas.</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366 días por 24 horas por 7 regiones dan 61.488. Llegaron 20 de más.</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1714500"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8280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7" name="Shape 14"/>
          <p:cNvSpPr/>
          <p:nvPr/>
        </p:nvSpPr>
        <p:spPr>
          <a:xfrm>
            <a:off x="6588252" y="6062472"/>
            <a:ext cx="1143000"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667969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se le hace a cada columna.</a:t>
            </a:r>
            <a:endParaRPr lang="en-US" sz="1400" dirty="0"/>
          </a:p>
        </p:txBody>
      </p:sp>
      <p:pic>
        <p:nvPicPr>
          <p:cNvPr id="6" name="Image 0" descr="../../repo/modulos/modulo03/img/lab03_paso4_tipos.png">    </p:cNvPr>
          <p:cNvPicPr>
            <a:picLocks noChangeAspect="1"/>
          </p:cNvPicPr>
          <p:nvPr/>
        </p:nvPicPr>
        <p:blipFill>
          <a:blip r:embed="rId1"/>
          <a:stretch>
            <a:fillRect/>
          </a:stretch>
        </p:blipFill>
        <p:spPr>
          <a:xfrm>
            <a:off x="548640" y="1463040"/>
            <a:ext cx="11091672" cy="453750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Trabaja sobre una copia, así el archivo original queda intacto.</a:t>
            </a:r>
            <a:endParaRPr lang="en-US" sz="1400" dirty="0"/>
          </a:p>
        </p:txBody>
      </p:sp>
      <p:sp>
        <p:nvSpPr>
          <p:cNvPr id="7" name="Shape 4"/>
          <p:cNvSpPr/>
          <p:nvPr/>
        </p:nvSpPr>
        <p:spPr>
          <a:xfrm>
            <a:off x="548640" y="1481328"/>
            <a:ext cx="11091672" cy="3360420"/>
          </a:xfrm>
          <a:prstGeom prst="roundRect">
            <a:avLst>
              <a:gd name="adj" fmla="val 163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31775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limpia = sucia.copy()</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coma decimal pasa a punto y el texto pasa a número.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limpia[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 limpia[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].str.replace(</a:t>
            </a:r>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202124"/>
                </a:solidFill>
                <a:latin typeface="Courier New" pitchFamily="34" charset="0"/>
                <a:ea typeface="Courier New" pitchFamily="34" charset="-122"/>
                <a:cs typeface="Courier New" pitchFamily="34" charset="-120"/>
              </a:rPr>
              <a:t>).astype(float)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formato dice cómo viene escrita la fecha, día, mes y año.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limpia[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 = pd.to_datetime(limpia[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 format=</a:t>
            </a:r>
            <a:pPr indent="0" marL="0">
              <a:buNone/>
            </a:pPr>
            <a:r>
              <a:rPr lang="en-US" sz="1300" dirty="0">
                <a:solidFill>
                  <a:srgbClr val="A31515"/>
                </a:solidFill>
                <a:latin typeface="Courier New" pitchFamily="34" charset="0"/>
                <a:ea typeface="Courier New" pitchFamily="34" charset="-122"/>
                <a:cs typeface="Courier New" pitchFamily="34" charset="-120"/>
              </a:rPr>
              <a:t>"%d/%m/%Y"</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strip quita los espacios de los extremos y title deja la primera letra en mayúscula.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limpia[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limpia[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].str.strip().str.title()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Regiones distintas"</a:t>
            </a:r>
            <a:pPr indent="0" marL="0">
              <a:buNone/>
            </a:pPr>
            <a:r>
              <a:rPr lang="en-US" sz="1300" dirty="0">
                <a:solidFill>
                  <a:srgbClr val="202124"/>
                </a:solidFill>
                <a:latin typeface="Courier New" pitchFamily="34" charset="0"/>
                <a:ea typeface="Courier New" pitchFamily="34" charset="-122"/>
                <a:cs typeface="Courier New" pitchFamily="34" charset="-120"/>
              </a:rPr>
              <a:t>, limpia[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].nunique())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Demanda total del año"</a:t>
            </a:r>
            <a:pPr indent="0" marL="0">
              <a:buNone/>
            </a:pPr>
            <a:r>
              <a:rPr lang="en-US" sz="1300" dirty="0">
                <a:solidFill>
                  <a:srgbClr val="202124"/>
                </a:solidFill>
                <a:latin typeface="Courier New" pitchFamily="34" charset="0"/>
                <a:ea typeface="Courier New" pitchFamily="34" charset="-122"/>
                <a:cs typeface="Courier New" pitchFamily="34" charset="-120"/>
              </a:rPr>
              <a:t>, round(limpia[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 </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Fechas del"</a:t>
            </a:r>
            <a:pPr indent="0" marL="0">
              <a:buNone/>
            </a:pPr>
            <a:r>
              <a:rPr lang="en-US" sz="1300" dirty="0">
                <a:solidFill>
                  <a:srgbClr val="202124"/>
                </a:solidFill>
                <a:latin typeface="Courier New" pitchFamily="34" charset="0"/>
                <a:ea typeface="Courier New" pitchFamily="34" charset="-122"/>
                <a:cs typeface="Courier New" pitchFamily="34" charset="-120"/>
              </a:rPr>
              <a:t>, limpia[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].min().date(), </a:t>
            </a:r>
            <a:pPr indent="0" marL="0">
              <a:buNone/>
            </a:pPr>
            <a:r>
              <a:rPr lang="en-US" sz="1300" dirty="0">
                <a:solidFill>
                  <a:srgbClr val="A31515"/>
                </a:solidFill>
                <a:latin typeface="Courier New" pitchFamily="34" charset="0"/>
                <a:ea typeface="Courier New" pitchFamily="34" charset="-122"/>
                <a:cs typeface="Courier New" pitchFamily="34" charset="-120"/>
              </a:rPr>
              <a:t>"al"</a:t>
            </a:r>
            <a:pPr indent="0" marL="0">
              <a:buNone/>
            </a:pPr>
            <a:r>
              <a:rPr lang="en-US" sz="1300" dirty="0">
                <a:solidFill>
                  <a:srgbClr val="202124"/>
                </a:solidFill>
                <a:latin typeface="Courier New" pitchFamily="34" charset="0"/>
                <a:ea typeface="Courier New" pitchFamily="34" charset="-122"/>
                <a:cs typeface="Courier New" pitchFamily="34" charset="-120"/>
              </a:rPr>
              <a:t>, limpia[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].max().date())</a:t>
            </a:r>
            <a:endParaRPr lang="en-US" sz="1300" dirty="0"/>
          </a:p>
        </p:txBody>
      </p:sp>
      <p:sp>
        <p:nvSpPr>
          <p:cNvPr id="11" name="Text 8"/>
          <p:cNvSpPr txBox="1"/>
          <p:nvPr/>
        </p:nvSpPr>
        <p:spPr>
          <a:xfrm>
            <a:off x="1325880" y="48783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15" name="Shape 12"/>
          <p:cNvSpPr/>
          <p:nvPr/>
        </p:nvSpPr>
        <p:spPr>
          <a:xfrm>
            <a:off x="182880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7" name="Shape 14"/>
          <p:cNvSpPr/>
          <p:nvPr/>
        </p:nvSpPr>
        <p:spPr>
          <a:xfrm>
            <a:off x="3680460"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7719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9" name="Shape 16"/>
          <p:cNvSpPr/>
          <p:nvPr/>
        </p:nvSpPr>
        <p:spPr>
          <a:xfrm>
            <a:off x="4960620" y="6062472"/>
            <a:ext cx="277063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05206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limpia[</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 limpia[</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].str.replace(</a:t>
            </a:r>
            <a:pPr indent="0" marL="0">
              <a:buNone/>
            </a:pPr>
            <a:r>
              <a:rPr lang="en-US" sz="1600" dirty="0">
                <a:solidFill>
                  <a:srgbClr val="A31515"/>
                </a:solidFill>
                <a:latin typeface="Courier New" pitchFamily="34" charset="0"/>
                <a:ea typeface="Courier New" pitchFamily="34" charset="-122"/>
                <a:cs typeface="Courier New" pitchFamily="34" charset="-120"/>
              </a:rPr>
              <a:t>","</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a:t>
            </a:r>
            <a:pPr indent="0" marL="0">
              <a:buNone/>
            </a:pPr>
            <a:r>
              <a:rPr lang="en-US" sz="1600" dirty="0">
                <a:solidFill>
                  <a:srgbClr val="202124"/>
                </a:solidFill>
                <a:latin typeface="Courier New" pitchFamily="34" charset="0"/>
                <a:ea typeface="Courier New" pitchFamily="34" charset="-122"/>
                <a:cs typeface="Courier New" pitchFamily="34" charset="-120"/>
              </a:rPr>
              <a:t>).astype(float)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limpia["mwh"].str</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str abre las herramientas de texto de la columna.</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.replace(",", ".")</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Cambia la coma por punto en todas las filas.</a:t>
            </a:r>
            <a:endParaRPr lang="en-US" sz="1600" dirty="0"/>
          </a:p>
        </p:txBody>
      </p:sp>
      <p:sp>
        <p:nvSpPr>
          <p:cNvPr id="18" name="Shape 16"/>
          <p:cNvSpPr/>
          <p:nvPr/>
        </p:nvSpPr>
        <p:spPr>
          <a:xfrm>
            <a:off x="548640" y="3618992"/>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189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463544"/>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463544"/>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.astype(float)</a:t>
            </a:r>
            <a:endParaRPr lang="en-US" sz="1400" dirty="0"/>
          </a:p>
        </p:txBody>
      </p:sp>
      <p:sp>
        <p:nvSpPr>
          <p:cNvPr id="22" name="Text 20"/>
          <p:cNvSpPr txBox="1"/>
          <p:nvPr/>
        </p:nvSpPr>
        <p:spPr>
          <a:xfrm>
            <a:off x="6263640" y="3463544"/>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Convierte el texto en número decimal. float es número con decimales.</a:t>
            </a:r>
            <a:endParaRPr lang="en-US" sz="1600" dirty="0"/>
          </a:p>
        </p:txBody>
      </p:sp>
      <p:sp>
        <p:nvSpPr>
          <p:cNvPr id="23" name="Shape 21"/>
          <p:cNvSpPr/>
          <p:nvPr/>
        </p:nvSpPr>
        <p:spPr>
          <a:xfrm>
            <a:off x="548640" y="4295648"/>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2956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195064"/>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19506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limpia["mwh"] =</a:t>
            </a:r>
            <a:endParaRPr lang="en-US" sz="1400" dirty="0"/>
          </a:p>
        </p:txBody>
      </p:sp>
      <p:sp>
        <p:nvSpPr>
          <p:cNvPr id="27" name="Text 25"/>
          <p:cNvSpPr txBox="1"/>
          <p:nvPr/>
        </p:nvSpPr>
        <p:spPr>
          <a:xfrm>
            <a:off x="6263640" y="419506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el resultado en la misma columna.</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en la columna mwh cambia la coma por punto y conviértela en número.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limpia[</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 = pd.to_datetime(limpia[</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 format=</a:t>
            </a:r>
            <a:pPr indent="0" marL="0">
              <a:buNone/>
            </a:pPr>
            <a:r>
              <a:rPr lang="en-US" sz="1600" dirty="0">
                <a:solidFill>
                  <a:srgbClr val="A31515"/>
                </a:solidFill>
                <a:latin typeface="Courier New" pitchFamily="34" charset="0"/>
                <a:ea typeface="Courier New" pitchFamily="34" charset="-122"/>
                <a:cs typeface="Courier New" pitchFamily="34" charset="-120"/>
              </a:rPr>
              <a:t>"%d/%m/%Y"</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pd.to_datetime( ... )</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Convierte texto en fecha.</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format="%d/%m/%Y"</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Cómo viene escrita. %d el día, %m el mes y %Y el año con cuatro cifras, separados por barras.</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convierte la columna fecha, escrita como día, mes y año, en fecha.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limpia[</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 = limpia[</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].str.strip().str.title()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.str.strip()</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Quita los espacios del comienzo y del final.</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.str.title()</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Deja la primera letra de cada palabra en mayúscula y el resto en minúscula.</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limpia los espacios y deja cada región escrita igual.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Trabaja sobre una copia, así el archivo original queda intacto.</a:t>
            </a:r>
            <a:endParaRPr lang="en-US" sz="1400" dirty="0"/>
          </a:p>
        </p:txBody>
      </p:sp>
      <p:sp>
        <p:nvSpPr>
          <p:cNvPr id="6" name="Shape 4"/>
          <p:cNvSpPr/>
          <p:nvPr/>
        </p:nvSpPr>
        <p:spPr>
          <a:xfrm>
            <a:off x="548640" y="1481328"/>
            <a:ext cx="11091672" cy="3086100"/>
          </a:xfrm>
          <a:prstGeom prst="roundRect">
            <a:avLst>
              <a:gd name="adj" fmla="val 1778"/>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2903220"/>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Paso 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limpia = sucia.copy()</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La coma decimal pasa a punto y el texto pasa a número.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limpia[</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 = limpia[</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].str.replace(</a:t>
            </a:r>
            <a:pPr indent="0" marL="0">
              <a:buNone/>
            </a:pPr>
            <a:r>
              <a:rPr lang="en-US" sz="1200" dirty="0">
                <a:solidFill>
                  <a:srgbClr val="A31515"/>
                </a:solidFill>
                <a:latin typeface="Courier New" pitchFamily="34" charset="0"/>
                <a:ea typeface="Courier New" pitchFamily="34" charset="-122"/>
                <a:cs typeface="Courier New" pitchFamily="34" charset="-120"/>
              </a:rPr>
              <a:t>","</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a:t>
            </a:r>
            <a:pPr indent="0" marL="0">
              <a:buNone/>
            </a:pPr>
            <a:r>
              <a:rPr lang="en-US" sz="1200" dirty="0">
                <a:solidFill>
                  <a:srgbClr val="202124"/>
                </a:solidFill>
                <a:latin typeface="Courier New" pitchFamily="34" charset="0"/>
                <a:ea typeface="Courier New" pitchFamily="34" charset="-122"/>
                <a:cs typeface="Courier New" pitchFamily="34" charset="-120"/>
              </a:rPr>
              <a:t>).astype(float)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El formato dice cómo viene escrita la fecha, día, mes y año.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limpia[</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 = pd.to_datetime(limpia[</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 format=</a:t>
            </a:r>
            <a:pPr indent="0" marL="0">
              <a:buNone/>
            </a:pPr>
            <a:r>
              <a:rPr lang="en-US" sz="1200" dirty="0">
                <a:solidFill>
                  <a:srgbClr val="A31515"/>
                </a:solidFill>
                <a:latin typeface="Courier New" pitchFamily="34" charset="0"/>
                <a:ea typeface="Courier New" pitchFamily="34" charset="-122"/>
                <a:cs typeface="Courier New" pitchFamily="34" charset="-120"/>
              </a:rPr>
              <a:t>"%d/%m/%Y"</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strip quita los espacios de los extremos y title deja la primera letra en mayúscula.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limpia[</a:t>
            </a:r>
            <a:pPr indent="0" marL="0">
              <a:buNone/>
            </a:pPr>
            <a:r>
              <a:rPr lang="en-US" sz="1200" dirty="0">
                <a:solidFill>
                  <a:srgbClr val="A31515"/>
                </a:solidFill>
                <a:latin typeface="Courier New" pitchFamily="34" charset="0"/>
                <a:ea typeface="Courier New" pitchFamily="34" charset="-122"/>
                <a:cs typeface="Courier New" pitchFamily="34" charset="-120"/>
              </a:rPr>
              <a:t>"region"</a:t>
            </a:r>
            <a:pPr indent="0" marL="0">
              <a:buNone/>
            </a:pPr>
            <a:r>
              <a:rPr lang="en-US" sz="1200" dirty="0">
                <a:solidFill>
                  <a:srgbClr val="202124"/>
                </a:solidFill>
                <a:latin typeface="Courier New" pitchFamily="34" charset="0"/>
                <a:ea typeface="Courier New" pitchFamily="34" charset="-122"/>
                <a:cs typeface="Courier New" pitchFamily="34" charset="-120"/>
              </a:rPr>
              <a:t>] = limpia[</a:t>
            </a:r>
            <a:pPr indent="0" marL="0">
              <a:buNone/>
            </a:pPr>
            <a:r>
              <a:rPr lang="en-US" sz="1200" dirty="0">
                <a:solidFill>
                  <a:srgbClr val="A31515"/>
                </a:solidFill>
                <a:latin typeface="Courier New" pitchFamily="34" charset="0"/>
                <a:ea typeface="Courier New" pitchFamily="34" charset="-122"/>
                <a:cs typeface="Courier New" pitchFamily="34" charset="-120"/>
              </a:rPr>
              <a:t>"region"</a:t>
            </a:r>
            <a:pPr indent="0" marL="0">
              <a:buNone/>
            </a:pPr>
            <a:r>
              <a:rPr lang="en-US" sz="1200" dirty="0">
                <a:solidFill>
                  <a:srgbClr val="202124"/>
                </a:solidFill>
                <a:latin typeface="Courier New" pitchFamily="34" charset="0"/>
                <a:ea typeface="Courier New" pitchFamily="34" charset="-122"/>
                <a:cs typeface="Courier New" pitchFamily="34" charset="-120"/>
              </a:rPr>
              <a:t>].str.strip().str.title()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 Regiones distintas"</a:t>
            </a:r>
            <a:pPr indent="0" marL="0">
              <a:buNone/>
            </a:pPr>
            <a:r>
              <a:rPr lang="en-US" sz="1200" dirty="0">
                <a:solidFill>
                  <a:srgbClr val="202124"/>
                </a:solidFill>
                <a:latin typeface="Courier New" pitchFamily="34" charset="0"/>
                <a:ea typeface="Courier New" pitchFamily="34" charset="-122"/>
                <a:cs typeface="Courier New" pitchFamily="34" charset="-120"/>
              </a:rPr>
              <a:t>, limpia[</a:t>
            </a:r>
            <a:pPr indent="0" marL="0">
              <a:buNone/>
            </a:pPr>
            <a:r>
              <a:rPr lang="en-US" sz="1200" dirty="0">
                <a:solidFill>
                  <a:srgbClr val="A31515"/>
                </a:solidFill>
                <a:latin typeface="Courier New" pitchFamily="34" charset="0"/>
                <a:ea typeface="Courier New" pitchFamily="34" charset="-122"/>
                <a:cs typeface="Courier New" pitchFamily="34" charset="-120"/>
              </a:rPr>
              <a:t>"region"</a:t>
            </a:r>
            <a:pPr indent="0" marL="0">
              <a:buNone/>
            </a:pPr>
            <a:r>
              <a:rPr lang="en-US" sz="1200" dirty="0">
                <a:solidFill>
                  <a:srgbClr val="202124"/>
                </a:solidFill>
                <a:latin typeface="Courier New" pitchFamily="34" charset="0"/>
                <a:ea typeface="Courier New" pitchFamily="34" charset="-122"/>
                <a:cs typeface="Courier New" pitchFamily="34" charset="-120"/>
              </a:rPr>
              <a:t>].nunique())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 Demanda total del año"</a:t>
            </a:r>
            <a:pPr indent="0" marL="0">
              <a:buNone/>
            </a:pPr>
            <a:r>
              <a:rPr lang="en-US" sz="1200" dirty="0">
                <a:solidFill>
                  <a:srgbClr val="202124"/>
                </a:solidFill>
                <a:latin typeface="Courier New" pitchFamily="34" charset="0"/>
                <a:ea typeface="Courier New" pitchFamily="34" charset="-122"/>
                <a:cs typeface="Courier New" pitchFamily="34" charset="-120"/>
              </a:rPr>
              <a:t>, round(limpia[</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].sum()), </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 Fechas del"</a:t>
            </a:r>
            <a:pPr indent="0" marL="0">
              <a:buNone/>
            </a:pPr>
            <a:r>
              <a:rPr lang="en-US" sz="1200" dirty="0">
                <a:solidFill>
                  <a:srgbClr val="202124"/>
                </a:solidFill>
                <a:latin typeface="Courier New" pitchFamily="34" charset="0"/>
                <a:ea typeface="Courier New" pitchFamily="34" charset="-122"/>
                <a:cs typeface="Courier New" pitchFamily="34" charset="-120"/>
              </a:rPr>
              <a:t>, limpia[</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].min().date(), </a:t>
            </a:r>
            <a:pPr indent="0" marL="0">
              <a:buNone/>
            </a:pPr>
            <a:r>
              <a:rPr lang="en-US" sz="1200" dirty="0">
                <a:solidFill>
                  <a:srgbClr val="A31515"/>
                </a:solidFill>
                <a:latin typeface="Courier New" pitchFamily="34" charset="0"/>
                <a:ea typeface="Courier New" pitchFamily="34" charset="-122"/>
                <a:cs typeface="Courier New" pitchFamily="34" charset="-120"/>
              </a:rPr>
              <a:t>"al"</a:t>
            </a:r>
            <a:pPr indent="0" marL="0">
              <a:buNone/>
            </a:pPr>
            <a:r>
              <a:rPr lang="en-US" sz="1200" dirty="0">
                <a:solidFill>
                  <a:srgbClr val="202124"/>
                </a:solidFill>
                <a:latin typeface="Courier New" pitchFamily="34" charset="0"/>
                <a:ea typeface="Courier New" pitchFamily="34" charset="-122"/>
                <a:cs typeface="Courier New" pitchFamily="34" charset="-120"/>
              </a:rPr>
              <a:t>, limpia[</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].max().date())</a:t>
            </a:r>
            <a:endParaRPr lang="en-US" sz="1200" dirty="0"/>
          </a:p>
        </p:txBody>
      </p:sp>
      <p:sp>
        <p:nvSpPr>
          <p:cNvPr id="10" name="Shape 8"/>
          <p:cNvSpPr/>
          <p:nvPr/>
        </p:nvSpPr>
        <p:spPr>
          <a:xfrm>
            <a:off x="1325880" y="4677156"/>
            <a:ext cx="10314432" cy="786384"/>
          </a:xfrm>
          <a:prstGeom prst="rect">
            <a:avLst/>
          </a:prstGeom>
          <a:solidFill>
            <a:srgbClr val="FFFFFF"/>
          </a:solidFill>
          <a:ln w="12700">
            <a:solidFill>
              <a:srgbClr val="DADCE0"/>
            </a:solidFill>
            <a:prstDash val="solid"/>
          </a:ln>
        </p:spPr>
      </p:sp>
      <p:sp>
        <p:nvSpPr>
          <p:cNvPr id="11" name="Text 9"/>
          <p:cNvSpPr txBox="1"/>
          <p:nvPr/>
        </p:nvSpPr>
        <p:spPr>
          <a:xfrm>
            <a:off x="1463040" y="4750308"/>
            <a:ext cx="10085832" cy="65836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Regiones distintas 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Demanda total del año 13560560 MWh</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Fechas del 2024-01-01 al 2024-12-31</a:t>
            </a:r>
            <a:endParaRPr lang="en-US" sz="1200" dirty="0"/>
          </a:p>
        </p:txBody>
      </p:sp>
      <p:sp>
        <p:nvSpPr>
          <p:cNvPr id="13" name="Text 10"/>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4" name="Shape 11"/>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5" name="Text 12"/>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6" name="Shape 13"/>
          <p:cNvSpPr/>
          <p:nvPr/>
        </p:nvSpPr>
        <p:spPr>
          <a:xfrm>
            <a:off x="1828800" y="6062472"/>
            <a:ext cx="1714500" cy="566928"/>
          </a:xfrm>
          <a:prstGeom prst="roundRect">
            <a:avLst>
              <a:gd name="adj" fmla="val 11290"/>
            </a:avLst>
          </a:prstGeom>
          <a:solidFill>
            <a:srgbClr val="E8F0FE"/>
          </a:solidFill>
          <a:ln w="28575">
            <a:solidFill>
              <a:srgbClr val="1A73E8"/>
            </a:solidFill>
            <a:prstDash val="solid"/>
          </a:ln>
        </p:spPr>
      </p:sp>
      <p:sp>
        <p:nvSpPr>
          <p:cNvPr id="17" name="Text 14"/>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8" name="Shape 15"/>
          <p:cNvSpPr/>
          <p:nvPr/>
        </p:nvSpPr>
        <p:spPr>
          <a:xfrm>
            <a:off x="3680460" y="6062472"/>
            <a:ext cx="1714500" cy="566928"/>
          </a:xfrm>
          <a:prstGeom prst="roundRect">
            <a:avLst>
              <a:gd name="adj" fmla="val 11290"/>
            </a:avLst>
          </a:prstGeom>
          <a:solidFill>
            <a:srgbClr val="FEF3D6"/>
          </a:solidFill>
          <a:ln w="25400">
            <a:solidFill>
              <a:srgbClr val="F9AB00"/>
            </a:solidFill>
            <a:prstDash val="solid"/>
          </a:ln>
        </p:spPr>
      </p:sp>
      <p:sp>
        <p:nvSpPr>
          <p:cNvPr id="19" name="Text 16"/>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limpia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20" name="Shape 17"/>
          <p:cNvSpPr/>
          <p:nvPr/>
        </p:nvSpPr>
        <p:spPr>
          <a:xfrm>
            <a:off x="5532120" y="6062472"/>
            <a:ext cx="11430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562356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22" name="Shape 19"/>
          <p:cNvSpPr/>
          <p:nvPr/>
        </p:nvSpPr>
        <p:spPr>
          <a:xfrm>
            <a:off x="6812280" y="6062472"/>
            <a:ext cx="2770632"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690372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4" name="Text 2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copia limpia tiene números, fechas y siete regiones. El archivo original no se tocó.</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se ordena el desorden?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 número con coma o una fecha chilena llegan como texto.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Hay que convertirlos antes de calcular, y se trabaja sobre una copia.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7145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5" name="Shape 12"/>
          <p:cNvSpPr/>
          <p:nvPr/>
        </p:nvSpPr>
        <p:spPr>
          <a:xfrm>
            <a:off x="3680460" y="6062472"/>
            <a:ext cx="1714500"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limpia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7" name="Shape 14"/>
          <p:cNvSpPr/>
          <p:nvPr/>
        </p:nvSpPr>
        <p:spPr>
          <a:xfrm>
            <a:off x="5532120"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62356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19" name="Shape 16"/>
          <p:cNvSpPr/>
          <p:nvPr/>
        </p:nvSpPr>
        <p:spPr>
          <a:xfrm>
            <a:off x="6812280" y="6062472"/>
            <a:ext cx="277063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690372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¿Hay filas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ve una fila repetida.</a:t>
            </a:r>
            <a:endParaRPr lang="en-US" sz="1400" dirty="0"/>
          </a:p>
        </p:txBody>
      </p:sp>
      <p:pic>
        <p:nvPicPr>
          <p:cNvPr id="6" name="Image 0" descr="../../repo/modulos/modulo03/img/lab03_paso5_repetidas.png">    </p:cNvPr>
          <p:cNvPicPr>
            <a:picLocks noChangeAspect="1"/>
          </p:cNvPicPr>
          <p:nvPr/>
        </p:nvPicPr>
        <p:blipFill>
          <a:blip r:embed="rId1"/>
          <a:stretch>
            <a:fillRect/>
          </a:stretch>
        </p:blipFill>
        <p:spPr>
          <a:xfrm>
            <a:off x="548640" y="1463040"/>
            <a:ext cx="11091672" cy="40919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¿Hay filas repetidas?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1920240"/>
          </a:xfrm>
          <a:prstGeom prst="roundRect">
            <a:avLst>
              <a:gd name="adj" fmla="val 2857"/>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duplicated marca cada fila idéntica a una que ya apareció antes.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repetidas"</a:t>
            </a:r>
            <a:pPr indent="0" marL="0">
              <a:buNone/>
            </a:pPr>
            <a:r>
              <a:rPr lang="en-US" sz="1300" dirty="0">
                <a:solidFill>
                  <a:srgbClr val="202124"/>
                </a:solidFill>
                <a:latin typeface="Courier New" pitchFamily="34" charset="0"/>
                <a:ea typeface="Courier New" pitchFamily="34" charset="-122"/>
                <a:cs typeface="Courier New" pitchFamily="34" charset="-120"/>
              </a:rPr>
              <a:t>, limpia.duplicated().sum())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sin_repetidas = limpia.drop_duplicates()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que quedan"</a:t>
            </a:r>
            <a:pPr indent="0" marL="0">
              <a:buNone/>
            </a:pPr>
            <a:r>
              <a:rPr lang="en-US" sz="1300" dirty="0">
                <a:solidFill>
                  <a:srgbClr val="202124"/>
                </a:solidFill>
                <a:latin typeface="Courier New" pitchFamily="34" charset="0"/>
                <a:ea typeface="Courier New" pitchFamily="34" charset="-122"/>
                <a:cs typeface="Courier New" pitchFamily="34" charset="-120"/>
              </a:rPr>
              <a:t>, len(sin_repetidas))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if len(sin_repetidas) == esperadas: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print(</a:t>
            </a:r>
            <a:pPr indent="0" marL="0">
              <a:buNone/>
            </a:pPr>
            <a:r>
              <a:rPr lang="en-US" sz="1300" dirty="0">
                <a:solidFill>
                  <a:srgbClr val="A31515"/>
                </a:solidFill>
                <a:latin typeface="Courier New" pitchFamily="34" charset="0"/>
                <a:ea typeface="Courier New" pitchFamily="34" charset="-122"/>
                <a:cs typeface="Courier New" pitchFamily="34" charset="-120"/>
              </a:rPr>
              <a:t>"✓ Ahora calza con las"</a:t>
            </a:r>
            <a:pPr indent="0" marL="0">
              <a:buNone/>
            </a:pPr>
            <a:r>
              <a:rPr lang="en-US" sz="1300" dirty="0">
                <a:solidFill>
                  <a:srgbClr val="202124"/>
                </a:solidFill>
                <a:latin typeface="Courier New" pitchFamily="34" charset="0"/>
                <a:ea typeface="Courier New" pitchFamily="34" charset="-122"/>
                <a:cs typeface="Courier New" pitchFamily="34" charset="-120"/>
              </a:rPr>
              <a:t>, esperadas, </a:t>
            </a:r>
            <a:pPr indent="0" marL="0">
              <a:buNone/>
            </a:pPr>
            <a:r>
              <a:rPr lang="en-US" sz="1300" dirty="0">
                <a:solidFill>
                  <a:srgbClr val="A31515"/>
                </a:solidFill>
                <a:latin typeface="Courier New" pitchFamily="34" charset="0"/>
                <a:ea typeface="Courier New" pitchFamily="34" charset="-122"/>
                <a:cs typeface="Courier New" pitchFamily="34" charset="-120"/>
              </a:rPr>
              <a:t>"filas esperadas"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34381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limpia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5" name="Shape 12"/>
          <p:cNvSpPr/>
          <p:nvPr/>
        </p:nvSpPr>
        <p:spPr>
          <a:xfrm>
            <a:off x="2400300"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17" name="Shape 14"/>
          <p:cNvSpPr/>
          <p:nvPr/>
        </p:nvSpPr>
        <p:spPr>
          <a:xfrm>
            <a:off x="368046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9" name="Shape 16"/>
          <p:cNvSpPr/>
          <p:nvPr/>
        </p:nvSpPr>
        <p:spPr>
          <a:xfrm>
            <a:off x="5532120"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62356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1" name="Shape 18"/>
          <p:cNvSpPr/>
          <p:nvPr/>
        </p:nvSpPr>
        <p:spPr>
          <a:xfrm>
            <a:off x="6812280" y="6062472"/>
            <a:ext cx="277063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90372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¿Hay filas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sin_repetidas = limpia.drop_duplicates()</a:t>
            </a:r>
            <a:endParaRPr lang="en-US" sz="1600" dirty="0"/>
          </a:p>
        </p:txBody>
      </p:sp>
      <p:sp>
        <p:nvSpPr>
          <p:cNvPr id="8" name="Shape 6"/>
          <p:cNvSpPr/>
          <p:nvPr/>
        </p:nvSpPr>
        <p:spPr>
          <a:xfrm>
            <a:off x="548640" y="2507996"/>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5079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905256"/>
          </a:xfrm>
          <a:prstGeom prst="roundRect">
            <a:avLst>
              <a:gd name="adj" fmla="val 5051"/>
            </a:avLst>
          </a:prstGeom>
          <a:solidFill>
            <a:srgbClr val="DBE9FB"/>
          </a:solidFill>
          <a:ln w="12700">
            <a:solidFill>
              <a:srgbClr val="DBE9FB"/>
            </a:solidFill>
            <a:prstDash val="solid"/>
          </a:ln>
        </p:spPr>
      </p:sp>
      <p:sp>
        <p:nvSpPr>
          <p:cNvPr id="11" name="Text 9"/>
          <p:cNvSpPr txBox="1"/>
          <p:nvPr/>
        </p:nvSpPr>
        <p:spPr>
          <a:xfrm>
            <a:off x="1170432" y="2219960"/>
            <a:ext cx="4754880" cy="905256"/>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limpia.duplicated()</a:t>
            </a:r>
            <a:endParaRPr lang="en-US" sz="1400" dirty="0"/>
          </a:p>
        </p:txBody>
      </p:sp>
      <p:sp>
        <p:nvSpPr>
          <p:cNvPr id="12" name="Text 10"/>
          <p:cNvSpPr txBox="1"/>
          <p:nvPr/>
        </p:nvSpPr>
        <p:spPr>
          <a:xfrm>
            <a:off x="6263640" y="2219960"/>
            <a:ext cx="5376672" cy="905256"/>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Marca verdadero en cada fila idéntica a otra que ya apareció antes. Se usa en la línea de arriba para contar.</a:t>
            </a:r>
            <a:endParaRPr lang="en-US" sz="1600" dirty="0"/>
          </a:p>
        </p:txBody>
      </p:sp>
      <p:sp>
        <p:nvSpPr>
          <p:cNvPr id="13" name="Shape 11"/>
          <p:cNvSpPr/>
          <p:nvPr/>
        </p:nvSpPr>
        <p:spPr>
          <a:xfrm>
            <a:off x="548640" y="331724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317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216656"/>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321665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limpia.drop_duplicates()</a:t>
            </a:r>
            <a:endParaRPr lang="en-US" sz="1400" dirty="0"/>
          </a:p>
        </p:txBody>
      </p:sp>
      <p:sp>
        <p:nvSpPr>
          <p:cNvPr id="17" name="Text 15"/>
          <p:cNvSpPr txBox="1"/>
          <p:nvPr/>
        </p:nvSpPr>
        <p:spPr>
          <a:xfrm>
            <a:off x="6263640" y="321665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Devuelve la tabla sin esas filas.</a:t>
            </a:r>
            <a:endParaRPr lang="en-US" sz="1600" dirty="0"/>
          </a:p>
        </p:txBody>
      </p:sp>
      <p:sp>
        <p:nvSpPr>
          <p:cNvPr id="18" name="Shape 16"/>
          <p:cNvSpPr/>
          <p:nvPr/>
        </p:nvSpPr>
        <p:spPr>
          <a:xfrm>
            <a:off x="548640" y="3939032"/>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9390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838448"/>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838448"/>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sin_repetidas =</a:t>
            </a:r>
            <a:endParaRPr lang="en-US" sz="1400" dirty="0"/>
          </a:p>
        </p:txBody>
      </p:sp>
      <p:sp>
        <p:nvSpPr>
          <p:cNvPr id="22" name="Text 20"/>
          <p:cNvSpPr txBox="1"/>
          <p:nvPr/>
        </p:nvSpPr>
        <p:spPr>
          <a:xfrm>
            <a:off x="6263640" y="3838448"/>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guarda con otro nombre. limpia no cambia.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sin_repetidas es limpia sin las filas repetidas.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¿Hay filas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920240"/>
          </a:xfrm>
          <a:prstGeom prst="roundRect">
            <a:avLst>
              <a:gd name="adj" fmla="val 285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duplicated marca cada fila idéntica a una que ya apareció antes.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repetidas"</a:t>
            </a:r>
            <a:pPr indent="0" marL="0">
              <a:buNone/>
            </a:pPr>
            <a:r>
              <a:rPr lang="en-US" sz="1300" dirty="0">
                <a:solidFill>
                  <a:srgbClr val="202124"/>
                </a:solidFill>
                <a:latin typeface="Courier New" pitchFamily="34" charset="0"/>
                <a:ea typeface="Courier New" pitchFamily="34" charset="-122"/>
                <a:cs typeface="Courier New" pitchFamily="34" charset="-120"/>
              </a:rPr>
              <a:t>, limpia.duplicated().sum())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sin_repetidas = limpia.drop_duplicates()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que quedan"</a:t>
            </a:r>
            <a:pPr indent="0" marL="0">
              <a:buNone/>
            </a:pPr>
            <a:r>
              <a:rPr lang="en-US" sz="1300" dirty="0">
                <a:solidFill>
                  <a:srgbClr val="202124"/>
                </a:solidFill>
                <a:latin typeface="Courier New" pitchFamily="34" charset="0"/>
                <a:ea typeface="Courier New" pitchFamily="34" charset="-122"/>
                <a:cs typeface="Courier New" pitchFamily="34" charset="-120"/>
              </a:rPr>
              <a:t>, len(sin_repetidas))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if len(sin_repetidas) == esperadas: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print(</a:t>
            </a:r>
            <a:pPr indent="0" marL="0">
              <a:buNone/>
            </a:pPr>
            <a:r>
              <a:rPr lang="en-US" sz="1300" dirty="0">
                <a:solidFill>
                  <a:srgbClr val="A31515"/>
                </a:solidFill>
                <a:latin typeface="Courier New" pitchFamily="34" charset="0"/>
                <a:ea typeface="Courier New" pitchFamily="34" charset="-122"/>
                <a:cs typeface="Courier New" pitchFamily="34" charset="-120"/>
              </a:rPr>
              <a:t>"✓ Ahora calza con las"</a:t>
            </a:r>
            <a:pPr indent="0" marL="0">
              <a:buNone/>
            </a:pPr>
            <a:r>
              <a:rPr lang="en-US" sz="1300" dirty="0">
                <a:solidFill>
                  <a:srgbClr val="202124"/>
                </a:solidFill>
                <a:latin typeface="Courier New" pitchFamily="34" charset="0"/>
                <a:ea typeface="Courier New" pitchFamily="34" charset="-122"/>
                <a:cs typeface="Courier New" pitchFamily="34" charset="-120"/>
              </a:rPr>
              <a:t>, esperadas, </a:t>
            </a:r>
            <a:pPr indent="0" marL="0">
              <a:buNone/>
            </a:pPr>
            <a:r>
              <a:rPr lang="en-US" sz="1300" dirty="0">
                <a:solidFill>
                  <a:srgbClr val="A31515"/>
                </a:solidFill>
                <a:latin typeface="Courier New" pitchFamily="34" charset="0"/>
                <a:ea typeface="Courier New" pitchFamily="34" charset="-122"/>
                <a:cs typeface="Courier New" pitchFamily="34" charset="-120"/>
              </a:rPr>
              <a:t>"filas esperadas"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Shape 8"/>
          <p:cNvSpPr/>
          <p:nvPr/>
        </p:nvSpPr>
        <p:spPr>
          <a:xfrm>
            <a:off x="1325880" y="3511296"/>
            <a:ext cx="10314432" cy="786384"/>
          </a:xfrm>
          <a:prstGeom prst="rect">
            <a:avLst/>
          </a:prstGeom>
          <a:solidFill>
            <a:srgbClr val="FFFFFF"/>
          </a:solidFill>
          <a:ln w="12700">
            <a:solidFill>
              <a:srgbClr val="DADCE0"/>
            </a:solidFill>
            <a:prstDash val="solid"/>
          </a:ln>
        </p:spPr>
      </p:sp>
      <p:sp>
        <p:nvSpPr>
          <p:cNvPr id="11" name="Text 9"/>
          <p:cNvSpPr txBox="1"/>
          <p:nvPr/>
        </p:nvSpPr>
        <p:spPr>
          <a:xfrm>
            <a:off x="1463040" y="3584448"/>
            <a:ext cx="10085832" cy="65836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repetidas 20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Filas que quedan 61488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Ahora calza con las 61488 filas esperadas</a:t>
            </a:r>
            <a:endParaRPr lang="en-US" sz="1200" dirty="0"/>
          </a:p>
        </p:txBody>
      </p:sp>
      <p:sp>
        <p:nvSpPr>
          <p:cNvPr id="12" name="Shape 10"/>
          <p:cNvSpPr/>
          <p:nvPr/>
        </p:nvSpPr>
        <p:spPr>
          <a:xfrm>
            <a:off x="1325880" y="4434840"/>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4434840"/>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Una fila repetida suma dos veces la misma hora.  </a:t>
            </a:r>
            <a:pPr indent="0" marL="0">
              <a:buNone/>
            </a:pPr>
            <a:r>
              <a:rPr lang="en-US" sz="1400" dirty="0">
                <a:solidFill>
                  <a:srgbClr val="202124"/>
                </a:solidFill>
                <a:latin typeface="Calibri" pitchFamily="34" charset="0"/>
                <a:ea typeface="Calibri" pitchFamily="34" charset="-122"/>
                <a:cs typeface="Calibri" pitchFamily="34" charset="-120"/>
              </a:rPr>
              <a:t>duplicated las cuenta y drop_duplicates las quita antes de sumar.</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7" name="Text 14"/>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18" name="Shape 15"/>
          <p:cNvSpPr/>
          <p:nvPr/>
        </p:nvSpPr>
        <p:spPr>
          <a:xfrm>
            <a:off x="1828800" y="6062472"/>
            <a:ext cx="1714500" cy="566928"/>
          </a:xfrm>
          <a:prstGeom prst="roundRect">
            <a:avLst>
              <a:gd name="adj" fmla="val 11290"/>
            </a:avLst>
          </a:prstGeom>
          <a:solidFill>
            <a:srgbClr val="E8F0FE"/>
          </a:solidFill>
          <a:ln w="28575">
            <a:solidFill>
              <a:srgbClr val="1A73E8"/>
            </a:solidFill>
            <a:prstDash val="solid"/>
          </a:ln>
        </p:spPr>
      </p:sp>
      <p:sp>
        <p:nvSpPr>
          <p:cNvPr id="19" name="Text 16"/>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limpia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20" name="Shape 17"/>
          <p:cNvSpPr/>
          <p:nvPr/>
        </p:nvSpPr>
        <p:spPr>
          <a:xfrm>
            <a:off x="3680460" y="6062472"/>
            <a:ext cx="1714500" cy="566928"/>
          </a:xfrm>
          <a:prstGeom prst="roundRect">
            <a:avLst>
              <a:gd name="adj" fmla="val 11290"/>
            </a:avLst>
          </a:prstGeom>
          <a:solidFill>
            <a:srgbClr val="FEF3D6"/>
          </a:solidFill>
          <a:ln w="25400">
            <a:solidFill>
              <a:srgbClr val="F9AB00"/>
            </a:solidFill>
            <a:prstDash val="solid"/>
          </a:ln>
        </p:spPr>
      </p:sp>
      <p:sp>
        <p:nvSpPr>
          <p:cNvPr id="21" name="Text 18"/>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2" name="Shape 19"/>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24" name="Shape 21"/>
          <p:cNvSpPr/>
          <p:nvPr/>
        </p:nvSpPr>
        <p:spPr>
          <a:xfrm>
            <a:off x="7383780" y="6062472"/>
            <a:ext cx="1143000"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747522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6" name="Text 23"/>
          <p:cNvSpPr txBox="1"/>
          <p:nvPr/>
        </p:nvSpPr>
        <p:spPr>
          <a:xfrm>
            <a:off x="86639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Las 20 filas que sobraban eran copias exactas, y ya no están.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las cuatro estrategias aplicadas al mismo día.</a:t>
            </a:r>
            <a:endParaRPr lang="en-US" sz="1400" dirty="0"/>
          </a:p>
        </p:txBody>
      </p:sp>
      <p:pic>
        <p:nvPicPr>
          <p:cNvPr id="6" name="Image 0" descr="../../repo/modulos/modulo03/img/lab03_paso6_huecos.png">    </p:cNvPr>
          <p:cNvPicPr>
            <a:picLocks noChangeAspect="1"/>
          </p:cNvPicPr>
          <p:nvPr/>
        </p:nvPicPr>
        <p:blipFill>
          <a:blip r:embed="rId1"/>
          <a:stretch>
            <a:fillRect/>
          </a:stretch>
        </p:blipFill>
        <p:spPr>
          <a:xfrm>
            <a:off x="548640" y="1463040"/>
            <a:ext cx="11091672" cy="403180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estrategia en la lista y vuelve a correr la celda. Prueba las cuatro y compara el promedio y el día de Valparaíso.</a:t>
            </a:r>
            <a:endParaRPr lang="en-US" sz="1400" dirty="0"/>
          </a:p>
        </p:txBody>
      </p:sp>
      <p:sp>
        <p:nvSpPr>
          <p:cNvPr id="7" name="Shape 4"/>
          <p:cNvSpPr/>
          <p:nvPr/>
        </p:nvSpPr>
        <p:spPr>
          <a:xfrm>
            <a:off x="548640" y="1481328"/>
            <a:ext cx="11091672" cy="4206240"/>
          </a:xfrm>
          <a:prstGeom prst="roundRect">
            <a:avLst>
              <a:gd name="adj" fmla="val 130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4023360"/>
          </a:xfrm>
          <a:prstGeom prst="rect">
            <a:avLst/>
          </a:prstGeom>
          <a:noFill/>
          <a:ln/>
        </p:spPr>
        <p:txBody>
          <a:bodyPr wrap="square" lIns="0" tIns="0" rIns="0" bIns="0" rtlCol="0" anchor="t"/>
          <a:lstStyle/>
          <a:p>
            <a:pPr indent="0" marL="0">
              <a:buNone/>
            </a:pPr>
            <a:r>
              <a:rPr lang="en-US" sz="1000" i="1" dirty="0">
                <a:solidFill>
                  <a:srgbClr val="188038"/>
                </a:solidFill>
                <a:latin typeface="Courier New" pitchFamily="34" charset="0"/>
                <a:ea typeface="Courier New" pitchFamily="34" charset="-122"/>
                <a:cs typeface="Courier New" pitchFamily="34" charset="-120"/>
              </a:rPr>
              <a:t># Paso 4</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estrategia = </a:t>
            </a:r>
            <a:pPr indent="0" marL="0">
              <a:buNone/>
            </a:pPr>
            <a:r>
              <a:rPr lang="en-US" sz="1000" dirty="0">
                <a:solidFill>
                  <a:srgbClr val="A31515"/>
                </a:solidFill>
                <a:latin typeface="Courier New" pitchFamily="34" charset="0"/>
                <a:ea typeface="Courier New" pitchFamily="34" charset="-122"/>
                <a:cs typeface="Courier New" pitchFamily="34" charset="-120"/>
              </a:rPr>
              <a:t>"trazar una recta"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80868B"/>
                </a:solidFill>
                <a:latin typeface="Courier New" pitchFamily="34" charset="0"/>
                <a:ea typeface="Courier New" pitchFamily="34" charset="-122"/>
                <a:cs typeface="Courier New" pitchFamily="34" charset="-120"/>
              </a:rPr>
              <a:t>#@param ["borrar la fila", "poner cero", "repetir el valor anterior", "trazar una recta"]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Ordenadas por región y por hora, para que cada hora quede junto a sus vecinas.</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orden = sin_repetidas.sort_values([</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]).reset_index(drop=True)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por_region = orden.groupby(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if estrategia == </a:t>
            </a:r>
            <a:pPr indent="0" marL="0">
              <a:buNone/>
            </a:pPr>
            <a:r>
              <a:rPr lang="en-US" sz="1000" dirty="0">
                <a:solidFill>
                  <a:srgbClr val="A31515"/>
                </a:solidFill>
                <a:latin typeface="Courier New" pitchFamily="34" charset="0"/>
                <a:ea typeface="Courier New" pitchFamily="34" charset="-122"/>
                <a:cs typeface="Courier New" pitchFamily="34" charset="-120"/>
              </a:rPr>
              <a:t>"borrar la fila"</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orden[</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].dropna()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elif estrategia == </a:t>
            </a:r>
            <a:pPr indent="0" marL="0">
              <a:buNone/>
            </a:pPr>
            <a:r>
              <a:rPr lang="en-US" sz="1000" dirty="0">
                <a:solidFill>
                  <a:srgbClr val="A31515"/>
                </a:solidFill>
                <a:latin typeface="Courier New" pitchFamily="34" charset="0"/>
                <a:ea typeface="Courier New" pitchFamily="34" charset="-122"/>
                <a:cs typeface="Courier New" pitchFamily="34" charset="-120"/>
              </a:rPr>
              <a:t>"poner cero"</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orden[</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].fillna(0)</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elif estrategia == </a:t>
            </a:r>
            <a:pPr indent="0" marL="0">
              <a:buNone/>
            </a:pPr>
            <a:r>
              <a:rPr lang="en-US" sz="1000" dirty="0">
                <a:solidFill>
                  <a:srgbClr val="A31515"/>
                </a:solidFill>
                <a:latin typeface="Courier New" pitchFamily="34" charset="0"/>
                <a:ea typeface="Courier New" pitchFamily="34" charset="-122"/>
                <a:cs typeface="Courier New" pitchFamily="34" charset="-120"/>
              </a:rPr>
              <a:t>"repetir el valor anterior"</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por_region.ffill()</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else: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por_region.transform(lambda s: s.interpolate())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print(f</a:t>
            </a:r>
            <a:pPr indent="0" marL="0">
              <a:buNone/>
            </a:pPr>
            <a:r>
              <a:rPr lang="en-US" sz="1000" dirty="0">
                <a:solidFill>
                  <a:srgbClr val="A31515"/>
                </a:solidFill>
                <a:latin typeface="Courier New" pitchFamily="34" charset="0"/>
                <a:ea typeface="Courier New" pitchFamily="34" charset="-122"/>
                <a:cs typeface="Courier New" pitchFamily="34" charset="-120"/>
              </a:rPr>
              <a:t>"Promedio por hora con {estrategia}"</a:t>
            </a:r>
            <a:pPr indent="0" marL="0">
              <a:buNone/>
            </a:pPr>
            <a:r>
              <a:rPr lang="en-US" sz="1000" dirty="0">
                <a:solidFill>
                  <a:srgbClr val="202124"/>
                </a:solidFill>
                <a:latin typeface="Courier New" pitchFamily="34" charset="0"/>
                <a:ea typeface="Courier New" pitchFamily="34" charset="-122"/>
                <a:cs typeface="Courier New" pitchFamily="34" charset="-120"/>
              </a:rPr>
              <a:t>, round(rellena.mean(), 1), </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Un día de Valparaíso que venía con cuatro horas vacías.</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dia = orden[(orden[</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 </a:t>
            </a:r>
            <a:pPr indent="0" marL="0">
              <a:buNone/>
            </a:pPr>
            <a:r>
              <a:rPr lang="en-US" sz="1000" dirty="0">
                <a:solidFill>
                  <a:srgbClr val="A31515"/>
                </a:solidFill>
                <a:latin typeface="Courier New" pitchFamily="34" charset="0"/>
                <a:ea typeface="Courier New" pitchFamily="34" charset="-122"/>
                <a:cs typeface="Courier New" pitchFamily="34" charset="-120"/>
              </a:rPr>
              <a:t>"Valparaíso"</a:t>
            </a:r>
            <a:pPr indent="0" marL="0">
              <a:buNone/>
            </a:pPr>
            <a:r>
              <a:rPr lang="en-US" sz="1000" dirty="0">
                <a:solidFill>
                  <a:srgbClr val="202124"/>
                </a:solidFill>
                <a:latin typeface="Courier New" pitchFamily="34" charset="0"/>
                <a:ea typeface="Courier New" pitchFamily="34" charset="-122"/>
                <a:cs typeface="Courier New" pitchFamily="34" charset="-120"/>
              </a:rPr>
              <a:t>) &amp; (orden[</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 </a:t>
            </a:r>
            <a:pPr indent="0" marL="0">
              <a:buNone/>
            </a:pPr>
            <a:r>
              <a:rPr lang="en-US" sz="1000" dirty="0">
                <a:solidFill>
                  <a:srgbClr val="A31515"/>
                </a:solidFill>
                <a:latin typeface="Courier New" pitchFamily="34" charset="0"/>
                <a:ea typeface="Courier New" pitchFamily="34" charset="-122"/>
                <a:cs typeface="Courier New" pitchFamily="34" charset="-120"/>
              </a:rPr>
              <a:t>"2024-09-16"</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vista = pd.DataFrame({</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 dia[</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"venía"</a:t>
            </a:r>
            <a:pPr indent="0" marL="0">
              <a:buNone/>
            </a:pPr>
            <a:r>
              <a:rPr lang="en-US" sz="1000" dirty="0">
                <a:solidFill>
                  <a:srgbClr val="202124"/>
                </a:solidFill>
                <a:latin typeface="Courier New" pitchFamily="34" charset="0"/>
                <a:ea typeface="Courier New" pitchFamily="34" charset="-122"/>
                <a:cs typeface="Courier New" pitchFamily="34" charset="-120"/>
              </a:rPr>
              <a:t>: dia[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"queda"</a:t>
            </a:r>
            <a:pPr indent="0" marL="0">
              <a:buNone/>
            </a:pPr>
            <a:r>
              <a:rPr lang="en-US" sz="1000" dirty="0">
                <a:solidFill>
                  <a:srgbClr val="202124"/>
                </a:solidFill>
                <a:latin typeface="Courier New" pitchFamily="34" charset="0"/>
                <a:ea typeface="Courier New" pitchFamily="34" charset="-122"/>
                <a:cs typeface="Courier New" pitchFamily="34" charset="-120"/>
              </a:rPr>
              <a:t>: rellena.reindex(dia.index)})</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vista.head(12).round(1).fillna({</a:t>
            </a:r>
            <a:pPr indent="0" marL="0">
              <a:buNone/>
            </a:pPr>
            <a:r>
              <a:rPr lang="en-US" sz="1000" dirty="0">
                <a:solidFill>
                  <a:srgbClr val="A31515"/>
                </a:solidFill>
                <a:latin typeface="Courier New" pitchFamily="34" charset="0"/>
                <a:ea typeface="Courier New" pitchFamily="34" charset="-122"/>
                <a:cs typeface="Courier New" pitchFamily="34" charset="-120"/>
              </a:rPr>
              <a:t>"venía"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"vacía"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"queda"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"se borra"</a:t>
            </a:r>
            <a:pPr indent="0" marL="0">
              <a:buNone/>
            </a:pPr>
            <a:r>
              <a:rPr lang="en-US" sz="1000" dirty="0">
                <a:solidFill>
                  <a:srgbClr val="202124"/>
                </a:solidFill>
                <a:latin typeface="Courier New" pitchFamily="34" charset="0"/>
                <a:ea typeface="Courier New" pitchFamily="34" charset="-122"/>
                <a:cs typeface="Courier New" pitchFamily="34" charset="-120"/>
              </a:rPr>
              <a:t>}).set_index(</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estrategia</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trazar una recta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7" name="Text 14"/>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8" name="Shape 15"/>
          <p:cNvSpPr/>
          <p:nvPr/>
        </p:nvSpPr>
        <p:spPr>
          <a:xfrm>
            <a:off x="2400300" y="6062472"/>
            <a:ext cx="17145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24917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limpia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20" name="Shape 17"/>
          <p:cNvSpPr/>
          <p:nvPr/>
        </p:nvSpPr>
        <p:spPr>
          <a:xfrm>
            <a:off x="4251960" y="6062472"/>
            <a:ext cx="11430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43434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esperadas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61488</a:t>
            </a:r>
            <a:endParaRPr lang="en-US" sz="1200" dirty="0"/>
          </a:p>
        </p:txBody>
      </p:sp>
      <p:sp>
        <p:nvSpPr>
          <p:cNvPr id="22" name="Shape 19"/>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24" name="Shape 21"/>
          <p:cNvSpPr/>
          <p:nvPr/>
        </p:nvSpPr>
        <p:spPr>
          <a:xfrm>
            <a:off x="7383780" y="6062472"/>
            <a:ext cx="1143000"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747522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6" name="Text 23"/>
          <p:cNvSpPr txBox="1"/>
          <p:nvPr/>
        </p:nvSpPr>
        <p:spPr>
          <a:xfrm>
            <a:off x="86639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rellena = por_region.transform(lambda s: s.interpolate())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por_region</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mwh separada por región.</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lambda s: ...</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función de una línea, sin nombre. s es el pedazo de una región.</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s.interpolate()</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Rellena los vacíos trazando una recta entre el valor de antes y el de después.</a:t>
            </a:r>
            <a:endParaRPr lang="en-US" sz="1600" dirty="0"/>
          </a:p>
        </p:txBody>
      </p:sp>
      <p:sp>
        <p:nvSpPr>
          <p:cNvPr id="23" name="Shape 21"/>
          <p:cNvSpPr/>
          <p:nvPr/>
        </p:nvSpPr>
        <p:spPr>
          <a:xfrm>
            <a:off x="548640" y="4460240"/>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60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640080"/>
          </a:xfrm>
          <a:prstGeom prst="roundRect">
            <a:avLst>
              <a:gd name="adj" fmla="val 7143"/>
            </a:avLst>
          </a:prstGeom>
          <a:solidFill>
            <a:srgbClr val="ECE2FA"/>
          </a:solidFill>
          <a:ln w="12700">
            <a:solidFill>
              <a:srgbClr val="ECE2FA"/>
            </a:solidFill>
            <a:prstDash val="solid"/>
          </a:ln>
        </p:spPr>
      </p:sp>
      <p:sp>
        <p:nvSpPr>
          <p:cNvPr id="26" name="Text 24"/>
          <p:cNvSpPr txBox="1"/>
          <p:nvPr/>
        </p:nvSpPr>
        <p:spPr>
          <a:xfrm>
            <a:off x="1170432" y="430479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.transform( ... )</a:t>
            </a:r>
            <a:endParaRPr lang="en-US" sz="1400" dirty="0"/>
          </a:p>
        </p:txBody>
      </p:sp>
      <p:sp>
        <p:nvSpPr>
          <p:cNvPr id="27" name="Text 25"/>
          <p:cNvSpPr txBox="1"/>
          <p:nvPr/>
        </p:nvSpPr>
        <p:spPr>
          <a:xfrm>
            <a:off x="6263640" y="430479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Aplica la función a cada región por separado y devuelve una columna del mismo largo que la tabla.</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rellena los huecos de cada región con una recta, sin mezclar regiones.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estrategia en la lista y vuelve a correr la celda. Prueba las cuatro y compara el promedio y el día de Valparaíso.</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Promedio por hora con trazar una recta 227.5 MWh</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1325880" y="2304288"/>
          <a:ext cx="9144000" cy="914400"/>
        </p:xfrm>
        <a:graphic>
          <a:graphicData uri="http://schemas.openxmlformats.org/drawingml/2006/table">
            <a:tbl>
              <a:tblPr/>
              <a:tblGrid>
                <a:gridCol w="365760"/>
                <a:gridCol w="822960"/>
                <a:gridCol w="8229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venía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queda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177.0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177.0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173.3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169.7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164.7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164.7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179.2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179.2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191.4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191.4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222.5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222.5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230.8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239.1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0" name="Text 7"/>
          <p:cNvSpPr txBox="1"/>
          <p:nvPr/>
        </p:nvSpPr>
        <p:spPr>
          <a:xfrm>
            <a:off x="1325880" y="4956048"/>
            <a:ext cx="7315200" cy="256032"/>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 y 2 filas más, 12 en total. En Colab se ven todas.</a:t>
            </a:r>
            <a:endParaRPr lang="en-US" sz="1200" dirty="0"/>
          </a:p>
        </p:txBody>
      </p:sp>
      <p:sp>
        <p:nvSpPr>
          <p:cNvPr id="12" name="Text 8"/>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9"/>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4" name="Text 10"/>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1"/>
          <p:cNvSpPr/>
          <p:nvPr/>
        </p:nvSpPr>
        <p:spPr>
          <a:xfrm>
            <a:off x="1828800" y="6062472"/>
            <a:ext cx="1714500"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3"/>
          <p:cNvSpPr/>
          <p:nvPr/>
        </p:nvSpPr>
        <p:spPr>
          <a:xfrm>
            <a:off x="3680460" y="6062472"/>
            <a:ext cx="2002536" cy="566928"/>
          </a:xfrm>
          <a:prstGeom prst="roundRect">
            <a:avLst>
              <a:gd name="adj" fmla="val 11290"/>
            </a:avLst>
          </a:prstGeom>
          <a:solidFill>
            <a:srgbClr val="FEF3D6"/>
          </a:solidFill>
          <a:ln w="25400">
            <a:solidFill>
              <a:srgbClr val="F9AB00"/>
            </a:solidFill>
            <a:prstDash val="solid"/>
          </a:ln>
        </p:spPr>
      </p:sp>
      <p:sp>
        <p:nvSpPr>
          <p:cNvPr id="18" name="Text 14"/>
          <p:cNvSpPr txBox="1"/>
          <p:nvPr/>
        </p:nvSpPr>
        <p:spPr>
          <a:xfrm>
            <a:off x="377190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estrategia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"trazar una recta"</a:t>
            </a:r>
            <a:endParaRPr lang="en-US" sz="1200" dirty="0"/>
          </a:p>
        </p:txBody>
      </p:sp>
      <p:sp>
        <p:nvSpPr>
          <p:cNvPr id="19" name="Shape 15"/>
          <p:cNvSpPr/>
          <p:nvPr/>
        </p:nvSpPr>
        <p:spPr>
          <a:xfrm>
            <a:off x="5820156" y="6062472"/>
            <a:ext cx="1714500" cy="566928"/>
          </a:xfrm>
          <a:prstGeom prst="roundRect">
            <a:avLst>
              <a:gd name="adj" fmla="val 11290"/>
            </a:avLst>
          </a:prstGeom>
          <a:solidFill>
            <a:srgbClr val="FEF3D6"/>
          </a:solidFill>
          <a:ln w="25400">
            <a:solidFill>
              <a:srgbClr val="F9AB00"/>
            </a:solidFill>
            <a:prstDash val="solid"/>
          </a:ln>
        </p:spPr>
      </p:sp>
      <p:sp>
        <p:nvSpPr>
          <p:cNvPr id="20" name="Text 16"/>
          <p:cNvSpPr txBox="1"/>
          <p:nvPr/>
        </p:nvSpPr>
        <p:spPr>
          <a:xfrm>
            <a:off x="5911596"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1" name="Shape 17"/>
          <p:cNvSpPr/>
          <p:nvPr/>
        </p:nvSpPr>
        <p:spPr>
          <a:xfrm>
            <a:off x="7671816" y="6062472"/>
            <a:ext cx="1714500" cy="566928"/>
          </a:xfrm>
          <a:prstGeom prst="roundRect">
            <a:avLst>
              <a:gd name="adj" fmla="val 11290"/>
            </a:avLst>
          </a:prstGeom>
          <a:solidFill>
            <a:srgbClr val="FEF3D6"/>
          </a:solidFill>
          <a:ln w="25400">
            <a:solidFill>
              <a:srgbClr val="F9AB00"/>
            </a:solidFill>
            <a:prstDash val="solid"/>
          </a:ln>
        </p:spPr>
      </p:sp>
      <p:sp>
        <p:nvSpPr>
          <p:cNvPr id="22" name="Text 18"/>
          <p:cNvSpPr txBox="1"/>
          <p:nvPr/>
        </p:nvSpPr>
        <p:spPr>
          <a:xfrm>
            <a:off x="7763256"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agrupados</a:t>
            </a:r>
            <a:endParaRPr lang="en-US" sz="1200" dirty="0"/>
          </a:p>
        </p:txBody>
      </p:sp>
      <p:sp>
        <p:nvSpPr>
          <p:cNvPr id="23" name="Text 19"/>
          <p:cNvSpPr txBox="1"/>
          <p:nvPr/>
        </p:nvSpPr>
        <p:spPr>
          <a:xfrm>
            <a:off x="952347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7 más</a:t>
            </a:r>
            <a:endParaRPr lang="en-US" sz="1200" dirty="0"/>
          </a:p>
        </p:txBody>
      </p:sp>
      <p:sp>
        <p:nvSpPr>
          <p:cNvPr id="24" name="Text 20"/>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Trazando una recta, el promedio queda en 227,5 MWh por hora.</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poner cero en la lista y se vuelve a correr la celda.</a:t>
            </a:r>
            <a:endParaRPr lang="en-US" sz="1400" dirty="0"/>
          </a:p>
        </p:txBody>
      </p:sp>
      <p:sp>
        <p:nvSpPr>
          <p:cNvPr id="7" name="Shape 4"/>
          <p:cNvSpPr/>
          <p:nvPr/>
        </p:nvSpPr>
        <p:spPr>
          <a:xfrm>
            <a:off x="548640" y="1481328"/>
            <a:ext cx="11091672" cy="4206240"/>
          </a:xfrm>
          <a:prstGeom prst="roundRect">
            <a:avLst>
              <a:gd name="adj" fmla="val 130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4023360"/>
          </a:xfrm>
          <a:prstGeom prst="rect">
            <a:avLst/>
          </a:prstGeom>
          <a:noFill/>
          <a:ln/>
        </p:spPr>
        <p:txBody>
          <a:bodyPr wrap="square" lIns="0" tIns="0" rIns="0" bIns="0" rtlCol="0" anchor="t"/>
          <a:lstStyle/>
          <a:p>
            <a:pPr indent="0" marL="0">
              <a:buNone/>
            </a:pPr>
            <a:r>
              <a:rPr lang="en-US" sz="1000" i="1" dirty="0">
                <a:solidFill>
                  <a:srgbClr val="188038"/>
                </a:solidFill>
                <a:latin typeface="Courier New" pitchFamily="34" charset="0"/>
                <a:ea typeface="Courier New" pitchFamily="34" charset="-122"/>
                <a:cs typeface="Courier New" pitchFamily="34" charset="-120"/>
              </a:rPr>
              <a:t># Paso 4</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estrategia = </a:t>
            </a:r>
            <a:pPr indent="0" marL="0">
              <a:buNone/>
            </a:pPr>
            <a:r>
              <a:rPr lang="en-US" sz="1000" dirty="0">
                <a:solidFill>
                  <a:srgbClr val="A31515"/>
                </a:solidFill>
                <a:latin typeface="Courier New" pitchFamily="34" charset="0"/>
                <a:ea typeface="Courier New" pitchFamily="34" charset="-122"/>
                <a:cs typeface="Courier New" pitchFamily="34" charset="-120"/>
              </a:rPr>
              <a:t>"poner cero"</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80868B"/>
                </a:solidFill>
                <a:latin typeface="Courier New" pitchFamily="34" charset="0"/>
                <a:ea typeface="Courier New" pitchFamily="34" charset="-122"/>
                <a:cs typeface="Courier New" pitchFamily="34" charset="-120"/>
              </a:rPr>
              <a:t>#@param ["borrar la fila", "poner cero", "repetir el valor anterior", "trazar una recta"]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Ordenadas por región y por hora, para que cada hora quede junto a sus vecinas.</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orden = sin_repetidas.sort_values([</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]).reset_index(drop=True)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por_region = orden.groupby(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if estrategia == </a:t>
            </a:r>
            <a:pPr indent="0" marL="0">
              <a:buNone/>
            </a:pPr>
            <a:r>
              <a:rPr lang="en-US" sz="1000" dirty="0">
                <a:solidFill>
                  <a:srgbClr val="A31515"/>
                </a:solidFill>
                <a:latin typeface="Courier New" pitchFamily="34" charset="0"/>
                <a:ea typeface="Courier New" pitchFamily="34" charset="-122"/>
                <a:cs typeface="Courier New" pitchFamily="34" charset="-120"/>
              </a:rPr>
              <a:t>"borrar la fila"</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orden[</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].dropna()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elif estrategia == </a:t>
            </a:r>
            <a:pPr indent="0" marL="0">
              <a:buNone/>
            </a:pPr>
            <a:r>
              <a:rPr lang="en-US" sz="1000" dirty="0">
                <a:solidFill>
                  <a:srgbClr val="A31515"/>
                </a:solidFill>
                <a:latin typeface="Courier New" pitchFamily="34" charset="0"/>
                <a:ea typeface="Courier New" pitchFamily="34" charset="-122"/>
                <a:cs typeface="Courier New" pitchFamily="34" charset="-120"/>
              </a:rPr>
              <a:t>"poner cero"</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orden[</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].fillna(0)</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elif estrategia == </a:t>
            </a:r>
            <a:pPr indent="0" marL="0">
              <a:buNone/>
            </a:pPr>
            <a:r>
              <a:rPr lang="en-US" sz="1000" dirty="0">
                <a:solidFill>
                  <a:srgbClr val="A31515"/>
                </a:solidFill>
                <a:latin typeface="Courier New" pitchFamily="34" charset="0"/>
                <a:ea typeface="Courier New" pitchFamily="34" charset="-122"/>
                <a:cs typeface="Courier New" pitchFamily="34" charset="-120"/>
              </a:rPr>
              <a:t>"repetir el valor anterior"</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por_region.ffill()</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else: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rellena = por_region.transform(lambda s: s.interpolate())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print(f</a:t>
            </a:r>
            <a:pPr indent="0" marL="0">
              <a:buNone/>
            </a:pPr>
            <a:r>
              <a:rPr lang="en-US" sz="1000" dirty="0">
                <a:solidFill>
                  <a:srgbClr val="A31515"/>
                </a:solidFill>
                <a:latin typeface="Courier New" pitchFamily="34" charset="0"/>
                <a:ea typeface="Courier New" pitchFamily="34" charset="-122"/>
                <a:cs typeface="Courier New" pitchFamily="34" charset="-120"/>
              </a:rPr>
              <a:t>"Promedio por hora con {estrategia}"</a:t>
            </a:r>
            <a:pPr indent="0" marL="0">
              <a:buNone/>
            </a:pPr>
            <a:r>
              <a:rPr lang="en-US" sz="1000" dirty="0">
                <a:solidFill>
                  <a:srgbClr val="202124"/>
                </a:solidFill>
                <a:latin typeface="Courier New" pitchFamily="34" charset="0"/>
                <a:ea typeface="Courier New" pitchFamily="34" charset="-122"/>
                <a:cs typeface="Courier New" pitchFamily="34" charset="-120"/>
              </a:rPr>
              <a:t>, round(rellena.mean(), 1), </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Un día de Valparaíso que venía con cuatro horas vacías.</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dia = orden[(orden[</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 </a:t>
            </a:r>
            <a:pPr indent="0" marL="0">
              <a:buNone/>
            </a:pPr>
            <a:r>
              <a:rPr lang="en-US" sz="1000" dirty="0">
                <a:solidFill>
                  <a:srgbClr val="A31515"/>
                </a:solidFill>
                <a:latin typeface="Courier New" pitchFamily="34" charset="0"/>
                <a:ea typeface="Courier New" pitchFamily="34" charset="-122"/>
                <a:cs typeface="Courier New" pitchFamily="34" charset="-120"/>
              </a:rPr>
              <a:t>"Valparaíso"</a:t>
            </a:r>
            <a:pPr indent="0" marL="0">
              <a:buNone/>
            </a:pPr>
            <a:r>
              <a:rPr lang="en-US" sz="1000" dirty="0">
                <a:solidFill>
                  <a:srgbClr val="202124"/>
                </a:solidFill>
                <a:latin typeface="Courier New" pitchFamily="34" charset="0"/>
                <a:ea typeface="Courier New" pitchFamily="34" charset="-122"/>
                <a:cs typeface="Courier New" pitchFamily="34" charset="-120"/>
              </a:rPr>
              <a:t>) &amp; (orden[</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 </a:t>
            </a:r>
            <a:pPr indent="0" marL="0">
              <a:buNone/>
            </a:pPr>
            <a:r>
              <a:rPr lang="en-US" sz="1000" dirty="0">
                <a:solidFill>
                  <a:srgbClr val="A31515"/>
                </a:solidFill>
                <a:latin typeface="Courier New" pitchFamily="34" charset="0"/>
                <a:ea typeface="Courier New" pitchFamily="34" charset="-122"/>
                <a:cs typeface="Courier New" pitchFamily="34" charset="-120"/>
              </a:rPr>
              <a:t>"2024-09-16"</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vista = pd.DataFrame({</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 dia[</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"venía"</a:t>
            </a:r>
            <a:pPr indent="0" marL="0">
              <a:buNone/>
            </a:pPr>
            <a:r>
              <a:rPr lang="en-US" sz="1000" dirty="0">
                <a:solidFill>
                  <a:srgbClr val="202124"/>
                </a:solidFill>
                <a:latin typeface="Courier New" pitchFamily="34" charset="0"/>
                <a:ea typeface="Courier New" pitchFamily="34" charset="-122"/>
                <a:cs typeface="Courier New" pitchFamily="34" charset="-120"/>
              </a:rPr>
              <a:t>: dia[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"queda"</a:t>
            </a:r>
            <a:pPr indent="0" marL="0">
              <a:buNone/>
            </a:pPr>
            <a:r>
              <a:rPr lang="en-US" sz="1000" dirty="0">
                <a:solidFill>
                  <a:srgbClr val="202124"/>
                </a:solidFill>
                <a:latin typeface="Courier New" pitchFamily="34" charset="0"/>
                <a:ea typeface="Courier New" pitchFamily="34" charset="-122"/>
                <a:cs typeface="Courier New" pitchFamily="34" charset="-120"/>
              </a:rPr>
              <a:t>: rellena.reindex(dia.index)})</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vista.head(12).round(1).fillna({</a:t>
            </a:r>
            <a:pPr indent="0" marL="0">
              <a:buNone/>
            </a:pPr>
            <a:r>
              <a:rPr lang="en-US" sz="1000" dirty="0">
                <a:solidFill>
                  <a:srgbClr val="A31515"/>
                </a:solidFill>
                <a:latin typeface="Courier New" pitchFamily="34" charset="0"/>
                <a:ea typeface="Courier New" pitchFamily="34" charset="-122"/>
                <a:cs typeface="Courier New" pitchFamily="34" charset="-120"/>
              </a:rPr>
              <a:t>"venía"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"vacía"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"queda"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"se borra"</a:t>
            </a:r>
            <a:pPr indent="0" marL="0">
              <a:buNone/>
            </a:pPr>
            <a:r>
              <a:rPr lang="en-US" sz="1000" dirty="0">
                <a:solidFill>
                  <a:srgbClr val="202124"/>
                </a:solidFill>
                <a:latin typeface="Courier New" pitchFamily="34" charset="0"/>
                <a:ea typeface="Courier New" pitchFamily="34" charset="-122"/>
                <a:cs typeface="Courier New" pitchFamily="34" charset="-120"/>
              </a:rPr>
              <a:t>}).set_index(</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estrategia</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poner cero</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426464" cy="566928"/>
          </a:xfrm>
          <a:prstGeom prst="roundRect">
            <a:avLst>
              <a:gd name="adj" fmla="val 11290"/>
            </a:avLst>
          </a:prstGeom>
          <a:solidFill>
            <a:srgbClr val="F1F3F4"/>
          </a:solidFill>
          <a:ln w="12700">
            <a:solidFill>
              <a:srgbClr val="DADCE0"/>
            </a:solidFill>
            <a:prstDash val="solid"/>
          </a:ln>
        </p:spPr>
      </p:sp>
      <p:sp>
        <p:nvSpPr>
          <p:cNvPr id="17" name="Text 14"/>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vista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24 × 3</a:t>
            </a:r>
            <a:endParaRPr lang="en-US" sz="1200" dirty="0"/>
          </a:p>
        </p:txBody>
      </p:sp>
      <p:sp>
        <p:nvSpPr>
          <p:cNvPr id="18" name="Shape 15"/>
          <p:cNvSpPr/>
          <p:nvPr/>
        </p:nvSpPr>
        <p:spPr>
          <a:xfrm>
            <a:off x="2112264" y="6062472"/>
            <a:ext cx="1426464"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220370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24 × 4</a:t>
            </a:r>
            <a:endParaRPr lang="en-US" sz="1200" dirty="0"/>
          </a:p>
        </p:txBody>
      </p:sp>
      <p:sp>
        <p:nvSpPr>
          <p:cNvPr id="20" name="Shape 17"/>
          <p:cNvSpPr/>
          <p:nvPr/>
        </p:nvSpPr>
        <p:spPr>
          <a:xfrm>
            <a:off x="3675888" y="6062472"/>
            <a:ext cx="2386584"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3767328"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rellena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2" name="Shape 19"/>
          <p:cNvSpPr/>
          <p:nvPr/>
        </p:nvSpPr>
        <p:spPr>
          <a:xfrm>
            <a:off x="6199632" y="6062472"/>
            <a:ext cx="17145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629107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agrupados</a:t>
            </a:r>
            <a:endParaRPr lang="en-US" sz="1200" dirty="0"/>
          </a:p>
        </p:txBody>
      </p:sp>
      <p:sp>
        <p:nvSpPr>
          <p:cNvPr id="24" name="Shape 21"/>
          <p:cNvSpPr/>
          <p:nvPr/>
        </p:nvSpPr>
        <p:spPr>
          <a:xfrm>
            <a:off x="8051292" y="6062472"/>
            <a:ext cx="1714500"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81427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6" name="Text 23"/>
          <p:cNvSpPr txBox="1"/>
          <p:nvPr/>
        </p:nvSpPr>
        <p:spPr>
          <a:xfrm>
            <a:off x="990295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7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poner cero en la lista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Promedio por hora con poner cero 220.5 MWh</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1325880" y="2304288"/>
          <a:ext cx="9144000" cy="914400"/>
        </p:xfrm>
        <a:graphic>
          <a:graphicData uri="http://schemas.openxmlformats.org/drawingml/2006/table">
            <a:tbl>
              <a:tblPr/>
              <a:tblGrid>
                <a:gridCol w="365760"/>
                <a:gridCol w="822960"/>
                <a:gridCol w="8229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venía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queda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177.0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177.0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164.7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164.7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179.2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179.2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191.4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191.4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222.5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222.5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vacía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0" name="Text 7"/>
          <p:cNvSpPr txBox="1"/>
          <p:nvPr/>
        </p:nvSpPr>
        <p:spPr>
          <a:xfrm>
            <a:off x="1325880" y="4956048"/>
            <a:ext cx="7315200" cy="256032"/>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 y 2 filas más, 12 en total. En Colab se ven todas.</a:t>
            </a:r>
            <a:endParaRPr lang="en-US" sz="1200" dirty="0"/>
          </a:p>
        </p:txBody>
      </p:sp>
      <p:sp>
        <p:nvSpPr>
          <p:cNvPr id="12" name="Text 8"/>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9"/>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4" name="Text 10"/>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1"/>
          <p:cNvSpPr/>
          <p:nvPr/>
        </p:nvSpPr>
        <p:spPr>
          <a:xfrm>
            <a:off x="1828800" y="6062472"/>
            <a:ext cx="1714500"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3"/>
          <p:cNvSpPr/>
          <p:nvPr/>
        </p:nvSpPr>
        <p:spPr>
          <a:xfrm>
            <a:off x="3680460" y="6062472"/>
            <a:ext cx="1426464" cy="566928"/>
          </a:xfrm>
          <a:prstGeom prst="roundRect">
            <a:avLst>
              <a:gd name="adj" fmla="val 11290"/>
            </a:avLst>
          </a:prstGeom>
          <a:solidFill>
            <a:srgbClr val="FEF3D6"/>
          </a:solidFill>
          <a:ln w="25400">
            <a:solidFill>
              <a:srgbClr val="F9AB00"/>
            </a:solidFill>
            <a:prstDash val="solid"/>
          </a:ln>
        </p:spPr>
      </p:sp>
      <p:sp>
        <p:nvSpPr>
          <p:cNvPr id="18" name="Text 14"/>
          <p:cNvSpPr txBox="1"/>
          <p:nvPr/>
        </p:nvSpPr>
        <p:spPr>
          <a:xfrm>
            <a:off x="37719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estrategia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"poner cero"</a:t>
            </a:r>
            <a:endParaRPr lang="en-US" sz="1200" dirty="0"/>
          </a:p>
        </p:txBody>
      </p:sp>
      <p:sp>
        <p:nvSpPr>
          <p:cNvPr id="19" name="Shape 15"/>
          <p:cNvSpPr/>
          <p:nvPr/>
        </p:nvSpPr>
        <p:spPr>
          <a:xfrm>
            <a:off x="5244084" y="6062472"/>
            <a:ext cx="1714500" cy="566928"/>
          </a:xfrm>
          <a:prstGeom prst="roundRect">
            <a:avLst>
              <a:gd name="adj" fmla="val 11290"/>
            </a:avLst>
          </a:prstGeom>
          <a:solidFill>
            <a:srgbClr val="E8F0FE"/>
          </a:solidFill>
          <a:ln w="28575">
            <a:solidFill>
              <a:srgbClr val="1A73E8"/>
            </a:solidFill>
            <a:prstDash val="solid"/>
          </a:ln>
        </p:spPr>
      </p:sp>
      <p:sp>
        <p:nvSpPr>
          <p:cNvPr id="20" name="Text 16"/>
          <p:cNvSpPr txBox="1"/>
          <p:nvPr/>
        </p:nvSpPr>
        <p:spPr>
          <a:xfrm>
            <a:off x="5335524"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1" name="Shape 17"/>
          <p:cNvSpPr/>
          <p:nvPr/>
        </p:nvSpPr>
        <p:spPr>
          <a:xfrm>
            <a:off x="7095744" y="6062472"/>
            <a:ext cx="1714500" cy="566928"/>
          </a:xfrm>
          <a:prstGeom prst="roundRect">
            <a:avLst>
              <a:gd name="adj" fmla="val 11290"/>
            </a:avLst>
          </a:prstGeom>
          <a:solidFill>
            <a:srgbClr val="E8F0FE"/>
          </a:solidFill>
          <a:ln w="28575">
            <a:solidFill>
              <a:srgbClr val="1A73E8"/>
            </a:solidFill>
            <a:prstDash val="solid"/>
          </a:ln>
        </p:spPr>
      </p:sp>
      <p:sp>
        <p:nvSpPr>
          <p:cNvPr id="22" name="Text 18"/>
          <p:cNvSpPr txBox="1"/>
          <p:nvPr/>
        </p:nvSpPr>
        <p:spPr>
          <a:xfrm>
            <a:off x="7187184"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agrupados</a:t>
            </a:r>
            <a:endParaRPr lang="en-US" sz="1200" dirty="0"/>
          </a:p>
        </p:txBody>
      </p:sp>
      <p:sp>
        <p:nvSpPr>
          <p:cNvPr id="23" name="Text 19"/>
          <p:cNvSpPr txBox="1"/>
          <p:nvPr/>
        </p:nvSpPr>
        <p:spPr>
          <a:xfrm>
            <a:off x="89474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7 más</a:t>
            </a:r>
            <a:endParaRPr lang="en-US" sz="1200" dirty="0"/>
          </a:p>
        </p:txBody>
      </p:sp>
      <p:sp>
        <p:nvSpPr>
          <p:cNvPr id="24" name="Text 20"/>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cero el promedio baja a 220,5. Las horas vacías cuentan como si nadie hubiera consumido.</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hacer con los datos que faltan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Cada forma de rellenar cambia el resultado.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Ninguna es correcta siempre. La que se use se deja escrita en el informe.</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7145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5" name="Shape 12"/>
          <p:cNvSpPr/>
          <p:nvPr/>
        </p:nvSpPr>
        <p:spPr>
          <a:xfrm>
            <a:off x="3680460" y="6062472"/>
            <a:ext cx="1426464"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77190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estrategia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"poner cero"</a:t>
            </a:r>
            <a:endParaRPr lang="en-US" sz="1200" dirty="0"/>
          </a:p>
        </p:txBody>
      </p:sp>
      <p:sp>
        <p:nvSpPr>
          <p:cNvPr id="17" name="Shape 14"/>
          <p:cNvSpPr/>
          <p:nvPr/>
        </p:nvSpPr>
        <p:spPr>
          <a:xfrm>
            <a:off x="5244084" y="6062472"/>
            <a:ext cx="1714500"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335524"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9" name="Shape 16"/>
          <p:cNvSpPr/>
          <p:nvPr/>
        </p:nvSpPr>
        <p:spPr>
          <a:xfrm>
            <a:off x="7095744" y="6062472"/>
            <a:ext cx="1714500"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7187184"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agrupados</a:t>
            </a:r>
            <a:endParaRPr lang="en-US" sz="1200" dirty="0"/>
          </a:p>
        </p:txBody>
      </p:sp>
      <p:sp>
        <p:nvSpPr>
          <p:cNvPr id="21" name="Text 18"/>
          <p:cNvSpPr txBox="1"/>
          <p:nvPr/>
        </p:nvSpPr>
        <p:spPr>
          <a:xfrm>
            <a:off x="89474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7 más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separa la regla de las 3 veces el promedio.</a:t>
            </a:r>
            <a:endParaRPr lang="en-US" sz="1400" dirty="0"/>
          </a:p>
        </p:txBody>
      </p:sp>
      <p:pic>
        <p:nvPicPr>
          <p:cNvPr id="6" name="Image 0" descr="../../repo/modulos/modulo03/img/lab03_paso7_imposibles.png">    </p:cNvPr>
          <p:cNvPicPr>
            <a:picLocks noChangeAspect="1"/>
          </p:cNvPicPr>
          <p:nvPr/>
        </p:nvPicPr>
        <p:blipFill>
          <a:blip r:embed="rId1"/>
          <a:stretch>
            <a:fillRect/>
          </a:stretch>
        </p:blipFill>
        <p:spPr>
          <a:xfrm>
            <a:off x="548640" y="1463040"/>
            <a:ext cx="11091672" cy="439147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Después mueve el deslizador a 1 y a 8, vuelve a correrla y mira cuántas horas marca. En el Paso 6 vas a ver qué tan bien elegiste.</a:t>
            </a:r>
            <a:endParaRPr lang="en-US" sz="1400" dirty="0"/>
          </a:p>
        </p:txBody>
      </p:sp>
      <p:sp>
        <p:nvSpPr>
          <p:cNvPr id="7" name="Shape 4"/>
          <p:cNvSpPr/>
          <p:nvPr/>
        </p:nvSpPr>
        <p:spPr>
          <a:xfrm>
            <a:off x="548640" y="1481328"/>
            <a:ext cx="11091672" cy="4206240"/>
          </a:xfrm>
          <a:prstGeom prst="roundRect">
            <a:avLst>
              <a:gd name="adj" fmla="val 130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4023360"/>
          </a:xfrm>
          <a:prstGeom prst="rect">
            <a:avLst/>
          </a:prstGeom>
          <a:noFill/>
          <a:ln/>
        </p:spPr>
        <p:txBody>
          <a:bodyPr wrap="square" lIns="0" tIns="0" rIns="0" bIns="0" rtlCol="0" anchor="t"/>
          <a:lstStyle/>
          <a:p>
            <a:pPr indent="0" marL="0">
              <a:buNone/>
            </a:pPr>
            <a:r>
              <a:rPr lang="en-US" sz="1000" i="1" dirty="0">
                <a:solidFill>
                  <a:srgbClr val="188038"/>
                </a:solidFill>
                <a:latin typeface="Courier New" pitchFamily="34" charset="0"/>
                <a:ea typeface="Courier New" pitchFamily="34" charset="-122"/>
                <a:cs typeface="Courier New" pitchFamily="34" charset="-120"/>
              </a:rPr>
              <a:t># Paso 5</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veces = 3 </a:t>
            </a:r>
            <a:pPr indent="0" marL="0">
              <a:buNone/>
            </a:pPr>
            <a:r>
              <a:rPr lang="en-US" sz="1000" dirty="0">
                <a:solidFill>
                  <a:srgbClr val="80868B"/>
                </a:solidFill>
                <a:latin typeface="Courier New" pitchFamily="34" charset="0"/>
                <a:ea typeface="Courier New" pitchFamily="34" charset="-122"/>
                <a:cs typeface="Courier New" pitchFamily="34" charset="-120"/>
              </a:rPr>
              <a:t>#@param {type:"slider", min:1, max:10, step:1}</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tabla = sin_repetidas.sort_values([</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]).reset_index(drop=True)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promedio_region = tabla.groupby(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].transform(</a:t>
            </a:r>
            <a:pPr indent="0" marL="0">
              <a:buNone/>
            </a:pPr>
            <a:r>
              <a:rPr lang="en-US" sz="1000" dirty="0">
                <a:solidFill>
                  <a:srgbClr val="A31515"/>
                </a:solidFill>
                <a:latin typeface="Courier New" pitchFamily="34" charset="0"/>
                <a:ea typeface="Courier New" pitchFamily="34" charset="-122"/>
                <a:cs typeface="Courier New" pitchFamily="34" charset="-120"/>
              </a:rPr>
              <a:t>"mean"</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Dos reglas de negocio. La demanda no puede ser negativa,</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y un valor muchas veces mayor que el promedio de su región es sospechoso.</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negativo = tabla[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&lt; 0</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pico = tabla[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&gt; veces * promedio_region</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"Horas con demanda negativa"</a:t>
            </a:r>
            <a:pPr indent="0" marL="0">
              <a:buNone/>
            </a:pPr>
            <a:r>
              <a:rPr lang="en-US" sz="1000" dirty="0">
                <a:solidFill>
                  <a:srgbClr val="202124"/>
                </a:solidFill>
                <a:latin typeface="Courier New" pitchFamily="34" charset="0"/>
                <a:ea typeface="Courier New" pitchFamily="34" charset="-122"/>
                <a:cs typeface="Courier New" pitchFamily="34" charset="-120"/>
              </a:rPr>
              <a:t>, negativo.sum())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print(f</a:t>
            </a:r>
            <a:pPr indent="0" marL="0">
              <a:buNone/>
            </a:pPr>
            <a:r>
              <a:rPr lang="en-US" sz="1000" dirty="0">
                <a:solidFill>
                  <a:srgbClr val="A31515"/>
                </a:solidFill>
                <a:latin typeface="Courier New" pitchFamily="34" charset="0"/>
                <a:ea typeface="Courier New" pitchFamily="34" charset="-122"/>
                <a:cs typeface="Courier New" pitchFamily="34" charset="-120"/>
              </a:rPr>
              <a:t>"Horas con más de {veces} veces el promedio de su región"</a:t>
            </a:r>
            <a:pPr indent="0" marL="0">
              <a:buNone/>
            </a:pPr>
            <a:r>
              <a:rPr lang="en-US" sz="1000" dirty="0">
                <a:solidFill>
                  <a:srgbClr val="202124"/>
                </a:solidFill>
                <a:latin typeface="Courier New" pitchFamily="34" charset="0"/>
                <a:ea typeface="Courier New" pitchFamily="34" charset="-122"/>
                <a:cs typeface="Courier New" pitchFamily="34" charset="-120"/>
              </a:rPr>
              <a:t>, pico.sum())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Antes de tocar nada se marca qué horas se van a cambiar y por qué.</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 = tabla.copy()</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"fue_nulo"</a:t>
            </a:r>
            <a:pPr indent="0" marL="0">
              <a:buNone/>
            </a:pPr>
            <a:r>
              <a:rPr lang="en-US" sz="1000" dirty="0">
                <a:solidFill>
                  <a:srgbClr val="202124"/>
                </a:solidFill>
                <a:latin typeface="Courier New" pitchFamily="34" charset="0"/>
                <a:ea typeface="Courier New" pitchFamily="34" charset="-122"/>
                <a:cs typeface="Courier New" pitchFamily="34" charset="-120"/>
              </a:rPr>
              <a:t>] = 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].isna()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 = negativo | pico</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Los valores imposibles se vacían y todos los huecos se rellenan con una recta.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final.loc[final[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 None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 final.groupby(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].transform(lambda s: s.interpolate())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rellenadas porque venían vacías"</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"fue_nulo"</a:t>
            </a:r>
            <a:pPr indent="0" marL="0">
              <a:buNone/>
            </a:pPr>
            <a:r>
              <a:rPr lang="en-US" sz="1000" dirty="0">
                <a:solidFill>
                  <a:srgbClr val="202124"/>
                </a:solidFill>
                <a:latin typeface="Courier New" pitchFamily="34" charset="0"/>
                <a:ea typeface="Courier New" pitchFamily="34" charset="-122"/>
                <a:cs typeface="Courier New" pitchFamily="34" charset="-120"/>
              </a:rPr>
              <a:t>].sum())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corregidas porque eran imposibles"</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sin dato que quedan"</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].isna().sum())</a:t>
            </a:r>
            <a:endParaRPr lang="en-US" sz="10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veces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436880" cy="45720"/>
          </a:xfrm>
          <a:prstGeom prst="rect">
            <a:avLst/>
          </a:prstGeom>
          <a:solidFill>
            <a:srgbClr val="1A73E8"/>
          </a:solidFill>
          <a:ln w="12700">
            <a:solidFill>
              <a:srgbClr val="1A73E8"/>
            </a:solidFill>
            <a:prstDash val="solid"/>
          </a:ln>
        </p:spPr>
      </p:sp>
      <p:sp>
        <p:nvSpPr>
          <p:cNvPr id="14" name="Shape 11"/>
          <p:cNvSpPr/>
          <p:nvPr/>
        </p:nvSpPr>
        <p:spPr>
          <a:xfrm>
            <a:off x="9178544" y="1938528"/>
            <a:ext cx="173736" cy="173736"/>
          </a:xfrm>
          <a:prstGeom prst="ellipse">
            <a:avLst/>
          </a:prstGeom>
          <a:solidFill>
            <a:srgbClr val="1A73E8"/>
          </a:solidFill>
          <a:ln w="12700">
            <a:solidFill>
              <a:srgbClr val="1A73E8"/>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42646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vista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24 × 3</a:t>
            </a:r>
            <a:endParaRPr lang="en-US" sz="1200" dirty="0"/>
          </a:p>
        </p:txBody>
      </p:sp>
      <p:sp>
        <p:nvSpPr>
          <p:cNvPr id="19" name="Shape 16"/>
          <p:cNvSpPr/>
          <p:nvPr/>
        </p:nvSpPr>
        <p:spPr>
          <a:xfrm>
            <a:off x="2112264" y="6062472"/>
            <a:ext cx="142646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20370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24 × 4</a:t>
            </a:r>
            <a:endParaRPr lang="en-US" sz="1200" dirty="0"/>
          </a:p>
        </p:txBody>
      </p:sp>
      <p:sp>
        <p:nvSpPr>
          <p:cNvPr id="21" name="Shape 18"/>
          <p:cNvSpPr/>
          <p:nvPr/>
        </p:nvSpPr>
        <p:spPr>
          <a:xfrm>
            <a:off x="3675888" y="6062472"/>
            <a:ext cx="238658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767328"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rellena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3" name="Shape 20"/>
          <p:cNvSpPr/>
          <p:nvPr/>
        </p:nvSpPr>
        <p:spPr>
          <a:xfrm>
            <a:off x="6199632" y="6062472"/>
            <a:ext cx="17145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629107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agrupados</a:t>
            </a:r>
            <a:endParaRPr lang="en-US" sz="1200" dirty="0"/>
          </a:p>
        </p:txBody>
      </p:sp>
      <p:sp>
        <p:nvSpPr>
          <p:cNvPr id="25" name="Shape 22"/>
          <p:cNvSpPr/>
          <p:nvPr/>
        </p:nvSpPr>
        <p:spPr>
          <a:xfrm>
            <a:off x="8051292" y="6062472"/>
            <a:ext cx="1714500"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81427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7" name="Text 24"/>
          <p:cNvSpPr txBox="1"/>
          <p:nvPr/>
        </p:nvSpPr>
        <p:spPr>
          <a:xfrm>
            <a:off x="990295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7 más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pico = tabla[</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&gt; veces * promedio_region</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promedio_region</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columna con el promedio de la región de cada fila. La armó transform en la línea de arriba.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veces * promedio_region</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límite de cada fila, por ejemplo 3 veces su promedio.</a:t>
            </a:r>
            <a:endParaRPr lang="en-US" sz="1600" dirty="0"/>
          </a:p>
        </p:txBody>
      </p:sp>
      <p:sp>
        <p:nvSpPr>
          <p:cNvPr id="18" name="Shape 16"/>
          <p:cNvSpPr/>
          <p:nvPr/>
        </p:nvSpPr>
        <p:spPr>
          <a:xfrm>
            <a:off x="548640" y="3783584"/>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8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83000"/>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68300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tabla["mwh"] &gt; ...</a:t>
            </a:r>
            <a:endParaRPr lang="en-US" sz="1400" dirty="0"/>
          </a:p>
        </p:txBody>
      </p:sp>
      <p:sp>
        <p:nvSpPr>
          <p:cNvPr id="22" name="Text 20"/>
          <p:cNvSpPr txBox="1"/>
          <p:nvPr/>
        </p:nvSpPr>
        <p:spPr>
          <a:xfrm>
            <a:off x="6263640" y="368300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Verdadero donde la hora supera su límite.</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pico es verdadero en las horas que superan varias veces el promedio de su región.</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final.loc[final[</a:t>
            </a:r>
            <a:pPr indent="0" marL="0">
              <a:buNone/>
            </a:pPr>
            <a:r>
              <a:rPr lang="en-US" sz="1600" dirty="0">
                <a:solidFill>
                  <a:srgbClr val="A31515"/>
                </a:solidFill>
                <a:latin typeface="Courier New" pitchFamily="34" charset="0"/>
                <a:ea typeface="Courier New" pitchFamily="34" charset="-122"/>
                <a:cs typeface="Courier New" pitchFamily="34" charset="-120"/>
              </a:rPr>
              <a:t>"fue_corregido"</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 None</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final.loc[ filas , columna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loc elige filas y columnas a la vez, separadas por coma.</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final["fue_corregido"]</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Las filas, las que están marcadas como imposibles.</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"mwh"</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a:t>
            </a:r>
            <a:endParaRPr lang="en-US" sz="1600" dirty="0"/>
          </a:p>
        </p:txBody>
      </p:sp>
      <p:sp>
        <p:nvSpPr>
          <p:cNvPr id="23" name="Shape 21"/>
          <p:cNvSpPr/>
          <p:nvPr/>
        </p:nvSpPr>
        <p:spPr>
          <a:xfrm>
            <a:off x="548640" y="4350512"/>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3505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195064"/>
            <a:ext cx="4937760" cy="640080"/>
          </a:xfrm>
          <a:prstGeom prst="roundRect">
            <a:avLst>
              <a:gd name="adj" fmla="val 7143"/>
            </a:avLst>
          </a:prstGeom>
          <a:solidFill>
            <a:srgbClr val="ECE2FA"/>
          </a:solidFill>
          <a:ln w="12700">
            <a:solidFill>
              <a:srgbClr val="ECE2FA"/>
            </a:solidFill>
            <a:prstDash val="solid"/>
          </a:ln>
        </p:spPr>
      </p:sp>
      <p:sp>
        <p:nvSpPr>
          <p:cNvPr id="26" name="Text 24"/>
          <p:cNvSpPr txBox="1"/>
          <p:nvPr/>
        </p:nvSpPr>
        <p:spPr>
          <a:xfrm>
            <a:off x="1170432" y="4195064"/>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None</a:t>
            </a:r>
            <a:endParaRPr lang="en-US" sz="1400" dirty="0"/>
          </a:p>
        </p:txBody>
      </p:sp>
      <p:sp>
        <p:nvSpPr>
          <p:cNvPr id="27" name="Text 25"/>
          <p:cNvSpPr txBox="1"/>
          <p:nvPr/>
        </p:nvSpPr>
        <p:spPr>
          <a:xfrm>
            <a:off x="6263640" y="4195064"/>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Deja esas celdas vacías, para rellenarlas después con la recta.</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en las filas marcadas como imposibles, vacía la columna mwh.</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Después mueve el deslizador a 1 y a 8, vuelve a correrla y mira cuántas horas marca. En el Paso 6 vas a ver qué tan bien elegiste.</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1188720"/>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106070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Horas con demanda negativa 15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Horas con más de 3 veces el promedio de su región 40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rellenadas porque venían vacías 1844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corregidas porque eran imposibles 55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sin dato que quedan 0</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a:t>
            </a:r>
            <a:endParaRPr lang="en-US" sz="1200" dirty="0"/>
          </a:p>
        </p:txBody>
      </p:sp>
      <p:sp>
        <p:nvSpPr>
          <p:cNvPr id="15" name="Shape 12"/>
          <p:cNvSpPr/>
          <p:nvPr/>
        </p:nvSpPr>
        <p:spPr>
          <a:xfrm>
            <a:off x="3680460" y="6062472"/>
            <a:ext cx="1714500"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4"/>
          <p:cNvSpPr/>
          <p:nvPr/>
        </p:nvSpPr>
        <p:spPr>
          <a:xfrm>
            <a:off x="5532120" y="6062472"/>
            <a:ext cx="2386584"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562356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19" name="Shape 16"/>
          <p:cNvSpPr/>
          <p:nvPr/>
        </p:nvSpPr>
        <p:spPr>
          <a:xfrm>
            <a:off x="8055864" y="6062472"/>
            <a:ext cx="2386584"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814730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Text 18"/>
          <p:cNvSpPr txBox="1"/>
          <p:nvPr/>
        </p:nvSpPr>
        <p:spPr>
          <a:xfrm>
            <a:off x="1057960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15 negativos y 40 picos corregidos, y 1.844 horas vacías rellenadas.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1 y se vuelve a correr la celda.</a:t>
            </a:r>
            <a:endParaRPr lang="en-US" sz="1400" dirty="0"/>
          </a:p>
        </p:txBody>
      </p:sp>
      <p:sp>
        <p:nvSpPr>
          <p:cNvPr id="7" name="Shape 4"/>
          <p:cNvSpPr/>
          <p:nvPr/>
        </p:nvSpPr>
        <p:spPr>
          <a:xfrm>
            <a:off x="548640" y="1481328"/>
            <a:ext cx="11091672" cy="4206240"/>
          </a:xfrm>
          <a:prstGeom prst="roundRect">
            <a:avLst>
              <a:gd name="adj" fmla="val 130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4023360"/>
          </a:xfrm>
          <a:prstGeom prst="rect">
            <a:avLst/>
          </a:prstGeom>
          <a:noFill/>
          <a:ln/>
        </p:spPr>
        <p:txBody>
          <a:bodyPr wrap="square" lIns="0" tIns="0" rIns="0" bIns="0" rtlCol="0" anchor="t"/>
          <a:lstStyle/>
          <a:p>
            <a:pPr indent="0" marL="0">
              <a:buNone/>
            </a:pPr>
            <a:r>
              <a:rPr lang="en-US" sz="1000" i="1" dirty="0">
                <a:solidFill>
                  <a:srgbClr val="188038"/>
                </a:solidFill>
                <a:latin typeface="Courier New" pitchFamily="34" charset="0"/>
                <a:ea typeface="Courier New" pitchFamily="34" charset="-122"/>
                <a:cs typeface="Courier New" pitchFamily="34" charset="-120"/>
              </a:rPr>
              <a:t># Paso 5</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veces = 1 </a:t>
            </a:r>
            <a:pPr indent="0" marL="0">
              <a:buNone/>
            </a:pPr>
            <a:r>
              <a:rPr lang="en-US" sz="1000" dirty="0">
                <a:solidFill>
                  <a:srgbClr val="80868B"/>
                </a:solidFill>
                <a:latin typeface="Courier New" pitchFamily="34" charset="0"/>
                <a:ea typeface="Courier New" pitchFamily="34" charset="-122"/>
                <a:cs typeface="Courier New" pitchFamily="34" charset="-120"/>
              </a:rPr>
              <a:t>#@param {type:"slider", min:1, max:10, step:1}</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tabla = sin_repetidas.sort_values([</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]).reset_index(drop=True)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promedio_region = tabla.groupby(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].transform(</a:t>
            </a:r>
            <a:pPr indent="0" marL="0">
              <a:buNone/>
            </a:pPr>
            <a:r>
              <a:rPr lang="en-US" sz="1000" dirty="0">
                <a:solidFill>
                  <a:srgbClr val="A31515"/>
                </a:solidFill>
                <a:latin typeface="Courier New" pitchFamily="34" charset="0"/>
                <a:ea typeface="Courier New" pitchFamily="34" charset="-122"/>
                <a:cs typeface="Courier New" pitchFamily="34" charset="-120"/>
              </a:rPr>
              <a:t>"mean"</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Dos reglas de negocio. La demanda no puede ser negativa,</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y un valor muchas veces mayor que el promedio de su región es sospechoso.</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negativo = tabla[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&lt; 0</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pico = tabla[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&gt; veces * promedio_region</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"Horas con demanda negativa"</a:t>
            </a:r>
            <a:pPr indent="0" marL="0">
              <a:buNone/>
            </a:pPr>
            <a:r>
              <a:rPr lang="en-US" sz="1000" dirty="0">
                <a:solidFill>
                  <a:srgbClr val="202124"/>
                </a:solidFill>
                <a:latin typeface="Courier New" pitchFamily="34" charset="0"/>
                <a:ea typeface="Courier New" pitchFamily="34" charset="-122"/>
                <a:cs typeface="Courier New" pitchFamily="34" charset="-120"/>
              </a:rPr>
              <a:t>, negativo.sum())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print(f</a:t>
            </a:r>
            <a:pPr indent="0" marL="0">
              <a:buNone/>
            </a:pPr>
            <a:r>
              <a:rPr lang="en-US" sz="1000" dirty="0">
                <a:solidFill>
                  <a:srgbClr val="A31515"/>
                </a:solidFill>
                <a:latin typeface="Courier New" pitchFamily="34" charset="0"/>
                <a:ea typeface="Courier New" pitchFamily="34" charset="-122"/>
                <a:cs typeface="Courier New" pitchFamily="34" charset="-120"/>
              </a:rPr>
              <a:t>"Horas con más de {veces} veces el promedio de su región"</a:t>
            </a:r>
            <a:pPr indent="0" marL="0">
              <a:buNone/>
            </a:pPr>
            <a:r>
              <a:rPr lang="en-US" sz="1000" dirty="0">
                <a:solidFill>
                  <a:srgbClr val="202124"/>
                </a:solidFill>
                <a:latin typeface="Courier New" pitchFamily="34" charset="0"/>
                <a:ea typeface="Courier New" pitchFamily="34" charset="-122"/>
                <a:cs typeface="Courier New" pitchFamily="34" charset="-120"/>
              </a:rPr>
              <a:t>, pico.sum())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Antes de tocar nada se marca qué horas se van a cambiar y por qué.</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 = tabla.copy()</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"fue_nulo"</a:t>
            </a:r>
            <a:pPr indent="0" marL="0">
              <a:buNone/>
            </a:pPr>
            <a:r>
              <a:rPr lang="en-US" sz="1000" dirty="0">
                <a:solidFill>
                  <a:srgbClr val="202124"/>
                </a:solidFill>
                <a:latin typeface="Courier New" pitchFamily="34" charset="0"/>
                <a:ea typeface="Courier New" pitchFamily="34" charset="-122"/>
                <a:cs typeface="Courier New" pitchFamily="34" charset="-120"/>
              </a:rPr>
              <a:t>] = 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].isna()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 = negativo | pico</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Los valores imposibles se vacían y todos los huecos se rellenan con una recta.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final.loc[final[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 None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 final.groupby(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].transform(lambda s: s.interpolate())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rellenadas porque venían vacías"</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"fue_nulo"</a:t>
            </a:r>
            <a:pPr indent="0" marL="0">
              <a:buNone/>
            </a:pPr>
            <a:r>
              <a:rPr lang="en-US" sz="1000" dirty="0">
                <a:solidFill>
                  <a:srgbClr val="202124"/>
                </a:solidFill>
                <a:latin typeface="Courier New" pitchFamily="34" charset="0"/>
                <a:ea typeface="Courier New" pitchFamily="34" charset="-122"/>
                <a:cs typeface="Courier New" pitchFamily="34" charset="-120"/>
              </a:rPr>
              <a:t>].sum())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corregidas porque eran imposibles"</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sin dato que quedan"</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].isna().sum())</a:t>
            </a:r>
            <a:endParaRPr lang="en-US" sz="10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veces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18288" cy="45720"/>
          </a:xfrm>
          <a:prstGeom prst="rect">
            <a:avLst/>
          </a:prstGeom>
          <a:solidFill>
            <a:srgbClr val="1A73E8"/>
          </a:solidFill>
          <a:ln w="12700">
            <a:solidFill>
              <a:srgbClr val="1A73E8"/>
            </a:solidFill>
            <a:prstDash val="solid"/>
          </a:ln>
        </p:spPr>
      </p:sp>
      <p:sp>
        <p:nvSpPr>
          <p:cNvPr id="14" name="Shape 11"/>
          <p:cNvSpPr/>
          <p:nvPr/>
        </p:nvSpPr>
        <p:spPr>
          <a:xfrm>
            <a:off x="8741664" y="1938528"/>
            <a:ext cx="173736" cy="173736"/>
          </a:xfrm>
          <a:prstGeom prst="ellipse">
            <a:avLst/>
          </a:prstGeom>
          <a:solidFill>
            <a:srgbClr val="1A73E8"/>
          </a:solidFill>
          <a:ln w="25400">
            <a:solidFill>
              <a:srgbClr val="F9AB00"/>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b="1" dirty="0">
                <a:solidFill>
                  <a:srgbClr val="1A73E8"/>
                </a:solidFill>
                <a:latin typeface="Calibri" pitchFamily="34" charset="0"/>
                <a:ea typeface="Calibri" pitchFamily="34" charset="-122"/>
                <a:cs typeface="Calibri" pitchFamily="34" charset="-120"/>
              </a:rPr>
              <a:t>1</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9" name="Shape 16"/>
          <p:cNvSpPr/>
          <p:nvPr/>
        </p:nvSpPr>
        <p:spPr>
          <a:xfrm>
            <a:off x="2400300" y="6062472"/>
            <a:ext cx="238658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49174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Shape 18"/>
          <p:cNvSpPr/>
          <p:nvPr/>
        </p:nvSpPr>
        <p:spPr>
          <a:xfrm>
            <a:off x="4924044" y="6062472"/>
            <a:ext cx="238658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501548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3" name="Shape 20"/>
          <p:cNvSpPr/>
          <p:nvPr/>
        </p:nvSpPr>
        <p:spPr>
          <a:xfrm>
            <a:off x="7447788" y="6062472"/>
            <a:ext cx="238658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7539228"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5" name="Text 22"/>
          <p:cNvSpPr txBox="1"/>
          <p:nvPr/>
        </p:nvSpPr>
        <p:spPr>
          <a:xfrm>
            <a:off x="997153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
        <p:nvSpPr>
          <p:cNvPr id="26" name="Text 23"/>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1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1188720"/>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106070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Horas con demanda negativa 15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Horas con más de 1 veces el promedio de su región 27964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rellenadas porque venían vacías 1844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corregidas porque eran imposibles 27979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sin dato que quedan 0</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a:t>
            </a:r>
            <a:endParaRPr lang="en-US" sz="1200" dirty="0"/>
          </a:p>
        </p:txBody>
      </p:sp>
      <p:sp>
        <p:nvSpPr>
          <p:cNvPr id="15" name="Shape 12"/>
          <p:cNvSpPr/>
          <p:nvPr/>
        </p:nvSpPr>
        <p:spPr>
          <a:xfrm>
            <a:off x="3680460" y="6062472"/>
            <a:ext cx="1714500"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4"/>
          <p:cNvSpPr/>
          <p:nvPr/>
        </p:nvSpPr>
        <p:spPr>
          <a:xfrm>
            <a:off x="5532120" y="6062472"/>
            <a:ext cx="2386584"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62356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19" name="Shape 16"/>
          <p:cNvSpPr/>
          <p:nvPr/>
        </p:nvSpPr>
        <p:spPr>
          <a:xfrm>
            <a:off x="8055864" y="6062472"/>
            <a:ext cx="2386584"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814730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Text 18"/>
          <p:cNvSpPr txBox="1"/>
          <p:nvPr/>
        </p:nvSpPr>
        <p:spPr>
          <a:xfrm>
            <a:off x="1057960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1 se marca casi la mitad de las horas como imposibles. La regla quedó demasiado estricta.</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vuelve el deslizador a 3 y se corre la celda otra vez.</a:t>
            </a:r>
            <a:endParaRPr lang="en-US" sz="1400" dirty="0"/>
          </a:p>
        </p:txBody>
      </p:sp>
      <p:sp>
        <p:nvSpPr>
          <p:cNvPr id="7" name="Shape 4"/>
          <p:cNvSpPr/>
          <p:nvPr/>
        </p:nvSpPr>
        <p:spPr>
          <a:xfrm>
            <a:off x="548640" y="1481328"/>
            <a:ext cx="11091672" cy="4206240"/>
          </a:xfrm>
          <a:prstGeom prst="roundRect">
            <a:avLst>
              <a:gd name="adj" fmla="val 1304"/>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4023360"/>
          </a:xfrm>
          <a:prstGeom prst="rect">
            <a:avLst/>
          </a:prstGeom>
          <a:noFill/>
          <a:ln/>
        </p:spPr>
        <p:txBody>
          <a:bodyPr wrap="square" lIns="0" tIns="0" rIns="0" bIns="0" rtlCol="0" anchor="t"/>
          <a:lstStyle/>
          <a:p>
            <a:pPr indent="0" marL="0">
              <a:buNone/>
            </a:pPr>
            <a:r>
              <a:rPr lang="en-US" sz="1000" i="1" dirty="0">
                <a:solidFill>
                  <a:srgbClr val="188038"/>
                </a:solidFill>
                <a:latin typeface="Courier New" pitchFamily="34" charset="0"/>
                <a:ea typeface="Courier New" pitchFamily="34" charset="-122"/>
                <a:cs typeface="Courier New" pitchFamily="34" charset="-120"/>
              </a:rPr>
              <a:t># Paso 5</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veces = 3 </a:t>
            </a:r>
            <a:pPr indent="0" marL="0">
              <a:buNone/>
            </a:pPr>
            <a:r>
              <a:rPr lang="en-US" sz="1000" dirty="0">
                <a:solidFill>
                  <a:srgbClr val="80868B"/>
                </a:solidFill>
                <a:latin typeface="Courier New" pitchFamily="34" charset="0"/>
                <a:ea typeface="Courier New" pitchFamily="34" charset="-122"/>
                <a:cs typeface="Courier New" pitchFamily="34" charset="-120"/>
              </a:rPr>
              <a:t>#@param {type:"slider", min:1, max:10, step:1}</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tabla = sin_repetidas.sort_values([</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"fecha"</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"hora"</a:t>
            </a:r>
            <a:pPr indent="0" marL="0">
              <a:buNone/>
            </a:pPr>
            <a:r>
              <a:rPr lang="en-US" sz="1000" dirty="0">
                <a:solidFill>
                  <a:srgbClr val="202124"/>
                </a:solidFill>
                <a:latin typeface="Courier New" pitchFamily="34" charset="0"/>
                <a:ea typeface="Courier New" pitchFamily="34" charset="-122"/>
                <a:cs typeface="Courier New" pitchFamily="34" charset="-120"/>
              </a:rPr>
              <a:t>]).reset_index(drop=True)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promedio_region = tabla.groupby(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].transform(</a:t>
            </a:r>
            <a:pPr indent="0" marL="0">
              <a:buNone/>
            </a:pPr>
            <a:r>
              <a:rPr lang="en-US" sz="1000" dirty="0">
                <a:solidFill>
                  <a:srgbClr val="A31515"/>
                </a:solidFill>
                <a:latin typeface="Courier New" pitchFamily="34" charset="0"/>
                <a:ea typeface="Courier New" pitchFamily="34" charset="-122"/>
                <a:cs typeface="Courier New" pitchFamily="34" charset="-120"/>
              </a:rPr>
              <a:t>"mean"</a:t>
            </a:r>
            <a:pPr indent="0" marL="0">
              <a:buNone/>
            </a:pPr>
            <a:r>
              <a:rPr lang="en-US" sz="1000" dirty="0">
                <a:solidFill>
                  <a:srgbClr val="20212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Dos reglas de negocio. La demanda no puede ser negativa,</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y un valor muchas veces mayor que el promedio de su región es sospechoso.</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negativo = tabla[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&lt; 0</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pico = tabla[</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&gt; veces * promedio_region</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"Horas con demanda negativa"</a:t>
            </a:r>
            <a:pPr indent="0" marL="0">
              <a:buNone/>
            </a:pPr>
            <a:r>
              <a:rPr lang="en-US" sz="1000" dirty="0">
                <a:solidFill>
                  <a:srgbClr val="202124"/>
                </a:solidFill>
                <a:latin typeface="Courier New" pitchFamily="34" charset="0"/>
                <a:ea typeface="Courier New" pitchFamily="34" charset="-122"/>
                <a:cs typeface="Courier New" pitchFamily="34" charset="-120"/>
              </a:rPr>
              <a:t>, negativo.sum())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print(f</a:t>
            </a:r>
            <a:pPr indent="0" marL="0">
              <a:buNone/>
            </a:pPr>
            <a:r>
              <a:rPr lang="en-US" sz="1000" dirty="0">
                <a:solidFill>
                  <a:srgbClr val="A31515"/>
                </a:solidFill>
                <a:latin typeface="Courier New" pitchFamily="34" charset="0"/>
                <a:ea typeface="Courier New" pitchFamily="34" charset="-122"/>
                <a:cs typeface="Courier New" pitchFamily="34" charset="-120"/>
              </a:rPr>
              <a:t>"Horas con más de {veces} veces el promedio de su región"</a:t>
            </a:r>
            <a:pPr indent="0" marL="0">
              <a:buNone/>
            </a:pPr>
            <a:r>
              <a:rPr lang="en-US" sz="1000" dirty="0">
                <a:solidFill>
                  <a:srgbClr val="202124"/>
                </a:solidFill>
                <a:latin typeface="Courier New" pitchFamily="34" charset="0"/>
                <a:ea typeface="Courier New" pitchFamily="34" charset="-122"/>
                <a:cs typeface="Courier New" pitchFamily="34" charset="-120"/>
              </a:rPr>
              <a:t>, pico.sum())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Antes de tocar nada se marca qué horas se van a cambiar y por qué.</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 = tabla.copy()</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"fue_nulo"</a:t>
            </a:r>
            <a:pPr indent="0" marL="0">
              <a:buNone/>
            </a:pPr>
            <a:r>
              <a:rPr lang="en-US" sz="1000" dirty="0">
                <a:solidFill>
                  <a:srgbClr val="202124"/>
                </a:solidFill>
                <a:latin typeface="Courier New" pitchFamily="34" charset="0"/>
                <a:ea typeface="Courier New" pitchFamily="34" charset="-122"/>
                <a:cs typeface="Courier New" pitchFamily="34" charset="-120"/>
              </a:rPr>
              <a:t>] = 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].isna()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 = negativo | pico</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188038"/>
                </a:solidFill>
                <a:latin typeface="Courier New" pitchFamily="34" charset="0"/>
                <a:ea typeface="Courier New" pitchFamily="34" charset="-122"/>
                <a:cs typeface="Courier New" pitchFamily="34" charset="-120"/>
              </a:rPr>
              <a:t># Los valores imposibles se vacían y todos los huecos se rellenan con una recta.</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final.loc[final[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 </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 None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 = final.groupby(</a:t>
            </a:r>
            <a:pPr indent="0" marL="0">
              <a:buNone/>
            </a:pPr>
            <a:r>
              <a:rPr lang="en-US" sz="1000" dirty="0">
                <a:solidFill>
                  <a:srgbClr val="A31515"/>
                </a:solidFill>
                <a:latin typeface="Courier New" pitchFamily="34" charset="0"/>
                <a:ea typeface="Courier New" pitchFamily="34" charset="-122"/>
                <a:cs typeface="Courier New" pitchFamily="34" charset="-120"/>
              </a:rPr>
              <a:t>"region"</a:t>
            </a:r>
            <a:pPr indent="0" marL="0">
              <a:buNone/>
            </a:pPr>
            <a:r>
              <a:rPr lang="en-US" sz="1000" dirty="0">
                <a:solidFill>
                  <a:srgbClr val="202124"/>
                </a:solidFill>
                <a:latin typeface="Courier New" pitchFamily="34" charset="0"/>
                <a:ea typeface="Courier New" pitchFamily="34" charset="-122"/>
                <a:cs typeface="Courier New" pitchFamily="34" charset="-120"/>
              </a:rPr>
              <a:t>)[</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].transform(lambda s: s.interpolate())</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rellenadas porque venían vacías"</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"fue_nulo"</a:t>
            </a:r>
            <a:pPr indent="0" marL="0">
              <a:buNone/>
            </a:pPr>
            <a:r>
              <a:rPr lang="en-US" sz="1000" dirty="0">
                <a:solidFill>
                  <a:srgbClr val="202124"/>
                </a:solidFill>
                <a:latin typeface="Courier New" pitchFamily="34" charset="0"/>
                <a:ea typeface="Courier New" pitchFamily="34" charset="-122"/>
                <a:cs typeface="Courier New" pitchFamily="34" charset="-120"/>
              </a:rPr>
              <a:t>].sum())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corregidas porque eran imposibles"</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"fue_corregido"</a:t>
            </a:r>
            <a:pPr indent="0" marL="0">
              <a:buNone/>
            </a:pPr>
            <a:r>
              <a:rPr lang="en-US" sz="1000" dirty="0">
                <a:solidFill>
                  <a:srgbClr val="202124"/>
                </a:solidFill>
                <a:latin typeface="Courier New" pitchFamily="34" charset="0"/>
                <a:ea typeface="Courier New" pitchFamily="34" charset="-122"/>
                <a:cs typeface="Courier New" pitchFamily="34" charset="-120"/>
              </a:rPr>
              <a:t>].sum())</a:t>
            </a:r>
            <a:endParaRPr lang="en-US" sz="1000" dirty="0"/>
          </a:p>
          <a:p>
            <a:pPr indent="0" marL="0">
              <a:buNone/>
            </a:pPr>
            <a:r>
              <a:rPr lang="en-US" sz="1000" dirty="0">
                <a:solidFill>
                  <a:srgbClr val="202124"/>
                </a:solidFill>
                <a:latin typeface="Courier New" pitchFamily="34" charset="0"/>
                <a:ea typeface="Courier New" pitchFamily="34" charset="-122"/>
                <a:cs typeface="Courier New" pitchFamily="34" charset="-120"/>
              </a:rPr>
              <a:t>print(</a:t>
            </a:r>
            <a:pPr indent="0" marL="0">
              <a:buNone/>
            </a:pPr>
            <a:r>
              <a:rPr lang="en-US" sz="1000" dirty="0">
                <a:solidFill>
                  <a:srgbClr val="A31515"/>
                </a:solidFill>
                <a:latin typeface="Courier New" pitchFamily="34" charset="0"/>
                <a:ea typeface="Courier New" pitchFamily="34" charset="-122"/>
                <a:cs typeface="Courier New" pitchFamily="34" charset="-120"/>
              </a:rPr>
              <a:t>"✓ Horas sin dato que quedan"</a:t>
            </a:r>
            <a:pPr indent="0" marL="0">
              <a:buNone/>
            </a:pPr>
            <a:r>
              <a:rPr lang="en-US" sz="1000" dirty="0">
                <a:solidFill>
                  <a:srgbClr val="202124"/>
                </a:solidFill>
                <a:latin typeface="Courier New" pitchFamily="34" charset="0"/>
                <a:ea typeface="Courier New" pitchFamily="34" charset="-122"/>
                <a:cs typeface="Courier New" pitchFamily="34" charset="-120"/>
              </a:rPr>
              <a:t>, final[</a:t>
            </a:r>
            <a:pPr indent="0" marL="0">
              <a:buNone/>
            </a:pPr>
            <a:r>
              <a:rPr lang="en-US" sz="1000" dirty="0">
                <a:solidFill>
                  <a:srgbClr val="A31515"/>
                </a:solidFill>
                <a:latin typeface="Courier New" pitchFamily="34" charset="0"/>
                <a:ea typeface="Courier New" pitchFamily="34" charset="-122"/>
                <a:cs typeface="Courier New" pitchFamily="34" charset="-120"/>
              </a:rPr>
              <a:t>"mwh"</a:t>
            </a:r>
            <a:pPr indent="0" marL="0">
              <a:buNone/>
            </a:pPr>
            <a:r>
              <a:rPr lang="en-US" sz="1000" dirty="0">
                <a:solidFill>
                  <a:srgbClr val="202124"/>
                </a:solidFill>
                <a:latin typeface="Courier New" pitchFamily="34" charset="0"/>
                <a:ea typeface="Courier New" pitchFamily="34" charset="-122"/>
                <a:cs typeface="Courier New" pitchFamily="34" charset="-120"/>
              </a:rPr>
              <a:t>].isna().sum())</a:t>
            </a:r>
            <a:endParaRPr lang="en-US" sz="10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veces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436880" cy="45720"/>
          </a:xfrm>
          <a:prstGeom prst="rect">
            <a:avLst/>
          </a:prstGeom>
          <a:solidFill>
            <a:srgbClr val="1A73E8"/>
          </a:solidFill>
          <a:ln w="12700">
            <a:solidFill>
              <a:srgbClr val="1A73E8"/>
            </a:solidFill>
            <a:prstDash val="solid"/>
          </a:ln>
        </p:spPr>
      </p:sp>
      <p:sp>
        <p:nvSpPr>
          <p:cNvPr id="14" name="Shape 11"/>
          <p:cNvSpPr/>
          <p:nvPr/>
        </p:nvSpPr>
        <p:spPr>
          <a:xfrm>
            <a:off x="9178544" y="1938528"/>
            <a:ext cx="173736" cy="173736"/>
          </a:xfrm>
          <a:prstGeom prst="ellipse">
            <a:avLst/>
          </a:prstGeom>
          <a:solidFill>
            <a:srgbClr val="1A73E8"/>
          </a:solidFill>
          <a:ln w="25400">
            <a:solidFill>
              <a:srgbClr val="F9AB00"/>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b="1" dirty="0">
                <a:solidFill>
                  <a:srgbClr val="1A73E8"/>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9" name="Shape 16"/>
          <p:cNvSpPr/>
          <p:nvPr/>
        </p:nvSpPr>
        <p:spPr>
          <a:xfrm>
            <a:off x="2400300" y="6062472"/>
            <a:ext cx="238658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49174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Shape 18"/>
          <p:cNvSpPr/>
          <p:nvPr/>
        </p:nvSpPr>
        <p:spPr>
          <a:xfrm>
            <a:off x="4924044" y="6062472"/>
            <a:ext cx="238658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501548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3" name="Shape 20"/>
          <p:cNvSpPr/>
          <p:nvPr/>
        </p:nvSpPr>
        <p:spPr>
          <a:xfrm>
            <a:off x="7447788" y="6062472"/>
            <a:ext cx="238658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7539228"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5" name="Text 22"/>
          <p:cNvSpPr txBox="1"/>
          <p:nvPr/>
        </p:nvSpPr>
        <p:spPr>
          <a:xfrm>
            <a:off x="997153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
        <p:nvSpPr>
          <p:cNvPr id="26" name="Text 23"/>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vuelve el deslizador a 3 y se corre la celda otra vez.</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1188720"/>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106070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Horas con demanda negativa 15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Horas con más de 3 veces el promedio de su región 40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rellenadas porque venían vacías 1844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corregidas porque eran imposibles 55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 sin dato que quedan 0</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a:t>
            </a:r>
            <a:endParaRPr lang="en-US" sz="1200" dirty="0"/>
          </a:p>
        </p:txBody>
      </p:sp>
      <p:sp>
        <p:nvSpPr>
          <p:cNvPr id="15" name="Shape 12"/>
          <p:cNvSpPr/>
          <p:nvPr/>
        </p:nvSpPr>
        <p:spPr>
          <a:xfrm>
            <a:off x="3680460" y="6062472"/>
            <a:ext cx="1714500"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4"/>
          <p:cNvSpPr/>
          <p:nvPr/>
        </p:nvSpPr>
        <p:spPr>
          <a:xfrm>
            <a:off x="5532120" y="6062472"/>
            <a:ext cx="2386584"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62356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19" name="Shape 16"/>
          <p:cNvSpPr/>
          <p:nvPr/>
        </p:nvSpPr>
        <p:spPr>
          <a:xfrm>
            <a:off x="8055864" y="6062472"/>
            <a:ext cx="2386584"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814730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Text 18"/>
          <p:cNvSpPr txBox="1"/>
          <p:nvPr/>
        </p:nvSpPr>
        <p:spPr>
          <a:xfrm>
            <a:off x="1057960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3 se separan justo los 40 picos. Así queda para los pasos siguientes.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decide qué valor es imposible</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 valor imposible se encuentra con una regla de negocio.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Antes de cambiarlo se marca qué se va a tocar y por qué.</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a:t>
            </a:r>
            <a:endParaRPr lang="en-US" sz="1200" dirty="0"/>
          </a:p>
        </p:txBody>
      </p:sp>
      <p:sp>
        <p:nvSpPr>
          <p:cNvPr id="15" name="Shape 12"/>
          <p:cNvSpPr/>
          <p:nvPr/>
        </p:nvSpPr>
        <p:spPr>
          <a:xfrm>
            <a:off x="3680460" y="6062472"/>
            <a:ext cx="1714500"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4"/>
          <p:cNvSpPr/>
          <p:nvPr/>
        </p:nvSpPr>
        <p:spPr>
          <a:xfrm>
            <a:off x="5532120" y="6062472"/>
            <a:ext cx="2386584"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562356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19" name="Shape 16"/>
          <p:cNvSpPr/>
          <p:nvPr/>
        </p:nvSpPr>
        <p:spPr>
          <a:xfrm>
            <a:off x="8055864" y="6062472"/>
            <a:ext cx="2386584"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814730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Text 18"/>
          <p:cNvSpPr txBox="1"/>
          <p:nvPr/>
        </p:nvSpPr>
        <p:spPr>
          <a:xfrm>
            <a:off x="1057960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6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bien quedó la limpieza?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compara lo limpio con lo real.</a:t>
            </a:r>
            <a:endParaRPr lang="en-US" sz="1400" dirty="0"/>
          </a:p>
        </p:txBody>
      </p:sp>
      <p:pic>
        <p:nvPicPr>
          <p:cNvPr id="6" name="Image 0" descr="../../repo/modulos/../../diag/lab03_paso6_auditoria.png">    </p:cNvPr>
          <p:cNvPicPr>
            <a:picLocks noChangeAspect="1"/>
          </p:cNvPicPr>
          <p:nvPr/>
        </p:nvPicPr>
        <p:blipFill>
          <a:blip r:embed="rId1"/>
          <a:stretch>
            <a:fillRect/>
          </a:stretch>
        </p:blipFill>
        <p:spPr>
          <a:xfrm>
            <a:off x="548640" y="1463040"/>
            <a:ext cx="11091672" cy="439045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6 de 6</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bien quedó la limpieza?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Si cambias el deslizador del Paso 5, corre ese paso y después este otra vez.</a:t>
            </a:r>
            <a:endParaRPr lang="en-US" sz="1400" dirty="0"/>
          </a:p>
        </p:txBody>
      </p:sp>
      <p:sp>
        <p:nvSpPr>
          <p:cNvPr id="7" name="Shape 4"/>
          <p:cNvSpPr/>
          <p:nvPr/>
        </p:nvSpPr>
        <p:spPr>
          <a:xfrm>
            <a:off x="548640" y="1481328"/>
            <a:ext cx="11091672" cy="3360420"/>
          </a:xfrm>
          <a:prstGeom prst="roundRect">
            <a:avLst>
              <a:gd name="adj" fmla="val 163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31775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6</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Este lab tiene algo que el trabajo real no tiene, el archivo original sin errores.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verdad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"demanda.csv"</a:t>
            </a:r>
            <a:pPr indent="0" marL="0">
              <a:buNone/>
            </a:pPr>
            <a:r>
              <a:rPr lang="en-US" sz="1300" dirty="0">
                <a:solidFill>
                  <a:srgbClr val="202124"/>
                </a:solidFill>
                <a:latin typeface="Courier New" pitchFamily="34" charset="0"/>
                <a:ea typeface="Courier New" pitchFamily="34" charset="-122"/>
                <a:cs typeface="Courier New" pitchFamily="34" charset="-120"/>
              </a:rPr>
              <a:t>, parse_dates=[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auditoria = pd.merge(final, verdad, on=[</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"hora"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suffixes=(</a:t>
            </a:r>
            <a:pPr indent="0" marL="0">
              <a:buNone/>
            </a:pPr>
            <a:r>
              <a:rPr lang="en-US" sz="1300" dirty="0">
                <a:solidFill>
                  <a:srgbClr val="A31515"/>
                </a:solidFill>
                <a:latin typeface="Courier New" pitchFamily="34" charset="0"/>
                <a:ea typeface="Courier New" pitchFamily="34" charset="-122"/>
                <a:cs typeface="Courier New" pitchFamily="34" charset="-120"/>
              </a:rPr>
              <a:t>"_limpia"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"_real"</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auditoria[</a:t>
            </a:r>
            <a:pPr indent="0" marL="0">
              <a:buNone/>
            </a:pPr>
            <a:r>
              <a:rPr lang="en-US" sz="1300" dirty="0">
                <a:solidFill>
                  <a:srgbClr val="A31515"/>
                </a:solidFill>
                <a:latin typeface="Courier New" pitchFamily="34" charset="0"/>
                <a:ea typeface="Courier New" pitchFamily="34" charset="-122"/>
                <a:cs typeface="Courier New" pitchFamily="34" charset="-120"/>
              </a:rPr>
              <a:t>"error"</a:t>
            </a:r>
            <a:pPr indent="0" marL="0">
              <a:buNone/>
            </a:pPr>
            <a:r>
              <a:rPr lang="en-US" sz="1300" dirty="0">
                <a:solidFill>
                  <a:srgbClr val="202124"/>
                </a:solidFill>
                <a:latin typeface="Courier New" pitchFamily="34" charset="0"/>
                <a:ea typeface="Courier New" pitchFamily="34" charset="-122"/>
                <a:cs typeface="Courier New" pitchFamily="34" charset="-120"/>
              </a:rPr>
              <a:t>] = (auditoria[</a:t>
            </a:r>
            <a:pPr indent="0" marL="0">
              <a:buNone/>
            </a:pPr>
            <a:r>
              <a:rPr lang="en-US" sz="1300" dirty="0">
                <a:solidFill>
                  <a:srgbClr val="A31515"/>
                </a:solidFill>
                <a:latin typeface="Courier New" pitchFamily="34" charset="0"/>
                <a:ea typeface="Courier New" pitchFamily="34" charset="-122"/>
                <a:cs typeface="Courier New" pitchFamily="34" charset="-120"/>
              </a:rPr>
              <a:t>"mwh_limpia"</a:t>
            </a:r>
            <a:pPr indent="0" marL="0">
              <a:buNone/>
            </a:pPr>
            <a:r>
              <a:rPr lang="en-US" sz="1300" dirty="0">
                <a:solidFill>
                  <a:srgbClr val="202124"/>
                </a:solidFill>
                <a:latin typeface="Courier New" pitchFamily="34" charset="0"/>
                <a:ea typeface="Courier New" pitchFamily="34" charset="-122"/>
                <a:cs typeface="Courier New" pitchFamily="34" charset="-120"/>
              </a:rPr>
              <a:t>] - auditoria[</a:t>
            </a:r>
            <a:pPr indent="0" marL="0">
              <a:buNone/>
            </a:pPr>
            <a:r>
              <a:rPr lang="en-US" sz="1300" dirty="0">
                <a:solidFill>
                  <a:srgbClr val="A31515"/>
                </a:solidFill>
                <a:latin typeface="Courier New" pitchFamily="34" charset="0"/>
                <a:ea typeface="Courier New" pitchFamily="34" charset="-122"/>
                <a:cs typeface="Courier New" pitchFamily="34" charset="-120"/>
              </a:rPr>
              <a:t>"mwh_real"</a:t>
            </a:r>
            <a:pPr indent="0" marL="0">
              <a:buNone/>
            </a:pPr>
            <a:r>
              <a:rPr lang="en-US" sz="1300" dirty="0">
                <a:solidFill>
                  <a:srgbClr val="202124"/>
                </a:solidFill>
                <a:latin typeface="Courier New" pitchFamily="34" charset="0"/>
                <a:ea typeface="Courier New" pitchFamily="34" charset="-122"/>
                <a:cs typeface="Courier New" pitchFamily="34" charset="-120"/>
              </a:rPr>
              <a:t>]).abs()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auditoria[</a:t>
            </a:r>
            <a:pPr indent="0" marL="0">
              <a:buNone/>
            </a:pPr>
            <a:r>
              <a:rPr lang="en-US" sz="1300" dirty="0">
                <a:solidFill>
                  <a:srgbClr val="A31515"/>
                </a:solidFill>
                <a:latin typeface="Courier New" pitchFamily="34" charset="0"/>
                <a:ea typeface="Courier New" pitchFamily="34" charset="-122"/>
                <a:cs typeface="Courier New" pitchFamily="34" charset="-120"/>
              </a:rPr>
              <a:t>"grupo"</a:t>
            </a:r>
            <a:pPr indent="0" marL="0">
              <a:buNone/>
            </a:pPr>
            <a:r>
              <a:rPr lang="en-US" sz="1300" dirty="0">
                <a:solidFill>
                  <a:srgbClr val="202124"/>
                </a:solidFill>
                <a:latin typeface="Courier New" pitchFamily="34" charset="0"/>
                <a:ea typeface="Courier New" pitchFamily="34" charset="-122"/>
                <a:cs typeface="Courier New" pitchFamily="34" charset="-120"/>
              </a:rPr>
              <a:t>] = </a:t>
            </a:r>
            <a:pPr indent="0" marL="0">
              <a:buNone/>
            </a:pPr>
            <a:r>
              <a:rPr lang="en-US" sz="1300" dirty="0">
                <a:solidFill>
                  <a:srgbClr val="A31515"/>
                </a:solidFill>
                <a:latin typeface="Courier New" pitchFamily="34" charset="0"/>
                <a:ea typeface="Courier New" pitchFamily="34" charset="-122"/>
                <a:cs typeface="Courier New" pitchFamily="34" charset="-120"/>
              </a:rPr>
              <a:t>"no se tocó"</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auditoria.loc[auditoria[</a:t>
            </a:r>
            <a:pPr indent="0" marL="0">
              <a:buNone/>
            </a:pPr>
            <a:r>
              <a:rPr lang="en-US" sz="1300" dirty="0">
                <a:solidFill>
                  <a:srgbClr val="A31515"/>
                </a:solidFill>
                <a:latin typeface="Courier New" pitchFamily="34" charset="0"/>
                <a:ea typeface="Courier New" pitchFamily="34" charset="-122"/>
                <a:cs typeface="Courier New" pitchFamily="34" charset="-120"/>
              </a:rPr>
              <a:t>"fue_nulo"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"grupo"</a:t>
            </a:r>
            <a:pPr indent="0" marL="0">
              <a:buNone/>
            </a:pPr>
            <a:r>
              <a:rPr lang="en-US" sz="1300" dirty="0">
                <a:solidFill>
                  <a:srgbClr val="202124"/>
                </a:solidFill>
                <a:latin typeface="Courier New" pitchFamily="34" charset="0"/>
                <a:ea typeface="Courier New" pitchFamily="34" charset="-122"/>
                <a:cs typeface="Courier New" pitchFamily="34" charset="-120"/>
              </a:rPr>
              <a:t>] = </a:t>
            </a:r>
            <a:pPr indent="0" marL="0">
              <a:buNone/>
            </a:pPr>
            <a:r>
              <a:rPr lang="en-US" sz="1300" dirty="0">
                <a:solidFill>
                  <a:srgbClr val="A31515"/>
                </a:solidFill>
                <a:latin typeface="Courier New" pitchFamily="34" charset="0"/>
                <a:ea typeface="Courier New" pitchFamily="34" charset="-122"/>
                <a:cs typeface="Courier New" pitchFamily="34" charset="-120"/>
              </a:rPr>
              <a:t>"se rellenó"</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auditoria.loc[auditoria[</a:t>
            </a:r>
            <a:pPr indent="0" marL="0">
              <a:buNone/>
            </a:pPr>
            <a:r>
              <a:rPr lang="en-US" sz="1300" dirty="0">
                <a:solidFill>
                  <a:srgbClr val="A31515"/>
                </a:solidFill>
                <a:latin typeface="Courier New" pitchFamily="34" charset="0"/>
                <a:ea typeface="Courier New" pitchFamily="34" charset="-122"/>
                <a:cs typeface="Courier New" pitchFamily="34" charset="-120"/>
              </a:rPr>
              <a:t>"fue_corregido"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"grupo"</a:t>
            </a:r>
            <a:pPr indent="0" marL="0">
              <a:buNone/>
            </a:pPr>
            <a:r>
              <a:rPr lang="en-US" sz="1300" dirty="0">
                <a:solidFill>
                  <a:srgbClr val="202124"/>
                </a:solidFill>
                <a:latin typeface="Courier New" pitchFamily="34" charset="0"/>
                <a:ea typeface="Courier New" pitchFamily="34" charset="-122"/>
                <a:cs typeface="Courier New" pitchFamily="34" charset="-120"/>
              </a:rPr>
              <a:t>] = </a:t>
            </a:r>
            <a:pPr indent="0" marL="0">
              <a:buNone/>
            </a:pPr>
            <a:r>
              <a:rPr lang="en-US" sz="1300" dirty="0">
                <a:solidFill>
                  <a:srgbClr val="A31515"/>
                </a:solidFill>
                <a:latin typeface="Courier New" pitchFamily="34" charset="0"/>
                <a:ea typeface="Courier New" pitchFamily="34" charset="-122"/>
                <a:cs typeface="Courier New" pitchFamily="34" charset="-120"/>
              </a:rPr>
              <a:t>"se corrigió"</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"Horas comparadas"</a:t>
            </a:r>
            <a:pPr indent="0" marL="0">
              <a:buNone/>
            </a:pPr>
            <a:r>
              <a:rPr lang="en-US" sz="1300" dirty="0">
                <a:solidFill>
                  <a:srgbClr val="202124"/>
                </a:solidFill>
                <a:latin typeface="Courier New" pitchFamily="34" charset="0"/>
                <a:ea typeface="Courier New" pitchFamily="34" charset="-122"/>
                <a:cs typeface="Courier New" pitchFamily="34" charset="-120"/>
              </a:rPr>
              <a:t>, len(auditoria))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auditoria.groupby(</a:t>
            </a:r>
            <a:pPr indent="0" marL="0">
              <a:buNone/>
            </a:pPr>
            <a:r>
              <a:rPr lang="en-US" sz="1300" dirty="0">
                <a:solidFill>
                  <a:srgbClr val="A31515"/>
                </a:solidFill>
                <a:latin typeface="Courier New" pitchFamily="34" charset="0"/>
                <a:ea typeface="Courier New" pitchFamily="34" charset="-122"/>
                <a:cs typeface="Courier New" pitchFamily="34" charset="-120"/>
              </a:rPr>
              <a:t>"grupo"</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"error"</a:t>
            </a:r>
            <a:pPr indent="0" marL="0">
              <a:buNone/>
            </a:pPr>
            <a:r>
              <a:rPr lang="en-US" sz="1300" dirty="0">
                <a:solidFill>
                  <a:srgbClr val="202124"/>
                </a:solidFill>
                <a:latin typeface="Courier New" pitchFamily="34" charset="0"/>
                <a:ea typeface="Courier New" pitchFamily="34" charset="-122"/>
                <a:cs typeface="Courier New" pitchFamily="34" charset="-120"/>
              </a:rPr>
              <a:t>].agg(horas=</a:t>
            </a:r>
            <a:pPr indent="0" marL="0">
              <a:buNone/>
            </a:pPr>
            <a:r>
              <a:rPr lang="en-US" sz="1300" dirty="0">
                <a:solidFill>
                  <a:srgbClr val="A31515"/>
                </a:solidFill>
                <a:latin typeface="Courier New" pitchFamily="34" charset="0"/>
                <a:ea typeface="Courier New" pitchFamily="34" charset="-122"/>
                <a:cs typeface="Courier New" pitchFamily="34" charset="-120"/>
              </a:rPr>
              <a:t>"count"</a:t>
            </a:r>
            <a:pPr indent="0" marL="0">
              <a:buNone/>
            </a:pPr>
            <a:r>
              <a:rPr lang="en-US" sz="1300" dirty="0">
                <a:solidFill>
                  <a:srgbClr val="202124"/>
                </a:solidFill>
                <a:latin typeface="Courier New" pitchFamily="34" charset="0"/>
                <a:ea typeface="Courier New" pitchFamily="34" charset="-122"/>
                <a:cs typeface="Courier New" pitchFamily="34" charset="-120"/>
              </a:rPr>
              <a:t>, error_promedio=</a:t>
            </a:r>
            <a:pPr indent="0" marL="0">
              <a:buNone/>
            </a:pPr>
            <a:r>
              <a:rPr lang="en-US" sz="1300" dirty="0">
                <a:solidFill>
                  <a:srgbClr val="A31515"/>
                </a:solidFill>
                <a:latin typeface="Courier New" pitchFamily="34" charset="0"/>
                <a:ea typeface="Courier New" pitchFamily="34" charset="-122"/>
                <a:cs typeface="Courier New" pitchFamily="34" charset="-120"/>
              </a:rPr>
              <a:t>"mean"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error_maximo=</a:t>
            </a:r>
            <a:pPr indent="0" marL="0">
              <a:buNone/>
            </a:pPr>
            <a:r>
              <a:rPr lang="en-US" sz="1300" dirty="0">
                <a:solidFill>
                  <a:srgbClr val="A31515"/>
                </a:solidFill>
                <a:latin typeface="Courier New" pitchFamily="34" charset="0"/>
                <a:ea typeface="Courier New" pitchFamily="34" charset="-122"/>
                <a:cs typeface="Courier New" pitchFamily="34" charset="-120"/>
              </a:rPr>
              <a:t>"max"</a:t>
            </a:r>
            <a:pPr indent="0" marL="0">
              <a:buNone/>
            </a:pPr>
            <a:r>
              <a:rPr lang="en-US" sz="1300" dirty="0">
                <a:solidFill>
                  <a:srgbClr val="202124"/>
                </a:solidFill>
                <a:latin typeface="Courier New" pitchFamily="34" charset="0"/>
                <a:ea typeface="Courier New" pitchFamily="34" charset="-122"/>
                <a:cs typeface="Courier New" pitchFamily="34" charset="-120"/>
              </a:rPr>
              <a:t>).round(1)</a:t>
            </a:r>
            <a:endParaRPr lang="en-US" sz="1300" dirty="0"/>
          </a:p>
        </p:txBody>
      </p:sp>
      <p:sp>
        <p:nvSpPr>
          <p:cNvPr id="11" name="Text 8"/>
          <p:cNvSpPr txBox="1"/>
          <p:nvPr/>
        </p:nvSpPr>
        <p:spPr>
          <a:xfrm>
            <a:off x="1325880" y="48783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5" name="Shape 12"/>
          <p:cNvSpPr/>
          <p:nvPr/>
        </p:nvSpPr>
        <p:spPr>
          <a:xfrm>
            <a:off x="2400300" y="6062472"/>
            <a:ext cx="2386584"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49174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17" name="Shape 14"/>
          <p:cNvSpPr/>
          <p:nvPr/>
        </p:nvSpPr>
        <p:spPr>
          <a:xfrm>
            <a:off x="4924044" y="6062472"/>
            <a:ext cx="238658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015484"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negativo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19" name="Shape 16"/>
          <p:cNvSpPr/>
          <p:nvPr/>
        </p:nvSpPr>
        <p:spPr>
          <a:xfrm>
            <a:off x="7447788" y="6062472"/>
            <a:ext cx="238658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539228"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promedio_region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Text 18"/>
          <p:cNvSpPr txBox="1"/>
          <p:nvPr/>
        </p:nvSpPr>
        <p:spPr>
          <a:xfrm>
            <a:off x="997153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6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bien quedó la limpieza?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736600"/>
          </a:xfrm>
          <a:prstGeom prst="roundRect">
            <a:avLst>
              <a:gd name="adj" fmla="val 7448"/>
            </a:avLst>
          </a:prstGeom>
          <a:solidFill>
            <a:srgbClr val="F8F9FA"/>
          </a:solidFill>
          <a:ln w="12700">
            <a:solidFill>
              <a:srgbClr val="DADCE0"/>
            </a:solidFill>
            <a:prstDash val="solid"/>
          </a:ln>
        </p:spPr>
      </p:sp>
      <p:sp>
        <p:nvSpPr>
          <p:cNvPr id="7" name="Text 5"/>
          <p:cNvSpPr txBox="1"/>
          <p:nvPr/>
        </p:nvSpPr>
        <p:spPr>
          <a:xfrm>
            <a:off x="822960" y="1554480"/>
            <a:ext cx="10634472" cy="599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auditoria = pd.merge(final, verdad, on=[</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"hora"</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suffixes=(</a:t>
            </a:r>
            <a:pPr indent="0" marL="0">
              <a:buNone/>
            </a:pPr>
            <a:r>
              <a:rPr lang="en-US" sz="1600" dirty="0">
                <a:solidFill>
                  <a:srgbClr val="A31515"/>
                </a:solidFill>
                <a:latin typeface="Courier New" pitchFamily="34" charset="0"/>
                <a:ea typeface="Courier New" pitchFamily="34" charset="-122"/>
                <a:cs typeface="Courier New" pitchFamily="34" charset="-120"/>
              </a:rPr>
              <a:t>"_limpia"</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"_real"</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574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574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473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473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on=["fecha", "hora", "region"]</a:t>
            </a:r>
            <a:endParaRPr lang="en-US" sz="1400" dirty="0"/>
          </a:p>
        </p:txBody>
      </p:sp>
      <p:sp>
        <p:nvSpPr>
          <p:cNvPr id="12" name="Text 10"/>
          <p:cNvSpPr txBox="1"/>
          <p:nvPr/>
        </p:nvSpPr>
        <p:spPr>
          <a:xfrm>
            <a:off x="6263640" y="2473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Une por las tres columnas, como en el Lab 02.</a:t>
            </a:r>
            <a:endParaRPr lang="en-US" sz="1600" dirty="0"/>
          </a:p>
        </p:txBody>
      </p:sp>
      <p:sp>
        <p:nvSpPr>
          <p:cNvPr id="13" name="Shape 11"/>
          <p:cNvSpPr/>
          <p:nvPr/>
        </p:nvSpPr>
        <p:spPr>
          <a:xfrm>
            <a:off x="548640" y="3251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251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95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3095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suffixes=("_limpia", "_real")</a:t>
            </a:r>
            <a:endParaRPr lang="en-US" sz="1400" dirty="0"/>
          </a:p>
        </p:txBody>
      </p:sp>
      <p:sp>
        <p:nvSpPr>
          <p:cNvPr id="17" name="Text 15"/>
          <p:cNvSpPr txBox="1"/>
          <p:nvPr/>
        </p:nvSpPr>
        <p:spPr>
          <a:xfrm>
            <a:off x="6263640" y="3095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Las dos tablas tienen una columna mwh. Para no confundirlas, se les agrega un apellido.</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pone al lado de cada hora limpia su valor real, con columnas mwh_limpia y mwh_real.</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6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bien quedó la limpieza?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auditoria.loc[auditoria[</a:t>
            </a:r>
            <a:pPr indent="0" marL="0">
              <a:buNone/>
            </a:pPr>
            <a:r>
              <a:rPr lang="en-US" sz="1600" dirty="0">
                <a:solidFill>
                  <a:srgbClr val="A31515"/>
                </a:solidFill>
                <a:latin typeface="Courier New" pitchFamily="34" charset="0"/>
                <a:ea typeface="Courier New" pitchFamily="34" charset="-122"/>
                <a:cs typeface="Courier New" pitchFamily="34" charset="-120"/>
              </a:rPr>
              <a:t>"fue_nulo"</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"grupo"</a:t>
            </a:r>
            <a:pPr indent="0" marL="0">
              <a:buNone/>
            </a:pPr>
            <a:r>
              <a:rPr lang="en-US" sz="1600" dirty="0">
                <a:solidFill>
                  <a:srgbClr val="202124"/>
                </a:solidFill>
                <a:latin typeface="Courier New" pitchFamily="34" charset="0"/>
                <a:ea typeface="Courier New" pitchFamily="34" charset="-122"/>
                <a:cs typeface="Courier New" pitchFamily="34" charset="-120"/>
              </a:rPr>
              <a:t>] = </a:t>
            </a:r>
            <a:pPr indent="0" marL="0">
              <a:buNone/>
            </a:pPr>
            <a:r>
              <a:rPr lang="en-US" sz="1600" dirty="0">
                <a:solidFill>
                  <a:srgbClr val="A31515"/>
                </a:solidFill>
                <a:latin typeface="Courier New" pitchFamily="34" charset="0"/>
                <a:ea typeface="Courier New" pitchFamily="34" charset="-122"/>
                <a:cs typeface="Courier New" pitchFamily="34" charset="-120"/>
              </a:rPr>
              <a:t>"se rellenó"</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auditoria["fue_nulo"]</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Las filas que venían vacías.</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"grupo"</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que se va a escribir.</a:t>
            </a:r>
            <a:endParaRPr lang="en-US" sz="1600" dirty="0"/>
          </a:p>
        </p:txBody>
      </p:sp>
      <p:sp>
        <p:nvSpPr>
          <p:cNvPr id="18" name="Shape 16"/>
          <p:cNvSpPr/>
          <p:nvPr/>
        </p:nvSpPr>
        <p:spPr>
          <a:xfrm>
            <a:off x="548640" y="356412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564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463544"/>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46354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"se rellenó"</a:t>
            </a:r>
            <a:endParaRPr lang="en-US" sz="1400" dirty="0"/>
          </a:p>
        </p:txBody>
      </p:sp>
      <p:sp>
        <p:nvSpPr>
          <p:cNvPr id="22" name="Text 20"/>
          <p:cNvSpPr txBox="1"/>
          <p:nvPr/>
        </p:nvSpPr>
        <p:spPr>
          <a:xfrm>
            <a:off x="6263640" y="346354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etiqueta que se pone en esas filas.</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 las horas que venían vacías ponles la etiqueta se rellenó.</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6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bien quedó la limpieza?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Si cambias el deslizador del Paso 5, corre ese paso y después este otra vez.</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Horas comparadas 61488</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325880" y="2304288"/>
          <a:ext cx="9144000" cy="914400"/>
        </p:xfrm>
        <a:graphic>
          <a:graphicData uri="http://schemas.openxmlformats.org/drawingml/2006/table">
            <a:tbl>
              <a:tblPr/>
              <a:tblGrid>
                <a:gridCol w="1188720"/>
                <a:gridCol w="822960"/>
                <a:gridCol w="1554480"/>
                <a:gridCol w="137160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error_promedio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error_maximo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no se tocó</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59589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se corrigió</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48.0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se rellenó</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1844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8"/>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3"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4" name="Shape 10"/>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5"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6" name="Shape 12"/>
          <p:cNvSpPr/>
          <p:nvPr/>
        </p:nvSpPr>
        <p:spPr>
          <a:xfrm>
            <a:off x="4736592" y="6062472"/>
            <a:ext cx="1714500" cy="566928"/>
          </a:xfrm>
          <a:prstGeom prst="roundRect">
            <a:avLst>
              <a:gd name="adj" fmla="val 11290"/>
            </a:avLst>
          </a:prstGeom>
          <a:solidFill>
            <a:srgbClr val="E8F0FE"/>
          </a:solidFill>
          <a:ln w="28575">
            <a:solidFill>
              <a:srgbClr val="1A73E8"/>
            </a:solidFill>
            <a:prstDash val="solid"/>
          </a:ln>
        </p:spPr>
      </p:sp>
      <p:sp>
        <p:nvSpPr>
          <p:cNvPr id="17" name="Text 13"/>
          <p:cNvSpPr txBox="1"/>
          <p:nvPr/>
        </p:nvSpPr>
        <p:spPr>
          <a:xfrm>
            <a:off x="48280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8" name="Shape 14"/>
          <p:cNvSpPr/>
          <p:nvPr/>
        </p:nvSpPr>
        <p:spPr>
          <a:xfrm>
            <a:off x="6588252" y="6062472"/>
            <a:ext cx="1714500" cy="566928"/>
          </a:xfrm>
          <a:prstGeom prst="roundRect">
            <a:avLst>
              <a:gd name="adj" fmla="val 11290"/>
            </a:avLst>
          </a:prstGeom>
          <a:solidFill>
            <a:srgbClr val="FEF3D6"/>
          </a:solidFill>
          <a:ln w="25400">
            <a:solidFill>
              <a:srgbClr val="F9AB00"/>
            </a:solidFill>
            <a:prstDash val="solid"/>
          </a:ln>
        </p:spPr>
      </p:sp>
      <p:sp>
        <p:nvSpPr>
          <p:cNvPr id="19" name="Text 15"/>
          <p:cNvSpPr txBox="1"/>
          <p:nvPr/>
        </p:nvSpPr>
        <p:spPr>
          <a:xfrm>
            <a:off x="667969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0" name="Shape 16"/>
          <p:cNvSpPr/>
          <p:nvPr/>
        </p:nvSpPr>
        <p:spPr>
          <a:xfrm>
            <a:off x="8439912" y="6062472"/>
            <a:ext cx="1714500" cy="566928"/>
          </a:xfrm>
          <a:prstGeom prst="roundRect">
            <a:avLst>
              <a:gd name="adj" fmla="val 11290"/>
            </a:avLst>
          </a:prstGeom>
          <a:solidFill>
            <a:srgbClr val="FEF3D6"/>
          </a:solidFill>
          <a:ln w="25400">
            <a:solidFill>
              <a:srgbClr val="F9AB00"/>
            </a:solidFill>
            <a:prstDash val="solid"/>
          </a:ln>
        </p:spPr>
      </p:sp>
      <p:sp>
        <p:nvSpPr>
          <p:cNvPr id="21" name="Text 17"/>
          <p:cNvSpPr txBox="1"/>
          <p:nvPr/>
        </p:nvSpPr>
        <p:spPr>
          <a:xfrm>
            <a:off x="853135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22" name="Text 18"/>
          <p:cNvSpPr txBox="1"/>
          <p:nvPr/>
        </p:nvSpPr>
        <p:spPr>
          <a:xfrm>
            <a:off x="1029157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
        <p:nvSpPr>
          <p:cNvPr id="23"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Las horas que no se tocaron tienen error cero. El error está justo donde intervinimos.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6 de 6</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bien quedó la limpieza?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Esto no se puede hacer en el trabajo real.</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Ahí no existe el archivo original. Lo que sí se puede es marcar qué horas se rellenaron y cuáles se corrigieron.</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1714500"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48280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7" name="Shape 14"/>
          <p:cNvSpPr/>
          <p:nvPr/>
        </p:nvSpPr>
        <p:spPr>
          <a:xfrm>
            <a:off x="6588252" y="6062472"/>
            <a:ext cx="1714500"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667969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9" name="Shape 16"/>
          <p:cNvSpPr/>
          <p:nvPr/>
        </p:nvSpPr>
        <p:spPr>
          <a:xfrm>
            <a:off x="8439912" y="6062472"/>
            <a:ext cx="1714500"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853135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21" name="Text 18"/>
          <p:cNvSpPr txBox="1"/>
          <p:nvPr/>
        </p:nvSpPr>
        <p:spPr>
          <a:xfrm>
            <a:off x="1029157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9AB00"/>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0B3D62"/>
                </a:solidFill>
                <a:latin typeface="Calibri" pitchFamily="34" charset="0"/>
                <a:ea typeface="Calibri" pitchFamily="34" charset="-122"/>
                <a:cs typeface="Calibri" pitchFamily="34" charset="-120"/>
              </a:rPr>
              <a:t>PARTE 2 · PARA LA CASA</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0B3D62"/>
                </a:solidFill>
                <a:latin typeface="Calibri" pitchFamily="34" charset="0"/>
                <a:ea typeface="Calibri" pitchFamily="34" charset="-122"/>
                <a:cs typeface="Calibri" pitchFamily="34" charset="-120"/>
              </a:rPr>
              <a:t>No se ve en clase. Cada estudio viene explicado en las láminas que siguen, con la guía como apoyo.</a:t>
            </a:r>
            <a:endParaRPr lang="en-US" sz="2000" dirty="0"/>
          </a:p>
        </p:txBody>
      </p:sp>
      <p:sp>
        <p:nvSpPr>
          <p:cNvPr id="4" name="Shape 2"/>
          <p:cNvSpPr/>
          <p:nvPr/>
        </p:nvSpPr>
        <p:spPr>
          <a:xfrm>
            <a:off x="731520" y="2240280"/>
            <a:ext cx="548640" cy="548640"/>
          </a:xfrm>
          <a:prstGeom prst="ellipse">
            <a:avLst/>
          </a:prstGeom>
          <a:solidFill>
            <a:srgbClr val="0B3D62"/>
          </a:solidFill>
          <a:ln w="12700">
            <a:solidFill>
              <a:srgbClr val="0B3D62"/>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1   </a:t>
            </a:r>
            <a:pPr indent="0" marL="0">
              <a:buNone/>
            </a:pPr>
            <a:r>
              <a:rPr lang="en-US" sz="2400" dirty="0">
                <a:solidFill>
                  <a:srgbClr val="0B3D62"/>
                </a:solidFill>
                <a:latin typeface="Calibri" pitchFamily="34" charset="0"/>
                <a:ea typeface="Calibri" pitchFamily="34" charset="-122"/>
                <a:cs typeface="Calibri" pitchFamily="34" charset="-120"/>
              </a:rPr>
              <a:t>¿Qué tiene de raro?</a:t>
            </a:r>
            <a:endParaRPr lang="en-US" sz="2400" dirty="0"/>
          </a:p>
        </p:txBody>
      </p:sp>
      <p:sp>
        <p:nvSpPr>
          <p:cNvPr id="7" name="Shape 5"/>
          <p:cNvSpPr/>
          <p:nvPr/>
        </p:nvSpPr>
        <p:spPr>
          <a:xfrm>
            <a:off x="731520" y="3017520"/>
            <a:ext cx="548640" cy="548640"/>
          </a:xfrm>
          <a:prstGeom prst="ellipse">
            <a:avLst/>
          </a:prstGeom>
          <a:solidFill>
            <a:srgbClr val="0B3D62"/>
          </a:solidFill>
          <a:ln w="12700">
            <a:solidFill>
              <a:srgbClr val="0B3D62"/>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2   </a:t>
            </a:r>
            <a:pPr indent="0" marL="0">
              <a:buNone/>
            </a:pPr>
            <a:r>
              <a:rPr lang="en-US" sz="2400" dirty="0">
                <a:solidFill>
                  <a:srgbClr val="0B3D62"/>
                </a:solidFill>
                <a:latin typeface="Calibri" pitchFamily="34" charset="0"/>
                <a:ea typeface="Calibri" pitchFamily="34" charset="-122"/>
                <a:cs typeface="Calibri" pitchFamily="34" charset="-120"/>
              </a:rPr>
              <a:t>Tu turno, mira cómo está escrita cada región</a:t>
            </a:r>
            <a:endParaRPr lang="en-US" sz="2400" dirty="0"/>
          </a:p>
        </p:txBody>
      </p:sp>
      <p:sp>
        <p:nvSpPr>
          <p:cNvPr id="10" name="Shape 8"/>
          <p:cNvSpPr/>
          <p:nvPr/>
        </p:nvSpPr>
        <p:spPr>
          <a:xfrm>
            <a:off x="731520" y="3794760"/>
            <a:ext cx="548640" cy="548640"/>
          </a:xfrm>
          <a:prstGeom prst="ellipse">
            <a:avLst/>
          </a:prstGeom>
          <a:solidFill>
            <a:srgbClr val="0B3D62"/>
          </a:solidFill>
          <a:ln w="12700">
            <a:solidFill>
              <a:srgbClr val="0B3D62"/>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3   </a:t>
            </a:r>
            <a:pPr indent="0" marL="0">
              <a:buNone/>
            </a:pPr>
            <a:r>
              <a:rPr lang="en-US" sz="2400" dirty="0">
                <a:solidFill>
                  <a:srgbClr val="0B3D62"/>
                </a:solidFill>
                <a:latin typeface="Calibri" pitchFamily="34" charset="0"/>
                <a:ea typeface="Calibri" pitchFamily="34" charset="-122"/>
                <a:cs typeface="Calibri" pitchFamily="34" charset="-120"/>
              </a:rPr>
              <a:t>¿Cuánto consume una región en una hora normal?</a:t>
            </a:r>
            <a:endParaRPr lang="en-US" sz="2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tiene de raro?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los cuatro problemas que va a mostrar.</a:t>
            </a:r>
            <a:endParaRPr lang="en-US" sz="1400" dirty="0"/>
          </a:p>
        </p:txBody>
      </p:sp>
      <p:pic>
        <p:nvPicPr>
          <p:cNvPr id="6" name="Image 0" descr="../../repo/modulos/../../diag/lab03_estudio1_problemas.png">    </p:cNvPr>
          <p:cNvPicPr>
            <a:picLocks noChangeAspect="1"/>
          </p:cNvPicPr>
          <p:nvPr/>
        </p:nvPicPr>
        <p:blipFill>
          <a:blip r:embed="rId1"/>
          <a:stretch>
            <a:fillRect/>
          </a:stretch>
        </p:blipFill>
        <p:spPr>
          <a:xfrm>
            <a:off x="548640" y="1463040"/>
            <a:ext cx="11091672" cy="409195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3</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tiene de raro?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y lee las cuatro líneas que aparecen.</a:t>
            </a:r>
            <a:endParaRPr lang="en-US" sz="1400" dirty="0"/>
          </a:p>
        </p:txBody>
      </p:sp>
      <p:sp>
        <p:nvSpPr>
          <p:cNvPr id="7" name="Shape 4"/>
          <p:cNvSpPr/>
          <p:nvPr/>
        </p:nvSpPr>
        <p:spPr>
          <a:xfrm>
            <a:off x="548640" y="1481328"/>
            <a:ext cx="11091672" cy="1714500"/>
          </a:xfrm>
          <a:prstGeom prst="roundRect">
            <a:avLst>
              <a:gd name="adj" fmla="val 320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5316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"Regiones distintas     "</a:t>
            </a:r>
            <a:pPr indent="0" marL="0">
              <a:buNone/>
            </a:pPr>
            <a:r>
              <a:rPr lang="en-US" sz="1300" dirty="0">
                <a:solidFill>
                  <a:srgbClr val="202124"/>
                </a:solidFill>
                <a:latin typeface="Courier New" pitchFamily="34" charset="0"/>
                <a:ea typeface="Courier New" pitchFamily="34" charset="-122"/>
                <a:cs typeface="Courier New" pitchFamily="34" charset="-120"/>
              </a:rPr>
              <a:t>, sucia[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].nunique(), </a:t>
            </a:r>
            <a:pPr indent="0" marL="0">
              <a:buNone/>
            </a:pPr>
            <a:r>
              <a:rPr lang="en-US" sz="1300" dirty="0">
                <a:solidFill>
                  <a:srgbClr val="A31515"/>
                </a:solidFill>
                <a:latin typeface="Courier New" pitchFamily="34" charset="0"/>
                <a:ea typeface="Courier New" pitchFamily="34" charset="-122"/>
                <a:cs typeface="Courier New" pitchFamily="34" charset="-120"/>
              </a:rPr>
              <a:t>" y deberían ser 7"</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"Horas sin dato de mwh  "</a:t>
            </a:r>
            <a:pPr indent="0" marL="0">
              <a:buNone/>
            </a:pPr>
            <a:r>
              <a:rPr lang="en-US" sz="1300" dirty="0">
                <a:solidFill>
                  <a:srgbClr val="202124"/>
                </a:solidFill>
                <a:latin typeface="Courier New" pitchFamily="34" charset="0"/>
                <a:ea typeface="Courier New" pitchFamily="34" charset="-122"/>
                <a:cs typeface="Courier New" pitchFamily="34" charset="-120"/>
              </a:rPr>
              <a:t>, sucia[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].isna().sum())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repr muestra el valor con comillas cuando es texto.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"Primer valor de mwh    "</a:t>
            </a:r>
            <a:pPr indent="0" marL="0">
              <a:buNone/>
            </a:pPr>
            <a:r>
              <a:rPr lang="en-US" sz="1300" dirty="0">
                <a:solidFill>
                  <a:srgbClr val="202124"/>
                </a:solidFill>
                <a:latin typeface="Courier New" pitchFamily="34" charset="0"/>
                <a:ea typeface="Courier New" pitchFamily="34" charset="-122"/>
                <a:cs typeface="Courier New" pitchFamily="34" charset="-120"/>
              </a:rPr>
              <a:t>, repr(sucia[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].iloc[0]), </a:t>
            </a:r>
            <a:pPr indent="0" marL="0">
              <a:buNone/>
            </a:pPr>
            <a:r>
              <a:rPr lang="en-US" sz="1300" dirty="0">
                <a:solidFill>
                  <a:srgbClr val="A31515"/>
                </a:solidFill>
                <a:latin typeface="Courier New" pitchFamily="34" charset="0"/>
                <a:ea typeface="Courier New" pitchFamily="34" charset="-122"/>
                <a:cs typeface="Courier New" pitchFamily="34" charset="-120"/>
              </a:rPr>
              <a:t>" es texto, no número"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"Primera fecha          "</a:t>
            </a:r>
            <a:pPr indent="0" marL="0">
              <a:buNone/>
            </a:pPr>
            <a:r>
              <a:rPr lang="en-US" sz="1300" dirty="0">
                <a:solidFill>
                  <a:srgbClr val="202124"/>
                </a:solidFill>
                <a:latin typeface="Courier New" pitchFamily="34" charset="0"/>
                <a:ea typeface="Courier New" pitchFamily="34" charset="-122"/>
                <a:cs typeface="Courier New" pitchFamily="34" charset="-120"/>
              </a:rPr>
              <a:t>, repr(sucia[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].iloc[0]), </a:t>
            </a:r>
            <a:pPr indent="0" marL="0">
              <a:buNone/>
            </a:pPr>
            <a:r>
              <a:rPr lang="en-US" sz="1300" dirty="0">
                <a:solidFill>
                  <a:srgbClr val="A31515"/>
                </a:solidFill>
                <a:latin typeface="Courier New" pitchFamily="34" charset="0"/>
                <a:ea typeface="Courier New" pitchFamily="34" charset="-122"/>
                <a:cs typeface="Courier New" pitchFamily="34" charset="-120"/>
              </a:rPr>
              <a:t>" es texto, no 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32324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15" name="Shape 12"/>
          <p:cNvSpPr/>
          <p:nvPr/>
        </p:nvSpPr>
        <p:spPr>
          <a:xfrm>
            <a:off x="240030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4917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7" name="Shape 14"/>
          <p:cNvSpPr/>
          <p:nvPr/>
        </p:nvSpPr>
        <p:spPr>
          <a:xfrm>
            <a:off x="425196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3434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9" name="Shape 16"/>
          <p:cNvSpPr/>
          <p:nvPr/>
        </p:nvSpPr>
        <p:spPr>
          <a:xfrm>
            <a:off x="6103620" y="6062472"/>
            <a:ext cx="238658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619506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1" name="Text 18"/>
          <p:cNvSpPr txBox="1"/>
          <p:nvPr/>
        </p:nvSpPr>
        <p:spPr>
          <a:xfrm>
            <a:off x="862736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tiene de raro?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repr(sucia[</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].iloc[0])</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sucia["mwh"]</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mwh.</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.iloc[0]</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valor de la primera fila. iloc elige por posición y Python cuenta desde 0.</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repr( ... )</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Muestra el valor tal como lo guarda Python. Si es texto aparece entre comillas.</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muestra el primer valor de mwh con comillas, para ver que es texto.</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tiene de raro?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sucia[</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].isna().sum()</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.isna()</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Marca con verdadero cada celda vacía.</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.sum()</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Suma los verdaderos. Verdadero vale 1 y falso 0, así que la suma cuenta.</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cuántas celdas vacías hay en la columna mwh.</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tiene de raro?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y lee las cuatro líneas que aparecen.</a:t>
            </a:r>
            <a:endParaRPr lang="en-US" sz="1400" dirty="0"/>
          </a:p>
        </p:txBody>
      </p:sp>
      <p:sp>
        <p:nvSpPr>
          <p:cNvPr id="6" name="Shape 4"/>
          <p:cNvSpPr/>
          <p:nvPr/>
        </p:nvSpPr>
        <p:spPr>
          <a:xfrm>
            <a:off x="548640" y="1481328"/>
            <a:ext cx="11091672" cy="1714500"/>
          </a:xfrm>
          <a:prstGeom prst="roundRect">
            <a:avLst>
              <a:gd name="adj" fmla="val 3200"/>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5316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"Regiones distintas     "</a:t>
            </a:r>
            <a:pPr indent="0" marL="0">
              <a:buNone/>
            </a:pPr>
            <a:r>
              <a:rPr lang="en-US" sz="1300" dirty="0">
                <a:solidFill>
                  <a:srgbClr val="202124"/>
                </a:solidFill>
                <a:latin typeface="Courier New" pitchFamily="34" charset="0"/>
                <a:ea typeface="Courier New" pitchFamily="34" charset="-122"/>
                <a:cs typeface="Courier New" pitchFamily="34" charset="-120"/>
              </a:rPr>
              <a:t>, sucia[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].nunique(), </a:t>
            </a:r>
            <a:pPr indent="0" marL="0">
              <a:buNone/>
            </a:pPr>
            <a:r>
              <a:rPr lang="en-US" sz="1300" dirty="0">
                <a:solidFill>
                  <a:srgbClr val="A31515"/>
                </a:solidFill>
                <a:latin typeface="Courier New" pitchFamily="34" charset="0"/>
                <a:ea typeface="Courier New" pitchFamily="34" charset="-122"/>
                <a:cs typeface="Courier New" pitchFamily="34" charset="-120"/>
              </a:rPr>
              <a:t>" y deberían ser 7"</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"Horas sin dato de mwh  "</a:t>
            </a:r>
            <a:pPr indent="0" marL="0">
              <a:buNone/>
            </a:pPr>
            <a:r>
              <a:rPr lang="en-US" sz="1300" dirty="0">
                <a:solidFill>
                  <a:srgbClr val="202124"/>
                </a:solidFill>
                <a:latin typeface="Courier New" pitchFamily="34" charset="0"/>
                <a:ea typeface="Courier New" pitchFamily="34" charset="-122"/>
                <a:cs typeface="Courier New" pitchFamily="34" charset="-120"/>
              </a:rPr>
              <a:t>, sucia[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].isna().sum())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repr muestra el valor con comillas cuando es texto.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"Primer valor de mwh    "</a:t>
            </a:r>
            <a:pPr indent="0" marL="0">
              <a:buNone/>
            </a:pPr>
            <a:r>
              <a:rPr lang="en-US" sz="1300" dirty="0">
                <a:solidFill>
                  <a:srgbClr val="202124"/>
                </a:solidFill>
                <a:latin typeface="Courier New" pitchFamily="34" charset="0"/>
                <a:ea typeface="Courier New" pitchFamily="34" charset="-122"/>
                <a:cs typeface="Courier New" pitchFamily="34" charset="-120"/>
              </a:rPr>
              <a:t>, repr(sucia[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].iloc[0]), </a:t>
            </a:r>
            <a:pPr indent="0" marL="0">
              <a:buNone/>
            </a:pPr>
            <a:r>
              <a:rPr lang="en-US" sz="1300" dirty="0">
                <a:solidFill>
                  <a:srgbClr val="A31515"/>
                </a:solidFill>
                <a:latin typeface="Courier New" pitchFamily="34" charset="0"/>
                <a:ea typeface="Courier New" pitchFamily="34" charset="-122"/>
                <a:cs typeface="Courier New" pitchFamily="34" charset="-120"/>
              </a:rPr>
              <a:t>" es texto, no número"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"Primera fecha          "</a:t>
            </a:r>
            <a:pPr indent="0" marL="0">
              <a:buNone/>
            </a:pPr>
            <a:r>
              <a:rPr lang="en-US" sz="1300" dirty="0">
                <a:solidFill>
                  <a:srgbClr val="202124"/>
                </a:solidFill>
                <a:latin typeface="Courier New" pitchFamily="34" charset="0"/>
                <a:ea typeface="Courier New" pitchFamily="34" charset="-122"/>
                <a:cs typeface="Courier New" pitchFamily="34" charset="-120"/>
              </a:rPr>
              <a:t>, repr(sucia[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].iloc[0]), </a:t>
            </a:r>
            <a:pPr indent="0" marL="0">
              <a:buNone/>
            </a:pPr>
            <a:r>
              <a:rPr lang="en-US" sz="1300" dirty="0">
                <a:solidFill>
                  <a:srgbClr val="A31515"/>
                </a:solidFill>
                <a:latin typeface="Courier New" pitchFamily="34" charset="0"/>
                <a:ea typeface="Courier New" pitchFamily="34" charset="-122"/>
                <a:cs typeface="Courier New" pitchFamily="34" charset="-120"/>
              </a:rPr>
              <a:t>" es texto, no 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Shape 8"/>
          <p:cNvSpPr/>
          <p:nvPr/>
        </p:nvSpPr>
        <p:spPr>
          <a:xfrm>
            <a:off x="1325880" y="3305556"/>
            <a:ext cx="10314432" cy="987552"/>
          </a:xfrm>
          <a:prstGeom prst="rect">
            <a:avLst/>
          </a:prstGeom>
          <a:solidFill>
            <a:srgbClr val="FFFFFF"/>
          </a:solidFill>
          <a:ln w="12700">
            <a:solidFill>
              <a:srgbClr val="DADCE0"/>
            </a:solidFill>
            <a:prstDash val="solid"/>
          </a:ln>
        </p:spPr>
      </p:sp>
      <p:sp>
        <p:nvSpPr>
          <p:cNvPr id="11" name="Text 9"/>
          <p:cNvSpPr txBox="1"/>
          <p:nvPr/>
        </p:nvSpPr>
        <p:spPr>
          <a:xfrm>
            <a:off x="1463040" y="3378708"/>
            <a:ext cx="10085832" cy="85953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Regiones distintas      49  y deberían ser 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Horas sin dato de mwh   1846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Primer valor de mwh     '51,95'  es texto, no número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Primera fecha           '01/01/2024'  es texto, no fecha</a:t>
            </a:r>
            <a:endParaRPr lang="en-US" sz="1200" dirty="0"/>
          </a:p>
        </p:txBody>
      </p:sp>
      <p:sp>
        <p:nvSpPr>
          <p:cNvPr id="12" name="Shape 10"/>
          <p:cNvSpPr/>
          <p:nvPr/>
        </p:nvSpPr>
        <p:spPr>
          <a:xfrm>
            <a:off x="1325880" y="4430268"/>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4430268"/>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Lo que se ve bien en una planilla puede ser texto para Python.  </a:t>
            </a:r>
            <a:pPr indent="0" marL="0">
              <a:buNone/>
            </a:pPr>
            <a:r>
              <a:rPr lang="en-US" sz="1400" dirty="0">
                <a:solidFill>
                  <a:srgbClr val="202124"/>
                </a:solidFill>
                <a:latin typeface="Calibri" pitchFamily="34" charset="0"/>
                <a:ea typeface="Calibri" pitchFamily="34" charset="-122"/>
                <a:cs typeface="Calibri" pitchFamily="34" charset="-120"/>
              </a:rPr>
              <a:t>repr muestra las comillas y así se nota que no es número.</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7" name="Text 14"/>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8" name="Shape 15"/>
          <p:cNvSpPr/>
          <p:nvPr/>
        </p:nvSpPr>
        <p:spPr>
          <a:xfrm>
            <a:off x="2400300" y="6062472"/>
            <a:ext cx="17145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24917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20" name="Shape 17"/>
          <p:cNvSpPr/>
          <p:nvPr/>
        </p:nvSpPr>
        <p:spPr>
          <a:xfrm>
            <a:off x="4251960" y="6062472"/>
            <a:ext cx="17145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43434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2" name="Shape 19"/>
          <p:cNvSpPr/>
          <p:nvPr/>
        </p:nvSpPr>
        <p:spPr>
          <a:xfrm>
            <a:off x="6103620" y="6062472"/>
            <a:ext cx="17145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61950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4" name="Shape 21"/>
          <p:cNvSpPr/>
          <p:nvPr/>
        </p:nvSpPr>
        <p:spPr>
          <a:xfrm>
            <a:off x="7955280" y="6062472"/>
            <a:ext cx="2386584"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804672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6" name="Text 23"/>
          <p:cNvSpPr txBox="1"/>
          <p:nvPr/>
        </p:nvSpPr>
        <p:spPr>
          <a:xfrm>
            <a:off x="1047902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Cuatro problemas a la vista. Regiones mal escritas, horas vacías, y números y fechas guardados como texto.</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cuántas formas de escribir una misma región hay en el archivo.</a:t>
            </a:r>
            <a:endParaRPr lang="en-US" sz="1400" dirty="0"/>
          </a:p>
        </p:txBody>
      </p:sp>
      <p:pic>
        <p:nvPicPr>
          <p:cNvPr id="6" name="Image 0" descr="../../repo/modulos/../../diag/lab03_estudio2_formas.png">    </p:cNvPr>
          <p:cNvPicPr>
            <a:picLocks noChangeAspect="1"/>
          </p:cNvPicPr>
          <p:nvPr/>
        </p:nvPicPr>
        <p:blipFill>
          <a:blip r:embed="rId1"/>
          <a:stretch>
            <a:fillRect/>
          </a:stretch>
        </p:blipFill>
        <p:spPr>
          <a:xfrm>
            <a:off x="548640" y="1463040"/>
            <a:ext cx="11091672" cy="453750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Mueve el deslizador para ver más filas y vuelve a correr la celda. Las siete primeras son las bien escritas.</a:t>
            </a:r>
            <a:endParaRPr lang="en-US" sz="1400" dirty="0"/>
          </a:p>
        </p:txBody>
      </p:sp>
      <p:sp>
        <p:nvSpPr>
          <p:cNvPr id="7" name="Shape 4"/>
          <p:cNvSpPr/>
          <p:nvPr/>
        </p:nvSpPr>
        <p:spPr>
          <a:xfrm>
            <a:off x="548640" y="1481328"/>
            <a:ext cx="11091672" cy="1303020"/>
          </a:xfrm>
          <a:prstGeom prst="roundRect">
            <a:avLst>
              <a:gd name="adj" fmla="val 4211"/>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11201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cuantas = 12 </a:t>
            </a:r>
            <a:pPr indent="0" marL="0">
              <a:buNone/>
            </a:pPr>
            <a:r>
              <a:rPr lang="en-US" sz="1300" dirty="0">
                <a:solidFill>
                  <a:srgbClr val="80868B"/>
                </a:solidFill>
                <a:latin typeface="Courier New" pitchFamily="34" charset="0"/>
                <a:ea typeface="Courier New" pitchFamily="34" charset="-122"/>
                <a:cs typeface="Courier New" pitchFamily="34" charset="-120"/>
              </a:rPr>
              <a:t>#@param {type:"slider", min:5, max:49, step:1}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value_counts cuenta cuántas veces aparece cada forma, de mayor a menor.</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sucia[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].value_counts().head(cuantas)</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cuantas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312766" cy="45720"/>
          </a:xfrm>
          <a:prstGeom prst="rect">
            <a:avLst/>
          </a:prstGeom>
          <a:solidFill>
            <a:srgbClr val="1A73E8"/>
          </a:solidFill>
          <a:ln w="12700">
            <a:solidFill>
              <a:srgbClr val="1A73E8"/>
            </a:solidFill>
            <a:prstDash val="solid"/>
          </a:ln>
        </p:spPr>
      </p:sp>
      <p:sp>
        <p:nvSpPr>
          <p:cNvPr id="14" name="Shape 11"/>
          <p:cNvSpPr/>
          <p:nvPr/>
        </p:nvSpPr>
        <p:spPr>
          <a:xfrm>
            <a:off x="9054430" y="1938528"/>
            <a:ext cx="173736" cy="173736"/>
          </a:xfrm>
          <a:prstGeom prst="ellipse">
            <a:avLst/>
          </a:prstGeom>
          <a:solidFill>
            <a:srgbClr val="1A73E8"/>
          </a:solidFill>
          <a:ln w="12700">
            <a:solidFill>
              <a:srgbClr val="1A73E8"/>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12</a:t>
            </a:r>
            <a:endParaRPr lang="en-US" sz="1200" dirty="0"/>
          </a:p>
        </p:txBody>
      </p:sp>
      <p:sp>
        <p:nvSpPr>
          <p:cNvPr id="16" name="Text 13"/>
          <p:cNvSpPr txBox="1"/>
          <p:nvPr/>
        </p:nvSpPr>
        <p:spPr>
          <a:xfrm>
            <a:off x="1325880" y="28209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7"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5"/>
          <p:cNvSpPr/>
          <p:nvPr/>
        </p:nvSpPr>
        <p:spPr>
          <a:xfrm>
            <a:off x="548640" y="6062472"/>
            <a:ext cx="17145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20" name="Shape 17"/>
          <p:cNvSpPr/>
          <p:nvPr/>
        </p:nvSpPr>
        <p:spPr>
          <a:xfrm>
            <a:off x="2400300" y="6062472"/>
            <a:ext cx="17145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24917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2" name="Shape 19"/>
          <p:cNvSpPr/>
          <p:nvPr/>
        </p:nvSpPr>
        <p:spPr>
          <a:xfrm>
            <a:off x="4251960" y="6062472"/>
            <a:ext cx="17145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43434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4" name="Shape 21"/>
          <p:cNvSpPr/>
          <p:nvPr/>
        </p:nvSpPr>
        <p:spPr>
          <a:xfrm>
            <a:off x="6103620" y="6062472"/>
            <a:ext cx="2386584"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619506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6" name="Text 23"/>
          <p:cNvSpPr txBox="1"/>
          <p:nvPr/>
        </p:nvSpPr>
        <p:spPr>
          <a:xfrm>
            <a:off x="862736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sucia[</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].value_counts().head(cuantas)</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sucia["region"]</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región del archivo tal como llegó.</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.value_counts()</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Cuenta cuántas veces aparece cada valor distinto, de la más frecuente a la menos.</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.head(cuantas)</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Muestra solo las primeras, tantas como diga el deslizador.</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cuenta cuántas filas tiene cada forma de escribir la región y muestra las primeras.</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Mueve el deslizador para ver más filas y vuelve a correr la celda. Las siete primeras son las bien escritas.</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2999232"/>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87121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Valparaíso       8714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Antofagasta      8713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Coquimbo         8707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Metropolitana    8698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Atacama          8693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Los Lagos        8686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Biobío           8683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biobío             26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BIOBÍO             21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los lagos          21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metropolitana      20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atacama            19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count, dtype: int64</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12</a:t>
            </a:r>
            <a:endParaRPr lang="en-US" sz="1200" dirty="0"/>
          </a:p>
        </p:txBody>
      </p:sp>
      <p:sp>
        <p:nvSpPr>
          <p:cNvPr id="15" name="Shape 12"/>
          <p:cNvSpPr/>
          <p:nvPr/>
        </p:nvSpPr>
        <p:spPr>
          <a:xfrm>
            <a:off x="368046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17" name="Shape 14"/>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9" name="Shape 16"/>
          <p:cNvSpPr/>
          <p:nvPr/>
        </p:nvSpPr>
        <p:spPr>
          <a:xfrm>
            <a:off x="7383780" y="6062472"/>
            <a:ext cx="17145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47522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1" name="Text 18"/>
          <p:cNvSpPr txBox="1"/>
          <p:nvPr/>
        </p:nvSpPr>
        <p:spPr>
          <a:xfrm>
            <a:off x="92354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Las siete primeras están bien escritas. Desde la octava aparecen las variantes.</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16 y se vuelve a correr la celda.</a:t>
            </a:r>
            <a:endParaRPr lang="en-US" sz="1400" dirty="0"/>
          </a:p>
        </p:txBody>
      </p:sp>
      <p:sp>
        <p:nvSpPr>
          <p:cNvPr id="7" name="Shape 4"/>
          <p:cNvSpPr/>
          <p:nvPr/>
        </p:nvSpPr>
        <p:spPr>
          <a:xfrm>
            <a:off x="548640" y="1481328"/>
            <a:ext cx="11091672" cy="1303020"/>
          </a:xfrm>
          <a:prstGeom prst="roundRect">
            <a:avLst>
              <a:gd name="adj" fmla="val 4211"/>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11201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cuantas = 16 </a:t>
            </a:r>
            <a:pPr indent="0" marL="0">
              <a:buNone/>
            </a:pPr>
            <a:r>
              <a:rPr lang="en-US" sz="1300" dirty="0">
                <a:solidFill>
                  <a:srgbClr val="80868B"/>
                </a:solidFill>
                <a:latin typeface="Courier New" pitchFamily="34" charset="0"/>
                <a:ea typeface="Courier New" pitchFamily="34" charset="-122"/>
                <a:cs typeface="Courier New" pitchFamily="34" charset="-120"/>
              </a:rPr>
              <a:t>#@param {type:"slider", min:5, max:49, step:1}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value_counts cuenta cuántas veces aparece cada forma, de mayor a menor.</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sucia[</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].value_counts().head(cuantas)</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cuantas</a:t>
            </a:r>
            <a:endParaRPr lang="en-US" sz="1100" dirty="0"/>
          </a:p>
        </p:txBody>
      </p:sp>
      <p:sp>
        <p:nvSpPr>
          <p:cNvPr id="12"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3" name="Shape 10"/>
          <p:cNvSpPr/>
          <p:nvPr/>
        </p:nvSpPr>
        <p:spPr>
          <a:xfrm>
            <a:off x="8823960" y="2002536"/>
            <a:ext cx="491490" cy="45720"/>
          </a:xfrm>
          <a:prstGeom prst="rect">
            <a:avLst/>
          </a:prstGeom>
          <a:solidFill>
            <a:srgbClr val="1A73E8"/>
          </a:solidFill>
          <a:ln w="12700">
            <a:solidFill>
              <a:srgbClr val="1A73E8"/>
            </a:solidFill>
            <a:prstDash val="solid"/>
          </a:ln>
        </p:spPr>
      </p:sp>
      <p:sp>
        <p:nvSpPr>
          <p:cNvPr id="14" name="Shape 11"/>
          <p:cNvSpPr/>
          <p:nvPr/>
        </p:nvSpPr>
        <p:spPr>
          <a:xfrm>
            <a:off x="9233154" y="1938528"/>
            <a:ext cx="173736" cy="173736"/>
          </a:xfrm>
          <a:prstGeom prst="ellipse">
            <a:avLst/>
          </a:prstGeom>
          <a:solidFill>
            <a:srgbClr val="1A73E8"/>
          </a:solidFill>
          <a:ln w="25400">
            <a:solidFill>
              <a:srgbClr val="F9AB00"/>
            </a:solidFill>
            <a:prstDash val="solid"/>
          </a:ln>
        </p:spPr>
      </p:sp>
      <p:sp>
        <p:nvSpPr>
          <p:cNvPr id="15" name="Text 12"/>
          <p:cNvSpPr txBox="1"/>
          <p:nvPr/>
        </p:nvSpPr>
        <p:spPr>
          <a:xfrm>
            <a:off x="10881360" y="1892808"/>
            <a:ext cx="594360" cy="274320"/>
          </a:xfrm>
          <a:prstGeom prst="rect">
            <a:avLst/>
          </a:prstGeom>
          <a:noFill/>
          <a:ln/>
        </p:spPr>
        <p:txBody>
          <a:bodyPr wrap="square" lIns="0" tIns="0" rIns="0" bIns="0" rtlCol="0" anchor="ctr"/>
          <a:lstStyle/>
          <a:p>
            <a:pPr indent="0" marL="0">
              <a:buNone/>
            </a:pPr>
            <a:r>
              <a:rPr lang="en-US" sz="1200" b="1" dirty="0">
                <a:solidFill>
                  <a:srgbClr val="1A73E8"/>
                </a:solidFill>
                <a:latin typeface="Calibri" pitchFamily="34" charset="0"/>
                <a:ea typeface="Calibri" pitchFamily="34" charset="-122"/>
                <a:cs typeface="Calibri" pitchFamily="34" charset="-120"/>
              </a:rPr>
              <a:t>16</a:t>
            </a:r>
            <a:endParaRPr lang="en-US" sz="1200" dirty="0"/>
          </a:p>
        </p:txBody>
      </p:sp>
      <p:sp>
        <p:nvSpPr>
          <p:cNvPr id="16" name="Text 13"/>
          <p:cNvSpPr txBox="1"/>
          <p:nvPr/>
        </p:nvSpPr>
        <p:spPr>
          <a:xfrm>
            <a:off x="1325880" y="28209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7"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5"/>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12</a:t>
            </a:r>
            <a:endParaRPr lang="en-US" sz="1200" dirty="0"/>
          </a:p>
        </p:txBody>
      </p:sp>
      <p:sp>
        <p:nvSpPr>
          <p:cNvPr id="20" name="Shape 17"/>
          <p:cNvSpPr/>
          <p:nvPr/>
        </p:nvSpPr>
        <p:spPr>
          <a:xfrm>
            <a:off x="1828800" y="6062472"/>
            <a:ext cx="17145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22" name="Shape 19"/>
          <p:cNvSpPr/>
          <p:nvPr/>
        </p:nvSpPr>
        <p:spPr>
          <a:xfrm>
            <a:off x="3680460" y="6062472"/>
            <a:ext cx="1714500"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4" name="Shape 21"/>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6" name="Shape 23"/>
          <p:cNvSpPr/>
          <p:nvPr/>
        </p:nvSpPr>
        <p:spPr>
          <a:xfrm>
            <a:off x="7383780" y="6062472"/>
            <a:ext cx="2386584" cy="566928"/>
          </a:xfrm>
          <a:prstGeom prst="roundRect">
            <a:avLst>
              <a:gd name="adj" fmla="val 11290"/>
            </a:avLst>
          </a:prstGeom>
          <a:solidFill>
            <a:srgbClr val="F1F3F4"/>
          </a:solidFill>
          <a:ln w="12700">
            <a:solidFill>
              <a:srgbClr val="DADCE0"/>
            </a:solidFill>
            <a:prstDash val="solid"/>
          </a:ln>
        </p:spPr>
      </p:sp>
      <p:sp>
        <p:nvSpPr>
          <p:cNvPr id="27" name="Text 24"/>
          <p:cNvSpPr txBox="1"/>
          <p:nvPr/>
        </p:nvSpPr>
        <p:spPr>
          <a:xfrm>
            <a:off x="747522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8" name="Text 25"/>
          <p:cNvSpPr txBox="1"/>
          <p:nvPr/>
        </p:nvSpPr>
        <p:spPr>
          <a:xfrm>
            <a:off x="990752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
        <p:nvSpPr>
          <p:cNvPr id="29" name="Text 26"/>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16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03904"/>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367588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Valparaíso        8714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Antofagasta       8713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Coquimbo          8707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Metropolitana     8698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Atacama           8693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Los Lagos         8686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Biobío            8683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biobío              26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BIOBÍO              21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los lagos           21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metropolitana       20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atacama             19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ATACAMA             18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Atacama             18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Coquimbo           18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Metropolitana       17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count, dtype: int64</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16</a:t>
            </a:r>
            <a:endParaRPr lang="en-US" sz="1200" dirty="0"/>
          </a:p>
        </p:txBody>
      </p:sp>
      <p:sp>
        <p:nvSpPr>
          <p:cNvPr id="15" name="Shape 12"/>
          <p:cNvSpPr/>
          <p:nvPr/>
        </p:nvSpPr>
        <p:spPr>
          <a:xfrm>
            <a:off x="368046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17" name="Shape 14"/>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9" name="Shape 16"/>
          <p:cNvSpPr/>
          <p:nvPr/>
        </p:nvSpPr>
        <p:spPr>
          <a:xfrm>
            <a:off x="7383780" y="6062472"/>
            <a:ext cx="17145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47522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1" name="Text 18"/>
          <p:cNvSpPr txBox="1"/>
          <p:nvPr/>
        </p:nvSpPr>
        <p:spPr>
          <a:xfrm>
            <a:off x="92354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misma región escrita en mayúsculas, en minúsculas y con espacios.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cómo está escrita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misma región puede venir escrita de muchas formas.</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Para Python cada forma es un valor distinto hasta que se unifican.</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sucia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61508 × 4</a:t>
            </a:r>
            <a:endParaRPr lang="en-US" sz="1200" dirty="0"/>
          </a:p>
        </p:txBody>
      </p:sp>
      <p:sp>
        <p:nvSpPr>
          <p:cNvPr id="13" name="Shape 10"/>
          <p:cNvSpPr/>
          <p:nvPr/>
        </p:nvSpPr>
        <p:spPr>
          <a:xfrm>
            <a:off x="2400300"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16</a:t>
            </a:r>
            <a:endParaRPr lang="en-US" sz="1200" dirty="0"/>
          </a:p>
        </p:txBody>
      </p:sp>
      <p:sp>
        <p:nvSpPr>
          <p:cNvPr id="15" name="Shape 12"/>
          <p:cNvSpPr/>
          <p:nvPr/>
        </p:nvSpPr>
        <p:spPr>
          <a:xfrm>
            <a:off x="368046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17" name="Shape 14"/>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9" name="Shape 16"/>
          <p:cNvSpPr/>
          <p:nvPr/>
        </p:nvSpPr>
        <p:spPr>
          <a:xfrm>
            <a:off x="7383780" y="6062472"/>
            <a:ext cx="17145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47522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1" name="Text 18"/>
          <p:cNvSpPr txBox="1"/>
          <p:nvPr/>
        </p:nvSpPr>
        <p:spPr>
          <a:xfrm>
            <a:off x="92354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consume una región en una hora normal?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el promedio y la mediana de todo el país y de cada región.</a:t>
            </a:r>
            <a:endParaRPr lang="en-US" sz="1400" dirty="0"/>
          </a:p>
        </p:txBody>
      </p:sp>
      <p:pic>
        <p:nvPicPr>
          <p:cNvPr id="6" name="Image 0" descr="../../repo/modulos/../../diag/lab03_estudio3_mediana.png">    </p:cNvPr>
          <p:cNvPicPr>
            <a:picLocks noChangeAspect="1"/>
          </p:cNvPicPr>
          <p:nvPr/>
        </p:nvPicPr>
        <p:blipFill>
          <a:blip r:embed="rId1"/>
          <a:stretch>
            <a:fillRect/>
          </a:stretch>
        </p:blipFill>
        <p:spPr>
          <a:xfrm>
            <a:off x="548640" y="1463040"/>
            <a:ext cx="11091672" cy="4238948"/>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3</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consume una región en una hora normal?</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Compara el promedio y la mediana de todo el país con los de cada región.</a:t>
            </a:r>
            <a:endParaRPr lang="en-US" sz="1400" dirty="0"/>
          </a:p>
        </p:txBody>
      </p:sp>
      <p:sp>
        <p:nvSpPr>
          <p:cNvPr id="7" name="Shape 4"/>
          <p:cNvSpPr/>
          <p:nvPr/>
        </p:nvSpPr>
        <p:spPr>
          <a:xfrm>
            <a:off x="548640" y="1481328"/>
            <a:ext cx="11091672" cy="1714500"/>
          </a:xfrm>
          <a:prstGeom prst="roundRect">
            <a:avLst>
              <a:gd name="adj" fmla="val 320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5316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mediana es el valor del medio. La mitad de las horas está por debajo y la otra mitad por encima.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"Todo el país junto"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Promedio"</a:t>
            </a:r>
            <a:pPr indent="0" marL="0">
              <a:buNone/>
            </a:pPr>
            <a:r>
              <a:rPr lang="en-US" sz="1300" dirty="0">
                <a:solidFill>
                  <a:srgbClr val="202124"/>
                </a:solidFill>
                <a:latin typeface="Courier New" pitchFamily="34" charset="0"/>
                <a:ea typeface="Courier New" pitchFamily="34" charset="-122"/>
                <a:cs typeface="Courier New" pitchFamily="34" charset="-120"/>
              </a:rPr>
              <a:t>, round(final[</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].mean(), 1), </a:t>
            </a:r>
            <a:pPr indent="0" marL="0">
              <a:buNone/>
            </a:pPr>
            <a:r>
              <a:rPr lang="en-US" sz="1300" dirty="0">
                <a:solidFill>
                  <a:srgbClr val="A31515"/>
                </a:solidFill>
                <a:latin typeface="Courier New" pitchFamily="34" charset="0"/>
                <a:ea typeface="Courier New" pitchFamily="34" charset="-122"/>
                <a:cs typeface="Courier New" pitchFamily="34" charset="-120"/>
              </a:rPr>
              <a:t>" Mediana"</a:t>
            </a:r>
            <a:pPr indent="0" marL="0">
              <a:buNone/>
            </a:pPr>
            <a:r>
              <a:rPr lang="en-US" sz="1300" dirty="0">
                <a:solidFill>
                  <a:srgbClr val="202124"/>
                </a:solidFill>
                <a:latin typeface="Courier New" pitchFamily="34" charset="0"/>
                <a:ea typeface="Courier New" pitchFamily="34" charset="-122"/>
                <a:cs typeface="Courier New" pitchFamily="34" charset="-120"/>
              </a:rPr>
              <a:t>, round(final[</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].median(),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final.groupby(</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].agg(promedio=</a:t>
            </a:r>
            <a:pPr indent="0" marL="0">
              <a:buNone/>
            </a:pPr>
            <a:r>
              <a:rPr lang="en-US" sz="1300" dirty="0">
                <a:solidFill>
                  <a:srgbClr val="A31515"/>
                </a:solidFill>
                <a:latin typeface="Courier New" pitchFamily="34" charset="0"/>
                <a:ea typeface="Courier New" pitchFamily="34" charset="-122"/>
                <a:cs typeface="Courier New" pitchFamily="34" charset="-120"/>
              </a:rPr>
              <a:t>"mean"</a:t>
            </a:r>
            <a:pPr indent="0" marL="0">
              <a:buNone/>
            </a:pPr>
            <a:r>
              <a:rPr lang="en-US" sz="1300" dirty="0">
                <a:solidFill>
                  <a:srgbClr val="202124"/>
                </a:solidFill>
                <a:latin typeface="Courier New" pitchFamily="34" charset="0"/>
                <a:ea typeface="Courier New" pitchFamily="34" charset="-122"/>
                <a:cs typeface="Courier New" pitchFamily="34" charset="-120"/>
              </a:rPr>
              <a:t>, mediana=</a:t>
            </a:r>
            <a:pPr indent="0" marL="0">
              <a:buNone/>
            </a:pPr>
            <a:r>
              <a:rPr lang="en-US" sz="1300" dirty="0">
                <a:solidFill>
                  <a:srgbClr val="A31515"/>
                </a:solidFill>
                <a:latin typeface="Courier New" pitchFamily="34" charset="0"/>
                <a:ea typeface="Courier New" pitchFamily="34" charset="-122"/>
                <a:cs typeface="Courier New" pitchFamily="34" charset="-120"/>
              </a:rPr>
              <a:t>"median"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300" dirty="0">
                <a:solidFill>
                  <a:srgbClr val="A31515"/>
                </a:solidFill>
                <a:latin typeface="Courier New" pitchFamily="34" charset="0"/>
                <a:ea typeface="Courier New" pitchFamily="34" charset="-122"/>
                <a:cs typeface="Courier New" pitchFamily="34" charset="-120"/>
              </a:rPr>
              <a:t>"promedio"</a:t>
            </a:r>
            <a:pPr indent="0" marL="0">
              <a:buNone/>
            </a:pPr>
            <a:r>
              <a:rPr lang="en-US" sz="1300" dirty="0">
                <a:solidFill>
                  <a:srgbClr val="202124"/>
                </a:solidFill>
                <a:latin typeface="Courier New" pitchFamily="34" charset="0"/>
                <a:ea typeface="Courier New" pitchFamily="34" charset="-122"/>
                <a:cs typeface="Courier New" pitchFamily="34" charset="-120"/>
              </a:rPr>
              <a:t>, ascending=False)</a:t>
            </a:r>
            <a:endParaRPr lang="en-US" sz="1300" dirty="0"/>
          </a:p>
        </p:txBody>
      </p:sp>
      <p:sp>
        <p:nvSpPr>
          <p:cNvPr id="11" name="Text 8"/>
          <p:cNvSpPr txBox="1"/>
          <p:nvPr/>
        </p:nvSpPr>
        <p:spPr>
          <a:xfrm>
            <a:off x="1325880" y="32324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16</a:t>
            </a:r>
            <a:endParaRPr lang="en-US" sz="1200" dirty="0"/>
          </a:p>
        </p:txBody>
      </p:sp>
      <p:sp>
        <p:nvSpPr>
          <p:cNvPr id="15" name="Shape 12"/>
          <p:cNvSpPr/>
          <p:nvPr/>
        </p:nvSpPr>
        <p:spPr>
          <a:xfrm>
            <a:off x="182880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17" name="Shape 14"/>
          <p:cNvSpPr/>
          <p:nvPr/>
        </p:nvSpPr>
        <p:spPr>
          <a:xfrm>
            <a:off x="3680460"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77190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19" name="Shape 16"/>
          <p:cNvSpPr/>
          <p:nvPr/>
        </p:nvSpPr>
        <p:spPr>
          <a:xfrm>
            <a:off x="5532120" y="6062472"/>
            <a:ext cx="17145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62356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21" name="Shape 18"/>
          <p:cNvSpPr/>
          <p:nvPr/>
        </p:nvSpPr>
        <p:spPr>
          <a:xfrm>
            <a:off x="7383780" y="6062472"/>
            <a:ext cx="238658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475220" y="6071616"/>
            <a:ext cx="224942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pico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61488 valores</a:t>
            </a:r>
            <a:endParaRPr lang="en-US" sz="1200" dirty="0"/>
          </a:p>
        </p:txBody>
      </p:sp>
      <p:sp>
        <p:nvSpPr>
          <p:cNvPr id="23" name="Text 20"/>
          <p:cNvSpPr txBox="1"/>
          <p:nvPr/>
        </p:nvSpPr>
        <p:spPr>
          <a:xfrm>
            <a:off x="990752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consume una región en una hora normal?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resumen = final.groupby(</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].agg(promedio=</a:t>
            </a:r>
            <a:pPr indent="0" marL="0">
              <a:buNone/>
            </a:pPr>
            <a:r>
              <a:rPr lang="en-US" sz="1600" dirty="0">
                <a:solidFill>
                  <a:srgbClr val="A31515"/>
                </a:solidFill>
                <a:latin typeface="Courier New" pitchFamily="34" charset="0"/>
                <a:ea typeface="Courier New" pitchFamily="34" charset="-122"/>
                <a:cs typeface="Courier New" pitchFamily="34" charset="-120"/>
              </a:rPr>
              <a:t>"mean"</a:t>
            </a:r>
            <a:pPr indent="0" marL="0">
              <a:buNone/>
            </a:pPr>
            <a:r>
              <a:rPr lang="en-US" sz="1600" dirty="0">
                <a:solidFill>
                  <a:srgbClr val="202124"/>
                </a:solidFill>
                <a:latin typeface="Courier New" pitchFamily="34" charset="0"/>
                <a:ea typeface="Courier New" pitchFamily="34" charset="-122"/>
                <a:cs typeface="Courier New" pitchFamily="34" charset="-120"/>
              </a:rPr>
              <a:t>, mediana=</a:t>
            </a:r>
            <a:pPr indent="0" marL="0">
              <a:buNone/>
            </a:pPr>
            <a:r>
              <a:rPr lang="en-US" sz="1600" dirty="0">
                <a:solidFill>
                  <a:srgbClr val="A31515"/>
                </a:solidFill>
                <a:latin typeface="Courier New" pitchFamily="34" charset="0"/>
                <a:ea typeface="Courier New" pitchFamily="34" charset="-122"/>
                <a:cs typeface="Courier New" pitchFamily="34" charset="-120"/>
              </a:rPr>
              <a:t>"median"</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final.groupby("region")["mwh"]</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mwh separada por región.</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promedio="mean"</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columna llamada promedio con el promedio de cada región.</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mediana="median"</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Otra con la mediana, el valor del medio.</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el promedio y la mediana de la demanda de cada región.</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consume una región en una hora normal?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Compara el promedio y la mediana de todo el país con los de cada región.</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585216"/>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Todo el país junto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Promedio 226.1  Mediana 111.5</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325880" y="2505456"/>
          <a:ext cx="9144000" cy="914400"/>
        </p:xfrm>
        <a:graphic>
          <a:graphicData uri="http://schemas.openxmlformats.org/drawingml/2006/table">
            <a:tbl>
              <a:tblPr/>
              <a:tblGrid>
                <a:gridCol w="1371600"/>
                <a:gridCol w="1005840"/>
                <a:gridCol w="91440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promedio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mediana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Metropolitana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885.7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873.4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Valparaíso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207.9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204.6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185.9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183.1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98.4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97.1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Coquimbo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91.6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76.6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75.5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Atacama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35.0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34.5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3"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4" name="Shape 10"/>
          <p:cNvSpPr/>
          <p:nvPr/>
        </p:nvSpPr>
        <p:spPr>
          <a:xfrm>
            <a:off x="2400300" y="6062472"/>
            <a:ext cx="1330452"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249174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2</a:t>
            </a:r>
            <a:endParaRPr lang="en-US" sz="1200" dirty="0"/>
          </a:p>
        </p:txBody>
      </p:sp>
      <p:sp>
        <p:nvSpPr>
          <p:cNvPr id="16" name="Shape 12"/>
          <p:cNvSpPr/>
          <p:nvPr/>
        </p:nvSpPr>
        <p:spPr>
          <a:xfrm>
            <a:off x="3867912" y="6062472"/>
            <a:ext cx="1143000" cy="566928"/>
          </a:xfrm>
          <a:prstGeom prst="roundRect">
            <a:avLst>
              <a:gd name="adj" fmla="val 11290"/>
            </a:avLst>
          </a:prstGeom>
          <a:solidFill>
            <a:srgbClr val="F1F3F4"/>
          </a:solidFill>
          <a:ln w="12700">
            <a:solidFill>
              <a:srgbClr val="DADCE0"/>
            </a:solidFill>
            <a:prstDash val="solid"/>
          </a:ln>
        </p:spPr>
      </p:sp>
      <p:sp>
        <p:nvSpPr>
          <p:cNvPr id="17" name="Text 13"/>
          <p:cNvSpPr txBox="1"/>
          <p:nvPr/>
        </p:nvSpPr>
        <p:spPr>
          <a:xfrm>
            <a:off x="395935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16</a:t>
            </a:r>
            <a:endParaRPr lang="en-US" sz="1200" dirty="0"/>
          </a:p>
        </p:txBody>
      </p:sp>
      <p:sp>
        <p:nvSpPr>
          <p:cNvPr id="18" name="Shape 14"/>
          <p:cNvSpPr/>
          <p:nvPr/>
        </p:nvSpPr>
        <p:spPr>
          <a:xfrm>
            <a:off x="5148072" y="6062472"/>
            <a:ext cx="1714500" cy="566928"/>
          </a:xfrm>
          <a:prstGeom prst="roundRect">
            <a:avLst>
              <a:gd name="adj" fmla="val 11290"/>
            </a:avLst>
          </a:prstGeom>
          <a:solidFill>
            <a:srgbClr val="F1F3F4"/>
          </a:solidFill>
          <a:ln w="12700">
            <a:solidFill>
              <a:srgbClr val="DADCE0"/>
            </a:solidFill>
            <a:prstDash val="solid"/>
          </a:ln>
        </p:spPr>
      </p:sp>
      <p:sp>
        <p:nvSpPr>
          <p:cNvPr id="19" name="Text 15"/>
          <p:cNvSpPr txBox="1"/>
          <p:nvPr/>
        </p:nvSpPr>
        <p:spPr>
          <a:xfrm>
            <a:off x="523951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20" name="Shape 16"/>
          <p:cNvSpPr/>
          <p:nvPr/>
        </p:nvSpPr>
        <p:spPr>
          <a:xfrm>
            <a:off x="6999732" y="6062472"/>
            <a:ext cx="1714500" cy="566928"/>
          </a:xfrm>
          <a:prstGeom prst="roundRect">
            <a:avLst>
              <a:gd name="adj" fmla="val 11290"/>
            </a:avLst>
          </a:prstGeom>
          <a:solidFill>
            <a:srgbClr val="F1F3F4"/>
          </a:solidFill>
          <a:ln w="12700">
            <a:solidFill>
              <a:srgbClr val="DADCE0"/>
            </a:solidFill>
            <a:prstDash val="solid"/>
          </a:ln>
        </p:spPr>
      </p:sp>
      <p:sp>
        <p:nvSpPr>
          <p:cNvPr id="21" name="Text 17"/>
          <p:cNvSpPr txBox="1"/>
          <p:nvPr/>
        </p:nvSpPr>
        <p:spPr>
          <a:xfrm>
            <a:off x="709117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2" name="Text 18"/>
          <p:cNvSpPr txBox="1"/>
          <p:nvPr/>
        </p:nvSpPr>
        <p:spPr>
          <a:xfrm>
            <a:off x="88513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17 más</a:t>
            </a:r>
            <a:endParaRPr lang="en-US" sz="1200" dirty="0"/>
          </a:p>
        </p:txBody>
      </p:sp>
      <p:sp>
        <p:nvSpPr>
          <p:cNvPr id="23"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todo el país junto el promedio es el doble de la mediana. Dentro de cada región son casi iguales.</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3</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consume una región en una hora normal?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El promedio de todo junto no describe a ninguna región.</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La Metropolitana consume varias veces más que las demás y tira el promedio hacia arriba.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7145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final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6</a:t>
            </a:r>
            <a:endParaRPr lang="en-US" sz="1200" dirty="0"/>
          </a:p>
        </p:txBody>
      </p:sp>
      <p:sp>
        <p:nvSpPr>
          <p:cNvPr id="13" name="Shape 10"/>
          <p:cNvSpPr/>
          <p:nvPr/>
        </p:nvSpPr>
        <p:spPr>
          <a:xfrm>
            <a:off x="2400300" y="6062472"/>
            <a:ext cx="1330452"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49174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2</a:t>
            </a:r>
            <a:endParaRPr lang="en-US" sz="1200" dirty="0"/>
          </a:p>
        </p:txBody>
      </p:sp>
      <p:sp>
        <p:nvSpPr>
          <p:cNvPr id="15" name="Shape 12"/>
          <p:cNvSpPr/>
          <p:nvPr/>
        </p:nvSpPr>
        <p:spPr>
          <a:xfrm>
            <a:off x="3867912"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395935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cuantas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16</a:t>
            </a:r>
            <a:endParaRPr lang="en-US" sz="1200" dirty="0"/>
          </a:p>
        </p:txBody>
      </p:sp>
      <p:sp>
        <p:nvSpPr>
          <p:cNvPr id="17" name="Shape 14"/>
          <p:cNvSpPr/>
          <p:nvPr/>
        </p:nvSpPr>
        <p:spPr>
          <a:xfrm>
            <a:off x="5148072"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23951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auditoria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9</a:t>
            </a:r>
            <a:endParaRPr lang="en-US" sz="1200" dirty="0"/>
          </a:p>
        </p:txBody>
      </p:sp>
      <p:sp>
        <p:nvSpPr>
          <p:cNvPr id="19" name="Shape 16"/>
          <p:cNvSpPr/>
          <p:nvPr/>
        </p:nvSpPr>
        <p:spPr>
          <a:xfrm>
            <a:off x="6999732" y="6062472"/>
            <a:ext cx="17145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09117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verdad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1" name="Text 18"/>
          <p:cNvSpPr txBox="1"/>
          <p:nvPr/>
        </p:nvSpPr>
        <p:spPr>
          <a:xfrm>
            <a:off x="88513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17 más</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3D62"/>
        </a:solidFill>
      </p:bgPr>
    </p:bg>
    <p:spTree>
      <p:nvGrpSpPr>
        <p:cNvPr id="1" name=""/>
        <p:cNvGrpSpPr/>
        <p:nvPr/>
      </p:nvGrpSpPr>
      <p:grpSpPr>
        <a:xfrm>
          <a:off x="0" y="0"/>
          <a:ext cx="0" cy="0"/>
          <a:chOff x="0" y="0"/>
          <a:chExt cx="0" cy="0"/>
        </a:xfrm>
      </p:grpSpPr>
      <p:sp>
        <p:nvSpPr>
          <p:cNvPr id="3" name="Text 0"/>
          <p:cNvSpPr txBox="1"/>
          <p:nvPr/>
        </p:nvSpPr>
        <p:spPr>
          <a:xfrm>
            <a:off x="731520" y="164592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Ahora en Colab</a:t>
            </a:r>
            <a:endParaRPr lang="en-US" sz="4000" dirty="0"/>
          </a:p>
        </p:txBody>
      </p:sp>
      <p:sp>
        <p:nvSpPr>
          <p:cNvPr id="4" name="Text 1"/>
          <p:cNvSpPr txBox="1"/>
          <p:nvPr/>
        </p:nvSpPr>
        <p:spPr>
          <a:xfrm>
            <a:off x="731520" y="2560320"/>
            <a:ext cx="1069848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Ahora abran el Lab 03 guiado y hagan los 6 pasos de la Parte 1. La Parte 2 queda para la casa, con la guía y estas láminas.</a:t>
            </a:r>
            <a:endParaRPr lang="en-US" sz="2000" dirty="0"/>
          </a:p>
        </p:txBody>
      </p:sp>
      <p:sp>
        <p:nvSpPr>
          <p:cNvPr id="5"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dirty="0">
                <a:solidFill>
                  <a:srgbClr val="F9AB00"/>
                </a:solidFill>
                <a:latin typeface="Calibri" pitchFamily="34" charset="0"/>
                <a:ea typeface="Calibri" pitchFamily="34" charset="-122"/>
                <a:cs typeface="Calibri" pitchFamily="34" charset="-120"/>
              </a:rPr>
              <a:t>Si algo no calza, escriban en el chat el número del paso.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03 guiado · Limpieza y análisis exploratorio</dc:title>
  <dc:subject>PptxGenJS Presentation</dc:subject>
  <dc:creator>PptxGenJS</dc:creator>
  <cp:lastModifiedBy>PptxGenJS</cp:lastModifiedBy>
  <cp:revision>1</cp:revision>
  <dcterms:created xsi:type="dcterms:W3CDTF">2026-10-12T23:08:53Z</dcterms:created>
  <dcterms:modified xsi:type="dcterms:W3CDTF">2026-10-12T23:08:53Z</dcterms:modified>
</cp:coreProperties>
</file>