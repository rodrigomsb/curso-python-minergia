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Láminas 60 min, Colab 45 min, cierre 15 min.
Hoy se termina el Lab 04. Las ideas son dos, qué eventos van juntos más de lo normal, y qué evento viene después de otro. Son las reglas de asociación y las secuencias del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Un correctivo es una reparación porque algo falló. Un preventivo es la mantención programada.
Al final hay una lámina con las respuestas. Conviene volver aquí en ese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el Paso 1 y el Paso 2 de la clase pasada. No se vuelve a correr nada, solo se recuerda.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idea del porcentaje como costumbre es la base de todo lo que sigue. Si no queda clara, el lift no se entiende.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Importa si el evento pasó en la canasta, no cuántas veces. Una canasta con dos correctivos cuenta igual que una con uno.
En Colab, la celda del Paso 3 calcula esto. conteo &gt; 0 marca cada canasta con sí o no, y mean cuenta los sí y divide por 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Repetir la cifra del correctivo, 40 por ciento, porque es la que se usa en el paso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es la trampa que hay que mostrar con calma. Dar tiempo a que la vean.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Aquí aparece la división sin nombrarla todavía. 8 de 10 contra 2 de 10 es 4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fila de arriba es lo normal, lo del Paso 3. La fila de abajo es lo que pasa con la condición.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Recién aquí van los nombres técnicos. Confianza, lo normal, lift. Pan y leche tiene lift 1, no hay regla. Carbón y fósforos tiene lift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RESPUESTA
Igual que siempre. 52 parece mucho, pero la costumbre ya es 56. Es el pan con la leche. El lift es 0,93, casi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lámina es la cuenta completa, hecha a mano. La celda de Colab hace exactamente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con_si deja solo las 42 canastas donde pasó la falla eléctrica. confianza cuenta en cuántas de esas hay correctivo, en porcentaje. normal cuenta lo mismo en las 215 canastas, el número del Paso 3. lift divide confianza por normal.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tabla[condición]
Con una columna de True y False adentro, la tabla deja pasar solo las filas con True. Es un filtro.
==
Dos signos igual preguntan si dos cosas son iguales. Dan True o False. Un solo igual guarda.
True y False
Verdadero y falso. Al sumarlos, True vale 1 y False vale 0, por eso sumar una columna de True y False cuenta los verdaderos.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
100 * ...
Multiplicar una proporción por 100 la deja en porcentaje.
*
Multiplica.
tabla[variable]
Corchetes con un nombre sin comillas eligen la columna cuyo nombre está guardado en esa variable. tabla[si] elige la columna del evento que se eligió en la lista si.
.mean()
El promedio. En una columna de True y False, la proporción de True.
/
Divide.
round(valor, n)
Redondea un número a n decimales. Sin n, al entero más cercano.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Lift 2,08, el doble de lo normal. 42 canastas con falla eléctrica. En el 83,3 por ciento hay correctivo. Lo normal del correctivo es 40,0. 83,3 dividido por 40,0 da 2,08. Cuando hay una falla eléctrica, el correctivo aparece el doble de lo normal. Esta regla sí dice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Colab cambian las listas si y entonces y vuelven a correr. Tienen que salir estos números. El 1,90 sale como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regla dice qué mirar. La explicación la da quien conoce 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Cerrar el Paso 4 nombrando regla de asociación, que es la palabra del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ventana es una decisión de quien analiza, como el umbral del Lab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un día de plazo llegó 6 de 10. Con tres, 9 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planilla se llama fallas_electricas.csv y ya viene hecha. En Vega Azul la falla fue el 5 de febrero y el correctivo el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dias es la ventana, se elige con el deslizador. a_tiempo deja las fallas cuyo correctivo llegó en dias o menos. Una casilla vacía no cumple. porcentaje divide las que llegaron a tiempo por las 47.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pd.read_csv( ... )
Lee un archivo separado por comas y lo convierte en tabla. pd es pandas.
+
Suma números. Con textos, los junta uno detrás del otro.
tabla[condición]
Con una columna de True y False adentro, la tabla deja pasar solo las filas con True. Es un filtro.
tabla["columna"]
Corchetes con un nombre entre comillas eligen una columna de la tabla. También eligen una llave de un diccionario.
&lt; &gt; &lt;= &gt;=
Menor, mayor, menor o igual, mayor o igual. Dan True o False. Con una columna, comparan fila por fila.
100 * ...
Multiplicar una proporción por 100 la deja en porcentaje.
*
Multiplica.
len( ... )
Cuenta cuántos elementos tiene una lista o cuántas filas tiene una tabla.
/
Divide.
print( ... )
Muestra en pantalla lo que va dentro. Si van varias cosas separadas por coma, las muestra en una línea con un espacio entre ellas.
f"... {nombre} ..."
Texto con una f delante. Lo que va entre llaves se reemplaza por su valor al mostrarse.
round(valor, n)
Redondea un número a n decimales. Sin n, al entero más cercano.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72,3 % dentro de 3 días. De las 47 fallas eléctricas, 34 tuvieron un correctivo en la misma central dentro de los 3 días siguientes. Eso es 7 de cada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7 el mismo día, 12 al día siguiente, 7 a los dos días y 8 a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Colab mueven el deslizador a 0, 1 y 7 y comparan con esta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la segunda palabra del programa. Se muestra el resultado y se deja el Estudio 4 para que lo corran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Coincide con el lift del Paso 4, las mismas dos parejas. Dos miradas distintas, el mismo hallazgo.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Volver a la lámina del problema. Estas son las respuestas a las dos preguntas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unos 45 minutos. Pasar por el chat y resolver las dudas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Empezar por el Estudio 4, que es la secuencia de hoy. Los otros tres son más cortos. Cada uno tiene su celda, su respuesta esperada y una caja amarilla con la idea. La guía está en el README del repositorio, junto al enlace de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04 · Minería de datos</a:t>
            </a:r>
            <a:endParaRPr lang="en-US" sz="4000" dirty="0"/>
          </a:p>
        </p:txBody>
      </p:sp>
      <p:sp>
        <p:nvSpPr>
          <p:cNvPr id="3" name="Text 1"/>
          <p:cNvSpPr/>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Qué eventos van juntos y qué viene después, con la bitácora de mantenimiento</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Dos ideas nuevas, contadas primero con ejemplos de todos los días.</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el mismo cálculo con los datos de las centrales, y lo que dice el resultado.</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Al final, lo corren en Colab y les tiene que salir igual.</a:t>
            </a:r>
            <a:endParaRPr lang="en-US" sz="1800" dirty="0"/>
          </a:p>
        </p:txBody>
      </p:sp>
      <p:sp>
        <p:nvSpPr>
          <p:cNvPr id="13" name="Text 11"/>
          <p:cNvSpPr/>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El problema de hoy</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quiere saber el área de mantenimiento</a:t>
            </a:r>
            <a:endParaRPr lang="en-US" sz="1800" dirty="0"/>
          </a:p>
        </p:txBody>
      </p:sp>
      <p:sp>
        <p:nvSpPr>
          <p:cNvPr id="4" name="Text 2"/>
          <p:cNvSpPr/>
          <p:nvPr/>
        </p:nvSpPr>
        <p:spPr>
          <a:xfrm>
            <a:off x="548640" y="1600200"/>
            <a:ext cx="11091672" cy="91440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Mantenimiento anota en una bitácora todo lo que le pasa a las 20 centrales, 600 eventos en el año. Quiere usarla para tener las cuadrillas listas antes de que las llamen. Dos preguntas.</a:t>
            </a:r>
            <a:endParaRPr lang="en-US" sz="2100" dirty="0"/>
          </a:p>
        </p:txBody>
      </p:sp>
      <p:sp>
        <p:nvSpPr>
          <p:cNvPr id="5" name="Shape 3"/>
          <p:cNvSpPr/>
          <p:nvPr/>
        </p:nvSpPr>
        <p:spPr>
          <a:xfrm>
            <a:off x="548640" y="2697480"/>
            <a:ext cx="11091672" cy="804672"/>
          </a:xfrm>
          <a:prstGeom prst="roundRect">
            <a:avLst>
              <a:gd name="adj" fmla="val 9091"/>
            </a:avLst>
          </a:prstGeom>
          <a:solidFill>
            <a:srgbClr val="E8F0FE"/>
          </a:solidFill>
          <a:ln w="12700">
            <a:solidFill>
              <a:srgbClr val="E8F0FE"/>
            </a:solidFill>
            <a:prstDash val="solid"/>
          </a:ln>
        </p:spPr>
      </p:sp>
      <p:sp>
        <p:nvSpPr>
          <p:cNvPr id="6" name="Shape 4"/>
          <p:cNvSpPr/>
          <p:nvPr/>
        </p:nvSpPr>
        <p:spPr>
          <a:xfrm>
            <a:off x="731520" y="2852928"/>
            <a:ext cx="493776" cy="493776"/>
          </a:xfrm>
          <a:prstGeom prst="ellipse">
            <a:avLst/>
          </a:prstGeom>
          <a:solidFill>
            <a:srgbClr val="1A73E8"/>
          </a:solidFill>
          <a:ln w="12700">
            <a:solidFill>
              <a:srgbClr val="1A73E8"/>
            </a:solidFill>
            <a:prstDash val="solid"/>
          </a:ln>
        </p:spPr>
      </p:sp>
      <p:sp>
        <p:nvSpPr>
          <p:cNvPr id="7" name="Text 5"/>
          <p:cNvSpPr/>
          <p:nvPr/>
        </p:nvSpPr>
        <p:spPr>
          <a:xfrm>
            <a:off x="731520" y="285292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269748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Falla eléctrica y correctivo, ¿van juntos más que de costumbre?</a:t>
            </a:r>
            <a:endParaRPr lang="en-US" sz="2100" dirty="0"/>
          </a:p>
        </p:txBody>
      </p:sp>
      <p:sp>
        <p:nvSpPr>
          <p:cNvPr id="9" name="Text 7"/>
          <p:cNvSpPr/>
          <p:nvPr/>
        </p:nvSpPr>
        <p:spPr>
          <a:xfrm>
            <a:off x="9098280" y="269748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Pasos 3 y 4</a:t>
            </a:r>
            <a:endParaRPr lang="en-US" sz="1500" dirty="0"/>
          </a:p>
        </p:txBody>
      </p:sp>
      <p:sp>
        <p:nvSpPr>
          <p:cNvPr id="10" name="Shape 8"/>
          <p:cNvSpPr/>
          <p:nvPr/>
        </p:nvSpPr>
        <p:spPr>
          <a:xfrm>
            <a:off x="548640" y="3657600"/>
            <a:ext cx="11091672" cy="804672"/>
          </a:xfrm>
          <a:prstGeom prst="roundRect">
            <a:avLst>
              <a:gd name="adj" fmla="val 9091"/>
            </a:avLst>
          </a:prstGeom>
          <a:solidFill>
            <a:srgbClr val="E8F0FE"/>
          </a:solidFill>
          <a:ln w="12700">
            <a:solidFill>
              <a:srgbClr val="E8F0FE"/>
            </a:solidFill>
            <a:prstDash val="solid"/>
          </a:ln>
        </p:spPr>
      </p:sp>
      <p:sp>
        <p:nvSpPr>
          <p:cNvPr id="11" name="Shape 9"/>
          <p:cNvSpPr/>
          <p:nvPr/>
        </p:nvSpPr>
        <p:spPr>
          <a:xfrm>
            <a:off x="731520" y="3813048"/>
            <a:ext cx="493776" cy="493776"/>
          </a:xfrm>
          <a:prstGeom prst="ellipse">
            <a:avLst/>
          </a:prstGeom>
          <a:solidFill>
            <a:srgbClr val="1A73E8"/>
          </a:solidFill>
          <a:ln w="12700">
            <a:solidFill>
              <a:srgbClr val="1A73E8"/>
            </a:solidFill>
            <a:prstDash val="solid"/>
          </a:ln>
        </p:spPr>
      </p:sp>
      <p:sp>
        <p:nvSpPr>
          <p:cNvPr id="12" name="Text 10"/>
          <p:cNvSpPr/>
          <p:nvPr/>
        </p:nvSpPr>
        <p:spPr>
          <a:xfrm>
            <a:off x="731520" y="381304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365760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Y si viene, ¿en cuántos días llega?</a:t>
            </a:r>
            <a:endParaRPr lang="en-US" sz="2100" dirty="0"/>
          </a:p>
        </p:txBody>
      </p:sp>
      <p:sp>
        <p:nvSpPr>
          <p:cNvPr id="14" name="Text 12"/>
          <p:cNvSpPr/>
          <p:nvPr/>
        </p:nvSpPr>
        <p:spPr>
          <a:xfrm>
            <a:off x="9098280" y="365760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Paso 5</a:t>
            </a:r>
            <a:endParaRPr lang="en-US" sz="1500" dirty="0"/>
          </a:p>
        </p:txBody>
      </p:sp>
      <p:sp>
        <p:nvSpPr>
          <p:cNvPr id="15" name="Shape 13"/>
          <p:cNvSpPr/>
          <p:nvPr/>
        </p:nvSpPr>
        <p:spPr>
          <a:xfrm>
            <a:off x="548640" y="5715000"/>
            <a:ext cx="73152" cy="777240"/>
          </a:xfrm>
          <a:prstGeom prst="rect">
            <a:avLst/>
          </a:prstGeom>
          <a:solidFill>
            <a:srgbClr val="F9AB00"/>
          </a:solidFill>
          <a:ln w="12700">
            <a:solidFill>
              <a:srgbClr val="F9AB00"/>
            </a:solidFill>
            <a:prstDash val="solid"/>
          </a:ln>
        </p:spPr>
      </p:sp>
      <p:sp>
        <p:nvSpPr>
          <p:cNvPr id="16" name="Text 14"/>
          <p:cNvSpPr/>
          <p:nvPr/>
        </p:nvSpPr>
        <p:spPr>
          <a:xfrm>
            <a:off x="777240" y="5715000"/>
            <a:ext cx="10863072" cy="777240"/>
          </a:xfrm>
          <a:prstGeom prst="rect">
            <a:avLst/>
          </a:prstGeom>
          <a:noFill/>
          <a:ln/>
        </p:spPr>
        <p:txBody>
          <a:bodyPr wrap="square" lIns="0" tIns="0" rIns="0" bIns="0" rtlCol="0" anchor="ctr"/>
          <a:lstStyle/>
          <a:p>
            <a:pPr indent="0" marL="0">
              <a:buNone/>
            </a:pPr>
            <a:r>
              <a:rPr lang="en-US" sz="1800" dirty="0">
                <a:solidFill>
                  <a:srgbClr val="202124"/>
                </a:solidFill>
                <a:latin typeface="Calibri" pitchFamily="34" charset="0"/>
                <a:ea typeface="Calibri" pitchFamily="34" charset="-122"/>
                <a:cs typeface="Calibri" pitchFamily="34" charset="-120"/>
              </a:rPr>
              <a:t>Buscar estas respuestas en una lista de 600 eventos, sin saber de antemano qué patrón hay, es lo que se llama minería de datos.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Repaso</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Lo que ya vimos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clase pasada, en dos frases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bitácora es como el libro de novedades de un edificio. Una fila por cada cosa que pasó, con su fecha, su central y qué fue.</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Para comparar, juntamos lo que le pasó a cada central en cada mes. A cada uno de esos grupos le llamamos canasta, como una boleta del supermercado.</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Salieron 215 canastas. Cada canasta dice cuántos preventivos, correctivos, fallas e inspecciones tuvo esa central ese mes.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DE AQUÍ EN ADELANTE  </a:t>
            </a:r>
            <a:pPr indent="0" marL="0">
              <a:buNone/>
            </a:pPr>
            <a:r>
              <a:rPr lang="en-US" sz="2100" b="1" dirty="0">
                <a:solidFill>
                  <a:srgbClr val="202124"/>
                </a:solidFill>
                <a:latin typeface="Calibri" pitchFamily="34" charset="0"/>
                <a:ea typeface="Calibri" pitchFamily="34" charset="-122"/>
                <a:cs typeface="Calibri" pitchFamily="34" charset="-120"/>
              </a:rPr>
              <a:t>Desde aquí no miramos eventos sueltos. Miramos canastas, y preguntamos qué cosas aparecen juntas dentro de la misma canasta.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3 · Lo normal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Una alumna vino a clases 15 de los 20 días del mes. Si alguien pregunta qué tan seguido viene, la respuesta es 15 de 20, el 75 por ciento.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Ese porcentaje es lo normal de esa alumna. No dice nada de ningún día en particular, dice cómo es ella de costumbre.</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Con un evento de las centrales hacemos la misma cuenta. ¿En cuántas de las 215 canastas aparece un correctivo? Se cuenta y se divide por 215.</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Lo normal de un evento es en qué porcentaje de todas las canastas aparece. Es su costumbre, sin mirar nada más.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3 · Lo normal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Para cada tipo de evento se contó en cuántas de las 215 canastas aparece, y se dividió por 215.</a:t>
            </a:r>
            <a:endParaRPr lang="en-US" sz="2000" dirty="0"/>
          </a:p>
        </p:txBody>
      </p:sp>
      <p:pic>
        <p:nvPicPr>
          <p:cNvPr id="8" name="Image 0" descr="/tmp/claude-0/-home-claude/53fc5af0-c828-58c7-8b29-cc4adc4b42a1/scratchpad/ppt4/figs/p4_lo_normal.png">    </p:cNvPr>
          <p:cNvPicPr>
            <a:picLocks noChangeAspect="1"/>
          </p:cNvPicPr>
          <p:nvPr/>
        </p:nvPicPr>
        <p:blipFill>
          <a:blip r:embed="rId1"/>
          <a:stretch>
            <a:fillRect/>
          </a:stretch>
        </p:blipFill>
        <p:spPr>
          <a:xfrm>
            <a:off x="964728" y="2450592"/>
            <a:ext cx="10259495"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vertical, el tipo de evento. Eje horizontal, en qué porcentaje de las canastas aparece. El correctivo está en 86 de las 215, el 40 por ciento. Es decir, en 4 de cada 10 canastas hay un correctivo, pase lo que pase.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3 · Lo normal de cada evento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El correctivo aparece en el 40 por ciento de las canastas. Esa es su costumbre, lo normal.</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El preventivo aparece en el 56 por ciento. La falla eléctrica en el 19,5.</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Estos números son la vara. Cualquier cosa que queramos decir después se compara contra ellos.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PASO 4  </a:t>
            </a:r>
            <a:pPr indent="0" marL="0">
              <a:buNone/>
            </a:pPr>
            <a:r>
              <a:rPr lang="en-US" sz="2100" b="1" dirty="0">
                <a:solidFill>
                  <a:srgbClr val="202124"/>
                </a:solidFill>
                <a:latin typeface="Calibri" pitchFamily="34" charset="0"/>
                <a:ea typeface="Calibri" pitchFamily="34" charset="-122"/>
                <a:cs typeface="Calibri" pitchFamily="34" charset="-120"/>
              </a:rPr>
              <a:t>Ahora la pregunta de mantenimiento. En las canastas donde hubo una falla eléctrica, ¿el correctivo aparece más que ese 40 por ciento?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 el pan y la leche</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 un supermercado revisan las boletas y descubren que 9 de cada 10 boletas que traen pan traen también leche. Alguien dice, ¡el pan hace vender leche!</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Pero otro pregunta, ¿y en las boletas sin pan? Y resulta que la leche está en 9 de cada 10 boletas de todo el supermercado, con pan o sin pan.</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leche se vende sola. El pan no tiene nada que ver. Los 9 de cada 10 parecían una regla, pero era la costumbre de siempre.</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Que algo pase seguido junto a otra cosa no dice nada, si de todos modos pasa igual de seguido sin ella.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misma historia, el carbón y los fósforos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 las boletas que traen carbón, los fósforos aparecen en 8 de cada 10.</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 todas las boletas del supermercado, los fósforos aparecen solo en 2 de cada 10. Casi nadie compra fósforos.</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Cuando hay carbón, los fósforos aparecen 4 veces más seguido que de costumbre. Ahí sí hay algo. Quien lleva carbón, lleva fósforos.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La pregunta correcta no es cuántas veces van juntos. Es cuántas veces más que de costumbre van juntos.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Las dos historias dibujadas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Cada cuadro es una boleta. Arriba, la costumbre de todo el supermercado. Abajo, lo que pasa cuando está el primer producto.</a:t>
            </a:r>
            <a:endParaRPr lang="en-US" sz="2000" dirty="0"/>
          </a:p>
        </p:txBody>
      </p:sp>
      <p:pic>
        <p:nvPicPr>
          <p:cNvPr id="8" name="Image 0" descr="/tmp/claude-0/-home-claude/53fc5af0-c828-58c7-8b29-cc4adc4b42a1/scratchpad/ppt4/figs/p5_pan_carbon.png">    </p:cNvPr>
          <p:cNvPicPr>
            <a:picLocks noChangeAspect="1"/>
          </p:cNvPicPr>
          <p:nvPr/>
        </p:nvPicPr>
        <p:blipFill>
          <a:blip r:embed="rId1"/>
          <a:stretch>
            <a:fillRect/>
          </a:stretch>
        </p:blipFill>
        <p:spPr>
          <a:xfrm>
            <a:off x="1440279" y="2450592"/>
            <a:ext cx="9308393"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Mirar si la fila de abajo tiene más cuadros pintados que la de arriba. Con pan y leche son iguales. Con carbón y fósforos, abajo hay cuatro veces más.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Ahora los nombres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 lo de todo el supermercado, 2 de cada 10, ya le pusimos nombre. Es lo normal.</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 lo que pasa con la condición, fósforos en 8 de cada 10 boletas con carbón, se le llama confianza. Es la confianza de la regla si hay carbón, entonces fósforos.</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Y a cuántas veces más que lo normal, 8 dividido por 2, cuatro veces, se le llama lift. Lift 4.</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LOS NOMBRES  </a:t>
            </a:r>
            <a:pPr indent="0" marL="0">
              <a:buNone/>
            </a:pPr>
            <a:r>
              <a:rPr lang="en-US" sz="2100" b="1" dirty="0">
                <a:solidFill>
                  <a:srgbClr val="202124"/>
                </a:solidFill>
                <a:latin typeface="Calibri" pitchFamily="34" charset="0"/>
                <a:ea typeface="Calibri" pitchFamily="34" charset="-122"/>
                <a:cs typeface="Calibri" pitchFamily="34" charset="-120"/>
              </a:rPr>
              <a:t>Lift es la confianza dividida por lo normal. Si da cerca de 1, es lo de siempre y no hay regla. Si da 2, el doble de lo normal. Si da 4, cuatro veces.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ver los datos.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En las canastas con falla eléctrica, el preventivo aparece en el 52 por ciento. Y en todas las canastas, el preventivo aparece en el 56 por ciento.</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¿Falla eléctrica y preventivo van juntos más que de costumbre?</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Sí, más de lo normal</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Igual que siempre</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Menos de lo normal</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contando canastas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A la izquierda, las 42 canastas con falla eléctrica. A la derecha, las 215 de todo el año. En las dos se pinta cuántas tienen un correctivo.</a:t>
            </a:r>
            <a:endParaRPr lang="en-US" sz="2000" dirty="0"/>
          </a:p>
        </p:txBody>
      </p:sp>
      <p:pic>
        <p:nvPicPr>
          <p:cNvPr id="8" name="Image 0" descr="/tmp/claude-0/-home-claude/53fc5af0-c828-58c7-8b29-cc4adc4b42a1/scratchpad/ppt4/figs/p19_canastas_contadas.png">    </p:cNvPr>
          <p:cNvPicPr>
            <a:picLocks noChangeAspect="1"/>
          </p:cNvPicPr>
          <p:nvPr/>
        </p:nvPicPr>
        <p:blipFill>
          <a:blip r:embed="rId1"/>
          <a:stretch>
            <a:fillRect/>
          </a:stretch>
        </p:blipFill>
        <p:spPr>
          <a:xfrm>
            <a:off x="2066385" y="2450592"/>
            <a:ext cx="8056182"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Izquierda, 35 de 42, el 83 por ciento, la confianza. Derecha, 86 de 215, el 40 por ciento, lo normal. Cuando hay una falla eléctrica, el correctivo aparece el doble de lo normal. Lift 2,08. Es el carbón con los fósforos.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celda del Paso 4, con falla_electrica en si y correctivo en entonces</a:t>
            </a:r>
            <a:endParaRPr lang="en-US" sz="1400" dirty="0"/>
          </a:p>
        </p:txBody>
      </p:sp>
      <p:sp>
        <p:nvSpPr>
          <p:cNvPr id="6" name="Shape 4"/>
          <p:cNvSpPr/>
          <p:nvPr/>
        </p:nvSpPr>
        <p:spPr>
          <a:xfrm>
            <a:off x="548640" y="1481328"/>
            <a:ext cx="11091672" cy="4368546"/>
          </a:xfrm>
          <a:prstGeom prst="roundRect">
            <a:avLst>
              <a:gd name="adj" fmla="val 1256"/>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4176522"/>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4</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si = </a:t>
            </a:r>
            <a:pPr indent="0" marL="0">
              <a:buNone/>
            </a:pPr>
            <a:r>
              <a:rPr lang="en-US" sz="1400" dirty="0">
                <a:solidFill>
                  <a:srgbClr val="A31515"/>
                </a:solidFill>
                <a:latin typeface="Courier New" pitchFamily="34" charset="0"/>
                <a:ea typeface="Courier New" pitchFamily="34" charset="-122"/>
                <a:cs typeface="Courier New" pitchFamily="34" charset="-120"/>
              </a:rPr>
              <a:t>"falla_electrica"</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[la lista sigue en Colab]</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entonces = </a:t>
            </a:r>
            <a:pPr indent="0" marL="0">
              <a:buNone/>
            </a:pPr>
            <a:r>
              <a:rPr lang="en-US" sz="1400" dirty="0">
                <a:solidFill>
                  <a:srgbClr val="A31515"/>
                </a:solidFill>
                <a:latin typeface="Courier New" pitchFamily="34" charset="0"/>
                <a:ea typeface="Courier New" pitchFamily="34" charset="-122"/>
                <a:cs typeface="Courier New" pitchFamily="34" charset="-120"/>
              </a:rPr>
              <a:t>"correctivo"</a:t>
            </a:r>
            <a:pPr indent="0" marL="0">
              <a:buNone/>
            </a:pPr>
            <a:r>
              <a:rPr lang="en-US" sz="1400" dirty="0">
                <a:solidFill>
                  <a:srgbClr val="202124"/>
                </a:solidFill>
                <a:latin typeface="Courier New" pitchFamily="34" charset="0"/>
                <a:ea typeface="Courier New" pitchFamily="34" charset="-122"/>
                <a:cs typeface="Courier New" pitchFamily="34" charset="-120"/>
              </a:rPr>
              <a:t> </a:t>
            </a:r>
            <a:pPr indent="0" marL="0">
              <a:buNone/>
            </a:pPr>
            <a:r>
              <a:rPr lang="en-US" sz="1400" dirty="0">
                <a:solidFill>
                  <a:srgbClr val="80868B"/>
                </a:solidFill>
                <a:latin typeface="Courier New" pitchFamily="34" charset="0"/>
                <a:ea typeface="Courier New" pitchFamily="34" charset="-122"/>
                <a:cs typeface="Courier New" pitchFamily="34" charset="-120"/>
              </a:rPr>
              <a:t>#@param [la lista sigue en Colab]</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Solo las canastas donde pasó si, con un filtro como los del Lab 02.</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con_si = tabla[tabla[si] == True]</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"Canastas con {si}"</a:t>
            </a:r>
            <a:pPr indent="0" marL="0">
              <a:buNone/>
            </a:pPr>
            <a:r>
              <a:rPr lang="en-US" sz="1400" dirty="0">
                <a:solidFill>
                  <a:srgbClr val="202124"/>
                </a:solidFill>
                <a:latin typeface="Courier New" pitchFamily="34" charset="0"/>
                <a:ea typeface="Courier New" pitchFamily="34" charset="-122"/>
                <a:cs typeface="Courier New" pitchFamily="34" charset="-120"/>
              </a:rPr>
              <a:t>, len(con_si))</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Confianza, de esas canastas, en qué porcentaje pasó también entonces.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confianza = 100 * con_si[entonces].mean()</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Lo normal, en qué porcentaje de todas las canastas pasa entonces.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normal = 100 * tabla[entonces].mean()</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Lift, cuántas veces más de lo normal. Sobre 1 van juntos, cerca de 1 no hay relación.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lift = confianza / normal</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"Confianza"</a:t>
            </a:r>
            <a:pPr indent="0" marL="0">
              <a:buNone/>
            </a:pPr>
            <a:r>
              <a:rPr lang="en-US" sz="1400" dirty="0">
                <a:solidFill>
                  <a:srgbClr val="202124"/>
                </a:solidFill>
                <a:latin typeface="Courier New" pitchFamily="34" charset="0"/>
                <a:ea typeface="Courier New" pitchFamily="34" charset="-122"/>
                <a:cs typeface="Courier New" pitchFamily="34" charset="-120"/>
              </a:rPr>
              <a:t>, round(confianza, 1), </a:t>
            </a:r>
            <a:pPr indent="0" marL="0">
              <a:buNone/>
            </a:pPr>
            <a:r>
              <a:rPr lang="en-US" sz="1400" dirty="0">
                <a:solidFill>
                  <a:srgbClr val="A31515"/>
                </a:solidFill>
                <a:latin typeface="Courier New" pitchFamily="34" charset="0"/>
                <a:ea typeface="Courier New" pitchFamily="34" charset="-122"/>
                <a:cs typeface="Courier New" pitchFamily="34" charset="-120"/>
              </a:rPr>
              <a:t>"por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"{entonces} en todas las canastas"</a:t>
            </a:r>
            <a:pPr indent="0" marL="0">
              <a:buNone/>
            </a:pPr>
            <a:r>
              <a:rPr lang="en-US" sz="1400" dirty="0">
                <a:solidFill>
                  <a:srgbClr val="202124"/>
                </a:solidFill>
                <a:latin typeface="Courier New" pitchFamily="34" charset="0"/>
                <a:ea typeface="Courier New" pitchFamily="34" charset="-122"/>
                <a:cs typeface="Courier New" pitchFamily="34" charset="-120"/>
              </a:rPr>
              <a:t>, round(normal, 1), </a:t>
            </a:r>
            <a:pPr indent="0" marL="0">
              <a:buNone/>
            </a:pPr>
            <a:r>
              <a:rPr lang="en-US" sz="1400" dirty="0">
                <a:solidFill>
                  <a:srgbClr val="A31515"/>
                </a:solidFill>
                <a:latin typeface="Courier New" pitchFamily="34" charset="0"/>
                <a:ea typeface="Courier New" pitchFamily="34" charset="-122"/>
                <a:cs typeface="Courier New" pitchFamily="34" charset="-120"/>
              </a:rPr>
              <a:t>"por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"Lift"</a:t>
            </a:r>
            <a:pPr indent="0" marL="0">
              <a:buNone/>
            </a:pPr>
            <a:r>
              <a:rPr lang="en-US" sz="1400" dirty="0">
                <a:solidFill>
                  <a:srgbClr val="202124"/>
                </a:solidFill>
                <a:latin typeface="Courier New" pitchFamily="34" charset="0"/>
                <a:ea typeface="Courier New" pitchFamily="34" charset="-122"/>
                <a:cs typeface="Courier New" pitchFamily="34" charset="-120"/>
              </a:rPr>
              <a:t>, round(lift, 2))</a:t>
            </a:r>
            <a:endParaRPr lang="en-US" sz="1400" dirty="0"/>
          </a:p>
        </p:txBody>
      </p:sp>
      <p:sp>
        <p:nvSpPr>
          <p:cNvPr id="10" name="Text 8"/>
          <p:cNvSpPr/>
          <p:nvPr/>
        </p:nvSpPr>
        <p:spPr>
          <a:xfrm>
            <a:off x="548640" y="6078474"/>
            <a:ext cx="7315200" cy="292608"/>
          </a:xfrm>
          <a:prstGeom prst="rect">
            <a:avLst/>
          </a:prstGeom>
          <a:noFill/>
          <a:ln/>
        </p:spPr>
        <p:txBody>
          <a:bodyPr wrap="square" lIns="0" tIns="0" rIns="0" bIns="0" rtlCol="0" anchor="ctr"/>
          <a:lstStyle/>
          <a:p>
            <a:pPr indent="0" marL="0">
              <a:buNone/>
            </a:pPr>
            <a:r>
              <a:rPr lang="en-US" sz="1300" b="1" dirty="0">
                <a:solidFill>
                  <a:srgbClr val="B06000"/>
                </a:solidFill>
                <a:latin typeface="Calibri" pitchFamily="34" charset="0"/>
                <a:ea typeface="Calibri" pitchFamily="34" charset="-122"/>
                <a:cs typeface="Calibri" pitchFamily="34" charset="-120"/>
              </a:rPr>
              <a:t>Lo que sale y lo que significa, en la lámina siguiente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 y qué significa</a:t>
            </a:r>
            <a:endParaRPr lang="en-US" sz="1400" dirty="0"/>
          </a:p>
        </p:txBody>
      </p:sp>
      <p:sp>
        <p:nvSpPr>
          <p:cNvPr id="6" name="Text 4"/>
          <p:cNvSpPr/>
          <p:nvPr/>
        </p:nvSpPr>
        <p:spPr>
          <a:xfrm>
            <a:off x="548640" y="1508760"/>
            <a:ext cx="640080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223760" y="1508760"/>
            <a:ext cx="441655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400800" cy="1298448"/>
          </a:xfrm>
          <a:prstGeom prst="rect">
            <a:avLst/>
          </a:prstGeom>
          <a:solidFill>
            <a:srgbClr val="FFFFFF"/>
          </a:solidFill>
          <a:ln w="12700">
            <a:solidFill>
              <a:srgbClr val="DADCE0"/>
            </a:solidFill>
            <a:prstDash val="solid"/>
          </a:ln>
        </p:spPr>
      </p:sp>
      <p:sp>
        <p:nvSpPr>
          <p:cNvPr id="9" name="Text 7"/>
          <p:cNvSpPr/>
          <p:nvPr/>
        </p:nvSpPr>
        <p:spPr>
          <a:xfrm>
            <a:off x="731520" y="1965960"/>
            <a:ext cx="6126480" cy="102412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Canastas con falla_electrica 42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Confianza 83.3 por ciento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correctivo en todas las canastas 40.0 por ciento</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Lift 2.08</a:t>
            </a:r>
            <a:endParaRPr lang="en-US" sz="1600" dirty="0"/>
          </a:p>
        </p:txBody>
      </p:sp>
      <p:sp>
        <p:nvSpPr>
          <p:cNvPr id="10" name="Shape 8"/>
          <p:cNvSpPr/>
          <p:nvPr/>
        </p:nvSpPr>
        <p:spPr>
          <a:xfrm>
            <a:off x="548640" y="3264408"/>
            <a:ext cx="6400800" cy="1179576"/>
          </a:xfrm>
          <a:prstGeom prst="roundRect">
            <a:avLst>
              <a:gd name="adj" fmla="val 4651"/>
            </a:avLst>
          </a:prstGeom>
          <a:solidFill>
            <a:srgbClr val="E8F0FE"/>
          </a:solidFill>
          <a:ln w="12700">
            <a:solidFill>
              <a:srgbClr val="E8F0FE"/>
            </a:solidFill>
            <a:prstDash val="solid"/>
          </a:ln>
        </p:spPr>
      </p:sp>
      <p:sp>
        <p:nvSpPr>
          <p:cNvPr id="11" name="Text 9"/>
          <p:cNvSpPr/>
          <p:nvPr/>
        </p:nvSpPr>
        <p:spPr>
          <a:xfrm>
            <a:off x="731520" y="3264408"/>
            <a:ext cx="6035040" cy="1179576"/>
          </a:xfrm>
          <a:prstGeom prst="rect">
            <a:avLst/>
          </a:prstGeom>
          <a:noFill/>
          <a:ln/>
        </p:spPr>
        <p:txBody>
          <a:bodyPr wrap="square" lIns="0" tIns="0" rIns="0" bIns="0" rtlCol="0" anchor="ctr"/>
          <a:lstStyle/>
          <a:p>
            <a:pPr indent="0" marL="0">
              <a:buNone/>
            </a:pPr>
            <a:r>
              <a:rPr lang="en-US" sz="1400" b="1" dirty="0">
                <a:solidFill>
                  <a:srgbClr val="1A73E8"/>
                </a:solidFill>
                <a:latin typeface="Calibri" pitchFamily="34" charset="0"/>
                <a:ea typeface="Calibri" pitchFamily="34" charset="-122"/>
                <a:cs typeface="Calibri" pitchFamily="34" charset="-120"/>
              </a:rPr>
              <a:t>Cómo lo hace  </a:t>
            </a:r>
            <a:pPr indent="0" marL="0">
              <a:buNone/>
            </a:pPr>
            <a:r>
              <a:rPr lang="en-US" sz="1400" dirty="0">
                <a:solidFill>
                  <a:srgbClr val="202124"/>
                </a:solidFill>
                <a:latin typeface="Calibri" pitchFamily="34" charset="0"/>
                <a:ea typeface="Calibri" pitchFamily="34" charset="-122"/>
                <a:cs typeface="Calibri" pitchFamily="34" charset="-120"/>
              </a:rPr>
              <a:t>con_si deja solo las 42 canastas con falla eléctrica. confianza y normal son el mismo porcentaje del Paso 3, uno en esas 42 y otro en las 215. lift divide uno por el otro.</a:t>
            </a:r>
            <a:endParaRPr lang="en-US" sz="1400" dirty="0"/>
          </a:p>
        </p:txBody>
      </p:sp>
      <p:sp>
        <p:nvSpPr>
          <p:cNvPr id="12" name="Shape 10"/>
          <p:cNvSpPr/>
          <p:nvPr/>
        </p:nvSpPr>
        <p:spPr>
          <a:xfrm>
            <a:off x="7223760" y="1828800"/>
            <a:ext cx="4416552" cy="3474720"/>
          </a:xfrm>
          <a:prstGeom prst="roundRect">
            <a:avLst>
              <a:gd name="adj" fmla="val 2105"/>
            </a:avLst>
          </a:prstGeom>
          <a:solidFill>
            <a:srgbClr val="FFF8D6"/>
          </a:solidFill>
          <a:ln w="12700">
            <a:solidFill>
              <a:srgbClr val="FFF8D6"/>
            </a:solidFill>
            <a:prstDash val="solid"/>
          </a:ln>
        </p:spPr>
      </p:sp>
      <p:sp>
        <p:nvSpPr>
          <p:cNvPr id="13" name="Text 11"/>
          <p:cNvSpPr/>
          <p:nvPr/>
        </p:nvSpPr>
        <p:spPr>
          <a:xfrm>
            <a:off x="7498080" y="1965960"/>
            <a:ext cx="3913632" cy="320040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Lift 2,08, el doble de lo normal</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42 canastas con falla eléctrica. En el 83,3 por ciento hay correctivo. Lo normal del correctivo es 40,0. 83,3 dividido por 40,0 da 2,08. Cuando hay una falla eléctrica, el correctivo aparece el doble de lo normal. Esta regla sí dice algo.</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Las tres combinaciones que prueba la celda</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a:tblGrid>
                <a:gridCol w="2926080"/>
                <a:gridCol w="2377440"/>
                <a:gridCol w="1920240"/>
                <a:gridCol w="1920240"/>
                <a:gridCol w="1947672"/>
              </a:tblGrid>
              <a:tr h="566928">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si</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entonces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confianza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lo normal</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lift</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falla_electrica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correctivo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83,3 %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40,0 %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2,08</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falla_electrica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preventivo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52,4 %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56,3 %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0,93</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evento_climatico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falla_mecanica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69,1 %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36,3 %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1,90</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bl>
          </a:graphicData>
        </a:graphic>
      </p:graphicFrame>
      <p:sp>
        <p:nvSpPr>
          <p:cNvPr id="7" name="Shape 4"/>
          <p:cNvSpPr/>
          <p:nvPr/>
        </p:nvSpPr>
        <p:spPr>
          <a:xfrm>
            <a:off x="548640" y="4279392"/>
            <a:ext cx="11091672" cy="1005840"/>
          </a:xfrm>
          <a:prstGeom prst="roundRect">
            <a:avLst>
              <a:gd name="adj" fmla="val 7273"/>
            </a:avLst>
          </a:prstGeom>
          <a:solidFill>
            <a:srgbClr val="FFF8D6"/>
          </a:solidFill>
          <a:ln w="12700">
            <a:solidFill>
              <a:srgbClr val="FFF8D6"/>
            </a:solidFill>
            <a:prstDash val="solid"/>
          </a:ln>
        </p:spPr>
      </p:sp>
      <p:sp>
        <p:nvSpPr>
          <p:cNvPr id="8" name="Text 5"/>
          <p:cNvSpPr/>
          <p:nvPr/>
        </p:nvSpPr>
        <p:spPr>
          <a:xfrm>
            <a:off x="822960" y="4279392"/>
            <a:ext cx="10607040" cy="1005840"/>
          </a:xfrm>
          <a:prstGeom prst="rect">
            <a:avLst/>
          </a:prstGeom>
          <a:noFill/>
          <a:ln/>
        </p:spPr>
        <p:txBody>
          <a:bodyPr wrap="square" lIns="0" tIns="0" rIns="0" bIns="0" rtlCol="0" anchor="ctr"/>
          <a:lstStyle/>
          <a:p>
            <a:pPr indent="0" marL="0">
              <a:buNone/>
            </a:pPr>
            <a:r>
              <a:rPr lang="en-US" sz="1900" dirty="0">
                <a:solidFill>
                  <a:srgbClr val="202124"/>
                </a:solidFill>
                <a:latin typeface="Calibri" pitchFamily="34" charset="0"/>
                <a:ea typeface="Calibri" pitchFamily="34" charset="-122"/>
                <a:cs typeface="Calibri" pitchFamily="34" charset="-120"/>
              </a:rPr>
              <a:t>Dos reglas dicen algo, falla eléctrica con correctivo y evento climático con falla mecánica. Falla eléctrica con preventivo es el pan con la leche, confianza alta pero igual que la costumbre.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Una advertencia antes de sacar conclusiones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En verano se venden más helados y hay más incendios. Van juntos, pero los helados no causan incendios. Los dos vienen del calor.</a:t>
            </a:r>
            <a:endParaRPr lang="en-US" sz="2000" dirty="0"/>
          </a:p>
        </p:txBody>
      </p:sp>
      <p:pic>
        <p:nvPicPr>
          <p:cNvPr id="8" name="Image 0" descr="/tmp/claude-0/-home-claude/53fc5af0-c828-58c7-8b29-cc4adc4b42a1/scratchpad/ppt4/figs/p8_helados.png">    </p:cNvPr>
          <p:cNvPicPr>
            <a:picLocks noChangeAspect="1"/>
          </p:cNvPicPr>
          <p:nvPr/>
        </p:nvPicPr>
        <p:blipFill>
          <a:blip r:embed="rId1"/>
          <a:stretch>
            <a:fillRect/>
          </a:stretch>
        </p:blipFill>
        <p:spPr>
          <a:xfrm>
            <a:off x="548640" y="2524122"/>
            <a:ext cx="11091672" cy="339166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Que dos eventos vayan juntos más de lo normal no prueba que uno cause el otro. En el lab, si el viento rompe piezas lo dice quien conoce las centrales, no el lift. El lift solo dice dónde mirar.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4 · ¿Dos eventos van juntos?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 los meses con falla eléctrica, el correctivo aparece el doble de lo normal. Lift 2,08. Eso es una regla de asociación.</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Falla eléctrica con preventivo parecía una regla y no lo era. Lift 0,93, la costumbre de siempre.</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primera pregunta quedó respondida. Falla eléctrica y correctivo van juntos más que de costumbre. La canasta no dice cuál vino primero, eso lo mira el Paso 5.</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PASO 5  </a:t>
            </a:r>
            <a:pPr indent="0" marL="0">
              <a:buNone/>
            </a:pPr>
            <a:r>
              <a:rPr lang="en-US" sz="2100" b="1" dirty="0">
                <a:solidFill>
                  <a:srgbClr val="202124"/>
                </a:solidFill>
                <a:latin typeface="Calibri" pitchFamily="34" charset="0"/>
                <a:ea typeface="Calibri" pitchFamily="34" charset="-122"/>
                <a:cs typeface="Calibri" pitchFamily="34" charset="-120"/>
              </a:rPr>
              <a:t>Falta la segunda pregunta. Saber que van juntos no sirve para programar la cuadrilla si no sabemos si el correctivo viene después, ni en cuántos días llega.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 el plomero</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Llamaste al plomero diez veces en el año. ¿Llega a tiempo? Depende de qué llames a tiempo.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Si a tiempo es el mismo día, llegó 2 de 10 veces. Si a tiempo es dentro de 3 días, llegó 9 de 10 veces. Son los mismos diez llamados.</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El plazo que uno elige cambia la respuesta. Por eso el plazo se dice siempre junto con el resultado.</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Al plazo le llamamos ventana. Se cuenta cuántas veces lo esperado llegó dentro de la ventana, y se dice qué ventana se usó.</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historia dibujada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Cada cuadro es un llamado y el número son los días que tardó el plomero. En azul, los que llegaron dentro del plazo.</a:t>
            </a:r>
            <a:endParaRPr lang="en-US" sz="2000" dirty="0"/>
          </a:p>
        </p:txBody>
      </p:sp>
      <p:pic>
        <p:nvPicPr>
          <p:cNvPr id="8" name="Image 0" descr="/tmp/claude-0/-home-claude/53fc5af0-c828-58c7-8b29-cc4adc4b42a1/scratchpad/ppt4/figs/p9_gasfiter.png">    </p:cNvPr>
          <p:cNvPicPr>
            <a:picLocks noChangeAspect="1"/>
          </p:cNvPicPr>
          <p:nvPr/>
        </p:nvPicPr>
        <p:blipFill>
          <a:blip r:embed="rId1"/>
          <a:stretch>
            <a:fillRect/>
          </a:stretch>
        </p:blipFill>
        <p:spPr>
          <a:xfrm>
            <a:off x="548640" y="2478288"/>
            <a:ext cx="11091672" cy="3483335"/>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Son los mismos diez llamados en las tres filas. Solo cambia el plazo, y con él cambia cuántos cuentan como a tiempo.</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Mantenimiento armó una planilla con cada falla eléctrica del año y cuántos días pasaron hasta el primer correctivo en esa central.</a:t>
            </a:r>
            <a:endParaRPr lang="en-US" sz="2000" dirty="0"/>
          </a:p>
        </p:txBody>
      </p:sp>
      <p:pic>
        <p:nvPicPr>
          <p:cNvPr id="8" name="Image 0" descr="/tmp/claude-0/-home-claude/53fc5af0-c828-58c7-8b29-cc4adc4b42a1/scratchpad/ppt4/figs/p10_planilla_fallas.png">    </p:cNvPr>
          <p:cNvPicPr>
            <a:picLocks noChangeAspect="1"/>
          </p:cNvPicPr>
          <p:nvPr/>
        </p:nvPicPr>
        <p:blipFill>
          <a:blip r:embed="rId1"/>
          <a:stretch>
            <a:fillRect/>
          </a:stretch>
        </p:blipFill>
        <p:spPr>
          <a:xfrm>
            <a:off x="548640" y="2569955"/>
            <a:ext cx="11091672" cy="3300002"/>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Una fila por cada una de las 47 fallas eléctricas. Cero es el mismo día. Vacío es que en el resto del año no llegó ningún correctivo.</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celda del Paso 5, con el deslizador en 3 días</a:t>
            </a:r>
            <a:endParaRPr lang="en-US" sz="1400" dirty="0"/>
          </a:p>
        </p:txBody>
      </p:sp>
      <p:sp>
        <p:nvSpPr>
          <p:cNvPr id="6" name="Shape 4"/>
          <p:cNvSpPr/>
          <p:nvPr/>
        </p:nvSpPr>
        <p:spPr>
          <a:xfrm>
            <a:off x="548640" y="1481328"/>
            <a:ext cx="11091672" cy="3904488"/>
          </a:xfrm>
          <a:prstGeom prst="roundRect">
            <a:avLst>
              <a:gd name="adj" fmla="val 1405"/>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3712464"/>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Paso 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dias = 3 </a:t>
            </a:r>
            <a:pPr indent="0" marL="0">
              <a:buNone/>
            </a:pPr>
            <a:r>
              <a:rPr lang="en-US" sz="1400" dirty="0">
                <a:solidFill>
                  <a:srgbClr val="80868B"/>
                </a:solidFill>
                <a:latin typeface="Courier New" pitchFamily="34" charset="0"/>
                <a:ea typeface="Courier New" pitchFamily="34" charset="-122"/>
                <a:cs typeface="Courier New" pitchFamily="34" charset="-120"/>
              </a:rPr>
              <a:t>#@param {type:"slider", min:0, max:7, step:1}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 planilla que arma el área de mantenimiento. Una fila por falla eléctrica,</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con los días que pasaron hasta el primer correctivo en la misma central.</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Si nunca llegó un correctivo, la casilla viene vacía.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fallas = pd.read_csv(DATOS + </a:t>
            </a:r>
            <a:pPr indent="0" marL="0">
              <a:buNone/>
            </a:pPr>
            <a:r>
              <a:rPr lang="en-US" sz="1400" dirty="0">
                <a:solidFill>
                  <a:srgbClr val="A31515"/>
                </a:solidFill>
                <a:latin typeface="Courier New" pitchFamily="34" charset="0"/>
                <a:ea typeface="Courier New" pitchFamily="34" charset="-122"/>
                <a:cs typeface="Courier New" pitchFamily="34" charset="-120"/>
              </a:rPr>
              <a:t>"fallas_electricas.csv"</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88038"/>
                </a:solidFill>
                <a:latin typeface="Courier New" pitchFamily="34" charset="0"/>
                <a:ea typeface="Courier New" pitchFamily="34" charset="-122"/>
                <a:cs typeface="Courier New" pitchFamily="34" charset="-120"/>
              </a:rPr>
              <a:t># Las fallas cuyo correctivo llegó dentro de la ventana.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a_tiempo = fallas[fallas[</a:t>
            </a:r>
            <a:pPr indent="0" marL="0">
              <a:buNone/>
            </a:pPr>
            <a:r>
              <a:rPr lang="en-US" sz="1400" dirty="0">
                <a:solidFill>
                  <a:srgbClr val="A31515"/>
                </a:solidFill>
                <a:latin typeface="Courier New" pitchFamily="34" charset="0"/>
                <a:ea typeface="Courier New" pitchFamily="34" charset="-122"/>
                <a:cs typeface="Courier New" pitchFamily="34" charset="-120"/>
              </a:rPr>
              <a:t>"dias_hasta_correctivo"</a:t>
            </a:r>
            <a:pPr indent="0" marL="0">
              <a:buNone/>
            </a:pPr>
            <a:r>
              <a:rPr lang="en-US" sz="1400" dirty="0">
                <a:solidFill>
                  <a:srgbClr val="202124"/>
                </a:solidFill>
                <a:latin typeface="Courier New" pitchFamily="34" charset="0"/>
                <a:ea typeface="Courier New" pitchFamily="34" charset="-122"/>
                <a:cs typeface="Courier New" pitchFamily="34" charset="-120"/>
              </a:rPr>
              <a:t>] &lt;= dias]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porcentaje = 100 * len(a_tiempo) / len(fallas)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"Fallas eléctricas"</a:t>
            </a:r>
            <a:pPr indent="0" marL="0">
              <a:buNone/>
            </a:pPr>
            <a:r>
              <a:rPr lang="en-US" sz="1400" dirty="0">
                <a:solidFill>
                  <a:srgbClr val="202124"/>
                </a:solidFill>
                <a:latin typeface="Courier New" pitchFamily="34" charset="0"/>
                <a:ea typeface="Courier New" pitchFamily="34" charset="-122"/>
                <a:cs typeface="Courier New" pitchFamily="34" charset="-120"/>
              </a:rPr>
              <a:t>, len(fallas))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print(f</a:t>
            </a:r>
            <a:pPr indent="0" marL="0">
              <a:buNone/>
            </a:pPr>
            <a:r>
              <a:rPr lang="en-US" sz="1400" dirty="0">
                <a:solidFill>
                  <a:srgbClr val="A31515"/>
                </a:solidFill>
                <a:latin typeface="Courier New" pitchFamily="34" charset="0"/>
                <a:ea typeface="Courier New" pitchFamily="34" charset="-122"/>
                <a:cs typeface="Courier New" pitchFamily="34" charset="-120"/>
              </a:rPr>
              <a:t>"Con un correctivo dentro de {dias} días"</a:t>
            </a:r>
            <a:pPr indent="0" marL="0">
              <a:buNone/>
            </a:pPr>
            <a:r>
              <a:rPr lang="en-US" sz="1400" dirty="0">
                <a:solidFill>
                  <a:srgbClr val="202124"/>
                </a:solidFill>
                <a:latin typeface="Courier New" pitchFamily="34" charset="0"/>
                <a:ea typeface="Courier New" pitchFamily="34" charset="-122"/>
                <a:cs typeface="Courier New" pitchFamily="34" charset="-120"/>
              </a:rPr>
              <a:t>, len(a_tiempo))</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"Porcentaje"</a:t>
            </a:r>
            <a:pPr indent="0" marL="0">
              <a:buNone/>
            </a:pPr>
            <a:r>
              <a:rPr lang="en-US" sz="1400" dirty="0">
                <a:solidFill>
                  <a:srgbClr val="202124"/>
                </a:solidFill>
                <a:latin typeface="Courier New" pitchFamily="34" charset="0"/>
                <a:ea typeface="Courier New" pitchFamily="34" charset="-122"/>
                <a:cs typeface="Courier New" pitchFamily="34" charset="-120"/>
              </a:rPr>
              <a:t>, round(porcentaje, 1))</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a:t>
            </a:r>
            <a:pPr indent="0" marL="0">
              <a:buNone/>
            </a:pPr>
            <a:r>
              <a:rPr lang="en-US" sz="1400" dirty="0">
                <a:solidFill>
                  <a:srgbClr val="A31515"/>
                </a:solidFill>
                <a:latin typeface="Courier New" pitchFamily="34" charset="0"/>
                <a:ea typeface="Courier New" pitchFamily="34" charset="-122"/>
                <a:cs typeface="Courier New" pitchFamily="34" charset="-120"/>
              </a:rPr>
              <a:t>"Lo que se plantó al crear los datos, 70 por ciento"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p:txBody>
      </p:sp>
      <p:sp>
        <p:nvSpPr>
          <p:cNvPr id="10" name="Text 8"/>
          <p:cNvSpPr/>
          <p:nvPr/>
        </p:nvSpPr>
        <p:spPr>
          <a:xfrm>
            <a:off x="548640" y="5614416"/>
            <a:ext cx="7315200" cy="292608"/>
          </a:xfrm>
          <a:prstGeom prst="rect">
            <a:avLst/>
          </a:prstGeom>
          <a:noFill/>
          <a:ln/>
        </p:spPr>
        <p:txBody>
          <a:bodyPr wrap="square" lIns="0" tIns="0" rIns="0" bIns="0" rtlCol="0" anchor="ctr"/>
          <a:lstStyle/>
          <a:p>
            <a:pPr indent="0" marL="0">
              <a:buNone/>
            </a:pPr>
            <a:r>
              <a:rPr lang="en-US" sz="1300" b="1" dirty="0">
                <a:solidFill>
                  <a:srgbClr val="B06000"/>
                </a:solidFill>
                <a:latin typeface="Calibri" pitchFamily="34" charset="0"/>
                <a:ea typeface="Calibri" pitchFamily="34" charset="-122"/>
                <a:cs typeface="Calibri" pitchFamily="34" charset="-120"/>
              </a:rPr>
              <a:t>Lo que sale y lo que significa, en la lámina siguiente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 y qué significa</a:t>
            </a:r>
            <a:endParaRPr lang="en-US" sz="1400" dirty="0"/>
          </a:p>
        </p:txBody>
      </p:sp>
      <p:sp>
        <p:nvSpPr>
          <p:cNvPr id="6" name="Text 4"/>
          <p:cNvSpPr/>
          <p:nvPr/>
        </p:nvSpPr>
        <p:spPr>
          <a:xfrm>
            <a:off x="548640" y="1508760"/>
            <a:ext cx="658368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406640" y="1508760"/>
            <a:ext cx="423367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583680" cy="1298448"/>
          </a:xfrm>
          <a:prstGeom prst="rect">
            <a:avLst/>
          </a:prstGeom>
          <a:solidFill>
            <a:srgbClr val="FFFFFF"/>
          </a:solidFill>
          <a:ln w="12700">
            <a:solidFill>
              <a:srgbClr val="DADCE0"/>
            </a:solidFill>
            <a:prstDash val="solid"/>
          </a:ln>
        </p:spPr>
      </p:sp>
      <p:sp>
        <p:nvSpPr>
          <p:cNvPr id="9" name="Text 7"/>
          <p:cNvSpPr/>
          <p:nvPr/>
        </p:nvSpPr>
        <p:spPr>
          <a:xfrm>
            <a:off x="731520" y="1965960"/>
            <a:ext cx="6309360" cy="1024128"/>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Fallas eléctricas 47</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Con un correctivo dentro de 3 días 34</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Porcentaje 72.3</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Lo que se plantó al crear los datos, 70 por ciento</a:t>
            </a:r>
            <a:endParaRPr lang="en-US" sz="1600" dirty="0"/>
          </a:p>
        </p:txBody>
      </p:sp>
      <p:sp>
        <p:nvSpPr>
          <p:cNvPr id="10" name="Shape 8"/>
          <p:cNvSpPr/>
          <p:nvPr/>
        </p:nvSpPr>
        <p:spPr>
          <a:xfrm>
            <a:off x="548640" y="3264408"/>
            <a:ext cx="6583680" cy="1481328"/>
          </a:xfrm>
          <a:prstGeom prst="roundRect">
            <a:avLst>
              <a:gd name="adj" fmla="val 3704"/>
            </a:avLst>
          </a:prstGeom>
          <a:solidFill>
            <a:srgbClr val="E8F0FE"/>
          </a:solidFill>
          <a:ln w="12700">
            <a:solidFill>
              <a:srgbClr val="E8F0FE"/>
            </a:solidFill>
            <a:prstDash val="solid"/>
          </a:ln>
        </p:spPr>
      </p:sp>
      <p:sp>
        <p:nvSpPr>
          <p:cNvPr id="11" name="Text 9"/>
          <p:cNvSpPr/>
          <p:nvPr/>
        </p:nvSpPr>
        <p:spPr>
          <a:xfrm>
            <a:off x="731520" y="3264408"/>
            <a:ext cx="6217920" cy="1481328"/>
          </a:xfrm>
          <a:prstGeom prst="rect">
            <a:avLst/>
          </a:prstGeom>
          <a:noFill/>
          <a:ln/>
        </p:spPr>
        <p:txBody>
          <a:bodyPr wrap="square" lIns="0" tIns="0" rIns="0" bIns="0" rtlCol="0" anchor="ctr"/>
          <a:lstStyle/>
          <a:p>
            <a:pPr indent="0" marL="0">
              <a:buNone/>
            </a:pPr>
            <a:r>
              <a:rPr lang="en-US" sz="1400" b="1" dirty="0">
                <a:solidFill>
                  <a:srgbClr val="1A73E8"/>
                </a:solidFill>
                <a:latin typeface="Calibri" pitchFamily="34" charset="0"/>
                <a:ea typeface="Calibri" pitchFamily="34" charset="-122"/>
                <a:cs typeface="Calibri" pitchFamily="34" charset="-120"/>
              </a:rPr>
              <a:t>Cómo lo hace  </a:t>
            </a:r>
            <a:pPr indent="0" marL="0">
              <a:buNone/>
            </a:pPr>
            <a:r>
              <a:rPr lang="en-US" sz="1400" dirty="0">
                <a:solidFill>
                  <a:srgbClr val="202124"/>
                </a:solidFill>
                <a:latin typeface="Calibri" pitchFamily="34" charset="0"/>
                <a:ea typeface="Calibri" pitchFamily="34" charset="-122"/>
                <a:cs typeface="Calibri" pitchFamily="34" charset="-120"/>
              </a:rPr>
              <a:t>a_tiempo deja las fallas cuyo correctivo llegó en 3 días o menos y porcentaje las divide por las 47. La última línea recuerda que los datos del curso son inventados y que al inventarlos se fijó un 70 por ciento. El 72,3 confirma que la cuenta lo encontró.</a:t>
            </a:r>
            <a:endParaRPr lang="en-US" sz="1400" dirty="0"/>
          </a:p>
        </p:txBody>
      </p:sp>
      <p:sp>
        <p:nvSpPr>
          <p:cNvPr id="12" name="Shape 10"/>
          <p:cNvSpPr/>
          <p:nvPr/>
        </p:nvSpPr>
        <p:spPr>
          <a:xfrm>
            <a:off x="7406640" y="1828800"/>
            <a:ext cx="4233672" cy="2569464"/>
          </a:xfrm>
          <a:prstGeom prst="roundRect">
            <a:avLst>
              <a:gd name="adj" fmla="val 2847"/>
            </a:avLst>
          </a:prstGeom>
          <a:solidFill>
            <a:srgbClr val="FFF8D6"/>
          </a:solidFill>
          <a:ln w="12700">
            <a:solidFill>
              <a:srgbClr val="FFF8D6"/>
            </a:solidFill>
            <a:prstDash val="solid"/>
          </a:ln>
        </p:spPr>
      </p:sp>
      <p:sp>
        <p:nvSpPr>
          <p:cNvPr id="13" name="Text 11"/>
          <p:cNvSpPr/>
          <p:nvPr/>
        </p:nvSpPr>
        <p:spPr>
          <a:xfrm>
            <a:off x="7680960" y="1965960"/>
            <a:ext cx="3730752" cy="2295144"/>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72,3 % dentro de 3 días</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De las 47 fallas eléctricas, 34 tuvieron un correctivo en la misma central dentro de los 3 días siguientes. Eso es 7 de cada 10.</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Todas las fallas, según cuánto tardó el correctivo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Siete de cada diez fallas eléctricas tienen su correctivo en los tres días siguientes. Del día 4 al 7 no llega ninguno.</a:t>
            </a:r>
            <a:endParaRPr lang="en-US" sz="2000" dirty="0"/>
          </a:p>
        </p:txBody>
      </p:sp>
      <p:pic>
        <p:nvPicPr>
          <p:cNvPr id="8" name="Image 0" descr="/tmp/claude-0/-home-claude/53fc5af0-c828-58c7-8b29-cc4adc4b42a1/scratchpad/ppt4/figs/p11_dias.png">    </p:cNvPr>
          <p:cNvPicPr>
            <a:picLocks noChangeAspect="1"/>
          </p:cNvPicPr>
          <p:nvPr/>
        </p:nvPicPr>
        <p:blipFill>
          <a:blip r:embed="rId1"/>
          <a:stretch>
            <a:fillRect/>
          </a:stretch>
        </p:blipFill>
        <p:spPr>
          <a:xfrm>
            <a:off x="1662219" y="2450592"/>
            <a:ext cx="8864514"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los días hasta el correctivo. Eje vertical, cuántas fallas. En azul, las 34 que caen dentro de 3 días. En gris, 9 que tardaron más de una semana y 4 que no tuvieron correctivo nunca.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Paso 5 · ¿En cuántos días llega el correctivo?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 mismo cálculo moviendo el deslizador</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a:tblGrid>
                <a:gridCol w="2743200"/>
                <a:gridCol w="5029200"/>
                <a:gridCol w="3319272"/>
              </a:tblGrid>
              <a:tr h="566928">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ventana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fallas con correctivo a tiempo</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c>
                  <a:txBody>
                    <a:bodyPr/>
                    <a:lstStyle/>
                    <a:p>
                      <a:pPr algn="l" indent="0" marL="0">
                        <a:buNone/>
                      </a:pPr>
                      <a:r>
                        <a:rPr lang="en-US" sz="1900" b="1" dirty="0">
                          <a:solidFill>
                            <a:srgbClr val="5F6368"/>
                          </a:solidFill>
                          <a:latin typeface="Calibri" pitchFamily="34" charset="0"/>
                          <a:ea typeface="Calibri" pitchFamily="34" charset="-122"/>
                          <a:cs typeface="Calibri" pitchFamily="34" charset="-120"/>
                        </a:rPr>
                        <a:t>porcentaje</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1F3F4"/>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0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7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14,9 %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1 día</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19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40,4 %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34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c>
                  <a:txBody>
                    <a:bodyPr/>
                    <a:lstStyle/>
                    <a:p>
                      <a:pPr algn="l" indent="0" marL="0">
                        <a:buNone/>
                      </a:pPr>
                      <a:r>
                        <a:rPr lang="en-US" sz="1900" b="1" dirty="0">
                          <a:solidFill>
                            <a:srgbClr val="1A73E8"/>
                          </a:solidFill>
                          <a:latin typeface="Calibri" pitchFamily="34" charset="0"/>
                          <a:ea typeface="Calibri" pitchFamily="34" charset="-122"/>
                          <a:cs typeface="Calibri" pitchFamily="34" charset="-120"/>
                        </a:rPr>
                        <a:t>72,3 %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8F0FE"/>
                    </a:solidFill>
                  </a:tcPr>
                </a:tc>
              </a:tr>
              <a:tr h="566928">
                <a:tc>
                  <a:txBody>
                    <a:bodyPr/>
                    <a:lstStyle/>
                    <a:p>
                      <a:pPr algn="l" indent="0" marL="0">
                        <a:buNone/>
                      </a:pPr>
                      <a:r>
                        <a:rPr lang="en-US" sz="1900" b="1" dirty="0">
                          <a:solidFill>
                            <a:srgbClr val="202124"/>
                          </a:solidFill>
                          <a:latin typeface="Calibri" pitchFamily="34" charset="0"/>
                          <a:ea typeface="Calibri" pitchFamily="34" charset="-122"/>
                          <a:cs typeface="Calibri" pitchFamily="34" charset="-120"/>
                        </a:rPr>
                        <a:t>7 días</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34 de 47</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02124"/>
                          </a:solidFill>
                          <a:latin typeface="Calibri" pitchFamily="34" charset="0"/>
                          <a:ea typeface="Calibri" pitchFamily="34" charset="-122"/>
                          <a:cs typeface="Calibri" pitchFamily="34" charset="-120"/>
                        </a:rPr>
                        <a:t>72,3 %</a:t>
                      </a:r>
                      <a:endParaRPr lang="en-US" sz="1900" dirty="0">
                        <a:latin typeface="Calibri" charset="0"/>
                        <a:ea typeface="Calibri" charset="0"/>
                        <a:cs typeface="Calibri" charset="0"/>
                      </a:endParaRPr>
                    </a:p>
                  </a:txBody>
                  <a:tcPr marL="114300" marR="1143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846320"/>
            <a:ext cx="11091672" cy="1005840"/>
          </a:xfrm>
          <a:prstGeom prst="roundRect">
            <a:avLst>
              <a:gd name="adj" fmla="val 7273"/>
            </a:avLst>
          </a:prstGeom>
          <a:solidFill>
            <a:srgbClr val="FFF8D6"/>
          </a:solidFill>
          <a:ln w="12700">
            <a:solidFill>
              <a:srgbClr val="FFF8D6"/>
            </a:solidFill>
            <a:prstDash val="solid"/>
          </a:ln>
        </p:spPr>
      </p:sp>
      <p:sp>
        <p:nvSpPr>
          <p:cNvPr id="8" name="Text 5"/>
          <p:cNvSpPr/>
          <p:nvPr/>
        </p:nvSpPr>
        <p:spPr>
          <a:xfrm>
            <a:off x="822960" y="4846320"/>
            <a:ext cx="10607040" cy="1005840"/>
          </a:xfrm>
          <a:prstGeom prst="rect">
            <a:avLst/>
          </a:prstGeom>
          <a:noFill/>
          <a:ln/>
        </p:spPr>
        <p:txBody>
          <a:bodyPr wrap="square" lIns="0" tIns="0" rIns="0" bIns="0" rtlCol="0" anchor="ctr"/>
          <a:lstStyle/>
          <a:p>
            <a:pPr indent="0" marL="0">
              <a:buNone/>
            </a:pPr>
            <a:r>
              <a:rPr lang="en-US" sz="1900" dirty="0">
                <a:solidFill>
                  <a:srgbClr val="202124"/>
                </a:solidFill>
                <a:latin typeface="Calibri" pitchFamily="34" charset="0"/>
                <a:ea typeface="Calibri" pitchFamily="34" charset="-122"/>
                <a:cs typeface="Calibri" pitchFamily="34" charset="-120"/>
              </a:rPr>
              <a:t>Los mismos datos dan 15 o 72 por ciento según la ventana, igual que el plomero. Con 7 días da lo mismo que con 3, porque del día 4 al 7 no llegó ninguno. La ventana se dice junto con el resultado.</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Una idea más, que queda para la casa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canasta junta todo lo que pasó en un mes, pero no sabe en qué orden pasó. Dentro de la canasta da lo mismo qué fue primero.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Para saber qué viene después de qué, se hace como con el libro de novedades. Se ordena por fecha y, al lado de cada evento, se anota el que vino justo después.</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Después se cuenta. De todas las veces que hubo una falla eléctrica, ¿qué se anotó a continuación?</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A eso se le llama secuencia. La canasta dice qué va junto. La secuencia dice qué viene después.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viene después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el Estudio 4</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A la izquierda, lo que vino justo después de cada falla eléctrica. A la derecha, después de cada evento climático.</a:t>
            </a:r>
            <a:endParaRPr lang="en-US" sz="2000" dirty="0"/>
          </a:p>
        </p:txBody>
      </p:sp>
      <p:pic>
        <p:nvPicPr>
          <p:cNvPr id="8" name="Image 0" descr="/tmp/claude-0/-home-claude/53fc5af0-c828-58c7-8b29-cc4adc4b42a1/scratchpad/ppt4/figs/p15_despues.png">    </p:cNvPr>
          <p:cNvPicPr>
            <a:picLocks noChangeAspect="1"/>
          </p:cNvPicPr>
          <p:nvPr/>
        </p:nvPicPr>
        <p:blipFill>
          <a:blip r:embed="rId1"/>
          <a:stretch>
            <a:fillRect/>
          </a:stretch>
        </p:blipFill>
        <p:spPr>
          <a:xfrm>
            <a:off x="1261636" y="2450592"/>
            <a:ext cx="9665681"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vertical, el evento que vino después. Eje horizontal, en qué porcentaje de las veces. Después de una falla eléctrica, en 8 de cada 10 veces lo siguiente es un correctivo. Después de un evento climático, 6 de cada 10 veces una falla mecánica.</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Las respuestas para mantenimiento</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el área puede hacer con la bitácora</a:t>
            </a:r>
            <a:endParaRPr lang="en-US" sz="1800" dirty="0"/>
          </a:p>
        </p:txBody>
      </p:sp>
      <p:sp>
        <p:nvSpPr>
          <p:cNvPr id="4" name="Shape 2"/>
          <p:cNvSpPr/>
          <p:nvPr/>
        </p:nvSpPr>
        <p:spPr>
          <a:xfrm>
            <a:off x="548640" y="1645920"/>
            <a:ext cx="11091672" cy="1463040"/>
          </a:xfrm>
          <a:prstGeom prst="roundRect">
            <a:avLst>
              <a:gd name="adj" fmla="val 5000"/>
            </a:avLst>
          </a:prstGeom>
          <a:solidFill>
            <a:srgbClr val="E8F0FE"/>
          </a:solidFill>
          <a:ln w="12700">
            <a:solidFill>
              <a:srgbClr val="E8F0FE"/>
            </a:solidFill>
            <a:prstDash val="solid"/>
          </a:ln>
        </p:spPr>
      </p:sp>
      <p:sp>
        <p:nvSpPr>
          <p:cNvPr id="5" name="Text 3"/>
          <p:cNvSpPr/>
          <p:nvPr/>
        </p:nvSpPr>
        <p:spPr>
          <a:xfrm>
            <a:off x="822960" y="17556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Falla eléctrica y correctivo, ¿van juntos más que de costumbre?</a:t>
            </a:r>
            <a:endParaRPr lang="en-US" sz="1800" dirty="0"/>
          </a:p>
        </p:txBody>
      </p:sp>
      <p:sp>
        <p:nvSpPr>
          <p:cNvPr id="6" name="Text 4"/>
          <p:cNvSpPr/>
          <p:nvPr/>
        </p:nvSpPr>
        <p:spPr>
          <a:xfrm>
            <a:off x="822960" y="21488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Sí. En los meses con falla eléctrica el correctivo aparece el doble de lo normal, lift 2,08. Y en 8 de cada 10 veces es lo siguiente que pasa en esa central.</a:t>
            </a:r>
            <a:endParaRPr lang="en-US" sz="2100" dirty="0"/>
          </a:p>
        </p:txBody>
      </p:sp>
      <p:sp>
        <p:nvSpPr>
          <p:cNvPr id="7" name="Shape 5"/>
          <p:cNvSpPr/>
          <p:nvPr/>
        </p:nvSpPr>
        <p:spPr>
          <a:xfrm>
            <a:off x="548640" y="3246120"/>
            <a:ext cx="11091672" cy="1463040"/>
          </a:xfrm>
          <a:prstGeom prst="roundRect">
            <a:avLst>
              <a:gd name="adj" fmla="val 5000"/>
            </a:avLst>
          </a:prstGeom>
          <a:solidFill>
            <a:srgbClr val="E8F0FE"/>
          </a:solidFill>
          <a:ln w="12700">
            <a:solidFill>
              <a:srgbClr val="E8F0FE"/>
            </a:solidFill>
            <a:prstDash val="solid"/>
          </a:ln>
        </p:spPr>
      </p:sp>
      <p:sp>
        <p:nvSpPr>
          <p:cNvPr id="8" name="Text 6"/>
          <p:cNvSpPr/>
          <p:nvPr/>
        </p:nvSpPr>
        <p:spPr>
          <a:xfrm>
            <a:off x="822960" y="33558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¿En cuántos días llega?</a:t>
            </a:r>
            <a:endParaRPr lang="en-US" sz="1800" dirty="0"/>
          </a:p>
        </p:txBody>
      </p:sp>
      <p:sp>
        <p:nvSpPr>
          <p:cNvPr id="9" name="Text 7"/>
          <p:cNvSpPr/>
          <p:nvPr/>
        </p:nvSpPr>
        <p:spPr>
          <a:xfrm>
            <a:off x="822960" y="37490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En 7 de cada 10 fallas, dentro de los 3 días siguientes. Entre el día 4 y el 7 no llega ninguno más.</a:t>
            </a:r>
            <a:endParaRPr lang="en-US" sz="2100" dirty="0"/>
          </a:p>
        </p:txBody>
      </p:sp>
      <p:sp>
        <p:nvSpPr>
          <p:cNvPr id="10" name="Shape 8"/>
          <p:cNvSpPr/>
          <p:nvPr/>
        </p:nvSpPr>
        <p:spPr>
          <a:xfrm>
            <a:off x="548640" y="4846320"/>
            <a:ext cx="11091672" cy="1463040"/>
          </a:xfrm>
          <a:prstGeom prst="roundRect">
            <a:avLst>
              <a:gd name="adj" fmla="val 5000"/>
            </a:avLst>
          </a:prstGeom>
          <a:solidFill>
            <a:srgbClr val="FFF8D6"/>
          </a:solidFill>
          <a:ln w="12700">
            <a:solidFill>
              <a:srgbClr val="FFF8D6"/>
            </a:solidFill>
            <a:prstDash val="solid"/>
          </a:ln>
        </p:spPr>
      </p:sp>
      <p:sp>
        <p:nvSpPr>
          <p:cNvPr id="11" name="Text 9"/>
          <p:cNvSpPr/>
          <p:nvPr/>
        </p:nvSpPr>
        <p:spPr>
          <a:xfrm>
            <a:off x="822960" y="4956048"/>
            <a:ext cx="10607040" cy="411480"/>
          </a:xfrm>
          <a:prstGeom prst="rect">
            <a:avLst/>
          </a:prstGeom>
          <a:noFill/>
          <a:ln/>
        </p:spPr>
        <p:txBody>
          <a:bodyPr wrap="square" lIns="0" tIns="0" rIns="0" bIns="0" rtlCol="0" anchor="ctr"/>
          <a:lstStyle/>
          <a:p>
            <a:pPr indent="0" marL="0">
              <a:buNone/>
            </a:pPr>
            <a:r>
              <a:rPr lang="en-US" sz="1800" b="1" dirty="0">
                <a:solidFill>
                  <a:srgbClr val="8A6D00"/>
                </a:solidFill>
                <a:latin typeface="Calibri" pitchFamily="34" charset="0"/>
                <a:ea typeface="Calibri" pitchFamily="34" charset="-122"/>
                <a:cs typeface="Calibri" pitchFamily="34" charset="-120"/>
              </a:rPr>
              <a:t>Qué conviene hacer</a:t>
            </a:r>
            <a:endParaRPr lang="en-US" sz="1800" dirty="0"/>
          </a:p>
        </p:txBody>
      </p:sp>
      <p:sp>
        <p:nvSpPr>
          <p:cNvPr id="12" name="Text 10"/>
          <p:cNvSpPr/>
          <p:nvPr/>
        </p:nvSpPr>
        <p:spPr>
          <a:xfrm>
            <a:off x="822960" y="53492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Después de una falla eléctrica, tener una cuadrilla lista para los 3 días siguientes.</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3" name="Text 1"/>
          <p:cNvSpPr/>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Abran el Lab 04 guiado. Corran los Pasos 1 y 2 sin detenerse, y trabajen los Pasos 3, 4 y 5. La Parte 2 queda para la casa, empezando por el Estudio 4.</a:t>
            </a:r>
            <a:endParaRPr lang="en-US" sz="2000" dirty="0"/>
          </a:p>
        </p:txBody>
      </p:sp>
      <p:sp>
        <p:nvSpPr>
          <p:cNvPr id="4" name="Text 2"/>
          <p:cNvSpPr/>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coincide, escriban en el chat el número del paso.</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9AB00"/>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PARA LA CASA</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Lo que queda para estudiar con calma, en el mismo cuaderno y con la guía en PDF.</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4   </a:t>
            </a:r>
            <a:pPr indent="0" marL="0">
              <a:buNone/>
            </a:pPr>
            <a:r>
              <a:rPr lang="en-US" sz="2400" dirty="0">
                <a:solidFill>
                  <a:srgbClr val="0B3D62"/>
                </a:solidFill>
                <a:latin typeface="Calibri" pitchFamily="34" charset="0"/>
                <a:ea typeface="Calibri" pitchFamily="34" charset="-122"/>
                <a:cs typeface="Calibri" pitchFamily="34" charset="-120"/>
              </a:rPr>
              <a:t>Qué viene después de cada evento. Es la secuencia que vimos hoy, ahora corriendo la celda.</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Cuánto dura cada tipo de evento. Contar no es lo mismo que medir.</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Qué le pasa a cada tecnología. El merge del Lab 01 aplicado a la bitácora.</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El lift de todas las parejas a la vez, sin probarlas una por una.</a:t>
            </a:r>
            <a:endParaRPr lang="en-US" sz="2400" dirty="0"/>
          </a:p>
        </p:txBody>
      </p:sp>
      <p:sp>
        <p:nvSpPr>
          <p:cNvPr id="16" name="Shape 14"/>
          <p:cNvSpPr/>
          <p:nvPr/>
        </p:nvSpPr>
        <p:spPr>
          <a:xfrm>
            <a:off x="731520" y="5349240"/>
            <a:ext cx="548640" cy="548640"/>
          </a:xfrm>
          <a:prstGeom prst="ellipse">
            <a:avLst/>
          </a:prstGeom>
          <a:solidFill>
            <a:srgbClr val="0B3D62"/>
          </a:solidFill>
          <a:ln w="12700">
            <a:solidFill>
              <a:srgbClr val="0B3D62"/>
            </a:solidFill>
            <a:prstDash val="solid"/>
          </a:ln>
        </p:spPr>
      </p:sp>
      <p:sp>
        <p:nvSpPr>
          <p:cNvPr id="17" name="Text 15"/>
          <p:cNvSpPr/>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8" name="Text 16"/>
          <p:cNvSpPr/>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Guía   </a:t>
            </a:r>
            <a:pPr indent="0" marL="0">
              <a:buNone/>
            </a:pPr>
            <a:r>
              <a:rPr lang="en-US" sz="2400" dirty="0">
                <a:solidFill>
                  <a:srgbClr val="0B3D62"/>
                </a:solidFill>
                <a:latin typeface="Calibri" pitchFamily="34" charset="0"/>
                <a:ea typeface="Calibri" pitchFamily="34" charset="-122"/>
                <a:cs typeface="Calibri" pitchFamily="34" charset="-120"/>
              </a:rPr>
              <a:t>La guía del alumno del Lab 04 trae cada estudio explicado con su respuesta.</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04 guiado · Minería de datos</dc:title>
  <dc:subject>PptxGenJS Presentation</dc:subject>
  <dc:creator>PptxGenJS</dc:creator>
  <cp:lastModifiedBy>PptxGenJS</cp:lastModifiedBy>
  <cp:revision>1</cp:revision>
  <dcterms:created xsi:type="dcterms:W3CDTF">2026-10-21T00:09:06Z</dcterms:created>
  <dcterms:modified xsi:type="dcterms:W3CDTF">2026-10-21T00:09:06Z</dcterms:modified>
</cp:coreProperties>
</file>