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TIEMPOS SUGERIDOS
Esta presentación 30 min y el Lab 04 guiado en Colab 45 min.
ESTA LÁMINA
Tres ideas. Agrupar una bitácora en canastas, medir si dos eventos van juntos más de lo normal y mirar qué evento viene después de otro. La palabra clave del día es lift.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esta lámina al comienzo. Hoy se ven solo estos 5 pasos, que son la Parte 1 del cuaderno. La Parte 2 está al final del mismo cuaderno y queda para la casa, con la guía en PDF. Se muestra en la última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punto es una fila de la bitácora, un evento de una central. El color es el tipo de evento y las líneas grises separan los meses.
DECIR
En el Paso 2 cada central en cada mes se convierte en una canasta.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mant = pd.read_csv(DATOS + "mantenimiento.csv", parse_dates=["fecha"])
La bitácora de mantenimiento del año, un evento por fila. parse_dates convierte la columna fecha en fecha.
mant["central"].nunique()
Cuántas centrales distintas aparecen.
mant[["central", "fecha", "tipo_evento", "duracion_horas"]].head()
Los dobles corchetes eligen varias columnas a la vez. La bitácora trae también una observación en texto libre que se usa en el Lab 05.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print( ... )
Muestra en pantalla lo que va dentro. Si van varias cosas separadas por coma, las muestra en una línea con un espacio entre ellas.
len( ... )
Cuenta cuántos elementos tiene una lista o cuántas filas tiene una tabla.
tabla["columna"]
Corchetes con un nombre entre comillas eligen una columna de la tabla. También eligen una llave de un diccionario.
.nunique()
Cuántos valores distintos hay.
tabla[["a", "b"]]
Doble corchete elige varias columnas a la vez. El de adentro es la lista de nombres.
["a", "b"]
Una lista de textos. Dentro de una instrucción de pandas suele indicar varias columnas a la vez.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corchete con un nombre da una columna. Doble corchete con una lista da una tabla con esas columnas.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print( ... )
Muestra en pantalla lo que va dentro. Si van varias cosas separadas por coma, las muestra en una línea con un espacio entre ellas.
len( ... )
Cuenta cuántos elementos tiene una lista o cuántas filas tiene una tabla.
tabla["columna"]
Corchetes con un nombre entre comillas eligen una columna de la tabla. También eligen una llave de un diccionario.
.nunique()
Cuántos valores distintos hay.
tabla[["a", "b"]]
Doble corchete elige varias columnas a la vez. El de adentro es la lista de nombres.
["a", "b"]
Una lista de textos. Dentro de una instrucción de pandas suele indicar varias columnas a la vez.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600 eventos de las 20 centrales.
DECIR
Esta tabla es como la que llena un turno a mano. Cada fila es algo que pasó en una central un día.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print( ... )
Muestra en pantalla lo que va dentro. Si van varias cosas separadas por coma, las muestra en una línea con un espacio entre ellas.
len( ... )
Cuenta cuántos elementos tiene una lista o cuántas filas tiene una tabla.
tabla["columna"]
Corchetes con un nombre entre comillas eligen una columna de la tabla. También eligen una llave de un diccionario.
.nunique()
Cuántos valores distintos hay.
tabla[["a", "b"]]
Doble corchete elige varias columnas a la vez. El de adentro es la lista de nombres.
["a", "b"]
Una lista de textos. Dentro de una instrucción de pandas suele indicar varias columnas a la vez.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Esta es la materia prima del lab. En el Paso 2 se agrupa por central y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Cinco eventos de Costa Brava entre enero y marzo. Cada color es un mes. Los del mismo mes se juntan en una sola fila, la canasta.
DECIR
Como una boleta de supermercado, que junta lo que se compró en una visita.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mant["mes"] = mant["fecha"].dt.month
Una columna nueva con el número del mes.
canastas = mant.groupby(["central", "mes"])["tipo_evento"].apply(lambda s: sorted(set(s)))
Junta los eventos de cada central y mes en una lista. Ver la lámina de sintaxis, es la línea más difícil del lab.
canastas.apply(len).mean()
Cuántos eventos distintos tiene cada canasta, en promedio.
SINTAXIS DE TODO EL CÓDIGO DE ESTA CELDA
# comentario
Todo lo que va después del signo # es un comentario. Python no lo ejecuta, sirve para explicar el código a quien lo lee.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.dt.
Abre las herramientas de fecha de la columna.
.dt.month
El número del mes, de 1 a 12.
.groupby(columna)
Separa las filas en grupos según los valores de la columna. Con una lista, por varias columnas a la vez. Lo que viene después se calcula por grupo.
["a", "b"]
Una lista de textos. Dentro de una instrucción de pandas suele indicar varias columnas a la vez.
.apply(función)
Aplica la función a cada grupo o a cada elemento.
lambda x: ...
Una función de una línea y sin nombre. x es lo que recibe y lo que va después de los dos puntos es lo que devuelve.
sorted( ... )
Ordena los elementos y los entrega como lista.
set( ... )
Un conjunto. Deja cada elemento una sola vez, sin repetidos.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a.b().c()
Cadena de pasos. Cada punto toma lo que salió a su izquierda y le aplica algo más. Se lee de izquierda a derecha.
.mean()
El promedio. En una columna de True y False, la proporción de True.
.head(n)
Las primeras n filas. Sin n, cinco.
.to_frame("nombre")
Convierte una columna suelta en una tabla de una columna, con ese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línea más difícil del lab. Leerla de adentro hacia afuera, set quita repetidos, sorted ordena, apply lo hace en cada grupo.
SINTAXIS DE TODO EL CÓDIGO DE ESTA CELDA
# comentario
Todo lo que va después del signo # es un comentario. Python no lo ejecuta, sirve para explicar el código a quien lo lee.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.dt.
Abre las herramientas de fecha de la columna.
.dt.month
El número del mes, de 1 a 12.
.groupby(columna)
Separa las filas en grupos según los valores de la columna. Con una lista, por varias columnas a la vez. Lo que viene después se calcula por grupo.
["a", "b"]
Una lista de textos. Dentro de una instrucción de pandas suele indicar varias columnas a la vez.
.apply(función)
Aplica la función a cada grupo o a cada elemento.
lambda x: ...
Una función de una línea y sin nombre. x es lo que recibe y lo que va después de los dos puntos es lo que devuelve.
sorted( ... )
Ordena los elementos y los entrega como lista.
set( ... )
Un conjunto. Deja cada elemento una sola vez, sin repetidos.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a.b().c()
Cadena de pasos. Cada punto toma lo que salió a su izquierda y le aplica algo más. Se lee de izquierda a derecha.
.mean()
El promedio. En una columna de True y False, la proporción de True.
.head(n)
Las primeras n filas. Sin n, cinco.
.to_frame("nombre")
Convierte una columna suelta en una tabla de una columna, con ese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215 canastas, con 2,2 eventos distintos en promedio.
DECIR
Una canasta es como una boleta de supermercado. En vez de pan y leche, lleva preventivo y correctivo.
SINTAXIS DE TODO EL CÓDIGO DE ESTA CELDA
# comentario
Todo lo que va después del signo # es un comentario. Python no lo ejecuta, sirve para explicar el código a quien lo lee.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.dt.
Abre las herramientas de fecha de la columna.
.dt.month
El número del mes, de 1 a 12.
.groupby(columna)
Separa las filas en grupos según los valores de la columna. Con una lista, por varias columnas a la vez. Lo que viene después se calcula por grupo.
["a", "b"]
Una lista de textos. Dentro de una instrucción de pandas suele indicar varias columnas a la vez.
.apply(función)
Aplica la función a cada grupo o a cada elemento.
lambda x: ...
Una función de una línea y sin nombre. x es lo que recibe y lo que va después de los dos puntos es lo que devuelve.
sorted( ... )
Ordena los elementos y los entrega como lista.
set( ... )
Un conjunto. Deja cada elemento una sola vez, sin repetidos.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a.b().c()
Cadena de pasos. Cada punto toma lo que salió a su izquierda y le aplica algo más. Se lee de izquierda a derecha.
.mean()
El promedio. En una columna de True y False, la proporción de True.
.head(n)
Las primeras n filas. Sin n, cinco.
.to_frame("nombre")
Convierte una columna suelta en una tabla de una columna, con ese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set quita los repetidos, porque aquí importa si el evento pasó o no, no cuántas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seis canastas como listas. A la derecha la misma información con una columna por tipo de evento y un ✓ donde ocurrió.
DECIR
Con esta forma de tabla se puede contar y comparar. Promediar una columna da en qué porcentaje de canastas aparece.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tabla = pd.crosstab([mant["central"], mant["mes"]], mant["tipo_evento"]) &gt; 0
crosstab cuenta eventos por canasta y por tipo. &gt; 0 lo convierte en sí o no. Ver la lámina de sintaxis.
tabla.mean()
El promedio de una columna de sí o no es la proporción de sí. Multiplicado por 100 es el porcentaje.
tabla.head(6).map(lambda v: "✓" if v else "")
Solo para mostrar. Cambia verdadero por ✓ y falso por nada.
SINTAXIS DE TODO EL CÓDIGO DE ESTA CELDA
# comentario
Todo lo que va después del signo # es un comentario. Python no lo ejecuta, sirve para explicar el código a quien lo lee.
&lt; &gt; &lt;= &gt;=
Menor, mayor, menor o igual, mayor o igual. Dan True o False. Con una columna, comparan fila por fila.
nombre = valor
Un solo signo igual guarda. A la izquierda va el nombre y a la derecha lo que se guarda. Si el nombre ya existía, su valor anterior se reemplaza.
pd.crosstab(filas, columnas)
Cuenta cuántas filas hay en cada combinación. Arma una tabla de doble entrada con conteos.
tabla["columna"]
Corchetes con un nombre entre comillas eligen una columna de la tabla. También eligen una llave de un diccionario.
"texto"
Lo que va entre comillas es texto. Sin comillas, Python lo entiende como un nombre o un número.
print( ... )
Muestra en pantalla lo que va dentro. Si van varias cosas separadas por coma, las muestra en una línea con un espacio entre ellas.
.shape
Filas y columnas de la tabla.
print()
Vacío, deja una línea en blanco.
*
Multiplica.
.mean()
El promedio. En una columna de True y False, la proporción de True.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
.map(función)
Aplica la función a cada celda.
lambda x: ...
Una función de una línea y sin nombre. x es lo que recibe y lo que va después de los dos puntos es lo que devuelve.
a if condición else b
Escrito en una sola línea, da a si la condición es verdadera y b si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crosstab es como pivot_table cuando solo se quiere contar.
SINTAXIS DE TODO EL CÓDIGO DE ESTA CELDA
# comentario
Todo lo que va después del signo # es un comentario. Python no lo ejecuta, sirve para explicar el código a quien lo lee.
&lt; &gt; &lt;= &gt;=
Menor, mayor, menor o igual, mayor o igual. Dan True o False. Con una columna, comparan fila por fila.
nombre = valor
Un solo signo igual guarda. A la izquierda va el nombre y a la derecha lo que se guarda. Si el nombre ya existía, su valor anterior se reemplaza.
pd.crosstab(filas, columnas)
Cuenta cuántas filas hay en cada combinación. Arma una tabla de doble entrada con conteos.
tabla["columna"]
Corchetes con un nombre entre comillas eligen una columna de la tabla. También eligen una llave de un diccionario.
"texto"
Lo que va entre comillas es texto. Sin comillas, Python lo entiende como un nombre o un número.
print( ... )
Muestra en pantalla lo que va dentro. Si van varias cosas separadas por coma, las muestra en una línea con un espacio entre ellas.
.shape
Filas y columnas de la tabla.
print()
Vacío, deja una línea en blanco.
*
Multiplica.
.mean()
El promedio. En una columna de True y False, la proporción de True.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
.map(función)
Aplica la función a cada celda.
lambda x: ...
Una función de una línea y sin nombre. x es lo que recibe y lo que va después de los dos puntos es lo que devuelve.
a if condición else b
Escrito en una sola línea, da a si la condición es verdadera y b si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cambia cómo se ve. La tabla que se usa para calcular sigue con verdadero y falso.
SINTAXIS DE TODO EL CÓDIGO DE ESTA CELDA
# comentario
Todo lo que va después del signo # es un comentario. Python no lo ejecuta, sirve para explicar el código a quien lo lee.
&lt; &gt; &lt;= &gt;=
Menor, mayor, menor o igual, mayor o igual. Dan True o False. Con una columna, comparan fila por fila.
nombre = valor
Un solo signo igual guarda. A la izquierda va el nombre y a la derecha lo que se guarda. Si el nombre ya existía, su valor anterior se reemplaza.
pd.crosstab(filas, columnas)
Cuenta cuántas filas hay en cada combinación. Arma una tabla de doble entrada con conteos.
tabla["columna"]
Corchetes con un nombre entre comillas eligen una columna de la tabla. También eligen una llave de un diccionario.
"texto"
Lo que va entre comillas es texto. Sin comillas, Python lo entiende como un nombre o un número.
print( ... )
Muestra en pantalla lo que va dentro. Si van varias cosas separadas por coma, las muestra en una línea con un espacio entre ellas.
.shape
Filas y columnas de la tabla.
print()
Vacío, deja una línea en blanco.
*
Multiplica.
.mean()
El promedio. En una columna de True y False, la proporción de True.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
.map(función)
Aplica la función a cada celda.
lambda x: ...
Una función de una línea y sin nombre. x es lo que recibe y lo que va después de los dos puntos es lo que devuelve.
a if condición else b
Escrito en una sola línea, da a si la condición es verdadera y b si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El preventivo aparece en el 56,3 por ciento de las canastas, el correctivo en el 40,0 y la falla eléctrica en el 19,5.
DECIR
Estos porcentajes son lo normal. En el paso siguiente los vamos a usar para comparar.
SINTAXIS DE TODO EL CÓDIGO DE ESTA CELDA
# comentario
Todo lo que va después del signo # es un comentario. Python no lo ejecuta, sirve para explicar el código a quien lo lee.
&lt; &gt; &lt;= &gt;=
Menor, mayor, menor o igual, mayor o igual. Dan True o False. Con una columna, comparan fila por fila.
nombre = valor
Un solo signo igual guarda. A la izquierda va el nombre y a la derecha lo que se guarda. Si el nombre ya existía, su valor anterior se reemplaza.
pd.crosstab(filas, columnas)
Cuenta cuántas filas hay en cada combinación. Arma una tabla de doble entrada con conteos.
tabla["columna"]
Corchetes con un nombre entre comillas eligen una columna de la tabla. También eligen una llave de un diccionario.
"texto"
Lo que va entre comillas es texto. Sin comillas, Python lo entiende como un nombre o un número.
print( ... )
Muestra en pantalla lo que va dentro. Si van varias cosas separadas por coma, las muestra en una línea con un espacio entre ellas.
.shape
Filas y columnas de la tabla.
print()
Vacío, deja una línea en blanco.
*
Multiplica.
.mean()
El promedio. En una columna de True y False, la proporción de True.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
.map(función)
Aplica la función a cada celda.
lambda x: ...
Una función de una línea y sin nombre. x es lo que recibe y lo que va después de los dos puntos es lo que devuelve.
a if condición else b
Escrito en una sola línea, da a si la condición es verdadera y b si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True vale 1 y False vale 0. Por eso el promedio de la columna es la proporción.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cuadrito es una canasta. Arriba a la izquierda, el correctivo aparece en el 40 por ciento de todas. Arriba a la derecha, en las 42 con falla eléctrica aparece en el 83. El doble, lift 2,08.
Abajo el preventivo. 56 en todas y 52 con falla eléctrica. Lo mismo de siempre, lift 0,93.
DECIR
La confianza sola engaña. 52 por ciento parece una regla, pero es lo que pasa en cualquier canasta.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si y entonces con #@param
Dos desplegables, el evento que pasa primero y el que queremos ver si lo acompaña.
con_si = tabla[si].sum()
Cuántas canastas tienen el evento si.
con_los_dos = (tabla[si] &amp; tabla[entonces]).sum()
Cuántas tienen los dos a la vez. Ver la lámina de sintaxis.
confianza
De las canastas con si, qué porcentaje tiene también entonces.
normal
En qué porcentaje de todas las canastas aparece entonces.
lift = confianza / normal
Cuántas veces más de lo normal. Sobre 1 van juntos, cerca de 1 no hay relación.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else:
En cualquier otro caso. No lleva condición.
.sum()
Suma la columna. En una columna de True y False, cuenta los True.
&amp;
Se lee y. Con columnas de True y False, queda True solo donde las dos son verdaderas. Cada condición tiene que ir entre paréntesis.
*
Multiplica.
/
Divide.
.mean()
El promedio. En una columna de True y False, la proporción de True.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si y entonces son nombres guardados, sin comillas. Su valor es el que se eligió en la lista.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else:
En cualquier otro caso. No lleva condición.
.sum()
Suma la columna. En una columna de True y False, cuenta los True.
&amp;
Se lee y. Con columnas de True y False, queda True solo donde las dos son verdaderas. Cada condición tiene que ir entre paréntesis.
*
Multiplica.
/
Divide.
.mean()
El promedio. En una columna de True y False, la proporción de True.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42 canastas con falla eléctrica, 35 también con correctivo. Confianza 83,3 contra 40,0 normal. Lift 2,08.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else:
En cualquier otro caso. No lleva condición.
.sum()
Suma la columna. En una columna de True y False, cuenta los True.
&amp;
Se lee y. Con columnas de True y False, queda True solo donde las dos son verdaderas. Cada condición tiene que ir entre paréntesis.
*
Multiplica.
/
Divide.
.mean()
El promedio. En una columna de True y False, la proporción de True.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preventivo en entonces.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else:
En cualquier otro caso. No lleva condición.
.sum()
Suma la columna. En una columna de True y False, cuenta los True.
&amp;
Se lee y. Con columnas de True y False, queda True solo donde las dos son verdaderas. Cada condición tiene que ir entre paréntesis.
*
Multiplica.
/
Divide.
.mean()
El promedio. En una columna de True y False, la proporción de True.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Confianza 52,4, pero el preventivo aparece en el 56,3 de todas. Lift 0,93.
DECIR
Más de la mitad suena a regla, pero es lo mismo que pasa en cualquier canasta. Volver al diagrama si hace falta.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else:
En cualquier otro caso. No lleva condición.
.sum()
Suma la columna. En una columna de True y False, cuenta los True.
&amp;
Se lee y. Con columnas de True y False, queda True solo donde las dos son verdaderas. Cada condición tiene que ir entre paréntesis.
*
Multiplica.
/
Divide.
.mean()
El promedio. En una columna de True y False, la proporción de True.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Prueben falla_electrica con preventivo. La confianza sale alta, 52,4, pero el lift es 0,93. El preventivo aparece en todas partes.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Cuántas fallas tuvieron su primer correctivo a los 0, 1, 2 y 3 días. Abajo el acumulado, 14,9, 40,4, 55,3 y 72,3. Del día 4 al 7 no hay ninguna.
DECIR
Por eso con el deslizador en 3 o en 7 da lo mismo. El patrón se plantó con tres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dias con #@param
Un deslizador de 0 a 7 días.
electricas y correctivos
Dos filtros.
pares = pd.merge(electricas[...], correctivos[...], on="central", suffixes=...)
Junta cada falla con todos los correctivos de su misma central.
distancia = (pares["fecha_correctivo"] - pares["fecha_falla"]).dt.days
Restar dos fechas da una duración. dt.days la pasa a número de días.
cerca = pares[(distancia &gt;= 0) &amp; (distancia &lt;= dias)]
Deja los correctivos que llegan el mismo día o hasta dias después.
cerca[["central", "fecha_falla"]].drop_duplicates()
Una falla puede tener dos correctivos cerca. Se cuenta una sola vez.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pd.merge(izquierda, derecha, ...)
Une dos tablas buscando la pareja de cada fila, como el BUSCARV.
tabla[["a", "b"]]
Doble corchete elige varias columnas a la vez. El de adentro es la lista de nombres.
["a", "b"]
Una lista de textos. Dentro de una instrucción de pandas suele indicar varias columnas a la vez.
sangría
Las líneas corridas hacia la derecha dependen de la línea de arriba que termina en dos puntos. En Python la sangría es obligatoria.
on=
La columna, o la lista de columnas, que tienen en común las dos tablas y que se usa para buscar la pareja.
suffixes=(...)
Si las dos tablas tienen una columna con el mismo nombre, le agrega estos apellidos para distinguirlas.
-
Resta. Restar dos fechas da el tiempo que pasó entre ellas.
.dt.
Abre las herramientas de fecha de la columna.
.dt.days
Una duración pasada a número de días.
&lt; &gt; &lt;= &gt;=
Menor, mayor, menor o igual, mayor o igual. Dan True o False. Con una columna, comparan fila por fila.
&amp;
Se lee y. Con columnas de True y False, queda True solo donde las dos son verdaderas. Cada condición tiene que ir entre paréntesis.
.drop_duplicates()
Quita las filas repetidas y deja la primera.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pd.merge(izquierda, derecha, ...)
Une dos tablas buscando la pareja de cada fila, como el BUSCARV.
tabla[["a", "b"]]
Doble corchete elige varias columnas a la vez. El de adentro es la lista de nombres.
["a", "b"]
Una lista de textos. Dentro de una instrucción de pandas suele indicar varias columnas a la vez.
sangría
Las líneas corridas hacia la derecha dependen de la línea de arriba que termina en dos puntos. En Python la sangría es obligatoria.
on=
La columna, o la lista de columnas, que tienen en común las dos tablas y que se usa para buscar la pareja.
suffixes=(...)
Si las dos tablas tienen una columna con el mismo nombre, le agrega estos apellidos para distinguirlas.
-
Resta. Restar dos fechas da el tiempo que pasó entre ellas.
.dt.
Abre las herramientas de fecha de la columna.
.dt.days
Una duración pasada a número de días.
&lt; &gt; &lt;= &gt;=
Menor, mayor, menor o igual, mayor o igual. Dan True o False. Con una columna, comparan fila por fila.
&amp;
Se lee y. Con columnas de True y False, queda True solo donde las dos son verdaderas. Cada condición tiene que ir entre paréntesis.
.drop_duplicates()
Quita las filas repetidas y deja la primera.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mismo filtro con dos condiciones del Lab 02.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pd.merge(izquierda, derecha, ...)
Une dos tablas buscando la pareja de cada fila, como el BUSCARV.
tabla[["a", "b"]]
Doble corchete elige varias columnas a la vez. El de adentro es la lista de nombres.
["a", "b"]
Una lista de textos. Dentro de una instrucción de pandas suele indicar varias columnas a la vez.
sangría
Las líneas corridas hacia la derecha dependen de la línea de arriba que termina en dos puntos. En Python la sangría es obligatoria.
on=
La columna, o la lista de columnas, que tienen en común las dos tablas y que se usa para buscar la pareja.
suffixes=(...)
Si las dos tablas tienen una columna con el mismo nombre, le agrega estos apellidos para distinguirlas.
-
Resta. Restar dos fechas da el tiempo que pasó entre ellas.
.dt.
Abre las herramientas de fecha de la columna.
.dt.days
Una duración pasada a número de días.
&lt; &gt; &lt;= &gt;=
Menor, mayor, menor o igual, mayor o igual. Dan True o False. Con una columna, comparan fila por fila.
&amp;
Se lee y. Con columnas de True y False, queda True solo donde las dos son verdaderas. Cada condición tiene que ir entre paréntesis.
.drop_duplicates()
Quita las filas repetidas y deja la primera.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34 de 47 fallas tienen un correctivo dentro de 3 días, 72,3 por ciento. Se plantó 70.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pd.merge(izquierda, derecha, ...)
Une dos tablas buscando la pareja de cada fila, como el BUSCARV.
tabla[["a", "b"]]
Doble corchete elige varias columnas a la vez. El de adentro es la lista de nombres.
["a", "b"]
Una lista de textos. Dentro de una instrucción de pandas suele indicar varias columnas a la vez.
sangría
Las líneas corridas hacia la derecha dependen de la línea de arriba que termina en dos puntos. En Python la sangría es obligatoria.
on=
La columna, o la lista de columnas, que tienen en común las dos tablas y que se usa para buscar la pareja.
suffixes=(...)
Si las dos tablas tienen una columna con el mismo nombre, le agrega estos apellidos para distinguirlas.
-
Resta. Restar dos fechas da el tiempo que pasó entre ellas.
.dt.
Abre las herramientas de fecha de la columna.
.dt.days
Una duración pasada a número de días.
&lt; &gt; &lt;= &gt;=
Menor, mayor, menor o igual, mayor o igual. Dan True o False. Con una columna, comparan fila por fila.
&amp;
Se lee y. Con columnas de True y False, queda True solo donde las dos son verdaderas. Cada condición tiene que ir entre paréntesis.
.drop_duplicates()
Quita las filas repetidas y deja la primera.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movió el deslizador a 0.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pd.merge(izquierda, derecha, ...)
Une dos tablas buscando la pareja de cada fila, como el BUSCARV.
tabla[["a", "b"]]
Doble corchete elige varias columnas a la vez. El de adentro es la lista de nombres.
["a", "b"]
Una lista de textos. Dentro de una instrucción de pandas suele indicar varias columnas a la vez.
sangría
Las líneas corridas hacia la derecha dependen de la línea de arriba que termina en dos puntos. En Python la sangría es obligatoria.
on=
La columna, o la lista de columnas, que tienen en común las dos tablas y que se usa para buscar la pareja.
suffixes=(...)
Si las dos tablas tienen una columna con el mismo nombre, le agrega estos apellidos para distinguirlas.
-
Resta. Restar dos fechas da el tiempo que pasó entre ellas.
.dt.
Abre las herramientas de fecha de la columna.
.dt.days
Una duración pasada a número de días.
&lt; &gt; &lt;= &gt;=
Menor, mayor, menor o igual, mayor o igual. Dan True o False. Con una columna, comparan fila por fila.
&amp;
Se lee y. Con columnas de True y False, queda True solo donde las dos son verdaderas. Cada condición tiene que ir entre paréntesis.
.drop_duplicates()
Quita las filas repetidas y deja la primera.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El mismo día, solo 7 de 47, 14,9 por ciento.
PREGUNTAR
¿Qué ventana pondrían en un informe? Mostrar el diagrama, desde los 3 días ya no sube.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pd.merge(izquierda, derecha, ...)
Une dos tablas buscando la pareja de cada fila, como el BUSCARV.
tabla[["a", "b"]]
Doble corchete elige varias columnas a la vez. El de adentro es la lista de nombres.
["a", "b"]
Una lista de textos. Dentro de una instrucción de pandas suele indicar varias columnas a la vez.
sangría
Las líneas corridas hacia la derecha dependen de la línea de arriba que termina en dos puntos. En Python la sangría es obligatoria.
on=
La columna, o la lista de columnas, que tienen en común las dos tablas y que se usa para buscar la pareja.
suffixes=(...)
Si las dos tablas tienen una columna con el mismo nombre, le agrega estos apellidos para distinguirlas.
-
Resta. Restar dos fechas da el tiempo que pasó entre ellas.
.dt.
Abre las herramientas de fecha de la columna.
.dt.days
Una duración pasada a número de días.
&lt; &gt; &lt;= &gt;=
Menor, mayor, menor o igual, mayor o igual. Dan True o False. Con una columna, comparan fila por fila.
&amp;
Se lee y. Con columnas de True y False, queda True solo donde las dos son verdaderas. Cada condición tiene que ir entre paréntesis.
.drop_duplicates()
Quita las filas repetidas y deja la primera.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misma idea de los cortes del Lab 00 y de las estrategias del Lab 03. El resultado depende de una decisión y esa decisión se 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PASAR ESTA LÁMINA
Aquí termina lo que se ve en clase. Desde esta lámina vienen los estudios de la Parte 2, explicados igual que los pasos, para que los alumnos los repasen en la casa. Cada lámina lleva arriba la etiqueta naranja PARA LA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punto es un evento. La raya negra es el promedio y la roja el máximo. A la derecha la tabla que entrega agg.
DECIR
La falla mecánica dura más y varía mucho. La inspección es corta y pareja.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mant.groupby("tipo_evento")["duracion_horas"].agg(...)
Agrupa por tipo de evento y calcula tres cosas de la duración, cuántos eventos, el promedio y el máximo. Igual que en el Paso 5 del Lab 02.
round(1).sort_values("eventos", ascending=False)
Redondea y ordena del más frecuente al menos frecuente.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El preventivo es el más frecuente con 158 eventos. La falla mecánica deja la central detenida 50,6 horas en promedio.
DECIR
La falla mecánica es la que más dura en promedio. La inspección casi nada.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los eventos climáticos por tecnología, casi todos en eólicas. A la derecha las fallas eléctricas, más repartidas.
DECIR
Antes de comparar conteos hay que mirar cuántas centrales tiene cada tecnología.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tipo con #@param
Desplegable con los seis tipos de evento.
con_ficha = pd.merge(mant, centrales, on="central", how="left")
A cada evento se le pega la ficha de su central, como en el Lab 01. left para no perder ningún evento.
elegidos = con_ficha[con_ficha["tipo_evento"] == tipo]
Un filtro.
elegidos["tecnologia"].value_counts()
Cuenta los eventos por tecnología.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se filtra por el tipo elegido y value_counts cuenta por tecnología.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De los 80 eventos climáticos, 55 son de eólicas.
PREGUNTAR
¿Por qué las eólicas? Porque están expuestas al viento y a las tormentas.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falla_electrica.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47 fallas eléctricas repartidas entre todas las tecnologías.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Hay más centrales hidro y solares que eólicas, y aun así los eventos climáticos se concentran en las eólicas. Eso sí dice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Una casilla por pareja, si en las filas y entonces en las columnas. Las dos azules tienen lift cercano a 2. La marcada en rojo tiene confianza alta y lift bajo.
DECIR
La celda ordena por confianza. Por eso hay que mirar la columna lift antes de sacar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filas = []
Una lista vacía donde se van guardando los resultados.
Los dos for
Recorren todas las parejas de tipos de evento. El if salta las parejas de un evento consigo mismo.
filas.append({...})
Agrega a la lista una fila con los números de la pareja, el mismo cálculo del Paso 4.
reglas = pd.DataFrame(filas)
Convierte la lista en tabla.
sort_values("confianza", ascending=False).head(6)
Las seis de mayor confianza.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for elemento in lista:
Repite las líneas con sangría una vez por cada elemento. En cada vuelta, elemento toma el valor siguiente.
.columns
Los nombres de las columnas.
sangría
Las líneas corridas hacia la derecha dependen de la línea de arriba que termina en dos puntos. En Python la sangría es obligatoria.
if condición:
Si la condición es verdadera, se ejecutan las líneas con sangría que vienen debajo. Los dos puntos cierran la condición.
!=
Pregunta si son distintos.
&amp;
Se lee y. Con columnas de True y False, queda True solo donde las dos son verdaderas. Cada condición tiene que ir entre paréntesis.
.sum()
Suma la columna. En una columna de True y False, cuenta los True.
/
Divide.
lista.append(x)
Agrega x al final de la lista.
{"nombre": valor}
Un diccionario. Cada nombre entre comillas, la llave, tiene su valor a la derecha de los dos puntos. Se consulta con corchetes, diccionario["nombre"].
"texto"
Lo que va entre comillas es texto. Sin comillas, Python lo entiende como un nombre o un número.
round(valor, n)
Redondea un número a n decimales. Sin n, al entero más cercano.
*
Multiplica.
.mean()
El promedio. En una columna de True y False, la proporción de True.
pd.DataFrame( ... )
Arma una tabla. Con un diccionario de listas, cada llave es una columna. Con una lista de diccionarios, cada diccionario es una fila.
print( ... )
Muestra en pantalla lo que va dentro. Si van varias cosas separadas por coma, las muestra en una línea con un espacio entre ellas.
len( ... )
Cuenta cuántos elementos tiene una lista o cuántas filas tiene una tabla.
a.b().c()
Cadena de pasos. Cada punto toma lo que salió a su izquierda y le aplica algo más. Se lee de izquierda a derecha.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for dentro de otro. El de adentro da todas sus vueltas por cada vuelta del de afuera.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for elemento in lista:
Repite las líneas con sangría una vez por cada elemento. En cada vuelta, elemento toma el valor siguiente.
.columns
Los nombres de las columnas.
sangría
Las líneas corridas hacia la derecha dependen de la línea de arriba que termina en dos puntos. En Python la sangría es obligatoria.
if condición:
Si la condición es verdadera, se ejecutan las líneas con sangría que vienen debajo. Los dos puntos cierran la condición.
!=
Pregunta si son distintos.
&amp;
Se lee y. Con columnas de True y False, queda True solo donde las dos son verdaderas. Cada condición tiene que ir entre paréntesis.
.sum()
Suma la columna. En una columna de True y False, cuenta los True.
/
Divide.
lista.append(x)
Agrega x al final de la lista.
{"nombre": valor}
Un diccionario. Cada nombre entre comillas, la llave, tiene su valor a la derecha de los dos puntos. Se consulta con corchetes, diccionario["nombre"].
"texto"
Lo que va entre comillas es texto. Sin comillas, Python lo entiende como un nombre o un número.
round(valor, n)
Redondea un número a n decimales. Sin n, al entero más cercano.
*
Multiplica.
.mean()
El promedio. En una columna de True y False, la proporción de True.
pd.DataFrame( ... )
Arma una tabla. Con un diccionario de listas, cada llave es una columna. Con una lista de diccionarios, cada diccionario es una fila.
print( ... )
Muestra en pantalla lo que va dentro. Si van varias cosas separadas por coma, las muestra en una línea con un espacio entre ellas.
len( ... )
Cuenta cuántos elementos tiene una lista o cuántas filas tiene una tabla.
a.b().c()
Cadena de pasos. Cada punto toma lo que salió a su izquierda y le aplica algo más. Se lee de izquierda a derecha.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for elemento in lista:
Repite las líneas con sangría una vez por cada elemento. En cada vuelta, elemento toma el valor siguiente.
.columns
Los nombres de las columnas.
sangría
Las líneas corridas hacia la derecha dependen de la línea de arriba que termina en dos puntos. En Python la sangría es obligatoria.
if condición:
Si la condición es verdadera, se ejecutan las líneas con sangría que vienen debajo. Los dos puntos cierran la condición.
!=
Pregunta si son distintos.
&amp;
Se lee y. Con columnas de True y False, queda True solo donde las dos son verdaderas. Cada condición tiene que ir entre paréntesis.
.sum()
Suma la columna. En una columna de True y False, cuenta los True.
/
Divide.
lista.append(x)
Agrega x al final de la lista.
{"nombre": valor}
Un diccionario. Cada nombre entre comillas, la llave, tiene su valor a la derecha de los dos puntos. Se consulta con corchetes, diccionario["nombre"].
"texto"
Lo que va entre comillas es texto. Sin comillas, Python lo entiende como un nombre o un número.
round(valor, n)
Redondea un número a n decimales. Sin n, al entero más cercano.
*
Multiplica.
.mean()
El promedio. En una columna de True y False, la proporción de True.
pd.DataFrame( ... )
Arma una tabla. Con un diccionario de listas, cada llave es una columna. Con una lista de diccionarios, cada diccionario es una fila.
print( ... )
Muestra en pantalla lo que va dentro. Si van varias cosas separadas por coma, las muestra en una línea con un espacio entre ellas.
len( ... )
Cuenta cuántos elementos tiene una lista o cuántas filas tiene una tabla.
a.b().c()
Cadena de pasos. Cada punto toma lo que salió a su izquierda y le aplica algo más. Se lee de izquierda a derecha.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30 parejas. Arriba falla eléctrica con correctivo y evento climático con falla mecánica, con lift cercano a 2. Las siguientes tienen confianza sobre 50 pero lift bajo 1.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for elemento in lista:
Repite las líneas con sangría una vez por cada elemento. En cada vuelta, elemento toma el valor siguiente.
.columns
Los nombres de las columnas.
sangría
Las líneas corridas hacia la derecha dependen de la línea de arriba que termina en dos puntos. En Python la sangría es obligatoria.
if condición:
Si la condición es verdadera, se ejecutan las líneas con sangría que vienen debajo. Los dos puntos cierran la condición.
!=
Pregunta si son distintos.
&amp;
Se lee y. Con columnas de True y False, queda True solo donde las dos son verdaderas. Cada condición tiene que ir entre paréntesis.
.sum()
Suma la columna. En una columna de True y False, cuenta los True.
/
Divide.
lista.append(x)
Agrega x al final de la lista.
{"nombre": valor}
Un diccionario. Cada nombre entre comillas, la llave, tiene su valor a la derecha de los dos puntos. Se consulta con corchetes, diccionario["nombre"].
"texto"
Lo que va entre comillas es texto. Sin comillas, Python lo entiende como un nombre o un número.
round(valor, n)
Redondea un número a n decimales. Sin n, al entero más cercano.
*
Multiplica.
.mean()
El promedio. En una columna de True y False, la proporción de True.
pd.DataFrame( ... )
Arma una tabla. Con un diccionario de listas, cada llave es una columna. Con una lista de diccionarios, cada diccionario es una fila.
print( ... )
Muestra en pantalla lo que va dentro. Si van varias cosas separadas por coma, las muestra en una línea con un espacio entre ellas.
len( ... )
Cuenta cuántos elementos tiene una lista o cuántas filas tiene una tabla.
a.b().c()
Cadena de pasos. Cada punto toma lo que salió a su izquierda y le aplica algo más. Se lee de izquierda a derecha.
.sort_values( ... )
Ordena. Por defecto de menor a mayor. En una tabla se indica la columna.
ascending=False
Ordena de mayor a menor.
True y False
Verdadero y falso. Al sumarlos, True vale 1 y False vale 0, por eso sumar una columna de True y False cuenta los verdaderos.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Pedirles que lean la tabla de abajo hacia arriba y que se fijen solo en el lift. Las únicas dos sobre 1,5 son los patrones que se plantaron al crear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los eventos de una central ordenados por fecha. La columna siguiente es el tipo de evento de la fila de abajo. A la derecha lo que viene después de una falla eléctrica.
DECIR
groupby por central evita mezclar el último evento de una central con el primero de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evento con #@param
El evento del que queremos saber qué viene después.
ordenados = mant.sort_values(["central", "fecha"]).copy()
Ordena por central y por fecha.
ordenados["siguiente"] = ordenados.groupby("central")["tipo_evento"].shift(-1)
shift(-1) trae el valor de la fila de abajo. Agrupado por central, no se mezcla una central con otra. Ver la lámina de sintaxis.
transicion = pd.crosstab(..., normalize="index")
Cuenta qué viene después de qué, y normalize="index" convierte cada fila en proporciones que suman uno.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.copy()
Una copia. Lo que se cambie en la copia no toca el original.
tabla["columna"]
Corchetes con un nombre entre comillas eligen una columna de la tabla. También eligen una llave de un diccionario.
tabla["nueva"] = ...
Guarda el resultado como una columna. Si no existía, la crea.
.groupby(columna)
Separa las filas en grupos según los valores de la columna. Con una lista, por varias columnas a la vez. Lo que viene después se calcula por grupo.
.shift(-1)
Corre la columna. Con -1, cada fila recibe el valor de la fila de abajo.
normalize="index"
En crosstab, convierte cada fila en proporciones que suman uno.
pd.crosstab(filas, columnas)
Cuenta cuántas filas hay en cada combinación. Arma una tabla de doble entrada con conteos.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f"... {nombre} ..."
Texto con una f delante. Lo que va entre llaves se reemplaza por su valor al mostrarse.
*
Multiplica.
.loc[filas, columna]
Elige filas y columnas a la vez. Con = a la derecha cambia solo esas celdas.
.round(n)
Redondea a n decimales.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último evento de cada central queda sin siguiente, vacío.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.copy()
Una copia. Lo que se cambie en la copia no toca el original.
tabla["columna"]
Corchetes con un nombre entre comillas eligen una columna de la tabla. También eligen una llave de un diccionario.
tabla["nueva"] = ...
Guarda el resultado como una columna. Si no existía, la crea.
.groupby(columna)
Separa las filas en grupos según los valores de la columna. Con una lista, por varias columnas a la vez. Lo que viene después se calcula por grupo.
.shift(-1)
Corre la columna. Con -1, cada fila recibe el valor de la fila de abajo.
normalize="index"
En crosstab, convierte cada fila en proporciones que suman uno.
pd.crosstab(filas, columnas)
Cuenta cuántas filas hay en cada combinación. Arma una tabla de doble entrada con conteos.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f"... {nombre} ..."
Texto con una f delante. Lo que va entre llaves se reemplaza por su valor al mostrarse.
*
Multiplica.
.loc[filas, columna]
Elige filas y columnas a la vez. Con = a la derecha cambia solo esas celdas.
.round(n)
Redondea a n decimales.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.copy()
Una copia. Lo que se cambie en la copia no toca el original.
tabla["columna"]
Corchetes con un nombre entre comillas eligen una columna de la tabla. También eligen una llave de un diccionario.
tabla["nueva"] = ...
Guarda el resultado como una columna. Si no existía, la crea.
.groupby(columna)
Separa las filas en grupos según los valores de la columna. Con una lista, por varias columnas a la vez. Lo que viene después se calcula por grupo.
.shift(-1)
Corre la columna. Con -1, cada fila recibe el valor de la fila de abajo.
normalize="index"
En crosstab, convierte cada fila en proporciones que suman uno.
pd.crosstab(filas, columnas)
Cuenta cuántas filas hay en cada combinación. Arma una tabla de doble entrada con conteos.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f"... {nombre} ..."
Texto con una f delante. Lo que va entre llaves se reemplaza por su valor al mostrarse.
*
Multiplica.
.loc[filas, columna]
Elige filas y columnas a la vez. Con = a la derecha cambia solo esas celdas.
.round(n)
Redondea a n decimales.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Después de una falla eléctrica viene un correctivo en el 78,7 por ciento.
DECIR
Aquí sí importa el orden. En las canastas daba igual si el correctivo fue antes o después.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.copy()
Una copia. Lo que se cambie en la copia no toca el original.
tabla["columna"]
Corchetes con un nombre entre comillas eligen una columna de la tabla. También eligen una llave de un diccionario.
tabla["nueva"] = ...
Guarda el resultado como una columna. Si no existía, la crea.
.groupby(columna)
Separa las filas en grupos según los valores de la columna. Con una lista, por varias columnas a la vez. Lo que viene después se calcula por grupo.
.shift(-1)
Corre la columna. Con -1, cada fila recibe el valor de la fila de abajo.
normalize="index"
En crosstab, convierte cada fila en proporciones que suman uno.
pd.crosstab(filas, columnas)
Cuenta cuántas filas hay en cada combinación. Arma una tabla de doble entrada con conteos.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f"... {nombre} ..."
Texto con una f delante. Lo que va entre llaves se reemplaza por su valor al mostrarse.
*
Multiplica.
.loc[filas, columna]
Elige filas y columnas a la vez. Con = a la derecha cambia solo esas celdas.
.round(n)
Redondea a n decimales.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evento_climatico.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.copy()
Una copia. Lo que se cambie en la copia no toca el original.
tabla["columna"]
Corchetes con un nombre entre comillas eligen una columna de la tabla. También eligen una llave de un diccionario.
tabla["nueva"] = ...
Guarda el resultado como una columna. Si no existía, la crea.
.groupby(columna)
Separa las filas en grupos según los valores de la columna. Con una lista, por varias columnas a la vez. Lo que viene después se calcula por grupo.
.shift(-1)
Corre la columna. Con -1, cada fila recibe el valor de la fila de abajo.
normalize="index"
En crosstab, convierte cada fila en proporciones que suman uno.
pd.crosstab(filas, columnas)
Cuenta cuántas filas hay en cada combinación. Arma una tabla de doble entrada con conteos.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f"... {nombre} ..."
Texto con una f delante. Lo que va entre llaves se reemplaza por su valor al mostrarse.
*
Multiplica.
.loc[filas, columna]
Elige filas y columnas a la vez. Con = a la derecha cambia solo esas celdas.
.round(n)
Redondea a n decimales.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Después de un evento climático viene una falla mecánica en el 60,3 por ciento.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.copy()
Una copia. Lo que se cambie en la copia no toca el original.
tabla["columna"]
Corchetes con un nombre entre comillas eligen una columna de la tabla. También eligen una llave de un diccionario.
tabla["nueva"] = ...
Guarda el resultado como una columna. Si no existía, la crea.
.groupby(columna)
Separa las filas en grupos según los valores de la columna. Con una lista, por varias columnas a la vez. Lo que viene después se calcula por grupo.
.shift(-1)
Corre la columna. Con -1, cada fila recibe el valor de la fila de abajo.
normalize="index"
En crosstab, convierte cada fila en proporciones que suman uno.
pd.crosstab(filas, columnas)
Cuenta cuántas filas hay en cada combinación. Arma una tabla de doble entrada con conteos.
sangría
Las líneas corridas hacia la derecha dependen de la línea de arriba que termina en dos puntos. En Python la sangría es obligatoria.
print( ... )
Muestra en pantalla lo que va dentro. Si van varias cosas separadas por coma, las muestra en una línea con un espacio entre ellas.
f"... {nombre} ..."
Texto con una f delante. Lo que va entre llaves se reemplaza por su valor al mostrarse.
*
Multiplica.
.loc[filas, columna]
Elige filas y columnas a la vez. Con = a la derecha cambia solo esas celdas.
.round(n)
Redondea a n decimales.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Después de una falla eléctrica casi el 80 por ciento de las veces viene un correctivo. Es lo mismo que midió el Paso 5 con la ventana de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Pegar en el chat el enlace del Lab 04 guiado.
CIERRE
La idea que se tienen que llevar es que una confianza alta no basta. Siempre se compara con lo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128016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Lab 04 guiado · Minería de datos</a:t>
            </a:r>
            <a:endParaRPr lang="en-US" sz="4000" dirty="0"/>
          </a:p>
        </p:txBody>
      </p:sp>
      <p:sp>
        <p:nvSpPr>
          <p:cNvPr id="3" name="Text 1"/>
          <p:cNvSpPr txBox="1"/>
          <p:nvPr/>
        </p:nvSpPr>
        <p:spPr>
          <a:xfrm>
            <a:off x="731520" y="214884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Parte 1 en clase, 5 pasos · Parte 2 para la casa, 4 estudios</a:t>
            </a:r>
            <a:endParaRPr lang="en-US" sz="2000" dirty="0"/>
          </a:p>
        </p:txBody>
      </p:sp>
      <p:sp>
        <p:nvSpPr>
          <p:cNvPr id="4" name="Shape 2"/>
          <p:cNvSpPr/>
          <p:nvPr/>
        </p:nvSpPr>
        <p:spPr>
          <a:xfrm>
            <a:off x="731520" y="3200400"/>
            <a:ext cx="502920" cy="502920"/>
          </a:xfrm>
          <a:prstGeom prst="ellipse">
            <a:avLst/>
          </a:prstGeom>
          <a:solidFill>
            <a:srgbClr val="F9AB00"/>
          </a:solidFill>
          <a:ln w="12700">
            <a:solidFill>
              <a:srgbClr val="F9AB00"/>
            </a:solidFill>
            <a:prstDash val="solid"/>
          </a:ln>
        </p:spPr>
      </p:sp>
      <p:sp>
        <p:nvSpPr>
          <p:cNvPr id="5" name="Text 3"/>
          <p:cNvSpPr txBox="1"/>
          <p:nvPr/>
        </p:nvSpPr>
        <p:spPr>
          <a:xfrm>
            <a:off x="731520" y="320040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320040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Cada paso se muestra primero aquí. Un clic avanza.</a:t>
            </a:r>
            <a:endParaRPr lang="en-US" sz="1800" dirty="0"/>
          </a:p>
        </p:txBody>
      </p:sp>
      <p:sp>
        <p:nvSpPr>
          <p:cNvPr id="7" name="Shape 5"/>
          <p:cNvSpPr/>
          <p:nvPr/>
        </p:nvSpPr>
        <p:spPr>
          <a:xfrm>
            <a:off x="731520" y="3977640"/>
            <a:ext cx="502920" cy="502920"/>
          </a:xfrm>
          <a:prstGeom prst="ellipse">
            <a:avLst/>
          </a:prstGeom>
          <a:solidFill>
            <a:srgbClr val="F9AB00"/>
          </a:solidFill>
          <a:ln w="12700">
            <a:solidFill>
              <a:srgbClr val="F9AB00"/>
            </a:solidFill>
            <a:prstDash val="solid"/>
          </a:ln>
        </p:spPr>
      </p:sp>
      <p:sp>
        <p:nvSpPr>
          <p:cNvPr id="8" name="Text 6"/>
          <p:cNvSpPr txBox="1"/>
          <p:nvPr/>
        </p:nvSpPr>
        <p:spPr>
          <a:xfrm>
            <a:off x="731520" y="397764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463040" y="397764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Abajo aparece lo que Python recuerda, que en Colab no se ve.</a:t>
            </a:r>
            <a:endParaRPr lang="en-US" sz="1800" dirty="0"/>
          </a:p>
        </p:txBody>
      </p:sp>
      <p:sp>
        <p:nvSpPr>
          <p:cNvPr id="10" name="Shape 8"/>
          <p:cNvSpPr/>
          <p:nvPr/>
        </p:nvSpPr>
        <p:spPr>
          <a:xfrm>
            <a:off x="731520" y="4754880"/>
            <a:ext cx="502920" cy="502920"/>
          </a:xfrm>
          <a:prstGeom prst="ellipse">
            <a:avLst/>
          </a:prstGeom>
          <a:solidFill>
            <a:srgbClr val="F9AB00"/>
          </a:solidFill>
          <a:ln w="12700">
            <a:solidFill>
              <a:srgbClr val="F9AB00"/>
            </a:solidFill>
            <a:prstDash val="solid"/>
          </a:ln>
        </p:spPr>
      </p:sp>
      <p:sp>
        <p:nvSpPr>
          <p:cNvPr id="11" name="Text 9"/>
          <p:cNvSpPr txBox="1"/>
          <p:nvPr/>
        </p:nvSpPr>
        <p:spPr>
          <a:xfrm>
            <a:off x="731520" y="475488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463040" y="475488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Después lo hacen en Colab, y les tiene que salir igual.</a:t>
            </a:r>
            <a:endParaRPr lang="en-US" sz="1800" dirty="0"/>
          </a:p>
        </p:txBody>
      </p:sp>
      <p:sp>
        <p:nvSpPr>
          <p:cNvPr id="14" name="Text 11"/>
          <p:cNvSpPr txBox="1"/>
          <p:nvPr/>
        </p:nvSpPr>
        <p:spPr>
          <a:xfrm>
            <a:off x="731520" y="6126480"/>
            <a:ext cx="106984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Análisis Avanzado de Datos con Python · Subsecretaría de Energía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PARTE 1 · EN CLASE</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Hoy hacemos estos 5 pasos, juntos, con estas láminas y después en Colab.</a:t>
            </a:r>
            <a:endParaRPr lang="en-US" sz="2000" dirty="0"/>
          </a:p>
        </p:txBody>
      </p:sp>
      <p:sp>
        <p:nvSpPr>
          <p:cNvPr id="4" name="Shape 2"/>
          <p:cNvSpPr/>
          <p:nvPr/>
        </p:nvSpPr>
        <p:spPr>
          <a:xfrm>
            <a:off x="731520" y="2240280"/>
            <a:ext cx="548640" cy="548640"/>
          </a:xfrm>
          <a:prstGeom prst="ellipse">
            <a:avLst/>
          </a:prstGeom>
          <a:solidFill>
            <a:srgbClr val="F9AB00"/>
          </a:solidFill>
          <a:ln w="12700">
            <a:solidFill>
              <a:srgbClr val="F9AB00"/>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1   </a:t>
            </a:r>
            <a:pPr indent="0" marL="0">
              <a:buNone/>
            </a:pPr>
            <a:r>
              <a:rPr lang="en-US" sz="2400" dirty="0">
                <a:solidFill>
                  <a:srgbClr val="FFFFFF"/>
                </a:solidFill>
                <a:latin typeface="Calibri" pitchFamily="34" charset="0"/>
                <a:ea typeface="Calibri" pitchFamily="34" charset="-122"/>
                <a:cs typeface="Calibri" pitchFamily="34" charset="-120"/>
              </a:rPr>
              <a:t>¿Qué hay en la bitácora?</a:t>
            </a:r>
            <a:endParaRPr lang="en-US" sz="2400" dirty="0"/>
          </a:p>
        </p:txBody>
      </p:sp>
      <p:sp>
        <p:nvSpPr>
          <p:cNvPr id="7" name="Shape 5"/>
          <p:cNvSpPr/>
          <p:nvPr/>
        </p:nvSpPr>
        <p:spPr>
          <a:xfrm>
            <a:off x="731520" y="3017520"/>
            <a:ext cx="548640" cy="548640"/>
          </a:xfrm>
          <a:prstGeom prst="ellipse">
            <a:avLst/>
          </a:prstGeom>
          <a:solidFill>
            <a:srgbClr val="F9AB00"/>
          </a:solidFill>
          <a:ln w="12700">
            <a:solidFill>
              <a:srgbClr val="F9AB00"/>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2   </a:t>
            </a:r>
            <a:pPr indent="0" marL="0">
              <a:buNone/>
            </a:pPr>
            <a:r>
              <a:rPr lang="en-US" sz="2400" dirty="0">
                <a:solidFill>
                  <a:srgbClr val="FFFFFF"/>
                </a:solidFill>
                <a:latin typeface="Calibri" pitchFamily="34" charset="0"/>
                <a:ea typeface="Calibri" pitchFamily="34" charset="-122"/>
                <a:cs typeface="Calibri" pitchFamily="34" charset="-120"/>
              </a:rPr>
              <a:t>¿Qué le pasó a cada central en cada mes?</a:t>
            </a:r>
            <a:endParaRPr lang="en-US" sz="2400" dirty="0"/>
          </a:p>
        </p:txBody>
      </p:sp>
      <p:sp>
        <p:nvSpPr>
          <p:cNvPr id="10" name="Shape 8"/>
          <p:cNvSpPr/>
          <p:nvPr/>
        </p:nvSpPr>
        <p:spPr>
          <a:xfrm>
            <a:off x="731520" y="3794760"/>
            <a:ext cx="548640" cy="548640"/>
          </a:xfrm>
          <a:prstGeom prst="ellipse">
            <a:avLst/>
          </a:prstGeom>
          <a:solidFill>
            <a:srgbClr val="F9AB00"/>
          </a:solidFill>
          <a:ln w="12700">
            <a:solidFill>
              <a:srgbClr val="F9AB00"/>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3   </a:t>
            </a:r>
            <a:pPr indent="0" marL="0">
              <a:buNone/>
            </a:pPr>
            <a:r>
              <a:rPr lang="en-US" sz="2400" dirty="0">
                <a:solidFill>
                  <a:srgbClr val="FFFFFF"/>
                </a:solidFill>
                <a:latin typeface="Calibri" pitchFamily="34" charset="0"/>
                <a:ea typeface="Calibri" pitchFamily="34" charset="-122"/>
                <a:cs typeface="Calibri" pitchFamily="34" charset="-120"/>
              </a:rPr>
              <a:t>¿En cuántas canastas aparece cada evento?</a:t>
            </a:r>
            <a:endParaRPr lang="en-US" sz="2400" dirty="0"/>
          </a:p>
        </p:txBody>
      </p:sp>
      <p:sp>
        <p:nvSpPr>
          <p:cNvPr id="13" name="Shape 11"/>
          <p:cNvSpPr/>
          <p:nvPr/>
        </p:nvSpPr>
        <p:spPr>
          <a:xfrm>
            <a:off x="731520" y="4572000"/>
            <a:ext cx="548640" cy="548640"/>
          </a:xfrm>
          <a:prstGeom prst="ellipse">
            <a:avLst/>
          </a:prstGeom>
          <a:solidFill>
            <a:srgbClr val="F9AB00"/>
          </a:solidFill>
          <a:ln w="12700">
            <a:solidFill>
              <a:srgbClr val="F9AB00"/>
            </a:solidFill>
            <a:prstDash val="solid"/>
          </a:ln>
        </p:spPr>
      </p:sp>
      <p:sp>
        <p:nvSpPr>
          <p:cNvPr id="14" name="Text 12"/>
          <p:cNvSpPr txBox="1"/>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4</a:t>
            </a:r>
            <a:endParaRPr lang="en-US" sz="2000" dirty="0"/>
          </a:p>
        </p:txBody>
      </p:sp>
      <p:sp>
        <p:nvSpPr>
          <p:cNvPr id="15" name="Text 13"/>
          <p:cNvSpPr txBox="1"/>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4   </a:t>
            </a:r>
            <a:pPr indent="0" marL="0">
              <a:buNone/>
            </a:pPr>
            <a:r>
              <a:rPr lang="en-US" sz="2400" dirty="0">
                <a:solidFill>
                  <a:srgbClr val="FFFFFF"/>
                </a:solidFill>
                <a:latin typeface="Calibri" pitchFamily="34" charset="0"/>
                <a:ea typeface="Calibri" pitchFamily="34" charset="-122"/>
                <a:cs typeface="Calibri" pitchFamily="34" charset="-120"/>
              </a:rPr>
              <a:t>Tu turno, si pasa una cosa, ¿pasa la otra?</a:t>
            </a:r>
            <a:endParaRPr lang="en-US" sz="2400" dirty="0"/>
          </a:p>
        </p:txBody>
      </p:sp>
      <p:sp>
        <p:nvSpPr>
          <p:cNvPr id="16" name="Shape 14"/>
          <p:cNvSpPr/>
          <p:nvPr/>
        </p:nvSpPr>
        <p:spPr>
          <a:xfrm>
            <a:off x="731520" y="5349240"/>
            <a:ext cx="548640" cy="548640"/>
          </a:xfrm>
          <a:prstGeom prst="ellipse">
            <a:avLst/>
          </a:prstGeom>
          <a:solidFill>
            <a:srgbClr val="F9AB00"/>
          </a:solidFill>
          <a:ln w="12700">
            <a:solidFill>
              <a:srgbClr val="F9AB00"/>
            </a:solidFill>
            <a:prstDash val="solid"/>
          </a:ln>
        </p:spPr>
      </p:sp>
      <p:sp>
        <p:nvSpPr>
          <p:cNvPr id="17" name="Text 15"/>
          <p:cNvSpPr txBox="1"/>
          <p:nvPr/>
        </p:nvSpPr>
        <p:spPr>
          <a:xfrm>
            <a:off x="731520" y="534924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5</a:t>
            </a:r>
            <a:endParaRPr lang="en-US" sz="2000" dirty="0"/>
          </a:p>
        </p:txBody>
      </p:sp>
      <p:sp>
        <p:nvSpPr>
          <p:cNvPr id="18" name="Text 16"/>
          <p:cNvSpPr txBox="1"/>
          <p:nvPr/>
        </p:nvSpPr>
        <p:spPr>
          <a:xfrm>
            <a:off x="1508760" y="534924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5   </a:t>
            </a:r>
            <a:pPr indent="0" marL="0">
              <a:buNone/>
            </a:pPr>
            <a:r>
              <a:rPr lang="en-US" sz="2400" dirty="0">
                <a:solidFill>
                  <a:srgbClr val="FFFFFF"/>
                </a:solidFill>
                <a:latin typeface="Calibri" pitchFamily="34" charset="0"/>
                <a:ea typeface="Calibri" pitchFamily="34" charset="-122"/>
                <a:cs typeface="Calibri" pitchFamily="34" charset="-120"/>
              </a:rPr>
              <a:t>Tu turno, ¿en cuántos días llega el correctivo?</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ve la bitácora de una central en el año.</a:t>
            </a:r>
            <a:endParaRPr lang="en-US" sz="1400" dirty="0"/>
          </a:p>
        </p:txBody>
      </p:sp>
      <p:pic>
        <p:nvPicPr>
          <p:cNvPr id="6" name="Image 0" descr="../../repo/modulos/../../diag/lab04_paso1_bitacora.png">    </p:cNvPr>
          <p:cNvPicPr>
            <a:picLocks noChangeAspect="1"/>
          </p:cNvPicPr>
          <p:nvPr/>
        </p:nvPicPr>
        <p:blipFill>
          <a:blip r:embed="rId1"/>
          <a:stretch>
            <a:fillRect/>
          </a:stretch>
        </p:blipFill>
        <p:spPr>
          <a:xfrm>
            <a:off x="548640" y="1463040"/>
            <a:ext cx="11091672" cy="42118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2537460"/>
          </a:xfrm>
          <a:prstGeom prst="roundRect">
            <a:avLst>
              <a:gd name="adj" fmla="val 2162"/>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3545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DATOS = (</a:t>
            </a:r>
            <a:pPr indent="0" marL="0">
              <a:buNone/>
            </a:pPr>
            <a:r>
              <a:rPr lang="en-US" sz="1300" dirty="0">
                <a:solidFill>
                  <a:srgbClr val="A31515"/>
                </a:solidFill>
                <a:latin typeface="Courier New" pitchFamily="34" charset="0"/>
                <a:ea typeface="Courier New" pitchFamily="34" charset="-122"/>
                <a:cs typeface="Courier New" pitchFamily="34" charset="-120"/>
              </a:rPr>
              <a:t>"https://raw.githubusercontent.com/RodrigoMSB/"</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"curso-python-minergia/main/datos/"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pandas as pd</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bitácora del año, un evento por fila, como la llena el turno.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mant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"mantenimiento.csv"</a:t>
            </a:r>
            <a:pPr indent="0" marL="0">
              <a:buNone/>
            </a:pPr>
            <a:r>
              <a:rPr lang="en-US" sz="1300" dirty="0">
                <a:solidFill>
                  <a:srgbClr val="202124"/>
                </a:solidFill>
                <a:latin typeface="Courier New" pitchFamily="34" charset="0"/>
                <a:ea typeface="Courier New" pitchFamily="34" charset="-122"/>
                <a:cs typeface="Courier New" pitchFamily="34" charset="-120"/>
              </a:rPr>
              <a:t>, parse_dates=[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"Eventos del año"</a:t>
            </a:r>
            <a:pPr indent="0" marL="0">
              <a:buNone/>
            </a:pPr>
            <a:r>
              <a:rPr lang="en-US" sz="1300" dirty="0">
                <a:solidFill>
                  <a:srgbClr val="202124"/>
                </a:solidFill>
                <a:latin typeface="Courier New" pitchFamily="34" charset="0"/>
                <a:ea typeface="Courier New" pitchFamily="34" charset="-122"/>
                <a:cs typeface="Courier New" pitchFamily="34" charset="-120"/>
              </a:rPr>
              <a:t>, len(mant))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"Centrales con eventos"</a:t>
            </a:r>
            <a:pPr indent="0" marL="0">
              <a:buNone/>
            </a:pPr>
            <a:r>
              <a:rPr lang="en-US" sz="1300" dirty="0">
                <a:solidFill>
                  <a:srgbClr val="202124"/>
                </a:solidFill>
                <a:latin typeface="Courier New" pitchFamily="34" charset="0"/>
                <a:ea typeface="Courier New" pitchFamily="34" charset="-122"/>
                <a:cs typeface="Courier New" pitchFamily="34" charset="-120"/>
              </a:rPr>
              <a:t>, mant[</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].nunique())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mant[[</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"duracion_horas"</a:t>
            </a:r>
            <a:pPr indent="0" marL="0">
              <a:buNone/>
            </a:pPr>
            <a:r>
              <a:rPr lang="en-US" sz="1300" dirty="0">
                <a:solidFill>
                  <a:srgbClr val="202124"/>
                </a:solidFill>
                <a:latin typeface="Courier New" pitchFamily="34" charset="0"/>
                <a:ea typeface="Courier New" pitchFamily="34" charset="-122"/>
                <a:cs typeface="Courier New" pitchFamily="34" charset="-120"/>
              </a:rPr>
              <a:t>]].head()</a:t>
            </a:r>
            <a:endParaRPr lang="en-US" sz="1300" dirty="0"/>
          </a:p>
        </p:txBody>
      </p:sp>
      <p:sp>
        <p:nvSpPr>
          <p:cNvPr id="11" name="Text 8"/>
          <p:cNvSpPr txBox="1"/>
          <p:nvPr/>
        </p:nvSpPr>
        <p:spPr>
          <a:xfrm>
            <a:off x="1325880" y="40553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Text 10"/>
          <p:cNvSpPr txBox="1"/>
          <p:nvPr/>
        </p:nvSpPr>
        <p:spPr>
          <a:xfrm>
            <a:off x="548640" y="6089904"/>
            <a:ext cx="7315200" cy="457200"/>
          </a:xfrm>
          <a:prstGeom prst="rect">
            <a:avLst/>
          </a:prstGeom>
          <a:noFill/>
          <a:ln/>
        </p:spPr>
        <p:txBody>
          <a:bodyPr wrap="square" lIns="0" tIns="0" rIns="0" bIns="0" rtlCol="0" anchor="ctr"/>
          <a:lstStyle/>
          <a:p>
            <a:pPr indent="0" marL="0">
              <a:buNone/>
            </a:pPr>
            <a:r>
              <a:rPr lang="en-US" sz="1300" i="1" dirty="0">
                <a:solidFill>
                  <a:srgbClr val="5F6368"/>
                </a:solidFill>
                <a:latin typeface="Calibri" pitchFamily="34" charset="0"/>
                <a:ea typeface="Calibri" pitchFamily="34" charset="-122"/>
                <a:cs typeface="Calibri" pitchFamily="34" charset="-120"/>
              </a:rPr>
              <a:t>Todavía nada. La memoria está vacía.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mant[[</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"tipo_evento"</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"duracion_horas"</a:t>
            </a:r>
            <a:pPr indent="0" marL="0">
              <a:buNone/>
            </a:pPr>
            <a:r>
              <a:rPr lang="en-US" sz="1600" dirty="0">
                <a:solidFill>
                  <a:srgbClr val="202124"/>
                </a:solidFill>
                <a:latin typeface="Courier New" pitchFamily="34" charset="0"/>
                <a:ea typeface="Courier New" pitchFamily="34" charset="-122"/>
                <a:cs typeface="Courier New" pitchFamily="34" charset="-120"/>
              </a:rPr>
              <a:t>]].head()</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 "fecha", ...]</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lista con nombres de columnas.</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mant[[ ... ]]</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 doble corchete se eligen varias columnas a la vez. El de afuera elige, el de adentro es la lista.</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.head()</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Las primeras cinco filas.</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muestra solo esas cuatro columnas de la bitácora, las primeras cinco filas.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585216"/>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Eventos del año 600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Centrales con eventos 20</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325880" y="2505456"/>
          <a:ext cx="9144000" cy="914400"/>
        </p:xfrm>
        <a:graphic>
          <a:graphicData uri="http://schemas.openxmlformats.org/drawingml/2006/table">
            <a:tbl>
              <a:tblPr/>
              <a:tblGrid>
                <a:gridCol w="365760"/>
                <a:gridCol w="2743200"/>
                <a:gridCol w="2011680"/>
                <a:gridCol w="1554480"/>
                <a:gridCol w="155448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central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fecha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tipo_evento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duracion_horas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Eólica Campo Abierto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Quebrada Honda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Llano Seco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2024-01-02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falla_mecanica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Quebrada Honda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2024-01-02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inspeccion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Tres Saltos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2024-01-03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correctivo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8"/>
          <p:cNvSpPr/>
          <p:nvPr/>
        </p:nvSpPr>
        <p:spPr>
          <a:xfrm>
            <a:off x="548640" y="6062472"/>
            <a:ext cx="2770632" cy="566928"/>
          </a:xfrm>
          <a:prstGeom prst="roundRect">
            <a:avLst>
              <a:gd name="adj" fmla="val 11290"/>
            </a:avLst>
          </a:prstGeom>
          <a:solidFill>
            <a:srgbClr val="FEF3D6"/>
          </a:solidFill>
          <a:ln w="25400">
            <a:solidFill>
              <a:srgbClr val="F9AB00"/>
            </a:solidFill>
            <a:prstDash val="solid"/>
          </a:ln>
        </p:spPr>
      </p:sp>
      <p:sp>
        <p:nvSpPr>
          <p:cNvPr id="13"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4" name="Shape 10"/>
          <p:cNvSpPr/>
          <p:nvPr/>
        </p:nvSpPr>
        <p:spPr>
          <a:xfrm>
            <a:off x="3456432" y="6062472"/>
            <a:ext cx="1143000"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6" name="Shape 12"/>
          <p:cNvSpPr/>
          <p:nvPr/>
        </p:nvSpPr>
        <p:spPr>
          <a:xfrm>
            <a:off x="4736592" y="6062472"/>
            <a:ext cx="1522476" cy="566928"/>
          </a:xfrm>
          <a:prstGeom prst="roundRect">
            <a:avLst>
              <a:gd name="adj" fmla="val 11290"/>
            </a:avLst>
          </a:prstGeom>
          <a:solidFill>
            <a:srgbClr val="FEF3D6"/>
          </a:solidFill>
          <a:ln w="25400">
            <a:solidFill>
              <a:srgbClr val="F9AB00"/>
            </a:solidFill>
            <a:prstDash val="solid"/>
          </a:ln>
        </p:spPr>
      </p:sp>
      <p:sp>
        <p:nvSpPr>
          <p:cNvPr id="17" name="Text 13"/>
          <p:cNvSpPr txBox="1"/>
          <p:nvPr/>
        </p:nvSpPr>
        <p:spPr>
          <a:xfrm>
            <a:off x="482803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5</a:t>
            </a:r>
            <a:endParaRPr lang="en-US" sz="1200" dirty="0"/>
          </a:p>
        </p:txBody>
      </p:sp>
      <p:sp>
        <p:nvSpPr>
          <p:cNvPr id="18" name="Text 1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600 eventos de las 20 centrales en un año.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bitácora anota un evento por fila.</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Antes de buscar patrones se mira cuántos eventos hay y de cuántas centrales.</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FEF3D6"/>
          </a:solidFill>
          <a:ln w="25400">
            <a:solidFill>
              <a:srgbClr val="F9AB00"/>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1522476"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82803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es una canasta.</a:t>
            </a:r>
            <a:endParaRPr lang="en-US" sz="1400" dirty="0"/>
          </a:p>
        </p:txBody>
      </p:sp>
      <p:pic>
        <p:nvPicPr>
          <p:cNvPr id="6" name="Image 0" descr="../../repo/modulos/modulo04/img/lab04_paso4_canastas.png">    </p:cNvPr>
          <p:cNvPicPr>
            <a:picLocks noChangeAspect="1"/>
          </p:cNvPicPr>
          <p:nvPr/>
        </p:nvPicPr>
        <p:blipFill>
          <a:blip r:embed="rId1"/>
          <a:stretch>
            <a:fillRect/>
          </a:stretch>
        </p:blipFill>
        <p:spPr>
          <a:xfrm>
            <a:off x="548640" y="1463040"/>
            <a:ext cx="11091672" cy="410368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Cada fila es una canasta, todo lo que le pasó a una central en un mes.</a:t>
            </a:r>
            <a:endParaRPr lang="en-US" sz="1400" dirty="0"/>
          </a:p>
        </p:txBody>
      </p:sp>
      <p:sp>
        <p:nvSpPr>
          <p:cNvPr id="7" name="Shape 4"/>
          <p:cNvSpPr/>
          <p:nvPr/>
        </p:nvSpPr>
        <p:spPr>
          <a:xfrm>
            <a:off x="548640" y="1481328"/>
            <a:ext cx="11091672" cy="2331720"/>
          </a:xfrm>
          <a:prstGeom prst="roundRect">
            <a:avLst>
              <a:gd name="adj" fmla="val 2353"/>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1488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mant[</a:t>
            </a:r>
            <a:pPr indent="0" marL="0">
              <a:buNone/>
            </a:pPr>
            <a:r>
              <a:rPr lang="en-US" sz="1300" dirty="0">
                <a:solidFill>
                  <a:srgbClr val="A31515"/>
                </a:solidFill>
                <a:latin typeface="Courier New" pitchFamily="34" charset="0"/>
                <a:ea typeface="Courier New" pitchFamily="34" charset="-122"/>
                <a:cs typeface="Courier New" pitchFamily="34" charset="-120"/>
              </a:rPr>
              <a:t>"mes"</a:t>
            </a:r>
            <a:pPr indent="0" marL="0">
              <a:buNone/>
            </a:pPr>
            <a:r>
              <a:rPr lang="en-US" sz="1300" dirty="0">
                <a:solidFill>
                  <a:srgbClr val="202124"/>
                </a:solidFill>
                <a:latin typeface="Courier New" pitchFamily="34" charset="0"/>
                <a:ea typeface="Courier New" pitchFamily="34" charset="-122"/>
                <a:cs typeface="Courier New" pitchFamily="34" charset="-120"/>
              </a:rPr>
              <a:t>] = mant[</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].dt.month</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Se juntan los eventos de cada central y mes. set quita los repetidos</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y sorted los ordena por nombre.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canastas = mant.groupby([</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"mes"</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].apply(lambda s: sorted(set(s)))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 Canastas"</a:t>
            </a:r>
            <a:pPr indent="0" marL="0">
              <a:buNone/>
            </a:pPr>
            <a:r>
              <a:rPr lang="en-US" sz="1300" dirty="0">
                <a:solidFill>
                  <a:srgbClr val="202124"/>
                </a:solidFill>
                <a:latin typeface="Courier New" pitchFamily="34" charset="0"/>
                <a:ea typeface="Courier New" pitchFamily="34" charset="-122"/>
                <a:cs typeface="Courier New" pitchFamily="34" charset="-120"/>
              </a:rPr>
              <a:t>, len(canastas))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"Eventos distintos por canasta, en promedio"</a:t>
            </a:r>
            <a:pPr indent="0" marL="0">
              <a:buNone/>
            </a:pPr>
            <a:r>
              <a:rPr lang="en-US" sz="1300" dirty="0">
                <a:solidFill>
                  <a:srgbClr val="202124"/>
                </a:solidFill>
                <a:latin typeface="Courier New" pitchFamily="34" charset="0"/>
                <a:ea typeface="Courier New" pitchFamily="34" charset="-122"/>
                <a:cs typeface="Courier New" pitchFamily="34" charset="-120"/>
              </a:rPr>
              <a:t>, round(canastas.apply(len).mean(),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canastas.head(6).to_frame(</a:t>
            </a:r>
            <a:pPr indent="0" marL="0">
              <a:buNone/>
            </a:pPr>
            <a:r>
              <a:rPr lang="en-US" sz="1300" dirty="0">
                <a:solidFill>
                  <a:srgbClr val="A31515"/>
                </a:solidFill>
                <a:latin typeface="Courier New" pitchFamily="34" charset="0"/>
                <a:ea typeface="Courier New" pitchFamily="34" charset="-122"/>
                <a:cs typeface="Courier New" pitchFamily="34" charset="-120"/>
              </a:rPr>
              <a:t>"lo_que_pasó"</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1325880" y="38496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522476"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5</a:t>
            </a:r>
            <a:endParaRPr lang="en-US" sz="1200" dirty="0"/>
          </a:p>
        </p:txBody>
      </p:sp>
      <p:sp>
        <p:nvSpPr>
          <p:cNvPr id="15" name="Shape 12"/>
          <p:cNvSpPr/>
          <p:nvPr/>
        </p:nvSpPr>
        <p:spPr>
          <a:xfrm>
            <a:off x="2208276" y="6062472"/>
            <a:ext cx="11430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29971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7" name="Shape 14"/>
          <p:cNvSpPr/>
          <p:nvPr/>
        </p:nvSpPr>
        <p:spPr>
          <a:xfrm>
            <a:off x="3488436" y="6062472"/>
            <a:ext cx="277063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57987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66725"/>
          </a:xfrm>
          <a:prstGeom prst="roundRect">
            <a:avLst>
              <a:gd name="adj" fmla="val 11755"/>
            </a:avLst>
          </a:prstGeom>
          <a:solidFill>
            <a:srgbClr val="F8F9FA"/>
          </a:solidFill>
          <a:ln w="12700">
            <a:solidFill>
              <a:srgbClr val="DADCE0"/>
            </a:solidFill>
            <a:prstDash val="solid"/>
          </a:ln>
        </p:spPr>
      </p:sp>
      <p:sp>
        <p:nvSpPr>
          <p:cNvPr id="7" name="Text 5"/>
          <p:cNvSpPr txBox="1"/>
          <p:nvPr/>
        </p:nvSpPr>
        <p:spPr>
          <a:xfrm>
            <a:off x="822960" y="1554480"/>
            <a:ext cx="10634472" cy="329565"/>
          </a:xfrm>
          <a:prstGeom prst="rect">
            <a:avLst/>
          </a:prstGeom>
          <a:noFill/>
          <a:ln/>
        </p:spPr>
        <p:txBody>
          <a:bodyPr wrap="square" lIns="0" tIns="0" rIns="0" bIns="0" rtlCol="0" anchor="ctr"/>
          <a:lstStyle/>
          <a:p>
            <a:pPr indent="0" marL="0">
              <a:buNone/>
            </a:pPr>
            <a:r>
              <a:rPr lang="en-US" sz="1500" dirty="0">
                <a:solidFill>
                  <a:srgbClr val="202124"/>
                </a:solidFill>
                <a:latin typeface="Courier New" pitchFamily="34" charset="0"/>
                <a:ea typeface="Courier New" pitchFamily="34" charset="-122"/>
                <a:cs typeface="Courier New" pitchFamily="34" charset="-120"/>
              </a:rPr>
              <a:t>canastas = mant.groupby([</a:t>
            </a:r>
            <a:pPr indent="0" marL="0">
              <a:buNone/>
            </a:pPr>
            <a:r>
              <a:rPr lang="en-US" sz="1500" dirty="0">
                <a:solidFill>
                  <a:srgbClr val="A31515"/>
                </a:solidFill>
                <a:latin typeface="Courier New" pitchFamily="34" charset="0"/>
                <a:ea typeface="Courier New" pitchFamily="34" charset="-122"/>
                <a:cs typeface="Courier New" pitchFamily="34" charset="-120"/>
              </a:rPr>
              <a:t>"central"</a:t>
            </a:r>
            <a:pPr indent="0" marL="0">
              <a:buNone/>
            </a:pPr>
            <a:r>
              <a:rPr lang="en-US" sz="1500" dirty="0">
                <a:solidFill>
                  <a:srgbClr val="202124"/>
                </a:solidFill>
                <a:latin typeface="Courier New" pitchFamily="34" charset="0"/>
                <a:ea typeface="Courier New" pitchFamily="34" charset="-122"/>
                <a:cs typeface="Courier New" pitchFamily="34" charset="-120"/>
              </a:rPr>
              <a:t>, </a:t>
            </a:r>
            <a:pPr indent="0" marL="0">
              <a:buNone/>
            </a:pPr>
            <a:r>
              <a:rPr lang="en-US" sz="1500" dirty="0">
                <a:solidFill>
                  <a:srgbClr val="A31515"/>
                </a:solidFill>
                <a:latin typeface="Courier New" pitchFamily="34" charset="0"/>
                <a:ea typeface="Courier New" pitchFamily="34" charset="-122"/>
                <a:cs typeface="Courier New" pitchFamily="34" charset="-120"/>
              </a:rPr>
              <a:t>"mes"</a:t>
            </a:r>
            <a:pPr indent="0" marL="0">
              <a:buNone/>
            </a:pPr>
            <a:r>
              <a:rPr lang="en-US" sz="1500" dirty="0">
                <a:solidFill>
                  <a:srgbClr val="202124"/>
                </a:solidFill>
                <a:latin typeface="Courier New" pitchFamily="34" charset="0"/>
                <a:ea typeface="Courier New" pitchFamily="34" charset="-122"/>
                <a:cs typeface="Courier New" pitchFamily="34" charset="-120"/>
              </a:rPr>
              <a:t>])[</a:t>
            </a:r>
            <a:pPr indent="0" marL="0">
              <a:buNone/>
            </a:pPr>
            <a:r>
              <a:rPr lang="en-US" sz="1500" dirty="0">
                <a:solidFill>
                  <a:srgbClr val="A31515"/>
                </a:solidFill>
                <a:latin typeface="Courier New" pitchFamily="34" charset="0"/>
                <a:ea typeface="Courier New" pitchFamily="34" charset="-122"/>
                <a:cs typeface="Courier New" pitchFamily="34" charset="-120"/>
              </a:rPr>
              <a:t>"tipo_evento"</a:t>
            </a:r>
            <a:pPr indent="0" marL="0">
              <a:buNone/>
            </a:pPr>
            <a:r>
              <a:rPr lang="en-US" sz="1500" dirty="0">
                <a:solidFill>
                  <a:srgbClr val="202124"/>
                </a:solidFill>
                <a:latin typeface="Courier New" pitchFamily="34" charset="0"/>
                <a:ea typeface="Courier New" pitchFamily="34" charset="-122"/>
                <a:cs typeface="Courier New" pitchFamily="34" charset="-120"/>
              </a:rPr>
              <a:t>].apply(lambda s: sorted(set(s)))</a:t>
            </a:r>
            <a:endParaRPr lang="en-US" sz="1500" dirty="0"/>
          </a:p>
        </p:txBody>
      </p:sp>
      <p:sp>
        <p:nvSpPr>
          <p:cNvPr id="8" name="Shape 6"/>
          <p:cNvSpPr/>
          <p:nvPr/>
        </p:nvSpPr>
        <p:spPr>
          <a:xfrm>
            <a:off x="548640" y="2359533"/>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59533"/>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04085"/>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04085"/>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mant.groupby(["central", "mes"])</a:t>
            </a:r>
            <a:endParaRPr lang="en-US" sz="1400" dirty="0"/>
          </a:p>
        </p:txBody>
      </p:sp>
      <p:sp>
        <p:nvSpPr>
          <p:cNvPr id="12" name="Text 10"/>
          <p:cNvSpPr txBox="1"/>
          <p:nvPr/>
        </p:nvSpPr>
        <p:spPr>
          <a:xfrm>
            <a:off x="6263640" y="2204085"/>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Agrupa por dos columnas a la vez. Cada grupo es una central en un mes.</a:t>
            </a:r>
            <a:endParaRPr lang="en-US" sz="1600" dirty="0"/>
          </a:p>
        </p:txBody>
      </p:sp>
      <p:sp>
        <p:nvSpPr>
          <p:cNvPr id="13" name="Shape 11"/>
          <p:cNvSpPr/>
          <p:nvPr/>
        </p:nvSpPr>
        <p:spPr>
          <a:xfrm>
            <a:off x="548640" y="3036189"/>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36189"/>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35605"/>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35605"/>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["tipo_evento"]</a:t>
            </a:r>
            <a:endParaRPr lang="en-US" sz="1400" dirty="0"/>
          </a:p>
        </p:txBody>
      </p:sp>
      <p:sp>
        <p:nvSpPr>
          <p:cNvPr id="17" name="Text 15"/>
          <p:cNvSpPr txBox="1"/>
          <p:nvPr/>
        </p:nvSpPr>
        <p:spPr>
          <a:xfrm>
            <a:off x="6263640" y="2935605"/>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 cada grupo, la columna con el tipo de evento.</a:t>
            </a:r>
            <a:endParaRPr lang="en-US" sz="1600" dirty="0"/>
          </a:p>
        </p:txBody>
      </p:sp>
      <p:sp>
        <p:nvSpPr>
          <p:cNvPr id="18" name="Shape 16"/>
          <p:cNvSpPr/>
          <p:nvPr/>
        </p:nvSpPr>
        <p:spPr>
          <a:xfrm>
            <a:off x="548640" y="3712845"/>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12845"/>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57397"/>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57397"/>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set(s)</a:t>
            </a:r>
            <a:endParaRPr lang="en-US" sz="1400" dirty="0"/>
          </a:p>
        </p:txBody>
      </p:sp>
      <p:sp>
        <p:nvSpPr>
          <p:cNvPr id="22" name="Text 20"/>
          <p:cNvSpPr txBox="1"/>
          <p:nvPr/>
        </p:nvSpPr>
        <p:spPr>
          <a:xfrm>
            <a:off x="6263640" y="3557397"/>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 conjunto. Deja cada tipo una sola vez, aunque haya pasado dos veces en el mes.</a:t>
            </a:r>
            <a:endParaRPr lang="en-US" sz="1600" dirty="0"/>
          </a:p>
        </p:txBody>
      </p:sp>
      <p:sp>
        <p:nvSpPr>
          <p:cNvPr id="23" name="Shape 21"/>
          <p:cNvSpPr/>
          <p:nvPr/>
        </p:nvSpPr>
        <p:spPr>
          <a:xfrm>
            <a:off x="548640" y="4389501"/>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389501"/>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288917"/>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288917"/>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sorted( ... )</a:t>
            </a:r>
            <a:endParaRPr lang="en-US" sz="1400" dirty="0"/>
          </a:p>
        </p:txBody>
      </p:sp>
      <p:sp>
        <p:nvSpPr>
          <p:cNvPr id="27" name="Text 25"/>
          <p:cNvSpPr txBox="1"/>
          <p:nvPr/>
        </p:nvSpPr>
        <p:spPr>
          <a:xfrm>
            <a:off x="6263640" y="4288917"/>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ordena por nombre y lo deja como lista.</a:t>
            </a:r>
            <a:endParaRPr lang="en-US" sz="1600" dirty="0"/>
          </a:p>
        </p:txBody>
      </p:sp>
      <p:sp>
        <p:nvSpPr>
          <p:cNvPr id="28" name="Shape 26"/>
          <p:cNvSpPr/>
          <p:nvPr/>
        </p:nvSpPr>
        <p:spPr>
          <a:xfrm>
            <a:off x="548640" y="5066157"/>
            <a:ext cx="329184" cy="329184"/>
          </a:xfrm>
          <a:prstGeom prst="ellipse">
            <a:avLst/>
          </a:prstGeom>
          <a:solidFill>
            <a:srgbClr val="C5221F"/>
          </a:solidFill>
          <a:ln w="12700">
            <a:solidFill>
              <a:srgbClr val="C5221F"/>
            </a:solidFill>
            <a:prstDash val="solid"/>
          </a:ln>
        </p:spPr>
      </p:sp>
      <p:sp>
        <p:nvSpPr>
          <p:cNvPr id="29" name="Text 27"/>
          <p:cNvSpPr txBox="1"/>
          <p:nvPr/>
        </p:nvSpPr>
        <p:spPr>
          <a:xfrm>
            <a:off x="548640" y="5066157"/>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Shape 28"/>
          <p:cNvSpPr/>
          <p:nvPr/>
        </p:nvSpPr>
        <p:spPr>
          <a:xfrm>
            <a:off x="1051560" y="4910709"/>
            <a:ext cx="4937760" cy="640080"/>
          </a:xfrm>
          <a:prstGeom prst="roundRect">
            <a:avLst>
              <a:gd name="adj" fmla="val 7143"/>
            </a:avLst>
          </a:prstGeom>
          <a:solidFill>
            <a:srgbClr val="FCE8E6"/>
          </a:solidFill>
          <a:ln w="12700">
            <a:solidFill>
              <a:srgbClr val="FCE8E6"/>
            </a:solidFill>
            <a:prstDash val="solid"/>
          </a:ln>
        </p:spPr>
      </p:sp>
      <p:sp>
        <p:nvSpPr>
          <p:cNvPr id="31" name="Text 29"/>
          <p:cNvSpPr txBox="1"/>
          <p:nvPr/>
        </p:nvSpPr>
        <p:spPr>
          <a:xfrm>
            <a:off x="1170432" y="4910709"/>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.apply(lambda s: ...)</a:t>
            </a:r>
            <a:endParaRPr lang="en-US" sz="1400" dirty="0"/>
          </a:p>
        </p:txBody>
      </p:sp>
      <p:sp>
        <p:nvSpPr>
          <p:cNvPr id="32" name="Text 30"/>
          <p:cNvSpPr txBox="1"/>
          <p:nvPr/>
        </p:nvSpPr>
        <p:spPr>
          <a:xfrm>
            <a:off x="6263640" y="4910709"/>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Hace eso con cada grupo. s es la columna de un grupo.</a:t>
            </a:r>
            <a:endParaRPr lang="en-US" sz="1600" dirty="0"/>
          </a:p>
        </p:txBody>
      </p:sp>
      <p:sp>
        <p:nvSpPr>
          <p:cNvPr id="33" name="Shape 31"/>
          <p:cNvSpPr/>
          <p:nvPr/>
        </p:nvSpPr>
        <p:spPr>
          <a:xfrm>
            <a:off x="548640" y="5989320"/>
            <a:ext cx="73152" cy="548640"/>
          </a:xfrm>
          <a:prstGeom prst="rect">
            <a:avLst/>
          </a:prstGeom>
          <a:solidFill>
            <a:srgbClr val="0B3D62"/>
          </a:solidFill>
          <a:ln w="12700">
            <a:solidFill>
              <a:srgbClr val="0B3D62"/>
            </a:solidFill>
            <a:prstDash val="solid"/>
          </a:ln>
        </p:spPr>
      </p:sp>
      <p:sp>
        <p:nvSpPr>
          <p:cNvPr id="34" name="Text 3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para cada central y mes, la lista ordenada de los tipos de evento que tuvo, sin repetir.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Cada fila es una canasta, todo lo que le pasó a una central en un mes.</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585216"/>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Canastas 215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Eventos distintos por canasta, en promedio 2.2</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325880" y="2505456"/>
          <a:ext cx="9144000" cy="914400"/>
        </p:xfrm>
        <a:graphic>
          <a:graphicData uri="http://schemas.openxmlformats.org/drawingml/2006/table">
            <a:tbl>
              <a:tblPr/>
              <a:tblGrid>
                <a:gridCol w="2834640"/>
                <a:gridCol w="338328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lo_que_pasó</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Carboeléctrica Costa Brava, 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Carboeléctrica Costa Brava, 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['falla_electrica', 'preventivo']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Carboeléctrica Costa Brava, 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['correctivo', 'inspeccion']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Carboeléctrica Costa Brava, 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Carboeléctrica Costa Brava, 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['correctivo', 'evento_climatico']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Carboeléctrica Costa Brava, 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['correctivo', 'falla_mecanica']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8"/>
          <p:cNvSpPr/>
          <p:nvPr/>
        </p:nvSpPr>
        <p:spPr>
          <a:xfrm>
            <a:off x="548640" y="6062472"/>
            <a:ext cx="1522476" cy="566928"/>
          </a:xfrm>
          <a:prstGeom prst="roundRect">
            <a:avLst>
              <a:gd name="adj" fmla="val 11290"/>
            </a:avLst>
          </a:prstGeom>
          <a:solidFill>
            <a:srgbClr val="FEF3D6"/>
          </a:solidFill>
          <a:ln w="25400">
            <a:solidFill>
              <a:srgbClr val="F9AB00"/>
            </a:solidFill>
            <a:prstDash val="solid"/>
          </a:ln>
        </p:spPr>
      </p:sp>
      <p:sp>
        <p:nvSpPr>
          <p:cNvPr id="13" name="Text 9"/>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4" name="Shape 10"/>
          <p:cNvSpPr/>
          <p:nvPr/>
        </p:nvSpPr>
        <p:spPr>
          <a:xfrm>
            <a:off x="2208276" y="6062472"/>
            <a:ext cx="2194560"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2299716"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canastas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215 valores</a:t>
            </a:r>
            <a:endParaRPr lang="en-US" sz="1200" dirty="0"/>
          </a:p>
        </p:txBody>
      </p:sp>
      <p:sp>
        <p:nvSpPr>
          <p:cNvPr id="16" name="Shape 12"/>
          <p:cNvSpPr/>
          <p:nvPr/>
        </p:nvSpPr>
        <p:spPr>
          <a:xfrm>
            <a:off x="4539996" y="6062472"/>
            <a:ext cx="1143000" cy="566928"/>
          </a:xfrm>
          <a:prstGeom prst="roundRect">
            <a:avLst>
              <a:gd name="adj" fmla="val 11290"/>
            </a:avLst>
          </a:prstGeom>
          <a:solidFill>
            <a:srgbClr val="F1F3F4"/>
          </a:solidFill>
          <a:ln w="12700">
            <a:solidFill>
              <a:srgbClr val="DADCE0"/>
            </a:solidFill>
            <a:prstDash val="solid"/>
          </a:ln>
        </p:spPr>
      </p:sp>
      <p:sp>
        <p:nvSpPr>
          <p:cNvPr id="17" name="Text 13"/>
          <p:cNvSpPr txBox="1"/>
          <p:nvPr/>
        </p:nvSpPr>
        <p:spPr>
          <a:xfrm>
            <a:off x="46314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8" name="Shape 14"/>
          <p:cNvSpPr/>
          <p:nvPr/>
        </p:nvSpPr>
        <p:spPr>
          <a:xfrm>
            <a:off x="5820156" y="6062472"/>
            <a:ext cx="2770632" cy="566928"/>
          </a:xfrm>
          <a:prstGeom prst="roundRect">
            <a:avLst>
              <a:gd name="adj" fmla="val 11290"/>
            </a:avLst>
          </a:prstGeom>
          <a:solidFill>
            <a:srgbClr val="F1F3F4"/>
          </a:solidFill>
          <a:ln w="12700">
            <a:solidFill>
              <a:srgbClr val="DADCE0"/>
            </a:solidFill>
            <a:prstDash val="solid"/>
          </a:ln>
        </p:spPr>
      </p:sp>
      <p:sp>
        <p:nvSpPr>
          <p:cNvPr id="19" name="Text 15"/>
          <p:cNvSpPr txBox="1"/>
          <p:nvPr/>
        </p:nvSpPr>
        <p:spPr>
          <a:xfrm>
            <a:off x="591159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0" name="Text 16"/>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Los 600 eventos quedan en 215 canastas, con 2,2 eventos distintos cada una.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canasta junta todo lo que le pasó a una central en un mes.</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Es como la boleta del supermercado, lo que se compró junto en una visita.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522476" cy="566928"/>
          </a:xfrm>
          <a:prstGeom prst="roundRect">
            <a:avLst>
              <a:gd name="adj" fmla="val 11290"/>
            </a:avLst>
          </a:prstGeom>
          <a:solidFill>
            <a:srgbClr val="FEF3D6"/>
          </a:solidFill>
          <a:ln w="25400">
            <a:solidFill>
              <a:srgbClr val="F9AB00"/>
            </a:solidFill>
            <a:prstDash val="solid"/>
          </a:ln>
        </p:spPr>
      </p:sp>
      <p:sp>
        <p:nvSpPr>
          <p:cNvPr id="12" name="Text 9"/>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3" name="Shape 10"/>
          <p:cNvSpPr/>
          <p:nvPr/>
        </p:nvSpPr>
        <p:spPr>
          <a:xfrm>
            <a:off x="2208276" y="6062472"/>
            <a:ext cx="219456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299716"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canastas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215 valores</a:t>
            </a:r>
            <a:endParaRPr lang="en-US" sz="1200" dirty="0"/>
          </a:p>
        </p:txBody>
      </p:sp>
      <p:sp>
        <p:nvSpPr>
          <p:cNvPr id="15" name="Shape 12"/>
          <p:cNvSpPr/>
          <p:nvPr/>
        </p:nvSpPr>
        <p:spPr>
          <a:xfrm>
            <a:off x="4539996" y="6062472"/>
            <a:ext cx="11430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46314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7" name="Shape 14"/>
          <p:cNvSpPr/>
          <p:nvPr/>
        </p:nvSpPr>
        <p:spPr>
          <a:xfrm>
            <a:off x="5820156" y="6062472"/>
            <a:ext cx="277063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91159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una canasta pasa a ser una fila de sí o no.</a:t>
            </a:r>
            <a:endParaRPr lang="en-US" sz="1400" dirty="0"/>
          </a:p>
        </p:txBody>
      </p:sp>
      <p:pic>
        <p:nvPicPr>
          <p:cNvPr id="6" name="Image 0" descr="../../repo/modulos/modulo04/img/lab04_paso5_tabla.png">    </p:cNvPr>
          <p:cNvPicPr>
            <a:picLocks noChangeAspect="1"/>
          </p:cNvPicPr>
          <p:nvPr/>
        </p:nvPicPr>
        <p:blipFill>
          <a:blip r:embed="rId1"/>
          <a:stretch>
            <a:fillRect/>
          </a:stretch>
        </p:blipFill>
        <p:spPr>
          <a:xfrm>
            <a:off x="548640" y="1463040"/>
            <a:ext cx="11091672" cy="4385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 tabla de abajo tiene una fila por canasta y una columna por tipo de evento, con un ✓ donde el evento ocurrió.</a:t>
            </a:r>
            <a:endParaRPr lang="en-US" sz="1400" dirty="0"/>
          </a:p>
        </p:txBody>
      </p:sp>
      <p:sp>
        <p:nvSpPr>
          <p:cNvPr id="7" name="Shape 4"/>
          <p:cNvSpPr/>
          <p:nvPr/>
        </p:nvSpPr>
        <p:spPr>
          <a:xfrm>
            <a:off x="548640" y="1481328"/>
            <a:ext cx="11091672" cy="2537460"/>
          </a:xfrm>
          <a:prstGeom prst="roundRect">
            <a:avLst>
              <a:gd name="adj" fmla="val 2162"/>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3545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crosstab cuenta los eventos de cada canasta y &gt; 0 lo convierte en sí o no.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tabla = pd.crosstab([mant[</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mant[</a:t>
            </a:r>
            <a:pPr indent="0" marL="0">
              <a:buNone/>
            </a:pPr>
            <a:r>
              <a:rPr lang="en-US" sz="1300" dirty="0">
                <a:solidFill>
                  <a:srgbClr val="A31515"/>
                </a:solidFill>
                <a:latin typeface="Courier New" pitchFamily="34" charset="0"/>
                <a:ea typeface="Courier New" pitchFamily="34" charset="-122"/>
                <a:cs typeface="Courier New" pitchFamily="34" charset="-120"/>
              </a:rPr>
              <a:t>"mes"</a:t>
            </a:r>
            <a:pPr indent="0" marL="0">
              <a:buNone/>
            </a:pPr>
            <a:r>
              <a:rPr lang="en-US" sz="1300" dirty="0">
                <a:solidFill>
                  <a:srgbClr val="202124"/>
                </a:solidFill>
                <a:latin typeface="Courier New" pitchFamily="34" charset="0"/>
                <a:ea typeface="Courier New" pitchFamily="34" charset="-122"/>
                <a:cs typeface="Courier New" pitchFamily="34" charset="-120"/>
              </a:rPr>
              <a:t>]], mant[</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&gt; 0</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"Canastas"</a:t>
            </a:r>
            <a:pPr indent="0" marL="0">
              <a:buNone/>
            </a:pPr>
            <a:r>
              <a:rPr lang="en-US" sz="1300" dirty="0">
                <a:solidFill>
                  <a:srgbClr val="202124"/>
                </a:solidFill>
                <a:latin typeface="Courier New" pitchFamily="34" charset="0"/>
                <a:ea typeface="Courier New" pitchFamily="34" charset="-122"/>
                <a:cs typeface="Courier New" pitchFamily="34" charset="-120"/>
              </a:rPr>
              <a:t>, tabla.shape[0], </a:t>
            </a:r>
            <a:pPr indent="0" marL="0">
              <a:buNone/>
            </a:pPr>
            <a:r>
              <a:rPr lang="en-US" sz="1300" dirty="0">
                <a:solidFill>
                  <a:srgbClr val="A31515"/>
                </a:solidFill>
                <a:latin typeface="Courier New" pitchFamily="34" charset="0"/>
                <a:ea typeface="Courier New" pitchFamily="34" charset="-122"/>
                <a:cs typeface="Courier New" pitchFamily="34" charset="-120"/>
              </a:rPr>
              <a:t>" tipos de evento"</a:t>
            </a:r>
            <a:pPr indent="0" marL="0">
              <a:buNone/>
            </a:pPr>
            <a:r>
              <a:rPr lang="en-US" sz="1300" dirty="0">
                <a:solidFill>
                  <a:srgbClr val="202124"/>
                </a:solidFill>
                <a:latin typeface="Courier New" pitchFamily="34" charset="0"/>
                <a:ea typeface="Courier New" pitchFamily="34" charset="-122"/>
                <a:cs typeface="Courier New" pitchFamily="34" charset="-120"/>
              </a:rPr>
              <a:t>, tabla.shape[1])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promedio de una columna de sí o no es la proporción de sí.</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"Porcentaje de canastas donde aparece cada tipo"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print((100 * tabla.mean()).round(1).sort_values(ascending=False))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tabla.head(6).map(lambda v: </a:t>
            </a:r>
            <a:pPr indent="0" marL="0">
              <a:buNone/>
            </a:pPr>
            <a:r>
              <a:rPr lang="en-US" sz="1300" dirty="0">
                <a:solidFill>
                  <a:srgbClr val="A31515"/>
                </a:solidFill>
                <a:latin typeface="Courier New" pitchFamily="34" charset="0"/>
                <a:ea typeface="Courier New" pitchFamily="34" charset="-122"/>
                <a:cs typeface="Courier New" pitchFamily="34" charset="-120"/>
              </a:rPr>
              <a:t>"✓"</a:t>
            </a:r>
            <a:pPr indent="0" marL="0">
              <a:buNone/>
            </a:pPr>
            <a:r>
              <a:rPr lang="en-US" sz="1300" dirty="0">
                <a:solidFill>
                  <a:srgbClr val="202124"/>
                </a:solidFill>
                <a:latin typeface="Courier New" pitchFamily="34" charset="0"/>
                <a:ea typeface="Courier New" pitchFamily="34" charset="-122"/>
                <a:cs typeface="Courier New" pitchFamily="34" charset="-120"/>
              </a:rPr>
              <a:t> if v else </a:t>
            </a:r>
            <a:pPr indent="0" marL="0">
              <a:buNone/>
            </a:pPr>
            <a:r>
              <a:rPr lang="en-US" sz="1300" dirty="0">
                <a:solidFill>
                  <a:srgbClr val="A31515"/>
                </a:solidFill>
                <a:latin typeface="Courier New" pitchFamily="34" charset="0"/>
                <a:ea typeface="Courier New" pitchFamily="34" charset="-122"/>
                <a:cs typeface="Courier New" pitchFamily="34" charset="-120"/>
              </a:rPr>
              <a: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1325880" y="40553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219456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canastas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215 valores</a:t>
            </a:r>
            <a:endParaRPr lang="en-US" sz="1200" dirty="0"/>
          </a:p>
        </p:txBody>
      </p:sp>
      <p:sp>
        <p:nvSpPr>
          <p:cNvPr id="15" name="Shape 12"/>
          <p:cNvSpPr/>
          <p:nvPr/>
        </p:nvSpPr>
        <p:spPr>
          <a:xfrm>
            <a:off x="2880360" y="6062472"/>
            <a:ext cx="1522476"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97180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7" name="Shape 14"/>
          <p:cNvSpPr/>
          <p:nvPr/>
        </p:nvSpPr>
        <p:spPr>
          <a:xfrm>
            <a:off x="4539996"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46314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9" name="Shape 16"/>
          <p:cNvSpPr/>
          <p:nvPr/>
        </p:nvSpPr>
        <p:spPr>
          <a:xfrm>
            <a:off x="5820156" y="6062472"/>
            <a:ext cx="277063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91159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tabla = pd.crosstab([mant[</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 mant[</a:t>
            </a:r>
            <a:pPr indent="0" marL="0">
              <a:buNone/>
            </a:pPr>
            <a:r>
              <a:rPr lang="en-US" sz="1600" dirty="0">
                <a:solidFill>
                  <a:srgbClr val="A31515"/>
                </a:solidFill>
                <a:latin typeface="Courier New" pitchFamily="34" charset="0"/>
                <a:ea typeface="Courier New" pitchFamily="34" charset="-122"/>
                <a:cs typeface="Courier New" pitchFamily="34" charset="-120"/>
              </a:rPr>
              <a:t>"mes"</a:t>
            </a:r>
            <a:pPr indent="0" marL="0">
              <a:buNone/>
            </a:pPr>
            <a:r>
              <a:rPr lang="en-US" sz="1600" dirty="0">
                <a:solidFill>
                  <a:srgbClr val="202124"/>
                </a:solidFill>
                <a:latin typeface="Courier New" pitchFamily="34" charset="0"/>
                <a:ea typeface="Courier New" pitchFamily="34" charset="-122"/>
                <a:cs typeface="Courier New" pitchFamily="34" charset="-120"/>
              </a:rPr>
              <a:t>]], mant[</a:t>
            </a:r>
            <a:pPr indent="0" marL="0">
              <a:buNone/>
            </a:pPr>
            <a:r>
              <a:rPr lang="en-US" sz="1600" dirty="0">
                <a:solidFill>
                  <a:srgbClr val="A31515"/>
                </a:solidFill>
                <a:latin typeface="Courier New" pitchFamily="34" charset="0"/>
                <a:ea typeface="Courier New" pitchFamily="34" charset="-122"/>
                <a:cs typeface="Courier New" pitchFamily="34" charset="-120"/>
              </a:rPr>
              <a:t>"tipo_evento"</a:t>
            </a:r>
            <a:pPr indent="0" marL="0">
              <a:buNone/>
            </a:pPr>
            <a:r>
              <a:rPr lang="en-US" sz="1600" dirty="0">
                <a:solidFill>
                  <a:srgbClr val="202124"/>
                </a:solidFill>
                <a:latin typeface="Courier New" pitchFamily="34" charset="0"/>
                <a:ea typeface="Courier New" pitchFamily="34" charset="-122"/>
                <a:cs typeface="Courier New" pitchFamily="34" charset="-120"/>
              </a:rPr>
              <a:t>]) &gt; 0</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[mant["central"], mant["mes"]]</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que va en las filas, dos columnas a la vez. Cada fila es una canasta.</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mant["tipo_evento"]</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que va en las columnas, un tipo de evento por columna.</a:t>
            </a:r>
            <a:endParaRPr lang="en-US" sz="1600" dirty="0"/>
          </a:p>
        </p:txBody>
      </p:sp>
      <p:sp>
        <p:nvSpPr>
          <p:cNvPr id="18" name="Shape 16"/>
          <p:cNvSpPr/>
          <p:nvPr/>
        </p:nvSpPr>
        <p:spPr>
          <a:xfrm>
            <a:off x="548640" y="3783584"/>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8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83000"/>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68300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pd.crosstab( ... )</a:t>
            </a:r>
            <a:endParaRPr lang="en-US" sz="1400" dirty="0"/>
          </a:p>
        </p:txBody>
      </p:sp>
      <p:sp>
        <p:nvSpPr>
          <p:cNvPr id="22" name="Text 20"/>
          <p:cNvSpPr txBox="1"/>
          <p:nvPr/>
        </p:nvSpPr>
        <p:spPr>
          <a:xfrm>
            <a:off x="6263640" y="368300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Cuenta cuántos eventos hay en cada casilla.</a:t>
            </a:r>
            <a:endParaRPr lang="en-US" sz="1600" dirty="0"/>
          </a:p>
        </p:txBody>
      </p:sp>
      <p:sp>
        <p:nvSpPr>
          <p:cNvPr id="23" name="Shape 21"/>
          <p:cNvSpPr/>
          <p:nvPr/>
        </p:nvSpPr>
        <p:spPr>
          <a:xfrm>
            <a:off x="548640" y="4460240"/>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60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04792"/>
            <a:ext cx="4937760" cy="640080"/>
          </a:xfrm>
          <a:prstGeom prst="roundRect">
            <a:avLst>
              <a:gd name="adj" fmla="val 7143"/>
            </a:avLst>
          </a:prstGeom>
          <a:solidFill>
            <a:srgbClr val="ECE2FA"/>
          </a:solidFill>
          <a:ln w="12700">
            <a:solidFill>
              <a:srgbClr val="ECE2FA"/>
            </a:solidFill>
            <a:prstDash val="solid"/>
          </a:ln>
        </p:spPr>
      </p:sp>
      <p:sp>
        <p:nvSpPr>
          <p:cNvPr id="26" name="Text 24"/>
          <p:cNvSpPr txBox="1"/>
          <p:nvPr/>
        </p:nvSpPr>
        <p:spPr>
          <a:xfrm>
            <a:off x="1170432" y="430479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&gt; 0</a:t>
            </a:r>
            <a:endParaRPr lang="en-US" sz="1400" dirty="0"/>
          </a:p>
        </p:txBody>
      </p:sp>
      <p:sp>
        <p:nvSpPr>
          <p:cNvPr id="27" name="Text 25"/>
          <p:cNvSpPr txBox="1"/>
          <p:nvPr/>
        </p:nvSpPr>
        <p:spPr>
          <a:xfrm>
            <a:off x="6263640" y="430479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Convierte el conteo en sí o no. Verdadero si pasó al menos una vez.</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una tabla con una fila por canasta, una columna por tipo y verdadero donde el evento ocurrió.</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tabla.head(6).map(lambda v: </a:t>
            </a:r>
            <a:pPr indent="0" marL="0">
              <a:buNone/>
            </a:pPr>
            <a:r>
              <a:rPr lang="en-US" sz="1600" dirty="0">
                <a:solidFill>
                  <a:srgbClr val="A31515"/>
                </a:solidFill>
                <a:latin typeface="Courier New" pitchFamily="34" charset="0"/>
                <a:ea typeface="Courier New" pitchFamily="34" charset="-122"/>
                <a:cs typeface="Courier New" pitchFamily="34" charset="-120"/>
              </a:rPr>
              <a:t>"✓"</a:t>
            </a:r>
            <a:pPr indent="0" marL="0">
              <a:buNone/>
            </a:pPr>
            <a:r>
              <a:rPr lang="en-US" sz="1600" dirty="0">
                <a:solidFill>
                  <a:srgbClr val="202124"/>
                </a:solidFill>
                <a:latin typeface="Courier New" pitchFamily="34" charset="0"/>
                <a:ea typeface="Courier New" pitchFamily="34" charset="-122"/>
                <a:cs typeface="Courier New" pitchFamily="34" charset="-120"/>
              </a:rPr>
              <a:t> if v else </a:t>
            </a:r>
            <a:pPr indent="0" marL="0">
              <a:buNone/>
            </a:pPr>
            <a:r>
              <a:rPr lang="en-US" sz="1600" dirty="0">
                <a:solidFill>
                  <a:srgbClr val="A31515"/>
                </a:solidFill>
                <a:latin typeface="Courier New" pitchFamily="34" charset="0"/>
                <a:ea typeface="Courier New" pitchFamily="34" charset="-122"/>
                <a:cs typeface="Courier New" pitchFamily="34" charset="-120"/>
              </a:rPr>
              <a:t>""</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.map( ... )</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Aplica algo a cada casilla de la tabla.</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lambda v: ...</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función de una línea. v es el valor de una casilla.</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if v else ""</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Si v es verdadero pone ✓, si no, nada.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muestra las primeras seis canastas con ✓ en vez de True.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 tabla de abajo tiene una fila por canasta y una columna por tipo de evento, con un ✓ donde el evento ocurrió.</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239572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26771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Canastas 215  tipos de evento 6</a:t>
            </a:r>
            <a:endParaRPr lang="en-US" sz="1200" dirty="0"/>
          </a:p>
          <a:p>
            <a:pPr indent="0" marL="0">
              <a:buNone/>
            </a:pP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de canastas donde aparece cada tipo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tipo_evento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56.3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40.0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39.5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36.3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25.6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19.5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dtype: float64</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4315968"/>
          <a:ext cx="9144000" cy="914400"/>
        </p:xfrm>
        <a:graphic>
          <a:graphicData uri="http://schemas.openxmlformats.org/drawingml/2006/table">
            <a:tbl>
              <a:tblPr/>
              <a:tblGrid>
                <a:gridCol w="2555748"/>
                <a:gridCol w="1071765"/>
                <a:gridCol w="1566426"/>
                <a:gridCol w="1483983"/>
                <a:gridCol w="1401539"/>
                <a:gridCol w="1071765"/>
                <a:gridCol w="1071765"/>
              </a:tblGrid>
              <a:tr h="237744">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92" b="1" dirty="0">
                          <a:solidFill>
                            <a:srgbClr val="202124"/>
                          </a:solidFill>
                          <a:latin typeface="Courier New" pitchFamily="34" charset="0"/>
                          <a:ea typeface="Courier New" pitchFamily="34" charset="-122"/>
                          <a:cs typeface="Courier New" pitchFamily="34" charset="-120"/>
                        </a:rPr>
                        <a:t>correctivo</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92" b="1" dirty="0">
                          <a:solidFill>
                            <a:srgbClr val="202124"/>
                          </a:solidFill>
                          <a:latin typeface="Courier New" pitchFamily="34" charset="0"/>
                          <a:ea typeface="Courier New" pitchFamily="34" charset="-122"/>
                          <a:cs typeface="Courier New" pitchFamily="34" charset="-120"/>
                        </a:rPr>
                        <a:t>evento_climatico</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92" b="1" dirty="0">
                          <a:solidFill>
                            <a:srgbClr val="202124"/>
                          </a:solidFill>
                          <a:latin typeface="Courier New" pitchFamily="34" charset="0"/>
                          <a:ea typeface="Courier New" pitchFamily="34" charset="-122"/>
                          <a:cs typeface="Courier New" pitchFamily="34" charset="-120"/>
                        </a:rPr>
                        <a:t>falla_electrica</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92" b="1" dirty="0">
                          <a:solidFill>
                            <a:srgbClr val="202124"/>
                          </a:solidFill>
                          <a:latin typeface="Courier New" pitchFamily="34" charset="0"/>
                          <a:ea typeface="Courier New" pitchFamily="34" charset="-122"/>
                          <a:cs typeface="Courier New" pitchFamily="34" charset="-120"/>
                        </a:rPr>
                        <a:t>falla_mecanica</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92" b="1" dirty="0">
                          <a:solidFill>
                            <a:srgbClr val="202124"/>
                          </a:solidFill>
                          <a:latin typeface="Courier New" pitchFamily="34" charset="0"/>
                          <a:ea typeface="Courier New" pitchFamily="34" charset="-122"/>
                          <a:cs typeface="Courier New" pitchFamily="34" charset="-120"/>
                        </a:rPr>
                        <a:t>inspeccion</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92" b="1" dirty="0">
                          <a:solidFill>
                            <a:srgbClr val="202124"/>
                          </a:solidFill>
                          <a:latin typeface="Courier New" pitchFamily="34" charset="0"/>
                          <a:ea typeface="Courier New" pitchFamily="34" charset="-122"/>
                          <a:cs typeface="Courier New" pitchFamily="34" charset="-120"/>
                        </a:rPr>
                        <a:t>preventivo</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Carboeléctrica Costa Brava, 1</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Carboeléctrica Costa Brava, 2</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Carboeléctrica Costa Brava, 3</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Carboeléctrica Costa Brava, 4</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92" dirty="0">
                          <a:solidFill>
                            <a:srgbClr val="202124"/>
                          </a:solidFill>
                          <a:latin typeface="Courier New" pitchFamily="34" charset="0"/>
                          <a:ea typeface="Courier New" pitchFamily="34" charset="-122"/>
                          <a:cs typeface="Courier New" pitchFamily="34" charset="-120"/>
                        </a:rPr>
                        <a:t>✓</a:t>
                      </a:r>
                      <a:endParaRPr lang="en-US" sz="992"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0" name="Text 7"/>
          <p:cNvSpPr txBox="1"/>
          <p:nvPr/>
        </p:nvSpPr>
        <p:spPr>
          <a:xfrm>
            <a:off x="1325880" y="5541264"/>
            <a:ext cx="7315200" cy="256032"/>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 y 2 filas más, 6 en total. En Colab se ven todas.</a:t>
            </a:r>
            <a:endParaRPr lang="en-US" sz="1200" dirty="0"/>
          </a:p>
        </p:txBody>
      </p:sp>
      <p:sp>
        <p:nvSpPr>
          <p:cNvPr id="12" name="Text 8"/>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9"/>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4" name="Text 10"/>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1"/>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6" name="Text 12"/>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7" name="Shape 13"/>
          <p:cNvSpPr/>
          <p:nvPr/>
        </p:nvSpPr>
        <p:spPr>
          <a:xfrm>
            <a:off x="3488436" y="6062472"/>
            <a:ext cx="1522476" cy="566928"/>
          </a:xfrm>
          <a:prstGeom prst="roundRect">
            <a:avLst>
              <a:gd name="adj" fmla="val 11290"/>
            </a:avLst>
          </a:prstGeom>
          <a:solidFill>
            <a:srgbClr val="FEF3D6"/>
          </a:solidFill>
          <a:ln w="25400">
            <a:solidFill>
              <a:srgbClr val="F9AB00"/>
            </a:solidFill>
            <a:prstDash val="solid"/>
          </a:ln>
        </p:spPr>
      </p:sp>
      <p:sp>
        <p:nvSpPr>
          <p:cNvPr id="18" name="Text 14"/>
          <p:cNvSpPr txBox="1"/>
          <p:nvPr/>
        </p:nvSpPr>
        <p:spPr>
          <a:xfrm>
            <a:off x="357987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9" name="Shape 15"/>
          <p:cNvSpPr/>
          <p:nvPr/>
        </p:nvSpPr>
        <p:spPr>
          <a:xfrm>
            <a:off x="5148072" y="6062472"/>
            <a:ext cx="2194560" cy="566928"/>
          </a:xfrm>
          <a:prstGeom prst="roundRect">
            <a:avLst>
              <a:gd name="adj" fmla="val 11290"/>
            </a:avLst>
          </a:prstGeom>
          <a:solidFill>
            <a:srgbClr val="F1F3F4"/>
          </a:solidFill>
          <a:ln w="12700">
            <a:solidFill>
              <a:srgbClr val="DADCE0"/>
            </a:solidFill>
            <a:prstDash val="solid"/>
          </a:ln>
        </p:spPr>
      </p:sp>
      <p:sp>
        <p:nvSpPr>
          <p:cNvPr id="20" name="Text 16"/>
          <p:cNvSpPr txBox="1"/>
          <p:nvPr/>
        </p:nvSpPr>
        <p:spPr>
          <a:xfrm>
            <a:off x="5239512"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canastas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215 valores</a:t>
            </a:r>
            <a:endParaRPr lang="en-US" sz="1200" dirty="0"/>
          </a:p>
        </p:txBody>
      </p:sp>
      <p:sp>
        <p:nvSpPr>
          <p:cNvPr id="21" name="Shape 17"/>
          <p:cNvSpPr/>
          <p:nvPr/>
        </p:nvSpPr>
        <p:spPr>
          <a:xfrm>
            <a:off x="7479792" y="6062472"/>
            <a:ext cx="2770632" cy="566928"/>
          </a:xfrm>
          <a:prstGeom prst="roundRect">
            <a:avLst>
              <a:gd name="adj" fmla="val 11290"/>
            </a:avLst>
          </a:prstGeom>
          <a:solidFill>
            <a:srgbClr val="F1F3F4"/>
          </a:solidFill>
          <a:ln w="12700">
            <a:solidFill>
              <a:srgbClr val="DADCE0"/>
            </a:solidFill>
            <a:prstDash val="solid"/>
          </a:ln>
        </p:spPr>
      </p:sp>
      <p:sp>
        <p:nvSpPr>
          <p:cNvPr id="22" name="Text 18"/>
          <p:cNvSpPr txBox="1"/>
          <p:nvPr/>
        </p:nvSpPr>
        <p:spPr>
          <a:xfrm>
            <a:off x="7571232"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3"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El preventivo aparece en más de la mitad de las canastas.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tabla de sí o no permite contar.</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El promedio de una columna de sí o no es la proporción de canastas donde aparece ese evento.</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5" name="Shape 12"/>
          <p:cNvSpPr/>
          <p:nvPr/>
        </p:nvSpPr>
        <p:spPr>
          <a:xfrm>
            <a:off x="3488436" y="6062472"/>
            <a:ext cx="1522476"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57987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7" name="Shape 14"/>
          <p:cNvSpPr/>
          <p:nvPr/>
        </p:nvSpPr>
        <p:spPr>
          <a:xfrm>
            <a:off x="5148072" y="6062472"/>
            <a:ext cx="219456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239512"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canastas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215 valores</a:t>
            </a:r>
            <a:endParaRPr lang="en-US" sz="1200" dirty="0"/>
          </a:p>
        </p:txBody>
      </p:sp>
      <p:sp>
        <p:nvSpPr>
          <p:cNvPr id="19" name="Shape 16"/>
          <p:cNvSpPr/>
          <p:nvPr/>
        </p:nvSpPr>
        <p:spPr>
          <a:xfrm>
            <a:off x="7479792" y="6062472"/>
            <a:ext cx="277063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571232"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mide el lift.</a:t>
            </a:r>
            <a:endParaRPr lang="en-US" sz="1400" dirty="0"/>
          </a:p>
        </p:txBody>
      </p:sp>
      <p:pic>
        <p:nvPicPr>
          <p:cNvPr id="6" name="Image 0" descr="../../repo/modulos/modulo04/img/lab04_paso6_lift.png">    </p:cNvPr>
          <p:cNvPicPr>
            <a:picLocks noChangeAspect="1"/>
          </p:cNvPicPr>
          <p:nvPr/>
        </p:nvPicPr>
        <p:blipFill>
          <a:blip r:embed="rId1"/>
          <a:stretch>
            <a:fillRect/>
          </a:stretch>
        </p:blipFill>
        <p:spPr>
          <a:xfrm>
            <a:off x="2614364" y="1463040"/>
            <a:ext cx="6960225" cy="46177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si y otro en entonces, y vuelve a correr la celda. Prueba falla_electrica con correctivo y después falla_electrica con preventivo.</a:t>
            </a:r>
            <a:endParaRPr lang="en-US" sz="1400" dirty="0"/>
          </a:p>
        </p:txBody>
      </p:sp>
      <p:sp>
        <p:nvSpPr>
          <p:cNvPr id="7" name="Shape 4"/>
          <p:cNvSpPr/>
          <p:nvPr/>
        </p:nvSpPr>
        <p:spPr>
          <a:xfrm>
            <a:off x="548640" y="1481328"/>
            <a:ext cx="11091672" cy="3697834"/>
          </a:xfrm>
          <a:prstGeom prst="roundRect">
            <a:avLst>
              <a:gd name="adj" fmla="val 1484"/>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14954"/>
          </a:xfrm>
          <a:prstGeom prst="rect">
            <a:avLst/>
          </a:prstGeom>
          <a:noFill/>
          <a:ln/>
        </p:spPr>
        <p:txBody>
          <a:bodyPr wrap="square" lIns="0" tIns="0" rIns="0" bIns="0" rtlCol="0" anchor="t"/>
          <a:lstStyle/>
          <a:p>
            <a:pPr indent="0" marL="0">
              <a:buNone/>
            </a:pPr>
            <a:r>
              <a:rPr lang="en-US" sz="900" i="1" dirty="0">
                <a:solidFill>
                  <a:srgbClr val="188038"/>
                </a:solidFill>
                <a:latin typeface="Courier New" pitchFamily="34" charset="0"/>
                <a:ea typeface="Courier New" pitchFamily="34" charset="-122"/>
                <a:cs typeface="Courier New" pitchFamily="34" charset="-120"/>
              </a:rPr>
              <a:t># Paso 4</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si = </a:t>
            </a:r>
            <a:pPr indent="0" marL="0">
              <a:buNone/>
            </a:pPr>
            <a:r>
              <a:rPr lang="en-US" sz="900" dirty="0">
                <a:solidFill>
                  <a:srgbClr val="A31515"/>
                </a:solidFill>
                <a:latin typeface="Courier New" pitchFamily="34" charset="0"/>
                <a:ea typeface="Courier New" pitchFamily="34" charset="-122"/>
                <a:cs typeface="Courier New" pitchFamily="34" charset="-120"/>
              </a:rPr>
              <a:t>"falla_electrica"</a:t>
            </a:r>
            <a:pPr indent="0" marL="0">
              <a:buNone/>
            </a:pPr>
            <a:r>
              <a:rPr lang="en-US" sz="900" dirty="0">
                <a:solidFill>
                  <a:srgbClr val="202124"/>
                </a:solidFill>
                <a:latin typeface="Courier New" pitchFamily="34" charset="0"/>
                <a:ea typeface="Courier New" pitchFamily="34" charset="-122"/>
                <a:cs typeface="Courier New" pitchFamily="34" charset="-120"/>
              </a:rPr>
              <a:t> </a:t>
            </a:r>
            <a:pPr indent="0" marL="0">
              <a:buNone/>
            </a:pPr>
            <a:r>
              <a:rPr lang="en-US" sz="9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entonces = </a:t>
            </a:r>
            <a:pPr indent="0" marL="0">
              <a:buNone/>
            </a:pPr>
            <a:r>
              <a:rPr lang="en-US" sz="900" dirty="0">
                <a:solidFill>
                  <a:srgbClr val="A31515"/>
                </a:solidFill>
                <a:latin typeface="Courier New" pitchFamily="34" charset="0"/>
                <a:ea typeface="Courier New" pitchFamily="34" charset="-122"/>
                <a:cs typeface="Courier New" pitchFamily="34" charset="-120"/>
              </a:rPr>
              <a:t>"correctivo"</a:t>
            </a:r>
            <a:pPr indent="0" marL="0">
              <a:buNone/>
            </a:pPr>
            <a:r>
              <a:rPr lang="en-US" sz="900" dirty="0">
                <a:solidFill>
                  <a:srgbClr val="202124"/>
                </a:solidFill>
                <a:latin typeface="Courier New" pitchFamily="34" charset="0"/>
                <a:ea typeface="Courier New" pitchFamily="34" charset="-122"/>
                <a:cs typeface="Courier New" pitchFamily="34" charset="-120"/>
              </a:rPr>
              <a:t> </a:t>
            </a:r>
            <a:pPr indent="0" marL="0">
              <a:buNone/>
            </a:pPr>
            <a:r>
              <a:rPr lang="en-US" sz="9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if si == entonces:</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a:t>
            </a:r>
            <a:pPr indent="0" marL="0">
              <a:buNone/>
            </a:pPr>
            <a:r>
              <a:rPr lang="en-US" sz="900" dirty="0">
                <a:solidFill>
                  <a:srgbClr val="A31515"/>
                </a:solidFill>
                <a:latin typeface="Courier New" pitchFamily="34" charset="0"/>
                <a:ea typeface="Courier New" pitchFamily="34" charset="-122"/>
                <a:cs typeface="Courier New" pitchFamily="34" charset="-120"/>
              </a:rPr>
              <a:t>"Elige dos eventos distintos"</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else:</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con_si = tabla[si].sum()</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con_los_dos = (tabla[si] &amp; tabla[entonces]).sum()</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a:t>
            </a:r>
            <a:endParaRPr lang="en-US" sz="900" dirty="0"/>
          </a:p>
          <a:p>
            <a:pPr indent="0" marL="0">
              <a:buNone/>
            </a:pPr>
            <a:r>
              <a:rPr lang="en-US" sz="900" i="1" dirty="0">
                <a:solidFill>
                  <a:srgbClr val="188038"/>
                </a:solidFill>
                <a:latin typeface="Courier New" pitchFamily="34" charset="0"/>
                <a:ea typeface="Courier New" pitchFamily="34" charset="-122"/>
                <a:cs typeface="Courier New" pitchFamily="34" charset="-120"/>
              </a:rPr>
              <a:t>    # Confianza, de las canastas con si, cuántas tienen también entonces.</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confianza = 100 * con_los_dos / con_si</a:t>
            </a:r>
            <a:endParaRPr lang="en-US" sz="900" dirty="0"/>
          </a:p>
          <a:p>
            <a:pPr indent="0" marL="0">
              <a:buNone/>
            </a:pPr>
            <a:r>
              <a:rPr lang="en-US" sz="900" i="1" dirty="0">
                <a:solidFill>
                  <a:srgbClr val="188038"/>
                </a:solidFill>
                <a:latin typeface="Courier New" pitchFamily="34" charset="0"/>
                <a:ea typeface="Courier New" pitchFamily="34" charset="-122"/>
                <a:cs typeface="Courier New" pitchFamily="34" charset="-120"/>
              </a:rPr>
              <a:t>    # Lo normal, en cuántas canastas aparece entonces, haya o no haya si.</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normal = 100 * tabla[entonces].mean()</a:t>
            </a:r>
            <a:endParaRPr lang="en-US" sz="900" dirty="0"/>
          </a:p>
          <a:p>
            <a:pPr indent="0" marL="0">
              <a:buNone/>
            </a:pPr>
            <a:r>
              <a:rPr lang="en-US" sz="900" i="1" dirty="0">
                <a:solidFill>
                  <a:srgbClr val="188038"/>
                </a:solidFill>
                <a:latin typeface="Courier New" pitchFamily="34" charset="0"/>
                <a:ea typeface="Courier New" pitchFamily="34" charset="-122"/>
                <a:cs typeface="Courier New" pitchFamily="34" charset="-120"/>
              </a:rPr>
              <a:t>    # Lift, cuántas veces más de lo normal. Sobre 1 van juntos, cerca de 1 no hay relación.</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lift = confianza / normal</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"Canastas con {si}"</a:t>
            </a:r>
            <a:pPr indent="0" marL="0">
              <a:buNone/>
            </a:pPr>
            <a:r>
              <a:rPr lang="en-US" sz="900" dirty="0">
                <a:solidFill>
                  <a:srgbClr val="202124"/>
                </a:solidFill>
                <a:latin typeface="Courier New" pitchFamily="34" charset="0"/>
                <a:ea typeface="Courier New" pitchFamily="34" charset="-122"/>
                <a:cs typeface="Courier New" pitchFamily="34" charset="-120"/>
              </a:rPr>
              <a:t>, con_si)</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"De ellas, también con {entonces}"</a:t>
            </a:r>
            <a:pPr indent="0" marL="0">
              <a:buNone/>
            </a:pPr>
            <a:r>
              <a:rPr lang="en-US" sz="900" dirty="0">
                <a:solidFill>
                  <a:srgbClr val="202124"/>
                </a:solidFill>
                <a:latin typeface="Courier New" pitchFamily="34" charset="0"/>
                <a:ea typeface="Courier New" pitchFamily="34" charset="-122"/>
                <a:cs typeface="Courier New" pitchFamily="34" charset="-120"/>
              </a:rPr>
              <a:t>, con_los_dos)</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"Confianza  {confianza:.1f} por ciento"</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"{entonces} aparece en general en el {normal:.1f} por ciento"</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"Lift  {lift:.2f}"</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entonces</a:t>
            </a:r>
            <a:endParaRPr lang="en-US" sz="1100" dirty="0"/>
          </a:p>
        </p:txBody>
      </p:sp>
      <p:sp>
        <p:nvSpPr>
          <p:cNvPr id="16" name="Shape 13"/>
          <p:cNvSpPr/>
          <p:nvPr/>
        </p:nvSpPr>
        <p:spPr>
          <a:xfrm>
            <a:off x="8823960" y="2606040"/>
            <a:ext cx="2651760" cy="347472"/>
          </a:xfrm>
          <a:prstGeom prst="rect">
            <a:avLst/>
          </a:prstGeom>
          <a:solidFill>
            <a:srgbClr val="FFFFFF"/>
          </a:solidFill>
          <a:ln w="12700">
            <a:solidFill>
              <a:srgbClr val="9AA0A6"/>
            </a:solidFill>
            <a:prstDash val="solid"/>
          </a:ln>
        </p:spPr>
      </p:sp>
      <p:sp>
        <p:nvSpPr>
          <p:cNvPr id="17" name="Text 14"/>
          <p:cNvSpPr txBox="1"/>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correctivo</a:t>
            </a:r>
            <a:endParaRPr lang="en-US" sz="1200" dirty="0"/>
          </a:p>
        </p:txBody>
      </p:sp>
      <p:sp>
        <p:nvSpPr>
          <p:cNvPr id="18"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9" name="Text 16"/>
          <p:cNvSpPr txBox="1"/>
          <p:nvPr/>
        </p:nvSpPr>
        <p:spPr>
          <a:xfrm>
            <a:off x="1325880" y="5215738"/>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20" name="Text 1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1" name="Shape 18"/>
          <p:cNvSpPr/>
          <p:nvPr/>
        </p:nvSpPr>
        <p:spPr>
          <a:xfrm>
            <a:off x="548640" y="6062472"/>
            <a:ext cx="1522476"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23" name="Shape 20"/>
          <p:cNvSpPr/>
          <p:nvPr/>
        </p:nvSpPr>
        <p:spPr>
          <a:xfrm>
            <a:off x="2208276" y="6062472"/>
            <a:ext cx="219456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2299716"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canastas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215 valores</a:t>
            </a:r>
            <a:endParaRPr lang="en-US" sz="1200" dirty="0"/>
          </a:p>
        </p:txBody>
      </p:sp>
      <p:sp>
        <p:nvSpPr>
          <p:cNvPr id="25" name="Shape 22"/>
          <p:cNvSpPr/>
          <p:nvPr/>
        </p:nvSpPr>
        <p:spPr>
          <a:xfrm>
            <a:off x="4539996" y="6062472"/>
            <a:ext cx="1522476"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463143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27" name="Shape 24"/>
          <p:cNvSpPr/>
          <p:nvPr/>
        </p:nvSpPr>
        <p:spPr>
          <a:xfrm>
            <a:off x="6199632" y="6062472"/>
            <a:ext cx="1143000" cy="566928"/>
          </a:xfrm>
          <a:prstGeom prst="roundRect">
            <a:avLst>
              <a:gd name="adj" fmla="val 11290"/>
            </a:avLst>
          </a:prstGeom>
          <a:solidFill>
            <a:srgbClr val="F1F3F4"/>
          </a:solidFill>
          <a:ln w="12700">
            <a:solidFill>
              <a:srgbClr val="DADCE0"/>
            </a:solidFill>
            <a:prstDash val="solid"/>
          </a:ln>
        </p:spPr>
      </p:sp>
      <p:sp>
        <p:nvSpPr>
          <p:cNvPr id="28" name="Text 25"/>
          <p:cNvSpPr txBox="1"/>
          <p:nvPr/>
        </p:nvSpPr>
        <p:spPr>
          <a:xfrm>
            <a:off x="62910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9" name="Shape 26"/>
          <p:cNvSpPr/>
          <p:nvPr/>
        </p:nvSpPr>
        <p:spPr>
          <a:xfrm>
            <a:off x="7479792" y="6062472"/>
            <a:ext cx="2770632" cy="566928"/>
          </a:xfrm>
          <a:prstGeom prst="roundRect">
            <a:avLst>
              <a:gd name="adj" fmla="val 11290"/>
            </a:avLst>
          </a:prstGeom>
          <a:solidFill>
            <a:srgbClr val="F1F3F4"/>
          </a:solidFill>
          <a:ln w="12700">
            <a:solidFill>
              <a:srgbClr val="DADCE0"/>
            </a:solidFill>
            <a:prstDash val="solid"/>
          </a:ln>
        </p:spPr>
      </p:sp>
      <p:sp>
        <p:nvSpPr>
          <p:cNvPr id="30" name="Text 27"/>
          <p:cNvSpPr txBox="1"/>
          <p:nvPr/>
        </p:nvSpPr>
        <p:spPr>
          <a:xfrm>
            <a:off x="7571232"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con_los_dos = (tabla[si] &amp; tabla[entonces]).sum()</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tabla[si]</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del primer evento, verdadero o falso por canasta.</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tabla[entonces]</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del segundo evento.</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 &amp; ... )</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Verdadero donde están los dos a la vez.</a:t>
            </a:r>
            <a:endParaRPr lang="en-US" sz="1600" dirty="0"/>
          </a:p>
        </p:txBody>
      </p:sp>
      <p:sp>
        <p:nvSpPr>
          <p:cNvPr id="23" name="Shape 21"/>
          <p:cNvSpPr/>
          <p:nvPr/>
        </p:nvSpPr>
        <p:spPr>
          <a:xfrm>
            <a:off x="548640" y="4295648"/>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2956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195064"/>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19506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.sum()</a:t>
            </a:r>
            <a:endParaRPr lang="en-US" sz="1400" dirty="0"/>
          </a:p>
        </p:txBody>
      </p:sp>
      <p:sp>
        <p:nvSpPr>
          <p:cNvPr id="27" name="Text 25"/>
          <p:cNvSpPr txBox="1"/>
          <p:nvPr/>
        </p:nvSpPr>
        <p:spPr>
          <a:xfrm>
            <a:off x="6263640" y="419506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Cuenta los verdaderos.</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cuántas canastas tienen los dos eventos.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si y otro en entonces, y vuelve a correr la celda. Prueba falla_electrica con correctivo y después falla_electrica con preventivo.</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1188720"/>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1060704"/>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Canastas con falla_electrica 42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De ellas, también con correctivo 35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Confianza  83.3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aparece en general en el 40.0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2.08</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522476"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3" name="Shape 10"/>
          <p:cNvSpPr/>
          <p:nvPr/>
        </p:nvSpPr>
        <p:spPr>
          <a:xfrm>
            <a:off x="2208276" y="6062472"/>
            <a:ext cx="1906524"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299716"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5" name="Shape 12"/>
          <p:cNvSpPr/>
          <p:nvPr/>
        </p:nvSpPr>
        <p:spPr>
          <a:xfrm>
            <a:off x="4251960" y="6062472"/>
            <a:ext cx="1426464"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34340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"correctivo"</a:t>
            </a:r>
            <a:endParaRPr lang="en-US" sz="1200" dirty="0"/>
          </a:p>
        </p:txBody>
      </p:sp>
      <p:sp>
        <p:nvSpPr>
          <p:cNvPr id="17" name="Shape 14"/>
          <p:cNvSpPr/>
          <p:nvPr/>
        </p:nvSpPr>
        <p:spPr>
          <a:xfrm>
            <a:off x="5815584" y="6062472"/>
            <a:ext cx="1143000"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590702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42</a:t>
            </a:r>
            <a:endParaRPr lang="en-US" sz="1200" dirty="0"/>
          </a:p>
        </p:txBody>
      </p:sp>
      <p:sp>
        <p:nvSpPr>
          <p:cNvPr id="19" name="Shape 16"/>
          <p:cNvSpPr/>
          <p:nvPr/>
        </p:nvSpPr>
        <p:spPr>
          <a:xfrm>
            <a:off x="7095744" y="6062472"/>
            <a:ext cx="1330452"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718718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con_los_dos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35</a:t>
            </a:r>
            <a:endParaRPr lang="en-US" sz="1200" dirty="0"/>
          </a:p>
        </p:txBody>
      </p:sp>
      <p:sp>
        <p:nvSpPr>
          <p:cNvPr id="21" name="Shape 18"/>
          <p:cNvSpPr/>
          <p:nvPr/>
        </p:nvSpPr>
        <p:spPr>
          <a:xfrm>
            <a:off x="8563356" y="6062472"/>
            <a:ext cx="1143000" cy="566928"/>
          </a:xfrm>
          <a:prstGeom prst="roundRect">
            <a:avLst>
              <a:gd name="adj" fmla="val 11290"/>
            </a:avLst>
          </a:prstGeom>
          <a:solidFill>
            <a:srgbClr val="FEF3D6"/>
          </a:solidFill>
          <a:ln w="25400">
            <a:solidFill>
              <a:srgbClr val="F9AB00"/>
            </a:solidFill>
            <a:prstDash val="solid"/>
          </a:ln>
        </p:spPr>
      </p:sp>
      <p:sp>
        <p:nvSpPr>
          <p:cNvPr id="22" name="Text 19"/>
          <p:cNvSpPr txBox="1"/>
          <p:nvPr/>
        </p:nvSpPr>
        <p:spPr>
          <a:xfrm>
            <a:off x="865479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83.33</a:t>
            </a:r>
            <a:endParaRPr lang="en-US" sz="1200" dirty="0"/>
          </a:p>
        </p:txBody>
      </p:sp>
      <p:sp>
        <p:nvSpPr>
          <p:cNvPr id="23" name="Text 20"/>
          <p:cNvSpPr txBox="1"/>
          <p:nvPr/>
        </p:nvSpPr>
        <p:spPr>
          <a:xfrm>
            <a:off x="984351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6 más</a:t>
            </a:r>
            <a:endParaRPr lang="en-US" sz="1200" dirty="0"/>
          </a:p>
        </p:txBody>
      </p:sp>
      <p:sp>
        <p:nvSpPr>
          <p:cNvPr id="24" name="Text 2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falla eléctrica el correctivo aparece el doble de lo normal. Lift 2,08.</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entonces y se vuelve a correr la celda.</a:t>
            </a:r>
            <a:endParaRPr lang="en-US" sz="1400" dirty="0"/>
          </a:p>
        </p:txBody>
      </p:sp>
      <p:sp>
        <p:nvSpPr>
          <p:cNvPr id="7" name="Shape 4"/>
          <p:cNvSpPr/>
          <p:nvPr/>
        </p:nvSpPr>
        <p:spPr>
          <a:xfrm>
            <a:off x="548640" y="1481328"/>
            <a:ext cx="11091672" cy="3697834"/>
          </a:xfrm>
          <a:prstGeom prst="roundRect">
            <a:avLst>
              <a:gd name="adj" fmla="val 1484"/>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14954"/>
          </a:xfrm>
          <a:prstGeom prst="rect">
            <a:avLst/>
          </a:prstGeom>
          <a:noFill/>
          <a:ln/>
        </p:spPr>
        <p:txBody>
          <a:bodyPr wrap="square" lIns="0" tIns="0" rIns="0" bIns="0" rtlCol="0" anchor="t"/>
          <a:lstStyle/>
          <a:p>
            <a:pPr indent="0" marL="0">
              <a:buNone/>
            </a:pPr>
            <a:r>
              <a:rPr lang="en-US" sz="900" i="1" dirty="0">
                <a:solidFill>
                  <a:srgbClr val="188038"/>
                </a:solidFill>
                <a:latin typeface="Courier New" pitchFamily="34" charset="0"/>
                <a:ea typeface="Courier New" pitchFamily="34" charset="-122"/>
                <a:cs typeface="Courier New" pitchFamily="34" charset="-120"/>
              </a:rPr>
              <a:t># Paso 4</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si = </a:t>
            </a:r>
            <a:pPr indent="0" marL="0">
              <a:buNone/>
            </a:pPr>
            <a:r>
              <a:rPr lang="en-US" sz="900" dirty="0">
                <a:solidFill>
                  <a:srgbClr val="A31515"/>
                </a:solidFill>
                <a:latin typeface="Courier New" pitchFamily="34" charset="0"/>
                <a:ea typeface="Courier New" pitchFamily="34" charset="-122"/>
                <a:cs typeface="Courier New" pitchFamily="34" charset="-120"/>
              </a:rPr>
              <a:t>"falla_electrica"</a:t>
            </a:r>
            <a:pPr indent="0" marL="0">
              <a:buNone/>
            </a:pPr>
            <a:r>
              <a:rPr lang="en-US" sz="900" dirty="0">
                <a:solidFill>
                  <a:srgbClr val="202124"/>
                </a:solidFill>
                <a:latin typeface="Courier New" pitchFamily="34" charset="0"/>
                <a:ea typeface="Courier New" pitchFamily="34" charset="-122"/>
                <a:cs typeface="Courier New" pitchFamily="34" charset="-120"/>
              </a:rPr>
              <a:t> </a:t>
            </a:r>
            <a:pPr indent="0" marL="0">
              <a:buNone/>
            </a:pPr>
            <a:r>
              <a:rPr lang="en-US" sz="9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entonces = </a:t>
            </a:r>
            <a:pPr indent="0" marL="0">
              <a:buNone/>
            </a:pPr>
            <a:r>
              <a:rPr lang="en-US" sz="900" dirty="0">
                <a:solidFill>
                  <a:srgbClr val="A31515"/>
                </a:solidFill>
                <a:latin typeface="Courier New" pitchFamily="34" charset="0"/>
                <a:ea typeface="Courier New" pitchFamily="34" charset="-122"/>
                <a:cs typeface="Courier New" pitchFamily="34" charset="-120"/>
              </a:rPr>
              <a:t>"preventivo"</a:t>
            </a:r>
            <a:pPr indent="0" marL="0">
              <a:buNone/>
            </a:pPr>
            <a:r>
              <a:rPr lang="en-US" sz="900" dirty="0">
                <a:solidFill>
                  <a:srgbClr val="202124"/>
                </a:solidFill>
                <a:latin typeface="Courier New" pitchFamily="34" charset="0"/>
                <a:ea typeface="Courier New" pitchFamily="34" charset="-122"/>
                <a:cs typeface="Courier New" pitchFamily="34" charset="-120"/>
              </a:rPr>
              <a:t> </a:t>
            </a:r>
            <a:pPr indent="0" marL="0">
              <a:buNone/>
            </a:pPr>
            <a:r>
              <a:rPr lang="en-US" sz="9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if si == entonces:</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a:t>
            </a:r>
            <a:pPr indent="0" marL="0">
              <a:buNone/>
            </a:pPr>
            <a:r>
              <a:rPr lang="en-US" sz="900" dirty="0">
                <a:solidFill>
                  <a:srgbClr val="A31515"/>
                </a:solidFill>
                <a:latin typeface="Courier New" pitchFamily="34" charset="0"/>
                <a:ea typeface="Courier New" pitchFamily="34" charset="-122"/>
                <a:cs typeface="Courier New" pitchFamily="34" charset="-120"/>
              </a:rPr>
              <a:t>"Elige dos eventos distintos"</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else:</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con_si = tabla[si].sum()</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con_los_dos = (tabla[si] &amp; tabla[entonces]).sum()</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a:t>
            </a:r>
            <a:endParaRPr lang="en-US" sz="900" dirty="0"/>
          </a:p>
          <a:p>
            <a:pPr indent="0" marL="0">
              <a:buNone/>
            </a:pPr>
            <a:r>
              <a:rPr lang="en-US" sz="900" i="1" dirty="0">
                <a:solidFill>
                  <a:srgbClr val="188038"/>
                </a:solidFill>
                <a:latin typeface="Courier New" pitchFamily="34" charset="0"/>
                <a:ea typeface="Courier New" pitchFamily="34" charset="-122"/>
                <a:cs typeface="Courier New" pitchFamily="34" charset="-120"/>
              </a:rPr>
              <a:t>    # Confianza, de las canastas con si, cuántas tienen también entonces.</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confianza = 100 * con_los_dos / con_si</a:t>
            </a:r>
            <a:endParaRPr lang="en-US" sz="900" dirty="0"/>
          </a:p>
          <a:p>
            <a:pPr indent="0" marL="0">
              <a:buNone/>
            </a:pPr>
            <a:r>
              <a:rPr lang="en-US" sz="900" i="1" dirty="0">
                <a:solidFill>
                  <a:srgbClr val="188038"/>
                </a:solidFill>
                <a:latin typeface="Courier New" pitchFamily="34" charset="0"/>
                <a:ea typeface="Courier New" pitchFamily="34" charset="-122"/>
                <a:cs typeface="Courier New" pitchFamily="34" charset="-120"/>
              </a:rPr>
              <a:t>    # Lo normal, en cuántas canastas aparece entonces, haya o no haya si.</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normal = 100 * tabla[entonces].mean()</a:t>
            </a:r>
            <a:endParaRPr lang="en-US" sz="900" dirty="0"/>
          </a:p>
          <a:p>
            <a:pPr indent="0" marL="0">
              <a:buNone/>
            </a:pPr>
            <a:r>
              <a:rPr lang="en-US" sz="900" i="1" dirty="0">
                <a:solidFill>
                  <a:srgbClr val="188038"/>
                </a:solidFill>
                <a:latin typeface="Courier New" pitchFamily="34" charset="0"/>
                <a:ea typeface="Courier New" pitchFamily="34" charset="-122"/>
                <a:cs typeface="Courier New" pitchFamily="34" charset="-120"/>
              </a:rPr>
              <a:t>    # Lift, cuántas veces más de lo normal. Sobre 1 van juntos, cerca de 1 no hay relación.</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lift = confianza / normal</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"Canastas con {si}"</a:t>
            </a:r>
            <a:pPr indent="0" marL="0">
              <a:buNone/>
            </a:pPr>
            <a:r>
              <a:rPr lang="en-US" sz="900" dirty="0">
                <a:solidFill>
                  <a:srgbClr val="202124"/>
                </a:solidFill>
                <a:latin typeface="Courier New" pitchFamily="34" charset="0"/>
                <a:ea typeface="Courier New" pitchFamily="34" charset="-122"/>
                <a:cs typeface="Courier New" pitchFamily="34" charset="-120"/>
              </a:rPr>
              <a:t>, con_si)</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"De ellas, también con {entonces}"</a:t>
            </a:r>
            <a:pPr indent="0" marL="0">
              <a:buNone/>
            </a:pPr>
            <a:r>
              <a:rPr lang="en-US" sz="900" dirty="0">
                <a:solidFill>
                  <a:srgbClr val="202124"/>
                </a:solidFill>
                <a:latin typeface="Courier New" pitchFamily="34" charset="0"/>
                <a:ea typeface="Courier New" pitchFamily="34" charset="-122"/>
                <a:cs typeface="Courier New" pitchFamily="34" charset="-120"/>
              </a:rPr>
              <a:t>, con_los_dos)</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"Confianza  {confianza:.1f} por ciento"</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"{entonces} aparece en general en el {normal:.1f} por ciento"</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202124"/>
                </a:solidFill>
                <a:latin typeface="Courier New" pitchFamily="34" charset="0"/>
                <a:ea typeface="Courier New" pitchFamily="34" charset="-122"/>
                <a:cs typeface="Courier New" pitchFamily="34" charset="-120"/>
              </a:rPr>
              <a:t>    print(f</a:t>
            </a:r>
            <a:pPr indent="0" marL="0">
              <a:buNone/>
            </a:pPr>
            <a:r>
              <a:rPr lang="en-US" sz="900" dirty="0">
                <a:solidFill>
                  <a:srgbClr val="A31515"/>
                </a:solidFill>
                <a:latin typeface="Courier New" pitchFamily="34" charset="0"/>
                <a:ea typeface="Courier New" pitchFamily="34" charset="-122"/>
                <a:cs typeface="Courier New" pitchFamily="34" charset="-120"/>
              </a:rPr>
              <a:t>"Lift  {lift:.2f}"</a:t>
            </a:r>
            <a:pPr indent="0" marL="0">
              <a:buNone/>
            </a:pPr>
            <a:r>
              <a:rPr lang="en-US" sz="900" dirty="0">
                <a:solidFill>
                  <a:srgbClr val="202124"/>
                </a:solidFill>
                <a:latin typeface="Courier New" pitchFamily="34" charset="0"/>
                <a:ea typeface="Courier New" pitchFamily="34" charset="-122"/>
                <a:cs typeface="Courier New" pitchFamily="34" charset="-120"/>
              </a:rPr>
              <a:t>)</a:t>
            </a:r>
            <a:endParaRPr lang="en-US" sz="9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entonces</a:t>
            </a:r>
            <a:endParaRPr lang="en-US" sz="1100" dirty="0"/>
          </a:p>
        </p:txBody>
      </p:sp>
      <p:sp>
        <p:nvSpPr>
          <p:cNvPr id="16" name="Shape 13"/>
          <p:cNvSpPr/>
          <p:nvPr/>
        </p:nvSpPr>
        <p:spPr>
          <a:xfrm>
            <a:off x="8823960" y="2606040"/>
            <a:ext cx="2651760" cy="347472"/>
          </a:xfrm>
          <a:prstGeom prst="rect">
            <a:avLst/>
          </a:prstGeom>
          <a:solidFill>
            <a:srgbClr val="FFFFFF"/>
          </a:solidFill>
          <a:ln w="25400">
            <a:solidFill>
              <a:srgbClr val="1A73E8"/>
            </a:solidFill>
            <a:prstDash val="solid"/>
          </a:ln>
        </p:spPr>
      </p:sp>
      <p:sp>
        <p:nvSpPr>
          <p:cNvPr id="17" name="Text 14"/>
          <p:cNvSpPr txBox="1"/>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preventivo</a:t>
            </a:r>
            <a:endParaRPr lang="en-US" sz="1200" dirty="0"/>
          </a:p>
        </p:txBody>
      </p:sp>
      <p:sp>
        <p:nvSpPr>
          <p:cNvPr id="18"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9" name="Text 16"/>
          <p:cNvSpPr txBox="1"/>
          <p:nvPr/>
        </p:nvSpPr>
        <p:spPr>
          <a:xfrm>
            <a:off x="1325880" y="5215738"/>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20" name="Text 1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1" name="Shape 18"/>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2.08</a:t>
            </a:r>
            <a:endParaRPr lang="en-US" sz="1200" dirty="0"/>
          </a:p>
        </p:txBody>
      </p:sp>
      <p:sp>
        <p:nvSpPr>
          <p:cNvPr id="23" name="Shape 20"/>
          <p:cNvSpPr/>
          <p:nvPr/>
        </p:nvSpPr>
        <p:spPr>
          <a:xfrm>
            <a:off x="1828800" y="6062472"/>
            <a:ext cx="11430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19202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40.0</a:t>
            </a:r>
            <a:endParaRPr lang="en-US" sz="1200" dirty="0"/>
          </a:p>
        </p:txBody>
      </p:sp>
      <p:sp>
        <p:nvSpPr>
          <p:cNvPr id="25" name="Shape 22"/>
          <p:cNvSpPr/>
          <p:nvPr/>
        </p:nvSpPr>
        <p:spPr>
          <a:xfrm>
            <a:off x="3108960" y="6062472"/>
            <a:ext cx="1143000"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320040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83.33</a:t>
            </a:r>
            <a:endParaRPr lang="en-US" sz="1200" dirty="0"/>
          </a:p>
        </p:txBody>
      </p:sp>
      <p:sp>
        <p:nvSpPr>
          <p:cNvPr id="27" name="Shape 24"/>
          <p:cNvSpPr/>
          <p:nvPr/>
        </p:nvSpPr>
        <p:spPr>
          <a:xfrm>
            <a:off x="4389120" y="6062472"/>
            <a:ext cx="1330452" cy="566928"/>
          </a:xfrm>
          <a:prstGeom prst="roundRect">
            <a:avLst>
              <a:gd name="adj" fmla="val 11290"/>
            </a:avLst>
          </a:prstGeom>
          <a:solidFill>
            <a:srgbClr val="F1F3F4"/>
          </a:solidFill>
          <a:ln w="12700">
            <a:solidFill>
              <a:srgbClr val="DADCE0"/>
            </a:solidFill>
            <a:prstDash val="solid"/>
          </a:ln>
        </p:spPr>
      </p:sp>
      <p:sp>
        <p:nvSpPr>
          <p:cNvPr id="28" name="Text 25"/>
          <p:cNvSpPr txBox="1"/>
          <p:nvPr/>
        </p:nvSpPr>
        <p:spPr>
          <a:xfrm>
            <a:off x="448056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con_los_dos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35</a:t>
            </a:r>
            <a:endParaRPr lang="en-US" sz="1200" dirty="0"/>
          </a:p>
        </p:txBody>
      </p:sp>
      <p:sp>
        <p:nvSpPr>
          <p:cNvPr id="29" name="Shape 26"/>
          <p:cNvSpPr/>
          <p:nvPr/>
        </p:nvSpPr>
        <p:spPr>
          <a:xfrm>
            <a:off x="5856732" y="6062472"/>
            <a:ext cx="1143000" cy="566928"/>
          </a:xfrm>
          <a:prstGeom prst="roundRect">
            <a:avLst>
              <a:gd name="adj" fmla="val 11290"/>
            </a:avLst>
          </a:prstGeom>
          <a:solidFill>
            <a:srgbClr val="F1F3F4"/>
          </a:solidFill>
          <a:ln w="12700">
            <a:solidFill>
              <a:srgbClr val="DADCE0"/>
            </a:solidFill>
            <a:prstDash val="solid"/>
          </a:ln>
        </p:spPr>
      </p:sp>
      <p:sp>
        <p:nvSpPr>
          <p:cNvPr id="30" name="Text 27"/>
          <p:cNvSpPr txBox="1"/>
          <p:nvPr/>
        </p:nvSpPr>
        <p:spPr>
          <a:xfrm>
            <a:off x="59481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42</a:t>
            </a:r>
            <a:endParaRPr lang="en-US" sz="1200" dirty="0"/>
          </a:p>
        </p:txBody>
      </p:sp>
      <p:sp>
        <p:nvSpPr>
          <p:cNvPr id="31" name="Shape 28"/>
          <p:cNvSpPr/>
          <p:nvPr/>
        </p:nvSpPr>
        <p:spPr>
          <a:xfrm>
            <a:off x="7136892" y="6062472"/>
            <a:ext cx="1426464" cy="566928"/>
          </a:xfrm>
          <a:prstGeom prst="roundRect">
            <a:avLst>
              <a:gd name="adj" fmla="val 11290"/>
            </a:avLst>
          </a:prstGeom>
          <a:solidFill>
            <a:srgbClr val="F1F3F4"/>
          </a:solidFill>
          <a:ln w="12700">
            <a:solidFill>
              <a:srgbClr val="DADCE0"/>
            </a:solidFill>
            <a:prstDash val="solid"/>
          </a:ln>
        </p:spPr>
      </p:sp>
      <p:sp>
        <p:nvSpPr>
          <p:cNvPr id="32" name="Text 29"/>
          <p:cNvSpPr txBox="1"/>
          <p:nvPr/>
        </p:nvSpPr>
        <p:spPr>
          <a:xfrm>
            <a:off x="722833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"correctivo"</a:t>
            </a:r>
            <a:endParaRPr lang="en-US" sz="1200" dirty="0"/>
          </a:p>
        </p:txBody>
      </p:sp>
      <p:sp>
        <p:nvSpPr>
          <p:cNvPr id="33" name="Text 30"/>
          <p:cNvSpPr txBox="1"/>
          <p:nvPr/>
        </p:nvSpPr>
        <p:spPr>
          <a:xfrm>
            <a:off x="870051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6 más</a:t>
            </a:r>
            <a:endParaRPr lang="en-US" sz="1200" dirty="0"/>
          </a:p>
        </p:txBody>
      </p:sp>
      <p:sp>
        <p:nvSpPr>
          <p:cNvPr id="34" name="Text 3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entonces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1188720"/>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1060704"/>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Canastas con falla_electrica 42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De ellas, también con preventivo 22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Confianza  52.4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aparece en general en el 56.3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0.93</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522476"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3" name="Shape 10"/>
          <p:cNvSpPr/>
          <p:nvPr/>
        </p:nvSpPr>
        <p:spPr>
          <a:xfrm>
            <a:off x="2208276" y="6062472"/>
            <a:ext cx="1906524"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2299716"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5" name="Shape 12"/>
          <p:cNvSpPr/>
          <p:nvPr/>
        </p:nvSpPr>
        <p:spPr>
          <a:xfrm>
            <a:off x="4251960" y="6062472"/>
            <a:ext cx="1426464"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34340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7" name="Shape 14"/>
          <p:cNvSpPr/>
          <p:nvPr/>
        </p:nvSpPr>
        <p:spPr>
          <a:xfrm>
            <a:off x="5815584" y="6062472"/>
            <a:ext cx="1143000"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90702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42</a:t>
            </a:r>
            <a:endParaRPr lang="en-US" sz="1200" dirty="0"/>
          </a:p>
        </p:txBody>
      </p:sp>
      <p:sp>
        <p:nvSpPr>
          <p:cNvPr id="19" name="Shape 16"/>
          <p:cNvSpPr/>
          <p:nvPr/>
        </p:nvSpPr>
        <p:spPr>
          <a:xfrm>
            <a:off x="7095744" y="6062472"/>
            <a:ext cx="1330452"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718718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con_los_dos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22</a:t>
            </a:r>
            <a:endParaRPr lang="en-US" sz="1200" dirty="0"/>
          </a:p>
        </p:txBody>
      </p:sp>
      <p:sp>
        <p:nvSpPr>
          <p:cNvPr id="21" name="Shape 18"/>
          <p:cNvSpPr/>
          <p:nvPr/>
        </p:nvSpPr>
        <p:spPr>
          <a:xfrm>
            <a:off x="8563356" y="6062472"/>
            <a:ext cx="1143000" cy="566928"/>
          </a:xfrm>
          <a:prstGeom prst="roundRect">
            <a:avLst>
              <a:gd name="adj" fmla="val 11290"/>
            </a:avLst>
          </a:prstGeom>
          <a:solidFill>
            <a:srgbClr val="FEF3D6"/>
          </a:solidFill>
          <a:ln w="25400">
            <a:solidFill>
              <a:srgbClr val="F9AB00"/>
            </a:solidFill>
            <a:prstDash val="solid"/>
          </a:ln>
        </p:spPr>
      </p:sp>
      <p:sp>
        <p:nvSpPr>
          <p:cNvPr id="22" name="Text 19"/>
          <p:cNvSpPr txBox="1"/>
          <p:nvPr/>
        </p:nvSpPr>
        <p:spPr>
          <a:xfrm>
            <a:off x="865479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52.38</a:t>
            </a:r>
            <a:endParaRPr lang="en-US" sz="1200" dirty="0"/>
          </a:p>
        </p:txBody>
      </p:sp>
      <p:sp>
        <p:nvSpPr>
          <p:cNvPr id="23" name="Text 20"/>
          <p:cNvSpPr txBox="1"/>
          <p:nvPr/>
        </p:nvSpPr>
        <p:spPr>
          <a:xfrm>
            <a:off x="984351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6 más</a:t>
            </a:r>
            <a:endParaRPr lang="en-US" sz="1200" dirty="0"/>
          </a:p>
        </p:txBody>
      </p:sp>
      <p:sp>
        <p:nvSpPr>
          <p:cNvPr id="24" name="Text 2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52,4 por ciento parece mucho, pero el preventivo aparece en el 56,3 de todas las canastas. Lift 0,93.</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La confianza sola no basta, hay que mirar el lift.</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Lift sobre 1 es que van juntos más de lo normal. Cerca de 1 es que no hay relación.</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522476"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3" name="Shape 10"/>
          <p:cNvSpPr/>
          <p:nvPr/>
        </p:nvSpPr>
        <p:spPr>
          <a:xfrm>
            <a:off x="2208276" y="6062472"/>
            <a:ext cx="1906524"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2299716"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5" name="Shape 12"/>
          <p:cNvSpPr/>
          <p:nvPr/>
        </p:nvSpPr>
        <p:spPr>
          <a:xfrm>
            <a:off x="4251960" y="6062472"/>
            <a:ext cx="1426464"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34340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7" name="Shape 14"/>
          <p:cNvSpPr/>
          <p:nvPr/>
        </p:nvSpPr>
        <p:spPr>
          <a:xfrm>
            <a:off x="5815584" y="6062472"/>
            <a:ext cx="1143000"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90702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42</a:t>
            </a:r>
            <a:endParaRPr lang="en-US" sz="1200" dirty="0"/>
          </a:p>
        </p:txBody>
      </p:sp>
      <p:sp>
        <p:nvSpPr>
          <p:cNvPr id="19" name="Shape 16"/>
          <p:cNvSpPr/>
          <p:nvPr/>
        </p:nvSpPr>
        <p:spPr>
          <a:xfrm>
            <a:off x="7095744" y="6062472"/>
            <a:ext cx="1330452"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718718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con_los_dos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22</a:t>
            </a:r>
            <a:endParaRPr lang="en-US" sz="1200" dirty="0"/>
          </a:p>
        </p:txBody>
      </p:sp>
      <p:sp>
        <p:nvSpPr>
          <p:cNvPr id="21" name="Shape 18"/>
          <p:cNvSpPr/>
          <p:nvPr/>
        </p:nvSpPr>
        <p:spPr>
          <a:xfrm>
            <a:off x="8563356" y="6062472"/>
            <a:ext cx="1143000" cy="566928"/>
          </a:xfrm>
          <a:prstGeom prst="roundRect">
            <a:avLst>
              <a:gd name="adj" fmla="val 11290"/>
            </a:avLst>
          </a:prstGeom>
          <a:solidFill>
            <a:srgbClr val="FEF3D6"/>
          </a:solidFill>
          <a:ln w="25400">
            <a:solidFill>
              <a:srgbClr val="F9AB00"/>
            </a:solidFill>
            <a:prstDash val="solid"/>
          </a:ln>
        </p:spPr>
      </p:sp>
      <p:sp>
        <p:nvSpPr>
          <p:cNvPr id="22" name="Text 19"/>
          <p:cNvSpPr txBox="1"/>
          <p:nvPr/>
        </p:nvSpPr>
        <p:spPr>
          <a:xfrm>
            <a:off x="865479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52.38</a:t>
            </a:r>
            <a:endParaRPr lang="en-US" sz="1200" dirty="0"/>
          </a:p>
        </p:txBody>
      </p:sp>
      <p:sp>
        <p:nvSpPr>
          <p:cNvPr id="23" name="Text 20"/>
          <p:cNvSpPr txBox="1"/>
          <p:nvPr/>
        </p:nvSpPr>
        <p:spPr>
          <a:xfrm>
            <a:off x="984351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6 más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vamos a medir en este paso, dibujado antes.</a:t>
            </a:r>
            <a:endParaRPr lang="en-US" sz="1400" dirty="0"/>
          </a:p>
        </p:txBody>
      </p:sp>
      <p:pic>
        <p:nvPicPr>
          <p:cNvPr id="6" name="Image 0" descr="../../repo/modulos/modulo04/img/lab04_paso9_dias.png">    </p:cNvPr>
          <p:cNvPicPr>
            <a:picLocks noChangeAspect="1"/>
          </p:cNvPicPr>
          <p:nvPr/>
        </p:nvPicPr>
        <p:blipFill>
          <a:blip r:embed="rId1"/>
          <a:stretch>
            <a:fillRect/>
          </a:stretch>
        </p:blipFill>
        <p:spPr>
          <a:xfrm>
            <a:off x="1344493" y="1463040"/>
            <a:ext cx="9499967" cy="461772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Después mueve el deslizador a 0, a 1 y a 7, y vuelve a correrla cada vez.</a:t>
            </a:r>
            <a:endParaRPr lang="en-US" sz="1400" dirty="0"/>
          </a:p>
        </p:txBody>
      </p:sp>
      <p:sp>
        <p:nvSpPr>
          <p:cNvPr id="7" name="Shape 4"/>
          <p:cNvSpPr/>
          <p:nvPr/>
        </p:nvSpPr>
        <p:spPr>
          <a:xfrm>
            <a:off x="548640" y="1481328"/>
            <a:ext cx="11091672" cy="3749040"/>
          </a:xfrm>
          <a:prstGeom prst="roundRect">
            <a:avLst>
              <a:gd name="adj" fmla="val 1463"/>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66160"/>
          </a:xfrm>
          <a:prstGeom prst="rect">
            <a:avLst/>
          </a:prstGeom>
          <a:noFill/>
          <a:ln/>
        </p:spPr>
        <p:txBody>
          <a:bodyPr wrap="square" lIns="0" tIns="0" rIns="0" bIns="0" rtlCol="0" anchor="t"/>
          <a:lstStyle/>
          <a:p>
            <a:pPr indent="0" marL="0">
              <a:buNone/>
            </a:pPr>
            <a:r>
              <a:rPr lang="en-US" sz="1100" i="1" dirty="0">
                <a:solidFill>
                  <a:srgbClr val="188038"/>
                </a:solidFill>
                <a:latin typeface="Courier New" pitchFamily="34" charset="0"/>
                <a:ea typeface="Courier New" pitchFamily="34" charset="-122"/>
                <a:cs typeface="Courier New" pitchFamily="34" charset="-120"/>
              </a:rPr>
              <a:t># Paso 5</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dias = 3 </a:t>
            </a:r>
            <a:pPr indent="0" marL="0">
              <a:buNone/>
            </a:pPr>
            <a:r>
              <a:rPr lang="en-US" sz="1100" dirty="0">
                <a:solidFill>
                  <a:srgbClr val="80868B"/>
                </a:solidFill>
                <a:latin typeface="Courier New" pitchFamily="34" charset="0"/>
                <a:ea typeface="Courier New" pitchFamily="34" charset="-122"/>
                <a:cs typeface="Courier New" pitchFamily="34" charset="-120"/>
              </a:rPr>
              <a:t>#@param {type:"slider", min:0, max:7, step:1}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electricas = mant[mant[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a:t>
            </a:r>
            <a:pPr indent="0" marL="0">
              <a:buNone/>
            </a:pPr>
            <a:r>
              <a:rPr lang="en-US" sz="1100" dirty="0">
                <a:solidFill>
                  <a:srgbClr val="A31515"/>
                </a:solidFill>
                <a:latin typeface="Courier New" pitchFamily="34" charset="0"/>
                <a:ea typeface="Courier New" pitchFamily="34" charset="-122"/>
                <a:cs typeface="Courier New" pitchFamily="34" charset="-120"/>
              </a:rPr>
              <a:t>"falla_electrica"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correctivos = mant[mant[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a:t>
            </a:r>
            <a:pPr indent="0" marL="0">
              <a:buNone/>
            </a:pPr>
            <a:r>
              <a:rPr lang="en-US" sz="1100" dirty="0">
                <a:solidFill>
                  <a:srgbClr val="A31515"/>
                </a:solidFill>
                <a:latin typeface="Courier New" pitchFamily="34" charset="0"/>
                <a:ea typeface="Courier New" pitchFamily="34" charset="-122"/>
                <a:cs typeface="Courier New" pitchFamily="34" charset="-120"/>
              </a:rPr>
              <a:t>"correctivo"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Cada falla eléctrica se junta con todos los correctivos de su misma central.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pares = pd.merge(electricas[[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 correctivos[[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on=</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suffixes=(</a:t>
            </a:r>
            <a:pPr indent="0" marL="0">
              <a:buNone/>
            </a:pPr>
            <a:r>
              <a:rPr lang="en-US" sz="1100" dirty="0">
                <a:solidFill>
                  <a:srgbClr val="A31515"/>
                </a:solidFill>
                <a:latin typeface="Courier New" pitchFamily="34" charset="0"/>
                <a:ea typeface="Courier New" pitchFamily="34" charset="-122"/>
                <a:cs typeface="Courier New" pitchFamily="34" charset="-120"/>
              </a:rPr>
              <a:t>"_falla"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"_correctivo"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distancia = (pares[</a:t>
            </a:r>
            <a:pPr indent="0" marL="0">
              <a:buNone/>
            </a:pPr>
            <a:r>
              <a:rPr lang="en-US" sz="1100" dirty="0">
                <a:solidFill>
                  <a:srgbClr val="A31515"/>
                </a:solidFill>
                <a:latin typeface="Courier New" pitchFamily="34" charset="0"/>
                <a:ea typeface="Courier New" pitchFamily="34" charset="-122"/>
                <a:cs typeface="Courier New" pitchFamily="34" charset="-120"/>
              </a:rPr>
              <a:t>"fecha_correctivo"</a:t>
            </a:r>
            <a:pPr indent="0" marL="0">
              <a:buNone/>
            </a:pPr>
            <a:r>
              <a:rPr lang="en-US" sz="1100" dirty="0">
                <a:solidFill>
                  <a:srgbClr val="202124"/>
                </a:solidFill>
                <a:latin typeface="Courier New" pitchFamily="34" charset="0"/>
                <a:ea typeface="Courier New" pitchFamily="34" charset="-122"/>
                <a:cs typeface="Courier New" pitchFamily="34" charset="-120"/>
              </a:rPr>
              <a:t>] - pares[</a:t>
            </a:r>
            <a:pPr indent="0" marL="0">
              <a:buNone/>
            </a:pPr>
            <a:r>
              <a:rPr lang="en-US" sz="1100" dirty="0">
                <a:solidFill>
                  <a:srgbClr val="A31515"/>
                </a:solidFill>
                <a:latin typeface="Courier New" pitchFamily="34" charset="0"/>
                <a:ea typeface="Courier New" pitchFamily="34" charset="-122"/>
                <a:cs typeface="Courier New" pitchFamily="34" charset="-120"/>
              </a:rPr>
              <a:t>"fecha_falla"</a:t>
            </a:r>
            <a:pPr indent="0" marL="0">
              <a:buNone/>
            </a:pPr>
            <a:r>
              <a:rPr lang="en-US" sz="1100" dirty="0">
                <a:solidFill>
                  <a:srgbClr val="202124"/>
                </a:solidFill>
                <a:latin typeface="Courier New" pitchFamily="34" charset="0"/>
                <a:ea typeface="Courier New" pitchFamily="34" charset="-122"/>
                <a:cs typeface="Courier New" pitchFamily="34" charset="-120"/>
              </a:rPr>
              <a:t>]).dt.days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Se quedan los correctivos que llegan el mismo día o hasta dias después.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cerca = pares[(distancia &gt;= 0) &amp; (distancia &lt;= dias)]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con_correctivo = cerca[[</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"fecha_falla"</a:t>
            </a:r>
            <a:pPr indent="0" marL="0">
              <a:buNone/>
            </a:pPr>
            <a:r>
              <a:rPr lang="en-US" sz="1100" dirty="0">
                <a:solidFill>
                  <a:srgbClr val="202124"/>
                </a:solidFill>
                <a:latin typeface="Courier New" pitchFamily="34" charset="0"/>
                <a:ea typeface="Courier New" pitchFamily="34" charset="-122"/>
                <a:cs typeface="Courier New" pitchFamily="34" charset="-120"/>
              </a:rPr>
              <a:t>]].drop_duplicates()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porcentaje = 100 * len(con_correctivo) / len(electricas)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100" dirty="0">
                <a:solidFill>
                  <a:srgbClr val="202124"/>
                </a:solidFill>
                <a:latin typeface="Courier New" pitchFamily="34" charset="0"/>
                <a:ea typeface="Courier New" pitchFamily="34" charset="-122"/>
                <a:cs typeface="Courier New" pitchFamily="34" charset="-120"/>
              </a:rPr>
              <a:t>, len(electricas))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100" dirty="0">
                <a:solidFill>
                  <a:srgbClr val="202124"/>
                </a:solidFill>
                <a:latin typeface="Courier New" pitchFamily="34" charset="0"/>
                <a:ea typeface="Courier New" pitchFamily="34" charset="-122"/>
                <a:cs typeface="Courier New" pitchFamily="34" charset="-120"/>
              </a:rPr>
              <a:t>, len(con_correctivo))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"Medido {porcentaje:.1f} por ciento"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2"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3" name="Shape 10"/>
          <p:cNvSpPr/>
          <p:nvPr/>
        </p:nvSpPr>
        <p:spPr>
          <a:xfrm>
            <a:off x="8823960" y="2002536"/>
            <a:ext cx="842554" cy="45720"/>
          </a:xfrm>
          <a:prstGeom prst="rect">
            <a:avLst/>
          </a:prstGeom>
          <a:solidFill>
            <a:srgbClr val="1A73E8"/>
          </a:solidFill>
          <a:ln w="12700">
            <a:solidFill>
              <a:srgbClr val="1A73E8"/>
            </a:solidFill>
            <a:prstDash val="solid"/>
          </a:ln>
        </p:spPr>
      </p:sp>
      <p:sp>
        <p:nvSpPr>
          <p:cNvPr id="14" name="Shape 11"/>
          <p:cNvSpPr/>
          <p:nvPr/>
        </p:nvSpPr>
        <p:spPr>
          <a:xfrm>
            <a:off x="9584218" y="1938528"/>
            <a:ext cx="173736" cy="173736"/>
          </a:xfrm>
          <a:prstGeom prst="ellipse">
            <a:avLst/>
          </a:prstGeom>
          <a:solidFill>
            <a:srgbClr val="1A73E8"/>
          </a:solidFill>
          <a:ln w="12700">
            <a:solidFill>
              <a:srgbClr val="1A73E8"/>
            </a:solidFill>
            <a:prstDash val="solid"/>
          </a:ln>
        </p:spPr>
      </p:sp>
      <p:sp>
        <p:nvSpPr>
          <p:cNvPr id="15" name="Text 12"/>
          <p:cNvSpPr txBox="1"/>
          <p:nvPr/>
        </p:nvSpPr>
        <p:spPr>
          <a:xfrm>
            <a:off x="10881360" y="1892808"/>
            <a:ext cx="594360" cy="274320"/>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1325880" y="52669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7"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5"/>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0.93</a:t>
            </a:r>
            <a:endParaRPr lang="en-US" sz="1200" dirty="0"/>
          </a:p>
        </p:txBody>
      </p:sp>
      <p:sp>
        <p:nvSpPr>
          <p:cNvPr id="20" name="Shape 17"/>
          <p:cNvSpPr/>
          <p:nvPr/>
        </p:nvSpPr>
        <p:spPr>
          <a:xfrm>
            <a:off x="1828800" y="6062472"/>
            <a:ext cx="11430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19202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56.28</a:t>
            </a:r>
            <a:endParaRPr lang="en-US" sz="1200" dirty="0"/>
          </a:p>
        </p:txBody>
      </p:sp>
      <p:sp>
        <p:nvSpPr>
          <p:cNvPr id="22" name="Shape 19"/>
          <p:cNvSpPr/>
          <p:nvPr/>
        </p:nvSpPr>
        <p:spPr>
          <a:xfrm>
            <a:off x="3108960" y="6062472"/>
            <a:ext cx="1143000"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320040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52.38</a:t>
            </a:r>
            <a:endParaRPr lang="en-US" sz="1200" dirty="0"/>
          </a:p>
        </p:txBody>
      </p:sp>
      <p:sp>
        <p:nvSpPr>
          <p:cNvPr id="24" name="Shape 21"/>
          <p:cNvSpPr/>
          <p:nvPr/>
        </p:nvSpPr>
        <p:spPr>
          <a:xfrm>
            <a:off x="4389120" y="6062472"/>
            <a:ext cx="1330452"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448056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con_los_dos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22</a:t>
            </a:r>
            <a:endParaRPr lang="en-US" sz="1200" dirty="0"/>
          </a:p>
        </p:txBody>
      </p:sp>
      <p:sp>
        <p:nvSpPr>
          <p:cNvPr id="26" name="Shape 23"/>
          <p:cNvSpPr/>
          <p:nvPr/>
        </p:nvSpPr>
        <p:spPr>
          <a:xfrm>
            <a:off x="5856732" y="6062472"/>
            <a:ext cx="1143000" cy="566928"/>
          </a:xfrm>
          <a:prstGeom prst="roundRect">
            <a:avLst>
              <a:gd name="adj" fmla="val 11290"/>
            </a:avLst>
          </a:prstGeom>
          <a:solidFill>
            <a:srgbClr val="F1F3F4"/>
          </a:solidFill>
          <a:ln w="12700">
            <a:solidFill>
              <a:srgbClr val="DADCE0"/>
            </a:solidFill>
            <a:prstDash val="solid"/>
          </a:ln>
        </p:spPr>
      </p:sp>
      <p:sp>
        <p:nvSpPr>
          <p:cNvPr id="27" name="Text 24"/>
          <p:cNvSpPr txBox="1"/>
          <p:nvPr/>
        </p:nvSpPr>
        <p:spPr>
          <a:xfrm>
            <a:off x="59481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42</a:t>
            </a:r>
            <a:endParaRPr lang="en-US" sz="1200" dirty="0"/>
          </a:p>
        </p:txBody>
      </p:sp>
      <p:sp>
        <p:nvSpPr>
          <p:cNvPr id="28" name="Shape 25"/>
          <p:cNvSpPr/>
          <p:nvPr/>
        </p:nvSpPr>
        <p:spPr>
          <a:xfrm>
            <a:off x="7136892" y="6062472"/>
            <a:ext cx="1426464" cy="566928"/>
          </a:xfrm>
          <a:prstGeom prst="roundRect">
            <a:avLst>
              <a:gd name="adj" fmla="val 11290"/>
            </a:avLst>
          </a:prstGeom>
          <a:solidFill>
            <a:srgbClr val="F1F3F4"/>
          </a:solidFill>
          <a:ln w="12700">
            <a:solidFill>
              <a:srgbClr val="DADCE0"/>
            </a:solidFill>
            <a:prstDash val="solid"/>
          </a:ln>
        </p:spPr>
      </p:sp>
      <p:sp>
        <p:nvSpPr>
          <p:cNvPr id="29" name="Text 26"/>
          <p:cNvSpPr txBox="1"/>
          <p:nvPr/>
        </p:nvSpPr>
        <p:spPr>
          <a:xfrm>
            <a:off x="722833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30" name="Text 27"/>
          <p:cNvSpPr txBox="1"/>
          <p:nvPr/>
        </p:nvSpPr>
        <p:spPr>
          <a:xfrm>
            <a:off x="870051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6 más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distancia = (pares[</a:t>
            </a:r>
            <a:pPr indent="0" marL="0">
              <a:buNone/>
            </a:pPr>
            <a:r>
              <a:rPr lang="en-US" sz="1600" dirty="0">
                <a:solidFill>
                  <a:srgbClr val="A31515"/>
                </a:solidFill>
                <a:latin typeface="Courier New" pitchFamily="34" charset="0"/>
                <a:ea typeface="Courier New" pitchFamily="34" charset="-122"/>
                <a:cs typeface="Courier New" pitchFamily="34" charset="-120"/>
              </a:rPr>
              <a:t>"fecha_correctivo"</a:t>
            </a:r>
            <a:pPr indent="0" marL="0">
              <a:buNone/>
            </a:pPr>
            <a:r>
              <a:rPr lang="en-US" sz="1600" dirty="0">
                <a:solidFill>
                  <a:srgbClr val="202124"/>
                </a:solidFill>
                <a:latin typeface="Courier New" pitchFamily="34" charset="0"/>
                <a:ea typeface="Courier New" pitchFamily="34" charset="-122"/>
                <a:cs typeface="Courier New" pitchFamily="34" charset="-120"/>
              </a:rPr>
              <a:t>] - pares[</a:t>
            </a:r>
            <a:pPr indent="0" marL="0">
              <a:buNone/>
            </a:pPr>
            <a:r>
              <a:rPr lang="en-US" sz="1600" dirty="0">
                <a:solidFill>
                  <a:srgbClr val="A31515"/>
                </a:solidFill>
                <a:latin typeface="Courier New" pitchFamily="34" charset="0"/>
                <a:ea typeface="Courier New" pitchFamily="34" charset="-122"/>
                <a:cs typeface="Courier New" pitchFamily="34" charset="-120"/>
              </a:rPr>
              <a:t>"fecha_falla"</a:t>
            </a:r>
            <a:pPr indent="0" marL="0">
              <a:buNone/>
            </a:pPr>
            <a:r>
              <a:rPr lang="en-US" sz="1600" dirty="0">
                <a:solidFill>
                  <a:srgbClr val="202124"/>
                </a:solidFill>
                <a:latin typeface="Courier New" pitchFamily="34" charset="0"/>
                <a:ea typeface="Courier New" pitchFamily="34" charset="-122"/>
                <a:cs typeface="Courier New" pitchFamily="34" charset="-120"/>
              </a:rPr>
              <a:t>]).dt.days</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pares["fecha_correctivo"] - pares["fecha_falla"]</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Restar dos fechas da cuánto tiempo pasó entre ellas.</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 ).dt.days</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pasa a número de días.</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cuántos días pasaron entre cada falla y cada correctivo de su central.</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cerca = pares[(distancia &gt;= 0) &amp; (distancia &lt;= dias)]</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distancia &gt;= 0</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correctivo llegó el mismo día o después. Los negativos son de antes de la falla.</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distancia &lt;= dias</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Y no más tarde que los días elegidos.</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pares[ ... &amp; ... ]</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Las parejas que cumplen las dos.</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los correctivos que llegaron entre el día de la falla y los días elegidos después.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Después mueve el deslizador a 0, a 1 y a 7, y vuelve a correrla cada vez.</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987552"/>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85953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Fallas eléctricas 47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 un correctivo dentro de 3 días 34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Medido 72.3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 que se plantó al crear los datos, 70 por ciento</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5" name="Shape 12"/>
          <p:cNvSpPr/>
          <p:nvPr/>
        </p:nvSpPr>
        <p:spPr>
          <a:xfrm>
            <a:off x="3488436" y="6062472"/>
            <a:ext cx="1143000"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57987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a:t>
            </a:r>
            <a:endParaRPr lang="en-US" sz="1200" dirty="0"/>
          </a:p>
        </p:txBody>
      </p:sp>
      <p:sp>
        <p:nvSpPr>
          <p:cNvPr id="17" name="Shape 14"/>
          <p:cNvSpPr/>
          <p:nvPr/>
        </p:nvSpPr>
        <p:spPr>
          <a:xfrm>
            <a:off x="4768596" y="6062472"/>
            <a:ext cx="1426464"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486003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electricas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6</a:t>
            </a:r>
            <a:endParaRPr lang="en-US" sz="1200" dirty="0"/>
          </a:p>
        </p:txBody>
      </p:sp>
      <p:sp>
        <p:nvSpPr>
          <p:cNvPr id="19" name="Shape 16"/>
          <p:cNvSpPr/>
          <p:nvPr/>
        </p:nvSpPr>
        <p:spPr>
          <a:xfrm>
            <a:off x="6332220" y="6062472"/>
            <a:ext cx="1522476"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642366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correctivos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118 × 6</a:t>
            </a:r>
            <a:endParaRPr lang="en-US" sz="1200" dirty="0"/>
          </a:p>
        </p:txBody>
      </p:sp>
      <p:sp>
        <p:nvSpPr>
          <p:cNvPr id="21" name="Shape 18"/>
          <p:cNvSpPr/>
          <p:nvPr/>
        </p:nvSpPr>
        <p:spPr>
          <a:xfrm>
            <a:off x="7991856" y="6062472"/>
            <a:ext cx="1522476" cy="566928"/>
          </a:xfrm>
          <a:prstGeom prst="roundRect">
            <a:avLst>
              <a:gd name="adj" fmla="val 11290"/>
            </a:avLst>
          </a:prstGeom>
          <a:solidFill>
            <a:srgbClr val="FEF3D6"/>
          </a:solidFill>
          <a:ln w="25400">
            <a:solidFill>
              <a:srgbClr val="F9AB00"/>
            </a:solidFill>
            <a:prstDash val="solid"/>
          </a:ln>
        </p:spPr>
      </p:sp>
      <p:sp>
        <p:nvSpPr>
          <p:cNvPr id="22" name="Text 19"/>
          <p:cNvSpPr txBox="1"/>
          <p:nvPr/>
        </p:nvSpPr>
        <p:spPr>
          <a:xfrm>
            <a:off x="808329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pares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321 × 3</a:t>
            </a:r>
            <a:endParaRPr lang="en-US" sz="1200" dirty="0"/>
          </a:p>
        </p:txBody>
      </p:sp>
      <p:sp>
        <p:nvSpPr>
          <p:cNvPr id="23" name="Text 20"/>
          <p:cNvSpPr txBox="1"/>
          <p:nvPr/>
        </p:nvSpPr>
        <p:spPr>
          <a:xfrm>
            <a:off x="96514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
        <p:nvSpPr>
          <p:cNvPr id="24" name="Text 2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Dentro de 3 días, el 72,3 por ciento de las fallas tiene su correctivo.</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0 y se vuelve a correr la celda.</a:t>
            </a:r>
            <a:endParaRPr lang="en-US" sz="1400" dirty="0"/>
          </a:p>
        </p:txBody>
      </p:sp>
      <p:sp>
        <p:nvSpPr>
          <p:cNvPr id="7" name="Shape 4"/>
          <p:cNvSpPr/>
          <p:nvPr/>
        </p:nvSpPr>
        <p:spPr>
          <a:xfrm>
            <a:off x="548640" y="1481328"/>
            <a:ext cx="11091672" cy="3749040"/>
          </a:xfrm>
          <a:prstGeom prst="roundRect">
            <a:avLst>
              <a:gd name="adj" fmla="val 1463"/>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66160"/>
          </a:xfrm>
          <a:prstGeom prst="rect">
            <a:avLst/>
          </a:prstGeom>
          <a:noFill/>
          <a:ln/>
        </p:spPr>
        <p:txBody>
          <a:bodyPr wrap="square" lIns="0" tIns="0" rIns="0" bIns="0" rtlCol="0" anchor="t"/>
          <a:lstStyle/>
          <a:p>
            <a:pPr indent="0" marL="0">
              <a:buNone/>
            </a:pPr>
            <a:r>
              <a:rPr lang="en-US" sz="1100" i="1" dirty="0">
                <a:solidFill>
                  <a:srgbClr val="188038"/>
                </a:solidFill>
                <a:latin typeface="Courier New" pitchFamily="34" charset="0"/>
                <a:ea typeface="Courier New" pitchFamily="34" charset="-122"/>
                <a:cs typeface="Courier New" pitchFamily="34" charset="-120"/>
              </a:rPr>
              <a:t># Paso 5</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dias = 0 </a:t>
            </a:r>
            <a:pPr indent="0" marL="0">
              <a:buNone/>
            </a:pPr>
            <a:r>
              <a:rPr lang="en-US" sz="1100" dirty="0">
                <a:solidFill>
                  <a:srgbClr val="80868B"/>
                </a:solidFill>
                <a:latin typeface="Courier New" pitchFamily="34" charset="0"/>
                <a:ea typeface="Courier New" pitchFamily="34" charset="-122"/>
                <a:cs typeface="Courier New" pitchFamily="34" charset="-120"/>
              </a:rPr>
              <a:t>#@param {type:"slider", min:0, max:7, step:1}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electricas = mant[mant[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a:t>
            </a:r>
            <a:pPr indent="0" marL="0">
              <a:buNone/>
            </a:pPr>
            <a:r>
              <a:rPr lang="en-US" sz="1100" dirty="0">
                <a:solidFill>
                  <a:srgbClr val="A31515"/>
                </a:solidFill>
                <a:latin typeface="Courier New" pitchFamily="34" charset="0"/>
                <a:ea typeface="Courier New" pitchFamily="34" charset="-122"/>
                <a:cs typeface="Courier New" pitchFamily="34" charset="-120"/>
              </a:rPr>
              <a:t>"falla_electrica"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correctivos = mant[mant[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a:t>
            </a:r>
            <a:pPr indent="0" marL="0">
              <a:buNone/>
            </a:pPr>
            <a:r>
              <a:rPr lang="en-US" sz="1100" dirty="0">
                <a:solidFill>
                  <a:srgbClr val="A31515"/>
                </a:solidFill>
                <a:latin typeface="Courier New" pitchFamily="34" charset="0"/>
                <a:ea typeface="Courier New" pitchFamily="34" charset="-122"/>
                <a:cs typeface="Courier New" pitchFamily="34" charset="-120"/>
              </a:rPr>
              <a:t>"correctivo"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Cada falla eléctrica se junta con todos los correctivos de su misma central.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pares = pd.merge(electricas[[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 correctivos[[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on=</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suffixes=(</a:t>
            </a:r>
            <a:pPr indent="0" marL="0">
              <a:buNone/>
            </a:pPr>
            <a:r>
              <a:rPr lang="en-US" sz="1100" dirty="0">
                <a:solidFill>
                  <a:srgbClr val="A31515"/>
                </a:solidFill>
                <a:latin typeface="Courier New" pitchFamily="34" charset="0"/>
                <a:ea typeface="Courier New" pitchFamily="34" charset="-122"/>
                <a:cs typeface="Courier New" pitchFamily="34" charset="-120"/>
              </a:rPr>
              <a:t>"_falla"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"_correctivo"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distancia = (pares[</a:t>
            </a:r>
            <a:pPr indent="0" marL="0">
              <a:buNone/>
            </a:pPr>
            <a:r>
              <a:rPr lang="en-US" sz="1100" dirty="0">
                <a:solidFill>
                  <a:srgbClr val="A31515"/>
                </a:solidFill>
                <a:latin typeface="Courier New" pitchFamily="34" charset="0"/>
                <a:ea typeface="Courier New" pitchFamily="34" charset="-122"/>
                <a:cs typeface="Courier New" pitchFamily="34" charset="-120"/>
              </a:rPr>
              <a:t>"fecha_correctivo"</a:t>
            </a:r>
            <a:pPr indent="0" marL="0">
              <a:buNone/>
            </a:pPr>
            <a:r>
              <a:rPr lang="en-US" sz="1100" dirty="0">
                <a:solidFill>
                  <a:srgbClr val="202124"/>
                </a:solidFill>
                <a:latin typeface="Courier New" pitchFamily="34" charset="0"/>
                <a:ea typeface="Courier New" pitchFamily="34" charset="-122"/>
                <a:cs typeface="Courier New" pitchFamily="34" charset="-120"/>
              </a:rPr>
              <a:t>] - pares[</a:t>
            </a:r>
            <a:pPr indent="0" marL="0">
              <a:buNone/>
            </a:pPr>
            <a:r>
              <a:rPr lang="en-US" sz="1100" dirty="0">
                <a:solidFill>
                  <a:srgbClr val="A31515"/>
                </a:solidFill>
                <a:latin typeface="Courier New" pitchFamily="34" charset="0"/>
                <a:ea typeface="Courier New" pitchFamily="34" charset="-122"/>
                <a:cs typeface="Courier New" pitchFamily="34" charset="-120"/>
              </a:rPr>
              <a:t>"fecha_falla"</a:t>
            </a:r>
            <a:pPr indent="0" marL="0">
              <a:buNone/>
            </a:pPr>
            <a:r>
              <a:rPr lang="en-US" sz="1100" dirty="0">
                <a:solidFill>
                  <a:srgbClr val="202124"/>
                </a:solidFill>
                <a:latin typeface="Courier New" pitchFamily="34" charset="0"/>
                <a:ea typeface="Courier New" pitchFamily="34" charset="-122"/>
                <a:cs typeface="Courier New" pitchFamily="34" charset="-120"/>
              </a:rPr>
              <a:t>]).dt.days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Se quedan los correctivos que llegan el mismo día o hasta dias después.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cerca = pares[(distancia &gt;= 0) &amp; (distancia &lt;= dias)]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con_correctivo = cerca[[</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"fecha_falla"</a:t>
            </a:r>
            <a:pPr indent="0" marL="0">
              <a:buNone/>
            </a:pPr>
            <a:r>
              <a:rPr lang="en-US" sz="1100" dirty="0">
                <a:solidFill>
                  <a:srgbClr val="202124"/>
                </a:solidFill>
                <a:latin typeface="Courier New" pitchFamily="34" charset="0"/>
                <a:ea typeface="Courier New" pitchFamily="34" charset="-122"/>
                <a:cs typeface="Courier New" pitchFamily="34" charset="-120"/>
              </a:rPr>
              <a:t>]].drop_duplicates()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porcentaje = 100 * len(con_correctivo) / len(electricas)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100" dirty="0">
                <a:solidFill>
                  <a:srgbClr val="202124"/>
                </a:solidFill>
                <a:latin typeface="Courier New" pitchFamily="34" charset="0"/>
                <a:ea typeface="Courier New" pitchFamily="34" charset="-122"/>
                <a:cs typeface="Courier New" pitchFamily="34" charset="-120"/>
              </a:rPr>
              <a:t>, len(electricas))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100" dirty="0">
                <a:solidFill>
                  <a:srgbClr val="202124"/>
                </a:solidFill>
                <a:latin typeface="Courier New" pitchFamily="34" charset="0"/>
                <a:ea typeface="Courier New" pitchFamily="34" charset="-122"/>
                <a:cs typeface="Courier New" pitchFamily="34" charset="-120"/>
              </a:rPr>
              <a:t>, len(con_correctivo))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"Medido {porcentaje:.1f} por ciento"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2"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3" name="Shape 10"/>
          <p:cNvSpPr/>
          <p:nvPr/>
        </p:nvSpPr>
        <p:spPr>
          <a:xfrm>
            <a:off x="8823960" y="2002536"/>
            <a:ext cx="18288" cy="45720"/>
          </a:xfrm>
          <a:prstGeom prst="rect">
            <a:avLst/>
          </a:prstGeom>
          <a:solidFill>
            <a:srgbClr val="1A73E8"/>
          </a:solidFill>
          <a:ln w="12700">
            <a:solidFill>
              <a:srgbClr val="1A73E8"/>
            </a:solidFill>
            <a:prstDash val="solid"/>
          </a:ln>
        </p:spPr>
      </p:sp>
      <p:sp>
        <p:nvSpPr>
          <p:cNvPr id="14" name="Shape 11"/>
          <p:cNvSpPr/>
          <p:nvPr/>
        </p:nvSpPr>
        <p:spPr>
          <a:xfrm>
            <a:off x="8741664" y="1938528"/>
            <a:ext cx="173736" cy="173736"/>
          </a:xfrm>
          <a:prstGeom prst="ellipse">
            <a:avLst/>
          </a:prstGeom>
          <a:solidFill>
            <a:srgbClr val="1A73E8"/>
          </a:solidFill>
          <a:ln w="25400">
            <a:solidFill>
              <a:srgbClr val="F9AB00"/>
            </a:solidFill>
            <a:prstDash val="solid"/>
          </a:ln>
        </p:spPr>
      </p:sp>
      <p:sp>
        <p:nvSpPr>
          <p:cNvPr id="15" name="Text 12"/>
          <p:cNvSpPr txBox="1"/>
          <p:nvPr/>
        </p:nvSpPr>
        <p:spPr>
          <a:xfrm>
            <a:off x="10881360" y="1892808"/>
            <a:ext cx="594360" cy="274320"/>
          </a:xfrm>
          <a:prstGeom prst="rect">
            <a:avLst/>
          </a:prstGeom>
          <a:noFill/>
          <a:ln/>
        </p:spPr>
        <p:txBody>
          <a:bodyPr wrap="square" lIns="0" tIns="0" rIns="0" bIns="0" rtlCol="0" anchor="ctr"/>
          <a:lstStyle/>
          <a:p>
            <a:pPr indent="0" marL="0">
              <a:buNone/>
            </a:pPr>
            <a:r>
              <a:rPr lang="en-US" sz="1200" b="1" dirty="0">
                <a:solidFill>
                  <a:srgbClr val="1A73E8"/>
                </a:solidFill>
                <a:latin typeface="Calibri" pitchFamily="34" charset="0"/>
                <a:ea typeface="Calibri" pitchFamily="34" charset="-122"/>
                <a:cs typeface="Calibri" pitchFamily="34" charset="-120"/>
              </a:rPr>
              <a:t>0</a:t>
            </a:r>
            <a:endParaRPr lang="en-US" sz="1200" dirty="0"/>
          </a:p>
        </p:txBody>
      </p:sp>
      <p:sp>
        <p:nvSpPr>
          <p:cNvPr id="16" name="Text 13"/>
          <p:cNvSpPr txBox="1"/>
          <p:nvPr/>
        </p:nvSpPr>
        <p:spPr>
          <a:xfrm>
            <a:off x="1325880" y="52669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7"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5"/>
          <p:cNvSpPr/>
          <p:nvPr/>
        </p:nvSpPr>
        <p:spPr>
          <a:xfrm>
            <a:off x="548640" y="6062472"/>
            <a:ext cx="123444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640080"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20" name="Shape 17"/>
          <p:cNvSpPr/>
          <p:nvPr/>
        </p:nvSpPr>
        <p:spPr>
          <a:xfrm>
            <a:off x="1920240" y="6062472"/>
            <a:ext cx="1618488"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2011680"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con_correctivo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2</a:t>
            </a:r>
            <a:endParaRPr lang="en-US" sz="1200" dirty="0"/>
          </a:p>
        </p:txBody>
      </p:sp>
      <p:sp>
        <p:nvSpPr>
          <p:cNvPr id="22" name="Shape 19"/>
          <p:cNvSpPr/>
          <p:nvPr/>
        </p:nvSpPr>
        <p:spPr>
          <a:xfrm>
            <a:off x="3675888" y="6062472"/>
            <a:ext cx="1426464"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3767328"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cerca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24" name="Shape 21"/>
          <p:cNvSpPr/>
          <p:nvPr/>
        </p:nvSpPr>
        <p:spPr>
          <a:xfrm>
            <a:off x="5239512" y="6062472"/>
            <a:ext cx="2194560"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5330952"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distancia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321 valores</a:t>
            </a:r>
            <a:endParaRPr lang="en-US" sz="1200" dirty="0"/>
          </a:p>
        </p:txBody>
      </p:sp>
      <p:sp>
        <p:nvSpPr>
          <p:cNvPr id="26" name="Shape 23"/>
          <p:cNvSpPr/>
          <p:nvPr/>
        </p:nvSpPr>
        <p:spPr>
          <a:xfrm>
            <a:off x="7571232" y="6062472"/>
            <a:ext cx="1522476" cy="566928"/>
          </a:xfrm>
          <a:prstGeom prst="roundRect">
            <a:avLst>
              <a:gd name="adj" fmla="val 11290"/>
            </a:avLst>
          </a:prstGeom>
          <a:solidFill>
            <a:srgbClr val="F1F3F4"/>
          </a:solidFill>
          <a:ln w="12700">
            <a:solidFill>
              <a:srgbClr val="DADCE0"/>
            </a:solidFill>
            <a:prstDash val="solid"/>
          </a:ln>
        </p:spPr>
      </p:sp>
      <p:sp>
        <p:nvSpPr>
          <p:cNvPr id="27" name="Text 24"/>
          <p:cNvSpPr txBox="1"/>
          <p:nvPr/>
        </p:nvSpPr>
        <p:spPr>
          <a:xfrm>
            <a:off x="766267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pares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321 × 3</a:t>
            </a:r>
            <a:endParaRPr lang="en-US" sz="1200" dirty="0"/>
          </a:p>
        </p:txBody>
      </p:sp>
      <p:sp>
        <p:nvSpPr>
          <p:cNvPr id="28" name="Text 25"/>
          <p:cNvSpPr txBox="1"/>
          <p:nvPr/>
        </p:nvSpPr>
        <p:spPr>
          <a:xfrm>
            <a:off x="923086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
        <p:nvSpPr>
          <p:cNvPr id="29" name="Text 26"/>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0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987552"/>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85953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Fallas eléctricas 47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 un correctivo dentro de 0 días 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Medido 14.9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 que se plantó al crear los datos, 70 por ciento</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5" name="Shape 12"/>
          <p:cNvSpPr/>
          <p:nvPr/>
        </p:nvSpPr>
        <p:spPr>
          <a:xfrm>
            <a:off x="3488436" y="6062472"/>
            <a:ext cx="1143000"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57987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a:t>
            </a:r>
            <a:endParaRPr lang="en-US" sz="1200" dirty="0"/>
          </a:p>
        </p:txBody>
      </p:sp>
      <p:sp>
        <p:nvSpPr>
          <p:cNvPr id="17" name="Shape 14"/>
          <p:cNvSpPr/>
          <p:nvPr/>
        </p:nvSpPr>
        <p:spPr>
          <a:xfrm>
            <a:off x="4768596" y="6062472"/>
            <a:ext cx="1426464"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486003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electricas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6</a:t>
            </a:r>
            <a:endParaRPr lang="en-US" sz="1200" dirty="0"/>
          </a:p>
        </p:txBody>
      </p:sp>
      <p:sp>
        <p:nvSpPr>
          <p:cNvPr id="19" name="Shape 16"/>
          <p:cNvSpPr/>
          <p:nvPr/>
        </p:nvSpPr>
        <p:spPr>
          <a:xfrm>
            <a:off x="6332220" y="6062472"/>
            <a:ext cx="1522476"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642366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correctivos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118 × 6</a:t>
            </a:r>
            <a:endParaRPr lang="en-US" sz="1200" dirty="0"/>
          </a:p>
        </p:txBody>
      </p:sp>
      <p:sp>
        <p:nvSpPr>
          <p:cNvPr id="21" name="Shape 18"/>
          <p:cNvSpPr/>
          <p:nvPr/>
        </p:nvSpPr>
        <p:spPr>
          <a:xfrm>
            <a:off x="7991856" y="6062472"/>
            <a:ext cx="1522476" cy="566928"/>
          </a:xfrm>
          <a:prstGeom prst="roundRect">
            <a:avLst>
              <a:gd name="adj" fmla="val 11290"/>
            </a:avLst>
          </a:prstGeom>
          <a:solidFill>
            <a:srgbClr val="E8F0FE"/>
          </a:solidFill>
          <a:ln w="28575">
            <a:solidFill>
              <a:srgbClr val="1A73E8"/>
            </a:solidFill>
            <a:prstDash val="solid"/>
          </a:ln>
        </p:spPr>
      </p:sp>
      <p:sp>
        <p:nvSpPr>
          <p:cNvPr id="22" name="Text 19"/>
          <p:cNvSpPr txBox="1"/>
          <p:nvPr/>
        </p:nvSpPr>
        <p:spPr>
          <a:xfrm>
            <a:off x="808329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pares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321 × 3</a:t>
            </a:r>
            <a:endParaRPr lang="en-US" sz="1200" dirty="0"/>
          </a:p>
        </p:txBody>
      </p:sp>
      <p:sp>
        <p:nvSpPr>
          <p:cNvPr id="23" name="Text 20"/>
          <p:cNvSpPr txBox="1"/>
          <p:nvPr/>
        </p:nvSpPr>
        <p:spPr>
          <a:xfrm>
            <a:off x="96514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
        <p:nvSpPr>
          <p:cNvPr id="24" name="Text 2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El mismo día, solo el 14,9 por ciento.</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La ventana la decide quien analiza.</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Desde los 3 días ya no sube. En un informe se escribe la ventana que se usó.</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5" name="Shape 12"/>
          <p:cNvSpPr/>
          <p:nvPr/>
        </p:nvSpPr>
        <p:spPr>
          <a:xfrm>
            <a:off x="3488436" y="6062472"/>
            <a:ext cx="1143000"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57987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a:t>
            </a:r>
            <a:endParaRPr lang="en-US" sz="1200" dirty="0"/>
          </a:p>
        </p:txBody>
      </p:sp>
      <p:sp>
        <p:nvSpPr>
          <p:cNvPr id="17" name="Shape 14"/>
          <p:cNvSpPr/>
          <p:nvPr/>
        </p:nvSpPr>
        <p:spPr>
          <a:xfrm>
            <a:off x="4768596" y="6062472"/>
            <a:ext cx="1426464"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486003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electricas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6</a:t>
            </a:r>
            <a:endParaRPr lang="en-US" sz="1200" dirty="0"/>
          </a:p>
        </p:txBody>
      </p:sp>
      <p:sp>
        <p:nvSpPr>
          <p:cNvPr id="19" name="Shape 16"/>
          <p:cNvSpPr/>
          <p:nvPr/>
        </p:nvSpPr>
        <p:spPr>
          <a:xfrm>
            <a:off x="6332220" y="6062472"/>
            <a:ext cx="1522476"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642366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correctivos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118 × 6</a:t>
            </a:r>
            <a:endParaRPr lang="en-US" sz="1200" dirty="0"/>
          </a:p>
        </p:txBody>
      </p:sp>
      <p:sp>
        <p:nvSpPr>
          <p:cNvPr id="21" name="Shape 18"/>
          <p:cNvSpPr/>
          <p:nvPr/>
        </p:nvSpPr>
        <p:spPr>
          <a:xfrm>
            <a:off x="7991856" y="6062472"/>
            <a:ext cx="1522476" cy="566928"/>
          </a:xfrm>
          <a:prstGeom prst="roundRect">
            <a:avLst>
              <a:gd name="adj" fmla="val 11290"/>
            </a:avLst>
          </a:prstGeom>
          <a:solidFill>
            <a:srgbClr val="E8F0FE"/>
          </a:solidFill>
          <a:ln w="28575">
            <a:solidFill>
              <a:srgbClr val="1A73E8"/>
            </a:solidFill>
            <a:prstDash val="solid"/>
          </a:ln>
        </p:spPr>
      </p:sp>
      <p:sp>
        <p:nvSpPr>
          <p:cNvPr id="22" name="Text 19"/>
          <p:cNvSpPr txBox="1"/>
          <p:nvPr/>
        </p:nvSpPr>
        <p:spPr>
          <a:xfrm>
            <a:off x="808329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pares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321 × 3</a:t>
            </a:r>
            <a:endParaRPr lang="en-US" sz="1200" dirty="0"/>
          </a:p>
        </p:txBody>
      </p:sp>
      <p:sp>
        <p:nvSpPr>
          <p:cNvPr id="23" name="Text 20"/>
          <p:cNvSpPr txBox="1"/>
          <p:nvPr/>
        </p:nvSpPr>
        <p:spPr>
          <a:xfrm>
            <a:off x="96514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9AB00"/>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0B3D62"/>
                </a:solidFill>
                <a:latin typeface="Calibri" pitchFamily="34" charset="0"/>
                <a:ea typeface="Calibri" pitchFamily="34" charset="-122"/>
                <a:cs typeface="Calibri" pitchFamily="34" charset="-120"/>
              </a:rPr>
              <a:t>PARTE 2 · PARA LA CASA</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0B3D62"/>
                </a:solidFill>
                <a:latin typeface="Calibri" pitchFamily="34" charset="0"/>
                <a:ea typeface="Calibri" pitchFamily="34" charset="-122"/>
                <a:cs typeface="Calibri" pitchFamily="34" charset="-120"/>
              </a:rPr>
              <a:t>No se ve en clase. Cada estudio viene explicado en las láminas que siguen, con la guía como apoyo.</a:t>
            </a:r>
            <a:endParaRPr lang="en-US" sz="2000" dirty="0"/>
          </a:p>
        </p:txBody>
      </p:sp>
      <p:sp>
        <p:nvSpPr>
          <p:cNvPr id="4" name="Shape 2"/>
          <p:cNvSpPr/>
          <p:nvPr/>
        </p:nvSpPr>
        <p:spPr>
          <a:xfrm>
            <a:off x="731520" y="2240280"/>
            <a:ext cx="548640" cy="548640"/>
          </a:xfrm>
          <a:prstGeom prst="ellipse">
            <a:avLst/>
          </a:prstGeom>
          <a:solidFill>
            <a:srgbClr val="0B3D62"/>
          </a:solidFill>
          <a:ln w="12700">
            <a:solidFill>
              <a:srgbClr val="0B3D62"/>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1   </a:t>
            </a:r>
            <a:pPr indent="0" marL="0">
              <a:buNone/>
            </a:pPr>
            <a:r>
              <a:rPr lang="en-US" sz="2400" dirty="0">
                <a:solidFill>
                  <a:srgbClr val="0B3D62"/>
                </a:solidFill>
                <a:latin typeface="Calibri" pitchFamily="34" charset="0"/>
                <a:ea typeface="Calibri" pitchFamily="34" charset="-122"/>
                <a:cs typeface="Calibri" pitchFamily="34" charset="-120"/>
              </a:rPr>
              <a:t>¿Cuánto dura cada tipo de evento?</a:t>
            </a:r>
            <a:endParaRPr lang="en-US" sz="2400" dirty="0"/>
          </a:p>
        </p:txBody>
      </p:sp>
      <p:sp>
        <p:nvSpPr>
          <p:cNvPr id="7" name="Shape 5"/>
          <p:cNvSpPr/>
          <p:nvPr/>
        </p:nvSpPr>
        <p:spPr>
          <a:xfrm>
            <a:off x="731520" y="3017520"/>
            <a:ext cx="548640" cy="548640"/>
          </a:xfrm>
          <a:prstGeom prst="ellipse">
            <a:avLst/>
          </a:prstGeom>
          <a:solidFill>
            <a:srgbClr val="0B3D62"/>
          </a:solidFill>
          <a:ln w="12700">
            <a:solidFill>
              <a:srgbClr val="0B3D62"/>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2   </a:t>
            </a:r>
            <a:pPr indent="0" marL="0">
              <a:buNone/>
            </a:pPr>
            <a:r>
              <a:rPr lang="en-US" sz="2400" dirty="0">
                <a:solidFill>
                  <a:srgbClr val="0B3D62"/>
                </a:solidFill>
                <a:latin typeface="Calibri" pitchFamily="34" charset="0"/>
                <a:ea typeface="Calibri" pitchFamily="34" charset="-122"/>
                <a:cs typeface="Calibri" pitchFamily="34" charset="-120"/>
              </a:rPr>
              <a:t>Tu turno, mira qué le pasa a cada tecnología</a:t>
            </a:r>
            <a:endParaRPr lang="en-US" sz="2400" dirty="0"/>
          </a:p>
        </p:txBody>
      </p:sp>
      <p:sp>
        <p:nvSpPr>
          <p:cNvPr id="10" name="Shape 8"/>
          <p:cNvSpPr/>
          <p:nvPr/>
        </p:nvSpPr>
        <p:spPr>
          <a:xfrm>
            <a:off x="731520" y="3794760"/>
            <a:ext cx="548640" cy="548640"/>
          </a:xfrm>
          <a:prstGeom prst="ellipse">
            <a:avLst/>
          </a:prstGeom>
          <a:solidFill>
            <a:srgbClr val="0B3D62"/>
          </a:solidFill>
          <a:ln w="12700">
            <a:solidFill>
              <a:srgbClr val="0B3D62"/>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3   </a:t>
            </a:r>
            <a:pPr indent="0" marL="0">
              <a:buNone/>
            </a:pPr>
            <a:r>
              <a:rPr lang="en-US" sz="2400" dirty="0">
                <a:solidFill>
                  <a:srgbClr val="0B3D62"/>
                </a:solidFill>
                <a:latin typeface="Calibri" pitchFamily="34" charset="0"/>
                <a:ea typeface="Calibri" pitchFamily="34" charset="-122"/>
                <a:cs typeface="Calibri" pitchFamily="34" charset="-120"/>
              </a:rPr>
              <a:t>¿Qué parejas de eventos van juntas?</a:t>
            </a:r>
            <a:endParaRPr lang="en-US" sz="2400" dirty="0"/>
          </a:p>
        </p:txBody>
      </p:sp>
      <p:sp>
        <p:nvSpPr>
          <p:cNvPr id="13" name="Shape 11"/>
          <p:cNvSpPr/>
          <p:nvPr/>
        </p:nvSpPr>
        <p:spPr>
          <a:xfrm>
            <a:off x="731520" y="4572000"/>
            <a:ext cx="548640" cy="548640"/>
          </a:xfrm>
          <a:prstGeom prst="ellipse">
            <a:avLst/>
          </a:prstGeom>
          <a:solidFill>
            <a:srgbClr val="0B3D62"/>
          </a:solidFill>
          <a:ln w="12700">
            <a:solidFill>
              <a:srgbClr val="0B3D62"/>
            </a:solidFill>
            <a:prstDash val="solid"/>
          </a:ln>
        </p:spPr>
      </p:sp>
      <p:sp>
        <p:nvSpPr>
          <p:cNvPr id="14" name="Text 12"/>
          <p:cNvSpPr txBox="1"/>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5" name="Text 13"/>
          <p:cNvSpPr txBox="1"/>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4   </a:t>
            </a:r>
            <a:pPr indent="0" marL="0">
              <a:buNone/>
            </a:pPr>
            <a:r>
              <a:rPr lang="en-US" sz="2400" dirty="0">
                <a:solidFill>
                  <a:srgbClr val="0B3D62"/>
                </a:solidFill>
                <a:latin typeface="Calibri" pitchFamily="34" charset="0"/>
                <a:ea typeface="Calibri" pitchFamily="34" charset="-122"/>
                <a:cs typeface="Calibri" pitchFamily="34" charset="-120"/>
              </a:rPr>
              <a:t>Tu turno, ¿qué viene después de cada evento?</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cuánto duran los eventos de cada tipo.</a:t>
            </a:r>
            <a:endParaRPr lang="en-US" sz="1400" dirty="0"/>
          </a:p>
        </p:txBody>
      </p:sp>
      <p:pic>
        <p:nvPicPr>
          <p:cNvPr id="6" name="Image 0" descr="../../repo/modulos/../../diag/lab04_estudio1_duracion.png">    </p:cNvPr>
          <p:cNvPicPr>
            <a:picLocks noChangeAspect="1"/>
          </p:cNvPicPr>
          <p:nvPr/>
        </p:nvPicPr>
        <p:blipFill>
          <a:blip r:embed="rId1"/>
          <a:stretch>
            <a:fillRect/>
          </a:stretch>
        </p:blipFill>
        <p:spPr>
          <a:xfrm>
            <a:off x="548640" y="1463040"/>
            <a:ext cx="11091672" cy="405517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1714500"/>
          </a:xfrm>
          <a:prstGeom prst="roundRect">
            <a:avLst>
              <a:gd name="adj" fmla="val 320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5316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 = mant.groupby(</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"duracion_horas"</a:t>
            </a:r>
            <a:pPr indent="0" marL="0">
              <a:buNone/>
            </a:pPr>
            <a:r>
              <a:rPr lang="en-US" sz="1300" dirty="0">
                <a:solidFill>
                  <a:srgbClr val="202124"/>
                </a:solidFill>
                <a:latin typeface="Courier New" pitchFamily="34" charset="0"/>
                <a:ea typeface="Courier New" pitchFamily="34" charset="-122"/>
                <a:cs typeface="Courier New" pitchFamily="34" charset="-120"/>
              </a:rPr>
              <a:t>].agg(</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eventos=</a:t>
            </a:r>
            <a:pPr indent="0" marL="0">
              <a:buNone/>
            </a:pPr>
            <a:r>
              <a:rPr lang="en-US" sz="1300" dirty="0">
                <a:solidFill>
                  <a:srgbClr val="A31515"/>
                </a:solidFill>
                <a:latin typeface="Courier New" pitchFamily="34" charset="0"/>
                <a:ea typeface="Courier New" pitchFamily="34" charset="-122"/>
                <a:cs typeface="Courier New" pitchFamily="34" charset="-120"/>
              </a:rPr>
              <a:t>"count"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horas_promedio=</a:t>
            </a:r>
            <a:pPr indent="0" marL="0">
              <a:buNone/>
            </a:pPr>
            <a:r>
              <a:rPr lang="en-US" sz="1300" dirty="0">
                <a:solidFill>
                  <a:srgbClr val="A31515"/>
                </a:solidFill>
                <a:latin typeface="Courier New" pitchFamily="34" charset="0"/>
                <a:ea typeface="Courier New" pitchFamily="34" charset="-122"/>
                <a:cs typeface="Courier New" pitchFamily="34" charset="-120"/>
              </a:rPr>
              <a:t>"mean"</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horas_maximo=</a:t>
            </a:r>
            <a:pPr indent="0" marL="0">
              <a:buNone/>
            </a:pPr>
            <a:r>
              <a:rPr lang="en-US" sz="1300" dirty="0">
                <a:solidFill>
                  <a:srgbClr val="A31515"/>
                </a:solidFill>
                <a:latin typeface="Courier New" pitchFamily="34" charset="0"/>
                <a:ea typeface="Courier New" pitchFamily="34" charset="-122"/>
                <a:cs typeface="Courier New" pitchFamily="34" charset="-120"/>
              </a:rPr>
              <a:t>"max"</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300" dirty="0">
                <a:solidFill>
                  <a:srgbClr val="A31515"/>
                </a:solidFill>
                <a:latin typeface="Courier New" pitchFamily="34" charset="0"/>
                <a:ea typeface="Courier New" pitchFamily="34" charset="-122"/>
                <a:cs typeface="Courier New" pitchFamily="34" charset="-120"/>
              </a:rPr>
              <a:t>"eventos"</a:t>
            </a:r>
            <a:pPr indent="0" marL="0">
              <a:buNone/>
            </a:pPr>
            <a:r>
              <a:rPr lang="en-US" sz="1300" dirty="0">
                <a:solidFill>
                  <a:srgbClr val="202124"/>
                </a:solidFill>
                <a:latin typeface="Courier New" pitchFamily="34" charset="0"/>
                <a:ea typeface="Courier New" pitchFamily="34" charset="-122"/>
                <a:cs typeface="Courier New" pitchFamily="34" charset="-120"/>
              </a:rPr>
              <a:t>, ascending=False)</a:t>
            </a:r>
            <a:endParaRPr lang="en-US" sz="1300" dirty="0"/>
          </a:p>
        </p:txBody>
      </p:sp>
      <p:sp>
        <p:nvSpPr>
          <p:cNvPr id="11" name="Text 8"/>
          <p:cNvSpPr txBox="1"/>
          <p:nvPr/>
        </p:nvSpPr>
        <p:spPr>
          <a:xfrm>
            <a:off x="1325880" y="323240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23444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14.89</a:t>
            </a:r>
            <a:endParaRPr lang="en-US" sz="1200" dirty="0"/>
          </a:p>
        </p:txBody>
      </p:sp>
      <p:sp>
        <p:nvSpPr>
          <p:cNvPr id="15" name="Shape 12"/>
          <p:cNvSpPr/>
          <p:nvPr/>
        </p:nvSpPr>
        <p:spPr>
          <a:xfrm>
            <a:off x="1920240" y="6062472"/>
            <a:ext cx="1618488"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011680"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con_correctivo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2</a:t>
            </a:r>
            <a:endParaRPr lang="en-US" sz="1200" dirty="0"/>
          </a:p>
        </p:txBody>
      </p:sp>
      <p:sp>
        <p:nvSpPr>
          <p:cNvPr id="17" name="Shape 14"/>
          <p:cNvSpPr/>
          <p:nvPr/>
        </p:nvSpPr>
        <p:spPr>
          <a:xfrm>
            <a:off x="3675888"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76732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cerca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19" name="Shape 16"/>
          <p:cNvSpPr/>
          <p:nvPr/>
        </p:nvSpPr>
        <p:spPr>
          <a:xfrm>
            <a:off x="5143500" y="6062472"/>
            <a:ext cx="219456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234940"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distancia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321 valores</a:t>
            </a:r>
            <a:endParaRPr lang="en-US" sz="1200" dirty="0"/>
          </a:p>
        </p:txBody>
      </p:sp>
      <p:sp>
        <p:nvSpPr>
          <p:cNvPr id="21" name="Shape 18"/>
          <p:cNvSpPr/>
          <p:nvPr/>
        </p:nvSpPr>
        <p:spPr>
          <a:xfrm>
            <a:off x="7475220" y="6062472"/>
            <a:ext cx="1522476"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756666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pares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321 × 3</a:t>
            </a:r>
            <a:endParaRPr lang="en-US" sz="1200" dirty="0"/>
          </a:p>
        </p:txBody>
      </p:sp>
      <p:sp>
        <p:nvSpPr>
          <p:cNvPr id="23" name="Text 20"/>
          <p:cNvSpPr txBox="1"/>
          <p:nvPr/>
        </p:nvSpPr>
        <p:spPr>
          <a:xfrm>
            <a:off x="913485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600" dirty="0">
                <a:solidFill>
                  <a:srgbClr val="A31515"/>
                </a:solidFill>
                <a:latin typeface="Courier New" pitchFamily="34" charset="0"/>
                <a:ea typeface="Courier New" pitchFamily="34" charset="-122"/>
                <a:cs typeface="Courier New" pitchFamily="34" charset="-120"/>
              </a:rPr>
              <a:t>"eventos"</a:t>
            </a:r>
            <a:pPr indent="0" marL="0">
              <a:buNone/>
            </a:pPr>
            <a:r>
              <a:rPr lang="en-US" sz="1600" dirty="0">
                <a:solidFill>
                  <a:srgbClr val="202124"/>
                </a:solidFill>
                <a:latin typeface="Courier New" pitchFamily="34" charset="0"/>
                <a:ea typeface="Courier New" pitchFamily="34" charset="-122"/>
                <a:cs typeface="Courier New" pitchFamily="34" charset="-120"/>
              </a:rPr>
              <a:t>, ascending=False)</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.round(1)</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Redondea a un decimal.</a:t>
            </a:r>
            <a:endParaRPr lang="en-US" sz="1600" dirty="0"/>
          </a:p>
        </p:txBody>
      </p:sp>
      <p:sp>
        <p:nvSpPr>
          <p:cNvPr id="13" name="Shape 11"/>
          <p:cNvSpPr/>
          <p:nvPr/>
        </p:nvSpPr>
        <p:spPr>
          <a:xfrm>
            <a:off x="548640" y="2942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42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841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.sort_values("eventos", ...)</a:t>
            </a:r>
            <a:endParaRPr lang="en-US" sz="1400" dirty="0"/>
          </a:p>
        </p:txBody>
      </p:sp>
      <p:sp>
        <p:nvSpPr>
          <p:cNvPr id="17" name="Text 15"/>
          <p:cNvSpPr txBox="1"/>
          <p:nvPr/>
        </p:nvSpPr>
        <p:spPr>
          <a:xfrm>
            <a:off x="6263640" y="2841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Ordena por la columna eventos.</a:t>
            </a:r>
            <a:endParaRPr lang="en-US" sz="1600" dirty="0"/>
          </a:p>
        </p:txBody>
      </p:sp>
      <p:sp>
        <p:nvSpPr>
          <p:cNvPr id="18" name="Shape 16"/>
          <p:cNvSpPr/>
          <p:nvPr/>
        </p:nvSpPr>
        <p:spPr>
          <a:xfrm>
            <a:off x="548640" y="3618992"/>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189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463544"/>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463544"/>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ascending=False</a:t>
            </a:r>
            <a:endParaRPr lang="en-US" sz="1400" dirty="0"/>
          </a:p>
        </p:txBody>
      </p:sp>
      <p:sp>
        <p:nvSpPr>
          <p:cNvPr id="22" name="Text 20"/>
          <p:cNvSpPr txBox="1"/>
          <p:nvPr/>
        </p:nvSpPr>
        <p:spPr>
          <a:xfrm>
            <a:off x="6263640" y="3463544"/>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 mayor a menor. ascending es ascendente, y False dice que no.</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redondea el resumen y ordénalo del tipo más frecuente al menos frecuente.</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1586484"/>
          </a:xfrm>
          <a:prstGeom prst="roundRect">
            <a:avLst>
              <a:gd name="adj" fmla="val 3458"/>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403604"/>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Estudio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resumen = mant.groupby(</a:t>
            </a:r>
            <a:pPr indent="0" marL="0">
              <a:buNone/>
            </a:pPr>
            <a:r>
              <a:rPr lang="en-US" sz="1200" dirty="0">
                <a:solidFill>
                  <a:srgbClr val="A31515"/>
                </a:solidFill>
                <a:latin typeface="Courier New" pitchFamily="34" charset="0"/>
                <a:ea typeface="Courier New" pitchFamily="34" charset="-122"/>
                <a:cs typeface="Courier New" pitchFamily="34" charset="-120"/>
              </a:rPr>
              <a:t>"tipo_evento"</a:t>
            </a:r>
            <a:pPr indent="0" marL="0">
              <a:buNone/>
            </a:pPr>
            <a:r>
              <a:rPr lang="en-US" sz="1200" dirty="0">
                <a:solidFill>
                  <a:srgbClr val="202124"/>
                </a:solidFill>
                <a:latin typeface="Courier New" pitchFamily="34" charset="0"/>
                <a:ea typeface="Courier New" pitchFamily="34" charset="-122"/>
                <a:cs typeface="Courier New" pitchFamily="34" charset="-120"/>
              </a:rPr>
              <a:t>)[</a:t>
            </a:r>
            <a:pPr indent="0" marL="0">
              <a:buNone/>
            </a:pPr>
            <a:r>
              <a:rPr lang="en-US" sz="1200" dirty="0">
                <a:solidFill>
                  <a:srgbClr val="A31515"/>
                </a:solidFill>
                <a:latin typeface="Courier New" pitchFamily="34" charset="0"/>
                <a:ea typeface="Courier New" pitchFamily="34" charset="-122"/>
                <a:cs typeface="Courier New" pitchFamily="34" charset="-120"/>
              </a:rPr>
              <a:t>"duracion_horas"</a:t>
            </a:r>
            <a:pPr indent="0" marL="0">
              <a:buNone/>
            </a:pPr>
            <a:r>
              <a:rPr lang="en-US" sz="1200" dirty="0">
                <a:solidFill>
                  <a:srgbClr val="202124"/>
                </a:solidFill>
                <a:latin typeface="Courier New" pitchFamily="34" charset="0"/>
                <a:ea typeface="Courier New" pitchFamily="34" charset="-122"/>
                <a:cs typeface="Courier New" pitchFamily="34" charset="-120"/>
              </a:rPr>
              <a:t>].agg(</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eventos=</a:t>
            </a:r>
            <a:pPr indent="0" marL="0">
              <a:buNone/>
            </a:pPr>
            <a:r>
              <a:rPr lang="en-US" sz="1200" dirty="0">
                <a:solidFill>
                  <a:srgbClr val="A31515"/>
                </a:solidFill>
                <a:latin typeface="Courier New" pitchFamily="34" charset="0"/>
                <a:ea typeface="Courier New" pitchFamily="34" charset="-122"/>
                <a:cs typeface="Courier New" pitchFamily="34" charset="-120"/>
              </a:rPr>
              <a:t>"count"</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horas_promedio=</a:t>
            </a:r>
            <a:pPr indent="0" marL="0">
              <a:buNone/>
            </a:pPr>
            <a:r>
              <a:rPr lang="en-US" sz="1200" dirty="0">
                <a:solidFill>
                  <a:srgbClr val="A31515"/>
                </a:solidFill>
                <a:latin typeface="Courier New" pitchFamily="34" charset="0"/>
                <a:ea typeface="Courier New" pitchFamily="34" charset="-122"/>
                <a:cs typeface="Courier New" pitchFamily="34" charset="-120"/>
              </a:rPr>
              <a:t>"mean"</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horas_maximo=</a:t>
            </a:r>
            <a:pPr indent="0" marL="0">
              <a:buNone/>
            </a:pPr>
            <a:r>
              <a:rPr lang="en-US" sz="1200" dirty="0">
                <a:solidFill>
                  <a:srgbClr val="A31515"/>
                </a:solidFill>
                <a:latin typeface="Courier New" pitchFamily="34" charset="0"/>
                <a:ea typeface="Courier New" pitchFamily="34" charset="-122"/>
                <a:cs typeface="Courier New" pitchFamily="34" charset="-120"/>
              </a:rPr>
              <a:t>"max"</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200" dirty="0">
                <a:solidFill>
                  <a:srgbClr val="A31515"/>
                </a:solidFill>
                <a:latin typeface="Courier New" pitchFamily="34" charset="0"/>
                <a:ea typeface="Courier New" pitchFamily="34" charset="-122"/>
                <a:cs typeface="Courier New" pitchFamily="34" charset="-120"/>
              </a:rPr>
              <a:t>"eventos"</a:t>
            </a:r>
            <a:pPr indent="0" marL="0">
              <a:buNone/>
            </a:pPr>
            <a:r>
              <a:rPr lang="en-US" sz="1200" dirty="0">
                <a:solidFill>
                  <a:srgbClr val="202124"/>
                </a:solidFill>
                <a:latin typeface="Courier New" pitchFamily="34" charset="0"/>
                <a:ea typeface="Courier New" pitchFamily="34" charset="-122"/>
                <a:cs typeface="Courier New" pitchFamily="34" charset="-120"/>
              </a:rPr>
              <a:t>, ascending=False)</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1325880" y="3177540"/>
          <a:ext cx="9144000" cy="914400"/>
        </p:xfrm>
        <a:graphic>
          <a:graphicData uri="http://schemas.openxmlformats.org/drawingml/2006/table">
            <a:tbl>
              <a:tblPr/>
              <a:tblGrid>
                <a:gridCol w="1645920"/>
                <a:gridCol w="914400"/>
                <a:gridCol w="1554480"/>
                <a:gridCol w="137160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eventos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horas_promedio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horas_maximo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158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14.5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correctivo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118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38.9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inspeccion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falla_mecanica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50.6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evento_climatico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21.2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falla_electrica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Shape 8"/>
          <p:cNvSpPr/>
          <p:nvPr/>
        </p:nvSpPr>
        <p:spPr>
          <a:xfrm>
            <a:off x="1325880" y="4997196"/>
            <a:ext cx="10314432" cy="566928"/>
          </a:xfrm>
          <a:prstGeom prst="roundRect">
            <a:avLst>
              <a:gd name="adj" fmla="val 9677"/>
            </a:avLst>
          </a:prstGeom>
          <a:solidFill>
            <a:srgbClr val="FFF8D6"/>
          </a:solidFill>
          <a:ln w="12700">
            <a:solidFill>
              <a:srgbClr val="FFF8D6"/>
            </a:solidFill>
            <a:prstDash val="solid"/>
          </a:ln>
        </p:spPr>
      </p:sp>
      <p:sp>
        <p:nvSpPr>
          <p:cNvPr id="12" name="Text 9"/>
          <p:cNvSpPr txBox="1"/>
          <p:nvPr/>
        </p:nvSpPr>
        <p:spPr>
          <a:xfrm>
            <a:off x="1508760" y="4997196"/>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agg entrega varias cifras por grupo en una sola tabla.  </a:t>
            </a:r>
            <a:pPr indent="0" marL="0">
              <a:buNone/>
            </a:pPr>
            <a:r>
              <a:rPr lang="en-US" sz="1400" dirty="0">
                <a:solidFill>
                  <a:srgbClr val="202124"/>
                </a:solidFill>
                <a:latin typeface="Calibri" pitchFamily="34" charset="0"/>
                <a:ea typeface="Calibri" pitchFamily="34" charset="-122"/>
                <a:cs typeface="Calibri" pitchFamily="34" charset="-120"/>
              </a:rPr>
              <a:t>El conteo dice cuántos eventos hay detrás de cada promedio.</a:t>
            </a:r>
            <a:endParaRPr lang="en-US" sz="1400" dirty="0"/>
          </a:p>
        </p:txBody>
      </p:sp>
      <p:sp>
        <p:nvSpPr>
          <p:cNvPr id="14" name="Text 10"/>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5" name="Shape 11"/>
          <p:cNvSpPr/>
          <p:nvPr/>
        </p:nvSpPr>
        <p:spPr>
          <a:xfrm>
            <a:off x="548640" y="6062472"/>
            <a:ext cx="1522476" cy="566928"/>
          </a:xfrm>
          <a:prstGeom prst="roundRect">
            <a:avLst>
              <a:gd name="adj" fmla="val 11290"/>
            </a:avLst>
          </a:prstGeom>
          <a:solidFill>
            <a:srgbClr val="E8F0FE"/>
          </a:solidFill>
          <a:ln w="28575">
            <a:solidFill>
              <a:srgbClr val="1A73E8"/>
            </a:solidFill>
            <a:prstDash val="solid"/>
          </a:ln>
        </p:spPr>
      </p:sp>
      <p:sp>
        <p:nvSpPr>
          <p:cNvPr id="16" name="Text 12"/>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7" name="Shape 13"/>
          <p:cNvSpPr/>
          <p:nvPr/>
        </p:nvSpPr>
        <p:spPr>
          <a:xfrm>
            <a:off x="2208276" y="6062472"/>
            <a:ext cx="1330452" cy="566928"/>
          </a:xfrm>
          <a:prstGeom prst="roundRect">
            <a:avLst>
              <a:gd name="adj" fmla="val 11290"/>
            </a:avLst>
          </a:prstGeom>
          <a:solidFill>
            <a:srgbClr val="FEF3D6"/>
          </a:solidFill>
          <a:ln w="25400">
            <a:solidFill>
              <a:srgbClr val="F9AB00"/>
            </a:solidFill>
            <a:prstDash val="solid"/>
          </a:ln>
        </p:spPr>
      </p:sp>
      <p:sp>
        <p:nvSpPr>
          <p:cNvPr id="18" name="Text 14"/>
          <p:cNvSpPr txBox="1"/>
          <p:nvPr/>
        </p:nvSpPr>
        <p:spPr>
          <a:xfrm>
            <a:off x="229971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19" name="Shape 15"/>
          <p:cNvSpPr/>
          <p:nvPr/>
        </p:nvSpPr>
        <p:spPr>
          <a:xfrm>
            <a:off x="3675888" y="6062472"/>
            <a:ext cx="1234440" cy="566928"/>
          </a:xfrm>
          <a:prstGeom prst="roundRect">
            <a:avLst>
              <a:gd name="adj" fmla="val 11290"/>
            </a:avLst>
          </a:prstGeom>
          <a:solidFill>
            <a:srgbClr val="F1F3F4"/>
          </a:solidFill>
          <a:ln w="12700">
            <a:solidFill>
              <a:srgbClr val="DADCE0"/>
            </a:solidFill>
            <a:prstDash val="solid"/>
          </a:ln>
        </p:spPr>
      </p:sp>
      <p:sp>
        <p:nvSpPr>
          <p:cNvPr id="20" name="Text 16"/>
          <p:cNvSpPr txBox="1"/>
          <p:nvPr/>
        </p:nvSpPr>
        <p:spPr>
          <a:xfrm>
            <a:off x="3767328"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14.89</a:t>
            </a:r>
            <a:endParaRPr lang="en-US" sz="1200" dirty="0"/>
          </a:p>
        </p:txBody>
      </p:sp>
      <p:sp>
        <p:nvSpPr>
          <p:cNvPr id="21" name="Shape 17"/>
          <p:cNvSpPr/>
          <p:nvPr/>
        </p:nvSpPr>
        <p:spPr>
          <a:xfrm>
            <a:off x="5047488" y="6062472"/>
            <a:ext cx="1618488" cy="566928"/>
          </a:xfrm>
          <a:prstGeom prst="roundRect">
            <a:avLst>
              <a:gd name="adj" fmla="val 11290"/>
            </a:avLst>
          </a:prstGeom>
          <a:solidFill>
            <a:srgbClr val="F1F3F4"/>
          </a:solidFill>
          <a:ln w="12700">
            <a:solidFill>
              <a:srgbClr val="DADCE0"/>
            </a:solidFill>
            <a:prstDash val="solid"/>
          </a:ln>
        </p:spPr>
      </p:sp>
      <p:sp>
        <p:nvSpPr>
          <p:cNvPr id="22" name="Text 18"/>
          <p:cNvSpPr txBox="1"/>
          <p:nvPr/>
        </p:nvSpPr>
        <p:spPr>
          <a:xfrm>
            <a:off x="5138928"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con_correctivo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2</a:t>
            </a:r>
            <a:endParaRPr lang="en-US" sz="1200" dirty="0"/>
          </a:p>
        </p:txBody>
      </p:sp>
      <p:sp>
        <p:nvSpPr>
          <p:cNvPr id="23" name="Shape 19"/>
          <p:cNvSpPr/>
          <p:nvPr/>
        </p:nvSpPr>
        <p:spPr>
          <a:xfrm>
            <a:off x="6803136" y="6062472"/>
            <a:ext cx="1330452" cy="566928"/>
          </a:xfrm>
          <a:prstGeom prst="roundRect">
            <a:avLst>
              <a:gd name="adj" fmla="val 11290"/>
            </a:avLst>
          </a:prstGeom>
          <a:solidFill>
            <a:srgbClr val="F1F3F4"/>
          </a:solidFill>
          <a:ln w="12700">
            <a:solidFill>
              <a:srgbClr val="DADCE0"/>
            </a:solidFill>
            <a:prstDash val="solid"/>
          </a:ln>
        </p:spPr>
      </p:sp>
      <p:sp>
        <p:nvSpPr>
          <p:cNvPr id="24" name="Text 20"/>
          <p:cNvSpPr txBox="1"/>
          <p:nvPr/>
        </p:nvSpPr>
        <p:spPr>
          <a:xfrm>
            <a:off x="689457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cerca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25" name="Shape 21"/>
          <p:cNvSpPr/>
          <p:nvPr/>
        </p:nvSpPr>
        <p:spPr>
          <a:xfrm>
            <a:off x="8270748" y="6062472"/>
            <a:ext cx="2194560" cy="566928"/>
          </a:xfrm>
          <a:prstGeom prst="roundRect">
            <a:avLst>
              <a:gd name="adj" fmla="val 11290"/>
            </a:avLst>
          </a:prstGeom>
          <a:solidFill>
            <a:srgbClr val="F1F3F4"/>
          </a:solidFill>
          <a:ln w="12700">
            <a:solidFill>
              <a:srgbClr val="DADCE0"/>
            </a:solidFill>
            <a:prstDash val="solid"/>
          </a:ln>
        </p:spPr>
      </p:sp>
      <p:sp>
        <p:nvSpPr>
          <p:cNvPr id="26" name="Text 22"/>
          <p:cNvSpPr txBox="1"/>
          <p:nvPr/>
        </p:nvSpPr>
        <p:spPr>
          <a:xfrm>
            <a:off x="8362188"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distancia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321 valores</a:t>
            </a:r>
            <a:endParaRPr lang="en-US" sz="1200" dirty="0"/>
          </a:p>
        </p:txBody>
      </p:sp>
      <p:sp>
        <p:nvSpPr>
          <p:cNvPr id="27" name="Text 23"/>
          <p:cNvSpPr txBox="1"/>
          <p:nvPr/>
        </p:nvSpPr>
        <p:spPr>
          <a:xfrm>
            <a:off x="1060246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
        <p:nvSpPr>
          <p:cNvPr id="28"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falla mecánica es la que deja más horas detenida una central.</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a qué tecnologías les pasa cada tipo de evento.</a:t>
            </a:r>
            <a:endParaRPr lang="en-US" sz="1400" dirty="0"/>
          </a:p>
        </p:txBody>
      </p:sp>
      <p:pic>
        <p:nvPicPr>
          <p:cNvPr id="6" name="Image 0" descr="../../repo/modulos/../../diag/lab04_estudio2_tecnologia.png">    </p:cNvPr>
          <p:cNvPicPr>
            <a:picLocks noChangeAspect="1"/>
          </p:cNvPicPr>
          <p:nvPr/>
        </p:nvPicPr>
        <p:blipFill>
          <a:blip r:embed="rId1"/>
          <a:stretch>
            <a:fillRect/>
          </a:stretch>
        </p:blipFill>
        <p:spPr>
          <a:xfrm>
            <a:off x="548640" y="1463040"/>
            <a:ext cx="11091672" cy="3983197"/>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tipo de evento en la lista y vuelve a correr la celda. Prueba con evento_climatico y con falla_electrica.</a:t>
            </a:r>
            <a:endParaRPr lang="en-US" sz="1400" dirty="0"/>
          </a:p>
        </p:txBody>
      </p:sp>
      <p:sp>
        <p:nvSpPr>
          <p:cNvPr id="7" name="Shape 4"/>
          <p:cNvSpPr/>
          <p:nvPr/>
        </p:nvSpPr>
        <p:spPr>
          <a:xfrm>
            <a:off x="548640" y="1481328"/>
            <a:ext cx="11091672" cy="2537460"/>
          </a:xfrm>
          <a:prstGeom prst="roundRect">
            <a:avLst>
              <a:gd name="adj" fmla="val 2162"/>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3545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tipo = </a:t>
            </a:r>
            <a:pPr indent="0" marL="0">
              <a:buNone/>
            </a:pPr>
            <a:r>
              <a:rPr lang="en-US" sz="13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A cada evento se le pega la ficha de su central, como en el Lab 01.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con_ficha = pd.merge(mant, centrales, on=</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"left"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 = con_ficha[con_ficha[</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 tipo]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{len(elegidos)} eventos de tipo {tipo}"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].value_counts()</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tipo</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40553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19" name="Shape 16"/>
          <p:cNvSpPr/>
          <p:nvPr/>
        </p:nvSpPr>
        <p:spPr>
          <a:xfrm>
            <a:off x="2016252" y="6062472"/>
            <a:ext cx="123444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107692"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14.89</a:t>
            </a:r>
            <a:endParaRPr lang="en-US" sz="1200" dirty="0"/>
          </a:p>
        </p:txBody>
      </p:sp>
      <p:sp>
        <p:nvSpPr>
          <p:cNvPr id="21" name="Shape 18"/>
          <p:cNvSpPr/>
          <p:nvPr/>
        </p:nvSpPr>
        <p:spPr>
          <a:xfrm>
            <a:off x="3387852" y="6062472"/>
            <a:ext cx="1618488"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479292"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con_correctivo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2</a:t>
            </a:r>
            <a:endParaRPr lang="en-US" sz="1200" dirty="0"/>
          </a:p>
        </p:txBody>
      </p:sp>
      <p:sp>
        <p:nvSpPr>
          <p:cNvPr id="23" name="Shape 20"/>
          <p:cNvSpPr/>
          <p:nvPr/>
        </p:nvSpPr>
        <p:spPr>
          <a:xfrm>
            <a:off x="5143500" y="6062472"/>
            <a:ext cx="133045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23494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cerca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25" name="Shape 22"/>
          <p:cNvSpPr/>
          <p:nvPr/>
        </p:nvSpPr>
        <p:spPr>
          <a:xfrm>
            <a:off x="6611112" y="6062472"/>
            <a:ext cx="2194560"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6702552" y="6071616"/>
            <a:ext cx="205740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distancia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321 valores</a:t>
            </a:r>
            <a:endParaRPr lang="en-US" sz="1200" dirty="0"/>
          </a:p>
        </p:txBody>
      </p:sp>
      <p:sp>
        <p:nvSpPr>
          <p:cNvPr id="27" name="Shape 24"/>
          <p:cNvSpPr/>
          <p:nvPr/>
        </p:nvSpPr>
        <p:spPr>
          <a:xfrm>
            <a:off x="8942832" y="6062472"/>
            <a:ext cx="1522476" cy="566928"/>
          </a:xfrm>
          <a:prstGeom prst="roundRect">
            <a:avLst>
              <a:gd name="adj" fmla="val 11290"/>
            </a:avLst>
          </a:prstGeom>
          <a:solidFill>
            <a:srgbClr val="F1F3F4"/>
          </a:solidFill>
          <a:ln w="12700">
            <a:solidFill>
              <a:srgbClr val="DADCE0"/>
            </a:solidFill>
            <a:prstDash val="solid"/>
          </a:ln>
        </p:spPr>
      </p:sp>
      <p:sp>
        <p:nvSpPr>
          <p:cNvPr id="28" name="Text 25"/>
          <p:cNvSpPr txBox="1"/>
          <p:nvPr/>
        </p:nvSpPr>
        <p:spPr>
          <a:xfrm>
            <a:off x="903427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pares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321 × 3</a:t>
            </a:r>
            <a:endParaRPr lang="en-US" sz="1200" dirty="0"/>
          </a:p>
        </p:txBody>
      </p:sp>
      <p:sp>
        <p:nvSpPr>
          <p:cNvPr id="29" name="Text 26"/>
          <p:cNvSpPr txBox="1"/>
          <p:nvPr/>
        </p:nvSpPr>
        <p:spPr>
          <a:xfrm>
            <a:off x="1060246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con_ficha = pd.merge(mant, centrales, on=</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 how=</a:t>
            </a:r>
            <a:pPr indent="0" marL="0">
              <a:buNone/>
            </a:pPr>
            <a:r>
              <a:rPr lang="en-US" sz="1600" dirty="0">
                <a:solidFill>
                  <a:srgbClr val="A31515"/>
                </a:solidFill>
                <a:latin typeface="Courier New" pitchFamily="34" charset="0"/>
                <a:ea typeface="Courier New" pitchFamily="34" charset="-122"/>
                <a:cs typeface="Courier New" pitchFamily="34" charset="-120"/>
              </a:rPr>
              <a:t>"left"</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pd.merge(mant, centrales,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Une la bitácora con la ficha de las centrales, como en el Lab 01.</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on="central"</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que tienen en común.</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how="left"</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Conserva todos los eventos de la bitácora, aunque alguno no tuviera ficha.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 cada evento de la bitácora le pega la ficha de su central.</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tipo de evento en la lista y vuelve a correr la celda. Prueba con evento_climatico y con falla_electrica.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Hay 80 eventos de tipo evento_climatico</a:t>
            </a:r>
            <a:endParaRPr lang="en-US" sz="1200" dirty="0"/>
          </a:p>
        </p:txBody>
      </p:sp>
      <p:sp>
        <p:nvSpPr>
          <p:cNvPr id="9" name="Shape 7"/>
          <p:cNvSpPr/>
          <p:nvPr/>
        </p:nvSpPr>
        <p:spPr>
          <a:xfrm>
            <a:off x="1325880" y="2304288"/>
            <a:ext cx="10314432" cy="1792224"/>
          </a:xfrm>
          <a:prstGeom prst="rect">
            <a:avLst/>
          </a:prstGeom>
          <a:solidFill>
            <a:srgbClr val="FFFFFF"/>
          </a:solidFill>
          <a:ln w="12700">
            <a:solidFill>
              <a:srgbClr val="DADCE0"/>
            </a:solidFill>
            <a:prstDash val="solid"/>
          </a:ln>
        </p:spPr>
      </p:sp>
      <p:sp>
        <p:nvSpPr>
          <p:cNvPr id="10" name="Text 8"/>
          <p:cNvSpPr txBox="1"/>
          <p:nvPr/>
        </p:nvSpPr>
        <p:spPr>
          <a:xfrm>
            <a:off x="1463040" y="2377440"/>
            <a:ext cx="10085832" cy="166420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55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12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diesel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count, dtype: int64</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5" name="Shape 12"/>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7" name="Shape 14"/>
          <p:cNvSpPr/>
          <p:nvPr/>
        </p:nvSpPr>
        <p:spPr>
          <a:xfrm>
            <a:off x="4736592" y="6062472"/>
            <a:ext cx="1522476"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482803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9" name="Shape 16"/>
          <p:cNvSpPr/>
          <p:nvPr/>
        </p:nvSpPr>
        <p:spPr>
          <a:xfrm>
            <a:off x="6396228" y="6062472"/>
            <a:ext cx="2002536"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6487668"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21" name="Shape 18"/>
          <p:cNvSpPr/>
          <p:nvPr/>
        </p:nvSpPr>
        <p:spPr>
          <a:xfrm>
            <a:off x="8535924" y="6062472"/>
            <a:ext cx="1426464" cy="566928"/>
          </a:xfrm>
          <a:prstGeom prst="roundRect">
            <a:avLst>
              <a:gd name="adj" fmla="val 11290"/>
            </a:avLst>
          </a:prstGeom>
          <a:solidFill>
            <a:srgbClr val="FEF3D6"/>
          </a:solidFill>
          <a:ln w="25400">
            <a:solidFill>
              <a:srgbClr val="F9AB00"/>
            </a:solidFill>
            <a:prstDash val="solid"/>
          </a:ln>
        </p:spPr>
      </p:sp>
      <p:sp>
        <p:nvSpPr>
          <p:cNvPr id="22" name="Text 19"/>
          <p:cNvSpPr txBox="1"/>
          <p:nvPr/>
        </p:nvSpPr>
        <p:spPr>
          <a:xfrm>
            <a:off x="862736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3" name="Text 20"/>
          <p:cNvSpPr txBox="1"/>
          <p:nvPr/>
        </p:nvSpPr>
        <p:spPr>
          <a:xfrm>
            <a:off x="1009954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20 más</a:t>
            </a:r>
            <a:endParaRPr lang="en-US" sz="1200" dirty="0"/>
          </a:p>
        </p:txBody>
      </p:sp>
      <p:sp>
        <p:nvSpPr>
          <p:cNvPr id="24" name="Text 2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Casi siete de cada diez eventos climáticos son de centrales eólicas.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falla_electrica en la lista y se vuelve a correr la celda.</a:t>
            </a:r>
            <a:endParaRPr lang="en-US" sz="1400" dirty="0"/>
          </a:p>
        </p:txBody>
      </p:sp>
      <p:sp>
        <p:nvSpPr>
          <p:cNvPr id="7" name="Shape 4"/>
          <p:cNvSpPr/>
          <p:nvPr/>
        </p:nvSpPr>
        <p:spPr>
          <a:xfrm>
            <a:off x="548640" y="1481328"/>
            <a:ext cx="11091672" cy="2537460"/>
          </a:xfrm>
          <a:prstGeom prst="roundRect">
            <a:avLst>
              <a:gd name="adj" fmla="val 2162"/>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3545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tipo = </a:t>
            </a:r>
            <a:pPr indent="0" marL="0">
              <a:buNone/>
            </a:pPr>
            <a:r>
              <a:rPr lang="en-US" sz="1300" dirty="0">
                <a:solidFill>
                  <a:srgbClr val="A31515"/>
                </a:solidFill>
                <a:latin typeface="Courier New" pitchFamily="34" charset="0"/>
                <a:ea typeface="Courier New" pitchFamily="34" charset="-122"/>
                <a:cs typeface="Courier New" pitchFamily="34" charset="-120"/>
              </a:rPr>
              <a:t>"falla_electrica"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A cada evento se le pega la ficha de su central, como en el Lab 01.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con_ficha = pd.merge(mant, centrales, on=</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"left"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 = con_ficha[con_ficha[</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 tipo]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{len(elegidos)} eventos de tipo {tipo}"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].value_counts()</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tipo</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40553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522476"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80 × 10</a:t>
            </a:r>
            <a:endParaRPr lang="en-US" sz="1200" dirty="0"/>
          </a:p>
        </p:txBody>
      </p:sp>
      <p:sp>
        <p:nvSpPr>
          <p:cNvPr id="19" name="Shape 16"/>
          <p:cNvSpPr/>
          <p:nvPr/>
        </p:nvSpPr>
        <p:spPr>
          <a:xfrm>
            <a:off x="2208276" y="6062472"/>
            <a:ext cx="1618488"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299716"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1" name="Shape 18"/>
          <p:cNvSpPr/>
          <p:nvPr/>
        </p:nvSpPr>
        <p:spPr>
          <a:xfrm>
            <a:off x="3963924" y="6062472"/>
            <a:ext cx="142646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405536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3" name="Shape 20"/>
          <p:cNvSpPr/>
          <p:nvPr/>
        </p:nvSpPr>
        <p:spPr>
          <a:xfrm>
            <a:off x="5527548" y="6062472"/>
            <a:ext cx="2002536"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618988"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25" name="Shape 22"/>
          <p:cNvSpPr/>
          <p:nvPr/>
        </p:nvSpPr>
        <p:spPr>
          <a:xfrm>
            <a:off x="7667244" y="6062472"/>
            <a:ext cx="1330452"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75868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7" name="Shape 24"/>
          <p:cNvSpPr/>
          <p:nvPr/>
        </p:nvSpPr>
        <p:spPr>
          <a:xfrm>
            <a:off x="9134856" y="6062472"/>
            <a:ext cx="1234440" cy="566928"/>
          </a:xfrm>
          <a:prstGeom prst="roundRect">
            <a:avLst>
              <a:gd name="adj" fmla="val 11290"/>
            </a:avLst>
          </a:prstGeom>
          <a:solidFill>
            <a:srgbClr val="F1F3F4"/>
          </a:solidFill>
          <a:ln w="12700">
            <a:solidFill>
              <a:srgbClr val="DADCE0"/>
            </a:solidFill>
            <a:prstDash val="solid"/>
          </a:ln>
        </p:spPr>
      </p:sp>
      <p:sp>
        <p:nvSpPr>
          <p:cNvPr id="28" name="Text 25"/>
          <p:cNvSpPr txBox="1"/>
          <p:nvPr/>
        </p:nvSpPr>
        <p:spPr>
          <a:xfrm>
            <a:off x="9226296"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14.89</a:t>
            </a:r>
            <a:endParaRPr lang="en-US" sz="1200" dirty="0"/>
          </a:p>
        </p:txBody>
      </p:sp>
      <p:sp>
        <p:nvSpPr>
          <p:cNvPr id="29" name="Text 26"/>
          <p:cNvSpPr txBox="1"/>
          <p:nvPr/>
        </p:nvSpPr>
        <p:spPr>
          <a:xfrm>
            <a:off x="1050645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19 más</a:t>
            </a:r>
            <a:endParaRPr lang="en-US" sz="1200" dirty="0"/>
          </a:p>
        </p:txBody>
      </p:sp>
      <p:sp>
        <p:nvSpPr>
          <p:cNvPr id="30" name="Text 27"/>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falla_electrica en la lista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Hay 47 eventos de tipo falla_electrica</a:t>
            </a:r>
            <a:endParaRPr lang="en-US" sz="1200" dirty="0"/>
          </a:p>
        </p:txBody>
      </p:sp>
      <p:sp>
        <p:nvSpPr>
          <p:cNvPr id="9" name="Shape 7"/>
          <p:cNvSpPr/>
          <p:nvPr/>
        </p:nvSpPr>
        <p:spPr>
          <a:xfrm>
            <a:off x="1325880" y="2304288"/>
            <a:ext cx="10314432" cy="1792224"/>
          </a:xfrm>
          <a:prstGeom prst="rect">
            <a:avLst/>
          </a:prstGeom>
          <a:solidFill>
            <a:srgbClr val="FFFFFF"/>
          </a:solidFill>
          <a:ln w="12700">
            <a:solidFill>
              <a:srgbClr val="DADCE0"/>
            </a:solidFill>
            <a:prstDash val="solid"/>
          </a:ln>
        </p:spPr>
      </p:sp>
      <p:sp>
        <p:nvSpPr>
          <p:cNvPr id="10" name="Text 8"/>
          <p:cNvSpPr txBox="1"/>
          <p:nvPr/>
        </p:nvSpPr>
        <p:spPr>
          <a:xfrm>
            <a:off x="1463040" y="2377440"/>
            <a:ext cx="10085832" cy="166420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14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13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diesel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count, dtype: int64</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5" name="Shape 12"/>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7" name="Shape 14"/>
          <p:cNvSpPr/>
          <p:nvPr/>
        </p:nvSpPr>
        <p:spPr>
          <a:xfrm>
            <a:off x="4736592" y="6062472"/>
            <a:ext cx="1522476"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482803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9" name="Shape 16"/>
          <p:cNvSpPr/>
          <p:nvPr/>
        </p:nvSpPr>
        <p:spPr>
          <a:xfrm>
            <a:off x="6396228" y="6062472"/>
            <a:ext cx="1906524"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648766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1" name="Shape 18"/>
          <p:cNvSpPr/>
          <p:nvPr/>
        </p:nvSpPr>
        <p:spPr>
          <a:xfrm>
            <a:off x="8439912" y="6062472"/>
            <a:ext cx="1426464" cy="566928"/>
          </a:xfrm>
          <a:prstGeom prst="roundRect">
            <a:avLst>
              <a:gd name="adj" fmla="val 11290"/>
            </a:avLst>
          </a:prstGeom>
          <a:solidFill>
            <a:srgbClr val="E8F0FE"/>
          </a:solidFill>
          <a:ln w="28575">
            <a:solidFill>
              <a:srgbClr val="1A73E8"/>
            </a:solidFill>
            <a:prstDash val="solid"/>
          </a:ln>
        </p:spPr>
      </p:sp>
      <p:sp>
        <p:nvSpPr>
          <p:cNvPr id="22" name="Text 19"/>
          <p:cNvSpPr txBox="1"/>
          <p:nvPr/>
        </p:nvSpPr>
        <p:spPr>
          <a:xfrm>
            <a:off x="853135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3" name="Text 20"/>
          <p:cNvSpPr txBox="1"/>
          <p:nvPr/>
        </p:nvSpPr>
        <p:spPr>
          <a:xfrm>
            <a:off x="1000353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20 más</a:t>
            </a:r>
            <a:endParaRPr lang="en-US" sz="1200" dirty="0"/>
          </a:p>
        </p:txBody>
      </p:sp>
      <p:sp>
        <p:nvSpPr>
          <p:cNvPr id="24" name="Text 2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Las fallas eléctricas están repartidas entre todas las tecnologías.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Para contar por tecnología, primero se pega la ficha de la central.</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Un conteo alto puede venir de tener más centrales de esa tecnología.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1522476"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482803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7" name="Shape 14"/>
          <p:cNvSpPr/>
          <p:nvPr/>
        </p:nvSpPr>
        <p:spPr>
          <a:xfrm>
            <a:off x="6396228" y="6062472"/>
            <a:ext cx="1906524"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648766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9" name="Shape 16"/>
          <p:cNvSpPr/>
          <p:nvPr/>
        </p:nvSpPr>
        <p:spPr>
          <a:xfrm>
            <a:off x="8439912" y="6062472"/>
            <a:ext cx="1426464"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853135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1" name="Text 18"/>
          <p:cNvSpPr txBox="1"/>
          <p:nvPr/>
        </p:nvSpPr>
        <p:spPr>
          <a:xfrm>
            <a:off x="1000353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20 más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parejas de eventos van juntas?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el lift de las 30 parejas que revisa el for.</a:t>
            </a:r>
            <a:endParaRPr lang="en-US" sz="1400" dirty="0"/>
          </a:p>
        </p:txBody>
      </p:sp>
      <p:pic>
        <p:nvPicPr>
          <p:cNvPr id="6" name="Image 0" descr="../../repo/modulos/../../diag/lab04_estudio3_parejas.png">    </p:cNvPr>
          <p:cNvPicPr>
            <a:picLocks noChangeAspect="1"/>
          </p:cNvPicPr>
          <p:nvPr/>
        </p:nvPicPr>
        <p:blipFill>
          <a:blip r:embed="rId1"/>
          <a:stretch>
            <a:fillRect/>
          </a:stretch>
        </p:blipFill>
        <p:spPr>
          <a:xfrm>
            <a:off x="1898162" y="1463040"/>
            <a:ext cx="8392628" cy="461772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parejas de eventos van juntas?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Están ordenadas por confianza. Mira la columna lift antes de sacar conclusiones.</a:t>
            </a:r>
            <a:endParaRPr lang="en-US" sz="1400" dirty="0"/>
          </a:p>
        </p:txBody>
      </p:sp>
      <p:sp>
        <p:nvSpPr>
          <p:cNvPr id="7" name="Shape 4"/>
          <p:cNvSpPr/>
          <p:nvPr/>
        </p:nvSpPr>
        <p:spPr>
          <a:xfrm>
            <a:off x="548640" y="1481328"/>
            <a:ext cx="11091672" cy="3360420"/>
          </a:xfrm>
          <a:prstGeom prst="roundRect">
            <a:avLst>
              <a:gd name="adj" fmla="val 1633"/>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31775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mismo cálculo del Paso 4 para todas las parejas posibles.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filas =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for si in tabla.columns: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for entonces in tabla.columns: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if si != entonces: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juntos = (tabla[si] &amp; tabla[entonces]).sum()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confianza = juntos / tabla[si].sum()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filas.append({</a:t>
            </a:r>
            <a:pPr indent="0" marL="0">
              <a:buNone/>
            </a:pPr>
            <a:r>
              <a:rPr lang="en-US" sz="1300" dirty="0">
                <a:solidFill>
                  <a:srgbClr val="A31515"/>
                </a:solidFill>
                <a:latin typeface="Courier New" pitchFamily="34" charset="0"/>
                <a:ea typeface="Courier New" pitchFamily="34" charset="-122"/>
                <a:cs typeface="Courier New" pitchFamily="34" charset="-120"/>
              </a:rPr>
              <a:t>"si"</a:t>
            </a:r>
            <a:pPr indent="0" marL="0">
              <a:buNone/>
            </a:pPr>
            <a:r>
              <a:rPr lang="en-US" sz="1300" dirty="0">
                <a:solidFill>
                  <a:srgbClr val="202124"/>
                </a:solidFill>
                <a:latin typeface="Courier New" pitchFamily="34" charset="0"/>
                <a:ea typeface="Courier New" pitchFamily="34" charset="-122"/>
                <a:cs typeface="Courier New" pitchFamily="34" charset="-120"/>
              </a:rPr>
              <a:t>: si, </a:t>
            </a:r>
            <a:pPr indent="0" marL="0">
              <a:buNone/>
            </a:pPr>
            <a:r>
              <a:rPr lang="en-US" sz="1300" dirty="0">
                <a:solidFill>
                  <a:srgbClr val="A31515"/>
                </a:solidFill>
                <a:latin typeface="Courier New" pitchFamily="34" charset="0"/>
                <a:ea typeface="Courier New" pitchFamily="34" charset="-122"/>
                <a:cs typeface="Courier New" pitchFamily="34" charset="-120"/>
              </a:rPr>
              <a:t>"entonces"</a:t>
            </a:r>
            <a:pPr indent="0" marL="0">
              <a:buNone/>
            </a:pPr>
            <a:r>
              <a:rPr lang="en-US" sz="1300" dirty="0">
                <a:solidFill>
                  <a:srgbClr val="202124"/>
                </a:solidFill>
                <a:latin typeface="Courier New" pitchFamily="34" charset="0"/>
                <a:ea typeface="Courier New" pitchFamily="34" charset="-122"/>
                <a:cs typeface="Courier New" pitchFamily="34" charset="-120"/>
              </a:rPr>
              <a:t>: entonces, </a:t>
            </a:r>
            <a:pPr indent="0" marL="0">
              <a:buNone/>
            </a:pPr>
            <a:r>
              <a:rPr lang="en-US" sz="1300" dirty="0">
                <a:solidFill>
                  <a:srgbClr val="A31515"/>
                </a:solidFill>
                <a:latin typeface="Courier New" pitchFamily="34" charset="0"/>
                <a:ea typeface="Courier New" pitchFamily="34" charset="-122"/>
                <a:cs typeface="Courier New" pitchFamily="34" charset="-120"/>
              </a:rPr>
              <a:t>"canastas"</a:t>
            </a:r>
            <a:pPr indent="0" marL="0">
              <a:buNone/>
            </a:pPr>
            <a:r>
              <a:rPr lang="en-US" sz="1300" dirty="0">
                <a:solidFill>
                  <a:srgbClr val="202124"/>
                </a:solidFill>
                <a:latin typeface="Courier New" pitchFamily="34" charset="0"/>
                <a:ea typeface="Courier New" pitchFamily="34" charset="-122"/>
                <a:cs typeface="Courier New" pitchFamily="34" charset="-120"/>
              </a:rPr>
              <a:t>: juntos,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"confianza"</a:t>
            </a:r>
            <a:pPr indent="0" marL="0">
              <a:buNone/>
            </a:pPr>
            <a:r>
              <a:rPr lang="en-US" sz="1300" dirty="0">
                <a:solidFill>
                  <a:srgbClr val="202124"/>
                </a:solidFill>
                <a:latin typeface="Courier New" pitchFamily="34" charset="0"/>
                <a:ea typeface="Courier New" pitchFamily="34" charset="-122"/>
                <a:cs typeface="Courier New" pitchFamily="34" charset="-120"/>
              </a:rPr>
              <a:t>: round(100 * confianza,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"lift"</a:t>
            </a:r>
            <a:pPr indent="0" marL="0">
              <a:buNone/>
            </a:pPr>
            <a:r>
              <a:rPr lang="en-US" sz="1300" dirty="0">
                <a:solidFill>
                  <a:srgbClr val="202124"/>
                </a:solidFill>
                <a:latin typeface="Courier New" pitchFamily="34" charset="0"/>
                <a:ea typeface="Courier New" pitchFamily="34" charset="-122"/>
                <a:cs typeface="Courier New" pitchFamily="34" charset="-120"/>
              </a:rPr>
              <a:t>: round(confianza / tabla[entonces].mean(),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reglas = pd.DataFrame(filas)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 Parejas revisadas"</a:t>
            </a:r>
            <a:pPr indent="0" marL="0">
              <a:buNone/>
            </a:pPr>
            <a:r>
              <a:rPr lang="en-US" sz="1300" dirty="0">
                <a:solidFill>
                  <a:srgbClr val="202124"/>
                </a:solidFill>
                <a:latin typeface="Courier New" pitchFamily="34" charset="0"/>
                <a:ea typeface="Courier New" pitchFamily="34" charset="-122"/>
                <a:cs typeface="Courier New" pitchFamily="34" charset="-120"/>
              </a:rPr>
              <a:t>, len(reglas))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reglas.sort_values(</a:t>
            </a:r>
            <a:pPr indent="0" marL="0">
              <a:buNone/>
            </a:pPr>
            <a:r>
              <a:rPr lang="en-US" sz="1300" dirty="0">
                <a:solidFill>
                  <a:srgbClr val="A31515"/>
                </a:solidFill>
                <a:latin typeface="Courier New" pitchFamily="34" charset="0"/>
                <a:ea typeface="Courier New" pitchFamily="34" charset="-122"/>
                <a:cs typeface="Courier New" pitchFamily="34" charset="-120"/>
              </a:rPr>
              <a:t>"confianza"</a:t>
            </a:r>
            <a:pPr indent="0" marL="0">
              <a:buNone/>
            </a:pPr>
            <a:r>
              <a:rPr lang="en-US" sz="1300" dirty="0">
                <a:solidFill>
                  <a:srgbClr val="202124"/>
                </a:solidFill>
                <a:latin typeface="Courier New" pitchFamily="34" charset="0"/>
                <a:ea typeface="Courier New" pitchFamily="34" charset="-122"/>
                <a:cs typeface="Courier New" pitchFamily="34" charset="-120"/>
              </a:rPr>
              <a:t>, ascending=False).head(6)</a:t>
            </a:r>
            <a:endParaRPr lang="en-US" sz="1300" dirty="0"/>
          </a:p>
        </p:txBody>
      </p:sp>
      <p:sp>
        <p:nvSpPr>
          <p:cNvPr id="11" name="Text 8"/>
          <p:cNvSpPr txBox="1"/>
          <p:nvPr/>
        </p:nvSpPr>
        <p:spPr>
          <a:xfrm>
            <a:off x="1325880" y="48783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522476"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15" name="Shape 12"/>
          <p:cNvSpPr/>
          <p:nvPr/>
        </p:nvSpPr>
        <p:spPr>
          <a:xfrm>
            <a:off x="2208276" y="6062472"/>
            <a:ext cx="1618488"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299716"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17" name="Shape 14"/>
          <p:cNvSpPr/>
          <p:nvPr/>
        </p:nvSpPr>
        <p:spPr>
          <a:xfrm>
            <a:off x="3963924" y="6062472"/>
            <a:ext cx="142646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405536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9" name="Shape 16"/>
          <p:cNvSpPr/>
          <p:nvPr/>
        </p:nvSpPr>
        <p:spPr>
          <a:xfrm>
            <a:off x="5527548" y="6062472"/>
            <a:ext cx="190652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61898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1" name="Shape 18"/>
          <p:cNvSpPr/>
          <p:nvPr/>
        </p:nvSpPr>
        <p:spPr>
          <a:xfrm>
            <a:off x="7571232" y="6062472"/>
            <a:ext cx="133045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766267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3" name="Shape 20"/>
          <p:cNvSpPr/>
          <p:nvPr/>
        </p:nvSpPr>
        <p:spPr>
          <a:xfrm>
            <a:off x="9038844" y="6062472"/>
            <a:ext cx="123444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9130284"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14.89</a:t>
            </a:r>
            <a:endParaRPr lang="en-US" sz="1200" dirty="0"/>
          </a:p>
        </p:txBody>
      </p:sp>
      <p:sp>
        <p:nvSpPr>
          <p:cNvPr id="25" name="Text 22"/>
          <p:cNvSpPr txBox="1"/>
          <p:nvPr/>
        </p:nvSpPr>
        <p:spPr>
          <a:xfrm>
            <a:off x="1041044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19 más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parejas de eventos van juntas?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990600"/>
          </a:xfrm>
          <a:prstGeom prst="roundRect">
            <a:avLst>
              <a:gd name="adj" fmla="val 5538"/>
            </a:avLst>
          </a:prstGeom>
          <a:solidFill>
            <a:srgbClr val="F8F9FA"/>
          </a:solidFill>
          <a:ln w="12700">
            <a:solidFill>
              <a:srgbClr val="DADCE0"/>
            </a:solidFill>
            <a:prstDash val="solid"/>
          </a:ln>
        </p:spPr>
      </p:sp>
      <p:sp>
        <p:nvSpPr>
          <p:cNvPr id="7" name="Text 5"/>
          <p:cNvSpPr txBox="1"/>
          <p:nvPr/>
        </p:nvSpPr>
        <p:spPr>
          <a:xfrm>
            <a:off x="822960" y="1554480"/>
            <a:ext cx="10634472" cy="853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for si in tabla.columns:</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for entonces in tabla.columns:</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if si != entonces:</a:t>
            </a:r>
            <a:endParaRPr lang="en-US" sz="1600" dirty="0"/>
          </a:p>
        </p:txBody>
      </p:sp>
      <p:sp>
        <p:nvSpPr>
          <p:cNvPr id="8" name="Shape 6"/>
          <p:cNvSpPr/>
          <p:nvPr/>
        </p:nvSpPr>
        <p:spPr>
          <a:xfrm>
            <a:off x="548640" y="2828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828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727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727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tabla.columns</a:t>
            </a:r>
            <a:endParaRPr lang="en-US" sz="1400" dirty="0"/>
          </a:p>
        </p:txBody>
      </p:sp>
      <p:sp>
        <p:nvSpPr>
          <p:cNvPr id="12" name="Text 10"/>
          <p:cNvSpPr txBox="1"/>
          <p:nvPr/>
        </p:nvSpPr>
        <p:spPr>
          <a:xfrm>
            <a:off x="6263640" y="2727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Los nombres de las seis columnas.</a:t>
            </a:r>
            <a:endParaRPr lang="en-US" sz="1600" dirty="0"/>
          </a:p>
        </p:txBody>
      </p:sp>
      <p:sp>
        <p:nvSpPr>
          <p:cNvPr id="13" name="Shape 11"/>
          <p:cNvSpPr/>
          <p:nvPr/>
        </p:nvSpPr>
        <p:spPr>
          <a:xfrm>
            <a:off x="548640" y="3450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450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349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3349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for si in ...:</a:t>
            </a:r>
            <a:endParaRPr lang="en-US" sz="1400" dirty="0"/>
          </a:p>
        </p:txBody>
      </p:sp>
      <p:sp>
        <p:nvSpPr>
          <p:cNvPr id="17" name="Text 15"/>
          <p:cNvSpPr txBox="1"/>
          <p:nvPr/>
        </p:nvSpPr>
        <p:spPr>
          <a:xfrm>
            <a:off x="6263640" y="3349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Recorre los seis tipos como primer evento.</a:t>
            </a:r>
            <a:endParaRPr lang="en-US" sz="1600" dirty="0"/>
          </a:p>
        </p:txBody>
      </p:sp>
      <p:sp>
        <p:nvSpPr>
          <p:cNvPr id="18" name="Shape 16"/>
          <p:cNvSpPr/>
          <p:nvPr/>
        </p:nvSpPr>
        <p:spPr>
          <a:xfrm>
            <a:off x="548640" y="4126992"/>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41269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971544"/>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971544"/>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for entonces in ...:</a:t>
            </a:r>
            <a:endParaRPr lang="en-US" sz="1400" dirty="0"/>
          </a:p>
        </p:txBody>
      </p:sp>
      <p:sp>
        <p:nvSpPr>
          <p:cNvPr id="22" name="Text 20"/>
          <p:cNvSpPr txBox="1"/>
          <p:nvPr/>
        </p:nvSpPr>
        <p:spPr>
          <a:xfrm>
            <a:off x="6263640" y="3971544"/>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Dentro de cada uno, recorre los seis otra vez como segundo evento.</a:t>
            </a:r>
            <a:endParaRPr lang="en-US" sz="1600" dirty="0"/>
          </a:p>
        </p:txBody>
      </p:sp>
      <p:sp>
        <p:nvSpPr>
          <p:cNvPr id="23" name="Shape 21"/>
          <p:cNvSpPr/>
          <p:nvPr/>
        </p:nvSpPr>
        <p:spPr>
          <a:xfrm>
            <a:off x="548640" y="4858512"/>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858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703064"/>
            <a:ext cx="4937760" cy="640080"/>
          </a:xfrm>
          <a:prstGeom prst="roundRect">
            <a:avLst>
              <a:gd name="adj" fmla="val 7143"/>
            </a:avLst>
          </a:prstGeom>
          <a:solidFill>
            <a:srgbClr val="ECE2FA"/>
          </a:solidFill>
          <a:ln w="12700">
            <a:solidFill>
              <a:srgbClr val="ECE2FA"/>
            </a:solidFill>
            <a:prstDash val="solid"/>
          </a:ln>
        </p:spPr>
      </p:sp>
      <p:sp>
        <p:nvSpPr>
          <p:cNvPr id="26" name="Text 24"/>
          <p:cNvSpPr txBox="1"/>
          <p:nvPr/>
        </p:nvSpPr>
        <p:spPr>
          <a:xfrm>
            <a:off x="1170432" y="4703064"/>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if si != entonces:</a:t>
            </a:r>
            <a:endParaRPr lang="en-US" sz="1400" dirty="0"/>
          </a:p>
        </p:txBody>
      </p:sp>
      <p:sp>
        <p:nvSpPr>
          <p:cNvPr id="27" name="Text 25"/>
          <p:cNvSpPr txBox="1"/>
          <p:nvPr/>
        </p:nvSpPr>
        <p:spPr>
          <a:xfrm>
            <a:off x="6263640" y="4703064"/>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 se lee distinto de. Salta las parejas de un evento consigo mismo.</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para cada pareja de tipos distintos, calcula sus números. Son 6 por 5, 30 parejas.</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parejas de eventos van juntas?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filas.append({</a:t>
            </a:r>
            <a:pPr indent="0" marL="0">
              <a:buNone/>
            </a:pPr>
            <a:r>
              <a:rPr lang="en-US" sz="1600" dirty="0">
                <a:solidFill>
                  <a:srgbClr val="A31515"/>
                </a:solidFill>
                <a:latin typeface="Courier New" pitchFamily="34" charset="0"/>
                <a:ea typeface="Courier New" pitchFamily="34" charset="-122"/>
                <a:cs typeface="Courier New" pitchFamily="34" charset="-120"/>
              </a:rPr>
              <a:t>"si"</a:t>
            </a:r>
            <a:pPr indent="0" marL="0">
              <a:buNone/>
            </a:pPr>
            <a:r>
              <a:rPr lang="en-US" sz="1600" dirty="0">
                <a:solidFill>
                  <a:srgbClr val="202124"/>
                </a:solidFill>
                <a:latin typeface="Courier New" pitchFamily="34" charset="0"/>
                <a:ea typeface="Courier New" pitchFamily="34" charset="-122"/>
                <a:cs typeface="Courier New" pitchFamily="34" charset="-120"/>
              </a:rPr>
              <a:t>: si, </a:t>
            </a:r>
            <a:pPr indent="0" marL="0">
              <a:buNone/>
            </a:pPr>
            <a:r>
              <a:rPr lang="en-US" sz="1600" dirty="0">
                <a:solidFill>
                  <a:srgbClr val="A31515"/>
                </a:solidFill>
                <a:latin typeface="Courier New" pitchFamily="34" charset="0"/>
                <a:ea typeface="Courier New" pitchFamily="34" charset="-122"/>
                <a:cs typeface="Courier New" pitchFamily="34" charset="-120"/>
              </a:rPr>
              <a:t>"entonces"</a:t>
            </a:r>
            <a:pPr indent="0" marL="0">
              <a:buNone/>
            </a:pPr>
            <a:r>
              <a:rPr lang="en-US" sz="1600" dirty="0">
                <a:solidFill>
                  <a:srgbClr val="202124"/>
                </a:solidFill>
                <a:latin typeface="Courier New" pitchFamily="34" charset="0"/>
                <a:ea typeface="Courier New" pitchFamily="34" charset="-122"/>
                <a:cs typeface="Courier New" pitchFamily="34" charset="-120"/>
              </a:rPr>
              <a:t>: entonces, </a:t>
            </a:r>
            <a:pPr indent="0" marL="0">
              <a:buNone/>
            </a:pPr>
            <a:r>
              <a:rPr lang="en-US" sz="1600" dirty="0">
                <a:solidFill>
                  <a:srgbClr val="A31515"/>
                </a:solidFill>
                <a:latin typeface="Courier New" pitchFamily="34" charset="0"/>
                <a:ea typeface="Courier New" pitchFamily="34" charset="-122"/>
                <a:cs typeface="Courier New" pitchFamily="34" charset="-120"/>
              </a:rPr>
              <a:t>"canastas"</a:t>
            </a:r>
            <a:pPr indent="0" marL="0">
              <a:buNone/>
            </a:pPr>
            <a:r>
              <a:rPr lang="en-US" sz="1600" dirty="0">
                <a:solidFill>
                  <a:srgbClr val="202124"/>
                </a:solidFill>
                <a:latin typeface="Courier New" pitchFamily="34" charset="0"/>
                <a:ea typeface="Courier New" pitchFamily="34" charset="-122"/>
                <a:cs typeface="Courier New" pitchFamily="34" charset="-120"/>
              </a:rPr>
              <a:t>: juntos, ...})</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{"si": si,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 diccionario. Cada nombre entre comillas va a ser una columna y a su derecha va el valor.</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filas.append( ... )</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Agrega ese diccionario al final de la lista filas.</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pd.DataFrame(filas)</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En la línea siguiente, la lista de diccionarios se convierte en tabla.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agrega a la lista una fila con los números de esta pareja.</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parejas de eventos van juntas?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Están ordenadas por confianza. Mira la columna lift antes de sacar conclusiones.</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Parejas revisadas 30</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325880" y="2304288"/>
          <a:ext cx="9144000" cy="914400"/>
        </p:xfrm>
        <a:graphic>
          <a:graphicData uri="http://schemas.openxmlformats.org/drawingml/2006/table">
            <a:tbl>
              <a:tblPr/>
              <a:tblGrid>
                <a:gridCol w="365760"/>
                <a:gridCol w="1737360"/>
                <a:gridCol w="1737360"/>
                <a:gridCol w="1005840"/>
                <a:gridCol w="1097280"/>
                <a:gridCol w="8229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si</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entonces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canastas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confianza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lift</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falla_electrica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correctivo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83.3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evento_climatico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falla_mecanica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69.1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falla_electrica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0.93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evento_climatico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50.9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0.90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inspeccion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50.6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0.90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falla_mecanica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evento_climatico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48.7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3"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4"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5"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6" name="Shape 12"/>
          <p:cNvSpPr/>
          <p:nvPr/>
        </p:nvSpPr>
        <p:spPr>
          <a:xfrm>
            <a:off x="3488436" y="6062472"/>
            <a:ext cx="1426464" cy="566928"/>
          </a:xfrm>
          <a:prstGeom prst="roundRect">
            <a:avLst>
              <a:gd name="adj" fmla="val 11290"/>
            </a:avLst>
          </a:prstGeom>
          <a:solidFill>
            <a:srgbClr val="FEF3D6"/>
          </a:solidFill>
          <a:ln w="25400">
            <a:solidFill>
              <a:srgbClr val="F9AB00"/>
            </a:solidFill>
            <a:prstDash val="solid"/>
          </a:ln>
        </p:spPr>
      </p:sp>
      <p:sp>
        <p:nvSpPr>
          <p:cNvPr id="17" name="Text 13"/>
          <p:cNvSpPr txBox="1"/>
          <p:nvPr/>
        </p:nvSpPr>
        <p:spPr>
          <a:xfrm>
            <a:off x="357987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8" name="Shape 14"/>
          <p:cNvSpPr/>
          <p:nvPr/>
        </p:nvSpPr>
        <p:spPr>
          <a:xfrm>
            <a:off x="5052060" y="6062472"/>
            <a:ext cx="1426464" cy="566928"/>
          </a:xfrm>
          <a:prstGeom prst="roundRect">
            <a:avLst>
              <a:gd name="adj" fmla="val 11290"/>
            </a:avLst>
          </a:prstGeom>
          <a:solidFill>
            <a:srgbClr val="E8F0FE"/>
          </a:solidFill>
          <a:ln w="28575">
            <a:solidFill>
              <a:srgbClr val="1A73E8"/>
            </a:solidFill>
            <a:prstDash val="solid"/>
          </a:ln>
        </p:spPr>
      </p:sp>
      <p:sp>
        <p:nvSpPr>
          <p:cNvPr id="19" name="Text 15"/>
          <p:cNvSpPr txBox="1"/>
          <p:nvPr/>
        </p:nvSpPr>
        <p:spPr>
          <a:xfrm>
            <a:off x="514350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20" name="Shape 16"/>
          <p:cNvSpPr/>
          <p:nvPr/>
        </p:nvSpPr>
        <p:spPr>
          <a:xfrm>
            <a:off x="6615684" y="6062472"/>
            <a:ext cx="1143000" cy="566928"/>
          </a:xfrm>
          <a:prstGeom prst="roundRect">
            <a:avLst>
              <a:gd name="adj" fmla="val 11290"/>
            </a:avLst>
          </a:prstGeom>
          <a:solidFill>
            <a:srgbClr val="FEF3D6"/>
          </a:solidFill>
          <a:ln w="25400">
            <a:solidFill>
              <a:srgbClr val="F9AB00"/>
            </a:solidFill>
            <a:prstDash val="solid"/>
          </a:ln>
        </p:spPr>
      </p:sp>
      <p:sp>
        <p:nvSpPr>
          <p:cNvPr id="21" name="Text 17"/>
          <p:cNvSpPr txBox="1"/>
          <p:nvPr/>
        </p:nvSpPr>
        <p:spPr>
          <a:xfrm>
            <a:off x="670712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0.36</a:t>
            </a:r>
            <a:endParaRPr lang="en-US" sz="1200" dirty="0"/>
          </a:p>
        </p:txBody>
      </p:sp>
      <p:sp>
        <p:nvSpPr>
          <p:cNvPr id="22" name="Text 18"/>
          <p:cNvSpPr txBox="1"/>
          <p:nvPr/>
        </p:nvSpPr>
        <p:spPr>
          <a:xfrm>
            <a:off x="789584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23 más</a:t>
            </a:r>
            <a:endParaRPr lang="en-US" sz="1200" dirty="0"/>
          </a:p>
        </p:txBody>
      </p:sp>
      <p:sp>
        <p:nvSpPr>
          <p:cNvPr id="23"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Ordenadas por confianza, solo dos de las primeras tienen lift cercano a 2.</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parejas de eventos van juntas?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confianza alta no basta.</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Se compara con lo normal. Si el lift está cerca de 1, la regla no dice nada.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5" name="Shape 12"/>
          <p:cNvSpPr/>
          <p:nvPr/>
        </p:nvSpPr>
        <p:spPr>
          <a:xfrm>
            <a:off x="3488436" y="6062472"/>
            <a:ext cx="1426464"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57987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7" name="Shape 14"/>
          <p:cNvSpPr/>
          <p:nvPr/>
        </p:nvSpPr>
        <p:spPr>
          <a:xfrm>
            <a:off x="5052060" y="6062472"/>
            <a:ext cx="1426464"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14350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9" name="Shape 16"/>
          <p:cNvSpPr/>
          <p:nvPr/>
        </p:nvSpPr>
        <p:spPr>
          <a:xfrm>
            <a:off x="6615684" y="6062472"/>
            <a:ext cx="1143000"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670712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0.36</a:t>
            </a:r>
            <a:endParaRPr lang="en-US" sz="1200" dirty="0"/>
          </a:p>
        </p:txBody>
      </p:sp>
      <p:sp>
        <p:nvSpPr>
          <p:cNvPr id="21" name="Text 18"/>
          <p:cNvSpPr txBox="1"/>
          <p:nvPr/>
        </p:nvSpPr>
        <p:spPr>
          <a:xfrm>
            <a:off x="789584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23 más</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hace shift con los eventos de una central.</a:t>
            </a:r>
            <a:endParaRPr lang="en-US" sz="1400" dirty="0"/>
          </a:p>
        </p:txBody>
      </p:sp>
      <p:pic>
        <p:nvPicPr>
          <p:cNvPr id="6" name="Image 0" descr="../../repo/modulos/../../diag/lab04_estudio4_siguiente.png">    </p:cNvPr>
          <p:cNvPicPr>
            <a:picLocks noChangeAspect="1"/>
          </p:cNvPicPr>
          <p:nvPr/>
        </p:nvPicPr>
        <p:blipFill>
          <a:blip r:embed="rId1"/>
          <a:stretch>
            <a:fillRect/>
          </a:stretch>
        </p:blipFill>
        <p:spPr>
          <a:xfrm>
            <a:off x="620337" y="1463040"/>
            <a:ext cx="10948278" cy="461772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la lista y vuelve a correr la celda. Prueba falla_electrica, evento_climatico y preventivo.</a:t>
            </a:r>
            <a:endParaRPr lang="en-US" sz="1400" dirty="0"/>
          </a:p>
        </p:txBody>
      </p:sp>
      <p:sp>
        <p:nvSpPr>
          <p:cNvPr id="7" name="Shape 4"/>
          <p:cNvSpPr/>
          <p:nvPr/>
        </p:nvSpPr>
        <p:spPr>
          <a:xfrm>
            <a:off x="548640" y="1481328"/>
            <a:ext cx="11091672" cy="3771900"/>
          </a:xfrm>
          <a:prstGeom prst="roundRect">
            <a:avLst>
              <a:gd name="adj" fmla="val 1455"/>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890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4</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evento = </a:t>
            </a:r>
            <a:pPr indent="0" marL="0">
              <a:buNone/>
            </a:pPr>
            <a:r>
              <a:rPr lang="en-US" sz="1300" dirty="0">
                <a:solidFill>
                  <a:srgbClr val="A31515"/>
                </a:solidFill>
                <a:latin typeface="Courier New" pitchFamily="34" charset="0"/>
                <a:ea typeface="Courier New" pitchFamily="34" charset="-122"/>
                <a:cs typeface="Courier New" pitchFamily="34" charset="-120"/>
              </a:rPr>
              <a:t>"falla_electrica"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Se ordena por central y fecha, y shift(-1) trae el evento de la fila siguiente.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ordenados = mant.sort_values([</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]).copy()</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ordenados[</a:t>
            </a:r>
            <a:pPr indent="0" marL="0">
              <a:buNone/>
            </a:pPr>
            <a:r>
              <a:rPr lang="en-US" sz="1300" dirty="0">
                <a:solidFill>
                  <a:srgbClr val="A31515"/>
                </a:solidFill>
                <a:latin typeface="Courier New" pitchFamily="34" charset="0"/>
                <a:ea typeface="Courier New" pitchFamily="34" charset="-122"/>
                <a:cs typeface="Courier New" pitchFamily="34" charset="-120"/>
              </a:rPr>
              <a:t>"siguiente"</a:t>
            </a:r>
            <a:pPr indent="0" marL="0">
              <a:buNone/>
            </a:pPr>
            <a:r>
              <a:rPr lang="en-US" sz="13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].shift(-1)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normalize="index" deja cada fila en proporciones que suman uno.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transicion = pd.crosstab(ordenados[</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ordenados[</a:t>
            </a:r>
            <a:pPr indent="0" marL="0">
              <a:buNone/>
            </a:pPr>
            <a:r>
              <a:rPr lang="en-US" sz="1300" dirty="0">
                <a:solidFill>
                  <a:srgbClr val="A31515"/>
                </a:solidFill>
                <a:latin typeface="Courier New" pitchFamily="34" charset="0"/>
                <a:ea typeface="Courier New" pitchFamily="34" charset="-122"/>
                <a:cs typeface="Courier New" pitchFamily="34" charset="-120"/>
              </a:rPr>
              <a:t>"siguiente"</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normalize=</a:t>
            </a:r>
            <a:pPr indent="0" marL="0">
              <a:buNone/>
            </a:pPr>
            <a:r>
              <a:rPr lang="en-US" sz="1300" dirty="0">
                <a:solidFill>
                  <a:srgbClr val="A31515"/>
                </a:solidFill>
                <a:latin typeface="Courier New" pitchFamily="34" charset="0"/>
                <a:ea typeface="Courier New" pitchFamily="34" charset="-122"/>
                <a:cs typeface="Courier New" pitchFamily="34" charset="-120"/>
              </a:rPr>
              <a:t>"index"</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"Después de {evento}, el evento siguiente en la misma central, en porcentaje"</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(100 * transicion.loc[evento]).round(1).sort_values(ascending=False)</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evento</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528980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42646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30 × 5</a:t>
            </a:r>
            <a:endParaRPr lang="en-US" sz="1200" dirty="0"/>
          </a:p>
        </p:txBody>
      </p:sp>
      <p:sp>
        <p:nvSpPr>
          <p:cNvPr id="19" name="Shape 16"/>
          <p:cNvSpPr/>
          <p:nvPr/>
        </p:nvSpPr>
        <p:spPr>
          <a:xfrm>
            <a:off x="2112264"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20370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juntos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43</a:t>
            </a:r>
            <a:endParaRPr lang="en-US" sz="1200" dirty="0"/>
          </a:p>
        </p:txBody>
      </p:sp>
      <p:sp>
        <p:nvSpPr>
          <p:cNvPr id="21" name="Shape 18"/>
          <p:cNvSpPr/>
          <p:nvPr/>
        </p:nvSpPr>
        <p:spPr>
          <a:xfrm>
            <a:off x="3392424" y="6062472"/>
            <a:ext cx="277063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483864"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[{'si': 'correctivo', 'en…</a:t>
            </a:r>
            <a:endParaRPr lang="en-US" sz="1200" dirty="0"/>
          </a:p>
        </p:txBody>
      </p:sp>
      <p:sp>
        <p:nvSpPr>
          <p:cNvPr id="23" name="Shape 20"/>
          <p:cNvSpPr/>
          <p:nvPr/>
        </p:nvSpPr>
        <p:spPr>
          <a:xfrm>
            <a:off x="6300216" y="6062472"/>
            <a:ext cx="1522476"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639165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5" name="Shape 22"/>
          <p:cNvSpPr/>
          <p:nvPr/>
        </p:nvSpPr>
        <p:spPr>
          <a:xfrm>
            <a:off x="7959852" y="6062472"/>
            <a:ext cx="1618488"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8051292"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7" name="Text 24"/>
          <p:cNvSpPr txBox="1"/>
          <p:nvPr/>
        </p:nvSpPr>
        <p:spPr>
          <a:xfrm>
            <a:off x="971550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23 más</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ordenados[</a:t>
            </a:r>
            <a:pPr indent="0" marL="0">
              <a:buNone/>
            </a:pPr>
            <a:r>
              <a:rPr lang="en-US" sz="1600" dirty="0">
                <a:solidFill>
                  <a:srgbClr val="A31515"/>
                </a:solidFill>
                <a:latin typeface="Courier New" pitchFamily="34" charset="0"/>
                <a:ea typeface="Courier New" pitchFamily="34" charset="-122"/>
                <a:cs typeface="Courier New" pitchFamily="34" charset="-120"/>
              </a:rPr>
              <a:t>"siguiente"</a:t>
            </a:r>
            <a:pPr indent="0" marL="0">
              <a:buNone/>
            </a:pPr>
            <a:r>
              <a:rPr lang="en-US" sz="16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a:t>
            </a:r>
            <a:pPr indent="0" marL="0">
              <a:buNone/>
            </a:pPr>
            <a:r>
              <a:rPr lang="en-US" sz="1600" dirty="0">
                <a:solidFill>
                  <a:srgbClr val="A31515"/>
                </a:solidFill>
                <a:latin typeface="Courier New" pitchFamily="34" charset="0"/>
                <a:ea typeface="Courier New" pitchFamily="34" charset="-122"/>
                <a:cs typeface="Courier New" pitchFamily="34" charset="-120"/>
              </a:rPr>
              <a:t>"tipo_evento"</a:t>
            </a:r>
            <a:pPr indent="0" marL="0">
              <a:buNone/>
            </a:pPr>
            <a:r>
              <a:rPr lang="en-US" sz="1600" dirty="0">
                <a:solidFill>
                  <a:srgbClr val="202124"/>
                </a:solidFill>
                <a:latin typeface="Courier New" pitchFamily="34" charset="0"/>
                <a:ea typeface="Courier New" pitchFamily="34" charset="-122"/>
                <a:cs typeface="Courier New" pitchFamily="34" charset="-120"/>
              </a:rPr>
              <a:t>].shift(-1)</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ordenados.groupby("central")</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Separa por central, para no mezclar una central con otra.</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["tipo_evento"]</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del tipo de evento.</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.shift(-1)</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Corre la columna una fila hacia arriba. Cada fila recibe el evento que viene después.</a:t>
            </a:r>
            <a:endParaRPr lang="en-US" sz="1600" dirty="0"/>
          </a:p>
        </p:txBody>
      </p:sp>
      <p:sp>
        <p:nvSpPr>
          <p:cNvPr id="23" name="Shape 21"/>
          <p:cNvSpPr/>
          <p:nvPr/>
        </p:nvSpPr>
        <p:spPr>
          <a:xfrm>
            <a:off x="548640" y="4405376"/>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053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04792"/>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3047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ordenados["siguiente"] =</a:t>
            </a:r>
            <a:endParaRPr lang="en-US" sz="1400" dirty="0"/>
          </a:p>
        </p:txBody>
      </p:sp>
      <p:sp>
        <p:nvSpPr>
          <p:cNvPr id="27" name="Text 25"/>
          <p:cNvSpPr txBox="1"/>
          <p:nvPr/>
        </p:nvSpPr>
        <p:spPr>
          <a:xfrm>
            <a:off x="6263640" y="43047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guarda en una columna nueva.</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al lado de cada evento, el evento que vino después en la misma central.</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pd.crosstab(ordenados[</a:t>
            </a:r>
            <a:pPr indent="0" marL="0">
              <a:buNone/>
            </a:pPr>
            <a:r>
              <a:rPr lang="en-US" sz="1600" dirty="0">
                <a:solidFill>
                  <a:srgbClr val="A31515"/>
                </a:solidFill>
                <a:latin typeface="Courier New" pitchFamily="34" charset="0"/>
                <a:ea typeface="Courier New" pitchFamily="34" charset="-122"/>
                <a:cs typeface="Courier New" pitchFamily="34" charset="-120"/>
              </a:rPr>
              <a:t>"tipo_evento"</a:t>
            </a:r>
            <a:pPr indent="0" marL="0">
              <a:buNone/>
            </a:pPr>
            <a:r>
              <a:rPr lang="en-US" sz="1600" dirty="0">
                <a:solidFill>
                  <a:srgbClr val="202124"/>
                </a:solidFill>
                <a:latin typeface="Courier New" pitchFamily="34" charset="0"/>
                <a:ea typeface="Courier New" pitchFamily="34" charset="-122"/>
                <a:cs typeface="Courier New" pitchFamily="34" charset="-120"/>
              </a:rPr>
              <a:t>], ordenados[</a:t>
            </a:r>
            <a:pPr indent="0" marL="0">
              <a:buNone/>
            </a:pPr>
            <a:r>
              <a:rPr lang="en-US" sz="1600" dirty="0">
                <a:solidFill>
                  <a:srgbClr val="A31515"/>
                </a:solidFill>
                <a:latin typeface="Courier New" pitchFamily="34" charset="0"/>
                <a:ea typeface="Courier New" pitchFamily="34" charset="-122"/>
                <a:cs typeface="Courier New" pitchFamily="34" charset="-120"/>
              </a:rPr>
              <a:t>"siguiente"</a:t>
            </a:r>
            <a:pPr indent="0" marL="0">
              <a:buNone/>
            </a:pPr>
            <a:r>
              <a:rPr lang="en-US" sz="1600" dirty="0">
                <a:solidFill>
                  <a:srgbClr val="202124"/>
                </a:solidFill>
                <a:latin typeface="Courier New" pitchFamily="34" charset="0"/>
                <a:ea typeface="Courier New" pitchFamily="34" charset="-122"/>
                <a:cs typeface="Courier New" pitchFamily="34" charset="-120"/>
              </a:rPr>
              <a:t>], normalize=</a:t>
            </a:r>
            <a:pPr indent="0" marL="0">
              <a:buNone/>
            </a:pPr>
            <a:r>
              <a:rPr lang="en-US" sz="1600" dirty="0">
                <a:solidFill>
                  <a:srgbClr val="A31515"/>
                </a:solidFill>
                <a:latin typeface="Courier New" pitchFamily="34" charset="0"/>
                <a:ea typeface="Courier New" pitchFamily="34" charset="-122"/>
                <a:cs typeface="Courier New" pitchFamily="34" charset="-120"/>
              </a:rPr>
              <a:t>"index"</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pd.crosstab( filas , columnas )</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Cuenta qué evento viene después de cuál.</a:t>
            </a:r>
            <a:endParaRPr lang="en-US" sz="1600" dirty="0"/>
          </a:p>
        </p:txBody>
      </p:sp>
      <p:sp>
        <p:nvSpPr>
          <p:cNvPr id="13" name="Shape 11"/>
          <p:cNvSpPr/>
          <p:nvPr/>
        </p:nvSpPr>
        <p:spPr>
          <a:xfrm>
            <a:off x="548640" y="2942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42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841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normalize="index"</a:t>
            </a:r>
            <a:endParaRPr lang="en-US" sz="1400" dirty="0"/>
          </a:p>
        </p:txBody>
      </p:sp>
      <p:sp>
        <p:nvSpPr>
          <p:cNvPr id="17" name="Text 15"/>
          <p:cNvSpPr txBox="1"/>
          <p:nvPr/>
        </p:nvSpPr>
        <p:spPr>
          <a:xfrm>
            <a:off x="6263640" y="2841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Convierte cada fila en proporciones que suman uno.</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de cada tipo de evento, qué proporción de las veces viene después cada otro tipo.</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la lista y vuelve a correr la celda. Prueba falla_electrica, evento_climatico y preventivo.</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Después de falla_electrica, el evento siguiente en la misma central, en porcentaje</a:t>
            </a:r>
            <a:endParaRPr lang="en-US" sz="1200" dirty="0"/>
          </a:p>
        </p:txBody>
      </p:sp>
      <p:sp>
        <p:nvSpPr>
          <p:cNvPr id="9" name="Shape 7"/>
          <p:cNvSpPr/>
          <p:nvPr/>
        </p:nvSpPr>
        <p:spPr>
          <a:xfrm>
            <a:off x="1325880" y="2304288"/>
            <a:ext cx="10314432" cy="1792224"/>
          </a:xfrm>
          <a:prstGeom prst="rect">
            <a:avLst/>
          </a:prstGeom>
          <a:solidFill>
            <a:srgbClr val="FFFFFF"/>
          </a:solidFill>
          <a:ln w="12700">
            <a:solidFill>
              <a:srgbClr val="DADCE0"/>
            </a:solidFill>
            <a:prstDash val="solid"/>
          </a:ln>
        </p:spPr>
      </p:sp>
      <p:sp>
        <p:nvSpPr>
          <p:cNvPr id="10" name="Text 8"/>
          <p:cNvSpPr txBox="1"/>
          <p:nvPr/>
        </p:nvSpPr>
        <p:spPr>
          <a:xfrm>
            <a:off x="1463040" y="2377440"/>
            <a:ext cx="10085832" cy="166420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siguiente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78.7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10.6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6.4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4.3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0.0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0.0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falla_electrica, dtype: float64</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7" name="Shape 14"/>
          <p:cNvSpPr/>
          <p:nvPr/>
        </p:nvSpPr>
        <p:spPr>
          <a:xfrm>
            <a:off x="3488436" y="6062472"/>
            <a:ext cx="1906524"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3579876"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9" name="Shape 16"/>
          <p:cNvSpPr/>
          <p:nvPr/>
        </p:nvSpPr>
        <p:spPr>
          <a:xfrm>
            <a:off x="5532120" y="6062472"/>
            <a:ext cx="1522476"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562356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21" name="Shape 18"/>
          <p:cNvSpPr/>
          <p:nvPr/>
        </p:nvSpPr>
        <p:spPr>
          <a:xfrm>
            <a:off x="7191756" y="6062472"/>
            <a:ext cx="1330452" cy="566928"/>
          </a:xfrm>
          <a:prstGeom prst="roundRect">
            <a:avLst>
              <a:gd name="adj" fmla="val 11290"/>
            </a:avLst>
          </a:prstGeom>
          <a:solidFill>
            <a:srgbClr val="FEF3D6"/>
          </a:solidFill>
          <a:ln w="25400">
            <a:solidFill>
              <a:srgbClr val="F9AB00"/>
            </a:solidFill>
            <a:prstDash val="solid"/>
          </a:ln>
        </p:spPr>
      </p:sp>
      <p:sp>
        <p:nvSpPr>
          <p:cNvPr id="22" name="Text 19"/>
          <p:cNvSpPr txBox="1"/>
          <p:nvPr/>
        </p:nvSpPr>
        <p:spPr>
          <a:xfrm>
            <a:off x="728319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transicion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6</a:t>
            </a:r>
            <a:endParaRPr lang="en-US" sz="1200" dirty="0"/>
          </a:p>
        </p:txBody>
      </p:sp>
      <p:sp>
        <p:nvSpPr>
          <p:cNvPr id="23" name="Shape 20"/>
          <p:cNvSpPr/>
          <p:nvPr/>
        </p:nvSpPr>
        <p:spPr>
          <a:xfrm>
            <a:off x="8659368" y="6062472"/>
            <a:ext cx="1426464"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8750808"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30 × 5</a:t>
            </a:r>
            <a:endParaRPr lang="en-US" sz="1200" dirty="0"/>
          </a:p>
        </p:txBody>
      </p:sp>
      <p:sp>
        <p:nvSpPr>
          <p:cNvPr id="25" name="Text 22"/>
          <p:cNvSpPr txBox="1"/>
          <p:nvPr/>
        </p:nvSpPr>
        <p:spPr>
          <a:xfrm>
            <a:off x="102229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25 más</a:t>
            </a:r>
            <a:endParaRPr lang="en-US" sz="1200" dirty="0"/>
          </a:p>
        </p:txBody>
      </p:sp>
      <p:sp>
        <p:nvSpPr>
          <p:cNvPr id="26" name="Text 23"/>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Después de una falla eléctrica viene un correctivo en el 78,7 por ciento de los casos.</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la lista y se vuelve a correr la celda.</a:t>
            </a:r>
            <a:endParaRPr lang="en-US" sz="1400" dirty="0"/>
          </a:p>
        </p:txBody>
      </p:sp>
      <p:sp>
        <p:nvSpPr>
          <p:cNvPr id="7" name="Shape 4"/>
          <p:cNvSpPr/>
          <p:nvPr/>
        </p:nvSpPr>
        <p:spPr>
          <a:xfrm>
            <a:off x="548640" y="1481328"/>
            <a:ext cx="11091672" cy="3771900"/>
          </a:xfrm>
          <a:prstGeom prst="roundRect">
            <a:avLst>
              <a:gd name="adj" fmla="val 1455"/>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890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4</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evento = </a:t>
            </a:r>
            <a:pPr indent="0" marL="0">
              <a:buNone/>
            </a:pPr>
            <a:r>
              <a:rPr lang="en-US" sz="13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 "falla_mecanica", "falla_electrica", "evento_climatico"]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Se ordena por central y fecha, y shift(-1) trae el evento de la fila siguiente.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ordenados = mant.sort_values([</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]).copy()</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ordenados[</a:t>
            </a:r>
            <a:pPr indent="0" marL="0">
              <a:buNone/>
            </a:pPr>
            <a:r>
              <a:rPr lang="en-US" sz="1300" dirty="0">
                <a:solidFill>
                  <a:srgbClr val="A31515"/>
                </a:solidFill>
                <a:latin typeface="Courier New" pitchFamily="34" charset="0"/>
                <a:ea typeface="Courier New" pitchFamily="34" charset="-122"/>
                <a:cs typeface="Courier New" pitchFamily="34" charset="-120"/>
              </a:rPr>
              <a:t>"siguiente"</a:t>
            </a:r>
            <a:pPr indent="0" marL="0">
              <a:buNone/>
            </a:pPr>
            <a:r>
              <a:rPr lang="en-US" sz="13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].shift(-1)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normalize="index" deja cada fila en proporciones que suman uno.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transicion = pd.crosstab(ordenados[</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ordenados[</a:t>
            </a:r>
            <a:pPr indent="0" marL="0">
              <a:buNone/>
            </a:pPr>
            <a:r>
              <a:rPr lang="en-US" sz="1300" dirty="0">
                <a:solidFill>
                  <a:srgbClr val="A31515"/>
                </a:solidFill>
                <a:latin typeface="Courier New" pitchFamily="34" charset="0"/>
                <a:ea typeface="Courier New" pitchFamily="34" charset="-122"/>
                <a:cs typeface="Courier New" pitchFamily="34" charset="-120"/>
              </a:rPr>
              <a:t>"siguiente"</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normalize=</a:t>
            </a:r>
            <a:pPr indent="0" marL="0">
              <a:buNone/>
            </a:pPr>
            <a:r>
              <a:rPr lang="en-US" sz="1300" dirty="0">
                <a:solidFill>
                  <a:srgbClr val="A31515"/>
                </a:solidFill>
                <a:latin typeface="Courier New" pitchFamily="34" charset="0"/>
                <a:ea typeface="Courier New" pitchFamily="34" charset="-122"/>
                <a:cs typeface="Courier New" pitchFamily="34" charset="-120"/>
              </a:rPr>
              <a:t>"index"</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"Después de {evento}, el evento siguiente en la misma central, en porcentaje"</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(100 * transicion.loc[evento]).round(1).sort_values(ascending=False)</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evento</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528980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transicion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6</a:t>
            </a:r>
            <a:endParaRPr lang="en-US" sz="1200" dirty="0"/>
          </a:p>
        </p:txBody>
      </p:sp>
      <p:sp>
        <p:nvSpPr>
          <p:cNvPr id="19" name="Shape 16"/>
          <p:cNvSpPr/>
          <p:nvPr/>
        </p:nvSpPr>
        <p:spPr>
          <a:xfrm>
            <a:off x="2016252" y="6062472"/>
            <a:ext cx="1522476"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10769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21" name="Shape 18"/>
          <p:cNvSpPr/>
          <p:nvPr/>
        </p:nvSpPr>
        <p:spPr>
          <a:xfrm>
            <a:off x="3675888" y="6062472"/>
            <a:ext cx="190652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76732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3" name="Shape 20"/>
          <p:cNvSpPr/>
          <p:nvPr/>
        </p:nvSpPr>
        <p:spPr>
          <a:xfrm>
            <a:off x="5719572" y="6062472"/>
            <a:ext cx="1426464"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81101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30 × 5</a:t>
            </a:r>
            <a:endParaRPr lang="en-US" sz="1200" dirty="0"/>
          </a:p>
        </p:txBody>
      </p:sp>
      <p:sp>
        <p:nvSpPr>
          <p:cNvPr id="25" name="Shape 22"/>
          <p:cNvSpPr/>
          <p:nvPr/>
        </p:nvSpPr>
        <p:spPr>
          <a:xfrm>
            <a:off x="7283196" y="6062472"/>
            <a:ext cx="1143000"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3746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juntos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43</a:t>
            </a:r>
            <a:endParaRPr lang="en-US" sz="1200" dirty="0"/>
          </a:p>
        </p:txBody>
      </p:sp>
      <p:sp>
        <p:nvSpPr>
          <p:cNvPr id="27" name="Text 24"/>
          <p:cNvSpPr txBox="1"/>
          <p:nvPr/>
        </p:nvSpPr>
        <p:spPr>
          <a:xfrm>
            <a:off x="856335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26 más</a:t>
            </a:r>
            <a:endParaRPr lang="en-US" sz="1200" dirty="0"/>
          </a:p>
        </p:txBody>
      </p:sp>
      <p:sp>
        <p:nvSpPr>
          <p:cNvPr id="28" name="Text 2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la lista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Después de evento_climatico, el evento siguiente en la misma central, en porcentaje</a:t>
            </a:r>
            <a:endParaRPr lang="en-US" sz="1200" dirty="0"/>
          </a:p>
        </p:txBody>
      </p:sp>
      <p:sp>
        <p:nvSpPr>
          <p:cNvPr id="9" name="Shape 7"/>
          <p:cNvSpPr/>
          <p:nvPr/>
        </p:nvSpPr>
        <p:spPr>
          <a:xfrm>
            <a:off x="1325880" y="2304288"/>
            <a:ext cx="10314432" cy="1792224"/>
          </a:xfrm>
          <a:prstGeom prst="rect">
            <a:avLst/>
          </a:prstGeom>
          <a:solidFill>
            <a:srgbClr val="FFFFFF"/>
          </a:solidFill>
          <a:ln w="12700">
            <a:solidFill>
              <a:srgbClr val="DADCE0"/>
            </a:solidFill>
            <a:prstDash val="solid"/>
          </a:ln>
        </p:spPr>
      </p:sp>
      <p:sp>
        <p:nvSpPr>
          <p:cNvPr id="10" name="Text 8"/>
          <p:cNvSpPr txBox="1"/>
          <p:nvPr/>
        </p:nvSpPr>
        <p:spPr>
          <a:xfrm>
            <a:off x="1463040" y="2377440"/>
            <a:ext cx="10085832" cy="166420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siguiente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60.3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17.9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7.7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2.6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2.6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evento_climatico, dtype: float64</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7" name="Shape 14"/>
          <p:cNvSpPr/>
          <p:nvPr/>
        </p:nvSpPr>
        <p:spPr>
          <a:xfrm>
            <a:off x="3488436" y="6062472"/>
            <a:ext cx="2002536"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357987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19" name="Shape 16"/>
          <p:cNvSpPr/>
          <p:nvPr/>
        </p:nvSpPr>
        <p:spPr>
          <a:xfrm>
            <a:off x="5628132" y="6062472"/>
            <a:ext cx="1522476"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571957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21" name="Shape 18"/>
          <p:cNvSpPr/>
          <p:nvPr/>
        </p:nvSpPr>
        <p:spPr>
          <a:xfrm>
            <a:off x="7287768" y="6062472"/>
            <a:ext cx="1330452" cy="566928"/>
          </a:xfrm>
          <a:prstGeom prst="roundRect">
            <a:avLst>
              <a:gd name="adj" fmla="val 11290"/>
            </a:avLst>
          </a:prstGeom>
          <a:solidFill>
            <a:srgbClr val="E8F0FE"/>
          </a:solidFill>
          <a:ln w="28575">
            <a:solidFill>
              <a:srgbClr val="1A73E8"/>
            </a:solidFill>
            <a:prstDash val="solid"/>
          </a:ln>
        </p:spPr>
      </p:sp>
      <p:sp>
        <p:nvSpPr>
          <p:cNvPr id="22" name="Text 19"/>
          <p:cNvSpPr txBox="1"/>
          <p:nvPr/>
        </p:nvSpPr>
        <p:spPr>
          <a:xfrm>
            <a:off x="737920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transicion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6</a:t>
            </a:r>
            <a:endParaRPr lang="en-US" sz="1200" dirty="0"/>
          </a:p>
        </p:txBody>
      </p:sp>
      <p:sp>
        <p:nvSpPr>
          <p:cNvPr id="23" name="Shape 20"/>
          <p:cNvSpPr/>
          <p:nvPr/>
        </p:nvSpPr>
        <p:spPr>
          <a:xfrm>
            <a:off x="8755380" y="6062472"/>
            <a:ext cx="1426464"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884682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30 × 5</a:t>
            </a:r>
            <a:endParaRPr lang="en-US" sz="1200" dirty="0"/>
          </a:p>
        </p:txBody>
      </p:sp>
      <p:sp>
        <p:nvSpPr>
          <p:cNvPr id="25" name="Text 22"/>
          <p:cNvSpPr txBox="1"/>
          <p:nvPr/>
        </p:nvSpPr>
        <p:spPr>
          <a:xfrm>
            <a:off x="103190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25 más</a:t>
            </a:r>
            <a:endParaRPr lang="en-US" sz="1200" dirty="0"/>
          </a:p>
        </p:txBody>
      </p:sp>
      <p:sp>
        <p:nvSpPr>
          <p:cNvPr id="26" name="Text 23"/>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Después de un evento climático viene una falla mecánica en el 60,3 por ciento.</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El orden en el tiempo muestra qué suele venir después.</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Que un evento venga después de otro no prueba que lo cause.</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5" name="Shape 12"/>
          <p:cNvSpPr/>
          <p:nvPr/>
        </p:nvSpPr>
        <p:spPr>
          <a:xfrm>
            <a:off x="3488436" y="6062472"/>
            <a:ext cx="2002536"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57987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17" name="Shape 14"/>
          <p:cNvSpPr/>
          <p:nvPr/>
        </p:nvSpPr>
        <p:spPr>
          <a:xfrm>
            <a:off x="5628132" y="6062472"/>
            <a:ext cx="1522476"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71957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19" name="Shape 16"/>
          <p:cNvSpPr/>
          <p:nvPr/>
        </p:nvSpPr>
        <p:spPr>
          <a:xfrm>
            <a:off x="7287768" y="6062472"/>
            <a:ext cx="1330452"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737920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transicion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6</a:t>
            </a:r>
            <a:endParaRPr lang="en-US" sz="1200" dirty="0"/>
          </a:p>
        </p:txBody>
      </p:sp>
      <p:sp>
        <p:nvSpPr>
          <p:cNvPr id="21" name="Shape 18"/>
          <p:cNvSpPr/>
          <p:nvPr/>
        </p:nvSpPr>
        <p:spPr>
          <a:xfrm>
            <a:off x="8755380" y="6062472"/>
            <a:ext cx="142646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884682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30 × 5</a:t>
            </a:r>
            <a:endParaRPr lang="en-US" sz="1200" dirty="0"/>
          </a:p>
        </p:txBody>
      </p:sp>
      <p:sp>
        <p:nvSpPr>
          <p:cNvPr id="23" name="Text 20"/>
          <p:cNvSpPr txBox="1"/>
          <p:nvPr/>
        </p:nvSpPr>
        <p:spPr>
          <a:xfrm>
            <a:off x="103190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25 más</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3D62"/>
        </a:solidFill>
      </p:bgPr>
    </p:bg>
    <p:spTree>
      <p:nvGrpSpPr>
        <p:cNvPr id="1" name=""/>
        <p:cNvGrpSpPr/>
        <p:nvPr/>
      </p:nvGrpSpPr>
      <p:grpSpPr>
        <a:xfrm>
          <a:off x="0" y="0"/>
          <a:ext cx="0" cy="0"/>
          <a:chOff x="0" y="0"/>
          <a:chExt cx="0" cy="0"/>
        </a:xfrm>
      </p:grpSpPr>
      <p:sp>
        <p:nvSpPr>
          <p:cNvPr id="3" name="Text 0"/>
          <p:cNvSpPr txBox="1"/>
          <p:nvPr/>
        </p:nvSpPr>
        <p:spPr>
          <a:xfrm>
            <a:off x="731520" y="164592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Ahora en Colab</a:t>
            </a:r>
            <a:endParaRPr lang="en-US" sz="4000" dirty="0"/>
          </a:p>
        </p:txBody>
      </p:sp>
      <p:sp>
        <p:nvSpPr>
          <p:cNvPr id="4" name="Text 1"/>
          <p:cNvSpPr txBox="1"/>
          <p:nvPr/>
        </p:nvSpPr>
        <p:spPr>
          <a:xfrm>
            <a:off x="731520" y="2560320"/>
            <a:ext cx="1069848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Ahora abran el Lab 04 guiado y hagan los 5 pasos de la Parte 1. La Parte 2 queda para la casa, con la guía y estas láminas.</a:t>
            </a:r>
            <a:endParaRPr lang="en-US" sz="2000" dirty="0"/>
          </a:p>
        </p:txBody>
      </p:sp>
      <p:sp>
        <p:nvSpPr>
          <p:cNvPr id="5" name="Text 2"/>
          <p:cNvSpPr txBox="1"/>
          <p:nvPr/>
        </p:nvSpPr>
        <p:spPr>
          <a:xfrm>
            <a:off x="731520" y="3611880"/>
            <a:ext cx="10698480" cy="457200"/>
          </a:xfrm>
          <a:prstGeom prst="rect">
            <a:avLst/>
          </a:prstGeom>
          <a:noFill/>
          <a:ln/>
        </p:spPr>
        <p:txBody>
          <a:bodyPr wrap="square" lIns="0" tIns="0" rIns="0" bIns="0" rtlCol="0" anchor="ctr"/>
          <a:lstStyle/>
          <a:p>
            <a:pPr indent="0" marL="0">
              <a:buNone/>
            </a:pPr>
            <a:r>
              <a:rPr lang="en-US" sz="1800" dirty="0">
                <a:solidFill>
                  <a:srgbClr val="F9AB00"/>
                </a:solidFill>
                <a:latin typeface="Calibri" pitchFamily="34" charset="0"/>
                <a:ea typeface="Calibri" pitchFamily="34" charset="-122"/>
                <a:cs typeface="Calibri" pitchFamily="34" charset="-120"/>
              </a:rPr>
              <a:t>Si algo no calza, escriban en el chat el número del paso.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04 guiado · Minería de datos</dc:title>
  <dc:subject>PptxGenJS Presentation</dc:subject>
  <dc:creator>PptxGenJS</dc:creator>
  <cp:lastModifiedBy>PptxGenJS</cp:lastModifiedBy>
  <cp:revision>1</cp:revision>
  <dcterms:created xsi:type="dcterms:W3CDTF">2026-10-12T23:10:44Z</dcterms:created>
  <dcterms:modified xsi:type="dcterms:W3CDTF">2026-10-12T23:10:44Z</dcterms:modified>
</cp:coreProperties>
</file>