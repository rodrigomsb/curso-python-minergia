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TIEMPOS SUGERIDOS
Esta presentación 30 min y el Lab 04 guiado en Colab 45 min.
ESTA LÁMINA
Presentar las tres preguntas del lab. Cómo se convierte una bitácora en canastas que se pueden comparar, cómo se mide si dos eventos aparecen juntos más de lo normal, y qué evento suele venir después de otro y en cuántos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esta lámina al comienzo. Hoy se ven solo estos 5 pasos, que son la Parte 1 del cuaderno. La Parte 2 está al final del mismo cuaderno y queda para la casa, con la guía en PDF. Sus láminas empiezan en la 43, al terminar el Paso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El año de la Termoeléctrica Bahía Norte. Cada punto es un evento, una fila de la bitácora, con un color por tipo.
DECIR
La bitácora es como la llena el turno, un evento por fila, en el orden en que pasan. Así todavía no se puede comparar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DATOS e import pandas as pd
Lo mismo de los labs anteriores.
mant = pd.read_csv(DATOS + "mantenimiento.csv", parse_dates=["fecha"])
Lee la bitácora de mantenimiento del año, con la fecha como fecha.
Los print
Cuentan los eventos con len y las centrales distintas con nunique, como en el Lab 03.
mant.head()
Las primeras cinco filas.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print( ... )
Muestra en pantalla lo que va dentro. Si van varias cosas separadas por coma, las muestra en una línea con un espacio entre ellas.
len( ... )
Cuenta cuántos elementos tiene una lista o cuántas filas tiene una tabla.
tabla["columna"]
Corchetes con un nombre entre comillas eligen una columna de la tabla. También eligen una llave de un diccionario.
.nunique()
Cuántos valores distintos hay.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nunique cuenta los valores distintos de una columna. Es la misma herramienta del Paso 3 del Lab 03, donde contaba las formas de escribir las regiones.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print( ... )
Muestra en pantalla lo que va dentro. Si van varias cosas separadas por coma, las muestra en una línea con un espacio entre ellas.
len( ... )
Cuenta cuántos elementos tiene una lista o cuántas filas tiene una tabla.
tabla["columna"]
Corchetes con un nombre entre comillas eligen una columna de la tabla. También eligen una llave de un diccionario.
.nunique()
Cuántos valores distintos hay.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600 eventos y 20 centrales, todas las del curso. Cada fila tiene la central, la fecha, el tipo de evento, cuántas horas duró y una observación escrita por el turno. En Colab la observación aparece cortada con tres puntos, porque es larga.
MEMORIA
DATOS, pd y mant son nuevos.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print( ... )
Muestra en pantalla lo que va dentro. Si van varias cosas separadas por coma, las muestra en una línea con un espacio entre ellas.
len( ... )
Cuenta cuántos elementos tiene una lista o cuántas filas tiene una tabla.
tabla["columna"]
Corchetes con un nombre entre comillas eligen una columna de la tabla. También eligen una llave de un diccionario.
.nunique()
Cuántos valores distintos hay.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Esta es la materia prima del lab. Cada fila es un evento suelto. En el Paso 2 se agrupan por central y mes para poder compararlos.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cinco eventos de Costa Brava, de enero a marzo. A la derecha las mismas tres canastas, una por mes, con un número por tipo de evento.
DECIR
Una canasta es como una boleta de supermercado. Junta todo lo que se compró en una visita. Aquí junta todo lo que le pasó a una central en un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mant["mes"] = mant["fecha"].dt.month
Una columna nueva con el mes de cada evento, del 1 al 12. .dt abre las herramientas de fecha, como en el Lab 02.
conteo = mant.pivot_table(index=["central", "mes"], columns="tipo_evento", aggfunc="size", fill_value=0)
La misma tabla dinámica del Lab 02. En las filas cada central en cada mes, en las columnas cada tipo de evento, y en cada casilla cuántos eventos cayeron ahí. aggfunc="size" cuenta filas y fill_value=0 pone cero donde no hubo eventos.
print("Canastas", len(conteo))
Cuenta las filas de la tabla, una por canasta.
conteo.head(6)
Las primeras seis canastas.
SINTAXIS DE TODO EL CÓDIGO DE ESTA CELDA
# comentario
Todo lo que va después del signo # es un comentario. Python no lo ejecuta, sirve para explicar el código a quien lo lee.
tabla["nueva"] = ...
Guarda el resultado como una columna. Si no existía, la crea.
tabla["columna"]
Corchetes con un nombre entre comillas eligen una columna de la tabla. También eligen una llave de un diccionario.
"texto"
Lo que va entre comillas es texto. Sin comillas, Python lo entiende como un nombre o un número.
.dt.
Abre las herramientas de fecha de la columna.
.dt.month
El número del mes, de 1 a 12.
aggfunc=
Cómo se calcula, por ejemplo sum o mean.
aggfunc="size"
En pivot_table, cuenta cuántas filas cayeron en cada casilla. No necesita values.
nombre = valor
Un solo signo igual guarda. A la izquierda va el nombre y a la derecha lo que se guarda. Si el nombre ya existía, su valor anterior se reemplaza.
.pivot_table( ... )
Tabla de doble entrada, como una tabla dinámica.
index=
Lo que va en las filas.
index=[ ... ]
Con una lista en index, cada fila de la tabla es una combinación de esos valores, por ejemplo una central en un mes.
["a", "b"]
Una lista de textos. Dentro de una instrucción de pandas suele indicar varias columnas a la vez.
columns=
Lo que va en las columnas.
( ... ) en varias líneas
Mientras un paréntesis siga abierto, la instrucción continúa en la línea de abajo. La sangría de esas líneas es solo para que se lea mejor.
fill_value=
Qué poner donde la combinación no existe.
print( ... )
Muestra en pantalla lo que va dentro. Si van varias cosas separadas por coma, las muestra en una línea con un espacio entre ellas.
len( ... )
Cuenta cuántos elementos tiene una lista o cuántas filas tiene una tabla.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 02 la tabla dinámica sumaba MWh. Aquí cuenta eventos.
SINTAXIS DE TODO EL CÓDIGO DE ESTA CELDA
# comentario
Todo lo que va después del signo # es un comentario. Python no lo ejecuta, sirve para explicar el código a quien lo lee.
tabla["nueva"] = ...
Guarda el resultado como una columna. Si no existía, la crea.
tabla["columna"]
Corchetes con un nombre entre comillas eligen una columna de la tabla. También eligen una llave de un diccionario.
"texto"
Lo que va entre comillas es texto. Sin comillas, Python lo entiende como un nombre o un número.
.dt.
Abre las herramientas de fecha de la columna.
.dt.month
El número del mes, de 1 a 12.
aggfunc=
Cómo se calcula, por ejemplo sum o mean.
aggfunc="size"
En pivot_table, cuenta cuántas filas cayeron en cada casilla. No necesita values.
nombre = valor
Un solo signo igual guarda. A la izquierda va el nombre y a la derecha lo que se guarda. Si el nombre ya existía, su valor anterior se reemplaza.
.pivot_table( ... )
Tabla de doble entrada, como una tabla dinámica.
index=
Lo que va en las filas.
index=[ ... ]
Con una lista en index, cada fila de la tabla es una combinación de esos valores, por ejemplo una central en un mes.
["a", "b"]
Una lista de textos. Dentro de una instrucción de pandas suele indicar varias columnas a la vez.
columns=
Lo que va en las columnas.
( ... ) en varias líneas
Mientras un paréntesis siga abierto, la instrucción continúa en la línea de abajo. La sangría de esas líneas es solo para que se lea mejor.
fill_value=
Qué poner donde la combinación no existe.
print( ... )
Muestra en pantalla lo que va dentro. Si van varias cosas separadas por coma, las muestra en una línea con un espacio entre ellas.
len( ... )
Cuenta cuántos elementos tiene una lista o cuántas filas tiene una tabla.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215 canastas. No son 240, 20 centrales por 12 meses, porque hay meses en que una central no tuvo ningún evento, y esos no aparecen. La tabla muestra las primeras seis canastas, todas de Costa Brava.
MEMORIA
mant cambió porque ahora tiene la columna mes. conteo es nueva.
SINTAXIS DE TODO EL CÓDIGO DE ESTA CELDA
# comentario
Todo lo que va después del signo # es un comentario. Python no lo ejecuta, sirve para explicar el código a quien lo lee.
tabla["nueva"] = ...
Guarda el resultado como una columna. Si no existía, la crea.
tabla["columna"]
Corchetes con un nombre entre comillas eligen una columna de la tabla. También eligen una llave de un diccionario.
"texto"
Lo que va entre comillas es texto. Sin comillas, Python lo entiende como un nombre o un número.
.dt.
Abre las herramientas de fecha de la columna.
.dt.month
El número del mes, de 1 a 12.
aggfunc=
Cómo se calcula, por ejemplo sum o mean.
aggfunc="size"
En pivot_table, cuenta cuántas filas cayeron en cada casilla. No necesita values.
nombre = valor
Un solo signo igual guarda. A la izquierda va el nombre y a la derecha lo que se guarda. Si el nombre ya existía, su valor anterior se reemplaza.
.pivot_table( ... )
Tabla de doble entrada, como una tabla dinámica.
index=
Lo que va en las filas.
index=[ ... ]
Con una lista en index, cada fila de la tabla es una combinación de esos valores, por ejemplo una central en un mes.
["a", "b"]
Una lista de textos. Dentro de una instrucción de pandas suele indicar varias columnas a la vez.
columns=
Lo que va en las columnas.
( ... ) en varias líneas
Mientras un paréntesis siga abierto, la instrucción continúa en la línea de abajo. La sangría de esas líneas es solo para que se lea mejor.
fill_value=
Qué poner donde la combinación no existe.
print( ... )
Muestra en pantalla lo que va dentro. Si van varias cosas separadas por coma, las muestra en una línea con un espacio entre ellas.
len( ... )
Cuenta cuántos elementos tiene una lista o cuántas filas tiene una tabla.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 la misma pivot_table del Lab 02. La diferencia es que aquí no suma una columna, cuenta filas con aggfunc="size". Cada casilla dice cuántas veces pasó ese evento en esa central y ese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los conteos de Costa Brava de enero a agosto. A la derecha la misma tabla después de preguntar si cada casilla es mayor que cero. En julio hubo dos correctivos, y pasa a True igual que si hubiera uno.
DECIR
Desde aquí importa si pasó, no cuántas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 columna preventivo de seis canastas. Cada True cuenta como 1 y cada False como 0. Hay tres True en seis, el promedio es 0,5, el 50 por ciento.
DECIR
Es el mismo truco del Lab 03, donde duplicated().sum() contaba las filas repetidas. Sumar cuenta los True y promediar da la proporción.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tabla = conteo &gt; 0
Pregunta a cada casilla si es mayor que cero. La respuesta es una tabla del mismo tamaño con True y False.
print((100 * tabla.mean()).round(1).sort_values(ascending=False))
mean saca el promedio de cada columna, que es la proporción de True. Por 100 queda en porcentaje, round(1) deja un decimal y sort_values ordena de mayor a menor.
tabla.head(6)
Las primeras seis canastas, ahora con True y False.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&lt; &gt; &lt;= &gt;=
Menor, mayor, menor o igual, mayor o igual. Dan True o False. Con una columna, comparan fila por fila.
True y False
Verdadero y falso. Al sumarlos, True vale 1 y False vale 0, por eso sumar una columna de True y False cuenta los verdaderos.
print( ... )
Muestra en pantalla lo que va dentro. Si van varias cosas separadas por coma, las muestra en una línea con un espacio entre ellas.
"texto"
Lo que va entre comillas es texto. Sin comillas, Python lo entiende como un nombre o un número.
100 * ...
Multiplicar una proporción por 100 la deja en porcentaje.
*
Multiplica.
.mean()
El promedio. En una columna de True y False, la proporción de True.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Se lee de adentro hacia afuera. Primero el promedio de cada columna, después por 100, después round y al final sort_values, de mayor a menor.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&lt; &gt; &lt;= &gt;=
Menor, mayor, menor o igual, mayor o igual. Dan True o False. Con una columna, comparan fila por fila.
True y False
Verdadero y falso. Al sumarlos, True vale 1 y False vale 0, por eso sumar una columna de True y False cuenta los verdaderos.
print( ... )
Muestra en pantalla lo que va dentro. Si van varias cosas separadas por coma, las muestra en una línea con un espacio entre ellas.
"texto"
Lo que va entre comillas es texto. Sin comillas, Python lo entiende como un nombre o un número.
100 * ...
Multiplicar una proporción por 100 la deja en porcentaje.
*
Multiplica.
.mean()
El promedio. En una columna de True y False, la proporción de True.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Preventivo 56,3, correctivo 40,0, inspección 39,5, falla mecánica 36,3, evento climático 25,6 y falla eléctrica 19,5. Son porcentajes de canastas, no de eventos.
DECIR
Este porcentaje es lo normal de cada evento. En el Paso 4 se compara contra él.
MEMORIA
tabla es nueva. conteo sigue igual.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&lt; &gt; &lt;= &gt;=
Menor, mayor, menor o igual, mayor o igual. Dan True o False. Con una columna, comparan fila por fila.
True y False
Verdadero y falso. Al sumarlos, True vale 1 y False vale 0, por eso sumar una columna de True y False cuenta los verdaderos.
print( ... )
Muestra en pantalla lo que va dentro. Si van varias cosas separadas por coma, las muestra en una línea con un espacio entre ellas.
"texto"
Lo que va entre comillas es texto. Sin comillas, Python lo entiende como un nombre o un número.
100 * ...
Multiplicar una proporción por 100 la deja en porcentaje.
*
Multiplica.
.mean()
El promedio. En una columna de True y False, la proporción de True.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True vale 1 y False vale 0. Por eso el promedio de la columna es la proporción de canastas donde pasó el evento. Ese porcentaje es lo normal de cada evento, y el Paso 4 compara contra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Arriba, el correctivo aparece en el 40 por ciento de todas las canastas, eso es lo normal. En las canastas con falla eléctrica aparece en el 83,3 por ciento, eso es la confianza. 83,3 dividido por 40 da 2,08, el lift. Abajo lo mismo con preventivo, y el lift da 0,93.
DECIR
La confianza sola engaña. Hay que compararla con lo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si y entonces
Dos listas para elegir los eventos de la regla. Se lee si pasa este, ¿pasa también este otro?
con_si = tabla[tabla[si] == True]
Un filtro como los del Lab 02. Deja solo las canastas donde pasó el evento si.
confianza = 100 * con_si[entonces].mean()
De esas canastas, en qué porcentaje pasó también entonces. Es el mismo promedio del Paso 3, ahora solo en las canastas con si.
normal = 100 * tabla[entonces].mean()
En qué porcentaje de todas las canastas pasa entonces. Es el número del Paso 3.
lift = confianza / normal
Cuántas veces más de lo normal. Sobre 1 van juntos, cerca de 1 no hay relación.
Los print
Muestran las canastas con si, la confianza, lo normal y el lift.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la columna ya es de True y False, también se puede escribir tabla[tabla[si]]. Con == True se lee igual que los filtros del Lab 02.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lift de 2 es el doble de lo normal. Un lift de 1 es lo mismo de siempre, la regla no dice nada.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42 canastas tienen falla eléctrica. En el 83,3 por ciento de ellas hubo también correctivo. En todas las canastas el correctivo aparece en el 40 por ciento. 83,3 dividido por 40 da 2,08.
DECIR
Cuando hay falla eléctrica, el correctivo aparece el doble de lo normal. Eso sí es una regla.
SI ELIGEN EL MISMO EVENTO EN LAS DOS LISTAS
La confianza da 100 por ciento y el lift sale alto, porque un evento siempre está en las canastas donde está él mismo. No es una regla, es el mismo evento mirado dos veces.
MEMORIA
si, entonces, con_si, confianza, normal y lift son nuevos.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
Dejar que voten antes de correr la celda.
RESPUESTA
Igual que siempre. 52,4 queda incluso un poco bajo el 56,3 normal, pero con un lift de 0,93, tan cerca de 1, la regla no dice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preventivo en entonces. si sigue siendo falla_electrica.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Las mismas 42 canastas. El preventivo está en el 52,4 por ciento de ellas y en el 56,3 por ciento de todas. El lift es 0,93, casi 1.
DECIR
Una confianza de 52 por ciento parece una regla, pero el preventivo está en todas partes. No aparece más de lo normal.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cambiaron los dos eventos de la regla.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55 canastas con evento climático. La falla mecánica aparece en el 69,1 por ciento de ellas y en el 36,3 de todas. El lift es 1,9.
DECIR
Es otro patrón que se plantó al crear los datos. El de falla eléctrica con correctivo se mide en el Paso 5. Ojo, que dos eventos vayan juntos no prueba que uno cause el otro.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100 * ...
Multiplicar una proporción por 100 la deja en porcentaje.
*
Multiplica.
tabla[variable]
Corchetes con un nombre sin comillas eligen la columna cuyo nombre está guardado en esa variable. tabla[si] elige la columna del evento que se eligió en la lista si.
.mean()
El promedio. En una columna de True y False, la proporción de True.
/
Divide.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En el comercio esta misma cuenta dice qué productos se compran juntos. Aquí dice qué eventos de mantenimiento van juntos.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Central Vega Azul. La falla eléctrica fue el 5 de febrero y el correctivo el 8, tres días después. La inspección del mismo día no cuenta. Así queda esa falla en la planilla fallas_electricas.csv.
DECIR
La planilla viene armada, como la de fichas del Lab 01. Se hizo con la misma bitácora, buscando para cada falla el primer correctivo de su central. Lo que queda por decidir es la ventana.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barra cuenta fallas según los días que tardó el correctivo. 7 llegaron el mismo día, 12 al día siguiente, 7 a los dos días y 8 a los tres. Después no llega ninguno hasta pasada una semana. 4 fallas nunca tuvieron correctivo.
DECIR
La ventana es cuántos días se esperan. Con 3 días se juntan 34 de las 47, el 72,3 por ciento.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dias = 3 #@param {type:"slider", ...}
Un deslizador para elegir la ventana, de 0 a 7 días.
fallas = pd.read_csv(DATOS + "fallas_electricas.csv")
Lee la planilla con una fila por falla eléctrica y los días hasta el primer correctivo de su central. Si nunca llegó, la casilla viene vacía.
a_tiempo = fallas[fallas["dias_hasta_correctivo"] &lt;= dias]
Un filtro, deja las fallas cuyo correctivo llegó dentro de la ventana. Las casillas vacías no pasan.
porcentaje = 100 * len(a_tiempo) / len(fallas)
Qué parte de las fallas tuvo correctivo a tiempo, en porcentaje.
Los print
Muestran las fallas, las que tuvieron correctivo a tiempo, el porcentaje y lo que se plantó al crear los datos.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casilla vacía no es menor ni mayor que nada, así que la pregunta da False y esas fallas quedan fuera.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47 fallas eléctricas en el año. 34 tuvieron un correctivo en la misma central dentro de 3 días, el 72,3 por ciento. Al crear los datos se plantó un 70 por ciento, y se mide algo muy parecido.
MEMORIA
dias, fallas, a_tiempo y porcentaje son nuevos.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
Dejar que voten antes de correr la celda.
RESPUESTA
Mucho menos, 14,9 por ciento. Solo 7 fallas tuvieron el correctivo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movió el deslizador a 0. Ahora solo cuenta el correctivo del mismo día.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Solo 7 fallas tuvieron el correctivo el mismo día.
DECIR
Mismos datos, otra ventana, y el resultado pasa de 72 a 15 por ciento.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movió el deslizador a 1.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19 fallas, el 40,4 por ciento. Se suman las 12 que tuvieron el correctivo al día siguiente.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movió el deslizador a 7, una semana.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Las mismas 34 fallas que con 3 días. Entre el cuarto y el séptimo día no llegó ningún correctivo.
DECIR
Desde los 3 días ya no sube, porque así se crearon los datos. En un informe se escribe la ventana que se usó, porque cambia el resultado.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#@param
Marca de Colab, no de Python. Convierte la línea en un formulario, con lista, deslizador, campo o casilla. Para Python sigue siendo un comentario y la variable toma el valor escrito a la izquierda.
{type:"slider", min, max, step}
Pide a Colab un deslizador. min y max son los extremos y step el salto entre un valor y el siguiente.
"texto"
Lo que va entre comillas es texto. Sin comillas, Python lo entiende como un nombre o un número.
pd.read_csv( ... )
Lee un archivo separado por comas y lo convierte en tabla. pd es pandas.
+
Suma números. Con textos, los junta uno detrás del otro.
tabla[condición]
Con una columna de True y False adentro, la tabla deja pasar solo las filas con True. Es un filtro.
tabla["columna"]
Corchetes con un nombre entre comillas eligen una columna de la tabla. También eligen una llave de un diccionario.
&lt; &gt; &lt;= &gt;=
Menor, mayor, menor o igual, mayor o igual. Dan True o False. Con una columna, comparan fila por fila.
100 * ...
Multiplicar una proporción por 100 la deja en porcentaje.
*
Multiplica.
len( ... )
Cuenta cuántos elementos tiene una lista o cuántas filas tiene una tabla.
/
Divide.
print( ... )
Muestra en pantalla lo que va dentro. Si van varias cosas separadas por coma, las muestra en una línea con un espacio entre ellas.
f"... {nombre} ..."
Texto con una f delante. Lo que va entre llaves se reemplaza por su valor al mostrarse.
round(valor, n)
Redondea un número a n decimales. Sin n, al entero más cercano.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Estos datos son inventados y el patrón se plantó a propósito, para poder medirlo y ver que la técnica lo encuentra.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PASAR ESTA LÁMINA
Aquí termina lo que se ve en clase. Pasar directo a la lámina 74, Ahora en Colab. Desde esta lámina vienen los estudios de la Parte 2, explicados igual que los pasos, para que los alumnos los repasen en la casa. Cada lámina lleva arriba la etiqueta naranja PARA LA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punto es un evento. La raya negra es el promedio y la roja el máximo. Las fallas mecánicas son las más largas y las inspecciones las más cortas.
DECIR
agg calcula varias cifras por grupo de una vez, como en el Lab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resumen = mant.groupby("tipo_evento")["duracion_horas"].agg( ... )
Agrupa por tipo de evento y calcula tres cosas. Cuántos eventos hubo, cuánto duraron en promedio y cuánto duró el más largo.
resumen.round(1).sort_values("eventos", ascending=False)
Redondea a un decimal y ordena por la cantidad de eventos.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.agg(nombre=("columna", "cálculo"))
Calcula varias cosas por grupo. Cada argumento es una columna del resultado. Con un solo texto a la derecha, el cálculo es sobre la columna ya elegida.
( ... ) en varias líneas
Mientras un paréntesis siga abierto, la instrucción continúa en la línea de abajo. La sangría de esas líneas es solo para que se lea mejor.
.round(n)
Redondea a n decimales. Sin n, redondea al entero más cercano, aunque se siga mostrando con .0.
a.b().c()
Cadena de pasos. Cada punto toma lo que salió a su izquierda y le aplica algo más. Se lee de izquierda a derecha.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 el mismo agg del Lab 02 y del Lab 03. Cada nombre que va antes de un igual queda como nombre de una columna del resumen.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.agg(nombre=("columna", "cálculo"))
Calcula varias cosas por grupo. Cada argumento es una columna del resultado. Con un solo texto a la derecha, el cálculo es sobre la columna ya elegida.
( ... ) en varias líneas
Mientras un paréntesis siga abierto, la instrucción continúa en la línea de abajo. La sangría de esas líneas es solo para que se lea mejor.
.round(n)
Redondea a n decimales. Sin n, redondea al entero más cercano, aunque se siga mostrando con .0.
a.b().c()
Cadena de pasos. Cada punto toma lo que salió a su izquierda y le aplica algo más. Se lee de izquierda a derecha.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158 preventivos de 14,5 horas en promedio. 98 fallas mecánicas de 50,6 horas en promedio, y la más larga de 94. 47 fallas eléctricas de 22,4 horas.
PREGUNTAR
¿Qué le importa más al que programa las cuadrillas, el evento más frecuente o el que más horas detiene una central?
MEMORIA
resumen es nuevo.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.agg(nombre=("columna", "cálculo"))
Calcula varias cosas por grupo. Cada argumento es una columna del resultado. Con un solo texto a la derecha, el cálculo es sobre la columna ya elegida.
( ... ) en varias líneas
Mientras un paréntesis siga abierto, la instrucción continúa en la línea de abajo. La sangría de esas líneas es solo para que se lea mejor.
.round(n)
Redondea a n decimales. Sin n, redondea al entero más cercano, aunque se siga mostrando con .0.
a.b().c()
Cadena de pasos. Cada punto toma lo que salió a su izquierda y le aplica algo más. Se lee de izquierda a derecha.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El preventivo es el más frecuente y dura poco. La falla mecánica es menos frecuente, pero deja la central detenida 50,6 horas en promedio. Si la pregunta es qué cuesta más, se mira la duración y no el conteo.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Los 80 eventos climáticos, 55 en centrales eólicas. Las 47 fallas eléctricas, más repartidas.
OJO
Hay 4 centrales eólicas, 5 hidro y 5 solares. Un conteo alto puede venir de tener más centrales de esa tecnología.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tipo = "evento_climatico" #@param [...]
Se elige el tipo de evento.
centrales = pd.read_csv(DATOS + "centrales.csv")
Las fichas de las centrales, como en el Lab 01.
con_ficha = pd.merge(mant, centrales, on="central", how="left")
A cada evento se le pega la ficha de su central. left conserva todos los eventos.
elegidos = con_ficha[con_ficha["tipo_evento"] == tipo]
Un filtro, deja solo los eventos del tipo elegido.
elegidos["tecnologia"].value_counts()
Cuenta cuántos de esos eventos hay en cada tecnología, de mayor a menor.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 el merge del Lab 01. Con left no se pierde ningún evento, aunque su central no tuviera ficha.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Eólica 55, hidro 12, solar 6, gas 4, carbón 2 y diésel 1.
DECIR
Tiene sentido, el viento que mueve las eólicas es el mismo de los temporales.
MEMORIA
tipo, centrales, con_ficha y elegidos son nuevos.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falla_electrica.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Hidro 14, solar 13, gas 7, eólica 5, carbón 4 y diésel 4. No se concentran en ninguna.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pd.read_csv( ... )
Lee un archivo separado por comas y lo convierte en tabla. pd es pandas.
+
Suma números. Con textos, los junta uno detrás del otro.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
.value_counts()
Cuenta cuántas veces aparece cada valor,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 bitácora no trae la tecnología. Se la pega el merge con la tabla de centrales, como en el Lab 01. Después basta un filtro y value_counts. De los 80 eventos climáticos, 55 son de centrales eólicas.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fila es un si y cada columna un entonces. Cada casilla es el lift de esa pareja. Las cuatro azules llegan a 1,9 o más. Son dos parejas, cada una vista desde los dos lados. La roja es falla eléctrica con preventivo, con confianza alta y lift 0,93.
DECIR
La celda calcula una fila de esta tabla, la del evento que se elija.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si = "falla_electrica" #@param [...]
Se elige el evento.
con_si = tabla[tabla[si] == True]
Las canastas donde pasó ese evento, como en el Paso 4.
lift = con_si.mean() / tabla.mean()
mean saca la proporción de cada columna a la vez, a la izquierda del / en las canastas con si y a la derecha en todas. Dividir columna por columna da el lift de si con cada uno de los demás eventos.
lift.drop(si).round(2).sort_values(ascending=False)
drop quita el mismo evento, que siempre se acompaña a sí mismo. Después se redondea y se ordena de mayor a menor.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.mean()
El promedio. En una columna de True y False, la proporción de True.
/
Divide.
.drop(rótulo)
Quita el elemento o la fila que tiene ese rótulo.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misma cuenta del Paso 4, hecha para las seis columnas a la vez.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.mean()
El promedio. En una columna de True y False, la proporción de True.
/
Divide.
.drop(rótulo)
Quita el elemento o la fila que tiene ese rótulo.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correctivo 2,08, preventivo 0,93, falla mecánica 0,92, inspección 0,90 y evento climático 0,65.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.mean()
El promedio. En una columna de True y False, la proporción de True.
/
Divide.
.drop(rótulo)
Quita el elemento o la fila que tiene ese rótulo.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evento_climatico.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.mean()
El promedio. En una columna de True y False, la proporción de True.
/
Divide.
.drop(rótulo)
Quita el elemento o la fila que tiene ese rótulo.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falla mecánica 1,90 y después inspección 1,15. El resto queda bajo 1.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.mean()
El promedio. En una columna de True y False, la proporción de True.
/
Divide.
.drop(rótulo)
Quita el elemento o la fila que tiene ese rótulo.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preventivo.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.mean()
El promedio. En una columna de True y False, la proporción de True.
/
Divide.
.drop(rótulo)
Quita el elemento o la fila que tiene ese rótulo.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Todos entre 0,83 y 0,93.
DECIR
Es el evento más común, aparece con todo, y por eso no anuncia nada.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tabla[condición]
Con una columna de True y False adentro, la tabla deja pasar solo las filas con True. Es un filtro.
==
Dos signos igual preguntan si dos cosas son iguales. Dan True o False. Un solo igual guarda.
True y False
Verdadero y falso. Al sumarlos, True vale 1 y False vale 0, por eso sumar una columna de True y False cuenta los verdaderos.
.mean()
El promedio. En una columna de True y False, la proporción de True.
/
Divide.
.drop(rótulo)
Quita el elemento o la fila que tiene ese rótulo.
a.b().c()
Cadena de pasos. Cada punto toma lo que salió a su izquierda y le aplica algo más. Se lee de izquierda a derecha.
.round(n)
Redondea a n decimales. Sin n, redondea al entero más cercano, aunque se siga mostrando con .0.
.sort_values( ... )
Ordena. Por defecto de menor a mayor. En una tabla se indica la columna.
ascending=False
Ordena de mayor a menor.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Falla eléctrica con preventivo tiene 52,4 por ciento de confianza y parece una regla, pero su lift es 0,93. El preventivo aparece en todas partes. Las dos reglas que sí dicen algo tienen lift cercano 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Las primeras filas de Bahía Norte, ordenadas por fecha. La columna siguiente es la de tipo_evento subida una fila.
DECIR
Ahora importa el orden en el tiempo, no la canasta.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evento = "falla_electrica" #@param [...]
Se elige el evento.
ordenados = mant.sort_values(["central", "fecha"]).copy()
Ordena la bitácora por central y por fecha, y la guarda como una tabla aparte.
ordenados["siguiente"] = ordenados.groupby("central")["tipo_evento"].shift(-1)
Una columna nueva con el evento de la fila de abajo. groupby cuida que el siguiente sea de la misma central.
despues = ordenados[ordenados["tipo_evento"] == evento]
Un filtro, deja las filas del evento elegido.
(100 * despues["siguiente"].value_counts(normalize=True)).round(1)
Cuenta cada siguiente como proporción y lo pasa a porcentaje.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.sort_values( ... )
Ordena. Por defecto de menor a mayor. En una tabla se indica la columna.
["a", "b"]
Una lista de textos. Dentro de una instrucción de pandas suele indicar varias columnas a la vez.
a.b().c()
Cadena de pasos. Cada punto toma lo que salió a su izquierda y le aplica algo más. Se lee de izquierda a derecha.
.copy()
Una copia. Lo que se cambie en la copia no toca el original.
tabla["nueva"] = ...
Guarda el resultado como una columna. Si no existía, la crea.
tabla["columna"]
Corchetes con un nombre entre comillas eligen una columna de la tabla. También eligen una llave de un diccionario.
.groupby(columna)
Separa las filas en grupos según los valores de la columna. Con una lista, por varias columnas a la vez. Lo que viene después se calcula por grupo.
.shift(-1)
Corre la columna. Con -1, cada fila recibe el valor de la fila de abajo.
normalize=True
En value_counts, entrega la proporción de cada valor en vez del conteo. Las proporciones suman uno.
tabla[condición]
Con una columna de True y False adentro, la tabla deja pasar solo las filas con True. Es un filtro.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100 * ...
Multiplicar una proporción por 100 la deja en porcentaje.
*
Multiplica.
.value_counts()
Cuenta cuántas veces aparece cada valor, de mayor a menor.
.round(n)
Redondea a n decimales. Sin n, redondea al entero más cercano, aunque se siga mostrando con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groupby, el último evento de una central quedaría con el primero de la central siguiente.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.sort_values( ... )
Ordena. Por defecto de menor a mayor. En una tabla se indica la columna.
["a", "b"]
Una lista de textos. Dentro de una instrucción de pandas suele indicar varias columnas a la vez.
a.b().c()
Cadena de pasos. Cada punto toma lo que salió a su izquierda y le aplica algo más. Se lee de izquierda a derecha.
.copy()
Una copia. Lo que se cambie en la copia no toca el original.
tabla["nueva"] = ...
Guarda el resultado como una columna. Si no existía, la crea.
tabla["columna"]
Corchetes con un nombre entre comillas eligen una columna de la tabla. También eligen una llave de un diccionario.
.groupby(columna)
Separa las filas en grupos según los valores de la columna. Con una lista, por varias columnas a la vez. Lo que viene después se calcula por grupo.
.shift(-1)
Corre la columna. Con -1, cada fila recibe el valor de la fila de abajo.
normalize=True
En value_counts, entrega la proporción de cada valor en vez del conteo. Las proporciones suman uno.
tabla[condición]
Con una columna de True y False adentro, la tabla deja pasar solo las filas con True. Es un filtro.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100 * ...
Multiplicar una proporción por 100 la deja en porcentaje.
*
Multiplica.
.value_counts()
Cuenta cuántas veces aparece cada valor, de mayor a menor.
.round(n)
Redondea a n decimales. Sin n, redondea al entero más cercano, aunque se siga mostrando con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correctivo 78,7, preventivo 10,6, falla eléctrica 6,4 e inspección 4,3.
MEMORIA
evento, ordenados y despues son nuevos.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.sort_values( ... )
Ordena. Por defecto de menor a mayor. En una tabla se indica la columna.
["a", "b"]
Una lista de textos. Dentro de una instrucción de pandas suele indicar varias columnas a la vez.
a.b().c()
Cadena de pasos. Cada punto toma lo que salió a su izquierda y le aplica algo más. Se lee de izquierda a derecha.
.copy()
Una copia. Lo que se cambie en la copia no toca el original.
tabla["nueva"] = ...
Guarda el resultado como una columna. Si no existía, la crea.
tabla["columna"]
Corchetes con un nombre entre comillas eligen una columna de la tabla. También eligen una llave de un diccionario.
.groupby(columna)
Separa las filas en grupos según los valores de la columna. Con una lista, por varias columnas a la vez. Lo que viene después se calcula por grupo.
.shift(-1)
Corre la columna. Con -1, cada fila recibe el valor de la fila de abajo.
normalize=True
En value_counts, entrega la proporción de cada valor en vez del conteo. Las proporciones suman uno.
tabla[condición]
Con una columna de True y False adentro, la tabla deja pasar solo las filas con True. Es un filtro.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100 * ...
Multiplicar una proporción por 100 la deja en porcentaje.
*
Multiplica.
.value_counts()
Cuenta cuántas veces aparece cada valor, de mayor a menor.
.round(n)
Redondea a n decimales. Sin n, redondea al entero más cercano, aunque se siga mostrando con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evento_climatico.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.sort_values( ... )
Ordena. Por defecto de menor a mayor. En una tabla se indica la columna.
["a", "b"]
Una lista de textos. Dentro de una instrucción de pandas suele indicar varias columnas a la vez.
a.b().c()
Cadena de pasos. Cada punto toma lo que salió a su izquierda y le aplica algo más. Se lee de izquierda a derecha.
.copy()
Una copia. Lo que se cambie en la copia no toca el original.
tabla["nueva"] = ...
Guarda el resultado como una columna. Si no existía, la crea.
tabla["columna"]
Corchetes con un nombre entre comillas eligen una columna de la tabla. También eligen una llave de un diccionario.
.groupby(columna)
Separa las filas en grupos según los valores de la columna. Con una lista, por varias columnas a la vez. Lo que viene después se calcula por grupo.
.shift(-1)
Corre la columna. Con -1, cada fila recibe el valor de la fila de abajo.
normalize=True
En value_counts, entrega la proporción de cada valor en vez del conteo. Las proporciones suman uno.
tabla[condición]
Con una columna de True y False adentro, la tabla deja pasar solo las filas con True. Es un filtro.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100 * ...
Multiplicar una proporción por 100 la deja en porcentaje.
*
Multiplica.
.value_counts()
Cuenta cuántas veces aparece cada valor, de mayor a menor.
.round(n)
Redondea a n decimales. Sin n, redondea al entero más cercano, aunque se siga mostrando con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falla mecánica 60,3, otro evento climático 17,9, y el resto bajo 10.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.sort_values( ... )
Ordena. Por defecto de menor a mayor. En una tabla se indica la columna.
["a", "b"]
Una lista de textos. Dentro de una instrucción de pandas suele indicar varias columnas a la vez.
a.b().c()
Cadena de pasos. Cada punto toma lo que salió a su izquierda y le aplica algo más. Se lee de izquierda a derecha.
.copy()
Una copia. Lo que se cambie en la copia no toca el original.
tabla["nueva"] = ...
Guarda el resultado como una columna. Si no existía, la crea.
tabla["columna"]
Corchetes con un nombre entre comillas eligen una columna de la tabla. También eligen una llave de un diccionario.
.groupby(columna)
Separa las filas en grupos según los valores de la columna. Con una lista, por varias columnas a la vez. Lo que viene después se calcula por grupo.
.shift(-1)
Corre la columna. Con -1, cada fila recibe el valor de la fila de abajo.
normalize=True
En value_counts, entrega la proporción de cada valor en vez del conteo. Las proporciones suman uno.
tabla[condición]
Con una columna de True y False adentro, la tabla deja pasar solo las filas con True. Es un filtro.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100 * ...
Multiplicar una proporción por 100 la deja en porcentaje.
*
Multiplica.
.value_counts()
Cuenta cuántas veces aparece cada valor, de mayor a menor.
.round(n)
Redondea a n decimales. Sin n, redondea al entero más cercano, aunque se siga mostrando con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preventivo.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.sort_values( ... )
Ordena. Por defecto de menor a mayor. En una tabla se indica la columna.
["a", "b"]
Una lista de textos. Dentro de una instrucción de pandas suele indicar varias columnas a la vez.
a.b().c()
Cadena de pasos. Cada punto toma lo que salió a su izquierda y le aplica algo más. Se lee de izquierda a derecha.
.copy()
Una copia. Lo que se cambie en la copia no toca el original.
tabla["nueva"] = ...
Guarda el resultado como una columna. Si no existía, la crea.
tabla["columna"]
Corchetes con un nombre entre comillas eligen una columna de la tabla. También eligen una llave de un diccionario.
.groupby(columna)
Separa las filas en grupos según los valores de la columna. Con una lista, por varias columnas a la vez. Lo que viene después se calcula por grupo.
.shift(-1)
Corre la columna. Con -1, cada fila recibe el valor de la fila de abajo.
normalize=True
En value_counts, entrega la proporción de cada valor en vez del conteo. Las proporciones suman uno.
tabla[condición]
Con una columna de True y False adentro, la tabla deja pasar solo las filas con True. Es un filtro.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100 * ...
Multiplicar una proporción por 100 la deja en porcentaje.
*
Multiplica.
.value_counts()
Cuenta cuántas veces aparece cada valor, de mayor a menor.
.round(n)
Redondea a n decimales. Sin n, redondea al entero más cercano, aunque se siga mostrando con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otro preventivo 27,6, inspección 21,7, correctivo 15,1 y el resto entre 10 y 14.
DECIR
Después de un preventivo puede venir cualquier tipo de evento, por eso no anuncia nada.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.sort_values( ... )
Ordena. Por defecto de menor a mayor. En una tabla se indica la columna.
["a", "b"]
Una lista de textos. Dentro de una instrucción de pandas suele indicar varias columnas a la vez.
a.b().c()
Cadena de pasos. Cada punto toma lo que salió a su izquierda y le aplica algo más. Se lee de izquierda a derecha.
.copy()
Una copia. Lo que se cambie en la copia no toca el original.
tabla["nueva"] = ...
Guarda el resultado como una columna. Si no existía, la crea.
tabla["columna"]
Corchetes con un nombre entre comillas eligen una columna de la tabla. También eligen una llave de un diccionario.
.groupby(columna)
Separa las filas en grupos según los valores de la columna. Con una lista, por varias columnas a la vez. Lo que viene después se calcula por grupo.
.shift(-1)
Corre la columna. Con -1, cada fila recibe el valor de la fila de abajo.
normalize=True
En value_counts, entrega la proporción de cada valor en vez del conteo. Las proporciones suman uno.
tabla[condición]
Con una columna de True y False adentro, la tabla deja pasar solo las filas con True. Es un filtro.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100 * ...
Multiplicar una proporción por 100 la deja en porcentaje.
*
Multiplica.
.value_counts()
Cuenta cuántas veces aparece cada valor, de mayor a menor.
.round(n)
Redondea a n decimales. Sin n, redondea al entero más cercano, aunque se siga mostrando con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Las canastas no saben de orden. shift(-1) sí, porque mira la fila siguiente en la misma central. Después de una falla eléctrica viene un correctivo en el 78,7 por ciento de los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unos 45 minutos. Pasar por el chat y resolver las dudas en voz alta, para que todos escuchen.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En este lab los patrones se encontraron midiendo los datos, sin una columna que trajera la respuesta. El Lab 05 sigue por ese camino, buscando grupos de centrales que se comportan parecido.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62"/>
        </a:solidFill>
      </p:bgPr>
    </p:bg>
    <p:spTree>
      <p:nvGrpSpPr>
        <p:cNvPr id="1" name=""/>
        <p:cNvGrpSpPr/>
        <p:nvPr/>
      </p:nvGrpSpPr>
      <p:grpSpPr>
        <a:xfrm>
          <a:off x="0" y="0"/>
          <a:ext cx="0" cy="0"/>
          <a:chOff x="0" y="0"/>
          <a:chExt cx="0" cy="0"/>
        </a:xfrm>
      </p:grpSpPr>
      <p:sp>
        <p:nvSpPr>
          <p:cNvPr id="2" name="Text 0"/>
          <p:cNvSpPr/>
          <p:nvPr/>
        </p:nvSpPr>
        <p:spPr>
          <a:xfrm>
            <a:off x="731520" y="128016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Lab 04 guiado · Minería de datos</a:t>
            </a:r>
            <a:endParaRPr lang="en-US" sz="4000" dirty="0"/>
          </a:p>
        </p:txBody>
      </p:sp>
      <p:sp>
        <p:nvSpPr>
          <p:cNvPr id="3" name="Text 1"/>
          <p:cNvSpPr/>
          <p:nvPr/>
        </p:nvSpPr>
        <p:spPr>
          <a:xfrm>
            <a:off x="731520" y="214884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Parte 1 en clase, 5 pasos · Parte 2 para la casa, 4 estudios</a:t>
            </a:r>
            <a:endParaRPr lang="en-US" sz="2000" dirty="0"/>
          </a:p>
        </p:txBody>
      </p:sp>
      <p:sp>
        <p:nvSpPr>
          <p:cNvPr id="4" name="Shape 2"/>
          <p:cNvSpPr/>
          <p:nvPr/>
        </p:nvSpPr>
        <p:spPr>
          <a:xfrm>
            <a:off x="731520" y="3200400"/>
            <a:ext cx="502920" cy="502920"/>
          </a:xfrm>
          <a:prstGeom prst="ellipse">
            <a:avLst/>
          </a:prstGeom>
          <a:solidFill>
            <a:srgbClr val="F9AB00"/>
          </a:solidFill>
          <a:ln w="12700">
            <a:solidFill>
              <a:srgbClr val="F9AB00"/>
            </a:solidFill>
            <a:prstDash val="solid"/>
          </a:ln>
        </p:spPr>
      </p:sp>
      <p:sp>
        <p:nvSpPr>
          <p:cNvPr id="5" name="Text 3"/>
          <p:cNvSpPr/>
          <p:nvPr/>
        </p:nvSpPr>
        <p:spPr>
          <a:xfrm>
            <a:off x="731520" y="320040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463040" y="320040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Cada paso se muestra primero aquí. Un clic avanza.</a:t>
            </a:r>
            <a:endParaRPr lang="en-US" sz="1800" dirty="0"/>
          </a:p>
        </p:txBody>
      </p:sp>
      <p:sp>
        <p:nvSpPr>
          <p:cNvPr id="7" name="Shape 5"/>
          <p:cNvSpPr/>
          <p:nvPr/>
        </p:nvSpPr>
        <p:spPr>
          <a:xfrm>
            <a:off x="731520" y="3977640"/>
            <a:ext cx="502920" cy="502920"/>
          </a:xfrm>
          <a:prstGeom prst="ellipse">
            <a:avLst/>
          </a:prstGeom>
          <a:solidFill>
            <a:srgbClr val="F9AB00"/>
          </a:solidFill>
          <a:ln w="12700">
            <a:solidFill>
              <a:srgbClr val="F9AB00"/>
            </a:solidFill>
            <a:prstDash val="solid"/>
          </a:ln>
        </p:spPr>
      </p:sp>
      <p:sp>
        <p:nvSpPr>
          <p:cNvPr id="8" name="Text 6"/>
          <p:cNvSpPr/>
          <p:nvPr/>
        </p:nvSpPr>
        <p:spPr>
          <a:xfrm>
            <a:off x="731520" y="397764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463040" y="397764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Abajo aparece lo que Python recuerda, que en Colab no se ve.</a:t>
            </a:r>
            <a:endParaRPr lang="en-US" sz="1800" dirty="0"/>
          </a:p>
        </p:txBody>
      </p:sp>
      <p:sp>
        <p:nvSpPr>
          <p:cNvPr id="10" name="Shape 8"/>
          <p:cNvSpPr/>
          <p:nvPr/>
        </p:nvSpPr>
        <p:spPr>
          <a:xfrm>
            <a:off x="731520" y="4754880"/>
            <a:ext cx="502920" cy="502920"/>
          </a:xfrm>
          <a:prstGeom prst="ellipse">
            <a:avLst/>
          </a:prstGeom>
          <a:solidFill>
            <a:srgbClr val="F9AB00"/>
          </a:solidFill>
          <a:ln w="12700">
            <a:solidFill>
              <a:srgbClr val="F9AB00"/>
            </a:solidFill>
            <a:prstDash val="solid"/>
          </a:ln>
        </p:spPr>
      </p:sp>
      <p:sp>
        <p:nvSpPr>
          <p:cNvPr id="11" name="Text 9"/>
          <p:cNvSpPr/>
          <p:nvPr/>
        </p:nvSpPr>
        <p:spPr>
          <a:xfrm>
            <a:off x="731520" y="475488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463040" y="475488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Después lo hacen en Colab, y les tiene que salir igual.</a:t>
            </a:r>
            <a:endParaRPr lang="en-US" sz="1800" dirty="0"/>
          </a:p>
        </p:txBody>
      </p:sp>
      <p:sp>
        <p:nvSpPr>
          <p:cNvPr id="13" name="Text 11"/>
          <p:cNvSpPr/>
          <p:nvPr/>
        </p:nvSpPr>
        <p:spPr>
          <a:xfrm>
            <a:off x="731520" y="6126480"/>
            <a:ext cx="106984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Análisis Avanzado de Datos con Python · Subsecretaría de Energía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3D62"/>
        </a:solidFill>
      </p:bgPr>
    </p:bg>
    <p:spTree>
      <p:nvGrpSpPr>
        <p:cNvPr id="1" name=""/>
        <p:cNvGrpSpPr/>
        <p:nvPr/>
      </p:nvGrpSpPr>
      <p:grpSpPr>
        <a:xfrm>
          <a:off x="0" y="0"/>
          <a:ext cx="0" cy="0"/>
          <a:chOff x="0" y="0"/>
          <a:chExt cx="0" cy="0"/>
        </a:xfrm>
      </p:grpSpPr>
      <p:sp>
        <p:nvSpPr>
          <p:cNvPr id="2" name="Text 0"/>
          <p:cNvSpPr/>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PARTE 1 · EN CLASE</a:t>
            </a:r>
            <a:endParaRPr lang="en-US" sz="4400" dirty="0"/>
          </a:p>
        </p:txBody>
      </p:sp>
      <p:sp>
        <p:nvSpPr>
          <p:cNvPr id="3" name="Text 1"/>
          <p:cNvSpPr/>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Hoy hacemos estos 5 pasos, juntos, con estas láminas y después en Colab.</a:t>
            </a:r>
            <a:endParaRPr lang="en-US" sz="2000" dirty="0"/>
          </a:p>
        </p:txBody>
      </p:sp>
      <p:sp>
        <p:nvSpPr>
          <p:cNvPr id="4" name="Shape 2"/>
          <p:cNvSpPr/>
          <p:nvPr/>
        </p:nvSpPr>
        <p:spPr>
          <a:xfrm>
            <a:off x="731520" y="2240280"/>
            <a:ext cx="548640" cy="548640"/>
          </a:xfrm>
          <a:prstGeom prst="ellipse">
            <a:avLst/>
          </a:prstGeom>
          <a:solidFill>
            <a:srgbClr val="F9AB00"/>
          </a:solidFill>
          <a:ln w="12700">
            <a:solidFill>
              <a:srgbClr val="F9AB00"/>
            </a:solidFill>
            <a:prstDash val="solid"/>
          </a:ln>
        </p:spPr>
      </p:sp>
      <p:sp>
        <p:nvSpPr>
          <p:cNvPr id="5" name="Text 3"/>
          <p:cNvSpPr/>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1   </a:t>
            </a:r>
            <a:pPr indent="0" marL="0">
              <a:buNone/>
            </a:pPr>
            <a:r>
              <a:rPr lang="en-US" sz="2400" dirty="0">
                <a:solidFill>
                  <a:srgbClr val="FFFFFF"/>
                </a:solidFill>
                <a:latin typeface="Calibri" pitchFamily="34" charset="0"/>
                <a:ea typeface="Calibri" pitchFamily="34" charset="-122"/>
                <a:cs typeface="Calibri" pitchFamily="34" charset="-120"/>
              </a:rPr>
              <a:t>¿Qué hay en la bitácora?</a:t>
            </a:r>
            <a:endParaRPr lang="en-US" sz="2400" dirty="0"/>
          </a:p>
        </p:txBody>
      </p:sp>
      <p:sp>
        <p:nvSpPr>
          <p:cNvPr id="7" name="Shape 5"/>
          <p:cNvSpPr/>
          <p:nvPr/>
        </p:nvSpPr>
        <p:spPr>
          <a:xfrm>
            <a:off x="731520" y="3017520"/>
            <a:ext cx="548640" cy="548640"/>
          </a:xfrm>
          <a:prstGeom prst="ellipse">
            <a:avLst/>
          </a:prstGeom>
          <a:solidFill>
            <a:srgbClr val="F9AB00"/>
          </a:solidFill>
          <a:ln w="12700">
            <a:solidFill>
              <a:srgbClr val="F9AB00"/>
            </a:solidFill>
            <a:prstDash val="solid"/>
          </a:ln>
        </p:spPr>
      </p:sp>
      <p:sp>
        <p:nvSpPr>
          <p:cNvPr id="8" name="Text 6"/>
          <p:cNvSpPr/>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2</a:t>
            </a:r>
            <a:endParaRPr lang="en-US" sz="2000" dirty="0"/>
          </a:p>
        </p:txBody>
      </p:sp>
      <p:sp>
        <p:nvSpPr>
          <p:cNvPr id="9" name="Text 7"/>
          <p:cNvSpPr/>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2   </a:t>
            </a:r>
            <a:pPr indent="0" marL="0">
              <a:buNone/>
            </a:pPr>
            <a:r>
              <a:rPr lang="en-US" sz="2400" dirty="0">
                <a:solidFill>
                  <a:srgbClr val="FFFFFF"/>
                </a:solidFill>
                <a:latin typeface="Calibri" pitchFamily="34" charset="0"/>
                <a:ea typeface="Calibri" pitchFamily="34" charset="-122"/>
                <a:cs typeface="Calibri" pitchFamily="34" charset="-120"/>
              </a:rPr>
              <a:t>¿Qué le pasó a cada central en cada mes?</a:t>
            </a:r>
            <a:endParaRPr lang="en-US" sz="2400" dirty="0"/>
          </a:p>
        </p:txBody>
      </p:sp>
      <p:sp>
        <p:nvSpPr>
          <p:cNvPr id="10" name="Shape 8"/>
          <p:cNvSpPr/>
          <p:nvPr/>
        </p:nvSpPr>
        <p:spPr>
          <a:xfrm>
            <a:off x="731520" y="3794760"/>
            <a:ext cx="548640" cy="548640"/>
          </a:xfrm>
          <a:prstGeom prst="ellipse">
            <a:avLst/>
          </a:prstGeom>
          <a:solidFill>
            <a:srgbClr val="F9AB00"/>
          </a:solidFill>
          <a:ln w="12700">
            <a:solidFill>
              <a:srgbClr val="F9AB00"/>
            </a:solidFill>
            <a:prstDash val="solid"/>
          </a:ln>
        </p:spPr>
      </p:sp>
      <p:sp>
        <p:nvSpPr>
          <p:cNvPr id="11" name="Text 9"/>
          <p:cNvSpPr/>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3</a:t>
            </a:r>
            <a:endParaRPr lang="en-US" sz="2000" dirty="0"/>
          </a:p>
        </p:txBody>
      </p:sp>
      <p:sp>
        <p:nvSpPr>
          <p:cNvPr id="12" name="Text 10"/>
          <p:cNvSpPr/>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3   </a:t>
            </a:r>
            <a:pPr indent="0" marL="0">
              <a:buNone/>
            </a:pPr>
            <a:r>
              <a:rPr lang="en-US" sz="2400" dirty="0">
                <a:solidFill>
                  <a:srgbClr val="FFFFFF"/>
                </a:solidFill>
                <a:latin typeface="Calibri" pitchFamily="34" charset="0"/>
                <a:ea typeface="Calibri" pitchFamily="34" charset="-122"/>
                <a:cs typeface="Calibri" pitchFamily="34" charset="-120"/>
              </a:rPr>
              <a:t>¿En cuántas canastas aparece cada evento?</a:t>
            </a:r>
            <a:endParaRPr lang="en-US" sz="2400" dirty="0"/>
          </a:p>
        </p:txBody>
      </p:sp>
      <p:sp>
        <p:nvSpPr>
          <p:cNvPr id="13" name="Shape 11"/>
          <p:cNvSpPr/>
          <p:nvPr/>
        </p:nvSpPr>
        <p:spPr>
          <a:xfrm>
            <a:off x="731520" y="4572000"/>
            <a:ext cx="548640" cy="548640"/>
          </a:xfrm>
          <a:prstGeom prst="ellipse">
            <a:avLst/>
          </a:prstGeom>
          <a:solidFill>
            <a:srgbClr val="F9AB00"/>
          </a:solidFill>
          <a:ln w="12700">
            <a:solidFill>
              <a:srgbClr val="F9AB00"/>
            </a:solidFill>
            <a:prstDash val="solid"/>
          </a:ln>
        </p:spPr>
      </p:sp>
      <p:sp>
        <p:nvSpPr>
          <p:cNvPr id="14" name="Text 12"/>
          <p:cNvSpPr/>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4</a:t>
            </a:r>
            <a:endParaRPr lang="en-US" sz="2000" dirty="0"/>
          </a:p>
        </p:txBody>
      </p:sp>
      <p:sp>
        <p:nvSpPr>
          <p:cNvPr id="15" name="Text 13"/>
          <p:cNvSpPr/>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4   </a:t>
            </a:r>
            <a:pPr indent="0" marL="0">
              <a:buNone/>
            </a:pPr>
            <a:r>
              <a:rPr lang="en-US" sz="2400" dirty="0">
                <a:solidFill>
                  <a:srgbClr val="FFFFFF"/>
                </a:solidFill>
                <a:latin typeface="Calibri" pitchFamily="34" charset="0"/>
                <a:ea typeface="Calibri" pitchFamily="34" charset="-122"/>
                <a:cs typeface="Calibri" pitchFamily="34" charset="-120"/>
              </a:rPr>
              <a:t>Tu turno, si pasa una cosa, ¿pasa la otra?</a:t>
            </a:r>
            <a:endParaRPr lang="en-US" sz="2400" dirty="0"/>
          </a:p>
        </p:txBody>
      </p:sp>
      <p:sp>
        <p:nvSpPr>
          <p:cNvPr id="16" name="Shape 14"/>
          <p:cNvSpPr/>
          <p:nvPr/>
        </p:nvSpPr>
        <p:spPr>
          <a:xfrm>
            <a:off x="731520" y="5349240"/>
            <a:ext cx="548640" cy="548640"/>
          </a:xfrm>
          <a:prstGeom prst="ellipse">
            <a:avLst/>
          </a:prstGeom>
          <a:solidFill>
            <a:srgbClr val="F9AB00"/>
          </a:solidFill>
          <a:ln w="12700">
            <a:solidFill>
              <a:srgbClr val="F9AB00"/>
            </a:solidFill>
            <a:prstDash val="solid"/>
          </a:ln>
        </p:spPr>
      </p:sp>
      <p:sp>
        <p:nvSpPr>
          <p:cNvPr id="17" name="Text 15"/>
          <p:cNvSpPr/>
          <p:nvPr/>
        </p:nvSpPr>
        <p:spPr>
          <a:xfrm>
            <a:off x="731520" y="534924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5</a:t>
            </a:r>
            <a:endParaRPr lang="en-US" sz="2000" dirty="0"/>
          </a:p>
        </p:txBody>
      </p:sp>
      <p:sp>
        <p:nvSpPr>
          <p:cNvPr id="18" name="Text 16"/>
          <p:cNvSpPr/>
          <p:nvPr/>
        </p:nvSpPr>
        <p:spPr>
          <a:xfrm>
            <a:off x="1508760" y="534924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5   </a:t>
            </a:r>
            <a:pPr indent="0" marL="0">
              <a:buNone/>
            </a:pPr>
            <a:r>
              <a:rPr lang="en-US" sz="2400" dirty="0">
                <a:solidFill>
                  <a:srgbClr val="FFFFFF"/>
                </a:solidFill>
                <a:latin typeface="Calibri" pitchFamily="34" charset="0"/>
                <a:ea typeface="Calibri" pitchFamily="34" charset="-122"/>
                <a:cs typeface="Calibri" pitchFamily="34" charset="-120"/>
              </a:rPr>
              <a:t>Tu turno, ¿en cuántos días llega el correctivo?</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ve el año de una central en la bitácora.</a:t>
            </a:r>
            <a:endParaRPr lang="en-US" sz="1400" dirty="0"/>
          </a:p>
        </p:txBody>
      </p:sp>
      <p:pic>
        <p:nvPicPr>
          <p:cNvPr id="6" name="Image 0" descr="../work35/modulos/modulo04/img/lab04_paso1_bitacora.png">    </p:cNvPr>
          <p:cNvPicPr>
            <a:picLocks noChangeAspect="1"/>
          </p:cNvPicPr>
          <p:nvPr/>
        </p:nvPicPr>
        <p:blipFill>
          <a:blip r:embed="rId1"/>
          <a:stretch>
            <a:fillRect/>
          </a:stretch>
        </p:blipFill>
        <p:spPr>
          <a:xfrm>
            <a:off x="548640" y="1463040"/>
            <a:ext cx="11091672" cy="42118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2346579"/>
          </a:xfrm>
          <a:prstGeom prst="roundRect">
            <a:avLst>
              <a:gd name="adj" fmla="val 2338"/>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10085832" cy="2154555"/>
          </a:xfrm>
          <a:prstGeom prst="rect">
            <a:avLst/>
          </a:prstGeom>
          <a:noFill/>
          <a:ln/>
        </p:spPr>
        <p:txBody>
          <a:bodyPr wrap="square" lIns="0" tIns="0" rIns="0" bIns="0" rtlCol="0" anchor="t"/>
          <a:lstStyle/>
          <a:p>
            <a:pPr indent="0" marL="0">
              <a:buNone/>
            </a:pPr>
            <a:r>
              <a:rPr lang="en-US" sz="1300" dirty="0">
                <a:solidFill>
                  <a:srgbClr val="188038"/>
                </a:solidFill>
                <a:latin typeface="Courier New" pitchFamily="34" charset="0"/>
                <a:ea typeface="Courier New" pitchFamily="34" charset="-122"/>
                <a:cs typeface="Courier New" pitchFamily="34" charset="-120"/>
              </a:rPr>
              <a:t># Paso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DATOS = </a:t>
            </a:r>
            <a:pPr indent="0" marL="0">
              <a:buNone/>
            </a:pPr>
            <a:r>
              <a:rPr lang="en-US" sz="1300" dirty="0">
                <a:solidFill>
                  <a:srgbClr val="A31515"/>
                </a:solidFill>
                <a:latin typeface="Courier New" pitchFamily="34" charset="0"/>
                <a:ea typeface="Courier New" pitchFamily="34" charset="-122"/>
                <a:cs typeface="Courier New" pitchFamily="34" charset="-120"/>
              </a:rPr>
              <a:t>"https://raw.githubusercontent.com/RodrigoMSB/curso-python-minergia/main/datos/"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pandas as pd</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La bitácora del año, un evento por fila, como la llena el turno.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mant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"mantenimiento.csv"</a:t>
            </a:r>
            <a:pPr indent="0" marL="0">
              <a:buNone/>
            </a:pPr>
            <a:r>
              <a:rPr lang="en-US" sz="1300" dirty="0">
                <a:solidFill>
                  <a:srgbClr val="202124"/>
                </a:solidFill>
                <a:latin typeface="Courier New" pitchFamily="34" charset="0"/>
                <a:ea typeface="Courier New" pitchFamily="34" charset="-122"/>
                <a:cs typeface="Courier New" pitchFamily="34" charset="-120"/>
              </a:rPr>
              <a:t>, parse_dates=[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"Eventos del año"</a:t>
            </a:r>
            <a:pPr indent="0" marL="0">
              <a:buNone/>
            </a:pPr>
            <a:r>
              <a:rPr lang="en-US" sz="1300" dirty="0">
                <a:solidFill>
                  <a:srgbClr val="202124"/>
                </a:solidFill>
                <a:latin typeface="Courier New" pitchFamily="34" charset="0"/>
                <a:ea typeface="Courier New" pitchFamily="34" charset="-122"/>
                <a:cs typeface="Courier New" pitchFamily="34" charset="-120"/>
              </a:rPr>
              <a:t>, len(mant))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"Centrales con eventos"</a:t>
            </a:r>
            <a:pPr indent="0" marL="0">
              <a:buNone/>
            </a:pPr>
            <a:r>
              <a:rPr lang="en-US" sz="1300" dirty="0">
                <a:solidFill>
                  <a:srgbClr val="202124"/>
                </a:solidFill>
                <a:latin typeface="Courier New" pitchFamily="34" charset="0"/>
                <a:ea typeface="Courier New" pitchFamily="34" charset="-122"/>
                <a:cs typeface="Courier New" pitchFamily="34" charset="-120"/>
              </a:rPr>
              <a:t>, mant[</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].nunique())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mant.head()</a:t>
            </a:r>
            <a:endParaRPr lang="en-US" sz="1300" dirty="0"/>
          </a:p>
        </p:txBody>
      </p:sp>
      <p:sp>
        <p:nvSpPr>
          <p:cNvPr id="10" name="Text 8"/>
          <p:cNvSpPr/>
          <p:nvPr/>
        </p:nvSpPr>
        <p:spPr>
          <a:xfrm>
            <a:off x="1325880" y="3855339"/>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1" name="Text 9"/>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Text 10"/>
          <p:cNvSpPr/>
          <p:nvPr/>
        </p:nvSpPr>
        <p:spPr>
          <a:xfrm>
            <a:off x="548640" y="6089904"/>
            <a:ext cx="7315200" cy="457200"/>
          </a:xfrm>
          <a:prstGeom prst="rect">
            <a:avLst/>
          </a:prstGeom>
          <a:noFill/>
          <a:ln/>
        </p:spPr>
        <p:txBody>
          <a:bodyPr wrap="square" lIns="0" tIns="0" rIns="0" bIns="0" rtlCol="0" anchor="ctr"/>
          <a:lstStyle/>
          <a:p>
            <a:pPr indent="0" marL="0">
              <a:buNone/>
            </a:pPr>
            <a:r>
              <a:rPr lang="en-US" sz="1300" dirty="0">
                <a:solidFill>
                  <a:srgbClr val="5F6368"/>
                </a:solidFill>
                <a:latin typeface="Calibri" pitchFamily="34" charset="0"/>
                <a:ea typeface="Calibri" pitchFamily="34" charset="-122"/>
                <a:cs typeface="Calibri" pitchFamily="34" charset="-120"/>
              </a:rPr>
              <a:t>Todavía nada. La memoria está vacía.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72768"/>
            <a:ext cx="10634472" cy="26517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print(</a:t>
            </a:r>
            <a:pPr indent="0" marL="0">
              <a:buNone/>
            </a:pPr>
            <a:r>
              <a:rPr lang="en-US" sz="1600" dirty="0">
                <a:solidFill>
                  <a:srgbClr val="A31515"/>
                </a:solidFill>
                <a:latin typeface="Courier New" pitchFamily="34" charset="0"/>
                <a:ea typeface="Courier New" pitchFamily="34" charset="-122"/>
                <a:cs typeface="Courier New" pitchFamily="34" charset="-120"/>
              </a:rPr>
              <a:t>"Centrales con eventos"</a:t>
            </a:r>
            <a:pPr indent="0" marL="0">
              <a:buNone/>
            </a:pPr>
            <a:r>
              <a:rPr lang="en-US" sz="1600" dirty="0">
                <a:solidFill>
                  <a:srgbClr val="202124"/>
                </a:solidFill>
                <a:latin typeface="Courier New" pitchFamily="34" charset="0"/>
                <a:ea typeface="Courier New" pitchFamily="34" charset="-122"/>
                <a:cs typeface="Courier New" pitchFamily="34" charset="-120"/>
              </a:rPr>
              <a:t>, mant[</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].nunique())</a:t>
            </a:r>
            <a:endParaRPr lang="en-US" sz="1600" dirty="0"/>
          </a:p>
        </p:txBody>
      </p:sp>
      <p:sp>
        <p:nvSpPr>
          <p:cNvPr id="8" name="Shape 6"/>
          <p:cNvSpPr/>
          <p:nvPr/>
        </p:nvSpPr>
        <p:spPr>
          <a:xfrm>
            <a:off x="548640" y="241401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4140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713232"/>
          </a:xfrm>
          <a:prstGeom prst="roundRect">
            <a:avLst>
              <a:gd name="adj" fmla="val 6410"/>
            </a:avLst>
          </a:prstGeom>
          <a:solidFill>
            <a:srgbClr val="DBE9FB"/>
          </a:solidFill>
          <a:ln w="12700">
            <a:solidFill>
              <a:srgbClr val="DBE9FB"/>
            </a:solidFill>
            <a:prstDash val="solid"/>
          </a:ln>
        </p:spPr>
      </p:sp>
      <p:sp>
        <p:nvSpPr>
          <p:cNvPr id="11" name="Text 9"/>
          <p:cNvSpPr/>
          <p:nvPr/>
        </p:nvSpPr>
        <p:spPr>
          <a:xfrm>
            <a:off x="1170432" y="2221992"/>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mant["central"]</a:t>
            </a:r>
            <a:endParaRPr lang="en-US" sz="1400" dirty="0"/>
          </a:p>
        </p:txBody>
      </p:sp>
      <p:sp>
        <p:nvSpPr>
          <p:cNvPr id="12" name="Text 10"/>
          <p:cNvSpPr/>
          <p:nvPr/>
        </p:nvSpPr>
        <p:spPr>
          <a:xfrm>
            <a:off x="6263640" y="2221992"/>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con el nombre de la central de cada evento.</a:t>
            </a:r>
            <a:endParaRPr lang="en-US" sz="1600" dirty="0"/>
          </a:p>
        </p:txBody>
      </p:sp>
      <p:sp>
        <p:nvSpPr>
          <p:cNvPr id="13" name="Shape 11"/>
          <p:cNvSpPr/>
          <p:nvPr/>
        </p:nvSpPr>
        <p:spPr>
          <a:xfrm>
            <a:off x="548640" y="321868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2186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026664"/>
            <a:ext cx="4937760" cy="713232"/>
          </a:xfrm>
          <a:prstGeom prst="roundRect">
            <a:avLst>
              <a:gd name="adj" fmla="val 6410"/>
            </a:avLst>
          </a:prstGeom>
          <a:solidFill>
            <a:srgbClr val="DCEFE0"/>
          </a:solidFill>
          <a:ln w="12700">
            <a:solidFill>
              <a:srgbClr val="DCEFE0"/>
            </a:solidFill>
            <a:prstDash val="solid"/>
          </a:ln>
        </p:spPr>
      </p:sp>
      <p:sp>
        <p:nvSpPr>
          <p:cNvPr id="16" name="Text 14"/>
          <p:cNvSpPr/>
          <p:nvPr/>
        </p:nvSpPr>
        <p:spPr>
          <a:xfrm>
            <a:off x="1170432" y="3026664"/>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.nunique()</a:t>
            </a:r>
            <a:endParaRPr lang="en-US" sz="1400" dirty="0"/>
          </a:p>
        </p:txBody>
      </p:sp>
      <p:sp>
        <p:nvSpPr>
          <p:cNvPr id="17" name="Text 15"/>
          <p:cNvSpPr/>
          <p:nvPr/>
        </p:nvSpPr>
        <p:spPr>
          <a:xfrm>
            <a:off x="6263640" y="3026664"/>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Cuenta cuántos valores distintos hay. Aquí, cuántas centrales.</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cuenta en cuántas centrales distintas hubo eventos y muéstralo.</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Text 4"/>
          <p:cNvSpPr/>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552298"/>
          </a:xfrm>
          <a:prstGeom prst="rect">
            <a:avLst/>
          </a:prstGeom>
          <a:solidFill>
            <a:srgbClr val="FFFFFF"/>
          </a:solidFill>
          <a:ln w="12700">
            <a:solidFill>
              <a:srgbClr val="DADCE0"/>
            </a:solidFill>
            <a:prstDash val="solid"/>
          </a:ln>
        </p:spPr>
      </p:sp>
      <p:sp>
        <p:nvSpPr>
          <p:cNvPr id="8" name="Text 6"/>
          <p:cNvSpPr/>
          <p:nvPr/>
        </p:nvSpPr>
        <p:spPr>
          <a:xfrm>
            <a:off x="1463040" y="1901952"/>
            <a:ext cx="10085832" cy="42428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Eventos del año 600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Centrales con eventos 20</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325880" y="2472538"/>
          <a:ext cx="9144000" cy="914400"/>
        </p:xfrm>
        <a:graphic>
          <a:graphicData uri="http://schemas.openxmlformats.org/drawingml/2006/table">
            <a:tbl>
              <a:tblPr/>
              <a:tblGrid>
                <a:gridCol w="296073"/>
                <a:gridCol w="2326391"/>
                <a:gridCol w="954834"/>
                <a:gridCol w="1277554"/>
                <a:gridCol w="1277554"/>
                <a:gridCol w="4182027"/>
              </a:tblGrid>
              <a:tr h="237744">
                <a:tc>
                  <a:txBody>
                    <a:bodyPr/>
                    <a:lstStyle/>
                    <a:p>
                      <a:pPr indent="0" marL="0">
                        <a:buNone/>
                      </a:pP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850" b="1" dirty="0">
                          <a:solidFill>
                            <a:srgbClr val="202124"/>
                          </a:solidFill>
                          <a:latin typeface="Courier New" pitchFamily="34" charset="0"/>
                          <a:ea typeface="Courier New" pitchFamily="34" charset="-122"/>
                          <a:cs typeface="Courier New" pitchFamily="34" charset="-120"/>
                        </a:rPr>
                        <a:t>central</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850" b="1" dirty="0">
                          <a:solidFill>
                            <a:srgbClr val="202124"/>
                          </a:solidFill>
                          <a:latin typeface="Courier New" pitchFamily="34" charset="0"/>
                          <a:ea typeface="Courier New" pitchFamily="34" charset="-122"/>
                          <a:cs typeface="Courier New" pitchFamily="34" charset="-120"/>
                        </a:rPr>
                        <a:t>fecha</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850" b="1" dirty="0">
                          <a:solidFill>
                            <a:srgbClr val="202124"/>
                          </a:solidFill>
                          <a:latin typeface="Courier New" pitchFamily="34" charset="0"/>
                          <a:ea typeface="Courier New" pitchFamily="34" charset="-122"/>
                          <a:cs typeface="Courier New" pitchFamily="34" charset="-120"/>
                        </a:rPr>
                        <a:t>tipo_evento</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850" b="1" dirty="0">
                          <a:solidFill>
                            <a:srgbClr val="202124"/>
                          </a:solidFill>
                          <a:latin typeface="Courier New" pitchFamily="34" charset="0"/>
                          <a:ea typeface="Courier New" pitchFamily="34" charset="-122"/>
                          <a:cs typeface="Courier New" pitchFamily="34" charset="-120"/>
                        </a:rPr>
                        <a:t>duracion_horas</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850" b="1" dirty="0">
                          <a:solidFill>
                            <a:srgbClr val="202124"/>
                          </a:solidFill>
                          <a:latin typeface="Courier New" pitchFamily="34" charset="0"/>
                          <a:ea typeface="Courier New" pitchFamily="34" charset="-122"/>
                          <a:cs typeface="Courier New" pitchFamily="34" charset="-120"/>
                        </a:rPr>
                        <a:t>observacion</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0</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Eólica Campo Abierto</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2024-01-01</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preventivo</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5</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Se registra la lubricación periódica sobre el g...</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1</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Parque Solar Quebrada Honda</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2024-01-01</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preventivo</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8</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El operador reporta la lubricación periódica, s...</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2</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Parque Solar Llano Seco</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2024-01-02</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falla_mecanica</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49</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El operador reporta vibración fuera de norma, s...</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3</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Parque Solar Quebrada Honda</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2024-01-02</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inspeccion</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6</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Se registra la lectura de instrumentos sobre lo...</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4</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Central Tres Saltos</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2024-01-03</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correctivo</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38</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850" dirty="0">
                          <a:solidFill>
                            <a:srgbClr val="202124"/>
                          </a:solidFill>
                          <a:latin typeface="Courier New" pitchFamily="34" charset="0"/>
                          <a:ea typeface="Courier New" pitchFamily="34" charset="-122"/>
                          <a:cs typeface="Courier New" pitchFamily="34" charset="-120"/>
                        </a:rPr>
                        <a:t>Evento por la reparación de la falla del turno ...</a:t>
                      </a:r>
                      <a:endParaRPr lang="en-US" sz="8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0"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50515" cy="512064"/>
          </a:xfrm>
          <a:prstGeom prst="roundRect">
            <a:avLst>
              <a:gd name="adj" fmla="val 12500"/>
            </a:avLst>
          </a:prstGeom>
          <a:solidFill>
            <a:srgbClr val="FEF3D6"/>
          </a:solidFill>
          <a:ln w="25400">
            <a:solidFill>
              <a:srgbClr val="F9AB00"/>
            </a:solidFill>
            <a:prstDash val="solid"/>
          </a:ln>
        </p:spPr>
      </p:sp>
      <p:sp>
        <p:nvSpPr>
          <p:cNvPr id="12" name="Text 9"/>
          <p:cNvSpPr/>
          <p:nvPr/>
        </p:nvSpPr>
        <p:spPr>
          <a:xfrm>
            <a:off x="640080"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36315" y="6062472"/>
            <a:ext cx="1143000" cy="512064"/>
          </a:xfrm>
          <a:prstGeom prst="roundRect">
            <a:avLst>
              <a:gd name="adj" fmla="val 12500"/>
            </a:avLst>
          </a:prstGeom>
          <a:solidFill>
            <a:srgbClr val="FEF3D6"/>
          </a:solidFill>
          <a:ln w="25400">
            <a:solidFill>
              <a:srgbClr val="F9AB00"/>
            </a:solidFill>
            <a:prstDash val="solid"/>
          </a:ln>
        </p:spPr>
      </p:sp>
      <p:sp>
        <p:nvSpPr>
          <p:cNvPr id="14" name="Text 11"/>
          <p:cNvSpPr/>
          <p:nvPr/>
        </p:nvSpPr>
        <p:spPr>
          <a:xfrm>
            <a:off x="352775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16475" y="6062472"/>
            <a:ext cx="1526134" cy="512064"/>
          </a:xfrm>
          <a:prstGeom prst="roundRect">
            <a:avLst>
              <a:gd name="adj" fmla="val 12500"/>
            </a:avLst>
          </a:prstGeom>
          <a:solidFill>
            <a:srgbClr val="FEF3D6"/>
          </a:solidFill>
          <a:ln w="25400">
            <a:solidFill>
              <a:srgbClr val="F9AB00"/>
            </a:solidFill>
            <a:prstDash val="solid"/>
          </a:ln>
        </p:spPr>
      </p:sp>
      <p:sp>
        <p:nvSpPr>
          <p:cNvPr id="16" name="Text 13"/>
          <p:cNvSpPr/>
          <p:nvPr/>
        </p:nvSpPr>
        <p:spPr>
          <a:xfrm>
            <a:off x="4807915"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5</a:t>
            </a:r>
            <a:endParaRPr lang="en-US" sz="1200" dirty="0"/>
          </a:p>
        </p:txBody>
      </p:sp>
      <p:sp>
        <p:nvSpPr>
          <p:cNvPr id="17" name="Text 14"/>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600 eventos del año en 20 centrales. Cada fila es un evento, con su tipo, su duración y lo que anotó el turno.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hay en la bitácora?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bitácora anota un evento por fila.</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Para comparar hay que agruparla, y eso se hace en el próximo paso.</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2750515"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2" name="Shape 10"/>
          <p:cNvSpPr/>
          <p:nvPr/>
        </p:nvSpPr>
        <p:spPr>
          <a:xfrm>
            <a:off x="3436315" y="6062472"/>
            <a:ext cx="1143000"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352775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4" name="Shape 12"/>
          <p:cNvSpPr/>
          <p:nvPr/>
        </p:nvSpPr>
        <p:spPr>
          <a:xfrm>
            <a:off x="4716475" y="6062472"/>
            <a:ext cx="1526134"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4807915"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cinco eventos quedan en tres canastas.</a:t>
            </a:r>
            <a:endParaRPr lang="en-US" sz="1400" dirty="0"/>
          </a:p>
        </p:txBody>
      </p:sp>
      <p:pic>
        <p:nvPicPr>
          <p:cNvPr id="6" name="Image 0" descr="../work35/modulos/modulo04/img/lab04_paso4_canastas.png">    </p:cNvPr>
          <p:cNvPicPr>
            <a:picLocks noChangeAspect="1"/>
          </p:cNvPicPr>
          <p:nvPr/>
        </p:nvPicPr>
        <p:blipFill>
          <a:blip r:embed="rId1"/>
          <a:stretch>
            <a:fillRect/>
          </a:stretch>
        </p:blipFill>
        <p:spPr>
          <a:xfrm>
            <a:off x="548640" y="1463040"/>
            <a:ext cx="11091672" cy="423851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Cada fila es una canasta, todo lo que le pasó a una central en un mes, y cada columna cuenta un tipo de evento.</a:t>
            </a:r>
            <a:endParaRPr lang="en-US" sz="1400" dirty="0"/>
          </a:p>
        </p:txBody>
      </p:sp>
      <p:sp>
        <p:nvSpPr>
          <p:cNvPr id="6" name="Shape 4"/>
          <p:cNvSpPr/>
          <p:nvPr/>
        </p:nvSpPr>
        <p:spPr>
          <a:xfrm>
            <a:off x="548640" y="1481328"/>
            <a:ext cx="11091672" cy="2562035"/>
          </a:xfrm>
          <a:prstGeom prst="roundRect">
            <a:avLst>
              <a:gd name="adj" fmla="val 2141"/>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10085832" cy="2370011"/>
          </a:xfrm>
          <a:prstGeom prst="rect">
            <a:avLst/>
          </a:prstGeom>
          <a:noFill/>
          <a:ln/>
        </p:spPr>
        <p:txBody>
          <a:bodyPr wrap="square" lIns="0" tIns="0" rIns="0" bIns="0" rtlCol="0" anchor="t"/>
          <a:lstStyle/>
          <a:p>
            <a:pPr indent="0" marL="0">
              <a:buNone/>
            </a:pPr>
            <a:r>
              <a:rPr lang="en-US" sz="1300"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Una columna nueva con el mes de cada evento, del 1 al 12.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mant[</a:t>
            </a:r>
            <a:pPr indent="0" marL="0">
              <a:buNone/>
            </a:pPr>
            <a:r>
              <a:rPr lang="en-US" sz="1300" dirty="0">
                <a:solidFill>
                  <a:srgbClr val="A31515"/>
                </a:solidFill>
                <a:latin typeface="Courier New" pitchFamily="34" charset="0"/>
                <a:ea typeface="Courier New" pitchFamily="34" charset="-122"/>
                <a:cs typeface="Courier New" pitchFamily="34" charset="-120"/>
              </a:rPr>
              <a:t>"mes"</a:t>
            </a:r>
            <a:pPr indent="0" marL="0">
              <a:buNone/>
            </a:pPr>
            <a:r>
              <a:rPr lang="en-US" sz="1300" dirty="0">
                <a:solidFill>
                  <a:srgbClr val="202124"/>
                </a:solidFill>
                <a:latin typeface="Courier New" pitchFamily="34" charset="0"/>
                <a:ea typeface="Courier New" pitchFamily="34" charset="-122"/>
                <a:cs typeface="Courier New" pitchFamily="34" charset="-120"/>
              </a:rPr>
              <a:t>] = mant[</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].dt.month</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La misma tabla dinámica del Lab 02, ahora contando eventos.</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Una fila por central y mes, y una columna por tipo de evento.</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aggfunc="size" cuenta cuántos eventos cayeron en cada casilla.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conteo = mant.pivot_table(index=[</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"mes"</a:t>
            </a:r>
            <a:pPr indent="0" marL="0">
              <a:buNone/>
            </a:pPr>
            <a:r>
              <a:rPr lang="en-US" sz="1300" dirty="0">
                <a:solidFill>
                  <a:srgbClr val="202124"/>
                </a:solidFill>
                <a:latin typeface="Courier New" pitchFamily="34" charset="0"/>
                <a:ea typeface="Courier New" pitchFamily="34" charset="-122"/>
                <a:cs typeface="Courier New" pitchFamily="34" charset="-120"/>
              </a:rPr>
              <a:t>], columns=</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aggfunc=</a:t>
            </a:r>
            <a:pPr indent="0" marL="0">
              <a:buNone/>
            </a:pPr>
            <a:r>
              <a:rPr lang="en-US" sz="1300" dirty="0">
                <a:solidFill>
                  <a:srgbClr val="A31515"/>
                </a:solidFill>
                <a:latin typeface="Courier New" pitchFamily="34" charset="0"/>
                <a:ea typeface="Courier New" pitchFamily="34" charset="-122"/>
                <a:cs typeface="Courier New" pitchFamily="34" charset="-120"/>
              </a:rPr>
              <a:t>"size"</a:t>
            </a:r>
            <a:pPr indent="0" marL="0">
              <a:buNone/>
            </a:pPr>
            <a:r>
              <a:rPr lang="en-US" sz="1300" dirty="0">
                <a:solidFill>
                  <a:srgbClr val="202124"/>
                </a:solidFill>
                <a:latin typeface="Courier New" pitchFamily="34" charset="0"/>
                <a:ea typeface="Courier New" pitchFamily="34" charset="-122"/>
                <a:cs typeface="Courier New" pitchFamily="34" charset="-120"/>
              </a:rPr>
              <a:t>, fill_value=0)</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"Canastas"</a:t>
            </a:r>
            <a:pPr indent="0" marL="0">
              <a:buNone/>
            </a:pPr>
            <a:r>
              <a:rPr lang="en-US" sz="1300" dirty="0">
                <a:solidFill>
                  <a:srgbClr val="202124"/>
                </a:solidFill>
                <a:latin typeface="Courier New" pitchFamily="34" charset="0"/>
                <a:ea typeface="Courier New" pitchFamily="34" charset="-122"/>
                <a:cs typeface="Courier New" pitchFamily="34" charset="-120"/>
              </a:rPr>
              <a:t>, len(conteo))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conteo.head(6)</a:t>
            </a:r>
            <a:endParaRPr lang="en-US" sz="1300" dirty="0"/>
          </a:p>
        </p:txBody>
      </p:sp>
      <p:sp>
        <p:nvSpPr>
          <p:cNvPr id="10" name="Text 8"/>
          <p:cNvSpPr/>
          <p:nvPr/>
        </p:nvSpPr>
        <p:spPr>
          <a:xfrm>
            <a:off x="1325880" y="4070795"/>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1" name="Text 9"/>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10"/>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13" name="Text 11"/>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5</a:t>
            </a:r>
            <a:endParaRPr lang="en-US" sz="1200" dirty="0"/>
          </a:p>
        </p:txBody>
      </p:sp>
      <p:sp>
        <p:nvSpPr>
          <p:cNvPr id="14" name="Shape 12"/>
          <p:cNvSpPr/>
          <p:nvPr/>
        </p:nvSpPr>
        <p:spPr>
          <a:xfrm>
            <a:off x="2211934" y="6062472"/>
            <a:ext cx="1143000" cy="512064"/>
          </a:xfrm>
          <a:prstGeom prst="roundRect">
            <a:avLst>
              <a:gd name="adj" fmla="val 12500"/>
            </a:avLst>
          </a:prstGeom>
          <a:solidFill>
            <a:srgbClr val="F1F3F4"/>
          </a:solidFill>
          <a:ln w="12700">
            <a:solidFill>
              <a:srgbClr val="DADCE0"/>
            </a:solidFill>
            <a:prstDash val="solid"/>
          </a:ln>
        </p:spPr>
      </p:sp>
      <p:sp>
        <p:nvSpPr>
          <p:cNvPr id="15" name="Text 13"/>
          <p:cNvSpPr/>
          <p:nvPr/>
        </p:nvSpPr>
        <p:spPr>
          <a:xfrm>
            <a:off x="2303374"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6" name="Shape 14"/>
          <p:cNvSpPr/>
          <p:nvPr/>
        </p:nvSpPr>
        <p:spPr>
          <a:xfrm>
            <a:off x="3492094" y="6062472"/>
            <a:ext cx="2750515"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3583534"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568071"/>
          </a:xfrm>
          <a:prstGeom prst="roundRect">
            <a:avLst>
              <a:gd name="adj" fmla="val 9658"/>
            </a:avLst>
          </a:prstGeom>
          <a:solidFill>
            <a:srgbClr val="F8F9FA"/>
          </a:solidFill>
          <a:ln w="12700">
            <a:solidFill>
              <a:srgbClr val="DADCE0"/>
            </a:solidFill>
            <a:prstDash val="solid"/>
          </a:ln>
        </p:spPr>
      </p:sp>
      <p:sp>
        <p:nvSpPr>
          <p:cNvPr id="7" name="Text 5"/>
          <p:cNvSpPr/>
          <p:nvPr/>
        </p:nvSpPr>
        <p:spPr>
          <a:xfrm>
            <a:off x="822960" y="1531620"/>
            <a:ext cx="10634472" cy="430911"/>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conteo = mant.pivot_table(index=[</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"mes"</a:t>
            </a:r>
            <a:pPr indent="0" marL="0">
              <a:buNone/>
            </a:pPr>
            <a:r>
              <a:rPr lang="en-US" sz="1300" dirty="0">
                <a:solidFill>
                  <a:srgbClr val="202124"/>
                </a:solidFill>
                <a:latin typeface="Courier New" pitchFamily="34" charset="0"/>
                <a:ea typeface="Courier New" pitchFamily="34" charset="-122"/>
                <a:cs typeface="Courier New" pitchFamily="34" charset="-120"/>
              </a:rPr>
              <a:t>], columns=</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aggfunc=</a:t>
            </a:r>
            <a:pPr indent="0" marL="0">
              <a:buNone/>
            </a:pPr>
            <a:r>
              <a:rPr lang="en-US" sz="1300" dirty="0">
                <a:solidFill>
                  <a:srgbClr val="A31515"/>
                </a:solidFill>
                <a:latin typeface="Courier New" pitchFamily="34" charset="0"/>
                <a:ea typeface="Courier New" pitchFamily="34" charset="-122"/>
                <a:cs typeface="Courier New" pitchFamily="34" charset="-120"/>
              </a:rPr>
              <a:t>"size"</a:t>
            </a:r>
            <a:pPr indent="0" marL="0">
              <a:buNone/>
            </a:pPr>
            <a:r>
              <a:rPr lang="en-US" sz="1300" dirty="0">
                <a:solidFill>
                  <a:srgbClr val="202124"/>
                </a:solidFill>
                <a:latin typeface="Courier New" pitchFamily="34" charset="0"/>
                <a:ea typeface="Courier New" pitchFamily="34" charset="-122"/>
                <a:cs typeface="Courier New" pitchFamily="34" charset="-120"/>
              </a:rPr>
              <a:t>, fill_value=0)</a:t>
            </a:r>
            <a:endParaRPr lang="en-US" sz="1300" dirty="0"/>
          </a:p>
        </p:txBody>
      </p:sp>
      <p:sp>
        <p:nvSpPr>
          <p:cNvPr id="8" name="Shape 6"/>
          <p:cNvSpPr/>
          <p:nvPr/>
        </p:nvSpPr>
        <p:spPr>
          <a:xfrm>
            <a:off x="548640" y="2497455"/>
            <a:ext cx="329184" cy="329184"/>
          </a:xfrm>
          <a:prstGeom prst="ellipse">
            <a:avLst/>
          </a:prstGeom>
          <a:solidFill>
            <a:srgbClr val="1A6FD4"/>
          </a:solidFill>
          <a:ln w="12700">
            <a:solidFill>
              <a:srgbClr val="1A6FD4"/>
            </a:solidFill>
            <a:prstDash val="solid"/>
          </a:ln>
        </p:spPr>
      </p:sp>
      <p:sp>
        <p:nvSpPr>
          <p:cNvPr id="9" name="Text 7"/>
          <p:cNvSpPr/>
          <p:nvPr/>
        </p:nvSpPr>
        <p:spPr>
          <a:xfrm>
            <a:off x="548640" y="2497455"/>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305431"/>
            <a:ext cx="4937760" cy="713232"/>
          </a:xfrm>
          <a:prstGeom prst="roundRect">
            <a:avLst>
              <a:gd name="adj" fmla="val 6410"/>
            </a:avLst>
          </a:prstGeom>
          <a:solidFill>
            <a:srgbClr val="DBE9FB"/>
          </a:solidFill>
          <a:ln w="12700">
            <a:solidFill>
              <a:srgbClr val="DBE9FB"/>
            </a:solidFill>
            <a:prstDash val="solid"/>
          </a:ln>
        </p:spPr>
      </p:sp>
      <p:sp>
        <p:nvSpPr>
          <p:cNvPr id="11" name="Text 9"/>
          <p:cNvSpPr/>
          <p:nvPr/>
        </p:nvSpPr>
        <p:spPr>
          <a:xfrm>
            <a:off x="1170432" y="2305431"/>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index=["central", "mes"]</a:t>
            </a:r>
            <a:endParaRPr lang="en-US" sz="1400" dirty="0"/>
          </a:p>
        </p:txBody>
      </p:sp>
      <p:sp>
        <p:nvSpPr>
          <p:cNvPr id="12" name="Text 10"/>
          <p:cNvSpPr/>
          <p:nvPr/>
        </p:nvSpPr>
        <p:spPr>
          <a:xfrm>
            <a:off x="6263640" y="2305431"/>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En las filas, cada central en cada mes. Cada fila es una canasta.</a:t>
            </a:r>
            <a:endParaRPr lang="en-US" sz="1600" dirty="0"/>
          </a:p>
        </p:txBody>
      </p:sp>
      <p:sp>
        <p:nvSpPr>
          <p:cNvPr id="13" name="Shape 11"/>
          <p:cNvSpPr/>
          <p:nvPr/>
        </p:nvSpPr>
        <p:spPr>
          <a:xfrm>
            <a:off x="548640" y="3210687"/>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210687"/>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110103"/>
            <a:ext cx="4937760" cy="530352"/>
          </a:xfrm>
          <a:prstGeom prst="roundRect">
            <a:avLst>
              <a:gd name="adj" fmla="val 8621"/>
            </a:avLst>
          </a:prstGeom>
          <a:solidFill>
            <a:srgbClr val="DCEFE0"/>
          </a:solidFill>
          <a:ln w="12700">
            <a:solidFill>
              <a:srgbClr val="DCEFE0"/>
            </a:solidFill>
            <a:prstDash val="solid"/>
          </a:ln>
        </p:spPr>
      </p:sp>
      <p:sp>
        <p:nvSpPr>
          <p:cNvPr id="16" name="Text 14"/>
          <p:cNvSpPr/>
          <p:nvPr/>
        </p:nvSpPr>
        <p:spPr>
          <a:xfrm>
            <a:off x="1170432" y="3110103"/>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columns="tipo_evento"</a:t>
            </a:r>
            <a:endParaRPr lang="en-US" sz="1400" dirty="0"/>
          </a:p>
        </p:txBody>
      </p:sp>
      <p:sp>
        <p:nvSpPr>
          <p:cNvPr id="17" name="Text 15"/>
          <p:cNvSpPr/>
          <p:nvPr/>
        </p:nvSpPr>
        <p:spPr>
          <a:xfrm>
            <a:off x="6263640" y="3110103"/>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columna por cada tipo de evento.</a:t>
            </a:r>
            <a:endParaRPr lang="en-US" sz="1600" dirty="0"/>
          </a:p>
        </p:txBody>
      </p:sp>
      <p:sp>
        <p:nvSpPr>
          <p:cNvPr id="18" name="Shape 16"/>
          <p:cNvSpPr/>
          <p:nvPr/>
        </p:nvSpPr>
        <p:spPr>
          <a:xfrm>
            <a:off x="548640" y="3832479"/>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3832479"/>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731895"/>
            <a:ext cx="4937760" cy="530352"/>
          </a:xfrm>
          <a:prstGeom prst="roundRect">
            <a:avLst>
              <a:gd name="adj" fmla="val 8621"/>
            </a:avLst>
          </a:prstGeom>
          <a:solidFill>
            <a:srgbClr val="FDF0C8"/>
          </a:solidFill>
          <a:ln w="12700">
            <a:solidFill>
              <a:srgbClr val="FDF0C8"/>
            </a:solidFill>
            <a:prstDash val="solid"/>
          </a:ln>
        </p:spPr>
      </p:sp>
      <p:sp>
        <p:nvSpPr>
          <p:cNvPr id="21" name="Text 19"/>
          <p:cNvSpPr/>
          <p:nvPr/>
        </p:nvSpPr>
        <p:spPr>
          <a:xfrm>
            <a:off x="1170432" y="3731895"/>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aggfunc="size"</a:t>
            </a:r>
            <a:endParaRPr lang="en-US" sz="1400" dirty="0"/>
          </a:p>
        </p:txBody>
      </p:sp>
      <p:sp>
        <p:nvSpPr>
          <p:cNvPr id="22" name="Text 20"/>
          <p:cNvSpPr/>
          <p:nvPr/>
        </p:nvSpPr>
        <p:spPr>
          <a:xfrm>
            <a:off x="6263640" y="3731895"/>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En cada casilla, cuántos eventos cayeron ahí.</a:t>
            </a:r>
            <a:endParaRPr lang="en-US" sz="1600" dirty="0"/>
          </a:p>
        </p:txBody>
      </p:sp>
      <p:sp>
        <p:nvSpPr>
          <p:cNvPr id="23" name="Shape 21"/>
          <p:cNvSpPr/>
          <p:nvPr/>
        </p:nvSpPr>
        <p:spPr>
          <a:xfrm>
            <a:off x="548640" y="4454271"/>
            <a:ext cx="329184" cy="329184"/>
          </a:xfrm>
          <a:prstGeom prst="ellipse">
            <a:avLst/>
          </a:prstGeom>
          <a:solidFill>
            <a:srgbClr val="7B4FC9"/>
          </a:solidFill>
          <a:ln w="12700">
            <a:solidFill>
              <a:srgbClr val="7B4FC9"/>
            </a:solidFill>
            <a:prstDash val="solid"/>
          </a:ln>
        </p:spPr>
      </p:sp>
      <p:sp>
        <p:nvSpPr>
          <p:cNvPr id="24" name="Text 22"/>
          <p:cNvSpPr/>
          <p:nvPr/>
        </p:nvSpPr>
        <p:spPr>
          <a:xfrm>
            <a:off x="548640" y="4454271"/>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53687"/>
            <a:ext cx="4937760" cy="530352"/>
          </a:xfrm>
          <a:prstGeom prst="roundRect">
            <a:avLst>
              <a:gd name="adj" fmla="val 8621"/>
            </a:avLst>
          </a:prstGeom>
          <a:solidFill>
            <a:srgbClr val="ECE2FA"/>
          </a:solidFill>
          <a:ln w="12700">
            <a:solidFill>
              <a:srgbClr val="ECE2FA"/>
            </a:solidFill>
            <a:prstDash val="solid"/>
          </a:ln>
        </p:spPr>
      </p:sp>
      <p:sp>
        <p:nvSpPr>
          <p:cNvPr id="26" name="Text 24"/>
          <p:cNvSpPr/>
          <p:nvPr/>
        </p:nvSpPr>
        <p:spPr>
          <a:xfrm>
            <a:off x="1170432" y="4353687"/>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fill_value=0</a:t>
            </a:r>
            <a:endParaRPr lang="en-US" sz="1400" dirty="0"/>
          </a:p>
        </p:txBody>
      </p:sp>
      <p:sp>
        <p:nvSpPr>
          <p:cNvPr id="27" name="Text 25"/>
          <p:cNvSpPr/>
          <p:nvPr/>
        </p:nvSpPr>
        <p:spPr>
          <a:xfrm>
            <a:off x="6263640" y="4353687"/>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Cero donde no hubo ningún evento de ese tipo.</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arma una tabla dinámica que cuente, para cada central en cada mes, cuántos eventos hubo de cada tipo.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Cada fila es una canasta, todo lo que le pasó a una central en un mes, y cada columna cuenta un tipo de evento.</a:t>
            </a:r>
            <a:endParaRPr lang="en-US" sz="1400" dirty="0"/>
          </a:p>
        </p:txBody>
      </p:sp>
      <p:sp>
        <p:nvSpPr>
          <p:cNvPr id="6" name="Text 4"/>
          <p:cNvSpPr/>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Canastas 215</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325880" y="2304288"/>
          <a:ext cx="9144000" cy="914400"/>
        </p:xfrm>
        <a:graphic>
          <a:graphicData uri="http://schemas.openxmlformats.org/drawingml/2006/table">
            <a:tbl>
              <a:tblPr/>
              <a:tblGrid>
                <a:gridCol w="2419139"/>
                <a:gridCol w="420200"/>
                <a:gridCol w="1028573"/>
                <a:gridCol w="1550035"/>
                <a:gridCol w="1463125"/>
                <a:gridCol w="1376214"/>
                <a:gridCol w="1028573"/>
                <a:gridCol w="1028573"/>
              </a:tblGrid>
              <a:tr h="237744">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central</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mes</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correctivo</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evento_climatico</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falla_electrica</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falla_mecanica</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inspeccion</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preventivo</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Carboeléctrica Costa Brava</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2</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3</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4</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5</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6</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0</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0"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526134" cy="512064"/>
          </a:xfrm>
          <a:prstGeom prst="roundRect">
            <a:avLst>
              <a:gd name="adj" fmla="val 12500"/>
            </a:avLst>
          </a:prstGeom>
          <a:solidFill>
            <a:srgbClr val="FEF3D6"/>
          </a:solidFill>
          <a:ln w="25400">
            <a:solidFill>
              <a:srgbClr val="F9AB00"/>
            </a:solidFill>
            <a:prstDash val="solid"/>
          </a:ln>
        </p:spPr>
      </p:sp>
      <p:sp>
        <p:nvSpPr>
          <p:cNvPr id="12" name="Text 9"/>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3" name="Shape 10"/>
          <p:cNvSpPr/>
          <p:nvPr/>
        </p:nvSpPr>
        <p:spPr>
          <a:xfrm>
            <a:off x="2211934" y="6062472"/>
            <a:ext cx="1526134" cy="512064"/>
          </a:xfrm>
          <a:prstGeom prst="roundRect">
            <a:avLst>
              <a:gd name="adj" fmla="val 12500"/>
            </a:avLst>
          </a:prstGeom>
          <a:solidFill>
            <a:srgbClr val="FEF3D6"/>
          </a:solidFill>
          <a:ln w="25400">
            <a:solidFill>
              <a:srgbClr val="F9AB00"/>
            </a:solidFill>
            <a:prstDash val="solid"/>
          </a:ln>
        </p:spPr>
      </p:sp>
      <p:sp>
        <p:nvSpPr>
          <p:cNvPr id="14" name="Text 11"/>
          <p:cNvSpPr/>
          <p:nvPr/>
        </p:nvSpPr>
        <p:spPr>
          <a:xfrm>
            <a:off x="230337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conteo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5" name="Shape 12"/>
          <p:cNvSpPr/>
          <p:nvPr/>
        </p:nvSpPr>
        <p:spPr>
          <a:xfrm>
            <a:off x="3875227" y="6062472"/>
            <a:ext cx="1143000" cy="512064"/>
          </a:xfrm>
          <a:prstGeom prst="roundRect">
            <a:avLst>
              <a:gd name="adj" fmla="val 12500"/>
            </a:avLst>
          </a:prstGeom>
          <a:solidFill>
            <a:srgbClr val="F1F3F4"/>
          </a:solidFill>
          <a:ln w="12700">
            <a:solidFill>
              <a:srgbClr val="DADCE0"/>
            </a:solidFill>
            <a:prstDash val="solid"/>
          </a:ln>
        </p:spPr>
      </p:sp>
      <p:sp>
        <p:nvSpPr>
          <p:cNvPr id="16" name="Text 13"/>
          <p:cNvSpPr/>
          <p:nvPr/>
        </p:nvSpPr>
        <p:spPr>
          <a:xfrm>
            <a:off x="3966667"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7" name="Shape 14"/>
          <p:cNvSpPr/>
          <p:nvPr/>
        </p:nvSpPr>
        <p:spPr>
          <a:xfrm>
            <a:off x="5155387" y="6062472"/>
            <a:ext cx="2750515" cy="512064"/>
          </a:xfrm>
          <a:prstGeom prst="roundRect">
            <a:avLst>
              <a:gd name="adj" fmla="val 12500"/>
            </a:avLst>
          </a:prstGeom>
          <a:solidFill>
            <a:srgbClr val="F1F3F4"/>
          </a:solidFill>
          <a:ln w="12700">
            <a:solidFill>
              <a:srgbClr val="DADCE0"/>
            </a:solidFill>
            <a:prstDash val="solid"/>
          </a:ln>
        </p:spPr>
      </p:sp>
      <p:sp>
        <p:nvSpPr>
          <p:cNvPr id="18" name="Text 15"/>
          <p:cNvSpPr/>
          <p:nvPr/>
        </p:nvSpPr>
        <p:spPr>
          <a:xfrm>
            <a:off x="5246827"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9" name="Text 16"/>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215 canastas. Costa Brava tuvo un preventivo en enero, y una falla eléctrica y un preventivo en febrero.</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le pasó a cada central en cada mes?</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canasta junta lo que le pasó a una central en un mes.</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La tabla dinámica del Lab 02 la arma contando eventos, una fila por canasta y una columna por tipo.</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526134"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2" name="Shape 10"/>
          <p:cNvSpPr/>
          <p:nvPr/>
        </p:nvSpPr>
        <p:spPr>
          <a:xfrm>
            <a:off x="2211934" y="6062472"/>
            <a:ext cx="1526134"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230337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conteo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4" name="Shape 12"/>
          <p:cNvSpPr/>
          <p:nvPr/>
        </p:nvSpPr>
        <p:spPr>
          <a:xfrm>
            <a:off x="3875227" y="6062472"/>
            <a:ext cx="1143000" cy="512064"/>
          </a:xfrm>
          <a:prstGeom prst="roundRect">
            <a:avLst>
              <a:gd name="adj" fmla="val 12500"/>
            </a:avLst>
          </a:prstGeom>
          <a:solidFill>
            <a:srgbClr val="F1F3F4"/>
          </a:solidFill>
          <a:ln w="12700">
            <a:solidFill>
              <a:srgbClr val="DADCE0"/>
            </a:solidFill>
            <a:prstDash val="solid"/>
          </a:ln>
        </p:spPr>
      </p:sp>
      <p:sp>
        <p:nvSpPr>
          <p:cNvPr id="15" name="Text 13"/>
          <p:cNvSpPr/>
          <p:nvPr/>
        </p:nvSpPr>
        <p:spPr>
          <a:xfrm>
            <a:off x="3966667"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6" name="Shape 14"/>
          <p:cNvSpPr/>
          <p:nvPr/>
        </p:nvSpPr>
        <p:spPr>
          <a:xfrm>
            <a:off x="5155387" y="6062472"/>
            <a:ext cx="2750515"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5246827"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los conteos pasan a sí o no.</a:t>
            </a:r>
            <a:endParaRPr lang="en-US" sz="1400" dirty="0"/>
          </a:p>
        </p:txBody>
      </p:sp>
      <p:pic>
        <p:nvPicPr>
          <p:cNvPr id="6" name="Image 0" descr="../work35/modulos/modulo04/img/lab04_paso5_tabla.png">    </p:cNvPr>
          <p:cNvPicPr>
            <a:picLocks noChangeAspect="1"/>
          </p:cNvPicPr>
          <p:nvPr/>
        </p:nvPicPr>
        <p:blipFill>
          <a:blip r:embed="rId1"/>
          <a:stretch>
            <a:fillRect/>
          </a:stretch>
        </p:blipFill>
        <p:spPr>
          <a:xfrm>
            <a:off x="548640" y="1463040"/>
            <a:ext cx="11091672" cy="452249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Por qué el promedio de True y False da un porcentaje.</a:t>
            </a:r>
            <a:endParaRPr lang="en-US" sz="1400" dirty="0"/>
          </a:p>
        </p:txBody>
      </p:sp>
      <p:pic>
        <p:nvPicPr>
          <p:cNvPr id="6" name="Image 0" descr="../work35/modulos/modulo04/img/lab04_paso5_promedio.png">    </p:cNvPr>
          <p:cNvPicPr>
            <a:picLocks noChangeAspect="1"/>
          </p:cNvPicPr>
          <p:nvPr/>
        </p:nvPicPr>
        <p:blipFill>
          <a:blip r:embed="rId1"/>
          <a:stretch>
            <a:fillRect/>
          </a:stretch>
        </p:blipFill>
        <p:spPr>
          <a:xfrm>
            <a:off x="548640" y="1463040"/>
            <a:ext cx="11091672" cy="437921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 tabla de abajo dice True donde el evento pasó al menos una vez en esa canasta.</a:t>
            </a:r>
            <a:endParaRPr lang="en-US" sz="1400" dirty="0"/>
          </a:p>
        </p:txBody>
      </p:sp>
      <p:sp>
        <p:nvSpPr>
          <p:cNvPr id="6" name="Shape 4"/>
          <p:cNvSpPr/>
          <p:nvPr/>
        </p:nvSpPr>
        <p:spPr>
          <a:xfrm>
            <a:off x="548640" y="1481328"/>
            <a:ext cx="11091672" cy="2131124"/>
          </a:xfrm>
          <a:prstGeom prst="roundRect">
            <a:avLst>
              <a:gd name="adj" fmla="val 2574"/>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10085832" cy="1939100"/>
          </a:xfrm>
          <a:prstGeom prst="rect">
            <a:avLst/>
          </a:prstGeom>
          <a:noFill/>
          <a:ln/>
        </p:spPr>
        <p:txBody>
          <a:bodyPr wrap="square" lIns="0" tIns="0" rIns="0" bIns="0" rtlCol="0" anchor="t"/>
          <a:lstStyle/>
          <a:p>
            <a:pPr indent="0" marL="0">
              <a:buNone/>
            </a:pPr>
            <a:r>
              <a:rPr lang="en-US" sz="1300" dirty="0">
                <a:solidFill>
                  <a:srgbClr val="188038"/>
                </a:solidFill>
                <a:latin typeface="Courier New" pitchFamily="34" charset="0"/>
                <a:ea typeface="Courier New" pitchFamily="34" charset="-122"/>
                <a:cs typeface="Courier New" pitchFamily="34" charset="-120"/>
              </a:rPr>
              <a:t># Paso 3</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Más de cero veces es sí. La tabla queda con True y False.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tabla = conteo &gt; 0</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El promedio de una columna de True y False es la proporción de True.</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Por 100 queda en porcentaje.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"Porcentaje de canastas donde aparece cada evento"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print((100 * tabla.mean()).round(1).sort_values(ascending=False))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tabla.head(6)</a:t>
            </a:r>
            <a:endParaRPr lang="en-US" sz="1300" dirty="0"/>
          </a:p>
        </p:txBody>
      </p:sp>
      <p:sp>
        <p:nvSpPr>
          <p:cNvPr id="10" name="Text 8"/>
          <p:cNvSpPr/>
          <p:nvPr/>
        </p:nvSpPr>
        <p:spPr>
          <a:xfrm>
            <a:off x="1325880" y="363988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1" name="Text 9"/>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10"/>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13" name="Text 11"/>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conteo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4" name="Shape 12"/>
          <p:cNvSpPr/>
          <p:nvPr/>
        </p:nvSpPr>
        <p:spPr>
          <a:xfrm>
            <a:off x="2211934" y="6062472"/>
            <a:ext cx="1526134" cy="512064"/>
          </a:xfrm>
          <a:prstGeom prst="roundRect">
            <a:avLst>
              <a:gd name="adj" fmla="val 12500"/>
            </a:avLst>
          </a:prstGeom>
          <a:solidFill>
            <a:srgbClr val="F1F3F4"/>
          </a:solidFill>
          <a:ln w="12700">
            <a:solidFill>
              <a:srgbClr val="DADCE0"/>
            </a:solidFill>
            <a:prstDash val="solid"/>
          </a:ln>
        </p:spPr>
      </p:sp>
      <p:sp>
        <p:nvSpPr>
          <p:cNvPr id="15" name="Text 13"/>
          <p:cNvSpPr/>
          <p:nvPr/>
        </p:nvSpPr>
        <p:spPr>
          <a:xfrm>
            <a:off x="230337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6" name="Shape 14"/>
          <p:cNvSpPr/>
          <p:nvPr/>
        </p:nvSpPr>
        <p:spPr>
          <a:xfrm>
            <a:off x="3875227" y="6062472"/>
            <a:ext cx="1143000"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3966667"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8" name="Shape 16"/>
          <p:cNvSpPr/>
          <p:nvPr/>
        </p:nvSpPr>
        <p:spPr>
          <a:xfrm>
            <a:off x="5155387" y="6062472"/>
            <a:ext cx="2750515"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5246827"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72768"/>
            <a:ext cx="10634472" cy="26517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print((100 * tabla.mean()).round(1).sort_values(ascending=False))</a:t>
            </a:r>
            <a:endParaRPr lang="en-US" sz="1600" dirty="0"/>
          </a:p>
        </p:txBody>
      </p:sp>
      <p:sp>
        <p:nvSpPr>
          <p:cNvPr id="8" name="Shape 6"/>
          <p:cNvSpPr/>
          <p:nvPr/>
        </p:nvSpPr>
        <p:spPr>
          <a:xfrm>
            <a:off x="548640" y="241401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4140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713232"/>
          </a:xfrm>
          <a:prstGeom prst="roundRect">
            <a:avLst>
              <a:gd name="adj" fmla="val 6410"/>
            </a:avLst>
          </a:prstGeom>
          <a:solidFill>
            <a:srgbClr val="DBE9FB"/>
          </a:solidFill>
          <a:ln w="12700">
            <a:solidFill>
              <a:srgbClr val="DBE9FB"/>
            </a:solidFill>
            <a:prstDash val="solid"/>
          </a:ln>
        </p:spPr>
      </p:sp>
      <p:sp>
        <p:nvSpPr>
          <p:cNvPr id="11" name="Text 9"/>
          <p:cNvSpPr/>
          <p:nvPr/>
        </p:nvSpPr>
        <p:spPr>
          <a:xfrm>
            <a:off x="1170432" y="2221992"/>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tabla.mean()</a:t>
            </a:r>
            <a:endParaRPr lang="en-US" sz="1400" dirty="0"/>
          </a:p>
        </p:txBody>
      </p:sp>
      <p:sp>
        <p:nvSpPr>
          <p:cNvPr id="12" name="Text 10"/>
          <p:cNvSpPr/>
          <p:nvPr/>
        </p:nvSpPr>
        <p:spPr>
          <a:xfrm>
            <a:off x="6263640" y="2221992"/>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promedio de cada columna. Con True y False, la proporción de True.</a:t>
            </a:r>
            <a:endParaRPr lang="en-US" sz="1600" dirty="0"/>
          </a:p>
        </p:txBody>
      </p:sp>
      <p:sp>
        <p:nvSpPr>
          <p:cNvPr id="13" name="Shape 11"/>
          <p:cNvSpPr/>
          <p:nvPr/>
        </p:nvSpPr>
        <p:spPr>
          <a:xfrm>
            <a:off x="548640" y="312724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026664"/>
            <a:ext cx="4937760" cy="530352"/>
          </a:xfrm>
          <a:prstGeom prst="roundRect">
            <a:avLst>
              <a:gd name="adj" fmla="val 8621"/>
            </a:avLst>
          </a:prstGeom>
          <a:solidFill>
            <a:srgbClr val="DCEFE0"/>
          </a:solidFill>
          <a:ln w="12700">
            <a:solidFill>
              <a:srgbClr val="DCEFE0"/>
            </a:solidFill>
            <a:prstDash val="solid"/>
          </a:ln>
        </p:spPr>
      </p:sp>
      <p:sp>
        <p:nvSpPr>
          <p:cNvPr id="16" name="Text 14"/>
          <p:cNvSpPr/>
          <p:nvPr/>
        </p:nvSpPr>
        <p:spPr>
          <a:xfrm>
            <a:off x="1170432" y="302666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100 * ( ... )</a:t>
            </a:r>
            <a:endParaRPr lang="en-US" sz="1400" dirty="0"/>
          </a:p>
        </p:txBody>
      </p:sp>
      <p:sp>
        <p:nvSpPr>
          <p:cNvPr id="17" name="Text 15"/>
          <p:cNvSpPr/>
          <p:nvPr/>
        </p:nvSpPr>
        <p:spPr>
          <a:xfrm>
            <a:off x="6263640" y="302666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Pasa la proporción a porcentaje.</a:t>
            </a:r>
            <a:endParaRPr lang="en-US" sz="1600" dirty="0"/>
          </a:p>
        </p:txBody>
      </p:sp>
      <p:sp>
        <p:nvSpPr>
          <p:cNvPr id="18" name="Shape 16"/>
          <p:cNvSpPr/>
          <p:nvPr/>
        </p:nvSpPr>
        <p:spPr>
          <a:xfrm>
            <a:off x="548640" y="3749040"/>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3749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48456"/>
            <a:ext cx="4937760" cy="530352"/>
          </a:xfrm>
          <a:prstGeom prst="roundRect">
            <a:avLst>
              <a:gd name="adj" fmla="val 8621"/>
            </a:avLst>
          </a:prstGeom>
          <a:solidFill>
            <a:srgbClr val="FDF0C8"/>
          </a:solidFill>
          <a:ln w="12700">
            <a:solidFill>
              <a:srgbClr val="FDF0C8"/>
            </a:solidFill>
            <a:prstDash val="solid"/>
          </a:ln>
        </p:spPr>
      </p:sp>
      <p:sp>
        <p:nvSpPr>
          <p:cNvPr id="21" name="Text 19"/>
          <p:cNvSpPr/>
          <p:nvPr/>
        </p:nvSpPr>
        <p:spPr>
          <a:xfrm>
            <a:off x="1170432" y="364845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.round(1)</a:t>
            </a:r>
            <a:endParaRPr lang="en-US" sz="1400" dirty="0"/>
          </a:p>
        </p:txBody>
      </p:sp>
      <p:sp>
        <p:nvSpPr>
          <p:cNvPr id="22" name="Text 20"/>
          <p:cNvSpPr/>
          <p:nvPr/>
        </p:nvSpPr>
        <p:spPr>
          <a:xfrm>
            <a:off x="6263640" y="364845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Deja un decimal.</a:t>
            </a:r>
            <a:endParaRPr lang="en-US" sz="1600" dirty="0"/>
          </a:p>
        </p:txBody>
      </p:sp>
      <p:sp>
        <p:nvSpPr>
          <p:cNvPr id="23" name="Shape 21"/>
          <p:cNvSpPr/>
          <p:nvPr/>
        </p:nvSpPr>
        <p:spPr>
          <a:xfrm>
            <a:off x="548640" y="4370832"/>
            <a:ext cx="329184" cy="329184"/>
          </a:xfrm>
          <a:prstGeom prst="ellipse">
            <a:avLst/>
          </a:prstGeom>
          <a:solidFill>
            <a:srgbClr val="7B4FC9"/>
          </a:solidFill>
          <a:ln w="12700">
            <a:solidFill>
              <a:srgbClr val="7B4FC9"/>
            </a:solidFill>
            <a:prstDash val="solid"/>
          </a:ln>
        </p:spPr>
      </p:sp>
      <p:sp>
        <p:nvSpPr>
          <p:cNvPr id="24" name="Text 22"/>
          <p:cNvSpPr/>
          <p:nvPr/>
        </p:nvSpPr>
        <p:spPr>
          <a:xfrm>
            <a:off x="548640" y="43708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270248"/>
            <a:ext cx="4937760" cy="530352"/>
          </a:xfrm>
          <a:prstGeom prst="roundRect">
            <a:avLst>
              <a:gd name="adj" fmla="val 8621"/>
            </a:avLst>
          </a:prstGeom>
          <a:solidFill>
            <a:srgbClr val="ECE2FA"/>
          </a:solidFill>
          <a:ln w="12700">
            <a:solidFill>
              <a:srgbClr val="ECE2FA"/>
            </a:solidFill>
            <a:prstDash val="solid"/>
          </a:ln>
        </p:spPr>
      </p:sp>
      <p:sp>
        <p:nvSpPr>
          <p:cNvPr id="26" name="Text 24"/>
          <p:cNvSpPr/>
          <p:nvPr/>
        </p:nvSpPr>
        <p:spPr>
          <a:xfrm>
            <a:off x="1170432" y="4270248"/>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.sort_values(ascending=False)</a:t>
            </a:r>
            <a:endParaRPr lang="en-US" sz="1400" dirty="0"/>
          </a:p>
        </p:txBody>
      </p:sp>
      <p:sp>
        <p:nvSpPr>
          <p:cNvPr id="27" name="Text 25"/>
          <p:cNvSpPr/>
          <p:nvPr/>
        </p:nvSpPr>
        <p:spPr>
          <a:xfrm>
            <a:off x="6263640" y="4270248"/>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Ordena de mayor a menor.</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en qué porcentaje de las canastas aparece cada tipo de evento, ordenado de mayor a menor.</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 tabla de abajo dice True donde el evento pasó al menos una vez en esa canasta.</a:t>
            </a:r>
            <a:endParaRPr lang="en-US" sz="1400" dirty="0"/>
          </a:p>
        </p:txBody>
      </p:sp>
      <p:sp>
        <p:nvSpPr>
          <p:cNvPr id="6" name="Text 4"/>
          <p:cNvSpPr/>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2037283"/>
          </a:xfrm>
          <a:prstGeom prst="rect">
            <a:avLst/>
          </a:prstGeom>
          <a:solidFill>
            <a:srgbClr val="FFFFFF"/>
          </a:solidFill>
          <a:ln w="12700">
            <a:solidFill>
              <a:srgbClr val="DADCE0"/>
            </a:solidFill>
            <a:prstDash val="solid"/>
          </a:ln>
        </p:spPr>
      </p:sp>
      <p:sp>
        <p:nvSpPr>
          <p:cNvPr id="8" name="Text 6"/>
          <p:cNvSpPr/>
          <p:nvPr/>
        </p:nvSpPr>
        <p:spPr>
          <a:xfrm>
            <a:off x="1463040" y="1901952"/>
            <a:ext cx="10085832" cy="1909267"/>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Porcentaje de canastas donde aparece cada evento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tipo_evento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56.3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40.0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39.5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36.3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25.6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19.5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dtype: float64</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3957523"/>
          <a:ext cx="9144000" cy="914400"/>
        </p:xfrm>
        <a:graphic>
          <a:graphicData uri="http://schemas.openxmlformats.org/drawingml/2006/table">
            <a:tbl>
              <a:tblPr/>
              <a:tblGrid>
                <a:gridCol w="2419139"/>
                <a:gridCol w="420200"/>
                <a:gridCol w="1028573"/>
                <a:gridCol w="1550035"/>
                <a:gridCol w="1463125"/>
                <a:gridCol w="1376214"/>
                <a:gridCol w="1028573"/>
                <a:gridCol w="1028573"/>
              </a:tblGrid>
              <a:tr h="237744">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central</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mes</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correctivo</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evento_climatico</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falla_electrica</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falla_mecanica</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inspeccion</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950" b="1" dirty="0">
                          <a:solidFill>
                            <a:srgbClr val="202124"/>
                          </a:solidFill>
                          <a:latin typeface="Courier New" pitchFamily="34" charset="0"/>
                          <a:ea typeface="Courier New" pitchFamily="34" charset="-122"/>
                          <a:cs typeface="Courier New" pitchFamily="34" charset="-120"/>
                        </a:rPr>
                        <a:t>preventivo</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Carboeléctrica Costa Brava</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1</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True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2</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True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True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3</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True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True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4</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False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950" dirty="0">
                          <a:solidFill>
                            <a:srgbClr val="202124"/>
                          </a:solidFill>
                          <a:latin typeface="Courier New" pitchFamily="34" charset="0"/>
                          <a:ea typeface="Courier New" pitchFamily="34" charset="-122"/>
                          <a:cs typeface="Courier New" pitchFamily="34" charset="-120"/>
                        </a:rPr>
                        <a:t>True</a:t>
                      </a:r>
                      <a:endParaRPr lang="en-US" sz="95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0" name="Text 7"/>
          <p:cNvSpPr/>
          <p:nvPr/>
        </p:nvSpPr>
        <p:spPr>
          <a:xfrm>
            <a:off x="1325880" y="5237683"/>
            <a:ext cx="7315200" cy="256032"/>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 y 2 filas más, 6 en total. En Colab se ven todas.</a:t>
            </a:r>
            <a:endParaRPr lang="en-US" sz="1200" dirty="0"/>
          </a:p>
        </p:txBody>
      </p:sp>
      <p:sp>
        <p:nvSpPr>
          <p:cNvPr id="11" name="Text 8"/>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9"/>
          <p:cNvSpPr/>
          <p:nvPr/>
        </p:nvSpPr>
        <p:spPr>
          <a:xfrm>
            <a:off x="548640" y="6062472"/>
            <a:ext cx="1526134" cy="512064"/>
          </a:xfrm>
          <a:prstGeom prst="roundRect">
            <a:avLst>
              <a:gd name="adj" fmla="val 12500"/>
            </a:avLst>
          </a:prstGeom>
          <a:solidFill>
            <a:srgbClr val="FEF3D6"/>
          </a:solidFill>
          <a:ln w="25400">
            <a:solidFill>
              <a:srgbClr val="F9AB00"/>
            </a:solidFill>
            <a:prstDash val="solid"/>
          </a:ln>
        </p:spPr>
      </p:sp>
      <p:sp>
        <p:nvSpPr>
          <p:cNvPr id="13" name="Text 10"/>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4" name="Shape 11"/>
          <p:cNvSpPr/>
          <p:nvPr/>
        </p:nvSpPr>
        <p:spPr>
          <a:xfrm>
            <a:off x="2211934" y="6062472"/>
            <a:ext cx="1526134" cy="512064"/>
          </a:xfrm>
          <a:prstGeom prst="roundRect">
            <a:avLst>
              <a:gd name="adj" fmla="val 12500"/>
            </a:avLst>
          </a:prstGeom>
          <a:solidFill>
            <a:srgbClr val="E8F0FE"/>
          </a:solidFill>
          <a:ln w="28575">
            <a:solidFill>
              <a:srgbClr val="1A73E8"/>
            </a:solidFill>
            <a:prstDash val="solid"/>
          </a:ln>
        </p:spPr>
      </p:sp>
      <p:sp>
        <p:nvSpPr>
          <p:cNvPr id="15" name="Text 12"/>
          <p:cNvSpPr/>
          <p:nvPr/>
        </p:nvSpPr>
        <p:spPr>
          <a:xfrm>
            <a:off x="230337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conteo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6" name="Shape 13"/>
          <p:cNvSpPr/>
          <p:nvPr/>
        </p:nvSpPr>
        <p:spPr>
          <a:xfrm>
            <a:off x="3875227" y="6062472"/>
            <a:ext cx="1526134" cy="512064"/>
          </a:xfrm>
          <a:prstGeom prst="roundRect">
            <a:avLst>
              <a:gd name="adj" fmla="val 12500"/>
            </a:avLst>
          </a:prstGeom>
          <a:solidFill>
            <a:srgbClr val="F1F3F4"/>
          </a:solidFill>
          <a:ln w="12700">
            <a:solidFill>
              <a:srgbClr val="DADCE0"/>
            </a:solidFill>
            <a:prstDash val="solid"/>
          </a:ln>
        </p:spPr>
      </p:sp>
      <p:sp>
        <p:nvSpPr>
          <p:cNvPr id="17" name="Text 14"/>
          <p:cNvSpPr/>
          <p:nvPr/>
        </p:nvSpPr>
        <p:spPr>
          <a:xfrm>
            <a:off x="396666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8" name="Shape 15"/>
          <p:cNvSpPr/>
          <p:nvPr/>
        </p:nvSpPr>
        <p:spPr>
          <a:xfrm>
            <a:off x="5538521" y="6062472"/>
            <a:ext cx="1143000" cy="512064"/>
          </a:xfrm>
          <a:prstGeom prst="roundRect">
            <a:avLst>
              <a:gd name="adj" fmla="val 12500"/>
            </a:avLst>
          </a:prstGeom>
          <a:solidFill>
            <a:srgbClr val="F1F3F4"/>
          </a:solidFill>
          <a:ln w="12700">
            <a:solidFill>
              <a:srgbClr val="DADCE0"/>
            </a:solidFill>
            <a:prstDash val="solid"/>
          </a:ln>
        </p:spPr>
      </p:sp>
      <p:sp>
        <p:nvSpPr>
          <p:cNvPr id="19" name="Text 16"/>
          <p:cNvSpPr/>
          <p:nvPr/>
        </p:nvSpPr>
        <p:spPr>
          <a:xfrm>
            <a:off x="5629961"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0" name="Shape 17"/>
          <p:cNvSpPr/>
          <p:nvPr/>
        </p:nvSpPr>
        <p:spPr>
          <a:xfrm>
            <a:off x="6818681" y="6062472"/>
            <a:ext cx="2750515" cy="512064"/>
          </a:xfrm>
          <a:prstGeom prst="roundRect">
            <a:avLst>
              <a:gd name="adj" fmla="val 12500"/>
            </a:avLst>
          </a:prstGeom>
          <a:solidFill>
            <a:srgbClr val="F1F3F4"/>
          </a:solidFill>
          <a:ln w="12700">
            <a:solidFill>
              <a:srgbClr val="DADCE0"/>
            </a:solidFill>
            <a:prstDash val="solid"/>
          </a:ln>
        </p:spPr>
      </p:sp>
      <p:sp>
        <p:nvSpPr>
          <p:cNvPr id="21" name="Text 18"/>
          <p:cNvSpPr/>
          <p:nvPr/>
        </p:nvSpPr>
        <p:spPr>
          <a:xfrm>
            <a:off x="6910121"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2" name="Text 19"/>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El preventivo aparece en el 56,3 por ciento de las canastas y la falla eléctrica en el 19,5.</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¿En cuántas canastas aparece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El promedio de una columna de sí o no es un porcentaje.</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Así se sabe qué tan común es cada evento, contando canastas y no eventos.</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526134"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2" name="Shape 10"/>
          <p:cNvSpPr/>
          <p:nvPr/>
        </p:nvSpPr>
        <p:spPr>
          <a:xfrm>
            <a:off x="2211934" y="6062472"/>
            <a:ext cx="1526134" cy="512064"/>
          </a:xfrm>
          <a:prstGeom prst="roundRect">
            <a:avLst>
              <a:gd name="adj" fmla="val 12500"/>
            </a:avLst>
          </a:prstGeom>
          <a:solidFill>
            <a:srgbClr val="E8F0FE"/>
          </a:solidFill>
          <a:ln w="28575">
            <a:solidFill>
              <a:srgbClr val="1A73E8"/>
            </a:solidFill>
            <a:prstDash val="solid"/>
          </a:ln>
        </p:spPr>
      </p:sp>
      <p:sp>
        <p:nvSpPr>
          <p:cNvPr id="13" name="Text 11"/>
          <p:cNvSpPr/>
          <p:nvPr/>
        </p:nvSpPr>
        <p:spPr>
          <a:xfrm>
            <a:off x="230337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conteo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4" name="Shape 12"/>
          <p:cNvSpPr/>
          <p:nvPr/>
        </p:nvSpPr>
        <p:spPr>
          <a:xfrm>
            <a:off x="3875227" y="6062472"/>
            <a:ext cx="1526134" cy="512064"/>
          </a:xfrm>
          <a:prstGeom prst="roundRect">
            <a:avLst>
              <a:gd name="adj" fmla="val 12500"/>
            </a:avLst>
          </a:prstGeom>
          <a:solidFill>
            <a:srgbClr val="F1F3F4"/>
          </a:solidFill>
          <a:ln w="12700">
            <a:solidFill>
              <a:srgbClr val="DADCE0"/>
            </a:solidFill>
            <a:prstDash val="solid"/>
          </a:ln>
        </p:spPr>
      </p:sp>
      <p:sp>
        <p:nvSpPr>
          <p:cNvPr id="15" name="Text 13"/>
          <p:cNvSpPr/>
          <p:nvPr/>
        </p:nvSpPr>
        <p:spPr>
          <a:xfrm>
            <a:off x="396666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6" name="Shape 14"/>
          <p:cNvSpPr/>
          <p:nvPr/>
        </p:nvSpPr>
        <p:spPr>
          <a:xfrm>
            <a:off x="5538521" y="6062472"/>
            <a:ext cx="1143000"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5629961"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8" name="Shape 16"/>
          <p:cNvSpPr/>
          <p:nvPr/>
        </p:nvSpPr>
        <p:spPr>
          <a:xfrm>
            <a:off x="6818681" y="6062472"/>
            <a:ext cx="2750515"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6910121"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la confianza comparada con lo normal.</a:t>
            </a:r>
            <a:endParaRPr lang="en-US" sz="1400" dirty="0"/>
          </a:p>
        </p:txBody>
      </p:sp>
      <p:pic>
        <p:nvPicPr>
          <p:cNvPr id="6" name="Image 0" descr="../work35/modulos/modulo04/img/lab04_paso6_lift.png">    </p:cNvPr>
          <p:cNvPicPr>
            <a:picLocks noChangeAspect="1"/>
          </p:cNvPicPr>
          <p:nvPr/>
        </p:nvPicPr>
        <p:blipFill>
          <a:blip r:embed="rId1"/>
          <a:stretch>
            <a:fillRect/>
          </a:stretch>
        </p:blipFill>
        <p:spPr>
          <a:xfrm>
            <a:off x="2131972" y="1463040"/>
            <a:ext cx="7925008" cy="5257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si y otro en entonces, y vuelve a correr la celda. Prueba falla_electrica con correctivo y después falla_electrica con preventivo.</a:t>
            </a:r>
            <a:endParaRPr lang="en-US" sz="1400" dirty="0"/>
          </a:p>
        </p:txBody>
      </p:sp>
      <p:sp>
        <p:nvSpPr>
          <p:cNvPr id="6" name="Shape 4"/>
          <p:cNvSpPr/>
          <p:nvPr/>
        </p:nvSpPr>
        <p:spPr>
          <a:xfrm>
            <a:off x="548640" y="1481328"/>
            <a:ext cx="11091672" cy="3473577"/>
          </a:xfrm>
          <a:prstGeom prst="roundRect">
            <a:avLst>
              <a:gd name="adj" fmla="val 1579"/>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3281553"/>
          </a:xfrm>
          <a:prstGeom prst="rect">
            <a:avLst/>
          </a:prstGeom>
          <a:noFill/>
          <a:ln/>
        </p:spPr>
        <p:txBody>
          <a:bodyPr wrap="square" lIns="0" tIns="0" rIns="0" bIns="0" rtlCol="0" anchor="t"/>
          <a:lstStyle/>
          <a:p>
            <a:pPr indent="0" marL="0">
              <a:buNone/>
            </a:pPr>
            <a:r>
              <a:rPr lang="en-US" sz="1100" dirty="0">
                <a:solidFill>
                  <a:srgbClr val="188038"/>
                </a:solidFill>
                <a:latin typeface="Courier New" pitchFamily="34" charset="0"/>
                <a:ea typeface="Courier New" pitchFamily="34" charset="-122"/>
                <a:cs typeface="Courier New" pitchFamily="34" charset="-120"/>
              </a:rPr>
              <a:t># Paso 4</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si = </a:t>
            </a:r>
            <a:pPr indent="0" marL="0">
              <a:buNone/>
            </a:pPr>
            <a:r>
              <a:rPr lang="en-US" sz="1100" dirty="0">
                <a:solidFill>
                  <a:srgbClr val="A31515"/>
                </a:solidFill>
                <a:latin typeface="Courier New" pitchFamily="34" charset="0"/>
                <a:ea typeface="Courier New" pitchFamily="34" charset="-122"/>
                <a:cs typeface="Courier New" pitchFamily="34" charset="-120"/>
              </a:rPr>
              <a:t>"falla_electrica"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["preventivo", "correctivo", "inspeccion", "falla_mecan…</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entonces = </a:t>
            </a:r>
            <a:pPr indent="0" marL="0">
              <a:buNone/>
            </a:pPr>
            <a:r>
              <a:rPr lang="en-US" sz="1100" dirty="0">
                <a:solidFill>
                  <a:srgbClr val="A31515"/>
                </a:solidFill>
                <a:latin typeface="Courier New" pitchFamily="34" charset="0"/>
                <a:ea typeface="Courier New" pitchFamily="34" charset="-122"/>
                <a:cs typeface="Courier New" pitchFamily="34" charset="-120"/>
              </a:rPr>
              <a:t>"correctivo"</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["preventivo", "correctivo", "inspeccion", "falla_meca…</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Solo las canastas donde pasó si, con un filtro como los del Lab 02.</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con_si = tabla[tabla[si] == True]</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"Canastas con {si}"</a:t>
            </a:r>
            <a:pPr indent="0" marL="0">
              <a:buNone/>
            </a:pPr>
            <a:r>
              <a:rPr lang="en-US" sz="1100" dirty="0">
                <a:solidFill>
                  <a:srgbClr val="202124"/>
                </a:solidFill>
                <a:latin typeface="Courier New" pitchFamily="34" charset="0"/>
                <a:ea typeface="Courier New" pitchFamily="34" charset="-122"/>
                <a:cs typeface="Courier New" pitchFamily="34" charset="-120"/>
              </a:rPr>
              <a:t>, len(con_si))</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Confianza, de esas canastas, en qué porcentaje pasó también entonces.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confianza = 100 * con_si[entonces].mean()</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Lo normal, en qué porcentaje de todas las canastas pasa entonces.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normal = 100 * tabla[entonces].mean()</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Lift, cuántas veces más de lo normal. Sobre 1 van juntos, cerca de 1 no hay relación.</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lift = confianza / normal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"Confianza"</a:t>
            </a:r>
            <a:pPr indent="0" marL="0">
              <a:buNone/>
            </a:pPr>
            <a:r>
              <a:rPr lang="en-US" sz="1100" dirty="0">
                <a:solidFill>
                  <a:srgbClr val="202124"/>
                </a:solidFill>
                <a:latin typeface="Courier New" pitchFamily="34" charset="0"/>
                <a:ea typeface="Courier New" pitchFamily="34" charset="-122"/>
                <a:cs typeface="Courier New" pitchFamily="34" charset="-120"/>
              </a:rPr>
              <a:t>, round(confianza, 1), </a:t>
            </a:r>
            <a:pPr indent="0" marL="0">
              <a:buNone/>
            </a:pPr>
            <a:r>
              <a:rPr lang="en-US" sz="1100" dirty="0">
                <a:solidFill>
                  <a:srgbClr val="A31515"/>
                </a:solidFill>
                <a:latin typeface="Courier New" pitchFamily="34" charset="0"/>
                <a:ea typeface="Courier New" pitchFamily="34" charset="-122"/>
                <a:cs typeface="Courier New" pitchFamily="34" charset="-120"/>
              </a:rPr>
              <a:t>"por ciento"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"{entonces} en todas las canastas"</a:t>
            </a:r>
            <a:pPr indent="0" marL="0">
              <a:buNone/>
            </a:pPr>
            <a:r>
              <a:rPr lang="en-US" sz="1100" dirty="0">
                <a:solidFill>
                  <a:srgbClr val="202124"/>
                </a:solidFill>
                <a:latin typeface="Courier New" pitchFamily="34" charset="0"/>
                <a:ea typeface="Courier New" pitchFamily="34" charset="-122"/>
                <a:cs typeface="Courier New" pitchFamily="34" charset="-120"/>
              </a:rPr>
              <a:t>, round(normal, 1), </a:t>
            </a:r>
            <a:pPr indent="0" marL="0">
              <a:buNone/>
            </a:pPr>
            <a:r>
              <a:rPr lang="en-US" sz="1100" dirty="0">
                <a:solidFill>
                  <a:srgbClr val="A31515"/>
                </a:solidFill>
                <a:latin typeface="Courier New" pitchFamily="34" charset="0"/>
                <a:ea typeface="Courier New" pitchFamily="34" charset="-122"/>
                <a:cs typeface="Courier New" pitchFamily="34" charset="-120"/>
              </a:rPr>
              <a:t>"por ciento"</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"Lift"</a:t>
            </a:r>
            <a:pPr indent="0" marL="0">
              <a:buNone/>
            </a:pPr>
            <a:r>
              <a:rPr lang="en-US" sz="1100" dirty="0">
                <a:solidFill>
                  <a:srgbClr val="202124"/>
                </a:solidFill>
                <a:latin typeface="Courier New" pitchFamily="34" charset="0"/>
                <a:ea typeface="Courier New" pitchFamily="34" charset="-122"/>
                <a:cs typeface="Courier New" pitchFamily="34" charset="-120"/>
              </a:rPr>
              <a:t>, round(lift, 2))</a:t>
            </a:r>
            <a:endParaRPr lang="en-US" sz="11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entonces</a:t>
            </a:r>
            <a:endParaRPr lang="en-US" sz="1100" dirty="0"/>
          </a:p>
        </p:txBody>
      </p:sp>
      <p:sp>
        <p:nvSpPr>
          <p:cNvPr id="15" name="Shape 13"/>
          <p:cNvSpPr/>
          <p:nvPr/>
        </p:nvSpPr>
        <p:spPr>
          <a:xfrm>
            <a:off x="8823960" y="2606040"/>
            <a:ext cx="2651760" cy="347472"/>
          </a:xfrm>
          <a:prstGeom prst="rect">
            <a:avLst/>
          </a:prstGeom>
          <a:solidFill>
            <a:srgbClr val="FFFFFF"/>
          </a:solidFill>
          <a:ln w="12700">
            <a:solidFill>
              <a:srgbClr val="9AA0A6"/>
            </a:solidFill>
            <a:prstDash val="solid"/>
          </a:ln>
        </p:spPr>
      </p:sp>
      <p:sp>
        <p:nvSpPr>
          <p:cNvPr id="16" name="Text 14"/>
          <p:cNvSpPr/>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correctivo</a:t>
            </a:r>
            <a:endParaRPr lang="en-US" sz="1200" dirty="0"/>
          </a:p>
        </p:txBody>
      </p:sp>
      <p:sp>
        <p:nvSpPr>
          <p:cNvPr id="17"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8" name="Text 16"/>
          <p:cNvSpPr/>
          <p:nvPr/>
        </p:nvSpPr>
        <p:spPr>
          <a:xfrm>
            <a:off x="1325880" y="4982337"/>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9" name="Text 1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0" name="Shape 18"/>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22" name="Shape 20"/>
          <p:cNvSpPr/>
          <p:nvPr/>
        </p:nvSpPr>
        <p:spPr>
          <a:xfrm>
            <a:off x="2211934" y="6062472"/>
            <a:ext cx="1526134"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230337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conteo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24" name="Shape 22"/>
          <p:cNvSpPr/>
          <p:nvPr/>
        </p:nvSpPr>
        <p:spPr>
          <a:xfrm>
            <a:off x="3875227" y="6062472"/>
            <a:ext cx="1526134"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396666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26" name="Shape 24"/>
          <p:cNvSpPr/>
          <p:nvPr/>
        </p:nvSpPr>
        <p:spPr>
          <a:xfrm>
            <a:off x="5538521" y="6062472"/>
            <a:ext cx="1143000" cy="512064"/>
          </a:xfrm>
          <a:prstGeom prst="roundRect">
            <a:avLst>
              <a:gd name="adj" fmla="val 12500"/>
            </a:avLst>
          </a:prstGeom>
          <a:solidFill>
            <a:srgbClr val="F1F3F4"/>
          </a:solidFill>
          <a:ln w="12700">
            <a:solidFill>
              <a:srgbClr val="DADCE0"/>
            </a:solidFill>
            <a:prstDash val="solid"/>
          </a:ln>
        </p:spPr>
      </p:sp>
      <p:sp>
        <p:nvSpPr>
          <p:cNvPr id="27" name="Text 25"/>
          <p:cNvSpPr/>
          <p:nvPr/>
        </p:nvSpPr>
        <p:spPr>
          <a:xfrm>
            <a:off x="5629961"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8" name="Shape 26"/>
          <p:cNvSpPr/>
          <p:nvPr/>
        </p:nvSpPr>
        <p:spPr>
          <a:xfrm>
            <a:off x="6818681" y="6062472"/>
            <a:ext cx="2750515" cy="512064"/>
          </a:xfrm>
          <a:prstGeom prst="roundRect">
            <a:avLst>
              <a:gd name="adj" fmla="val 12500"/>
            </a:avLst>
          </a:prstGeom>
          <a:solidFill>
            <a:srgbClr val="F1F3F4"/>
          </a:solidFill>
          <a:ln w="12700">
            <a:solidFill>
              <a:srgbClr val="DADCE0"/>
            </a:solidFill>
            <a:prstDash val="solid"/>
          </a:ln>
        </p:spPr>
      </p:sp>
      <p:sp>
        <p:nvSpPr>
          <p:cNvPr id="29" name="Text 27"/>
          <p:cNvSpPr/>
          <p:nvPr/>
        </p:nvSpPr>
        <p:spPr>
          <a:xfrm>
            <a:off x="6910121"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72768"/>
            <a:ext cx="10634472" cy="26517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con_si = tabla[tabla[si] == True]</a:t>
            </a:r>
            <a:endParaRPr lang="en-US" sz="1600" dirty="0"/>
          </a:p>
        </p:txBody>
      </p:sp>
      <p:sp>
        <p:nvSpPr>
          <p:cNvPr id="8" name="Shape 6"/>
          <p:cNvSpPr/>
          <p:nvPr/>
        </p:nvSpPr>
        <p:spPr>
          <a:xfrm>
            <a:off x="548640" y="241401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4140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713232"/>
          </a:xfrm>
          <a:prstGeom prst="roundRect">
            <a:avLst>
              <a:gd name="adj" fmla="val 6410"/>
            </a:avLst>
          </a:prstGeom>
          <a:solidFill>
            <a:srgbClr val="DBE9FB"/>
          </a:solidFill>
          <a:ln w="12700">
            <a:solidFill>
              <a:srgbClr val="DBE9FB"/>
            </a:solidFill>
            <a:prstDash val="solid"/>
          </a:ln>
        </p:spPr>
      </p:sp>
      <p:sp>
        <p:nvSpPr>
          <p:cNvPr id="11" name="Text 9"/>
          <p:cNvSpPr/>
          <p:nvPr/>
        </p:nvSpPr>
        <p:spPr>
          <a:xfrm>
            <a:off x="1170432" y="2221992"/>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tabla[si]</a:t>
            </a:r>
            <a:endParaRPr lang="en-US" sz="1400" dirty="0"/>
          </a:p>
        </p:txBody>
      </p:sp>
      <p:sp>
        <p:nvSpPr>
          <p:cNvPr id="12" name="Text 10"/>
          <p:cNvSpPr/>
          <p:nvPr/>
        </p:nvSpPr>
        <p:spPr>
          <a:xfrm>
            <a:off x="6263640" y="2221992"/>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del evento elegido en si, con True y False.</a:t>
            </a:r>
            <a:endParaRPr lang="en-US" sz="1600" dirty="0"/>
          </a:p>
        </p:txBody>
      </p:sp>
      <p:sp>
        <p:nvSpPr>
          <p:cNvPr id="13" name="Shape 11"/>
          <p:cNvSpPr/>
          <p:nvPr/>
        </p:nvSpPr>
        <p:spPr>
          <a:xfrm>
            <a:off x="548640" y="312724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026664"/>
            <a:ext cx="4937760" cy="530352"/>
          </a:xfrm>
          <a:prstGeom prst="roundRect">
            <a:avLst>
              <a:gd name="adj" fmla="val 8621"/>
            </a:avLst>
          </a:prstGeom>
          <a:solidFill>
            <a:srgbClr val="DCEFE0"/>
          </a:solidFill>
          <a:ln w="12700">
            <a:solidFill>
              <a:srgbClr val="DCEFE0"/>
            </a:solidFill>
            <a:prstDash val="solid"/>
          </a:ln>
        </p:spPr>
      </p:sp>
      <p:sp>
        <p:nvSpPr>
          <p:cNvPr id="16" name="Text 14"/>
          <p:cNvSpPr/>
          <p:nvPr/>
        </p:nvSpPr>
        <p:spPr>
          <a:xfrm>
            <a:off x="1170432" y="302666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True</a:t>
            </a:r>
            <a:endParaRPr lang="en-US" sz="1400" dirty="0"/>
          </a:p>
        </p:txBody>
      </p:sp>
      <p:sp>
        <p:nvSpPr>
          <p:cNvPr id="17" name="Text 15"/>
          <p:cNvSpPr/>
          <p:nvPr/>
        </p:nvSpPr>
        <p:spPr>
          <a:xfrm>
            <a:off x="6263640" y="302666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pregunta a cada canasta, si pasó ese evento.</a:t>
            </a:r>
            <a:endParaRPr lang="en-US" sz="1600" dirty="0"/>
          </a:p>
        </p:txBody>
      </p:sp>
      <p:sp>
        <p:nvSpPr>
          <p:cNvPr id="18" name="Shape 16"/>
          <p:cNvSpPr/>
          <p:nvPr/>
        </p:nvSpPr>
        <p:spPr>
          <a:xfrm>
            <a:off x="548640" y="3749040"/>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3749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48456"/>
            <a:ext cx="4937760" cy="530352"/>
          </a:xfrm>
          <a:prstGeom prst="roundRect">
            <a:avLst>
              <a:gd name="adj" fmla="val 8621"/>
            </a:avLst>
          </a:prstGeom>
          <a:solidFill>
            <a:srgbClr val="FDF0C8"/>
          </a:solidFill>
          <a:ln w="12700">
            <a:solidFill>
              <a:srgbClr val="FDF0C8"/>
            </a:solidFill>
            <a:prstDash val="solid"/>
          </a:ln>
        </p:spPr>
      </p:sp>
      <p:sp>
        <p:nvSpPr>
          <p:cNvPr id="21" name="Text 19"/>
          <p:cNvSpPr/>
          <p:nvPr/>
        </p:nvSpPr>
        <p:spPr>
          <a:xfrm>
            <a:off x="1170432" y="364845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 ... ]</a:t>
            </a:r>
            <a:endParaRPr lang="en-US" sz="1400" dirty="0"/>
          </a:p>
        </p:txBody>
      </p:sp>
      <p:sp>
        <p:nvSpPr>
          <p:cNvPr id="22" name="Text 20"/>
          <p:cNvSpPr/>
          <p:nvPr/>
        </p:nvSpPr>
        <p:spPr>
          <a:xfrm>
            <a:off x="6263640" y="364845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filtro deja solo las canastas donde pasó.</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deja solo las canastas donde pasó el evento si, y guárdalas como con_si.</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72768"/>
            <a:ext cx="10634472" cy="26517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lift = confianza / normal</a:t>
            </a:r>
            <a:endParaRPr lang="en-US" sz="1600" dirty="0"/>
          </a:p>
        </p:txBody>
      </p:sp>
      <p:sp>
        <p:nvSpPr>
          <p:cNvPr id="8" name="Shape 6"/>
          <p:cNvSpPr/>
          <p:nvPr/>
        </p:nvSpPr>
        <p:spPr>
          <a:xfrm>
            <a:off x="548640" y="241401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4140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713232"/>
          </a:xfrm>
          <a:prstGeom prst="roundRect">
            <a:avLst>
              <a:gd name="adj" fmla="val 6410"/>
            </a:avLst>
          </a:prstGeom>
          <a:solidFill>
            <a:srgbClr val="DBE9FB"/>
          </a:solidFill>
          <a:ln w="12700">
            <a:solidFill>
              <a:srgbClr val="DBE9FB"/>
            </a:solidFill>
            <a:prstDash val="solid"/>
          </a:ln>
        </p:spPr>
      </p:sp>
      <p:sp>
        <p:nvSpPr>
          <p:cNvPr id="11" name="Text 9"/>
          <p:cNvSpPr/>
          <p:nvPr/>
        </p:nvSpPr>
        <p:spPr>
          <a:xfrm>
            <a:off x="1170432" y="2221992"/>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confianza</a:t>
            </a:r>
            <a:endParaRPr lang="en-US" sz="1400" dirty="0"/>
          </a:p>
        </p:txBody>
      </p:sp>
      <p:sp>
        <p:nvSpPr>
          <p:cNvPr id="12" name="Text 10"/>
          <p:cNvSpPr/>
          <p:nvPr/>
        </p:nvSpPr>
        <p:spPr>
          <a:xfrm>
            <a:off x="6263640" y="2221992"/>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 las canastas con si, el porcentaje que tiene también entonces.</a:t>
            </a:r>
            <a:endParaRPr lang="en-US" sz="1600" dirty="0"/>
          </a:p>
        </p:txBody>
      </p:sp>
      <p:sp>
        <p:nvSpPr>
          <p:cNvPr id="13" name="Shape 11"/>
          <p:cNvSpPr/>
          <p:nvPr/>
        </p:nvSpPr>
        <p:spPr>
          <a:xfrm>
            <a:off x="548640" y="321868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2186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026664"/>
            <a:ext cx="4937760" cy="713232"/>
          </a:xfrm>
          <a:prstGeom prst="roundRect">
            <a:avLst>
              <a:gd name="adj" fmla="val 6410"/>
            </a:avLst>
          </a:prstGeom>
          <a:solidFill>
            <a:srgbClr val="DCEFE0"/>
          </a:solidFill>
          <a:ln w="12700">
            <a:solidFill>
              <a:srgbClr val="DCEFE0"/>
            </a:solidFill>
            <a:prstDash val="solid"/>
          </a:ln>
        </p:spPr>
      </p:sp>
      <p:sp>
        <p:nvSpPr>
          <p:cNvPr id="16" name="Text 14"/>
          <p:cNvSpPr/>
          <p:nvPr/>
        </p:nvSpPr>
        <p:spPr>
          <a:xfrm>
            <a:off x="1170432" y="3026664"/>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normal</a:t>
            </a:r>
            <a:endParaRPr lang="en-US" sz="1400" dirty="0"/>
          </a:p>
        </p:txBody>
      </p:sp>
      <p:sp>
        <p:nvSpPr>
          <p:cNvPr id="17" name="Text 15"/>
          <p:cNvSpPr/>
          <p:nvPr/>
        </p:nvSpPr>
        <p:spPr>
          <a:xfrm>
            <a:off x="6263640" y="3026664"/>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porcentaje de todas las canastas que tiene entonces.</a:t>
            </a:r>
            <a:endParaRPr lang="en-US" sz="1600" dirty="0"/>
          </a:p>
        </p:txBody>
      </p:sp>
      <p:sp>
        <p:nvSpPr>
          <p:cNvPr id="18" name="Shape 16"/>
          <p:cNvSpPr/>
          <p:nvPr/>
        </p:nvSpPr>
        <p:spPr>
          <a:xfrm>
            <a:off x="548640" y="4023360"/>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4023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831336"/>
            <a:ext cx="4937760" cy="713232"/>
          </a:xfrm>
          <a:prstGeom prst="roundRect">
            <a:avLst>
              <a:gd name="adj" fmla="val 6410"/>
            </a:avLst>
          </a:prstGeom>
          <a:solidFill>
            <a:srgbClr val="FDF0C8"/>
          </a:solidFill>
          <a:ln w="12700">
            <a:solidFill>
              <a:srgbClr val="FDF0C8"/>
            </a:solidFill>
            <a:prstDash val="solid"/>
          </a:ln>
        </p:spPr>
      </p:sp>
      <p:sp>
        <p:nvSpPr>
          <p:cNvPr id="21" name="Text 19"/>
          <p:cNvSpPr/>
          <p:nvPr/>
        </p:nvSpPr>
        <p:spPr>
          <a:xfrm>
            <a:off x="1170432" y="3831336"/>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t>
            </a:r>
            <a:endParaRPr lang="en-US" sz="1400" dirty="0"/>
          </a:p>
        </p:txBody>
      </p:sp>
      <p:sp>
        <p:nvSpPr>
          <p:cNvPr id="22" name="Text 20"/>
          <p:cNvSpPr/>
          <p:nvPr/>
        </p:nvSpPr>
        <p:spPr>
          <a:xfrm>
            <a:off x="6263640" y="3831336"/>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Divide. Cuántas veces cabe lo normal en la confianza.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cuántas veces más de lo normal aparece entonces cuando pasa si.</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si y otro en entonces, y vuelve a correr la celda. Prueba falla_electrica con correctivo y después falla_electrica con preventivo.</a:t>
            </a:r>
            <a:endParaRPr lang="en-US" sz="1400" dirty="0"/>
          </a:p>
        </p:txBody>
      </p:sp>
      <p:sp>
        <p:nvSpPr>
          <p:cNvPr id="6" name="Text 4"/>
          <p:cNvSpPr/>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976579"/>
          </a:xfrm>
          <a:prstGeom prst="rect">
            <a:avLst/>
          </a:prstGeom>
          <a:solidFill>
            <a:srgbClr val="FFFFFF"/>
          </a:solidFill>
          <a:ln w="12700">
            <a:solidFill>
              <a:srgbClr val="DADCE0"/>
            </a:solidFill>
            <a:prstDash val="solid"/>
          </a:ln>
        </p:spPr>
      </p:sp>
      <p:sp>
        <p:nvSpPr>
          <p:cNvPr id="8" name="Text 6"/>
          <p:cNvSpPr/>
          <p:nvPr/>
        </p:nvSpPr>
        <p:spPr>
          <a:xfrm>
            <a:off x="1463040" y="1901952"/>
            <a:ext cx="10085832" cy="848563"/>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Canastas con falla_electrica 42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Confianza 83.3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en todas las canastas 40.0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2.08</a:t>
            </a:r>
            <a:endParaRPr lang="en-US" sz="1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902866"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2" name="Shape 10"/>
          <p:cNvSpPr/>
          <p:nvPr/>
        </p:nvSpPr>
        <p:spPr>
          <a:xfrm>
            <a:off x="2588666" y="6062472"/>
            <a:ext cx="1431950"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2680106"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"correctivo"</a:t>
            </a:r>
            <a:endParaRPr lang="en-US" sz="1200" dirty="0"/>
          </a:p>
        </p:txBody>
      </p:sp>
      <p:sp>
        <p:nvSpPr>
          <p:cNvPr id="14" name="Shape 12"/>
          <p:cNvSpPr/>
          <p:nvPr/>
        </p:nvSpPr>
        <p:spPr>
          <a:xfrm>
            <a:off x="4157777" y="6062472"/>
            <a:ext cx="1431950"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4249217"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42 × 6</a:t>
            </a:r>
            <a:endParaRPr lang="en-US" sz="1200" dirty="0"/>
          </a:p>
        </p:txBody>
      </p:sp>
      <p:sp>
        <p:nvSpPr>
          <p:cNvPr id="16" name="Shape 14"/>
          <p:cNvSpPr/>
          <p:nvPr/>
        </p:nvSpPr>
        <p:spPr>
          <a:xfrm>
            <a:off x="5726887" y="6062472"/>
            <a:ext cx="1149401" cy="512064"/>
          </a:xfrm>
          <a:prstGeom prst="roundRect">
            <a:avLst>
              <a:gd name="adj" fmla="val 12500"/>
            </a:avLst>
          </a:prstGeom>
          <a:solidFill>
            <a:srgbClr val="FEF3D6"/>
          </a:solidFill>
          <a:ln w="25400">
            <a:solidFill>
              <a:srgbClr val="F9AB00"/>
            </a:solidFill>
            <a:prstDash val="solid"/>
          </a:ln>
        </p:spPr>
      </p:sp>
      <p:sp>
        <p:nvSpPr>
          <p:cNvPr id="17" name="Text 15"/>
          <p:cNvSpPr/>
          <p:nvPr/>
        </p:nvSpPr>
        <p:spPr>
          <a:xfrm>
            <a:off x="5818327"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83.33…</a:t>
            </a:r>
            <a:endParaRPr lang="en-US" sz="1200" dirty="0"/>
          </a:p>
        </p:txBody>
      </p:sp>
      <p:sp>
        <p:nvSpPr>
          <p:cNvPr id="18" name="Shape 16"/>
          <p:cNvSpPr/>
          <p:nvPr/>
        </p:nvSpPr>
        <p:spPr>
          <a:xfrm>
            <a:off x="7013448" y="6062472"/>
            <a:ext cx="1143000" cy="512064"/>
          </a:xfrm>
          <a:prstGeom prst="roundRect">
            <a:avLst>
              <a:gd name="adj" fmla="val 12500"/>
            </a:avLst>
          </a:prstGeom>
          <a:solidFill>
            <a:srgbClr val="FEF3D6"/>
          </a:solidFill>
          <a:ln w="25400">
            <a:solidFill>
              <a:srgbClr val="F9AB00"/>
            </a:solidFill>
            <a:prstDash val="solid"/>
          </a:ln>
        </p:spPr>
      </p:sp>
      <p:sp>
        <p:nvSpPr>
          <p:cNvPr id="19" name="Text 17"/>
          <p:cNvSpPr/>
          <p:nvPr/>
        </p:nvSpPr>
        <p:spPr>
          <a:xfrm>
            <a:off x="7104888"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40.0</a:t>
            </a:r>
            <a:endParaRPr lang="en-US" sz="1200" dirty="0"/>
          </a:p>
        </p:txBody>
      </p:sp>
      <p:sp>
        <p:nvSpPr>
          <p:cNvPr id="20" name="Shape 18"/>
          <p:cNvSpPr/>
          <p:nvPr/>
        </p:nvSpPr>
        <p:spPr>
          <a:xfrm>
            <a:off x="8293608" y="6062472"/>
            <a:ext cx="1143000" cy="512064"/>
          </a:xfrm>
          <a:prstGeom prst="roundRect">
            <a:avLst>
              <a:gd name="adj" fmla="val 12500"/>
            </a:avLst>
          </a:prstGeom>
          <a:solidFill>
            <a:srgbClr val="FEF3D6"/>
          </a:solidFill>
          <a:ln w="25400">
            <a:solidFill>
              <a:srgbClr val="F9AB00"/>
            </a:solidFill>
            <a:prstDash val="solid"/>
          </a:ln>
        </p:spPr>
      </p:sp>
      <p:sp>
        <p:nvSpPr>
          <p:cNvPr id="21" name="Text 19"/>
          <p:cNvSpPr/>
          <p:nvPr/>
        </p:nvSpPr>
        <p:spPr>
          <a:xfrm>
            <a:off x="8385048"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2.08…</a:t>
            </a:r>
            <a:endParaRPr lang="en-US" sz="1200" dirty="0"/>
          </a:p>
        </p:txBody>
      </p:sp>
      <p:sp>
        <p:nvSpPr>
          <p:cNvPr id="22" name="Text 20"/>
          <p:cNvSpPr/>
          <p:nvPr/>
        </p:nvSpPr>
        <p:spPr>
          <a:xfrm>
            <a:off x="9573768"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5 más</a:t>
            </a:r>
            <a:endParaRPr lang="en-US" sz="1200" dirty="0"/>
          </a:p>
        </p:txBody>
      </p:sp>
      <p:sp>
        <p:nvSpPr>
          <p:cNvPr id="23" name="Text 21"/>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falla eléctrica, el correctivo aparece en el 83,3 por ciento. Lo normal es 40. El lift es 2,08.</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Que respondan en el chat o en voz alta.</a:t>
            </a:r>
            <a:endParaRPr lang="en-US" sz="1400" dirty="0"/>
          </a:p>
        </p:txBody>
      </p:sp>
      <p:sp>
        <p:nvSpPr>
          <p:cNvPr id="6" name="Shape 4"/>
          <p:cNvSpPr/>
          <p:nvPr/>
        </p:nvSpPr>
        <p:spPr>
          <a:xfrm>
            <a:off x="548640" y="1600200"/>
            <a:ext cx="11091672" cy="502920"/>
          </a:xfrm>
          <a:prstGeom prst="roundRect">
            <a:avLst>
              <a:gd name="adj" fmla="val 10909"/>
            </a:avLst>
          </a:prstGeom>
          <a:solidFill>
            <a:srgbClr val="0B3D62"/>
          </a:solidFill>
          <a:ln w="12700">
            <a:solidFill>
              <a:srgbClr val="0B3D62"/>
            </a:solidFill>
            <a:prstDash val="solid"/>
          </a:ln>
        </p:spPr>
      </p:sp>
      <p:sp>
        <p:nvSpPr>
          <p:cNvPr id="7" name="Text 5"/>
          <p:cNvSpPr/>
          <p:nvPr/>
        </p:nvSpPr>
        <p:spPr>
          <a:xfrm>
            <a:off x="822960" y="1600200"/>
            <a:ext cx="10543032" cy="5029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¿QUÉ CREEN QUE VA A SALIR?</a:t>
            </a:r>
            <a:endParaRPr lang="en-US" sz="1600" dirty="0"/>
          </a:p>
        </p:txBody>
      </p:sp>
      <p:sp>
        <p:nvSpPr>
          <p:cNvPr id="8" name="Text 6"/>
          <p:cNvSpPr/>
          <p:nvPr/>
        </p:nvSpPr>
        <p:spPr>
          <a:xfrm>
            <a:off x="548640" y="2331720"/>
            <a:ext cx="11091672" cy="822960"/>
          </a:xfrm>
          <a:prstGeom prst="rect">
            <a:avLst/>
          </a:prstGeom>
          <a:noFill/>
          <a:ln/>
        </p:spPr>
        <p:txBody>
          <a:bodyPr wrap="square" lIns="0" tIns="0" rIns="0" bIns="0" rtlCol="0" anchor="t"/>
          <a:lstStyle/>
          <a:p>
            <a:pPr indent="0" marL="0">
              <a:buNone/>
            </a:pPr>
            <a:r>
              <a:rPr lang="en-US" sz="2000" dirty="0">
                <a:solidFill>
                  <a:srgbClr val="5F6368"/>
                </a:solidFill>
                <a:latin typeface="Calibri" pitchFamily="34" charset="0"/>
                <a:ea typeface="Calibri" pitchFamily="34" charset="-122"/>
                <a:cs typeface="Calibri" pitchFamily="34" charset="-120"/>
              </a:rPr>
              <a:t>En las canastas con falla eléctrica, el preventivo aparece en el 52,4 por ciento.</a:t>
            </a:r>
            <a:endParaRPr lang="en-US" sz="2000" dirty="0"/>
          </a:p>
        </p:txBody>
      </p:sp>
      <p:sp>
        <p:nvSpPr>
          <p:cNvPr id="9" name="Text 7"/>
          <p:cNvSpPr/>
          <p:nvPr/>
        </p:nvSpPr>
        <p:spPr>
          <a:xfrm>
            <a:off x="548640" y="3154680"/>
            <a:ext cx="11091672" cy="1097280"/>
          </a:xfrm>
          <a:prstGeom prst="rect">
            <a:avLst/>
          </a:prstGeom>
          <a:noFill/>
          <a:ln/>
        </p:spPr>
        <p:txBody>
          <a:bodyPr wrap="square" lIns="0" tIns="0" rIns="0" bIns="0" rtlCol="0" anchor="t"/>
          <a:lstStyle/>
          <a:p>
            <a:pPr indent="0" marL="0">
              <a:buNone/>
            </a:pPr>
            <a:r>
              <a:rPr lang="en-US" sz="3000" b="1" dirty="0">
                <a:solidFill>
                  <a:srgbClr val="202124"/>
                </a:solidFill>
                <a:latin typeface="Calibri" pitchFamily="34" charset="0"/>
                <a:ea typeface="Calibri" pitchFamily="34" charset="-122"/>
                <a:cs typeface="Calibri" pitchFamily="34" charset="-120"/>
              </a:rPr>
              <a:t>¿Falla eléctrica y preventivo van juntos más de lo normal?</a:t>
            </a:r>
            <a:endParaRPr lang="en-US" sz="3000" dirty="0"/>
          </a:p>
        </p:txBody>
      </p:sp>
      <p:sp>
        <p:nvSpPr>
          <p:cNvPr id="10" name="Shape 8"/>
          <p:cNvSpPr/>
          <p:nvPr/>
        </p:nvSpPr>
        <p:spPr>
          <a:xfrm>
            <a:off x="548640" y="4572000"/>
            <a:ext cx="3511296" cy="822960"/>
          </a:xfrm>
          <a:prstGeom prst="roundRect">
            <a:avLst>
              <a:gd name="adj" fmla="val 8889"/>
            </a:avLst>
          </a:prstGeom>
          <a:solidFill>
            <a:srgbClr val="FEF3D6"/>
          </a:solidFill>
          <a:ln w="19050">
            <a:solidFill>
              <a:srgbClr val="F9AB00"/>
            </a:solidFill>
            <a:prstDash val="solid"/>
          </a:ln>
        </p:spPr>
      </p:sp>
      <p:sp>
        <p:nvSpPr>
          <p:cNvPr id="11" name="Text 9"/>
          <p:cNvSpPr/>
          <p:nvPr/>
        </p:nvSpPr>
        <p:spPr>
          <a:xfrm>
            <a:off x="548640"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Sí, más de lo normal</a:t>
            </a:r>
            <a:endParaRPr lang="en-US" sz="2000" dirty="0"/>
          </a:p>
        </p:txBody>
      </p:sp>
      <p:sp>
        <p:nvSpPr>
          <p:cNvPr id="12" name="Shape 10"/>
          <p:cNvSpPr/>
          <p:nvPr/>
        </p:nvSpPr>
        <p:spPr>
          <a:xfrm>
            <a:off x="4338828" y="4572000"/>
            <a:ext cx="3511296" cy="822960"/>
          </a:xfrm>
          <a:prstGeom prst="roundRect">
            <a:avLst>
              <a:gd name="adj" fmla="val 8889"/>
            </a:avLst>
          </a:prstGeom>
          <a:solidFill>
            <a:srgbClr val="FEF3D6"/>
          </a:solidFill>
          <a:ln w="19050">
            <a:solidFill>
              <a:srgbClr val="F9AB00"/>
            </a:solidFill>
            <a:prstDash val="solid"/>
          </a:ln>
        </p:spPr>
      </p:sp>
      <p:sp>
        <p:nvSpPr>
          <p:cNvPr id="13" name="Text 11"/>
          <p:cNvSpPr/>
          <p:nvPr/>
        </p:nvSpPr>
        <p:spPr>
          <a:xfrm>
            <a:off x="4338828"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Igual que siempre</a:t>
            </a:r>
            <a:endParaRPr lang="en-US" sz="2000" dirty="0"/>
          </a:p>
        </p:txBody>
      </p:sp>
      <p:sp>
        <p:nvSpPr>
          <p:cNvPr id="14" name="Shape 12"/>
          <p:cNvSpPr/>
          <p:nvPr/>
        </p:nvSpPr>
        <p:spPr>
          <a:xfrm>
            <a:off x="8129016" y="4572000"/>
            <a:ext cx="3511296" cy="822960"/>
          </a:xfrm>
          <a:prstGeom prst="roundRect">
            <a:avLst>
              <a:gd name="adj" fmla="val 8889"/>
            </a:avLst>
          </a:prstGeom>
          <a:solidFill>
            <a:srgbClr val="FEF3D6"/>
          </a:solidFill>
          <a:ln w="19050">
            <a:solidFill>
              <a:srgbClr val="F9AB00"/>
            </a:solidFill>
            <a:prstDash val="solid"/>
          </a:ln>
        </p:spPr>
      </p:sp>
      <p:sp>
        <p:nvSpPr>
          <p:cNvPr id="15" name="Text 13"/>
          <p:cNvSpPr/>
          <p:nvPr/>
        </p:nvSpPr>
        <p:spPr>
          <a:xfrm>
            <a:off x="8129016"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Menos de lo normal</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entonces y se vuelve a correr la celda.</a:t>
            </a:r>
            <a:endParaRPr lang="en-US" sz="1400" dirty="0"/>
          </a:p>
        </p:txBody>
      </p:sp>
      <p:sp>
        <p:nvSpPr>
          <p:cNvPr id="6" name="Shape 4"/>
          <p:cNvSpPr/>
          <p:nvPr/>
        </p:nvSpPr>
        <p:spPr>
          <a:xfrm>
            <a:off x="548640" y="1481328"/>
            <a:ext cx="11091672" cy="2346579"/>
          </a:xfrm>
          <a:prstGeom prst="roundRect">
            <a:avLst>
              <a:gd name="adj" fmla="val 2338"/>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2154555"/>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si = </a:t>
            </a:r>
            <a:pPr indent="0" marL="0">
              <a:buNone/>
            </a:pPr>
            <a:r>
              <a:rPr lang="en-US" sz="1300" dirty="0">
                <a:solidFill>
                  <a:srgbClr val="A31515"/>
                </a:solidFill>
                <a:latin typeface="Courier New" pitchFamily="34" charset="0"/>
                <a:ea typeface="Courier New" pitchFamily="34" charset="-122"/>
                <a:cs typeface="Courier New" pitchFamily="34" charset="-120"/>
              </a:rPr>
              <a:t>"falla_electrica"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entonces = </a:t>
            </a:r>
            <a:pPr indent="0" marL="0">
              <a:buNone/>
            </a:pPr>
            <a:r>
              <a:rPr lang="en-US" sz="1300" dirty="0">
                <a:solidFill>
                  <a:srgbClr val="A31515"/>
                </a:solidFill>
                <a:latin typeface="Courier New" pitchFamily="34" charset="0"/>
                <a:ea typeface="Courier New" pitchFamily="34" charset="-122"/>
                <a:cs typeface="Courier New" pitchFamily="34" charset="-120"/>
              </a:rPr>
              <a:t>"preventivo"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con_si = tabla[tabla[si] == True]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"Canastas con {si}"</a:t>
            </a:r>
            <a:pPr indent="0" marL="0">
              <a:buNone/>
            </a:pPr>
            <a:r>
              <a:rPr lang="en-US" sz="1300" dirty="0">
                <a:solidFill>
                  <a:srgbClr val="202124"/>
                </a:solidFill>
                <a:latin typeface="Courier New" pitchFamily="34" charset="0"/>
                <a:ea typeface="Courier New" pitchFamily="34" charset="-122"/>
                <a:cs typeface="Courier New" pitchFamily="34" charset="-120"/>
              </a:rPr>
              <a:t>, len(con_si))</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confianza = 100 * con_si[entonces].mean()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normal = 100 * tabla[entonces].mean()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lift = confianza / normal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"Confianza"</a:t>
            </a:r>
            <a:pPr indent="0" marL="0">
              <a:buNone/>
            </a:pPr>
            <a:r>
              <a:rPr lang="en-US" sz="1300" dirty="0">
                <a:solidFill>
                  <a:srgbClr val="202124"/>
                </a:solidFill>
                <a:latin typeface="Courier New" pitchFamily="34" charset="0"/>
                <a:ea typeface="Courier New" pitchFamily="34" charset="-122"/>
                <a:cs typeface="Courier New" pitchFamily="34" charset="-120"/>
              </a:rPr>
              <a:t>, round(confianza, 1), </a:t>
            </a:r>
            <a:pPr indent="0" marL="0">
              <a:buNone/>
            </a:pPr>
            <a:r>
              <a:rPr lang="en-US" sz="1300" dirty="0">
                <a:solidFill>
                  <a:srgbClr val="A31515"/>
                </a:solidFill>
                <a:latin typeface="Courier New" pitchFamily="34" charset="0"/>
                <a:ea typeface="Courier New" pitchFamily="34" charset="-122"/>
                <a:cs typeface="Courier New" pitchFamily="34" charset="-120"/>
              </a:rPr>
              <a:t>"por ciento"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"{entonces} en todas las canastas"</a:t>
            </a:r>
            <a:pPr indent="0" marL="0">
              <a:buNone/>
            </a:pPr>
            <a:r>
              <a:rPr lang="en-US" sz="1300" dirty="0">
                <a:solidFill>
                  <a:srgbClr val="202124"/>
                </a:solidFill>
                <a:latin typeface="Courier New" pitchFamily="34" charset="0"/>
                <a:ea typeface="Courier New" pitchFamily="34" charset="-122"/>
                <a:cs typeface="Courier New" pitchFamily="34" charset="-120"/>
              </a:rPr>
              <a:t>, round(normal, 1), </a:t>
            </a:r>
            <a:pPr indent="0" marL="0">
              <a:buNone/>
            </a:pPr>
            <a:r>
              <a:rPr lang="en-US" sz="1300" dirty="0">
                <a:solidFill>
                  <a:srgbClr val="A31515"/>
                </a:solidFill>
                <a:latin typeface="Courier New" pitchFamily="34" charset="0"/>
                <a:ea typeface="Courier New" pitchFamily="34" charset="-122"/>
                <a:cs typeface="Courier New" pitchFamily="34" charset="-120"/>
              </a:rPr>
              <a:t>"por ciento"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"Lift"</a:t>
            </a:r>
            <a:pPr indent="0" marL="0">
              <a:buNone/>
            </a:pPr>
            <a:r>
              <a:rPr lang="en-US" sz="1300" dirty="0">
                <a:solidFill>
                  <a:srgbClr val="202124"/>
                </a:solidFill>
                <a:latin typeface="Courier New" pitchFamily="34" charset="0"/>
                <a:ea typeface="Courier New" pitchFamily="34" charset="-122"/>
                <a:cs typeface="Courier New" pitchFamily="34" charset="-120"/>
              </a:rPr>
              <a:t>, round(lift, 2))</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entonces</a:t>
            </a:r>
            <a:endParaRPr lang="en-US" sz="1100" dirty="0"/>
          </a:p>
        </p:txBody>
      </p:sp>
      <p:sp>
        <p:nvSpPr>
          <p:cNvPr id="15" name="Shape 13"/>
          <p:cNvSpPr/>
          <p:nvPr/>
        </p:nvSpPr>
        <p:spPr>
          <a:xfrm>
            <a:off x="8823960" y="2606040"/>
            <a:ext cx="2651760" cy="347472"/>
          </a:xfrm>
          <a:prstGeom prst="rect">
            <a:avLst/>
          </a:prstGeom>
          <a:solidFill>
            <a:srgbClr val="FFFFFF"/>
          </a:solidFill>
          <a:ln w="25400">
            <a:solidFill>
              <a:srgbClr val="1A73E8"/>
            </a:solidFill>
            <a:prstDash val="solid"/>
          </a:ln>
        </p:spPr>
      </p:sp>
      <p:sp>
        <p:nvSpPr>
          <p:cNvPr id="16" name="Text 14"/>
          <p:cNvSpPr/>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preventivo</a:t>
            </a:r>
            <a:endParaRPr lang="en-US" sz="1200" dirty="0"/>
          </a:p>
        </p:txBody>
      </p:sp>
      <p:sp>
        <p:nvSpPr>
          <p:cNvPr id="17"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8" name="Text 16"/>
          <p:cNvSpPr/>
          <p:nvPr/>
        </p:nvSpPr>
        <p:spPr>
          <a:xfrm>
            <a:off x="1325880" y="3855339"/>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9" name="Text 1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0" name="Shape 18"/>
          <p:cNvSpPr/>
          <p:nvPr/>
        </p:nvSpPr>
        <p:spPr>
          <a:xfrm>
            <a:off x="548640" y="6062472"/>
            <a:ext cx="114300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2.08…</a:t>
            </a:r>
            <a:endParaRPr lang="en-US" sz="1200" dirty="0"/>
          </a:p>
        </p:txBody>
      </p:sp>
      <p:sp>
        <p:nvSpPr>
          <p:cNvPr id="22" name="Shape 20"/>
          <p:cNvSpPr/>
          <p:nvPr/>
        </p:nvSpPr>
        <p:spPr>
          <a:xfrm>
            <a:off x="1828800" y="6062472"/>
            <a:ext cx="1143000"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192024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40.0</a:t>
            </a:r>
            <a:endParaRPr lang="en-US" sz="1200" dirty="0"/>
          </a:p>
        </p:txBody>
      </p:sp>
      <p:sp>
        <p:nvSpPr>
          <p:cNvPr id="24" name="Shape 22"/>
          <p:cNvSpPr/>
          <p:nvPr/>
        </p:nvSpPr>
        <p:spPr>
          <a:xfrm>
            <a:off x="3108960" y="6062472"/>
            <a:ext cx="1149401"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3200400"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83.33…</a:t>
            </a:r>
            <a:endParaRPr lang="en-US" sz="1200" dirty="0"/>
          </a:p>
        </p:txBody>
      </p:sp>
      <p:sp>
        <p:nvSpPr>
          <p:cNvPr id="26" name="Shape 24"/>
          <p:cNvSpPr/>
          <p:nvPr/>
        </p:nvSpPr>
        <p:spPr>
          <a:xfrm>
            <a:off x="4395521" y="6062472"/>
            <a:ext cx="1431950" cy="512064"/>
          </a:xfrm>
          <a:prstGeom prst="roundRect">
            <a:avLst>
              <a:gd name="adj" fmla="val 12500"/>
            </a:avLst>
          </a:prstGeom>
          <a:solidFill>
            <a:srgbClr val="F1F3F4"/>
          </a:solidFill>
          <a:ln w="12700">
            <a:solidFill>
              <a:srgbClr val="DADCE0"/>
            </a:solidFill>
            <a:prstDash val="solid"/>
          </a:ln>
        </p:spPr>
      </p:sp>
      <p:sp>
        <p:nvSpPr>
          <p:cNvPr id="27" name="Text 25"/>
          <p:cNvSpPr/>
          <p:nvPr/>
        </p:nvSpPr>
        <p:spPr>
          <a:xfrm>
            <a:off x="4486961"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42 × 6</a:t>
            </a:r>
            <a:endParaRPr lang="en-US" sz="1200" dirty="0"/>
          </a:p>
        </p:txBody>
      </p:sp>
      <p:sp>
        <p:nvSpPr>
          <p:cNvPr id="28" name="Shape 26"/>
          <p:cNvSpPr/>
          <p:nvPr/>
        </p:nvSpPr>
        <p:spPr>
          <a:xfrm>
            <a:off x="5964631" y="6062472"/>
            <a:ext cx="1431950" cy="512064"/>
          </a:xfrm>
          <a:prstGeom prst="roundRect">
            <a:avLst>
              <a:gd name="adj" fmla="val 12500"/>
            </a:avLst>
          </a:prstGeom>
          <a:solidFill>
            <a:srgbClr val="F1F3F4"/>
          </a:solidFill>
          <a:ln w="12700">
            <a:solidFill>
              <a:srgbClr val="DADCE0"/>
            </a:solidFill>
            <a:prstDash val="solid"/>
          </a:ln>
        </p:spPr>
      </p:sp>
      <p:sp>
        <p:nvSpPr>
          <p:cNvPr id="29" name="Text 27"/>
          <p:cNvSpPr/>
          <p:nvPr/>
        </p:nvSpPr>
        <p:spPr>
          <a:xfrm>
            <a:off x="6056071"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"correctivo"</a:t>
            </a:r>
            <a:endParaRPr lang="en-US" sz="1200" dirty="0"/>
          </a:p>
        </p:txBody>
      </p:sp>
      <p:sp>
        <p:nvSpPr>
          <p:cNvPr id="30" name="Shape 28"/>
          <p:cNvSpPr/>
          <p:nvPr/>
        </p:nvSpPr>
        <p:spPr>
          <a:xfrm>
            <a:off x="7533742" y="6062472"/>
            <a:ext cx="1902866" cy="512064"/>
          </a:xfrm>
          <a:prstGeom prst="roundRect">
            <a:avLst>
              <a:gd name="adj" fmla="val 12500"/>
            </a:avLst>
          </a:prstGeom>
          <a:solidFill>
            <a:srgbClr val="F1F3F4"/>
          </a:solidFill>
          <a:ln w="12700">
            <a:solidFill>
              <a:srgbClr val="DADCE0"/>
            </a:solidFill>
            <a:prstDash val="solid"/>
          </a:ln>
        </p:spPr>
      </p:sp>
      <p:sp>
        <p:nvSpPr>
          <p:cNvPr id="31" name="Text 29"/>
          <p:cNvSpPr/>
          <p:nvPr/>
        </p:nvSpPr>
        <p:spPr>
          <a:xfrm>
            <a:off x="7625182"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32" name="Text 30"/>
          <p:cNvSpPr/>
          <p:nvPr/>
        </p:nvSpPr>
        <p:spPr>
          <a:xfrm>
            <a:off x="9573768"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5 más</a:t>
            </a:r>
            <a:endParaRPr lang="en-US" sz="1200" dirty="0"/>
          </a:p>
        </p:txBody>
      </p:sp>
      <p:sp>
        <p:nvSpPr>
          <p:cNvPr id="33" name="Text 31"/>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entonces y se vuelve a correr la celda.</a:t>
            </a:r>
            <a:endParaRPr lang="en-US" sz="1400" dirty="0"/>
          </a:p>
        </p:txBody>
      </p:sp>
      <p:sp>
        <p:nvSpPr>
          <p:cNvPr id="6" name="Shape 4"/>
          <p:cNvSpPr/>
          <p:nvPr/>
        </p:nvSpPr>
        <p:spPr>
          <a:xfrm>
            <a:off x="548640" y="1481328"/>
            <a:ext cx="11091672" cy="2180844"/>
          </a:xfrm>
          <a:prstGeom prst="roundRect">
            <a:avLst>
              <a:gd name="adj" fmla="val 2516"/>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98882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 = </a:t>
            </a:r>
            <a:pPr indent="0" marL="0">
              <a:buNone/>
            </a:pPr>
            <a:r>
              <a:rPr lang="en-US" sz="1200" dirty="0">
                <a:solidFill>
                  <a:srgbClr val="A31515"/>
                </a:solidFill>
                <a:latin typeface="Courier New" pitchFamily="34" charset="0"/>
                <a:ea typeface="Courier New" pitchFamily="34" charset="-122"/>
                <a:cs typeface="Courier New" pitchFamily="34" charset="-120"/>
              </a:rPr>
              <a:t>"falla_electrica"</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"fall…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entonces = </a:t>
            </a:r>
            <a:pPr indent="0" marL="0">
              <a:buNone/>
            </a:pPr>
            <a:r>
              <a:rPr lang="en-US" sz="1200" dirty="0">
                <a:solidFill>
                  <a:srgbClr val="A31515"/>
                </a:solidFill>
                <a:latin typeface="Courier New" pitchFamily="34" charset="0"/>
                <a:ea typeface="Courier New" pitchFamily="34" charset="-122"/>
                <a:cs typeface="Courier New" pitchFamily="34" charset="-120"/>
              </a:rPr>
              <a:t>"preventivo"</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"fal…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con_si = tabla[tabla[si] == True]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"Canastas con {si}"</a:t>
            </a:r>
            <a:pPr indent="0" marL="0">
              <a:buNone/>
            </a:pPr>
            <a:r>
              <a:rPr lang="en-US" sz="1200" dirty="0">
                <a:solidFill>
                  <a:srgbClr val="202124"/>
                </a:solidFill>
                <a:latin typeface="Courier New" pitchFamily="34" charset="0"/>
                <a:ea typeface="Courier New" pitchFamily="34" charset="-122"/>
                <a:cs typeface="Courier New" pitchFamily="34" charset="-120"/>
              </a:rPr>
              <a:t>, len(con_si))</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confianza = 100 * con_si[entonces].mean()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normal = 100 * tabla[entonces].mean()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 confianza / normal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"Confianza"</a:t>
            </a:r>
            <a:pPr indent="0" marL="0">
              <a:buNone/>
            </a:pPr>
            <a:r>
              <a:rPr lang="en-US" sz="1200" dirty="0">
                <a:solidFill>
                  <a:srgbClr val="202124"/>
                </a:solidFill>
                <a:latin typeface="Courier New" pitchFamily="34" charset="0"/>
                <a:ea typeface="Courier New" pitchFamily="34" charset="-122"/>
                <a:cs typeface="Courier New" pitchFamily="34" charset="-120"/>
              </a:rPr>
              <a:t>, round(confianza, 1), </a:t>
            </a:r>
            <a:pPr indent="0" marL="0">
              <a:buNone/>
            </a:pPr>
            <a:r>
              <a:rPr lang="en-US" sz="1200" dirty="0">
                <a:solidFill>
                  <a:srgbClr val="A31515"/>
                </a:solidFill>
                <a:latin typeface="Courier New" pitchFamily="34" charset="0"/>
                <a:ea typeface="Courier New" pitchFamily="34" charset="-122"/>
                <a:cs typeface="Courier New" pitchFamily="34" charset="-120"/>
              </a:rPr>
              <a:t>"por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"{entonces} en todas las canastas"</a:t>
            </a:r>
            <a:pPr indent="0" marL="0">
              <a:buNone/>
            </a:pPr>
            <a:r>
              <a:rPr lang="en-US" sz="1200" dirty="0">
                <a:solidFill>
                  <a:srgbClr val="202124"/>
                </a:solidFill>
                <a:latin typeface="Courier New" pitchFamily="34" charset="0"/>
                <a:ea typeface="Courier New" pitchFamily="34" charset="-122"/>
                <a:cs typeface="Courier New" pitchFamily="34" charset="-120"/>
              </a:rPr>
              <a:t>, round(normal, 1), </a:t>
            </a:r>
            <a:pPr indent="0" marL="0">
              <a:buNone/>
            </a:pPr>
            <a:r>
              <a:rPr lang="en-US" sz="1200" dirty="0">
                <a:solidFill>
                  <a:srgbClr val="A31515"/>
                </a:solidFill>
                <a:latin typeface="Courier New" pitchFamily="34" charset="0"/>
                <a:ea typeface="Courier New" pitchFamily="34" charset="-122"/>
                <a:cs typeface="Courier New" pitchFamily="34" charset="-120"/>
              </a:rPr>
              <a:t>"por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"Lift"</a:t>
            </a:r>
            <a:pPr indent="0" marL="0">
              <a:buNone/>
            </a:pPr>
            <a:r>
              <a:rPr lang="en-US" sz="1200" dirty="0">
                <a:solidFill>
                  <a:srgbClr val="202124"/>
                </a:solidFill>
                <a:latin typeface="Courier New" pitchFamily="34" charset="0"/>
                <a:ea typeface="Courier New" pitchFamily="34" charset="-122"/>
                <a:cs typeface="Courier New" pitchFamily="34" charset="-120"/>
              </a:rPr>
              <a:t>, round(lift, 2))</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entonces</a:t>
            </a:r>
            <a:endParaRPr lang="en-US" sz="1100" dirty="0"/>
          </a:p>
        </p:txBody>
      </p:sp>
      <p:sp>
        <p:nvSpPr>
          <p:cNvPr id="15" name="Shape 13"/>
          <p:cNvSpPr/>
          <p:nvPr/>
        </p:nvSpPr>
        <p:spPr>
          <a:xfrm>
            <a:off x="8823960" y="2606040"/>
            <a:ext cx="2651760" cy="347472"/>
          </a:xfrm>
          <a:prstGeom prst="rect">
            <a:avLst/>
          </a:prstGeom>
          <a:solidFill>
            <a:srgbClr val="FFFFFF"/>
          </a:solidFill>
          <a:ln w="12700">
            <a:solidFill>
              <a:srgbClr val="9AA0A6"/>
            </a:solidFill>
            <a:prstDash val="solid"/>
          </a:ln>
        </p:spPr>
      </p:sp>
      <p:sp>
        <p:nvSpPr>
          <p:cNvPr id="16" name="Text 14"/>
          <p:cNvSpPr/>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preventivo</a:t>
            </a:r>
            <a:endParaRPr lang="en-US" sz="1200" dirty="0"/>
          </a:p>
        </p:txBody>
      </p:sp>
      <p:sp>
        <p:nvSpPr>
          <p:cNvPr id="17"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8" name="Shape 16"/>
          <p:cNvSpPr/>
          <p:nvPr/>
        </p:nvSpPr>
        <p:spPr>
          <a:xfrm>
            <a:off x="1325880" y="3771900"/>
            <a:ext cx="10314432" cy="976579"/>
          </a:xfrm>
          <a:prstGeom prst="rect">
            <a:avLst/>
          </a:prstGeom>
          <a:solidFill>
            <a:srgbClr val="FFFFFF"/>
          </a:solidFill>
          <a:ln w="12700">
            <a:solidFill>
              <a:srgbClr val="DADCE0"/>
            </a:solidFill>
            <a:prstDash val="solid"/>
          </a:ln>
        </p:spPr>
      </p:sp>
      <p:sp>
        <p:nvSpPr>
          <p:cNvPr id="19" name="Text 17"/>
          <p:cNvSpPr/>
          <p:nvPr/>
        </p:nvSpPr>
        <p:spPr>
          <a:xfrm>
            <a:off x="1463040" y="3845052"/>
            <a:ext cx="10085832" cy="848563"/>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Canastas con falla_electrica 42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Confianza 52.4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en todas las canastas 56.3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0.93</a:t>
            </a:r>
            <a:endParaRPr lang="en-US" sz="1200" dirty="0"/>
          </a:p>
        </p:txBody>
      </p:sp>
      <p:sp>
        <p:nvSpPr>
          <p:cNvPr id="20" name="Text 18"/>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1" name="Shape 19"/>
          <p:cNvSpPr/>
          <p:nvPr/>
        </p:nvSpPr>
        <p:spPr>
          <a:xfrm>
            <a:off x="548640" y="6062472"/>
            <a:ext cx="1431950"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64008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23" name="Shape 21"/>
          <p:cNvSpPr/>
          <p:nvPr/>
        </p:nvSpPr>
        <p:spPr>
          <a:xfrm>
            <a:off x="2117750" y="6062472"/>
            <a:ext cx="1149401" cy="512064"/>
          </a:xfrm>
          <a:prstGeom prst="roundRect">
            <a:avLst>
              <a:gd name="adj" fmla="val 12500"/>
            </a:avLst>
          </a:prstGeom>
          <a:solidFill>
            <a:srgbClr val="FEF3D6"/>
          </a:solidFill>
          <a:ln w="25400">
            <a:solidFill>
              <a:srgbClr val="F9AB00"/>
            </a:solidFill>
            <a:prstDash val="solid"/>
          </a:ln>
        </p:spPr>
      </p:sp>
      <p:sp>
        <p:nvSpPr>
          <p:cNvPr id="24" name="Text 22"/>
          <p:cNvSpPr/>
          <p:nvPr/>
        </p:nvSpPr>
        <p:spPr>
          <a:xfrm>
            <a:off x="2209190"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52.38…</a:t>
            </a:r>
            <a:endParaRPr lang="en-US" sz="1200" dirty="0"/>
          </a:p>
        </p:txBody>
      </p:sp>
      <p:sp>
        <p:nvSpPr>
          <p:cNvPr id="25" name="Shape 23"/>
          <p:cNvSpPr/>
          <p:nvPr/>
        </p:nvSpPr>
        <p:spPr>
          <a:xfrm>
            <a:off x="3404311" y="6062472"/>
            <a:ext cx="1143000" cy="512064"/>
          </a:xfrm>
          <a:prstGeom prst="roundRect">
            <a:avLst>
              <a:gd name="adj" fmla="val 12500"/>
            </a:avLst>
          </a:prstGeom>
          <a:solidFill>
            <a:srgbClr val="FEF3D6"/>
          </a:solidFill>
          <a:ln w="25400">
            <a:solidFill>
              <a:srgbClr val="F9AB00"/>
            </a:solidFill>
            <a:prstDash val="solid"/>
          </a:ln>
        </p:spPr>
      </p:sp>
      <p:sp>
        <p:nvSpPr>
          <p:cNvPr id="26" name="Text 24"/>
          <p:cNvSpPr/>
          <p:nvPr/>
        </p:nvSpPr>
        <p:spPr>
          <a:xfrm>
            <a:off x="3495751"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56.28…</a:t>
            </a:r>
            <a:endParaRPr lang="en-US" sz="1200" dirty="0"/>
          </a:p>
        </p:txBody>
      </p:sp>
      <p:sp>
        <p:nvSpPr>
          <p:cNvPr id="27" name="Shape 25"/>
          <p:cNvSpPr/>
          <p:nvPr/>
        </p:nvSpPr>
        <p:spPr>
          <a:xfrm>
            <a:off x="4684471" y="6062472"/>
            <a:ext cx="1143000" cy="512064"/>
          </a:xfrm>
          <a:prstGeom prst="roundRect">
            <a:avLst>
              <a:gd name="adj" fmla="val 12500"/>
            </a:avLst>
          </a:prstGeom>
          <a:solidFill>
            <a:srgbClr val="FEF3D6"/>
          </a:solidFill>
          <a:ln w="25400">
            <a:solidFill>
              <a:srgbClr val="F9AB00"/>
            </a:solidFill>
            <a:prstDash val="solid"/>
          </a:ln>
        </p:spPr>
      </p:sp>
      <p:sp>
        <p:nvSpPr>
          <p:cNvPr id="28" name="Text 26"/>
          <p:cNvSpPr/>
          <p:nvPr/>
        </p:nvSpPr>
        <p:spPr>
          <a:xfrm>
            <a:off x="4775911"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0.93…</a:t>
            </a:r>
            <a:endParaRPr lang="en-US" sz="1200" dirty="0"/>
          </a:p>
        </p:txBody>
      </p:sp>
      <p:sp>
        <p:nvSpPr>
          <p:cNvPr id="29" name="Shape 27"/>
          <p:cNvSpPr/>
          <p:nvPr/>
        </p:nvSpPr>
        <p:spPr>
          <a:xfrm>
            <a:off x="5964631" y="6062472"/>
            <a:ext cx="1526134" cy="512064"/>
          </a:xfrm>
          <a:prstGeom prst="roundRect">
            <a:avLst>
              <a:gd name="adj" fmla="val 12500"/>
            </a:avLst>
          </a:prstGeom>
          <a:solidFill>
            <a:srgbClr val="E8F0FE"/>
          </a:solidFill>
          <a:ln w="28575">
            <a:solidFill>
              <a:srgbClr val="1A73E8"/>
            </a:solidFill>
            <a:prstDash val="solid"/>
          </a:ln>
        </p:spPr>
      </p:sp>
      <p:sp>
        <p:nvSpPr>
          <p:cNvPr id="30" name="Text 28"/>
          <p:cNvSpPr/>
          <p:nvPr/>
        </p:nvSpPr>
        <p:spPr>
          <a:xfrm>
            <a:off x="6056071"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31" name="Shape 29"/>
          <p:cNvSpPr/>
          <p:nvPr/>
        </p:nvSpPr>
        <p:spPr>
          <a:xfrm>
            <a:off x="7627925" y="6062472"/>
            <a:ext cx="1902866" cy="512064"/>
          </a:xfrm>
          <a:prstGeom prst="roundRect">
            <a:avLst>
              <a:gd name="adj" fmla="val 12500"/>
            </a:avLst>
          </a:prstGeom>
          <a:solidFill>
            <a:srgbClr val="E8F0FE"/>
          </a:solidFill>
          <a:ln w="28575">
            <a:solidFill>
              <a:srgbClr val="1A73E8"/>
            </a:solidFill>
            <a:prstDash val="solid"/>
          </a:ln>
        </p:spPr>
      </p:sp>
      <p:sp>
        <p:nvSpPr>
          <p:cNvPr id="32" name="Text 30"/>
          <p:cNvSpPr/>
          <p:nvPr/>
        </p:nvSpPr>
        <p:spPr>
          <a:xfrm>
            <a:off x="7719365"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33" name="Text 31"/>
          <p:cNvSpPr/>
          <p:nvPr/>
        </p:nvSpPr>
        <p:spPr>
          <a:xfrm>
            <a:off x="9667951"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5 más</a:t>
            </a:r>
            <a:endParaRPr lang="en-US" sz="1200" dirty="0"/>
          </a:p>
        </p:txBody>
      </p:sp>
      <p:sp>
        <p:nvSpPr>
          <p:cNvPr id="34" name="Text 32"/>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La confianza es 52,4 por ciento, pero lo normal es 56,3. El lift es 0,93.</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si y falla_mecanica en entonces.</a:t>
            </a:r>
            <a:endParaRPr lang="en-US" sz="1400" dirty="0"/>
          </a:p>
        </p:txBody>
      </p:sp>
      <p:sp>
        <p:nvSpPr>
          <p:cNvPr id="6" name="Shape 4"/>
          <p:cNvSpPr/>
          <p:nvPr/>
        </p:nvSpPr>
        <p:spPr>
          <a:xfrm>
            <a:off x="548640" y="1481328"/>
            <a:ext cx="11091672" cy="2346579"/>
          </a:xfrm>
          <a:prstGeom prst="roundRect">
            <a:avLst>
              <a:gd name="adj" fmla="val 2338"/>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2154555"/>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si = </a:t>
            </a:r>
            <a:pPr indent="0" marL="0">
              <a:buNone/>
            </a:pPr>
            <a:r>
              <a:rPr lang="en-US" sz="13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entonces = </a:t>
            </a:r>
            <a:pPr indent="0" marL="0">
              <a:buNone/>
            </a:pPr>
            <a:r>
              <a:rPr lang="en-US" sz="1300" dirty="0">
                <a:solidFill>
                  <a:srgbClr val="A31515"/>
                </a:solidFill>
                <a:latin typeface="Courier New" pitchFamily="34" charset="0"/>
                <a:ea typeface="Courier New" pitchFamily="34" charset="-122"/>
                <a:cs typeface="Courier New" pitchFamily="34" charset="-120"/>
              </a:rPr>
              <a:t>"falla_mecanica"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con_si = tabla[tabla[si] == True]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"Canastas con {si}"</a:t>
            </a:r>
            <a:pPr indent="0" marL="0">
              <a:buNone/>
            </a:pPr>
            <a:r>
              <a:rPr lang="en-US" sz="1300" dirty="0">
                <a:solidFill>
                  <a:srgbClr val="202124"/>
                </a:solidFill>
                <a:latin typeface="Courier New" pitchFamily="34" charset="0"/>
                <a:ea typeface="Courier New" pitchFamily="34" charset="-122"/>
                <a:cs typeface="Courier New" pitchFamily="34" charset="-120"/>
              </a:rPr>
              <a:t>, len(con_si))</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confianza = 100 * con_si[entonces].mean()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normal = 100 * tabla[entonces].mean()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lift = confianza / normal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"Confianza"</a:t>
            </a:r>
            <a:pPr indent="0" marL="0">
              <a:buNone/>
            </a:pPr>
            <a:r>
              <a:rPr lang="en-US" sz="1300" dirty="0">
                <a:solidFill>
                  <a:srgbClr val="202124"/>
                </a:solidFill>
                <a:latin typeface="Courier New" pitchFamily="34" charset="0"/>
                <a:ea typeface="Courier New" pitchFamily="34" charset="-122"/>
                <a:cs typeface="Courier New" pitchFamily="34" charset="-120"/>
              </a:rPr>
              <a:t>, round(confianza, 1), </a:t>
            </a:r>
            <a:pPr indent="0" marL="0">
              <a:buNone/>
            </a:pPr>
            <a:r>
              <a:rPr lang="en-US" sz="1300" dirty="0">
                <a:solidFill>
                  <a:srgbClr val="A31515"/>
                </a:solidFill>
                <a:latin typeface="Courier New" pitchFamily="34" charset="0"/>
                <a:ea typeface="Courier New" pitchFamily="34" charset="-122"/>
                <a:cs typeface="Courier New" pitchFamily="34" charset="-120"/>
              </a:rPr>
              <a:t>"por ciento"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"{entonces} en todas las canastas"</a:t>
            </a:r>
            <a:pPr indent="0" marL="0">
              <a:buNone/>
            </a:pPr>
            <a:r>
              <a:rPr lang="en-US" sz="1300" dirty="0">
                <a:solidFill>
                  <a:srgbClr val="202124"/>
                </a:solidFill>
                <a:latin typeface="Courier New" pitchFamily="34" charset="0"/>
                <a:ea typeface="Courier New" pitchFamily="34" charset="-122"/>
                <a:cs typeface="Courier New" pitchFamily="34" charset="-120"/>
              </a:rPr>
              <a:t>, round(normal, 1), </a:t>
            </a:r>
            <a:pPr indent="0" marL="0">
              <a:buNone/>
            </a:pPr>
            <a:r>
              <a:rPr lang="en-US" sz="1300" dirty="0">
                <a:solidFill>
                  <a:srgbClr val="A31515"/>
                </a:solidFill>
                <a:latin typeface="Courier New" pitchFamily="34" charset="0"/>
                <a:ea typeface="Courier New" pitchFamily="34" charset="-122"/>
                <a:cs typeface="Courier New" pitchFamily="34" charset="-120"/>
              </a:rPr>
              <a:t>"por ciento"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"Lift"</a:t>
            </a:r>
            <a:pPr indent="0" marL="0">
              <a:buNone/>
            </a:pPr>
            <a:r>
              <a:rPr lang="en-US" sz="1300" dirty="0">
                <a:solidFill>
                  <a:srgbClr val="202124"/>
                </a:solidFill>
                <a:latin typeface="Courier New" pitchFamily="34" charset="0"/>
                <a:ea typeface="Courier New" pitchFamily="34" charset="-122"/>
                <a:cs typeface="Courier New" pitchFamily="34" charset="-120"/>
              </a:rPr>
              <a:t>, round(lift, 2))</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entonces</a:t>
            </a:r>
            <a:endParaRPr lang="en-US" sz="1100" dirty="0"/>
          </a:p>
        </p:txBody>
      </p:sp>
      <p:sp>
        <p:nvSpPr>
          <p:cNvPr id="15" name="Shape 13"/>
          <p:cNvSpPr/>
          <p:nvPr/>
        </p:nvSpPr>
        <p:spPr>
          <a:xfrm>
            <a:off x="8823960" y="2606040"/>
            <a:ext cx="2651760" cy="347472"/>
          </a:xfrm>
          <a:prstGeom prst="rect">
            <a:avLst/>
          </a:prstGeom>
          <a:solidFill>
            <a:srgbClr val="FFFFFF"/>
          </a:solidFill>
          <a:ln w="25400">
            <a:solidFill>
              <a:srgbClr val="1A73E8"/>
            </a:solidFill>
            <a:prstDash val="solid"/>
          </a:ln>
        </p:spPr>
      </p:sp>
      <p:sp>
        <p:nvSpPr>
          <p:cNvPr id="16" name="Text 14"/>
          <p:cNvSpPr/>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falla_mecanica</a:t>
            </a:r>
            <a:endParaRPr lang="en-US" sz="1200" dirty="0"/>
          </a:p>
        </p:txBody>
      </p:sp>
      <p:sp>
        <p:nvSpPr>
          <p:cNvPr id="17"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8" name="Text 16"/>
          <p:cNvSpPr/>
          <p:nvPr/>
        </p:nvSpPr>
        <p:spPr>
          <a:xfrm>
            <a:off x="1325880" y="3855339"/>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9" name="Text 1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0" name="Shape 18"/>
          <p:cNvSpPr/>
          <p:nvPr/>
        </p:nvSpPr>
        <p:spPr>
          <a:xfrm>
            <a:off x="548640" y="6062472"/>
            <a:ext cx="114300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0.93…</a:t>
            </a:r>
            <a:endParaRPr lang="en-US" sz="1200" dirty="0"/>
          </a:p>
        </p:txBody>
      </p:sp>
      <p:sp>
        <p:nvSpPr>
          <p:cNvPr id="22" name="Shape 20"/>
          <p:cNvSpPr/>
          <p:nvPr/>
        </p:nvSpPr>
        <p:spPr>
          <a:xfrm>
            <a:off x="1828800" y="6062472"/>
            <a:ext cx="1143000"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192024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56.28…</a:t>
            </a:r>
            <a:endParaRPr lang="en-US" sz="1200" dirty="0"/>
          </a:p>
        </p:txBody>
      </p:sp>
      <p:sp>
        <p:nvSpPr>
          <p:cNvPr id="24" name="Shape 22"/>
          <p:cNvSpPr/>
          <p:nvPr/>
        </p:nvSpPr>
        <p:spPr>
          <a:xfrm>
            <a:off x="3108960" y="6062472"/>
            <a:ext cx="1149401"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3200400"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52.38…</a:t>
            </a:r>
            <a:endParaRPr lang="en-US" sz="1200" dirty="0"/>
          </a:p>
        </p:txBody>
      </p:sp>
      <p:sp>
        <p:nvSpPr>
          <p:cNvPr id="26" name="Shape 24"/>
          <p:cNvSpPr/>
          <p:nvPr/>
        </p:nvSpPr>
        <p:spPr>
          <a:xfrm>
            <a:off x="4395521" y="6062472"/>
            <a:ext cx="1431950" cy="512064"/>
          </a:xfrm>
          <a:prstGeom prst="roundRect">
            <a:avLst>
              <a:gd name="adj" fmla="val 12500"/>
            </a:avLst>
          </a:prstGeom>
          <a:solidFill>
            <a:srgbClr val="F1F3F4"/>
          </a:solidFill>
          <a:ln w="12700">
            <a:solidFill>
              <a:srgbClr val="DADCE0"/>
            </a:solidFill>
            <a:prstDash val="solid"/>
          </a:ln>
        </p:spPr>
      </p:sp>
      <p:sp>
        <p:nvSpPr>
          <p:cNvPr id="27" name="Text 25"/>
          <p:cNvSpPr/>
          <p:nvPr/>
        </p:nvSpPr>
        <p:spPr>
          <a:xfrm>
            <a:off x="4486961"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42 × 6</a:t>
            </a:r>
            <a:endParaRPr lang="en-US" sz="1200" dirty="0"/>
          </a:p>
        </p:txBody>
      </p:sp>
      <p:sp>
        <p:nvSpPr>
          <p:cNvPr id="28" name="Shape 26"/>
          <p:cNvSpPr/>
          <p:nvPr/>
        </p:nvSpPr>
        <p:spPr>
          <a:xfrm>
            <a:off x="5964631" y="6062472"/>
            <a:ext cx="1431950" cy="512064"/>
          </a:xfrm>
          <a:prstGeom prst="roundRect">
            <a:avLst>
              <a:gd name="adj" fmla="val 12500"/>
            </a:avLst>
          </a:prstGeom>
          <a:solidFill>
            <a:srgbClr val="F1F3F4"/>
          </a:solidFill>
          <a:ln w="12700">
            <a:solidFill>
              <a:srgbClr val="DADCE0"/>
            </a:solidFill>
            <a:prstDash val="solid"/>
          </a:ln>
        </p:spPr>
      </p:sp>
      <p:sp>
        <p:nvSpPr>
          <p:cNvPr id="29" name="Text 27"/>
          <p:cNvSpPr/>
          <p:nvPr/>
        </p:nvSpPr>
        <p:spPr>
          <a:xfrm>
            <a:off x="6056071"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30" name="Shape 28"/>
          <p:cNvSpPr/>
          <p:nvPr/>
        </p:nvSpPr>
        <p:spPr>
          <a:xfrm>
            <a:off x="7533742" y="6062472"/>
            <a:ext cx="1902866" cy="512064"/>
          </a:xfrm>
          <a:prstGeom prst="roundRect">
            <a:avLst>
              <a:gd name="adj" fmla="val 12500"/>
            </a:avLst>
          </a:prstGeom>
          <a:solidFill>
            <a:srgbClr val="F1F3F4"/>
          </a:solidFill>
          <a:ln w="12700">
            <a:solidFill>
              <a:srgbClr val="DADCE0"/>
            </a:solidFill>
            <a:prstDash val="solid"/>
          </a:ln>
        </p:spPr>
      </p:sp>
      <p:sp>
        <p:nvSpPr>
          <p:cNvPr id="31" name="Text 29"/>
          <p:cNvSpPr/>
          <p:nvPr/>
        </p:nvSpPr>
        <p:spPr>
          <a:xfrm>
            <a:off x="7625182"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32" name="Text 30"/>
          <p:cNvSpPr/>
          <p:nvPr/>
        </p:nvSpPr>
        <p:spPr>
          <a:xfrm>
            <a:off x="9573768"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5 más</a:t>
            </a:r>
            <a:endParaRPr lang="en-US" sz="1200" dirty="0"/>
          </a:p>
        </p:txBody>
      </p:sp>
      <p:sp>
        <p:nvSpPr>
          <p:cNvPr id="33" name="Text 31"/>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si y falla_mecanica en entonces.</a:t>
            </a:r>
            <a:endParaRPr lang="en-US" sz="1400" dirty="0"/>
          </a:p>
        </p:txBody>
      </p:sp>
      <p:sp>
        <p:nvSpPr>
          <p:cNvPr id="6" name="Shape 4"/>
          <p:cNvSpPr/>
          <p:nvPr/>
        </p:nvSpPr>
        <p:spPr>
          <a:xfrm>
            <a:off x="548640" y="1481328"/>
            <a:ext cx="11091672" cy="2180844"/>
          </a:xfrm>
          <a:prstGeom prst="roundRect">
            <a:avLst>
              <a:gd name="adj" fmla="val 2516"/>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98882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 = </a:t>
            </a:r>
            <a:pPr indent="0" marL="0">
              <a:buNone/>
            </a:pPr>
            <a:r>
              <a:rPr lang="en-US" sz="12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"fal…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entonces = </a:t>
            </a:r>
            <a:pPr indent="0" marL="0">
              <a:buNone/>
            </a:pPr>
            <a:r>
              <a:rPr lang="en-US" sz="1200" dirty="0">
                <a:solidFill>
                  <a:srgbClr val="A31515"/>
                </a:solidFill>
                <a:latin typeface="Courier New" pitchFamily="34" charset="0"/>
                <a:ea typeface="Courier New" pitchFamily="34" charset="-122"/>
                <a:cs typeface="Courier New" pitchFamily="34" charset="-120"/>
              </a:rPr>
              <a:t>"falla_mecanica"</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con_si = tabla[tabla[si] == True]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"Canastas con {si}"</a:t>
            </a:r>
            <a:pPr indent="0" marL="0">
              <a:buNone/>
            </a:pPr>
            <a:r>
              <a:rPr lang="en-US" sz="1200" dirty="0">
                <a:solidFill>
                  <a:srgbClr val="202124"/>
                </a:solidFill>
                <a:latin typeface="Courier New" pitchFamily="34" charset="0"/>
                <a:ea typeface="Courier New" pitchFamily="34" charset="-122"/>
                <a:cs typeface="Courier New" pitchFamily="34" charset="-120"/>
              </a:rPr>
              <a:t>, len(con_si))</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confianza = 100 * con_si[entonces].mean()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normal = 100 * tabla[entonces].mean()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 confianza / normal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"Confianza"</a:t>
            </a:r>
            <a:pPr indent="0" marL="0">
              <a:buNone/>
            </a:pPr>
            <a:r>
              <a:rPr lang="en-US" sz="1200" dirty="0">
                <a:solidFill>
                  <a:srgbClr val="202124"/>
                </a:solidFill>
                <a:latin typeface="Courier New" pitchFamily="34" charset="0"/>
                <a:ea typeface="Courier New" pitchFamily="34" charset="-122"/>
                <a:cs typeface="Courier New" pitchFamily="34" charset="-120"/>
              </a:rPr>
              <a:t>, round(confianza, 1), </a:t>
            </a:r>
            <a:pPr indent="0" marL="0">
              <a:buNone/>
            </a:pPr>
            <a:r>
              <a:rPr lang="en-US" sz="1200" dirty="0">
                <a:solidFill>
                  <a:srgbClr val="A31515"/>
                </a:solidFill>
                <a:latin typeface="Courier New" pitchFamily="34" charset="0"/>
                <a:ea typeface="Courier New" pitchFamily="34" charset="-122"/>
                <a:cs typeface="Courier New" pitchFamily="34" charset="-120"/>
              </a:rPr>
              <a:t>"por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"{entonces} en todas las canastas"</a:t>
            </a:r>
            <a:pPr indent="0" marL="0">
              <a:buNone/>
            </a:pPr>
            <a:r>
              <a:rPr lang="en-US" sz="1200" dirty="0">
                <a:solidFill>
                  <a:srgbClr val="202124"/>
                </a:solidFill>
                <a:latin typeface="Courier New" pitchFamily="34" charset="0"/>
                <a:ea typeface="Courier New" pitchFamily="34" charset="-122"/>
                <a:cs typeface="Courier New" pitchFamily="34" charset="-120"/>
              </a:rPr>
              <a:t>, round(normal, 1), </a:t>
            </a:r>
            <a:pPr indent="0" marL="0">
              <a:buNone/>
            </a:pPr>
            <a:r>
              <a:rPr lang="en-US" sz="1200" dirty="0">
                <a:solidFill>
                  <a:srgbClr val="A31515"/>
                </a:solidFill>
                <a:latin typeface="Courier New" pitchFamily="34" charset="0"/>
                <a:ea typeface="Courier New" pitchFamily="34" charset="-122"/>
                <a:cs typeface="Courier New" pitchFamily="34" charset="-120"/>
              </a:rPr>
              <a:t>"por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"Lift"</a:t>
            </a:r>
            <a:pPr indent="0" marL="0">
              <a:buNone/>
            </a:pPr>
            <a:r>
              <a:rPr lang="en-US" sz="1200" dirty="0">
                <a:solidFill>
                  <a:srgbClr val="202124"/>
                </a:solidFill>
                <a:latin typeface="Courier New" pitchFamily="34" charset="0"/>
                <a:ea typeface="Courier New" pitchFamily="34" charset="-122"/>
                <a:cs typeface="Courier New" pitchFamily="34" charset="-120"/>
              </a:rPr>
              <a:t>, round(lift, 2))</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entonces</a:t>
            </a:r>
            <a:endParaRPr lang="en-US" sz="1100" dirty="0"/>
          </a:p>
        </p:txBody>
      </p:sp>
      <p:sp>
        <p:nvSpPr>
          <p:cNvPr id="15" name="Shape 13"/>
          <p:cNvSpPr/>
          <p:nvPr/>
        </p:nvSpPr>
        <p:spPr>
          <a:xfrm>
            <a:off x="8823960" y="2606040"/>
            <a:ext cx="2651760" cy="347472"/>
          </a:xfrm>
          <a:prstGeom prst="rect">
            <a:avLst/>
          </a:prstGeom>
          <a:solidFill>
            <a:srgbClr val="FFFFFF"/>
          </a:solidFill>
          <a:ln w="12700">
            <a:solidFill>
              <a:srgbClr val="9AA0A6"/>
            </a:solidFill>
            <a:prstDash val="solid"/>
          </a:ln>
        </p:spPr>
      </p:sp>
      <p:sp>
        <p:nvSpPr>
          <p:cNvPr id="16" name="Text 14"/>
          <p:cNvSpPr/>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falla_mecanica</a:t>
            </a:r>
            <a:endParaRPr lang="en-US" sz="1200" dirty="0"/>
          </a:p>
        </p:txBody>
      </p:sp>
      <p:sp>
        <p:nvSpPr>
          <p:cNvPr id="17"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8" name="Shape 16"/>
          <p:cNvSpPr/>
          <p:nvPr/>
        </p:nvSpPr>
        <p:spPr>
          <a:xfrm>
            <a:off x="1325880" y="3771900"/>
            <a:ext cx="10314432" cy="976579"/>
          </a:xfrm>
          <a:prstGeom prst="rect">
            <a:avLst/>
          </a:prstGeom>
          <a:solidFill>
            <a:srgbClr val="FFFFFF"/>
          </a:solidFill>
          <a:ln w="12700">
            <a:solidFill>
              <a:srgbClr val="DADCE0"/>
            </a:solidFill>
            <a:prstDash val="solid"/>
          </a:ln>
        </p:spPr>
      </p:sp>
      <p:sp>
        <p:nvSpPr>
          <p:cNvPr id="19" name="Text 17"/>
          <p:cNvSpPr/>
          <p:nvPr/>
        </p:nvSpPr>
        <p:spPr>
          <a:xfrm>
            <a:off x="1463040" y="3845052"/>
            <a:ext cx="10085832" cy="848563"/>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Canastas con evento_climatico 55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Confianza 69.1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en todas las canastas 36.3 por ciento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1.9</a:t>
            </a:r>
            <a:endParaRPr lang="en-US" sz="1200" dirty="0"/>
          </a:p>
        </p:txBody>
      </p:sp>
      <p:sp>
        <p:nvSpPr>
          <p:cNvPr id="20" name="Text 18"/>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1" name="Shape 19"/>
          <p:cNvSpPr/>
          <p:nvPr/>
        </p:nvSpPr>
        <p:spPr>
          <a:xfrm>
            <a:off x="548640" y="6062472"/>
            <a:ext cx="1997050"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640080"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23" name="Shape 21"/>
          <p:cNvSpPr/>
          <p:nvPr/>
        </p:nvSpPr>
        <p:spPr>
          <a:xfrm>
            <a:off x="2682850" y="6062472"/>
            <a:ext cx="1808683" cy="512064"/>
          </a:xfrm>
          <a:prstGeom prst="roundRect">
            <a:avLst>
              <a:gd name="adj" fmla="val 12500"/>
            </a:avLst>
          </a:prstGeom>
          <a:solidFill>
            <a:srgbClr val="FEF3D6"/>
          </a:solidFill>
          <a:ln w="25400">
            <a:solidFill>
              <a:srgbClr val="F9AB00"/>
            </a:solidFill>
            <a:prstDash val="solid"/>
          </a:ln>
        </p:spPr>
      </p:sp>
      <p:sp>
        <p:nvSpPr>
          <p:cNvPr id="24" name="Text 22"/>
          <p:cNvSpPr/>
          <p:nvPr/>
        </p:nvSpPr>
        <p:spPr>
          <a:xfrm>
            <a:off x="2774290" y="6071616"/>
            <a:ext cx="1671523"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"falla_mecanica"</a:t>
            </a:r>
            <a:endParaRPr lang="en-US" sz="1200" dirty="0"/>
          </a:p>
        </p:txBody>
      </p:sp>
      <p:sp>
        <p:nvSpPr>
          <p:cNvPr id="25" name="Shape 23"/>
          <p:cNvSpPr/>
          <p:nvPr/>
        </p:nvSpPr>
        <p:spPr>
          <a:xfrm>
            <a:off x="4628693" y="6062472"/>
            <a:ext cx="1431950" cy="512064"/>
          </a:xfrm>
          <a:prstGeom prst="roundRect">
            <a:avLst>
              <a:gd name="adj" fmla="val 12500"/>
            </a:avLst>
          </a:prstGeom>
          <a:solidFill>
            <a:srgbClr val="FEF3D6"/>
          </a:solidFill>
          <a:ln w="25400">
            <a:solidFill>
              <a:srgbClr val="F9AB00"/>
            </a:solidFill>
            <a:prstDash val="solid"/>
          </a:ln>
        </p:spPr>
      </p:sp>
      <p:sp>
        <p:nvSpPr>
          <p:cNvPr id="26" name="Text 24"/>
          <p:cNvSpPr/>
          <p:nvPr/>
        </p:nvSpPr>
        <p:spPr>
          <a:xfrm>
            <a:off x="4720133"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55 × 6</a:t>
            </a:r>
            <a:endParaRPr lang="en-US" sz="1200" dirty="0"/>
          </a:p>
        </p:txBody>
      </p:sp>
      <p:sp>
        <p:nvSpPr>
          <p:cNvPr id="27" name="Shape 25"/>
          <p:cNvSpPr/>
          <p:nvPr/>
        </p:nvSpPr>
        <p:spPr>
          <a:xfrm>
            <a:off x="6197803" y="6062472"/>
            <a:ext cx="1149401" cy="512064"/>
          </a:xfrm>
          <a:prstGeom prst="roundRect">
            <a:avLst>
              <a:gd name="adj" fmla="val 12500"/>
            </a:avLst>
          </a:prstGeom>
          <a:solidFill>
            <a:srgbClr val="FEF3D6"/>
          </a:solidFill>
          <a:ln w="25400">
            <a:solidFill>
              <a:srgbClr val="F9AB00"/>
            </a:solidFill>
            <a:prstDash val="solid"/>
          </a:ln>
        </p:spPr>
      </p:sp>
      <p:sp>
        <p:nvSpPr>
          <p:cNvPr id="28" name="Text 26"/>
          <p:cNvSpPr/>
          <p:nvPr/>
        </p:nvSpPr>
        <p:spPr>
          <a:xfrm>
            <a:off x="6289243"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69.09…</a:t>
            </a:r>
            <a:endParaRPr lang="en-US" sz="1200" dirty="0"/>
          </a:p>
        </p:txBody>
      </p:sp>
      <p:sp>
        <p:nvSpPr>
          <p:cNvPr id="29" name="Shape 27"/>
          <p:cNvSpPr/>
          <p:nvPr/>
        </p:nvSpPr>
        <p:spPr>
          <a:xfrm>
            <a:off x="7484364" y="6062472"/>
            <a:ext cx="1143000" cy="512064"/>
          </a:xfrm>
          <a:prstGeom prst="roundRect">
            <a:avLst>
              <a:gd name="adj" fmla="val 12500"/>
            </a:avLst>
          </a:prstGeom>
          <a:solidFill>
            <a:srgbClr val="FEF3D6"/>
          </a:solidFill>
          <a:ln w="25400">
            <a:solidFill>
              <a:srgbClr val="F9AB00"/>
            </a:solidFill>
            <a:prstDash val="solid"/>
          </a:ln>
        </p:spPr>
      </p:sp>
      <p:sp>
        <p:nvSpPr>
          <p:cNvPr id="30" name="Text 28"/>
          <p:cNvSpPr/>
          <p:nvPr/>
        </p:nvSpPr>
        <p:spPr>
          <a:xfrm>
            <a:off x="7575804"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36.28…</a:t>
            </a:r>
            <a:endParaRPr lang="en-US" sz="1200" dirty="0"/>
          </a:p>
        </p:txBody>
      </p:sp>
      <p:sp>
        <p:nvSpPr>
          <p:cNvPr id="31" name="Shape 29"/>
          <p:cNvSpPr/>
          <p:nvPr/>
        </p:nvSpPr>
        <p:spPr>
          <a:xfrm>
            <a:off x="8764524" y="6062472"/>
            <a:ext cx="1143000" cy="512064"/>
          </a:xfrm>
          <a:prstGeom prst="roundRect">
            <a:avLst>
              <a:gd name="adj" fmla="val 12500"/>
            </a:avLst>
          </a:prstGeom>
          <a:solidFill>
            <a:srgbClr val="FEF3D6"/>
          </a:solidFill>
          <a:ln w="25400">
            <a:solidFill>
              <a:srgbClr val="F9AB00"/>
            </a:solidFill>
            <a:prstDash val="solid"/>
          </a:ln>
        </p:spPr>
      </p:sp>
      <p:sp>
        <p:nvSpPr>
          <p:cNvPr id="32" name="Text 30"/>
          <p:cNvSpPr/>
          <p:nvPr/>
        </p:nvSpPr>
        <p:spPr>
          <a:xfrm>
            <a:off x="8855964"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33" name="Text 31"/>
          <p:cNvSpPr/>
          <p:nvPr/>
        </p:nvSpPr>
        <p:spPr>
          <a:xfrm>
            <a:off x="1004468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5 más</a:t>
            </a:r>
            <a:endParaRPr lang="en-US" sz="1200" dirty="0"/>
          </a:p>
        </p:txBody>
      </p:sp>
      <p:sp>
        <p:nvSpPr>
          <p:cNvPr id="34" name="Text 32"/>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evento climático, la falla mecánica aparece en el 69,1 por ciento. Lo normal es 36,3. El lift es 1,9.</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si pasa una cosa, ¿pasa la otra?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La confianza se compara con lo normal, y eso es el lift.</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Una confianza alta con lift cercano a 1 no dice nada. Un lift cercano a 2 es el doble de lo normal.</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997050"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12" name="Shape 10"/>
          <p:cNvSpPr/>
          <p:nvPr/>
        </p:nvSpPr>
        <p:spPr>
          <a:xfrm>
            <a:off x="2682850" y="6062472"/>
            <a:ext cx="1808683"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2774290" y="6071616"/>
            <a:ext cx="1671523"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"falla_mecanica"</a:t>
            </a:r>
            <a:endParaRPr lang="en-US" sz="1200" dirty="0"/>
          </a:p>
        </p:txBody>
      </p:sp>
      <p:sp>
        <p:nvSpPr>
          <p:cNvPr id="14" name="Shape 12"/>
          <p:cNvSpPr/>
          <p:nvPr/>
        </p:nvSpPr>
        <p:spPr>
          <a:xfrm>
            <a:off x="4628693" y="6062472"/>
            <a:ext cx="1431950"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4720133"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55 × 6</a:t>
            </a:r>
            <a:endParaRPr lang="en-US" sz="1200" dirty="0"/>
          </a:p>
        </p:txBody>
      </p:sp>
      <p:sp>
        <p:nvSpPr>
          <p:cNvPr id="16" name="Shape 14"/>
          <p:cNvSpPr/>
          <p:nvPr/>
        </p:nvSpPr>
        <p:spPr>
          <a:xfrm>
            <a:off x="6197803" y="6062472"/>
            <a:ext cx="1149401" cy="512064"/>
          </a:xfrm>
          <a:prstGeom prst="roundRect">
            <a:avLst>
              <a:gd name="adj" fmla="val 12500"/>
            </a:avLst>
          </a:prstGeom>
          <a:solidFill>
            <a:srgbClr val="FEF3D6"/>
          </a:solidFill>
          <a:ln w="25400">
            <a:solidFill>
              <a:srgbClr val="F9AB00"/>
            </a:solidFill>
            <a:prstDash val="solid"/>
          </a:ln>
        </p:spPr>
      </p:sp>
      <p:sp>
        <p:nvSpPr>
          <p:cNvPr id="17" name="Text 15"/>
          <p:cNvSpPr/>
          <p:nvPr/>
        </p:nvSpPr>
        <p:spPr>
          <a:xfrm>
            <a:off x="6289243"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69.09…</a:t>
            </a:r>
            <a:endParaRPr lang="en-US" sz="1200" dirty="0"/>
          </a:p>
        </p:txBody>
      </p:sp>
      <p:sp>
        <p:nvSpPr>
          <p:cNvPr id="18" name="Shape 16"/>
          <p:cNvSpPr/>
          <p:nvPr/>
        </p:nvSpPr>
        <p:spPr>
          <a:xfrm>
            <a:off x="7484364" y="6062472"/>
            <a:ext cx="1143000" cy="512064"/>
          </a:xfrm>
          <a:prstGeom prst="roundRect">
            <a:avLst>
              <a:gd name="adj" fmla="val 12500"/>
            </a:avLst>
          </a:prstGeom>
          <a:solidFill>
            <a:srgbClr val="FEF3D6"/>
          </a:solidFill>
          <a:ln w="25400">
            <a:solidFill>
              <a:srgbClr val="F9AB00"/>
            </a:solidFill>
            <a:prstDash val="solid"/>
          </a:ln>
        </p:spPr>
      </p:sp>
      <p:sp>
        <p:nvSpPr>
          <p:cNvPr id="19" name="Text 17"/>
          <p:cNvSpPr/>
          <p:nvPr/>
        </p:nvSpPr>
        <p:spPr>
          <a:xfrm>
            <a:off x="7575804"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36.28…</a:t>
            </a:r>
            <a:endParaRPr lang="en-US" sz="1200" dirty="0"/>
          </a:p>
        </p:txBody>
      </p:sp>
      <p:sp>
        <p:nvSpPr>
          <p:cNvPr id="20" name="Shape 18"/>
          <p:cNvSpPr/>
          <p:nvPr/>
        </p:nvSpPr>
        <p:spPr>
          <a:xfrm>
            <a:off x="8764524" y="6062472"/>
            <a:ext cx="1143000" cy="512064"/>
          </a:xfrm>
          <a:prstGeom prst="roundRect">
            <a:avLst>
              <a:gd name="adj" fmla="val 12500"/>
            </a:avLst>
          </a:prstGeom>
          <a:solidFill>
            <a:srgbClr val="FEF3D6"/>
          </a:solidFill>
          <a:ln w="25400">
            <a:solidFill>
              <a:srgbClr val="F9AB00"/>
            </a:solidFill>
            <a:prstDash val="solid"/>
          </a:ln>
        </p:spPr>
      </p:sp>
      <p:sp>
        <p:nvSpPr>
          <p:cNvPr id="21" name="Text 19"/>
          <p:cNvSpPr/>
          <p:nvPr/>
        </p:nvSpPr>
        <p:spPr>
          <a:xfrm>
            <a:off x="8855964"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22" name="Text 20"/>
          <p:cNvSpPr/>
          <p:nvPr/>
        </p:nvSpPr>
        <p:spPr>
          <a:xfrm>
            <a:off x="1004468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5 más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cuentan los días de cada falla.</a:t>
            </a:r>
            <a:endParaRPr lang="en-US" sz="1400" dirty="0"/>
          </a:p>
        </p:txBody>
      </p:sp>
      <p:pic>
        <p:nvPicPr>
          <p:cNvPr id="6" name="Image 0" descr="../work35/modulos/modulo04/img/lab04_paso9_linea.png">    </p:cNvPr>
          <p:cNvPicPr>
            <a:picLocks noChangeAspect="1"/>
          </p:cNvPicPr>
          <p:nvPr/>
        </p:nvPicPr>
        <p:blipFill>
          <a:blip r:embed="rId1"/>
          <a:stretch>
            <a:fillRect/>
          </a:stretch>
        </p:blipFill>
        <p:spPr>
          <a:xfrm>
            <a:off x="548640" y="1463040"/>
            <a:ext cx="11091672" cy="4209207"/>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Las 47 fallas eléctricas, según cuántos días tardó el correctivo.</a:t>
            </a:r>
            <a:endParaRPr lang="en-US" sz="1400" dirty="0"/>
          </a:p>
        </p:txBody>
      </p:sp>
      <p:pic>
        <p:nvPicPr>
          <p:cNvPr id="6" name="Image 0" descr="../work35/modulos/modulo04/img/lab04_paso9_dias.png">    </p:cNvPr>
          <p:cNvPicPr>
            <a:picLocks noChangeAspect="1"/>
          </p:cNvPicPr>
          <p:nvPr/>
        </p:nvPicPr>
        <p:blipFill>
          <a:blip r:embed="rId1"/>
          <a:stretch>
            <a:fillRect/>
          </a:stretch>
        </p:blipFill>
        <p:spPr>
          <a:xfrm>
            <a:off x="686079" y="1463040"/>
            <a:ext cx="10816794" cy="52578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Después mueve el deslizador a 0, a 1 y a 7, y vuelve a correrla cada vez.</a:t>
            </a:r>
            <a:endParaRPr lang="en-US" sz="1400" dirty="0"/>
          </a:p>
        </p:txBody>
      </p:sp>
      <p:sp>
        <p:nvSpPr>
          <p:cNvPr id="6" name="Shape 4"/>
          <p:cNvSpPr/>
          <p:nvPr/>
        </p:nvSpPr>
        <p:spPr>
          <a:xfrm>
            <a:off x="548640" y="1481328"/>
            <a:ext cx="11091672" cy="3374136"/>
          </a:xfrm>
          <a:prstGeom prst="roundRect">
            <a:avLst>
              <a:gd name="adj" fmla="val 1626"/>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3182112"/>
          </a:xfrm>
          <a:prstGeom prst="rect">
            <a:avLst/>
          </a:prstGeom>
          <a:noFill/>
          <a:ln/>
        </p:spPr>
        <p:txBody>
          <a:bodyPr wrap="square" lIns="0" tIns="0" rIns="0" bIns="0" rtlCol="0" anchor="t"/>
          <a:lstStyle/>
          <a:p>
            <a:pPr indent="0" marL="0">
              <a:buNone/>
            </a:pPr>
            <a:r>
              <a:rPr lang="en-US" sz="1200" dirty="0">
                <a:solidFill>
                  <a:srgbClr val="188038"/>
                </a:solidFill>
                <a:latin typeface="Courier New" pitchFamily="34" charset="0"/>
                <a:ea typeface="Courier New" pitchFamily="34" charset="-122"/>
                <a:cs typeface="Courier New" pitchFamily="34" charset="-120"/>
              </a:rPr>
              <a:t># Paso 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dias = 3 </a:t>
            </a:r>
            <a:pPr indent="0" marL="0">
              <a:buNone/>
            </a:pPr>
            <a:r>
              <a:rPr lang="en-US" sz="1200" dirty="0">
                <a:solidFill>
                  <a:srgbClr val="80868B"/>
                </a:solidFill>
                <a:latin typeface="Courier New" pitchFamily="34" charset="0"/>
                <a:ea typeface="Courier New" pitchFamily="34" charset="-122"/>
                <a:cs typeface="Courier New" pitchFamily="34" charset="-120"/>
              </a:rPr>
              <a:t>#@param {type:"slider", min:0, max:7, step:1}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188038"/>
                </a:solidFill>
                <a:latin typeface="Courier New" pitchFamily="34" charset="0"/>
                <a:ea typeface="Courier New" pitchFamily="34" charset="-122"/>
                <a:cs typeface="Courier New" pitchFamily="34" charset="-120"/>
              </a:rPr>
              <a:t># La planilla que arma el área de mantenimiento. Una fila por falla eléctrica,</a:t>
            </a:r>
            <a:endParaRPr lang="en-US" sz="1200" dirty="0"/>
          </a:p>
          <a:p>
            <a:pPr indent="0" marL="0">
              <a:buNone/>
            </a:pPr>
            <a:r>
              <a:rPr lang="en-US" sz="1200" dirty="0">
                <a:solidFill>
                  <a:srgbClr val="188038"/>
                </a:solidFill>
                <a:latin typeface="Courier New" pitchFamily="34" charset="0"/>
                <a:ea typeface="Courier New" pitchFamily="34" charset="-122"/>
                <a:cs typeface="Courier New" pitchFamily="34" charset="-120"/>
              </a:rPr>
              <a:t># con los días que pasaron hasta el primer correctivo en la misma central.</a:t>
            </a:r>
            <a:endParaRPr lang="en-US" sz="1200" dirty="0"/>
          </a:p>
          <a:p>
            <a:pPr indent="0" marL="0">
              <a:buNone/>
            </a:pPr>
            <a:r>
              <a:rPr lang="en-US" sz="1200" dirty="0">
                <a:solidFill>
                  <a:srgbClr val="188038"/>
                </a:solidFill>
                <a:latin typeface="Courier New" pitchFamily="34" charset="0"/>
                <a:ea typeface="Courier New" pitchFamily="34" charset="-122"/>
                <a:cs typeface="Courier New" pitchFamily="34" charset="-120"/>
              </a:rPr>
              <a:t># Si nunca llegó un correctivo, la casilla viene vacía.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fallas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"fallas_electricas.csv"</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188038"/>
                </a:solidFill>
                <a:latin typeface="Courier New" pitchFamily="34" charset="0"/>
                <a:ea typeface="Courier New" pitchFamily="34" charset="-122"/>
                <a:cs typeface="Courier New" pitchFamily="34" charset="-120"/>
              </a:rPr>
              <a:t># Las fallas cuyo correctivo llegó dentro de la ventana.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2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200" dirty="0">
                <a:solidFill>
                  <a:srgbClr val="202124"/>
                </a:solidFill>
                <a:latin typeface="Courier New" pitchFamily="34" charset="0"/>
                <a:ea typeface="Courier New" pitchFamily="34" charset="-122"/>
                <a:cs typeface="Courier New" pitchFamily="34" charset="-120"/>
              </a:rPr>
              <a:t>] &lt;= dias]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 100 * len(a_tiempo) /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200" dirty="0">
                <a:solidFill>
                  <a:srgbClr val="202124"/>
                </a:solidFill>
                <a:latin typeface="Courier New" pitchFamily="34" charset="0"/>
                <a:ea typeface="Courier New" pitchFamily="34" charset="-122"/>
                <a:cs typeface="Courier New" pitchFamily="34" charset="-120"/>
              </a:rPr>
              <a:t>,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200" dirty="0">
                <a:solidFill>
                  <a:srgbClr val="202124"/>
                </a:solidFill>
                <a:latin typeface="Courier New" pitchFamily="34" charset="0"/>
                <a:ea typeface="Courier New" pitchFamily="34" charset="-122"/>
                <a:cs typeface="Courier New" pitchFamily="34" charset="-120"/>
              </a:rPr>
              <a:t>, len(a_tiempo))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"Porcentaje"</a:t>
            </a:r>
            <a:pPr indent="0" marL="0">
              <a:buNone/>
            </a:pPr>
            <a:r>
              <a:rPr lang="en-US" sz="1200" dirty="0">
                <a:solidFill>
                  <a:srgbClr val="202124"/>
                </a:solidFill>
                <a:latin typeface="Courier New" pitchFamily="34" charset="0"/>
                <a:ea typeface="Courier New" pitchFamily="34" charset="-122"/>
                <a:cs typeface="Courier New" pitchFamily="34" charset="-120"/>
              </a:rPr>
              <a:t>, round(porcentaje,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1"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2" name="Shape 10"/>
          <p:cNvSpPr/>
          <p:nvPr/>
        </p:nvSpPr>
        <p:spPr>
          <a:xfrm>
            <a:off x="8823960" y="2002536"/>
            <a:ext cx="842554" cy="45720"/>
          </a:xfrm>
          <a:prstGeom prst="rect">
            <a:avLst/>
          </a:prstGeom>
          <a:solidFill>
            <a:srgbClr val="1A73E8"/>
          </a:solidFill>
          <a:ln w="12700">
            <a:solidFill>
              <a:srgbClr val="1A73E8"/>
            </a:solidFill>
            <a:prstDash val="solid"/>
          </a:ln>
        </p:spPr>
      </p:sp>
      <p:sp>
        <p:nvSpPr>
          <p:cNvPr id="13" name="Shape 11"/>
          <p:cNvSpPr/>
          <p:nvPr/>
        </p:nvSpPr>
        <p:spPr>
          <a:xfrm>
            <a:off x="9579646" y="1938528"/>
            <a:ext cx="173736" cy="173736"/>
          </a:xfrm>
          <a:prstGeom prst="ellipse">
            <a:avLst/>
          </a:prstGeom>
          <a:solidFill>
            <a:srgbClr val="1A73E8"/>
          </a:solidFill>
          <a:ln w="12700">
            <a:solidFill>
              <a:srgbClr val="1A73E8"/>
            </a:solidFill>
            <a:prstDash val="solid"/>
          </a:ln>
        </p:spPr>
      </p:sp>
      <p:sp>
        <p:nvSpPr>
          <p:cNvPr id="14" name="Text 12"/>
          <p:cNvSpPr/>
          <p:nvPr/>
        </p:nvSpPr>
        <p:spPr>
          <a:xfrm>
            <a:off x="10972800" y="1892808"/>
            <a:ext cx="502920" cy="274320"/>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325880" y="4882896"/>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4"/>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5"/>
          <p:cNvSpPr/>
          <p:nvPr/>
        </p:nvSpPr>
        <p:spPr>
          <a:xfrm>
            <a:off x="548640" y="6062472"/>
            <a:ext cx="1143000" cy="512064"/>
          </a:xfrm>
          <a:prstGeom prst="roundRect">
            <a:avLst>
              <a:gd name="adj" fmla="val 12500"/>
            </a:avLst>
          </a:prstGeom>
          <a:solidFill>
            <a:srgbClr val="F1F3F4"/>
          </a:solidFill>
          <a:ln w="12700">
            <a:solidFill>
              <a:srgbClr val="DADCE0"/>
            </a:solidFill>
            <a:prstDash val="solid"/>
          </a:ln>
        </p:spPr>
      </p:sp>
      <p:sp>
        <p:nvSpPr>
          <p:cNvPr id="18" name="Text 16"/>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19" name="Shape 17"/>
          <p:cNvSpPr/>
          <p:nvPr/>
        </p:nvSpPr>
        <p:spPr>
          <a:xfrm>
            <a:off x="1828800" y="6062472"/>
            <a:ext cx="1143000" cy="512064"/>
          </a:xfrm>
          <a:prstGeom prst="roundRect">
            <a:avLst>
              <a:gd name="adj" fmla="val 12500"/>
            </a:avLst>
          </a:prstGeom>
          <a:solidFill>
            <a:srgbClr val="F1F3F4"/>
          </a:solidFill>
          <a:ln w="12700">
            <a:solidFill>
              <a:srgbClr val="DADCE0"/>
            </a:solidFill>
            <a:prstDash val="solid"/>
          </a:ln>
        </p:spPr>
      </p:sp>
      <p:sp>
        <p:nvSpPr>
          <p:cNvPr id="20" name="Text 18"/>
          <p:cNvSpPr/>
          <p:nvPr/>
        </p:nvSpPr>
        <p:spPr>
          <a:xfrm>
            <a:off x="192024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36.28…</a:t>
            </a:r>
            <a:endParaRPr lang="en-US" sz="1200" dirty="0"/>
          </a:p>
        </p:txBody>
      </p:sp>
      <p:sp>
        <p:nvSpPr>
          <p:cNvPr id="21" name="Shape 19"/>
          <p:cNvSpPr/>
          <p:nvPr/>
        </p:nvSpPr>
        <p:spPr>
          <a:xfrm>
            <a:off x="3108960" y="6062472"/>
            <a:ext cx="1149401" cy="512064"/>
          </a:xfrm>
          <a:prstGeom prst="roundRect">
            <a:avLst>
              <a:gd name="adj" fmla="val 12500"/>
            </a:avLst>
          </a:prstGeom>
          <a:solidFill>
            <a:srgbClr val="F1F3F4"/>
          </a:solidFill>
          <a:ln w="12700">
            <a:solidFill>
              <a:srgbClr val="DADCE0"/>
            </a:solidFill>
            <a:prstDash val="solid"/>
          </a:ln>
        </p:spPr>
      </p:sp>
      <p:sp>
        <p:nvSpPr>
          <p:cNvPr id="22" name="Text 20"/>
          <p:cNvSpPr/>
          <p:nvPr/>
        </p:nvSpPr>
        <p:spPr>
          <a:xfrm>
            <a:off x="3200400"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69.09…</a:t>
            </a:r>
            <a:endParaRPr lang="en-US" sz="1200" dirty="0"/>
          </a:p>
        </p:txBody>
      </p:sp>
      <p:sp>
        <p:nvSpPr>
          <p:cNvPr id="23" name="Shape 21"/>
          <p:cNvSpPr/>
          <p:nvPr/>
        </p:nvSpPr>
        <p:spPr>
          <a:xfrm>
            <a:off x="4395521" y="6062472"/>
            <a:ext cx="1431950" cy="512064"/>
          </a:xfrm>
          <a:prstGeom prst="roundRect">
            <a:avLst>
              <a:gd name="adj" fmla="val 12500"/>
            </a:avLst>
          </a:prstGeom>
          <a:solidFill>
            <a:srgbClr val="F1F3F4"/>
          </a:solidFill>
          <a:ln w="12700">
            <a:solidFill>
              <a:srgbClr val="DADCE0"/>
            </a:solidFill>
            <a:prstDash val="solid"/>
          </a:ln>
        </p:spPr>
      </p:sp>
      <p:sp>
        <p:nvSpPr>
          <p:cNvPr id="24" name="Text 22"/>
          <p:cNvSpPr/>
          <p:nvPr/>
        </p:nvSpPr>
        <p:spPr>
          <a:xfrm>
            <a:off x="4486961"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55 × 6</a:t>
            </a:r>
            <a:endParaRPr lang="en-US" sz="1200" dirty="0"/>
          </a:p>
        </p:txBody>
      </p:sp>
      <p:sp>
        <p:nvSpPr>
          <p:cNvPr id="25" name="Shape 23"/>
          <p:cNvSpPr/>
          <p:nvPr/>
        </p:nvSpPr>
        <p:spPr>
          <a:xfrm>
            <a:off x="5964631" y="6062472"/>
            <a:ext cx="1808683" cy="512064"/>
          </a:xfrm>
          <a:prstGeom prst="roundRect">
            <a:avLst>
              <a:gd name="adj" fmla="val 12500"/>
            </a:avLst>
          </a:prstGeom>
          <a:solidFill>
            <a:srgbClr val="F1F3F4"/>
          </a:solidFill>
          <a:ln w="12700">
            <a:solidFill>
              <a:srgbClr val="DADCE0"/>
            </a:solidFill>
            <a:prstDash val="solid"/>
          </a:ln>
        </p:spPr>
      </p:sp>
      <p:sp>
        <p:nvSpPr>
          <p:cNvPr id="26" name="Text 24"/>
          <p:cNvSpPr/>
          <p:nvPr/>
        </p:nvSpPr>
        <p:spPr>
          <a:xfrm>
            <a:off x="6056071" y="6071616"/>
            <a:ext cx="1671523"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entonces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"falla_mecanica"</a:t>
            </a:r>
            <a:endParaRPr lang="en-US" sz="1200" dirty="0"/>
          </a:p>
        </p:txBody>
      </p:sp>
      <p:sp>
        <p:nvSpPr>
          <p:cNvPr id="27" name="Shape 25"/>
          <p:cNvSpPr/>
          <p:nvPr/>
        </p:nvSpPr>
        <p:spPr>
          <a:xfrm>
            <a:off x="7910474" y="6062472"/>
            <a:ext cx="1997050" cy="512064"/>
          </a:xfrm>
          <a:prstGeom prst="roundRect">
            <a:avLst>
              <a:gd name="adj" fmla="val 12500"/>
            </a:avLst>
          </a:prstGeom>
          <a:solidFill>
            <a:srgbClr val="F1F3F4"/>
          </a:solidFill>
          <a:ln w="12700">
            <a:solidFill>
              <a:srgbClr val="DADCE0"/>
            </a:solidFill>
            <a:prstDash val="solid"/>
          </a:ln>
        </p:spPr>
      </p:sp>
      <p:sp>
        <p:nvSpPr>
          <p:cNvPr id="28" name="Text 26"/>
          <p:cNvSpPr/>
          <p:nvPr/>
        </p:nvSpPr>
        <p:spPr>
          <a:xfrm>
            <a:off x="8001914"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29" name="Text 27"/>
          <p:cNvSpPr/>
          <p:nvPr/>
        </p:nvSpPr>
        <p:spPr>
          <a:xfrm>
            <a:off x="1004468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5 más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72768"/>
            <a:ext cx="10634472" cy="26517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6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600" dirty="0">
                <a:solidFill>
                  <a:srgbClr val="202124"/>
                </a:solidFill>
                <a:latin typeface="Courier New" pitchFamily="34" charset="0"/>
                <a:ea typeface="Courier New" pitchFamily="34" charset="-122"/>
                <a:cs typeface="Courier New" pitchFamily="34" charset="-120"/>
              </a:rPr>
              <a:t>] &lt;= dias]</a:t>
            </a:r>
            <a:endParaRPr lang="en-US" sz="1600" dirty="0"/>
          </a:p>
        </p:txBody>
      </p:sp>
      <p:sp>
        <p:nvSpPr>
          <p:cNvPr id="8" name="Shape 6"/>
          <p:cNvSpPr/>
          <p:nvPr/>
        </p:nvSpPr>
        <p:spPr>
          <a:xfrm>
            <a:off x="548640" y="232257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3225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530352"/>
          </a:xfrm>
          <a:prstGeom prst="roundRect">
            <a:avLst>
              <a:gd name="adj" fmla="val 8621"/>
            </a:avLst>
          </a:prstGeom>
          <a:solidFill>
            <a:srgbClr val="DBE9FB"/>
          </a:solidFill>
          <a:ln w="12700">
            <a:solidFill>
              <a:srgbClr val="DBE9FB"/>
            </a:solidFill>
            <a:prstDash val="solid"/>
          </a:ln>
        </p:spPr>
      </p:sp>
      <p:sp>
        <p:nvSpPr>
          <p:cNvPr id="11" name="Text 9"/>
          <p:cNvSpPr/>
          <p:nvPr/>
        </p:nvSpPr>
        <p:spPr>
          <a:xfrm>
            <a:off x="1170432" y="22219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fallas["dias_hasta_correctivo"]</a:t>
            </a:r>
            <a:endParaRPr lang="en-US" sz="1400" dirty="0"/>
          </a:p>
        </p:txBody>
      </p:sp>
      <p:sp>
        <p:nvSpPr>
          <p:cNvPr id="12" name="Text 10"/>
          <p:cNvSpPr/>
          <p:nvPr/>
        </p:nvSpPr>
        <p:spPr>
          <a:xfrm>
            <a:off x="6263640" y="22219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Los días que tardó el correctivo de cada falla.</a:t>
            </a:r>
            <a:endParaRPr lang="en-US" sz="1600" dirty="0"/>
          </a:p>
        </p:txBody>
      </p:sp>
      <p:sp>
        <p:nvSpPr>
          <p:cNvPr id="13" name="Shape 11"/>
          <p:cNvSpPr/>
          <p:nvPr/>
        </p:nvSpPr>
        <p:spPr>
          <a:xfrm>
            <a:off x="548640" y="303580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0358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3784"/>
            <a:ext cx="4937760" cy="713232"/>
          </a:xfrm>
          <a:prstGeom prst="roundRect">
            <a:avLst>
              <a:gd name="adj" fmla="val 6410"/>
            </a:avLst>
          </a:prstGeom>
          <a:solidFill>
            <a:srgbClr val="DCEFE0"/>
          </a:solidFill>
          <a:ln w="12700">
            <a:solidFill>
              <a:srgbClr val="DCEFE0"/>
            </a:solidFill>
            <a:prstDash val="solid"/>
          </a:ln>
        </p:spPr>
      </p:sp>
      <p:sp>
        <p:nvSpPr>
          <p:cNvPr id="16" name="Text 14"/>
          <p:cNvSpPr/>
          <p:nvPr/>
        </p:nvSpPr>
        <p:spPr>
          <a:xfrm>
            <a:off x="1170432" y="2843784"/>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&lt;= dias</a:t>
            </a:r>
            <a:endParaRPr lang="en-US" sz="1400" dirty="0"/>
          </a:p>
        </p:txBody>
      </p:sp>
      <p:sp>
        <p:nvSpPr>
          <p:cNvPr id="17" name="Text 15"/>
          <p:cNvSpPr/>
          <p:nvPr/>
        </p:nvSpPr>
        <p:spPr>
          <a:xfrm>
            <a:off x="6263640" y="2843784"/>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pregunta a cada falla, si tardó la ventana o menos. Da True o False.</a:t>
            </a:r>
            <a:endParaRPr lang="en-US" sz="1600" dirty="0"/>
          </a:p>
        </p:txBody>
      </p:sp>
      <p:sp>
        <p:nvSpPr>
          <p:cNvPr id="18" name="Shape 16"/>
          <p:cNvSpPr/>
          <p:nvPr/>
        </p:nvSpPr>
        <p:spPr>
          <a:xfrm>
            <a:off x="548640" y="3749040"/>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3749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48456"/>
            <a:ext cx="4937760" cy="530352"/>
          </a:xfrm>
          <a:prstGeom prst="roundRect">
            <a:avLst>
              <a:gd name="adj" fmla="val 8621"/>
            </a:avLst>
          </a:prstGeom>
          <a:solidFill>
            <a:srgbClr val="FDF0C8"/>
          </a:solidFill>
          <a:ln w="12700">
            <a:solidFill>
              <a:srgbClr val="FDF0C8"/>
            </a:solidFill>
            <a:prstDash val="solid"/>
          </a:ln>
        </p:spPr>
      </p:sp>
      <p:sp>
        <p:nvSpPr>
          <p:cNvPr id="21" name="Text 19"/>
          <p:cNvSpPr/>
          <p:nvPr/>
        </p:nvSpPr>
        <p:spPr>
          <a:xfrm>
            <a:off x="1170432" y="364845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fallas[ ... ]</a:t>
            </a:r>
            <a:endParaRPr lang="en-US" sz="1400" dirty="0"/>
          </a:p>
        </p:txBody>
      </p:sp>
      <p:sp>
        <p:nvSpPr>
          <p:cNvPr id="22" name="Text 20"/>
          <p:cNvSpPr/>
          <p:nvPr/>
        </p:nvSpPr>
        <p:spPr>
          <a:xfrm>
            <a:off x="6263640" y="364845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filtro deja solo las fallas con True.</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deja las fallas cuyo correctivo llegó en dias o menos, y guárdalas como a_tiempo.</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Después mueve el deslizador a 0, a 1 y a 7, y vuelve a correrla cada vez.</a:t>
            </a:r>
            <a:endParaRPr lang="en-US" sz="1400" dirty="0"/>
          </a:p>
        </p:txBody>
      </p:sp>
      <p:sp>
        <p:nvSpPr>
          <p:cNvPr id="6" name="Text 4"/>
          <p:cNvSpPr/>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976579"/>
          </a:xfrm>
          <a:prstGeom prst="rect">
            <a:avLst/>
          </a:prstGeom>
          <a:solidFill>
            <a:srgbClr val="FFFFFF"/>
          </a:solidFill>
          <a:ln w="12700">
            <a:solidFill>
              <a:srgbClr val="DADCE0"/>
            </a:solidFill>
            <a:prstDash val="solid"/>
          </a:ln>
        </p:spPr>
      </p:sp>
      <p:sp>
        <p:nvSpPr>
          <p:cNvPr id="8" name="Text 6"/>
          <p:cNvSpPr/>
          <p:nvPr/>
        </p:nvSpPr>
        <p:spPr>
          <a:xfrm>
            <a:off x="1463040" y="1901952"/>
            <a:ext cx="10085832" cy="848563"/>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Fallas eléctricas 47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 un correctivo dentro de 3 días 34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72.3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 que se plantó al crear los datos, 70 por ciento</a:t>
            </a:r>
            <a:endParaRPr lang="en-US" sz="1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143000"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a:t>
            </a:r>
            <a:endParaRPr lang="en-US" sz="1200" dirty="0"/>
          </a:p>
        </p:txBody>
      </p:sp>
      <p:sp>
        <p:nvSpPr>
          <p:cNvPr id="12" name="Shape 10"/>
          <p:cNvSpPr/>
          <p:nvPr/>
        </p:nvSpPr>
        <p:spPr>
          <a:xfrm>
            <a:off x="1828800" y="6062472"/>
            <a:ext cx="1431950"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192024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14" name="Shape 12"/>
          <p:cNvSpPr/>
          <p:nvPr/>
        </p:nvSpPr>
        <p:spPr>
          <a:xfrm>
            <a:off x="3397910" y="6062472"/>
            <a:ext cx="1431950"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348935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16" name="Shape 14"/>
          <p:cNvSpPr/>
          <p:nvPr/>
        </p:nvSpPr>
        <p:spPr>
          <a:xfrm>
            <a:off x="4967021" y="6062472"/>
            <a:ext cx="1243584" cy="512064"/>
          </a:xfrm>
          <a:prstGeom prst="roundRect">
            <a:avLst>
              <a:gd name="adj" fmla="val 12500"/>
            </a:avLst>
          </a:prstGeom>
          <a:solidFill>
            <a:srgbClr val="FEF3D6"/>
          </a:solidFill>
          <a:ln w="25400">
            <a:solidFill>
              <a:srgbClr val="F9AB00"/>
            </a:solidFill>
            <a:prstDash val="solid"/>
          </a:ln>
        </p:spPr>
      </p:sp>
      <p:sp>
        <p:nvSpPr>
          <p:cNvPr id="17" name="Text 15"/>
          <p:cNvSpPr/>
          <p:nvPr/>
        </p:nvSpPr>
        <p:spPr>
          <a:xfrm>
            <a:off x="5058461"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18" name="Shape 16"/>
          <p:cNvSpPr/>
          <p:nvPr/>
        </p:nvSpPr>
        <p:spPr>
          <a:xfrm>
            <a:off x="6347765" y="6062472"/>
            <a:ext cx="2750515" cy="512064"/>
          </a:xfrm>
          <a:prstGeom prst="roundRect">
            <a:avLst>
              <a:gd name="adj" fmla="val 12500"/>
            </a:avLst>
          </a:prstGeom>
          <a:solidFill>
            <a:srgbClr val="E8F0FE"/>
          </a:solidFill>
          <a:ln w="28575">
            <a:solidFill>
              <a:srgbClr val="1A73E8"/>
            </a:solidFill>
            <a:prstDash val="solid"/>
          </a:ln>
        </p:spPr>
      </p:sp>
      <p:sp>
        <p:nvSpPr>
          <p:cNvPr id="19" name="Text 17"/>
          <p:cNvSpPr/>
          <p:nvPr/>
        </p:nvSpPr>
        <p:spPr>
          <a:xfrm>
            <a:off x="6439205"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0" name="Text 18"/>
          <p:cNvSpPr/>
          <p:nvPr/>
        </p:nvSpPr>
        <p:spPr>
          <a:xfrm>
            <a:off x="9235440"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
        <p:nvSpPr>
          <p:cNvPr id="21" name="Text 19"/>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3 días, 34 de las 47 fallas tuvieron correctivo. El 72,3 por ciento.</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Que respondan en el chat o en voz alta.</a:t>
            </a:r>
            <a:endParaRPr lang="en-US" sz="1400" dirty="0"/>
          </a:p>
        </p:txBody>
      </p:sp>
      <p:sp>
        <p:nvSpPr>
          <p:cNvPr id="6" name="Shape 4"/>
          <p:cNvSpPr/>
          <p:nvPr/>
        </p:nvSpPr>
        <p:spPr>
          <a:xfrm>
            <a:off x="548640" y="1600200"/>
            <a:ext cx="11091672" cy="502920"/>
          </a:xfrm>
          <a:prstGeom prst="roundRect">
            <a:avLst>
              <a:gd name="adj" fmla="val 10909"/>
            </a:avLst>
          </a:prstGeom>
          <a:solidFill>
            <a:srgbClr val="0B3D62"/>
          </a:solidFill>
          <a:ln w="12700">
            <a:solidFill>
              <a:srgbClr val="0B3D62"/>
            </a:solidFill>
            <a:prstDash val="solid"/>
          </a:ln>
        </p:spPr>
      </p:sp>
      <p:sp>
        <p:nvSpPr>
          <p:cNvPr id="7" name="Text 5"/>
          <p:cNvSpPr/>
          <p:nvPr/>
        </p:nvSpPr>
        <p:spPr>
          <a:xfrm>
            <a:off x="822960" y="1600200"/>
            <a:ext cx="10543032" cy="5029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¿QUÉ CREEN QUE VA A SALIR?</a:t>
            </a:r>
            <a:endParaRPr lang="en-US" sz="1600" dirty="0"/>
          </a:p>
        </p:txBody>
      </p:sp>
      <p:sp>
        <p:nvSpPr>
          <p:cNvPr id="8" name="Text 6"/>
          <p:cNvSpPr/>
          <p:nvPr/>
        </p:nvSpPr>
        <p:spPr>
          <a:xfrm>
            <a:off x="548640" y="2331720"/>
            <a:ext cx="11091672" cy="822960"/>
          </a:xfrm>
          <a:prstGeom prst="rect">
            <a:avLst/>
          </a:prstGeom>
          <a:noFill/>
          <a:ln/>
        </p:spPr>
        <p:txBody>
          <a:bodyPr wrap="square" lIns="0" tIns="0" rIns="0" bIns="0" rtlCol="0" anchor="t"/>
          <a:lstStyle/>
          <a:p>
            <a:pPr indent="0" marL="0">
              <a:buNone/>
            </a:pPr>
            <a:r>
              <a:rPr lang="en-US" sz="2000" dirty="0">
                <a:solidFill>
                  <a:srgbClr val="5F6368"/>
                </a:solidFill>
                <a:latin typeface="Calibri" pitchFamily="34" charset="0"/>
                <a:ea typeface="Calibri" pitchFamily="34" charset="-122"/>
                <a:cs typeface="Calibri" pitchFamily="34" charset="-120"/>
              </a:rPr>
              <a:t>Con una ventana de 3 días, el 72,3 por ciento de las fallas tuvo correctivo.</a:t>
            </a:r>
            <a:endParaRPr lang="en-US" sz="2000" dirty="0"/>
          </a:p>
        </p:txBody>
      </p:sp>
      <p:sp>
        <p:nvSpPr>
          <p:cNvPr id="9" name="Text 7"/>
          <p:cNvSpPr/>
          <p:nvPr/>
        </p:nvSpPr>
        <p:spPr>
          <a:xfrm>
            <a:off x="548640" y="3154680"/>
            <a:ext cx="11091672" cy="1097280"/>
          </a:xfrm>
          <a:prstGeom prst="rect">
            <a:avLst/>
          </a:prstGeom>
          <a:noFill/>
          <a:ln/>
        </p:spPr>
        <p:txBody>
          <a:bodyPr wrap="square" lIns="0" tIns="0" rIns="0" bIns="0" rtlCol="0" anchor="t"/>
          <a:lstStyle/>
          <a:p>
            <a:pPr indent="0" marL="0">
              <a:buNone/>
            </a:pPr>
            <a:r>
              <a:rPr lang="en-US" sz="3000" b="1" dirty="0">
                <a:solidFill>
                  <a:srgbClr val="202124"/>
                </a:solidFill>
                <a:latin typeface="Calibri" pitchFamily="34" charset="0"/>
                <a:ea typeface="Calibri" pitchFamily="34" charset="-122"/>
                <a:cs typeface="Calibri" pitchFamily="34" charset="-120"/>
              </a:rPr>
              <a:t>Con 0 días, solo el mismo día, ¿qué porcentaje va a dar?</a:t>
            </a:r>
            <a:endParaRPr lang="en-US" sz="3000" dirty="0"/>
          </a:p>
        </p:txBody>
      </p:sp>
      <p:sp>
        <p:nvSpPr>
          <p:cNvPr id="10" name="Shape 8"/>
          <p:cNvSpPr/>
          <p:nvPr/>
        </p:nvSpPr>
        <p:spPr>
          <a:xfrm>
            <a:off x="548640" y="4572000"/>
            <a:ext cx="3511296" cy="822960"/>
          </a:xfrm>
          <a:prstGeom prst="roundRect">
            <a:avLst>
              <a:gd name="adj" fmla="val 8889"/>
            </a:avLst>
          </a:prstGeom>
          <a:solidFill>
            <a:srgbClr val="FEF3D6"/>
          </a:solidFill>
          <a:ln w="19050">
            <a:solidFill>
              <a:srgbClr val="F9AB00"/>
            </a:solidFill>
            <a:prstDash val="solid"/>
          </a:ln>
        </p:spPr>
      </p:sp>
      <p:sp>
        <p:nvSpPr>
          <p:cNvPr id="11" name="Text 9"/>
          <p:cNvSpPr/>
          <p:nvPr/>
        </p:nvSpPr>
        <p:spPr>
          <a:xfrm>
            <a:off x="548640"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El mismo 72,3</a:t>
            </a:r>
            <a:endParaRPr lang="en-US" sz="2000" dirty="0"/>
          </a:p>
        </p:txBody>
      </p:sp>
      <p:sp>
        <p:nvSpPr>
          <p:cNvPr id="12" name="Shape 10"/>
          <p:cNvSpPr/>
          <p:nvPr/>
        </p:nvSpPr>
        <p:spPr>
          <a:xfrm>
            <a:off x="4338828" y="4572000"/>
            <a:ext cx="3511296" cy="822960"/>
          </a:xfrm>
          <a:prstGeom prst="roundRect">
            <a:avLst>
              <a:gd name="adj" fmla="val 8889"/>
            </a:avLst>
          </a:prstGeom>
          <a:solidFill>
            <a:srgbClr val="FEF3D6"/>
          </a:solidFill>
          <a:ln w="19050">
            <a:solidFill>
              <a:srgbClr val="F9AB00"/>
            </a:solidFill>
            <a:prstDash val="solid"/>
          </a:ln>
        </p:spPr>
      </p:sp>
      <p:sp>
        <p:nvSpPr>
          <p:cNvPr id="13" name="Text 11"/>
          <p:cNvSpPr/>
          <p:nvPr/>
        </p:nvSpPr>
        <p:spPr>
          <a:xfrm>
            <a:off x="4338828"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Cerca de la mitad</a:t>
            </a:r>
            <a:endParaRPr lang="en-US" sz="2000" dirty="0"/>
          </a:p>
        </p:txBody>
      </p:sp>
      <p:sp>
        <p:nvSpPr>
          <p:cNvPr id="14" name="Shape 12"/>
          <p:cNvSpPr/>
          <p:nvPr/>
        </p:nvSpPr>
        <p:spPr>
          <a:xfrm>
            <a:off x="8129016" y="4572000"/>
            <a:ext cx="3511296" cy="822960"/>
          </a:xfrm>
          <a:prstGeom prst="roundRect">
            <a:avLst>
              <a:gd name="adj" fmla="val 8889"/>
            </a:avLst>
          </a:prstGeom>
          <a:solidFill>
            <a:srgbClr val="FEF3D6"/>
          </a:solidFill>
          <a:ln w="19050">
            <a:solidFill>
              <a:srgbClr val="F9AB00"/>
            </a:solidFill>
            <a:prstDash val="solid"/>
          </a:ln>
        </p:spPr>
      </p:sp>
      <p:sp>
        <p:nvSpPr>
          <p:cNvPr id="15" name="Text 13"/>
          <p:cNvSpPr/>
          <p:nvPr/>
        </p:nvSpPr>
        <p:spPr>
          <a:xfrm>
            <a:off x="8129016" y="4572000"/>
            <a:ext cx="3511296" cy="822960"/>
          </a:xfrm>
          <a:prstGeom prst="rect">
            <a:avLst/>
          </a:prstGeom>
          <a:noFill/>
          <a:ln/>
        </p:spPr>
        <p:txBody>
          <a:bodyPr wrap="square" lIns="0" tIns="0" rIns="0" bIns="0" rtlCol="0" anchor="ctr"/>
          <a:lstStyle/>
          <a:p>
            <a:pPr algn="ctr" indent="0" marL="0">
              <a:buNone/>
            </a:pPr>
            <a:r>
              <a:rPr lang="en-US" sz="2000" b="1" dirty="0">
                <a:solidFill>
                  <a:srgbClr val="202124"/>
                </a:solidFill>
                <a:latin typeface="Calibri" pitchFamily="34" charset="0"/>
                <a:ea typeface="Calibri" pitchFamily="34" charset="-122"/>
                <a:cs typeface="Calibri" pitchFamily="34" charset="-120"/>
              </a:rPr>
              <a:t>Mucho menos</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0 y se vuelve a correr la celda.</a:t>
            </a:r>
            <a:endParaRPr lang="en-US" sz="1400" dirty="0"/>
          </a:p>
        </p:txBody>
      </p:sp>
      <p:sp>
        <p:nvSpPr>
          <p:cNvPr id="6" name="Shape 4"/>
          <p:cNvSpPr/>
          <p:nvPr/>
        </p:nvSpPr>
        <p:spPr>
          <a:xfrm>
            <a:off x="548640" y="1481328"/>
            <a:ext cx="11091672" cy="1915668"/>
          </a:xfrm>
          <a:prstGeom prst="roundRect">
            <a:avLst>
              <a:gd name="adj" fmla="val 2864"/>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1723644"/>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dias = 0 </a:t>
            </a:r>
            <a:pPr indent="0" marL="0">
              <a:buNone/>
            </a:pPr>
            <a:r>
              <a:rPr lang="en-US" sz="1300" dirty="0">
                <a:solidFill>
                  <a:srgbClr val="80868B"/>
                </a:solidFill>
                <a:latin typeface="Courier New" pitchFamily="34" charset="0"/>
                <a:ea typeface="Courier New" pitchFamily="34" charset="-122"/>
                <a:cs typeface="Courier New" pitchFamily="34" charset="-120"/>
              </a:rPr>
              <a:t>#@param {type:"slider", min:0, max:7, step:1}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fallas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"fallas_electricas.csv"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3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300" dirty="0">
                <a:solidFill>
                  <a:srgbClr val="202124"/>
                </a:solidFill>
                <a:latin typeface="Courier New" pitchFamily="34" charset="0"/>
                <a:ea typeface="Courier New" pitchFamily="34" charset="-122"/>
                <a:cs typeface="Courier New" pitchFamily="34" charset="-120"/>
              </a:rPr>
              <a:t>] &lt;= dias]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porcentaje = 100 * len(a_tiempo) / len(fallas)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300" dirty="0">
                <a:solidFill>
                  <a:srgbClr val="202124"/>
                </a:solidFill>
                <a:latin typeface="Courier New" pitchFamily="34" charset="0"/>
                <a:ea typeface="Courier New" pitchFamily="34" charset="-122"/>
                <a:cs typeface="Courier New" pitchFamily="34" charset="-120"/>
              </a:rPr>
              <a:t>, len(fallas))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300" dirty="0">
                <a:solidFill>
                  <a:srgbClr val="202124"/>
                </a:solidFill>
                <a:latin typeface="Courier New" pitchFamily="34" charset="0"/>
                <a:ea typeface="Courier New" pitchFamily="34" charset="-122"/>
                <a:cs typeface="Courier New" pitchFamily="34" charset="-120"/>
              </a:rPr>
              <a:t>, len(a_tiempo))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"Porcentaje"</a:t>
            </a:r>
            <a:pPr indent="0" marL="0">
              <a:buNone/>
            </a:pPr>
            <a:r>
              <a:rPr lang="en-US" sz="1300" dirty="0">
                <a:solidFill>
                  <a:srgbClr val="202124"/>
                </a:solidFill>
                <a:latin typeface="Courier New" pitchFamily="34" charset="0"/>
                <a:ea typeface="Courier New" pitchFamily="34" charset="-122"/>
                <a:cs typeface="Courier New" pitchFamily="34" charset="-120"/>
              </a:rPr>
              <a:t>, round(porcentaje,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1"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2" name="Shape 10"/>
          <p:cNvSpPr/>
          <p:nvPr/>
        </p:nvSpPr>
        <p:spPr>
          <a:xfrm>
            <a:off x="8737092" y="1938528"/>
            <a:ext cx="173736" cy="173736"/>
          </a:xfrm>
          <a:prstGeom prst="ellipse">
            <a:avLst/>
          </a:prstGeom>
          <a:solidFill>
            <a:srgbClr val="1A73E8"/>
          </a:solidFill>
          <a:ln w="25400">
            <a:solidFill>
              <a:srgbClr val="0B3D62"/>
            </a:solidFill>
            <a:prstDash val="solid"/>
          </a:ln>
        </p:spPr>
      </p:sp>
      <p:sp>
        <p:nvSpPr>
          <p:cNvPr id="13" name="Text 11"/>
          <p:cNvSpPr/>
          <p:nvPr/>
        </p:nvSpPr>
        <p:spPr>
          <a:xfrm>
            <a:off x="10972800" y="1892808"/>
            <a:ext cx="502920" cy="274320"/>
          </a:xfrm>
          <a:prstGeom prst="rect">
            <a:avLst/>
          </a:prstGeom>
          <a:noFill/>
          <a:ln/>
        </p:spPr>
        <p:txBody>
          <a:bodyPr wrap="square" lIns="0" tIns="0" rIns="0" bIns="0" rtlCol="0" anchor="ctr"/>
          <a:lstStyle/>
          <a:p>
            <a:pPr indent="0" marL="0">
              <a:buNone/>
            </a:pPr>
            <a:r>
              <a:rPr lang="en-US" sz="1200" b="1" dirty="0">
                <a:solidFill>
                  <a:srgbClr val="202124"/>
                </a:solidFill>
                <a:latin typeface="Calibri" pitchFamily="34" charset="0"/>
                <a:ea typeface="Calibri" pitchFamily="34" charset="-122"/>
                <a:cs typeface="Calibri" pitchFamily="34" charset="-120"/>
              </a:rPr>
              <a:t>0</a:t>
            </a:r>
            <a:endParaRPr lang="en-US" sz="1200" dirty="0"/>
          </a:p>
        </p:txBody>
      </p:sp>
      <p:sp>
        <p:nvSpPr>
          <p:cNvPr id="14" name="Text 12"/>
          <p:cNvSpPr/>
          <p:nvPr/>
        </p:nvSpPr>
        <p:spPr>
          <a:xfrm>
            <a:off x="1325880" y="3424428"/>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243584"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18" name="Shape 16"/>
          <p:cNvSpPr/>
          <p:nvPr/>
        </p:nvSpPr>
        <p:spPr>
          <a:xfrm>
            <a:off x="1929384" y="6062472"/>
            <a:ext cx="1431950"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020824"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20" name="Shape 18"/>
          <p:cNvSpPr/>
          <p:nvPr/>
        </p:nvSpPr>
        <p:spPr>
          <a:xfrm>
            <a:off x="3498494" y="6062472"/>
            <a:ext cx="14319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3589934"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22" name="Shape 20"/>
          <p:cNvSpPr/>
          <p:nvPr/>
        </p:nvSpPr>
        <p:spPr>
          <a:xfrm>
            <a:off x="5067605" y="6062472"/>
            <a:ext cx="1143000"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15904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a:t>
            </a:r>
            <a:endParaRPr lang="en-US" sz="1200" dirty="0"/>
          </a:p>
        </p:txBody>
      </p:sp>
      <p:sp>
        <p:nvSpPr>
          <p:cNvPr id="24" name="Shape 22"/>
          <p:cNvSpPr/>
          <p:nvPr/>
        </p:nvSpPr>
        <p:spPr>
          <a:xfrm>
            <a:off x="6347765" y="6062472"/>
            <a:ext cx="1143000"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643920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26" name="Shape 24"/>
          <p:cNvSpPr/>
          <p:nvPr/>
        </p:nvSpPr>
        <p:spPr>
          <a:xfrm>
            <a:off x="7627925" y="6062472"/>
            <a:ext cx="1143000" cy="512064"/>
          </a:xfrm>
          <a:prstGeom prst="roundRect">
            <a:avLst>
              <a:gd name="adj" fmla="val 12500"/>
            </a:avLst>
          </a:prstGeom>
          <a:solidFill>
            <a:srgbClr val="F1F3F4"/>
          </a:solidFill>
          <a:ln w="12700">
            <a:solidFill>
              <a:srgbClr val="DADCE0"/>
            </a:solidFill>
            <a:prstDash val="solid"/>
          </a:ln>
        </p:spPr>
      </p:sp>
      <p:sp>
        <p:nvSpPr>
          <p:cNvPr id="27" name="Text 25"/>
          <p:cNvSpPr/>
          <p:nvPr/>
        </p:nvSpPr>
        <p:spPr>
          <a:xfrm>
            <a:off x="771936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36.28…</a:t>
            </a:r>
            <a:endParaRPr lang="en-US" sz="1200" dirty="0"/>
          </a:p>
        </p:txBody>
      </p:sp>
      <p:sp>
        <p:nvSpPr>
          <p:cNvPr id="28" name="Text 26"/>
          <p:cNvSpPr/>
          <p:nvPr/>
        </p:nvSpPr>
        <p:spPr>
          <a:xfrm>
            <a:off x="8908085"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9 más</a:t>
            </a:r>
            <a:endParaRPr lang="en-US" sz="1200" dirty="0"/>
          </a:p>
        </p:txBody>
      </p:sp>
      <p:sp>
        <p:nvSpPr>
          <p:cNvPr id="29" name="Text 27"/>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0 y se vuelve a correr la celda.</a:t>
            </a:r>
            <a:endParaRPr lang="en-US" sz="1400" dirty="0"/>
          </a:p>
        </p:txBody>
      </p:sp>
      <p:sp>
        <p:nvSpPr>
          <p:cNvPr id="6" name="Shape 4"/>
          <p:cNvSpPr/>
          <p:nvPr/>
        </p:nvSpPr>
        <p:spPr>
          <a:xfrm>
            <a:off x="548640" y="1481328"/>
            <a:ext cx="11091672" cy="1783080"/>
          </a:xfrm>
          <a:prstGeom prst="roundRect">
            <a:avLst>
              <a:gd name="adj" fmla="val 307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59105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dias = 0 </a:t>
            </a:r>
            <a:pPr indent="0" marL="0">
              <a:buNone/>
            </a:pPr>
            <a:r>
              <a:rPr lang="en-US" sz="1200" dirty="0">
                <a:solidFill>
                  <a:srgbClr val="80868B"/>
                </a:solidFill>
                <a:latin typeface="Courier New" pitchFamily="34" charset="0"/>
                <a:ea typeface="Courier New" pitchFamily="34" charset="-122"/>
                <a:cs typeface="Courier New" pitchFamily="34" charset="-120"/>
              </a:rPr>
              <a:t>#@param {type:"slider", min:0, max:7, step:1}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fallas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"fallas_electricas.csv"</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2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200" dirty="0">
                <a:solidFill>
                  <a:srgbClr val="202124"/>
                </a:solidFill>
                <a:latin typeface="Courier New" pitchFamily="34" charset="0"/>
                <a:ea typeface="Courier New" pitchFamily="34" charset="-122"/>
                <a:cs typeface="Courier New" pitchFamily="34" charset="-120"/>
              </a:rPr>
              <a:t>] &lt;= dias]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 100 * len(a_tiempo) /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200" dirty="0">
                <a:solidFill>
                  <a:srgbClr val="202124"/>
                </a:solidFill>
                <a:latin typeface="Courier New" pitchFamily="34" charset="0"/>
                <a:ea typeface="Courier New" pitchFamily="34" charset="-122"/>
                <a:cs typeface="Courier New" pitchFamily="34" charset="-120"/>
              </a:rPr>
              <a:t>,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200" dirty="0">
                <a:solidFill>
                  <a:srgbClr val="202124"/>
                </a:solidFill>
                <a:latin typeface="Courier New" pitchFamily="34" charset="0"/>
                <a:ea typeface="Courier New" pitchFamily="34" charset="-122"/>
                <a:cs typeface="Courier New" pitchFamily="34" charset="-120"/>
              </a:rPr>
              <a:t>, len(a_tiempo))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"Porcentaje"</a:t>
            </a:r>
            <a:pPr indent="0" marL="0">
              <a:buNone/>
            </a:pPr>
            <a:r>
              <a:rPr lang="en-US" sz="1200" dirty="0">
                <a:solidFill>
                  <a:srgbClr val="202124"/>
                </a:solidFill>
                <a:latin typeface="Courier New" pitchFamily="34" charset="0"/>
                <a:ea typeface="Courier New" pitchFamily="34" charset="-122"/>
                <a:cs typeface="Courier New" pitchFamily="34" charset="-120"/>
              </a:rPr>
              <a:t>, round(porcentaje,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1"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2" name="Shape 10"/>
          <p:cNvSpPr/>
          <p:nvPr/>
        </p:nvSpPr>
        <p:spPr>
          <a:xfrm>
            <a:off x="8737092" y="1938528"/>
            <a:ext cx="173736" cy="173736"/>
          </a:xfrm>
          <a:prstGeom prst="ellipse">
            <a:avLst/>
          </a:prstGeom>
          <a:solidFill>
            <a:srgbClr val="1A73E8"/>
          </a:solidFill>
          <a:ln w="12700">
            <a:solidFill>
              <a:srgbClr val="1A73E8"/>
            </a:solidFill>
            <a:prstDash val="solid"/>
          </a:ln>
        </p:spPr>
      </p:sp>
      <p:sp>
        <p:nvSpPr>
          <p:cNvPr id="13" name="Text 11"/>
          <p:cNvSpPr/>
          <p:nvPr/>
        </p:nvSpPr>
        <p:spPr>
          <a:xfrm>
            <a:off x="10972800" y="1892808"/>
            <a:ext cx="502920" cy="274320"/>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0</a:t>
            </a:r>
            <a:endParaRPr lang="en-US" sz="1200" dirty="0"/>
          </a:p>
        </p:txBody>
      </p:sp>
      <p:sp>
        <p:nvSpPr>
          <p:cNvPr id="14" name="Shape 12"/>
          <p:cNvSpPr/>
          <p:nvPr/>
        </p:nvSpPr>
        <p:spPr>
          <a:xfrm>
            <a:off x="1325880" y="3374136"/>
            <a:ext cx="10314432" cy="976579"/>
          </a:xfrm>
          <a:prstGeom prst="rect">
            <a:avLst/>
          </a:prstGeom>
          <a:solidFill>
            <a:srgbClr val="FFFFFF"/>
          </a:solidFill>
          <a:ln w="12700">
            <a:solidFill>
              <a:srgbClr val="DADCE0"/>
            </a:solidFill>
            <a:prstDash val="solid"/>
          </a:ln>
        </p:spPr>
      </p:sp>
      <p:sp>
        <p:nvSpPr>
          <p:cNvPr id="15" name="Text 13"/>
          <p:cNvSpPr/>
          <p:nvPr/>
        </p:nvSpPr>
        <p:spPr>
          <a:xfrm>
            <a:off x="1463040" y="3447288"/>
            <a:ext cx="10085832" cy="848563"/>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Fallas eléctricas 47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 un correctivo dentro de 0 días 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14.9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 que se plantó al crear los datos, 70 por ciento</a:t>
            </a:r>
            <a:endParaRPr lang="en-US" sz="1200" dirty="0"/>
          </a:p>
        </p:txBody>
      </p:sp>
      <p:sp>
        <p:nvSpPr>
          <p:cNvPr id="16" name="Text 14"/>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5"/>
          <p:cNvSpPr/>
          <p:nvPr/>
        </p:nvSpPr>
        <p:spPr>
          <a:xfrm>
            <a:off x="548640" y="6062472"/>
            <a:ext cx="1143000" cy="512064"/>
          </a:xfrm>
          <a:prstGeom prst="roundRect">
            <a:avLst>
              <a:gd name="adj" fmla="val 12500"/>
            </a:avLst>
          </a:prstGeom>
          <a:solidFill>
            <a:srgbClr val="FEF3D6"/>
          </a:solidFill>
          <a:ln w="25400">
            <a:solidFill>
              <a:srgbClr val="F9AB00"/>
            </a:solidFill>
            <a:prstDash val="solid"/>
          </a:ln>
        </p:spPr>
      </p:sp>
      <p:sp>
        <p:nvSpPr>
          <p:cNvPr id="18" name="Text 16"/>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a:t>
            </a:r>
            <a:endParaRPr lang="en-US" sz="1200" dirty="0"/>
          </a:p>
        </p:txBody>
      </p:sp>
      <p:sp>
        <p:nvSpPr>
          <p:cNvPr id="19" name="Shape 17"/>
          <p:cNvSpPr/>
          <p:nvPr/>
        </p:nvSpPr>
        <p:spPr>
          <a:xfrm>
            <a:off x="1828800" y="6062472"/>
            <a:ext cx="1337767" cy="512064"/>
          </a:xfrm>
          <a:prstGeom prst="roundRect">
            <a:avLst>
              <a:gd name="adj" fmla="val 12500"/>
            </a:avLst>
          </a:prstGeom>
          <a:solidFill>
            <a:srgbClr val="FEF3D6"/>
          </a:solidFill>
          <a:ln w="25400">
            <a:solidFill>
              <a:srgbClr val="F9AB00"/>
            </a:solidFill>
            <a:prstDash val="solid"/>
          </a:ln>
        </p:spPr>
      </p:sp>
      <p:sp>
        <p:nvSpPr>
          <p:cNvPr id="20" name="Text 18"/>
          <p:cNvSpPr/>
          <p:nvPr/>
        </p:nvSpPr>
        <p:spPr>
          <a:xfrm>
            <a:off x="1920240"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21" name="Shape 19"/>
          <p:cNvSpPr/>
          <p:nvPr/>
        </p:nvSpPr>
        <p:spPr>
          <a:xfrm>
            <a:off x="3303727" y="6062472"/>
            <a:ext cx="1243584"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3395167"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14.89…</a:t>
            </a:r>
            <a:endParaRPr lang="en-US" sz="1200" dirty="0"/>
          </a:p>
        </p:txBody>
      </p:sp>
      <p:sp>
        <p:nvSpPr>
          <p:cNvPr id="23" name="Shape 21"/>
          <p:cNvSpPr/>
          <p:nvPr/>
        </p:nvSpPr>
        <p:spPr>
          <a:xfrm>
            <a:off x="4684471" y="6062472"/>
            <a:ext cx="2750515" cy="512064"/>
          </a:xfrm>
          <a:prstGeom prst="roundRect">
            <a:avLst>
              <a:gd name="adj" fmla="val 12500"/>
            </a:avLst>
          </a:prstGeom>
          <a:solidFill>
            <a:srgbClr val="E8F0FE"/>
          </a:solidFill>
          <a:ln w="28575">
            <a:solidFill>
              <a:srgbClr val="1A73E8"/>
            </a:solidFill>
            <a:prstDash val="solid"/>
          </a:ln>
        </p:spPr>
      </p:sp>
      <p:sp>
        <p:nvSpPr>
          <p:cNvPr id="24" name="Text 22"/>
          <p:cNvSpPr/>
          <p:nvPr/>
        </p:nvSpPr>
        <p:spPr>
          <a:xfrm>
            <a:off x="4775911"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5" name="Shape 23"/>
          <p:cNvSpPr/>
          <p:nvPr/>
        </p:nvSpPr>
        <p:spPr>
          <a:xfrm>
            <a:off x="7572146" y="6062472"/>
            <a:ext cx="1143000" cy="512064"/>
          </a:xfrm>
          <a:prstGeom prst="roundRect">
            <a:avLst>
              <a:gd name="adj" fmla="val 12500"/>
            </a:avLst>
          </a:prstGeom>
          <a:solidFill>
            <a:srgbClr val="E8F0FE"/>
          </a:solidFill>
          <a:ln w="28575">
            <a:solidFill>
              <a:srgbClr val="1A73E8"/>
            </a:solidFill>
            <a:prstDash val="solid"/>
          </a:ln>
        </p:spPr>
      </p:sp>
      <p:sp>
        <p:nvSpPr>
          <p:cNvPr id="26" name="Text 24"/>
          <p:cNvSpPr/>
          <p:nvPr/>
        </p:nvSpPr>
        <p:spPr>
          <a:xfrm>
            <a:off x="7663586"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7" name="Text 25"/>
          <p:cNvSpPr/>
          <p:nvPr/>
        </p:nvSpPr>
        <p:spPr>
          <a:xfrm>
            <a:off x="8852306"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
        <p:nvSpPr>
          <p:cNvPr id="28" name="Text 26"/>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0 días, solo 7 de las 47 fallas. El 14,9 por ciento.</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1 y se vuelve a correr la celda.</a:t>
            </a:r>
            <a:endParaRPr lang="en-US" sz="1400" dirty="0"/>
          </a:p>
        </p:txBody>
      </p:sp>
      <p:sp>
        <p:nvSpPr>
          <p:cNvPr id="6" name="Shape 4"/>
          <p:cNvSpPr/>
          <p:nvPr/>
        </p:nvSpPr>
        <p:spPr>
          <a:xfrm>
            <a:off x="548640" y="1481328"/>
            <a:ext cx="11091672" cy="1915668"/>
          </a:xfrm>
          <a:prstGeom prst="roundRect">
            <a:avLst>
              <a:gd name="adj" fmla="val 2864"/>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1723644"/>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dias = 1 </a:t>
            </a:r>
            <a:pPr indent="0" marL="0">
              <a:buNone/>
            </a:pPr>
            <a:r>
              <a:rPr lang="en-US" sz="1300" dirty="0">
                <a:solidFill>
                  <a:srgbClr val="80868B"/>
                </a:solidFill>
                <a:latin typeface="Courier New" pitchFamily="34" charset="0"/>
                <a:ea typeface="Courier New" pitchFamily="34" charset="-122"/>
                <a:cs typeface="Courier New" pitchFamily="34" charset="-120"/>
              </a:rPr>
              <a:t>#@param {type:"slider", min:0, max:7, step:1}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fallas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"fallas_electricas.csv"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3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300" dirty="0">
                <a:solidFill>
                  <a:srgbClr val="202124"/>
                </a:solidFill>
                <a:latin typeface="Courier New" pitchFamily="34" charset="0"/>
                <a:ea typeface="Courier New" pitchFamily="34" charset="-122"/>
                <a:cs typeface="Courier New" pitchFamily="34" charset="-120"/>
              </a:rPr>
              <a:t>] &lt;= dias]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porcentaje = 100 * len(a_tiempo) / len(fallas)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300" dirty="0">
                <a:solidFill>
                  <a:srgbClr val="202124"/>
                </a:solidFill>
                <a:latin typeface="Courier New" pitchFamily="34" charset="0"/>
                <a:ea typeface="Courier New" pitchFamily="34" charset="-122"/>
                <a:cs typeface="Courier New" pitchFamily="34" charset="-120"/>
              </a:rPr>
              <a:t>, len(fallas))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300" dirty="0">
                <a:solidFill>
                  <a:srgbClr val="202124"/>
                </a:solidFill>
                <a:latin typeface="Courier New" pitchFamily="34" charset="0"/>
                <a:ea typeface="Courier New" pitchFamily="34" charset="-122"/>
                <a:cs typeface="Courier New" pitchFamily="34" charset="-120"/>
              </a:rPr>
              <a:t>, len(a_tiempo))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"Porcentaje"</a:t>
            </a:r>
            <a:pPr indent="0" marL="0">
              <a:buNone/>
            </a:pPr>
            <a:r>
              <a:rPr lang="en-US" sz="1300" dirty="0">
                <a:solidFill>
                  <a:srgbClr val="202124"/>
                </a:solidFill>
                <a:latin typeface="Courier New" pitchFamily="34" charset="0"/>
                <a:ea typeface="Courier New" pitchFamily="34" charset="-122"/>
                <a:cs typeface="Courier New" pitchFamily="34" charset="-120"/>
              </a:rPr>
              <a:t>, round(porcentaje,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1"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2" name="Shape 10"/>
          <p:cNvSpPr/>
          <p:nvPr/>
        </p:nvSpPr>
        <p:spPr>
          <a:xfrm>
            <a:off x="8823960" y="2002536"/>
            <a:ext cx="280851" cy="45720"/>
          </a:xfrm>
          <a:prstGeom prst="rect">
            <a:avLst/>
          </a:prstGeom>
          <a:solidFill>
            <a:srgbClr val="1A73E8"/>
          </a:solidFill>
          <a:ln w="12700">
            <a:solidFill>
              <a:srgbClr val="1A73E8"/>
            </a:solidFill>
            <a:prstDash val="solid"/>
          </a:ln>
        </p:spPr>
      </p:sp>
      <p:sp>
        <p:nvSpPr>
          <p:cNvPr id="13" name="Shape 11"/>
          <p:cNvSpPr/>
          <p:nvPr/>
        </p:nvSpPr>
        <p:spPr>
          <a:xfrm>
            <a:off x="9017943" y="1938528"/>
            <a:ext cx="173736" cy="173736"/>
          </a:xfrm>
          <a:prstGeom prst="ellipse">
            <a:avLst/>
          </a:prstGeom>
          <a:solidFill>
            <a:srgbClr val="1A73E8"/>
          </a:solidFill>
          <a:ln w="25400">
            <a:solidFill>
              <a:srgbClr val="0B3D62"/>
            </a:solidFill>
            <a:prstDash val="solid"/>
          </a:ln>
        </p:spPr>
      </p:sp>
      <p:sp>
        <p:nvSpPr>
          <p:cNvPr id="14" name="Text 12"/>
          <p:cNvSpPr/>
          <p:nvPr/>
        </p:nvSpPr>
        <p:spPr>
          <a:xfrm>
            <a:off x="10972800" y="1892808"/>
            <a:ext cx="502920" cy="274320"/>
          </a:xfrm>
          <a:prstGeom prst="rect">
            <a:avLst/>
          </a:prstGeom>
          <a:noFill/>
          <a:ln/>
        </p:spPr>
        <p:txBody>
          <a:bodyPr wrap="square" lIns="0" tIns="0" rIns="0" bIns="0" rtlCol="0" anchor="ctr"/>
          <a:lstStyle/>
          <a:p>
            <a:pPr indent="0" marL="0">
              <a:buNone/>
            </a:pPr>
            <a:r>
              <a:rPr lang="en-US" sz="1200" b="1" dirty="0">
                <a:solidFill>
                  <a:srgbClr val="202124"/>
                </a:solidFill>
                <a:latin typeface="Calibri" pitchFamily="34" charset="0"/>
                <a:ea typeface="Calibri" pitchFamily="34" charset="-122"/>
                <a:cs typeface="Calibri" pitchFamily="34" charset="-120"/>
              </a:rPr>
              <a:t>1</a:t>
            </a:r>
            <a:endParaRPr lang="en-US" sz="1200" dirty="0"/>
          </a:p>
        </p:txBody>
      </p:sp>
      <p:sp>
        <p:nvSpPr>
          <p:cNvPr id="15" name="Text 13"/>
          <p:cNvSpPr/>
          <p:nvPr/>
        </p:nvSpPr>
        <p:spPr>
          <a:xfrm>
            <a:off x="1325880" y="3424428"/>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4"/>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5"/>
          <p:cNvSpPr/>
          <p:nvPr/>
        </p:nvSpPr>
        <p:spPr>
          <a:xfrm>
            <a:off x="548640" y="6062472"/>
            <a:ext cx="1243584" cy="512064"/>
          </a:xfrm>
          <a:prstGeom prst="roundRect">
            <a:avLst>
              <a:gd name="adj" fmla="val 12500"/>
            </a:avLst>
          </a:prstGeom>
          <a:solidFill>
            <a:srgbClr val="F1F3F4"/>
          </a:solidFill>
          <a:ln w="12700">
            <a:solidFill>
              <a:srgbClr val="DADCE0"/>
            </a:solidFill>
            <a:prstDash val="solid"/>
          </a:ln>
        </p:spPr>
      </p:sp>
      <p:sp>
        <p:nvSpPr>
          <p:cNvPr id="18" name="Text 16"/>
          <p:cNvSpPr/>
          <p:nvPr/>
        </p:nvSpPr>
        <p:spPr>
          <a:xfrm>
            <a:off x="640080"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14.89…</a:t>
            </a:r>
            <a:endParaRPr lang="en-US" sz="1200" dirty="0"/>
          </a:p>
        </p:txBody>
      </p:sp>
      <p:sp>
        <p:nvSpPr>
          <p:cNvPr id="19" name="Shape 17"/>
          <p:cNvSpPr/>
          <p:nvPr/>
        </p:nvSpPr>
        <p:spPr>
          <a:xfrm>
            <a:off x="1929384" y="6062472"/>
            <a:ext cx="1337767" cy="512064"/>
          </a:xfrm>
          <a:prstGeom prst="roundRect">
            <a:avLst>
              <a:gd name="adj" fmla="val 12500"/>
            </a:avLst>
          </a:prstGeom>
          <a:solidFill>
            <a:srgbClr val="F1F3F4"/>
          </a:solidFill>
          <a:ln w="12700">
            <a:solidFill>
              <a:srgbClr val="DADCE0"/>
            </a:solidFill>
            <a:prstDash val="solid"/>
          </a:ln>
        </p:spPr>
      </p:sp>
      <p:sp>
        <p:nvSpPr>
          <p:cNvPr id="20" name="Text 18"/>
          <p:cNvSpPr/>
          <p:nvPr/>
        </p:nvSpPr>
        <p:spPr>
          <a:xfrm>
            <a:off x="2020824"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21" name="Shape 19"/>
          <p:cNvSpPr/>
          <p:nvPr/>
        </p:nvSpPr>
        <p:spPr>
          <a:xfrm>
            <a:off x="3404311" y="6062472"/>
            <a:ext cx="1431950" cy="512064"/>
          </a:xfrm>
          <a:prstGeom prst="roundRect">
            <a:avLst>
              <a:gd name="adj" fmla="val 12500"/>
            </a:avLst>
          </a:prstGeom>
          <a:solidFill>
            <a:srgbClr val="F1F3F4"/>
          </a:solidFill>
          <a:ln w="12700">
            <a:solidFill>
              <a:srgbClr val="DADCE0"/>
            </a:solidFill>
            <a:prstDash val="solid"/>
          </a:ln>
        </p:spPr>
      </p:sp>
      <p:sp>
        <p:nvSpPr>
          <p:cNvPr id="22" name="Text 20"/>
          <p:cNvSpPr/>
          <p:nvPr/>
        </p:nvSpPr>
        <p:spPr>
          <a:xfrm>
            <a:off x="3495751"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23" name="Shape 21"/>
          <p:cNvSpPr/>
          <p:nvPr/>
        </p:nvSpPr>
        <p:spPr>
          <a:xfrm>
            <a:off x="4973422" y="6062472"/>
            <a:ext cx="1143000" cy="512064"/>
          </a:xfrm>
          <a:prstGeom prst="roundRect">
            <a:avLst>
              <a:gd name="adj" fmla="val 12500"/>
            </a:avLst>
          </a:prstGeom>
          <a:solidFill>
            <a:srgbClr val="F1F3F4"/>
          </a:solidFill>
          <a:ln w="12700">
            <a:solidFill>
              <a:srgbClr val="DADCE0"/>
            </a:solidFill>
            <a:prstDash val="solid"/>
          </a:ln>
        </p:spPr>
      </p:sp>
      <p:sp>
        <p:nvSpPr>
          <p:cNvPr id="24" name="Text 22"/>
          <p:cNvSpPr/>
          <p:nvPr/>
        </p:nvSpPr>
        <p:spPr>
          <a:xfrm>
            <a:off x="5064862"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a:t>
            </a:r>
            <a:endParaRPr lang="en-US" sz="1200" dirty="0"/>
          </a:p>
        </p:txBody>
      </p:sp>
      <p:sp>
        <p:nvSpPr>
          <p:cNvPr id="25" name="Shape 23"/>
          <p:cNvSpPr/>
          <p:nvPr/>
        </p:nvSpPr>
        <p:spPr>
          <a:xfrm>
            <a:off x="6253582" y="6062472"/>
            <a:ext cx="1143000" cy="512064"/>
          </a:xfrm>
          <a:prstGeom prst="roundRect">
            <a:avLst>
              <a:gd name="adj" fmla="val 12500"/>
            </a:avLst>
          </a:prstGeom>
          <a:solidFill>
            <a:srgbClr val="F1F3F4"/>
          </a:solidFill>
          <a:ln w="12700">
            <a:solidFill>
              <a:srgbClr val="DADCE0"/>
            </a:solidFill>
            <a:prstDash val="solid"/>
          </a:ln>
        </p:spPr>
      </p:sp>
      <p:sp>
        <p:nvSpPr>
          <p:cNvPr id="26" name="Text 24"/>
          <p:cNvSpPr/>
          <p:nvPr/>
        </p:nvSpPr>
        <p:spPr>
          <a:xfrm>
            <a:off x="6345022"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27" name="Shape 25"/>
          <p:cNvSpPr/>
          <p:nvPr/>
        </p:nvSpPr>
        <p:spPr>
          <a:xfrm>
            <a:off x="7533742" y="6062472"/>
            <a:ext cx="1143000" cy="512064"/>
          </a:xfrm>
          <a:prstGeom prst="roundRect">
            <a:avLst>
              <a:gd name="adj" fmla="val 12500"/>
            </a:avLst>
          </a:prstGeom>
          <a:solidFill>
            <a:srgbClr val="F1F3F4"/>
          </a:solidFill>
          <a:ln w="12700">
            <a:solidFill>
              <a:srgbClr val="DADCE0"/>
            </a:solidFill>
            <a:prstDash val="solid"/>
          </a:ln>
        </p:spPr>
      </p:sp>
      <p:sp>
        <p:nvSpPr>
          <p:cNvPr id="28" name="Text 26"/>
          <p:cNvSpPr/>
          <p:nvPr/>
        </p:nvSpPr>
        <p:spPr>
          <a:xfrm>
            <a:off x="7625182"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36.28…</a:t>
            </a:r>
            <a:endParaRPr lang="en-US" sz="1200" dirty="0"/>
          </a:p>
        </p:txBody>
      </p:sp>
      <p:sp>
        <p:nvSpPr>
          <p:cNvPr id="29" name="Shape 27"/>
          <p:cNvSpPr/>
          <p:nvPr/>
        </p:nvSpPr>
        <p:spPr>
          <a:xfrm>
            <a:off x="8813902" y="6062472"/>
            <a:ext cx="1149401" cy="512064"/>
          </a:xfrm>
          <a:prstGeom prst="roundRect">
            <a:avLst>
              <a:gd name="adj" fmla="val 12500"/>
            </a:avLst>
          </a:prstGeom>
          <a:solidFill>
            <a:srgbClr val="F1F3F4"/>
          </a:solidFill>
          <a:ln w="12700">
            <a:solidFill>
              <a:srgbClr val="DADCE0"/>
            </a:solidFill>
            <a:prstDash val="solid"/>
          </a:ln>
        </p:spPr>
      </p:sp>
      <p:sp>
        <p:nvSpPr>
          <p:cNvPr id="30" name="Text 28"/>
          <p:cNvSpPr/>
          <p:nvPr/>
        </p:nvSpPr>
        <p:spPr>
          <a:xfrm>
            <a:off x="8905342" y="6071616"/>
            <a:ext cx="1012241"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confianza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69.09…</a:t>
            </a:r>
            <a:endParaRPr lang="en-US" sz="1200" dirty="0"/>
          </a:p>
        </p:txBody>
      </p:sp>
      <p:sp>
        <p:nvSpPr>
          <p:cNvPr id="31" name="Text 29"/>
          <p:cNvSpPr/>
          <p:nvPr/>
        </p:nvSpPr>
        <p:spPr>
          <a:xfrm>
            <a:off x="10100462"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8 más</a:t>
            </a:r>
            <a:endParaRPr lang="en-US" sz="1200" dirty="0"/>
          </a:p>
        </p:txBody>
      </p:sp>
      <p:sp>
        <p:nvSpPr>
          <p:cNvPr id="32" name="Text 30"/>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1 y se vuelve a correr la celda.</a:t>
            </a:r>
            <a:endParaRPr lang="en-US" sz="1400" dirty="0"/>
          </a:p>
        </p:txBody>
      </p:sp>
      <p:sp>
        <p:nvSpPr>
          <p:cNvPr id="6" name="Shape 4"/>
          <p:cNvSpPr/>
          <p:nvPr/>
        </p:nvSpPr>
        <p:spPr>
          <a:xfrm>
            <a:off x="548640" y="1481328"/>
            <a:ext cx="11091672" cy="1783080"/>
          </a:xfrm>
          <a:prstGeom prst="roundRect">
            <a:avLst>
              <a:gd name="adj" fmla="val 307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59105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dias = 1 </a:t>
            </a:r>
            <a:pPr indent="0" marL="0">
              <a:buNone/>
            </a:pPr>
            <a:r>
              <a:rPr lang="en-US" sz="1200" dirty="0">
                <a:solidFill>
                  <a:srgbClr val="80868B"/>
                </a:solidFill>
                <a:latin typeface="Courier New" pitchFamily="34" charset="0"/>
                <a:ea typeface="Courier New" pitchFamily="34" charset="-122"/>
                <a:cs typeface="Courier New" pitchFamily="34" charset="-120"/>
              </a:rPr>
              <a:t>#@param {type:"slider", min:0, max:7, step:1}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fallas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"fallas_electricas.csv"</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2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200" dirty="0">
                <a:solidFill>
                  <a:srgbClr val="202124"/>
                </a:solidFill>
                <a:latin typeface="Courier New" pitchFamily="34" charset="0"/>
                <a:ea typeface="Courier New" pitchFamily="34" charset="-122"/>
                <a:cs typeface="Courier New" pitchFamily="34" charset="-120"/>
              </a:rPr>
              <a:t>] &lt;= dias]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 100 * len(a_tiempo) /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200" dirty="0">
                <a:solidFill>
                  <a:srgbClr val="202124"/>
                </a:solidFill>
                <a:latin typeface="Courier New" pitchFamily="34" charset="0"/>
                <a:ea typeface="Courier New" pitchFamily="34" charset="-122"/>
                <a:cs typeface="Courier New" pitchFamily="34" charset="-120"/>
              </a:rPr>
              <a:t>,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200" dirty="0">
                <a:solidFill>
                  <a:srgbClr val="202124"/>
                </a:solidFill>
                <a:latin typeface="Courier New" pitchFamily="34" charset="0"/>
                <a:ea typeface="Courier New" pitchFamily="34" charset="-122"/>
                <a:cs typeface="Courier New" pitchFamily="34" charset="-120"/>
              </a:rPr>
              <a:t>, len(a_tiempo))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"Porcentaje"</a:t>
            </a:r>
            <a:pPr indent="0" marL="0">
              <a:buNone/>
            </a:pPr>
            <a:r>
              <a:rPr lang="en-US" sz="1200" dirty="0">
                <a:solidFill>
                  <a:srgbClr val="202124"/>
                </a:solidFill>
                <a:latin typeface="Courier New" pitchFamily="34" charset="0"/>
                <a:ea typeface="Courier New" pitchFamily="34" charset="-122"/>
                <a:cs typeface="Courier New" pitchFamily="34" charset="-120"/>
              </a:rPr>
              <a:t>, round(porcentaje,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1"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2" name="Shape 10"/>
          <p:cNvSpPr/>
          <p:nvPr/>
        </p:nvSpPr>
        <p:spPr>
          <a:xfrm>
            <a:off x="8823960" y="2002536"/>
            <a:ext cx="280851" cy="45720"/>
          </a:xfrm>
          <a:prstGeom prst="rect">
            <a:avLst/>
          </a:prstGeom>
          <a:solidFill>
            <a:srgbClr val="1A73E8"/>
          </a:solidFill>
          <a:ln w="12700">
            <a:solidFill>
              <a:srgbClr val="1A73E8"/>
            </a:solidFill>
            <a:prstDash val="solid"/>
          </a:ln>
        </p:spPr>
      </p:sp>
      <p:sp>
        <p:nvSpPr>
          <p:cNvPr id="13" name="Shape 11"/>
          <p:cNvSpPr/>
          <p:nvPr/>
        </p:nvSpPr>
        <p:spPr>
          <a:xfrm>
            <a:off x="9017943" y="1938528"/>
            <a:ext cx="173736" cy="173736"/>
          </a:xfrm>
          <a:prstGeom prst="ellipse">
            <a:avLst/>
          </a:prstGeom>
          <a:solidFill>
            <a:srgbClr val="1A73E8"/>
          </a:solidFill>
          <a:ln w="12700">
            <a:solidFill>
              <a:srgbClr val="1A73E8"/>
            </a:solidFill>
            <a:prstDash val="solid"/>
          </a:ln>
        </p:spPr>
      </p:sp>
      <p:sp>
        <p:nvSpPr>
          <p:cNvPr id="14" name="Text 12"/>
          <p:cNvSpPr/>
          <p:nvPr/>
        </p:nvSpPr>
        <p:spPr>
          <a:xfrm>
            <a:off x="10972800" y="1892808"/>
            <a:ext cx="502920" cy="274320"/>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1</a:t>
            </a:r>
            <a:endParaRPr lang="en-US" sz="1200" dirty="0"/>
          </a:p>
        </p:txBody>
      </p:sp>
      <p:sp>
        <p:nvSpPr>
          <p:cNvPr id="15" name="Shape 13"/>
          <p:cNvSpPr/>
          <p:nvPr/>
        </p:nvSpPr>
        <p:spPr>
          <a:xfrm>
            <a:off x="1325880" y="3374136"/>
            <a:ext cx="10314432" cy="976579"/>
          </a:xfrm>
          <a:prstGeom prst="rect">
            <a:avLst/>
          </a:prstGeom>
          <a:solidFill>
            <a:srgbClr val="FFFFFF"/>
          </a:solidFill>
          <a:ln w="12700">
            <a:solidFill>
              <a:srgbClr val="DADCE0"/>
            </a:solidFill>
            <a:prstDash val="solid"/>
          </a:ln>
        </p:spPr>
      </p:sp>
      <p:sp>
        <p:nvSpPr>
          <p:cNvPr id="16" name="Text 14"/>
          <p:cNvSpPr/>
          <p:nvPr/>
        </p:nvSpPr>
        <p:spPr>
          <a:xfrm>
            <a:off x="1463040" y="3447288"/>
            <a:ext cx="10085832" cy="848563"/>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Fallas eléctricas 47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 un correctivo dentro de 1 días 19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40.4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 que se plantó al crear los datos, 70 por ciento</a:t>
            </a:r>
            <a:endParaRPr lang="en-US" sz="1200" dirty="0"/>
          </a:p>
        </p:txBody>
      </p:sp>
      <p:sp>
        <p:nvSpPr>
          <p:cNvPr id="17" name="Text 15"/>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6"/>
          <p:cNvSpPr/>
          <p:nvPr/>
        </p:nvSpPr>
        <p:spPr>
          <a:xfrm>
            <a:off x="548640" y="6062472"/>
            <a:ext cx="1143000" cy="512064"/>
          </a:xfrm>
          <a:prstGeom prst="roundRect">
            <a:avLst>
              <a:gd name="adj" fmla="val 12500"/>
            </a:avLst>
          </a:prstGeom>
          <a:solidFill>
            <a:srgbClr val="FEF3D6"/>
          </a:solidFill>
          <a:ln w="25400">
            <a:solidFill>
              <a:srgbClr val="F9AB00"/>
            </a:solidFill>
            <a:prstDash val="solid"/>
          </a:ln>
        </p:spPr>
      </p:sp>
      <p:sp>
        <p:nvSpPr>
          <p:cNvPr id="19" name="Text 17"/>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a:t>
            </a:r>
            <a:endParaRPr lang="en-US" sz="1200" dirty="0"/>
          </a:p>
        </p:txBody>
      </p:sp>
      <p:sp>
        <p:nvSpPr>
          <p:cNvPr id="20" name="Shape 18"/>
          <p:cNvSpPr/>
          <p:nvPr/>
        </p:nvSpPr>
        <p:spPr>
          <a:xfrm>
            <a:off x="1828800" y="6062472"/>
            <a:ext cx="1431950" cy="512064"/>
          </a:xfrm>
          <a:prstGeom prst="roundRect">
            <a:avLst>
              <a:gd name="adj" fmla="val 12500"/>
            </a:avLst>
          </a:prstGeom>
          <a:solidFill>
            <a:srgbClr val="FEF3D6"/>
          </a:solidFill>
          <a:ln w="25400">
            <a:solidFill>
              <a:srgbClr val="F9AB00"/>
            </a:solidFill>
            <a:prstDash val="solid"/>
          </a:ln>
        </p:spPr>
      </p:sp>
      <p:sp>
        <p:nvSpPr>
          <p:cNvPr id="21" name="Text 19"/>
          <p:cNvSpPr/>
          <p:nvPr/>
        </p:nvSpPr>
        <p:spPr>
          <a:xfrm>
            <a:off x="192024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19 × 3</a:t>
            </a:r>
            <a:endParaRPr lang="en-US" sz="1200" dirty="0"/>
          </a:p>
        </p:txBody>
      </p:sp>
      <p:sp>
        <p:nvSpPr>
          <p:cNvPr id="22" name="Shape 20"/>
          <p:cNvSpPr/>
          <p:nvPr/>
        </p:nvSpPr>
        <p:spPr>
          <a:xfrm>
            <a:off x="3397910" y="6062472"/>
            <a:ext cx="1243584" cy="512064"/>
          </a:xfrm>
          <a:prstGeom prst="roundRect">
            <a:avLst>
              <a:gd name="adj" fmla="val 12500"/>
            </a:avLst>
          </a:prstGeom>
          <a:solidFill>
            <a:srgbClr val="FEF3D6"/>
          </a:solidFill>
          <a:ln w="25400">
            <a:solidFill>
              <a:srgbClr val="F9AB00"/>
            </a:solidFill>
            <a:prstDash val="solid"/>
          </a:ln>
        </p:spPr>
      </p:sp>
      <p:sp>
        <p:nvSpPr>
          <p:cNvPr id="23" name="Text 21"/>
          <p:cNvSpPr/>
          <p:nvPr/>
        </p:nvSpPr>
        <p:spPr>
          <a:xfrm>
            <a:off x="3489350"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40.43…</a:t>
            </a:r>
            <a:endParaRPr lang="en-US" sz="1200" dirty="0"/>
          </a:p>
        </p:txBody>
      </p:sp>
      <p:sp>
        <p:nvSpPr>
          <p:cNvPr id="24" name="Shape 22"/>
          <p:cNvSpPr/>
          <p:nvPr/>
        </p:nvSpPr>
        <p:spPr>
          <a:xfrm>
            <a:off x="4778654" y="6062472"/>
            <a:ext cx="2750515" cy="512064"/>
          </a:xfrm>
          <a:prstGeom prst="roundRect">
            <a:avLst>
              <a:gd name="adj" fmla="val 12500"/>
            </a:avLst>
          </a:prstGeom>
          <a:solidFill>
            <a:srgbClr val="E8F0FE"/>
          </a:solidFill>
          <a:ln w="28575">
            <a:solidFill>
              <a:srgbClr val="1A73E8"/>
            </a:solidFill>
            <a:prstDash val="solid"/>
          </a:ln>
        </p:spPr>
      </p:sp>
      <p:sp>
        <p:nvSpPr>
          <p:cNvPr id="25" name="Text 23"/>
          <p:cNvSpPr/>
          <p:nvPr/>
        </p:nvSpPr>
        <p:spPr>
          <a:xfrm>
            <a:off x="4870094"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6" name="Shape 24"/>
          <p:cNvSpPr/>
          <p:nvPr/>
        </p:nvSpPr>
        <p:spPr>
          <a:xfrm>
            <a:off x="7666330" y="6062472"/>
            <a:ext cx="1143000" cy="512064"/>
          </a:xfrm>
          <a:prstGeom prst="roundRect">
            <a:avLst>
              <a:gd name="adj" fmla="val 12500"/>
            </a:avLst>
          </a:prstGeom>
          <a:solidFill>
            <a:srgbClr val="E8F0FE"/>
          </a:solidFill>
          <a:ln w="28575">
            <a:solidFill>
              <a:srgbClr val="1A73E8"/>
            </a:solidFill>
            <a:prstDash val="solid"/>
          </a:ln>
        </p:spPr>
      </p:sp>
      <p:sp>
        <p:nvSpPr>
          <p:cNvPr id="27" name="Text 25"/>
          <p:cNvSpPr/>
          <p:nvPr/>
        </p:nvSpPr>
        <p:spPr>
          <a:xfrm>
            <a:off x="775777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8" name="Text 26"/>
          <p:cNvSpPr/>
          <p:nvPr/>
        </p:nvSpPr>
        <p:spPr>
          <a:xfrm>
            <a:off x="8946490"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
        <p:nvSpPr>
          <p:cNvPr id="29" name="Text 27"/>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1 día, 19 de las 47 fallas. El 40,4 por ciento.</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7 y se vuelve a correr la celda.</a:t>
            </a:r>
            <a:endParaRPr lang="en-US" sz="1400" dirty="0"/>
          </a:p>
        </p:txBody>
      </p:sp>
      <p:sp>
        <p:nvSpPr>
          <p:cNvPr id="6" name="Shape 4"/>
          <p:cNvSpPr/>
          <p:nvPr/>
        </p:nvSpPr>
        <p:spPr>
          <a:xfrm>
            <a:off x="548640" y="1481328"/>
            <a:ext cx="11091672" cy="1915668"/>
          </a:xfrm>
          <a:prstGeom prst="roundRect">
            <a:avLst>
              <a:gd name="adj" fmla="val 2864"/>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1723644"/>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dias = 7 </a:t>
            </a:r>
            <a:pPr indent="0" marL="0">
              <a:buNone/>
            </a:pPr>
            <a:r>
              <a:rPr lang="en-US" sz="1300" dirty="0">
                <a:solidFill>
                  <a:srgbClr val="80868B"/>
                </a:solidFill>
                <a:latin typeface="Courier New" pitchFamily="34" charset="0"/>
                <a:ea typeface="Courier New" pitchFamily="34" charset="-122"/>
                <a:cs typeface="Courier New" pitchFamily="34" charset="-120"/>
              </a:rPr>
              <a:t>#@param {type:"slider", min:0, max:7, step:1}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fallas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"fallas_electricas.csv"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3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300" dirty="0">
                <a:solidFill>
                  <a:srgbClr val="202124"/>
                </a:solidFill>
                <a:latin typeface="Courier New" pitchFamily="34" charset="0"/>
                <a:ea typeface="Courier New" pitchFamily="34" charset="-122"/>
                <a:cs typeface="Courier New" pitchFamily="34" charset="-120"/>
              </a:rPr>
              <a:t>] &lt;= dias]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porcentaje = 100 * len(a_tiempo) / len(fallas)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300" dirty="0">
                <a:solidFill>
                  <a:srgbClr val="202124"/>
                </a:solidFill>
                <a:latin typeface="Courier New" pitchFamily="34" charset="0"/>
                <a:ea typeface="Courier New" pitchFamily="34" charset="-122"/>
                <a:cs typeface="Courier New" pitchFamily="34" charset="-120"/>
              </a:rPr>
              <a:t>, len(fallas))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300" dirty="0">
                <a:solidFill>
                  <a:srgbClr val="202124"/>
                </a:solidFill>
                <a:latin typeface="Courier New" pitchFamily="34" charset="0"/>
                <a:ea typeface="Courier New" pitchFamily="34" charset="-122"/>
                <a:cs typeface="Courier New" pitchFamily="34" charset="-120"/>
              </a:rPr>
              <a:t>, len(a_tiempo))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"Porcentaje"</a:t>
            </a:r>
            <a:pPr indent="0" marL="0">
              <a:buNone/>
            </a:pPr>
            <a:r>
              <a:rPr lang="en-US" sz="1300" dirty="0">
                <a:solidFill>
                  <a:srgbClr val="202124"/>
                </a:solidFill>
                <a:latin typeface="Courier New" pitchFamily="34" charset="0"/>
                <a:ea typeface="Courier New" pitchFamily="34" charset="-122"/>
                <a:cs typeface="Courier New" pitchFamily="34" charset="-120"/>
              </a:rPr>
              <a:t>, round(porcentaje,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1"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2" name="Shape 10"/>
          <p:cNvSpPr/>
          <p:nvPr/>
        </p:nvSpPr>
        <p:spPr>
          <a:xfrm>
            <a:off x="8823960" y="2002536"/>
            <a:ext cx="1965960" cy="45720"/>
          </a:xfrm>
          <a:prstGeom prst="rect">
            <a:avLst/>
          </a:prstGeom>
          <a:solidFill>
            <a:srgbClr val="1A73E8"/>
          </a:solidFill>
          <a:ln w="12700">
            <a:solidFill>
              <a:srgbClr val="1A73E8"/>
            </a:solidFill>
            <a:prstDash val="solid"/>
          </a:ln>
        </p:spPr>
      </p:sp>
      <p:sp>
        <p:nvSpPr>
          <p:cNvPr id="13" name="Shape 11"/>
          <p:cNvSpPr/>
          <p:nvPr/>
        </p:nvSpPr>
        <p:spPr>
          <a:xfrm>
            <a:off x="10703052" y="1938528"/>
            <a:ext cx="173736" cy="173736"/>
          </a:xfrm>
          <a:prstGeom prst="ellipse">
            <a:avLst/>
          </a:prstGeom>
          <a:solidFill>
            <a:srgbClr val="1A73E8"/>
          </a:solidFill>
          <a:ln w="25400">
            <a:solidFill>
              <a:srgbClr val="0B3D62"/>
            </a:solidFill>
            <a:prstDash val="solid"/>
          </a:ln>
        </p:spPr>
      </p:sp>
      <p:sp>
        <p:nvSpPr>
          <p:cNvPr id="14" name="Text 12"/>
          <p:cNvSpPr/>
          <p:nvPr/>
        </p:nvSpPr>
        <p:spPr>
          <a:xfrm>
            <a:off x="10972800" y="1892808"/>
            <a:ext cx="502920" cy="274320"/>
          </a:xfrm>
          <a:prstGeom prst="rect">
            <a:avLst/>
          </a:prstGeom>
          <a:noFill/>
          <a:ln/>
        </p:spPr>
        <p:txBody>
          <a:bodyPr wrap="square" lIns="0" tIns="0" rIns="0" bIns="0" rtlCol="0" anchor="ctr"/>
          <a:lstStyle/>
          <a:p>
            <a:pPr indent="0" marL="0">
              <a:buNone/>
            </a:pPr>
            <a:r>
              <a:rPr lang="en-US" sz="1200" b="1" dirty="0">
                <a:solidFill>
                  <a:srgbClr val="202124"/>
                </a:solidFill>
                <a:latin typeface="Calibri" pitchFamily="34" charset="0"/>
                <a:ea typeface="Calibri" pitchFamily="34" charset="-122"/>
                <a:cs typeface="Calibri" pitchFamily="34" charset="-120"/>
              </a:rPr>
              <a:t>7</a:t>
            </a:r>
            <a:endParaRPr lang="en-US" sz="1200" dirty="0"/>
          </a:p>
        </p:txBody>
      </p:sp>
      <p:sp>
        <p:nvSpPr>
          <p:cNvPr id="15" name="Text 13"/>
          <p:cNvSpPr/>
          <p:nvPr/>
        </p:nvSpPr>
        <p:spPr>
          <a:xfrm>
            <a:off x="1325880" y="3424428"/>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4"/>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5"/>
          <p:cNvSpPr/>
          <p:nvPr/>
        </p:nvSpPr>
        <p:spPr>
          <a:xfrm>
            <a:off x="548640" y="6062472"/>
            <a:ext cx="1243584" cy="512064"/>
          </a:xfrm>
          <a:prstGeom prst="roundRect">
            <a:avLst>
              <a:gd name="adj" fmla="val 12500"/>
            </a:avLst>
          </a:prstGeom>
          <a:solidFill>
            <a:srgbClr val="F1F3F4"/>
          </a:solidFill>
          <a:ln w="12700">
            <a:solidFill>
              <a:srgbClr val="DADCE0"/>
            </a:solidFill>
            <a:prstDash val="solid"/>
          </a:ln>
        </p:spPr>
      </p:sp>
      <p:sp>
        <p:nvSpPr>
          <p:cNvPr id="18" name="Text 16"/>
          <p:cNvSpPr/>
          <p:nvPr/>
        </p:nvSpPr>
        <p:spPr>
          <a:xfrm>
            <a:off x="640080"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40.43…</a:t>
            </a:r>
            <a:endParaRPr lang="en-US" sz="1200" dirty="0"/>
          </a:p>
        </p:txBody>
      </p:sp>
      <p:sp>
        <p:nvSpPr>
          <p:cNvPr id="19" name="Shape 17"/>
          <p:cNvSpPr/>
          <p:nvPr/>
        </p:nvSpPr>
        <p:spPr>
          <a:xfrm>
            <a:off x="1929384" y="6062472"/>
            <a:ext cx="1431950" cy="512064"/>
          </a:xfrm>
          <a:prstGeom prst="roundRect">
            <a:avLst>
              <a:gd name="adj" fmla="val 12500"/>
            </a:avLst>
          </a:prstGeom>
          <a:solidFill>
            <a:srgbClr val="F1F3F4"/>
          </a:solidFill>
          <a:ln w="12700">
            <a:solidFill>
              <a:srgbClr val="DADCE0"/>
            </a:solidFill>
            <a:prstDash val="solid"/>
          </a:ln>
        </p:spPr>
      </p:sp>
      <p:sp>
        <p:nvSpPr>
          <p:cNvPr id="20" name="Text 18"/>
          <p:cNvSpPr/>
          <p:nvPr/>
        </p:nvSpPr>
        <p:spPr>
          <a:xfrm>
            <a:off x="2020824"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19 × 3</a:t>
            </a:r>
            <a:endParaRPr lang="en-US" sz="1200" dirty="0"/>
          </a:p>
        </p:txBody>
      </p:sp>
      <p:sp>
        <p:nvSpPr>
          <p:cNvPr id="21" name="Shape 19"/>
          <p:cNvSpPr/>
          <p:nvPr/>
        </p:nvSpPr>
        <p:spPr>
          <a:xfrm>
            <a:off x="3498494" y="6062472"/>
            <a:ext cx="1431950" cy="512064"/>
          </a:xfrm>
          <a:prstGeom prst="roundRect">
            <a:avLst>
              <a:gd name="adj" fmla="val 12500"/>
            </a:avLst>
          </a:prstGeom>
          <a:solidFill>
            <a:srgbClr val="F1F3F4"/>
          </a:solidFill>
          <a:ln w="12700">
            <a:solidFill>
              <a:srgbClr val="DADCE0"/>
            </a:solidFill>
            <a:prstDash val="solid"/>
          </a:ln>
        </p:spPr>
      </p:sp>
      <p:sp>
        <p:nvSpPr>
          <p:cNvPr id="22" name="Text 20"/>
          <p:cNvSpPr/>
          <p:nvPr/>
        </p:nvSpPr>
        <p:spPr>
          <a:xfrm>
            <a:off x="3589934"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23" name="Shape 21"/>
          <p:cNvSpPr/>
          <p:nvPr/>
        </p:nvSpPr>
        <p:spPr>
          <a:xfrm>
            <a:off x="5067605" y="6062472"/>
            <a:ext cx="1143000" cy="512064"/>
          </a:xfrm>
          <a:prstGeom prst="roundRect">
            <a:avLst>
              <a:gd name="adj" fmla="val 12500"/>
            </a:avLst>
          </a:prstGeom>
          <a:solidFill>
            <a:srgbClr val="F1F3F4"/>
          </a:solidFill>
          <a:ln w="12700">
            <a:solidFill>
              <a:srgbClr val="DADCE0"/>
            </a:solidFill>
            <a:prstDash val="solid"/>
          </a:ln>
        </p:spPr>
      </p:sp>
      <p:sp>
        <p:nvSpPr>
          <p:cNvPr id="24" name="Text 22"/>
          <p:cNvSpPr/>
          <p:nvPr/>
        </p:nvSpPr>
        <p:spPr>
          <a:xfrm>
            <a:off x="515904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a:t>
            </a:r>
            <a:endParaRPr lang="en-US" sz="1200" dirty="0"/>
          </a:p>
        </p:txBody>
      </p:sp>
      <p:sp>
        <p:nvSpPr>
          <p:cNvPr id="25" name="Shape 23"/>
          <p:cNvSpPr/>
          <p:nvPr/>
        </p:nvSpPr>
        <p:spPr>
          <a:xfrm>
            <a:off x="6347765" y="6062472"/>
            <a:ext cx="1143000" cy="512064"/>
          </a:xfrm>
          <a:prstGeom prst="roundRect">
            <a:avLst>
              <a:gd name="adj" fmla="val 12500"/>
            </a:avLst>
          </a:prstGeom>
          <a:solidFill>
            <a:srgbClr val="F1F3F4"/>
          </a:solidFill>
          <a:ln w="12700">
            <a:solidFill>
              <a:srgbClr val="DADCE0"/>
            </a:solidFill>
            <a:prstDash val="solid"/>
          </a:ln>
        </p:spPr>
      </p:sp>
      <p:sp>
        <p:nvSpPr>
          <p:cNvPr id="26" name="Text 24"/>
          <p:cNvSpPr/>
          <p:nvPr/>
        </p:nvSpPr>
        <p:spPr>
          <a:xfrm>
            <a:off x="643920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27" name="Shape 25"/>
          <p:cNvSpPr/>
          <p:nvPr/>
        </p:nvSpPr>
        <p:spPr>
          <a:xfrm>
            <a:off x="7627925" y="6062472"/>
            <a:ext cx="1143000" cy="512064"/>
          </a:xfrm>
          <a:prstGeom prst="roundRect">
            <a:avLst>
              <a:gd name="adj" fmla="val 12500"/>
            </a:avLst>
          </a:prstGeom>
          <a:solidFill>
            <a:srgbClr val="F1F3F4"/>
          </a:solidFill>
          <a:ln w="12700">
            <a:solidFill>
              <a:srgbClr val="DADCE0"/>
            </a:solidFill>
            <a:prstDash val="solid"/>
          </a:ln>
        </p:spPr>
      </p:sp>
      <p:sp>
        <p:nvSpPr>
          <p:cNvPr id="28" name="Text 26"/>
          <p:cNvSpPr/>
          <p:nvPr/>
        </p:nvSpPr>
        <p:spPr>
          <a:xfrm>
            <a:off x="771936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36.28…</a:t>
            </a:r>
            <a:endParaRPr lang="en-US" sz="1200" dirty="0"/>
          </a:p>
        </p:txBody>
      </p:sp>
      <p:sp>
        <p:nvSpPr>
          <p:cNvPr id="29" name="Text 27"/>
          <p:cNvSpPr/>
          <p:nvPr/>
        </p:nvSpPr>
        <p:spPr>
          <a:xfrm>
            <a:off x="8908085"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9 más</a:t>
            </a:r>
            <a:endParaRPr lang="en-US" sz="1200" dirty="0"/>
          </a:p>
        </p:txBody>
      </p:sp>
      <p:sp>
        <p:nvSpPr>
          <p:cNvPr id="30" name="Text 28"/>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mueve el deslizador a 7 y se vuelve a correr la celda.</a:t>
            </a:r>
            <a:endParaRPr lang="en-US" sz="1400" dirty="0"/>
          </a:p>
        </p:txBody>
      </p:sp>
      <p:sp>
        <p:nvSpPr>
          <p:cNvPr id="6" name="Shape 4"/>
          <p:cNvSpPr/>
          <p:nvPr/>
        </p:nvSpPr>
        <p:spPr>
          <a:xfrm>
            <a:off x="548640" y="1481328"/>
            <a:ext cx="11091672" cy="1783080"/>
          </a:xfrm>
          <a:prstGeom prst="roundRect">
            <a:avLst>
              <a:gd name="adj" fmla="val 307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59105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dias = 7 </a:t>
            </a:r>
            <a:pPr indent="0" marL="0">
              <a:buNone/>
            </a:pPr>
            <a:r>
              <a:rPr lang="en-US" sz="1200" dirty="0">
                <a:solidFill>
                  <a:srgbClr val="80868B"/>
                </a:solidFill>
                <a:latin typeface="Courier New" pitchFamily="34" charset="0"/>
                <a:ea typeface="Courier New" pitchFamily="34" charset="-122"/>
                <a:cs typeface="Courier New" pitchFamily="34" charset="-120"/>
              </a:rPr>
              <a:t>#@param {type:"slider", min:0, max:7, step:1}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fallas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"fallas_electricas.csv"</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a_tiempo = fallas[fallas[</a:t>
            </a:r>
            <a:pPr indent="0" marL="0">
              <a:buNone/>
            </a:pPr>
            <a:r>
              <a:rPr lang="en-US" sz="1200" dirty="0">
                <a:solidFill>
                  <a:srgbClr val="A31515"/>
                </a:solidFill>
                <a:latin typeface="Courier New" pitchFamily="34" charset="0"/>
                <a:ea typeface="Courier New" pitchFamily="34" charset="-122"/>
                <a:cs typeface="Courier New" pitchFamily="34" charset="-120"/>
              </a:rPr>
              <a:t>"dias_hasta_correctivo"</a:t>
            </a:r>
            <a:pPr indent="0" marL="0">
              <a:buNone/>
            </a:pPr>
            <a:r>
              <a:rPr lang="en-US" sz="1200" dirty="0">
                <a:solidFill>
                  <a:srgbClr val="202124"/>
                </a:solidFill>
                <a:latin typeface="Courier New" pitchFamily="34" charset="0"/>
                <a:ea typeface="Courier New" pitchFamily="34" charset="-122"/>
                <a:cs typeface="Courier New" pitchFamily="34" charset="-120"/>
              </a:rPr>
              <a:t>] &lt;= dias]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 100 * len(a_tiempo) /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"Fallas eléctricas"</a:t>
            </a:r>
            <a:pPr indent="0" marL="0">
              <a:buNone/>
            </a:pPr>
            <a:r>
              <a:rPr lang="en-US" sz="1200" dirty="0">
                <a:solidFill>
                  <a:srgbClr val="202124"/>
                </a:solidFill>
                <a:latin typeface="Courier New" pitchFamily="34" charset="0"/>
                <a:ea typeface="Courier New" pitchFamily="34" charset="-122"/>
                <a:cs typeface="Courier New" pitchFamily="34" charset="-120"/>
              </a:rPr>
              <a:t>, len(fallas))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"Con un correctivo dentro de {dias} días"</a:t>
            </a:r>
            <a:pPr indent="0" marL="0">
              <a:buNone/>
            </a:pPr>
            <a:r>
              <a:rPr lang="en-US" sz="1200" dirty="0">
                <a:solidFill>
                  <a:srgbClr val="202124"/>
                </a:solidFill>
                <a:latin typeface="Courier New" pitchFamily="34" charset="0"/>
                <a:ea typeface="Courier New" pitchFamily="34" charset="-122"/>
                <a:cs typeface="Courier New" pitchFamily="34" charset="-120"/>
              </a:rPr>
              <a:t>, len(a_tiempo))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"Porcentaje"</a:t>
            </a:r>
            <a:pPr indent="0" marL="0">
              <a:buNone/>
            </a:pPr>
            <a:r>
              <a:rPr lang="en-US" sz="1200" dirty="0">
                <a:solidFill>
                  <a:srgbClr val="202124"/>
                </a:solidFill>
                <a:latin typeface="Courier New" pitchFamily="34" charset="0"/>
                <a:ea typeface="Courier New" pitchFamily="34" charset="-122"/>
                <a:cs typeface="Courier New" pitchFamily="34" charset="-120"/>
              </a:rPr>
              <a:t>, round(porcentaje,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"Lo que se plantó al crear los datos, 70 por ciento"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dias</a:t>
            </a:r>
            <a:endParaRPr lang="en-US" sz="1100" dirty="0"/>
          </a:p>
        </p:txBody>
      </p:sp>
      <p:sp>
        <p:nvSpPr>
          <p:cNvPr id="11" name="Shape 9"/>
          <p:cNvSpPr/>
          <p:nvPr/>
        </p:nvSpPr>
        <p:spPr>
          <a:xfrm>
            <a:off x="8823960" y="2002536"/>
            <a:ext cx="1965960" cy="45720"/>
          </a:xfrm>
          <a:prstGeom prst="rect">
            <a:avLst/>
          </a:prstGeom>
          <a:solidFill>
            <a:srgbClr val="C4C7C5"/>
          </a:solidFill>
          <a:ln w="12700">
            <a:solidFill>
              <a:srgbClr val="C4C7C5"/>
            </a:solidFill>
            <a:prstDash val="solid"/>
          </a:ln>
        </p:spPr>
      </p:sp>
      <p:sp>
        <p:nvSpPr>
          <p:cNvPr id="12" name="Shape 10"/>
          <p:cNvSpPr/>
          <p:nvPr/>
        </p:nvSpPr>
        <p:spPr>
          <a:xfrm>
            <a:off x="8823960" y="2002536"/>
            <a:ext cx="1965960" cy="45720"/>
          </a:xfrm>
          <a:prstGeom prst="rect">
            <a:avLst/>
          </a:prstGeom>
          <a:solidFill>
            <a:srgbClr val="1A73E8"/>
          </a:solidFill>
          <a:ln w="12700">
            <a:solidFill>
              <a:srgbClr val="1A73E8"/>
            </a:solidFill>
            <a:prstDash val="solid"/>
          </a:ln>
        </p:spPr>
      </p:sp>
      <p:sp>
        <p:nvSpPr>
          <p:cNvPr id="13" name="Shape 11"/>
          <p:cNvSpPr/>
          <p:nvPr/>
        </p:nvSpPr>
        <p:spPr>
          <a:xfrm>
            <a:off x="10703052" y="1938528"/>
            <a:ext cx="173736" cy="173736"/>
          </a:xfrm>
          <a:prstGeom prst="ellipse">
            <a:avLst/>
          </a:prstGeom>
          <a:solidFill>
            <a:srgbClr val="1A73E8"/>
          </a:solidFill>
          <a:ln w="12700">
            <a:solidFill>
              <a:srgbClr val="1A73E8"/>
            </a:solidFill>
            <a:prstDash val="solid"/>
          </a:ln>
        </p:spPr>
      </p:sp>
      <p:sp>
        <p:nvSpPr>
          <p:cNvPr id="14" name="Text 12"/>
          <p:cNvSpPr/>
          <p:nvPr/>
        </p:nvSpPr>
        <p:spPr>
          <a:xfrm>
            <a:off x="10972800" y="1892808"/>
            <a:ext cx="502920" cy="274320"/>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7</a:t>
            </a:r>
            <a:endParaRPr lang="en-US" sz="1200" dirty="0"/>
          </a:p>
        </p:txBody>
      </p:sp>
      <p:sp>
        <p:nvSpPr>
          <p:cNvPr id="15" name="Shape 13"/>
          <p:cNvSpPr/>
          <p:nvPr/>
        </p:nvSpPr>
        <p:spPr>
          <a:xfrm>
            <a:off x="1325880" y="3374136"/>
            <a:ext cx="10314432" cy="976579"/>
          </a:xfrm>
          <a:prstGeom prst="rect">
            <a:avLst/>
          </a:prstGeom>
          <a:solidFill>
            <a:srgbClr val="FFFFFF"/>
          </a:solidFill>
          <a:ln w="12700">
            <a:solidFill>
              <a:srgbClr val="DADCE0"/>
            </a:solidFill>
            <a:prstDash val="solid"/>
          </a:ln>
        </p:spPr>
      </p:sp>
      <p:sp>
        <p:nvSpPr>
          <p:cNvPr id="16" name="Text 14"/>
          <p:cNvSpPr/>
          <p:nvPr/>
        </p:nvSpPr>
        <p:spPr>
          <a:xfrm>
            <a:off x="1463040" y="3447288"/>
            <a:ext cx="10085832" cy="848563"/>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Fallas eléctricas 47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 un correctivo dentro de 7 días 34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Porcentaje 72.3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Lo que se plantó al crear los datos, 70 por ciento</a:t>
            </a:r>
            <a:endParaRPr lang="en-US" sz="1200" dirty="0"/>
          </a:p>
        </p:txBody>
      </p:sp>
      <p:sp>
        <p:nvSpPr>
          <p:cNvPr id="17" name="Text 15"/>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6"/>
          <p:cNvSpPr/>
          <p:nvPr/>
        </p:nvSpPr>
        <p:spPr>
          <a:xfrm>
            <a:off x="548640" y="6062472"/>
            <a:ext cx="1143000" cy="512064"/>
          </a:xfrm>
          <a:prstGeom prst="roundRect">
            <a:avLst>
              <a:gd name="adj" fmla="val 12500"/>
            </a:avLst>
          </a:prstGeom>
          <a:solidFill>
            <a:srgbClr val="FEF3D6"/>
          </a:solidFill>
          <a:ln w="25400">
            <a:solidFill>
              <a:srgbClr val="F9AB00"/>
            </a:solidFill>
            <a:prstDash val="solid"/>
          </a:ln>
        </p:spPr>
      </p:sp>
      <p:sp>
        <p:nvSpPr>
          <p:cNvPr id="19" name="Text 17"/>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a:t>
            </a:r>
            <a:endParaRPr lang="en-US" sz="1200" dirty="0"/>
          </a:p>
        </p:txBody>
      </p:sp>
      <p:sp>
        <p:nvSpPr>
          <p:cNvPr id="20" name="Shape 18"/>
          <p:cNvSpPr/>
          <p:nvPr/>
        </p:nvSpPr>
        <p:spPr>
          <a:xfrm>
            <a:off x="1828800" y="6062472"/>
            <a:ext cx="1431950" cy="512064"/>
          </a:xfrm>
          <a:prstGeom prst="roundRect">
            <a:avLst>
              <a:gd name="adj" fmla="val 12500"/>
            </a:avLst>
          </a:prstGeom>
          <a:solidFill>
            <a:srgbClr val="FEF3D6"/>
          </a:solidFill>
          <a:ln w="25400">
            <a:solidFill>
              <a:srgbClr val="F9AB00"/>
            </a:solidFill>
            <a:prstDash val="solid"/>
          </a:ln>
        </p:spPr>
      </p:sp>
      <p:sp>
        <p:nvSpPr>
          <p:cNvPr id="21" name="Text 19"/>
          <p:cNvSpPr/>
          <p:nvPr/>
        </p:nvSpPr>
        <p:spPr>
          <a:xfrm>
            <a:off x="192024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22" name="Shape 20"/>
          <p:cNvSpPr/>
          <p:nvPr/>
        </p:nvSpPr>
        <p:spPr>
          <a:xfrm>
            <a:off x="3397910" y="6062472"/>
            <a:ext cx="1243584" cy="512064"/>
          </a:xfrm>
          <a:prstGeom prst="roundRect">
            <a:avLst>
              <a:gd name="adj" fmla="val 12500"/>
            </a:avLst>
          </a:prstGeom>
          <a:solidFill>
            <a:srgbClr val="FEF3D6"/>
          </a:solidFill>
          <a:ln w="25400">
            <a:solidFill>
              <a:srgbClr val="F9AB00"/>
            </a:solidFill>
            <a:prstDash val="solid"/>
          </a:ln>
        </p:spPr>
      </p:sp>
      <p:sp>
        <p:nvSpPr>
          <p:cNvPr id="23" name="Text 21"/>
          <p:cNvSpPr/>
          <p:nvPr/>
        </p:nvSpPr>
        <p:spPr>
          <a:xfrm>
            <a:off x="3489350"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24" name="Shape 22"/>
          <p:cNvSpPr/>
          <p:nvPr/>
        </p:nvSpPr>
        <p:spPr>
          <a:xfrm>
            <a:off x="4778654" y="6062472"/>
            <a:ext cx="2750515" cy="512064"/>
          </a:xfrm>
          <a:prstGeom prst="roundRect">
            <a:avLst>
              <a:gd name="adj" fmla="val 12500"/>
            </a:avLst>
          </a:prstGeom>
          <a:solidFill>
            <a:srgbClr val="E8F0FE"/>
          </a:solidFill>
          <a:ln w="28575">
            <a:solidFill>
              <a:srgbClr val="1A73E8"/>
            </a:solidFill>
            <a:prstDash val="solid"/>
          </a:ln>
        </p:spPr>
      </p:sp>
      <p:sp>
        <p:nvSpPr>
          <p:cNvPr id="25" name="Text 23"/>
          <p:cNvSpPr/>
          <p:nvPr/>
        </p:nvSpPr>
        <p:spPr>
          <a:xfrm>
            <a:off x="4870094"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6" name="Shape 24"/>
          <p:cNvSpPr/>
          <p:nvPr/>
        </p:nvSpPr>
        <p:spPr>
          <a:xfrm>
            <a:off x="7666330" y="6062472"/>
            <a:ext cx="1143000" cy="512064"/>
          </a:xfrm>
          <a:prstGeom prst="roundRect">
            <a:avLst>
              <a:gd name="adj" fmla="val 12500"/>
            </a:avLst>
          </a:prstGeom>
          <a:solidFill>
            <a:srgbClr val="E8F0FE"/>
          </a:solidFill>
          <a:ln w="28575">
            <a:solidFill>
              <a:srgbClr val="1A73E8"/>
            </a:solidFill>
            <a:prstDash val="solid"/>
          </a:ln>
        </p:spPr>
      </p:sp>
      <p:sp>
        <p:nvSpPr>
          <p:cNvPr id="27" name="Text 25"/>
          <p:cNvSpPr/>
          <p:nvPr/>
        </p:nvSpPr>
        <p:spPr>
          <a:xfrm>
            <a:off x="775777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8" name="Text 26"/>
          <p:cNvSpPr/>
          <p:nvPr/>
        </p:nvSpPr>
        <p:spPr>
          <a:xfrm>
            <a:off x="8946490"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
        <p:nvSpPr>
          <p:cNvPr id="29" name="Text 27"/>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7 días da lo mismo que con 3, el 72,3 por ciento.</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¿en cuántos días llega el correctivo?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La ventana la decide quien analiza.</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Con 0 días da 14,9 por ciento y con 3 días 72,3. Por eso la ventana se escribe junto con el resultado.</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143000"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a:t>
            </a:r>
            <a:endParaRPr lang="en-US" sz="1200" dirty="0"/>
          </a:p>
        </p:txBody>
      </p:sp>
      <p:sp>
        <p:nvSpPr>
          <p:cNvPr id="12" name="Shape 10"/>
          <p:cNvSpPr/>
          <p:nvPr/>
        </p:nvSpPr>
        <p:spPr>
          <a:xfrm>
            <a:off x="1828800" y="6062472"/>
            <a:ext cx="1431950"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192024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14" name="Shape 12"/>
          <p:cNvSpPr/>
          <p:nvPr/>
        </p:nvSpPr>
        <p:spPr>
          <a:xfrm>
            <a:off x="3397910" y="6062472"/>
            <a:ext cx="1243584"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3489350"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16" name="Shape 14"/>
          <p:cNvSpPr/>
          <p:nvPr/>
        </p:nvSpPr>
        <p:spPr>
          <a:xfrm>
            <a:off x="4778654" y="6062472"/>
            <a:ext cx="2750515" cy="512064"/>
          </a:xfrm>
          <a:prstGeom prst="roundRect">
            <a:avLst>
              <a:gd name="adj" fmla="val 12500"/>
            </a:avLst>
          </a:prstGeom>
          <a:solidFill>
            <a:srgbClr val="E8F0FE"/>
          </a:solidFill>
          <a:ln w="28575">
            <a:solidFill>
              <a:srgbClr val="1A73E8"/>
            </a:solidFill>
            <a:prstDash val="solid"/>
          </a:ln>
        </p:spPr>
      </p:sp>
      <p:sp>
        <p:nvSpPr>
          <p:cNvPr id="17" name="Text 15"/>
          <p:cNvSpPr/>
          <p:nvPr/>
        </p:nvSpPr>
        <p:spPr>
          <a:xfrm>
            <a:off x="4870094"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8" name="Shape 16"/>
          <p:cNvSpPr/>
          <p:nvPr/>
        </p:nvSpPr>
        <p:spPr>
          <a:xfrm>
            <a:off x="7666330" y="6062472"/>
            <a:ext cx="1143000" cy="512064"/>
          </a:xfrm>
          <a:prstGeom prst="roundRect">
            <a:avLst>
              <a:gd name="adj" fmla="val 12500"/>
            </a:avLst>
          </a:prstGeom>
          <a:solidFill>
            <a:srgbClr val="E8F0FE"/>
          </a:solidFill>
          <a:ln w="28575">
            <a:solidFill>
              <a:srgbClr val="1A73E8"/>
            </a:solidFill>
            <a:prstDash val="solid"/>
          </a:ln>
        </p:spPr>
      </p:sp>
      <p:sp>
        <p:nvSpPr>
          <p:cNvPr id="19" name="Text 17"/>
          <p:cNvSpPr/>
          <p:nvPr/>
        </p:nvSpPr>
        <p:spPr>
          <a:xfrm>
            <a:off x="7757770"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0" name="Text 18"/>
          <p:cNvSpPr/>
          <p:nvPr/>
        </p:nvSpPr>
        <p:spPr>
          <a:xfrm>
            <a:off x="8946490"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9AB00"/>
        </a:solidFill>
      </p:bgPr>
    </p:bg>
    <p:spTree>
      <p:nvGrpSpPr>
        <p:cNvPr id="1" name=""/>
        <p:cNvGrpSpPr/>
        <p:nvPr/>
      </p:nvGrpSpPr>
      <p:grpSpPr>
        <a:xfrm>
          <a:off x="0" y="0"/>
          <a:ext cx="0" cy="0"/>
          <a:chOff x="0" y="0"/>
          <a:chExt cx="0" cy="0"/>
        </a:xfrm>
      </p:grpSpPr>
      <p:sp>
        <p:nvSpPr>
          <p:cNvPr id="2" name="Text 0"/>
          <p:cNvSpPr/>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0B3D62"/>
                </a:solidFill>
                <a:latin typeface="Calibri" pitchFamily="34" charset="0"/>
                <a:ea typeface="Calibri" pitchFamily="34" charset="-122"/>
                <a:cs typeface="Calibri" pitchFamily="34" charset="-120"/>
              </a:rPr>
              <a:t>PARTE 2 · PARA LA CASA</a:t>
            </a:r>
            <a:endParaRPr lang="en-US" sz="4400" dirty="0"/>
          </a:p>
        </p:txBody>
      </p:sp>
      <p:sp>
        <p:nvSpPr>
          <p:cNvPr id="3" name="Text 1"/>
          <p:cNvSpPr/>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0B3D62"/>
                </a:solidFill>
                <a:latin typeface="Calibri" pitchFamily="34" charset="0"/>
                <a:ea typeface="Calibri" pitchFamily="34" charset="-122"/>
                <a:cs typeface="Calibri" pitchFamily="34" charset="-120"/>
              </a:rPr>
              <a:t>No se ve en clase. Cada estudio viene explicado en las láminas que siguen, con la guía como apoyo.</a:t>
            </a:r>
            <a:endParaRPr lang="en-US" sz="2000" dirty="0"/>
          </a:p>
        </p:txBody>
      </p:sp>
      <p:sp>
        <p:nvSpPr>
          <p:cNvPr id="4" name="Shape 2"/>
          <p:cNvSpPr/>
          <p:nvPr/>
        </p:nvSpPr>
        <p:spPr>
          <a:xfrm>
            <a:off x="731520" y="2240280"/>
            <a:ext cx="548640" cy="548640"/>
          </a:xfrm>
          <a:prstGeom prst="ellipse">
            <a:avLst/>
          </a:prstGeom>
          <a:solidFill>
            <a:srgbClr val="0B3D62"/>
          </a:solidFill>
          <a:ln w="12700">
            <a:solidFill>
              <a:srgbClr val="0B3D62"/>
            </a:solidFill>
            <a:prstDash val="solid"/>
          </a:ln>
        </p:spPr>
      </p:sp>
      <p:sp>
        <p:nvSpPr>
          <p:cNvPr id="5" name="Text 3"/>
          <p:cNvSpPr/>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1   </a:t>
            </a:r>
            <a:pPr indent="0" marL="0">
              <a:buNone/>
            </a:pPr>
            <a:r>
              <a:rPr lang="en-US" sz="2400" dirty="0">
                <a:solidFill>
                  <a:srgbClr val="0B3D62"/>
                </a:solidFill>
                <a:latin typeface="Calibri" pitchFamily="34" charset="0"/>
                <a:ea typeface="Calibri" pitchFamily="34" charset="-122"/>
                <a:cs typeface="Calibri" pitchFamily="34" charset="-120"/>
              </a:rPr>
              <a:t>¿Cuánto dura cada tipo de evento?</a:t>
            </a:r>
            <a:endParaRPr lang="en-US" sz="2400" dirty="0"/>
          </a:p>
        </p:txBody>
      </p:sp>
      <p:sp>
        <p:nvSpPr>
          <p:cNvPr id="7" name="Shape 5"/>
          <p:cNvSpPr/>
          <p:nvPr/>
        </p:nvSpPr>
        <p:spPr>
          <a:xfrm>
            <a:off x="731520" y="3017520"/>
            <a:ext cx="548640" cy="548640"/>
          </a:xfrm>
          <a:prstGeom prst="ellipse">
            <a:avLst/>
          </a:prstGeom>
          <a:solidFill>
            <a:srgbClr val="0B3D62"/>
          </a:solidFill>
          <a:ln w="12700">
            <a:solidFill>
              <a:srgbClr val="0B3D62"/>
            </a:solidFill>
            <a:prstDash val="solid"/>
          </a:ln>
        </p:spPr>
      </p:sp>
      <p:sp>
        <p:nvSpPr>
          <p:cNvPr id="8" name="Text 6"/>
          <p:cNvSpPr/>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9" name="Text 7"/>
          <p:cNvSpPr/>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2   </a:t>
            </a:r>
            <a:pPr indent="0" marL="0">
              <a:buNone/>
            </a:pPr>
            <a:r>
              <a:rPr lang="en-US" sz="2400" dirty="0">
                <a:solidFill>
                  <a:srgbClr val="0B3D62"/>
                </a:solidFill>
                <a:latin typeface="Calibri" pitchFamily="34" charset="0"/>
                <a:ea typeface="Calibri" pitchFamily="34" charset="-122"/>
                <a:cs typeface="Calibri" pitchFamily="34" charset="-120"/>
              </a:rPr>
              <a:t>Tu turno, mira qué le pasa a cada tecnología</a:t>
            </a:r>
            <a:endParaRPr lang="en-US" sz="2400" dirty="0"/>
          </a:p>
        </p:txBody>
      </p:sp>
      <p:sp>
        <p:nvSpPr>
          <p:cNvPr id="10" name="Shape 8"/>
          <p:cNvSpPr/>
          <p:nvPr/>
        </p:nvSpPr>
        <p:spPr>
          <a:xfrm>
            <a:off x="731520" y="3794760"/>
            <a:ext cx="548640" cy="548640"/>
          </a:xfrm>
          <a:prstGeom prst="ellipse">
            <a:avLst/>
          </a:prstGeom>
          <a:solidFill>
            <a:srgbClr val="0B3D62"/>
          </a:solidFill>
          <a:ln w="12700">
            <a:solidFill>
              <a:srgbClr val="0B3D62"/>
            </a:solidFill>
            <a:prstDash val="solid"/>
          </a:ln>
        </p:spPr>
      </p:sp>
      <p:sp>
        <p:nvSpPr>
          <p:cNvPr id="11" name="Text 9"/>
          <p:cNvSpPr/>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 10"/>
          <p:cNvSpPr/>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3   </a:t>
            </a:r>
            <a:pPr indent="0" marL="0">
              <a:buNone/>
            </a:pPr>
            <a:r>
              <a:rPr lang="en-US" sz="2400" dirty="0">
                <a:solidFill>
                  <a:srgbClr val="0B3D62"/>
                </a:solidFill>
                <a:latin typeface="Calibri" pitchFamily="34" charset="0"/>
                <a:ea typeface="Calibri" pitchFamily="34" charset="-122"/>
                <a:cs typeface="Calibri" pitchFamily="34" charset="-120"/>
              </a:rPr>
              <a:t>Tu turno, ¿qué eventos acompañan a cada uno?</a:t>
            </a:r>
            <a:endParaRPr lang="en-US" sz="2400" dirty="0"/>
          </a:p>
        </p:txBody>
      </p:sp>
      <p:sp>
        <p:nvSpPr>
          <p:cNvPr id="13" name="Shape 11"/>
          <p:cNvSpPr/>
          <p:nvPr/>
        </p:nvSpPr>
        <p:spPr>
          <a:xfrm>
            <a:off x="731520" y="4572000"/>
            <a:ext cx="548640" cy="548640"/>
          </a:xfrm>
          <a:prstGeom prst="ellipse">
            <a:avLst/>
          </a:prstGeom>
          <a:solidFill>
            <a:srgbClr val="0B3D62"/>
          </a:solidFill>
          <a:ln w="12700">
            <a:solidFill>
              <a:srgbClr val="0B3D62"/>
            </a:solidFill>
            <a:prstDash val="solid"/>
          </a:ln>
        </p:spPr>
      </p:sp>
      <p:sp>
        <p:nvSpPr>
          <p:cNvPr id="14" name="Text 12"/>
          <p:cNvSpPr/>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5" name="Text 13"/>
          <p:cNvSpPr/>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4   </a:t>
            </a:r>
            <a:pPr indent="0" marL="0">
              <a:buNone/>
            </a:pPr>
            <a:r>
              <a:rPr lang="en-US" sz="2400" dirty="0">
                <a:solidFill>
                  <a:srgbClr val="0B3D62"/>
                </a:solidFill>
                <a:latin typeface="Calibri" pitchFamily="34" charset="0"/>
                <a:ea typeface="Calibri" pitchFamily="34" charset="-122"/>
                <a:cs typeface="Calibri" pitchFamily="34" charset="-120"/>
              </a:rPr>
              <a:t>Tu turno, ¿qué viene después de cada evento?</a:t>
            </a:r>
            <a:endParaRPr lang="en-US" sz="2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cuánto dura cada tipo de evento.</a:t>
            </a:r>
            <a:endParaRPr lang="en-US" sz="1400" dirty="0"/>
          </a:p>
        </p:txBody>
      </p:sp>
      <p:pic>
        <p:nvPicPr>
          <p:cNvPr id="6" name="Image 0" descr="../work35/modulos/modulo04/img/lab04_estudio1_duracion.png">    </p:cNvPr>
          <p:cNvPicPr>
            <a:picLocks noChangeAspect="1"/>
          </p:cNvPicPr>
          <p:nvPr/>
        </p:nvPicPr>
        <p:blipFill>
          <a:blip r:embed="rId1"/>
          <a:stretch>
            <a:fillRect/>
          </a:stretch>
        </p:blipFill>
        <p:spPr>
          <a:xfrm>
            <a:off x="548640" y="1463040"/>
            <a:ext cx="11091672" cy="4055172"/>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1700213"/>
          </a:xfrm>
          <a:prstGeom prst="roundRect">
            <a:avLst>
              <a:gd name="adj" fmla="val 3227"/>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10085832" cy="1508189"/>
          </a:xfrm>
          <a:prstGeom prst="rect">
            <a:avLst/>
          </a:prstGeom>
          <a:noFill/>
          <a:ln/>
        </p:spPr>
        <p:txBody>
          <a:bodyPr wrap="square" lIns="0" tIns="0" rIns="0" bIns="0" rtlCol="0" anchor="t"/>
          <a:lstStyle/>
          <a:p>
            <a:pPr indent="0" marL="0">
              <a:buNone/>
            </a:pPr>
            <a:r>
              <a:rPr lang="en-US" sz="1300" dirty="0">
                <a:solidFill>
                  <a:srgbClr val="188038"/>
                </a:solidFill>
                <a:latin typeface="Courier New" pitchFamily="34" charset="0"/>
                <a:ea typeface="Courier New" pitchFamily="34" charset="-122"/>
                <a:cs typeface="Courier New" pitchFamily="34" charset="-120"/>
              </a:rPr>
              <a:t># Estudio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 = mant.groupby(</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"duracion_horas"</a:t>
            </a:r>
            <a:pPr indent="0" marL="0">
              <a:buNone/>
            </a:pPr>
            <a:r>
              <a:rPr lang="en-US" sz="1300" dirty="0">
                <a:solidFill>
                  <a:srgbClr val="202124"/>
                </a:solidFill>
                <a:latin typeface="Courier New" pitchFamily="34" charset="0"/>
                <a:ea typeface="Courier New" pitchFamily="34" charset="-122"/>
                <a:cs typeface="Courier New" pitchFamily="34" charset="-120"/>
              </a:rPr>
              <a:t>].agg(</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eventos=</a:t>
            </a:r>
            <a:pPr indent="0" marL="0">
              <a:buNone/>
            </a:pPr>
            <a:r>
              <a:rPr lang="en-US" sz="1300" dirty="0">
                <a:solidFill>
                  <a:srgbClr val="A31515"/>
                </a:solidFill>
                <a:latin typeface="Courier New" pitchFamily="34" charset="0"/>
                <a:ea typeface="Courier New" pitchFamily="34" charset="-122"/>
                <a:cs typeface="Courier New" pitchFamily="34" charset="-120"/>
              </a:rPr>
              <a:t>"count"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horas_promedio=</a:t>
            </a:r>
            <a:pPr indent="0" marL="0">
              <a:buNone/>
            </a:pPr>
            <a:r>
              <a:rPr lang="en-US" sz="1300" dirty="0">
                <a:solidFill>
                  <a:srgbClr val="A31515"/>
                </a:solidFill>
                <a:latin typeface="Courier New" pitchFamily="34" charset="0"/>
                <a:ea typeface="Courier New" pitchFamily="34" charset="-122"/>
                <a:cs typeface="Courier New" pitchFamily="34" charset="-120"/>
              </a:rPr>
              <a:t>"mean"</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horas_maximo=</a:t>
            </a:r>
            <a:pPr indent="0" marL="0">
              <a:buNone/>
            </a:pPr>
            <a:r>
              <a:rPr lang="en-US" sz="1300" dirty="0">
                <a:solidFill>
                  <a:srgbClr val="A31515"/>
                </a:solidFill>
                <a:latin typeface="Courier New" pitchFamily="34" charset="0"/>
                <a:ea typeface="Courier New" pitchFamily="34" charset="-122"/>
                <a:cs typeface="Courier New" pitchFamily="34" charset="-120"/>
              </a:rPr>
              <a:t>"max"</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300" dirty="0">
                <a:solidFill>
                  <a:srgbClr val="A31515"/>
                </a:solidFill>
                <a:latin typeface="Courier New" pitchFamily="34" charset="0"/>
                <a:ea typeface="Courier New" pitchFamily="34" charset="-122"/>
                <a:cs typeface="Courier New" pitchFamily="34" charset="-120"/>
              </a:rPr>
              <a:t>"eventos"</a:t>
            </a:r>
            <a:pPr indent="0" marL="0">
              <a:buNone/>
            </a:pPr>
            <a:r>
              <a:rPr lang="en-US" sz="1300" dirty="0">
                <a:solidFill>
                  <a:srgbClr val="202124"/>
                </a:solidFill>
                <a:latin typeface="Courier New" pitchFamily="34" charset="0"/>
                <a:ea typeface="Courier New" pitchFamily="34" charset="-122"/>
                <a:cs typeface="Courier New" pitchFamily="34" charset="-120"/>
              </a:rPr>
              <a:t>, ascending=False)</a:t>
            </a:r>
            <a:endParaRPr lang="en-US" sz="1300" dirty="0"/>
          </a:p>
        </p:txBody>
      </p:sp>
      <p:sp>
        <p:nvSpPr>
          <p:cNvPr id="10" name="Text 8"/>
          <p:cNvSpPr/>
          <p:nvPr/>
        </p:nvSpPr>
        <p:spPr>
          <a:xfrm>
            <a:off x="1325880" y="3208973"/>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1" name="Text 9"/>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10"/>
          <p:cNvSpPr/>
          <p:nvPr/>
        </p:nvSpPr>
        <p:spPr>
          <a:xfrm>
            <a:off x="548640" y="6062472"/>
            <a:ext cx="1243584" cy="512064"/>
          </a:xfrm>
          <a:prstGeom prst="roundRect">
            <a:avLst>
              <a:gd name="adj" fmla="val 12500"/>
            </a:avLst>
          </a:prstGeom>
          <a:solidFill>
            <a:srgbClr val="F1F3F4"/>
          </a:solidFill>
          <a:ln w="12700">
            <a:solidFill>
              <a:srgbClr val="DADCE0"/>
            </a:solidFill>
            <a:prstDash val="solid"/>
          </a:ln>
        </p:spPr>
      </p:sp>
      <p:sp>
        <p:nvSpPr>
          <p:cNvPr id="13" name="Text 11"/>
          <p:cNvSpPr/>
          <p:nvPr/>
        </p:nvSpPr>
        <p:spPr>
          <a:xfrm>
            <a:off x="640080"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14" name="Shape 12"/>
          <p:cNvSpPr/>
          <p:nvPr/>
        </p:nvSpPr>
        <p:spPr>
          <a:xfrm>
            <a:off x="1929384" y="6062472"/>
            <a:ext cx="1431950" cy="512064"/>
          </a:xfrm>
          <a:prstGeom prst="roundRect">
            <a:avLst>
              <a:gd name="adj" fmla="val 12500"/>
            </a:avLst>
          </a:prstGeom>
          <a:solidFill>
            <a:srgbClr val="F1F3F4"/>
          </a:solidFill>
          <a:ln w="12700">
            <a:solidFill>
              <a:srgbClr val="DADCE0"/>
            </a:solidFill>
            <a:prstDash val="solid"/>
          </a:ln>
        </p:spPr>
      </p:sp>
      <p:sp>
        <p:nvSpPr>
          <p:cNvPr id="15" name="Text 13"/>
          <p:cNvSpPr/>
          <p:nvPr/>
        </p:nvSpPr>
        <p:spPr>
          <a:xfrm>
            <a:off x="2020824"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16" name="Shape 14"/>
          <p:cNvSpPr/>
          <p:nvPr/>
        </p:nvSpPr>
        <p:spPr>
          <a:xfrm>
            <a:off x="3498494" y="6062472"/>
            <a:ext cx="1431950"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3589934"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18" name="Shape 16"/>
          <p:cNvSpPr/>
          <p:nvPr/>
        </p:nvSpPr>
        <p:spPr>
          <a:xfrm>
            <a:off x="5067605" y="6062472"/>
            <a:ext cx="1143000"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515904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a:t>
            </a:r>
            <a:endParaRPr lang="en-US" sz="1200" dirty="0"/>
          </a:p>
        </p:txBody>
      </p:sp>
      <p:sp>
        <p:nvSpPr>
          <p:cNvPr id="20" name="Shape 18"/>
          <p:cNvSpPr/>
          <p:nvPr/>
        </p:nvSpPr>
        <p:spPr>
          <a:xfrm>
            <a:off x="6347765" y="6062472"/>
            <a:ext cx="114300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643920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22" name="Shape 20"/>
          <p:cNvSpPr/>
          <p:nvPr/>
        </p:nvSpPr>
        <p:spPr>
          <a:xfrm>
            <a:off x="7627925" y="6062472"/>
            <a:ext cx="1143000"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771936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normal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36.28…</a:t>
            </a:r>
            <a:endParaRPr lang="en-US" sz="1200" dirty="0"/>
          </a:p>
        </p:txBody>
      </p:sp>
      <p:sp>
        <p:nvSpPr>
          <p:cNvPr id="24" name="Text 22"/>
          <p:cNvSpPr/>
          <p:nvPr/>
        </p:nvSpPr>
        <p:spPr>
          <a:xfrm>
            <a:off x="8908085"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9 más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1463040"/>
          </a:xfrm>
          <a:prstGeom prst="roundRect">
            <a:avLst>
              <a:gd name="adj" fmla="val 3750"/>
            </a:avLst>
          </a:prstGeom>
          <a:solidFill>
            <a:srgbClr val="F8F9FA"/>
          </a:solidFill>
          <a:ln w="12700">
            <a:solidFill>
              <a:srgbClr val="DADCE0"/>
            </a:solidFill>
            <a:prstDash val="solid"/>
          </a:ln>
        </p:spPr>
      </p:sp>
      <p:sp>
        <p:nvSpPr>
          <p:cNvPr id="7" name="Text 5"/>
          <p:cNvSpPr/>
          <p:nvPr/>
        </p:nvSpPr>
        <p:spPr>
          <a:xfrm>
            <a:off x="822960" y="1531620"/>
            <a:ext cx="10634472" cy="1325880"/>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resumen = mant.groupby(</a:t>
            </a:r>
            <a:pPr indent="0" marL="0">
              <a:buNone/>
            </a:pPr>
            <a:r>
              <a:rPr lang="en-US" sz="1600" dirty="0">
                <a:solidFill>
                  <a:srgbClr val="A31515"/>
                </a:solidFill>
                <a:latin typeface="Courier New" pitchFamily="34" charset="0"/>
                <a:ea typeface="Courier New" pitchFamily="34" charset="-122"/>
                <a:cs typeface="Courier New" pitchFamily="34" charset="-120"/>
              </a:rPr>
              <a:t>"tipo_evento"</a:t>
            </a:r>
            <a:pPr indent="0" marL="0">
              <a:buNone/>
            </a:pPr>
            <a:r>
              <a:rPr lang="en-US" sz="1600" dirty="0">
                <a:solidFill>
                  <a:srgbClr val="202124"/>
                </a:solidFill>
                <a:latin typeface="Courier New" pitchFamily="34" charset="0"/>
                <a:ea typeface="Courier New" pitchFamily="34" charset="-122"/>
                <a:cs typeface="Courier New" pitchFamily="34" charset="-120"/>
              </a:rPr>
              <a:t>)[</a:t>
            </a:r>
            <a:pPr indent="0" marL="0">
              <a:buNone/>
            </a:pPr>
            <a:r>
              <a:rPr lang="en-US" sz="1600" dirty="0">
                <a:solidFill>
                  <a:srgbClr val="A31515"/>
                </a:solidFill>
                <a:latin typeface="Courier New" pitchFamily="34" charset="0"/>
                <a:ea typeface="Courier New" pitchFamily="34" charset="-122"/>
                <a:cs typeface="Courier New" pitchFamily="34" charset="-120"/>
              </a:rPr>
              <a:t>"duracion_horas"</a:t>
            </a:r>
            <a:pPr indent="0" marL="0">
              <a:buNone/>
            </a:pPr>
            <a:r>
              <a:rPr lang="en-US" sz="1600" dirty="0">
                <a:solidFill>
                  <a:srgbClr val="202124"/>
                </a:solidFill>
                <a:latin typeface="Courier New" pitchFamily="34" charset="0"/>
                <a:ea typeface="Courier New" pitchFamily="34" charset="-122"/>
                <a:cs typeface="Courier New" pitchFamily="34" charset="-120"/>
              </a:rPr>
              <a:t>].agg(</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eventos=</a:t>
            </a:r>
            <a:pPr indent="0" marL="0">
              <a:buNone/>
            </a:pPr>
            <a:r>
              <a:rPr lang="en-US" sz="1600" dirty="0">
                <a:solidFill>
                  <a:srgbClr val="A31515"/>
                </a:solidFill>
                <a:latin typeface="Courier New" pitchFamily="34" charset="0"/>
                <a:ea typeface="Courier New" pitchFamily="34" charset="-122"/>
                <a:cs typeface="Courier New" pitchFamily="34" charset="-120"/>
              </a:rPr>
              <a:t>"count"</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horas_promedio=</a:t>
            </a:r>
            <a:pPr indent="0" marL="0">
              <a:buNone/>
            </a:pPr>
            <a:r>
              <a:rPr lang="en-US" sz="1600" dirty="0">
                <a:solidFill>
                  <a:srgbClr val="A31515"/>
                </a:solidFill>
                <a:latin typeface="Courier New" pitchFamily="34" charset="0"/>
                <a:ea typeface="Courier New" pitchFamily="34" charset="-122"/>
                <a:cs typeface="Courier New" pitchFamily="34" charset="-120"/>
              </a:rPr>
              <a:t>"mean"</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horas_maximo=</a:t>
            </a:r>
            <a:pPr indent="0" marL="0">
              <a:buNone/>
            </a:pPr>
            <a:r>
              <a:rPr lang="en-US" sz="1600" dirty="0">
                <a:solidFill>
                  <a:srgbClr val="A31515"/>
                </a:solidFill>
                <a:latin typeface="Courier New" pitchFamily="34" charset="0"/>
                <a:ea typeface="Courier New" pitchFamily="34" charset="-122"/>
                <a:cs typeface="Courier New" pitchFamily="34" charset="-120"/>
              </a:rPr>
              <a:t>"max"</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3300984"/>
            <a:ext cx="329184" cy="329184"/>
          </a:xfrm>
          <a:prstGeom prst="ellipse">
            <a:avLst/>
          </a:prstGeom>
          <a:solidFill>
            <a:srgbClr val="1A6FD4"/>
          </a:solidFill>
          <a:ln w="12700">
            <a:solidFill>
              <a:srgbClr val="1A6FD4"/>
            </a:solidFill>
            <a:prstDash val="solid"/>
          </a:ln>
        </p:spPr>
      </p:sp>
      <p:sp>
        <p:nvSpPr>
          <p:cNvPr id="9" name="Text 7"/>
          <p:cNvSpPr/>
          <p:nvPr/>
        </p:nvSpPr>
        <p:spPr>
          <a:xfrm>
            <a:off x="548640" y="33009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3200400"/>
            <a:ext cx="4937760" cy="530352"/>
          </a:xfrm>
          <a:prstGeom prst="roundRect">
            <a:avLst>
              <a:gd name="adj" fmla="val 8621"/>
            </a:avLst>
          </a:prstGeom>
          <a:solidFill>
            <a:srgbClr val="DBE9FB"/>
          </a:solidFill>
          <a:ln w="12700">
            <a:solidFill>
              <a:srgbClr val="DBE9FB"/>
            </a:solidFill>
            <a:prstDash val="solid"/>
          </a:ln>
        </p:spPr>
      </p:sp>
      <p:sp>
        <p:nvSpPr>
          <p:cNvPr id="11" name="Text 9"/>
          <p:cNvSpPr/>
          <p:nvPr/>
        </p:nvSpPr>
        <p:spPr>
          <a:xfrm>
            <a:off x="1170432" y="3200400"/>
            <a:ext cx="4754880" cy="530352"/>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.groupby("tipo_evento")["duracion_horas"]</a:t>
            </a:r>
            <a:endParaRPr lang="en-US" sz="1200" dirty="0"/>
          </a:p>
        </p:txBody>
      </p:sp>
      <p:sp>
        <p:nvSpPr>
          <p:cNvPr id="12" name="Text 10"/>
          <p:cNvSpPr/>
          <p:nvPr/>
        </p:nvSpPr>
        <p:spPr>
          <a:xfrm>
            <a:off x="6263640" y="320040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Separa los eventos por tipo y toma la duración.</a:t>
            </a:r>
            <a:endParaRPr lang="en-US" sz="1600" dirty="0"/>
          </a:p>
        </p:txBody>
      </p:sp>
      <p:sp>
        <p:nvSpPr>
          <p:cNvPr id="13" name="Shape 11"/>
          <p:cNvSpPr/>
          <p:nvPr/>
        </p:nvSpPr>
        <p:spPr>
          <a:xfrm>
            <a:off x="548640" y="3922776"/>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922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822192"/>
            <a:ext cx="4937760" cy="530352"/>
          </a:xfrm>
          <a:prstGeom prst="roundRect">
            <a:avLst>
              <a:gd name="adj" fmla="val 8621"/>
            </a:avLst>
          </a:prstGeom>
          <a:solidFill>
            <a:srgbClr val="DCEFE0"/>
          </a:solidFill>
          <a:ln w="12700">
            <a:solidFill>
              <a:srgbClr val="DCEFE0"/>
            </a:solidFill>
            <a:prstDash val="solid"/>
          </a:ln>
        </p:spPr>
      </p:sp>
      <p:sp>
        <p:nvSpPr>
          <p:cNvPr id="16" name="Text 14"/>
          <p:cNvSpPr/>
          <p:nvPr/>
        </p:nvSpPr>
        <p:spPr>
          <a:xfrm>
            <a:off x="1170432" y="38221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eventos="count"</a:t>
            </a:r>
            <a:endParaRPr lang="en-US" sz="1400" dirty="0"/>
          </a:p>
        </p:txBody>
      </p:sp>
      <p:sp>
        <p:nvSpPr>
          <p:cNvPr id="17" name="Text 15"/>
          <p:cNvSpPr/>
          <p:nvPr/>
        </p:nvSpPr>
        <p:spPr>
          <a:xfrm>
            <a:off x="6263640" y="38221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Cuántos eventos hubo de cada tipo.</a:t>
            </a:r>
            <a:endParaRPr lang="en-US" sz="1600" dirty="0"/>
          </a:p>
        </p:txBody>
      </p:sp>
      <p:sp>
        <p:nvSpPr>
          <p:cNvPr id="18" name="Shape 16"/>
          <p:cNvSpPr/>
          <p:nvPr/>
        </p:nvSpPr>
        <p:spPr>
          <a:xfrm>
            <a:off x="548640" y="4544568"/>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4544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4443984"/>
            <a:ext cx="4937760" cy="530352"/>
          </a:xfrm>
          <a:prstGeom prst="roundRect">
            <a:avLst>
              <a:gd name="adj" fmla="val 8621"/>
            </a:avLst>
          </a:prstGeom>
          <a:solidFill>
            <a:srgbClr val="FDF0C8"/>
          </a:solidFill>
          <a:ln w="12700">
            <a:solidFill>
              <a:srgbClr val="FDF0C8"/>
            </a:solidFill>
            <a:prstDash val="solid"/>
          </a:ln>
        </p:spPr>
      </p:sp>
      <p:sp>
        <p:nvSpPr>
          <p:cNvPr id="21" name="Text 19"/>
          <p:cNvSpPr/>
          <p:nvPr/>
        </p:nvSpPr>
        <p:spPr>
          <a:xfrm>
            <a:off x="1170432" y="444398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horas_promedio="mean"</a:t>
            </a:r>
            <a:endParaRPr lang="en-US" sz="1400" dirty="0"/>
          </a:p>
        </p:txBody>
      </p:sp>
      <p:sp>
        <p:nvSpPr>
          <p:cNvPr id="22" name="Text 20"/>
          <p:cNvSpPr/>
          <p:nvPr/>
        </p:nvSpPr>
        <p:spPr>
          <a:xfrm>
            <a:off x="6263640" y="444398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Cuánto duraron en promedio.</a:t>
            </a:r>
            <a:endParaRPr lang="en-US" sz="1600" dirty="0"/>
          </a:p>
        </p:txBody>
      </p:sp>
      <p:sp>
        <p:nvSpPr>
          <p:cNvPr id="23" name="Shape 21"/>
          <p:cNvSpPr/>
          <p:nvPr/>
        </p:nvSpPr>
        <p:spPr>
          <a:xfrm>
            <a:off x="548640" y="5166360"/>
            <a:ext cx="329184" cy="329184"/>
          </a:xfrm>
          <a:prstGeom prst="ellipse">
            <a:avLst/>
          </a:prstGeom>
          <a:solidFill>
            <a:srgbClr val="7B4FC9"/>
          </a:solidFill>
          <a:ln w="12700">
            <a:solidFill>
              <a:srgbClr val="7B4FC9"/>
            </a:solidFill>
            <a:prstDash val="solid"/>
          </a:ln>
        </p:spPr>
      </p:sp>
      <p:sp>
        <p:nvSpPr>
          <p:cNvPr id="24" name="Text 22"/>
          <p:cNvSpPr/>
          <p:nvPr/>
        </p:nvSpPr>
        <p:spPr>
          <a:xfrm>
            <a:off x="548640" y="5166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5065776"/>
            <a:ext cx="4937760" cy="530352"/>
          </a:xfrm>
          <a:prstGeom prst="roundRect">
            <a:avLst>
              <a:gd name="adj" fmla="val 8621"/>
            </a:avLst>
          </a:prstGeom>
          <a:solidFill>
            <a:srgbClr val="ECE2FA"/>
          </a:solidFill>
          <a:ln w="12700">
            <a:solidFill>
              <a:srgbClr val="ECE2FA"/>
            </a:solidFill>
            <a:prstDash val="solid"/>
          </a:ln>
        </p:spPr>
      </p:sp>
      <p:sp>
        <p:nvSpPr>
          <p:cNvPr id="26" name="Text 24"/>
          <p:cNvSpPr/>
          <p:nvPr/>
        </p:nvSpPr>
        <p:spPr>
          <a:xfrm>
            <a:off x="1170432" y="506577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horas_maximo="max"</a:t>
            </a:r>
            <a:endParaRPr lang="en-US" sz="1400" dirty="0"/>
          </a:p>
        </p:txBody>
      </p:sp>
      <p:sp>
        <p:nvSpPr>
          <p:cNvPr id="27" name="Text 25"/>
          <p:cNvSpPr/>
          <p:nvPr/>
        </p:nvSpPr>
        <p:spPr>
          <a:xfrm>
            <a:off x="6263640" y="506577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Cuánto duró el más largo.</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por cada tipo de evento, cuenta cuántos hubo y calcula su duración promedio y máxima.</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1584198"/>
          </a:xfrm>
          <a:prstGeom prst="roundRect">
            <a:avLst>
              <a:gd name="adj" fmla="val 3463"/>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10085832" cy="1392174"/>
          </a:xfrm>
          <a:prstGeom prst="rect">
            <a:avLst/>
          </a:prstGeom>
          <a:noFill/>
          <a:ln/>
        </p:spPr>
        <p:txBody>
          <a:bodyPr wrap="square" lIns="0" tIns="0" rIns="0" bIns="0" rtlCol="0" anchor="t"/>
          <a:lstStyle/>
          <a:p>
            <a:pPr indent="0" marL="0">
              <a:buNone/>
            </a:pPr>
            <a:r>
              <a:rPr lang="en-US" sz="1200" dirty="0">
                <a:solidFill>
                  <a:srgbClr val="188038"/>
                </a:solidFill>
                <a:latin typeface="Courier New" pitchFamily="34" charset="0"/>
                <a:ea typeface="Courier New" pitchFamily="34" charset="-122"/>
                <a:cs typeface="Courier New" pitchFamily="34" charset="-120"/>
              </a:rPr>
              <a:t># Estudio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resumen = mant.groupby(</a:t>
            </a:r>
            <a:pPr indent="0" marL="0">
              <a:buNone/>
            </a:pPr>
            <a:r>
              <a:rPr lang="en-US" sz="1200" dirty="0">
                <a:solidFill>
                  <a:srgbClr val="A31515"/>
                </a:solidFill>
                <a:latin typeface="Courier New" pitchFamily="34" charset="0"/>
                <a:ea typeface="Courier New" pitchFamily="34" charset="-122"/>
                <a:cs typeface="Courier New" pitchFamily="34" charset="-120"/>
              </a:rPr>
              <a:t>"tipo_evento"</a:t>
            </a:r>
            <a:pPr indent="0" marL="0">
              <a:buNone/>
            </a:pPr>
            <a:r>
              <a:rPr lang="en-US" sz="1200" dirty="0">
                <a:solidFill>
                  <a:srgbClr val="202124"/>
                </a:solidFill>
                <a:latin typeface="Courier New" pitchFamily="34" charset="0"/>
                <a:ea typeface="Courier New" pitchFamily="34" charset="-122"/>
                <a:cs typeface="Courier New" pitchFamily="34" charset="-120"/>
              </a:rPr>
              <a:t>)[</a:t>
            </a:r>
            <a:pPr indent="0" marL="0">
              <a:buNone/>
            </a:pPr>
            <a:r>
              <a:rPr lang="en-US" sz="1200" dirty="0">
                <a:solidFill>
                  <a:srgbClr val="A31515"/>
                </a:solidFill>
                <a:latin typeface="Courier New" pitchFamily="34" charset="0"/>
                <a:ea typeface="Courier New" pitchFamily="34" charset="-122"/>
                <a:cs typeface="Courier New" pitchFamily="34" charset="-120"/>
              </a:rPr>
              <a:t>"duracion_horas"</a:t>
            </a:r>
            <a:pPr indent="0" marL="0">
              <a:buNone/>
            </a:pPr>
            <a:r>
              <a:rPr lang="en-US" sz="1200" dirty="0">
                <a:solidFill>
                  <a:srgbClr val="202124"/>
                </a:solidFill>
                <a:latin typeface="Courier New" pitchFamily="34" charset="0"/>
                <a:ea typeface="Courier New" pitchFamily="34" charset="-122"/>
                <a:cs typeface="Courier New" pitchFamily="34" charset="-120"/>
              </a:rPr>
              <a:t>].agg(</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eventos=</a:t>
            </a:r>
            <a:pPr indent="0" marL="0">
              <a:buNone/>
            </a:pPr>
            <a:r>
              <a:rPr lang="en-US" sz="1200" dirty="0">
                <a:solidFill>
                  <a:srgbClr val="A31515"/>
                </a:solidFill>
                <a:latin typeface="Courier New" pitchFamily="34" charset="0"/>
                <a:ea typeface="Courier New" pitchFamily="34" charset="-122"/>
                <a:cs typeface="Courier New" pitchFamily="34" charset="-120"/>
              </a:rPr>
              <a:t>"count"</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horas_promedio=</a:t>
            </a:r>
            <a:pPr indent="0" marL="0">
              <a:buNone/>
            </a:pPr>
            <a:r>
              <a:rPr lang="en-US" sz="1200" dirty="0">
                <a:solidFill>
                  <a:srgbClr val="A31515"/>
                </a:solidFill>
                <a:latin typeface="Courier New" pitchFamily="34" charset="0"/>
                <a:ea typeface="Courier New" pitchFamily="34" charset="-122"/>
                <a:cs typeface="Courier New" pitchFamily="34" charset="-120"/>
              </a:rPr>
              <a:t>"mean"</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horas_maximo=</a:t>
            </a:r>
            <a:pPr indent="0" marL="0">
              <a:buNone/>
            </a:pPr>
            <a:r>
              <a:rPr lang="en-US" sz="1200" dirty="0">
                <a:solidFill>
                  <a:srgbClr val="A31515"/>
                </a:solidFill>
                <a:latin typeface="Courier New" pitchFamily="34" charset="0"/>
                <a:ea typeface="Courier New" pitchFamily="34" charset="-122"/>
                <a:cs typeface="Courier New" pitchFamily="34" charset="-120"/>
              </a:rPr>
              <a:t>"max"</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200" dirty="0">
                <a:solidFill>
                  <a:srgbClr val="A31515"/>
                </a:solidFill>
                <a:latin typeface="Courier New" pitchFamily="34" charset="0"/>
                <a:ea typeface="Courier New" pitchFamily="34" charset="-122"/>
                <a:cs typeface="Courier New" pitchFamily="34" charset="-120"/>
              </a:rPr>
              <a:t>"eventos"</a:t>
            </a:r>
            <a:pPr indent="0" marL="0">
              <a:buNone/>
            </a:pPr>
            <a:r>
              <a:rPr lang="en-US" sz="1200" dirty="0">
                <a:solidFill>
                  <a:srgbClr val="202124"/>
                </a:solidFill>
                <a:latin typeface="Courier New" pitchFamily="34" charset="0"/>
                <a:ea typeface="Courier New" pitchFamily="34" charset="-122"/>
                <a:cs typeface="Courier New" pitchFamily="34" charset="-120"/>
              </a:rPr>
              <a:t>, ascending=False)</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325880" y="3175254"/>
          <a:ext cx="9144000" cy="914400"/>
        </p:xfrm>
        <a:graphic>
          <a:graphicData uri="http://schemas.openxmlformats.org/drawingml/2006/table">
            <a:tbl>
              <a:tblPr/>
              <a:tblGrid>
                <a:gridCol w="1777594"/>
                <a:gridCol w="880567"/>
                <a:gridCol w="1578254"/>
                <a:gridCol w="1378915"/>
              </a:tblGrid>
              <a:tr h="237744">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tipo_evento</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eventos</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horas_promedio</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horas_maximo</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preventivo</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158</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14.5</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24</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correctivo</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118</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38.9</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72</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inspeccion</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99</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4.7</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falla_mecanica</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98</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50.6</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94</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evento_climatico</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80</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21.2</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36</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falla_electrica</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47</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22.4</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48</a:t>
                      </a:r>
                      <a:endParaRPr lang="en-US" sz="1100" dirty="0">
                        <a:latin typeface="Courier New" charset="0"/>
                        <a:ea typeface="Courier New" charset="0"/>
                        <a:cs typeface="Courier New" charset="0"/>
                      </a:endParaRPr>
                    </a:p>
                  </a:txBody>
                  <a:tcPr marL="54864" marR="54864" marT="18288" marB="18288" anchor="ctr">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8"/>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9"/>
          <p:cNvSpPr/>
          <p:nvPr/>
        </p:nvSpPr>
        <p:spPr>
          <a:xfrm>
            <a:off x="548640" y="6062472"/>
            <a:ext cx="1337767" cy="512064"/>
          </a:xfrm>
          <a:prstGeom prst="roundRect">
            <a:avLst>
              <a:gd name="adj" fmla="val 12500"/>
            </a:avLst>
          </a:prstGeom>
          <a:solidFill>
            <a:srgbClr val="FEF3D6"/>
          </a:solidFill>
          <a:ln w="25400">
            <a:solidFill>
              <a:srgbClr val="F9AB00"/>
            </a:solidFill>
            <a:prstDash val="solid"/>
          </a:ln>
        </p:spPr>
      </p:sp>
      <p:sp>
        <p:nvSpPr>
          <p:cNvPr id="13" name="Text 10"/>
          <p:cNvSpPr/>
          <p:nvPr/>
        </p:nvSpPr>
        <p:spPr>
          <a:xfrm>
            <a:off x="640080"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14" name="Shape 11"/>
          <p:cNvSpPr/>
          <p:nvPr/>
        </p:nvSpPr>
        <p:spPr>
          <a:xfrm>
            <a:off x="2023567" y="6062472"/>
            <a:ext cx="1526134" cy="512064"/>
          </a:xfrm>
          <a:prstGeom prst="roundRect">
            <a:avLst>
              <a:gd name="adj" fmla="val 12500"/>
            </a:avLst>
          </a:prstGeom>
          <a:solidFill>
            <a:srgbClr val="E8F0FE"/>
          </a:solidFill>
          <a:ln w="28575">
            <a:solidFill>
              <a:srgbClr val="1A73E8"/>
            </a:solidFill>
            <a:prstDash val="solid"/>
          </a:ln>
        </p:spPr>
      </p:sp>
      <p:sp>
        <p:nvSpPr>
          <p:cNvPr id="15" name="Text 12"/>
          <p:cNvSpPr/>
          <p:nvPr/>
        </p:nvSpPr>
        <p:spPr>
          <a:xfrm>
            <a:off x="211500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6" name="Shape 13"/>
          <p:cNvSpPr/>
          <p:nvPr/>
        </p:nvSpPr>
        <p:spPr>
          <a:xfrm>
            <a:off x="3686861" y="6062472"/>
            <a:ext cx="1243584" cy="512064"/>
          </a:xfrm>
          <a:prstGeom prst="roundRect">
            <a:avLst>
              <a:gd name="adj" fmla="val 12500"/>
            </a:avLst>
          </a:prstGeom>
          <a:solidFill>
            <a:srgbClr val="F1F3F4"/>
          </a:solidFill>
          <a:ln w="12700">
            <a:solidFill>
              <a:srgbClr val="DADCE0"/>
            </a:solidFill>
            <a:prstDash val="solid"/>
          </a:ln>
        </p:spPr>
      </p:sp>
      <p:sp>
        <p:nvSpPr>
          <p:cNvPr id="17" name="Text 14"/>
          <p:cNvSpPr/>
          <p:nvPr/>
        </p:nvSpPr>
        <p:spPr>
          <a:xfrm>
            <a:off x="3778301"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18" name="Shape 15"/>
          <p:cNvSpPr/>
          <p:nvPr/>
        </p:nvSpPr>
        <p:spPr>
          <a:xfrm>
            <a:off x="5067605" y="6062472"/>
            <a:ext cx="1431950" cy="512064"/>
          </a:xfrm>
          <a:prstGeom prst="roundRect">
            <a:avLst>
              <a:gd name="adj" fmla="val 12500"/>
            </a:avLst>
          </a:prstGeom>
          <a:solidFill>
            <a:srgbClr val="F1F3F4"/>
          </a:solidFill>
          <a:ln w="12700">
            <a:solidFill>
              <a:srgbClr val="DADCE0"/>
            </a:solidFill>
            <a:prstDash val="solid"/>
          </a:ln>
        </p:spPr>
      </p:sp>
      <p:sp>
        <p:nvSpPr>
          <p:cNvPr id="19" name="Text 16"/>
          <p:cNvSpPr/>
          <p:nvPr/>
        </p:nvSpPr>
        <p:spPr>
          <a:xfrm>
            <a:off x="5159045"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20" name="Shape 17"/>
          <p:cNvSpPr/>
          <p:nvPr/>
        </p:nvSpPr>
        <p:spPr>
          <a:xfrm>
            <a:off x="6636715" y="6062472"/>
            <a:ext cx="1431950" cy="512064"/>
          </a:xfrm>
          <a:prstGeom prst="roundRect">
            <a:avLst>
              <a:gd name="adj" fmla="val 12500"/>
            </a:avLst>
          </a:prstGeom>
          <a:solidFill>
            <a:srgbClr val="F1F3F4"/>
          </a:solidFill>
          <a:ln w="12700">
            <a:solidFill>
              <a:srgbClr val="DADCE0"/>
            </a:solidFill>
            <a:prstDash val="solid"/>
          </a:ln>
        </p:spPr>
      </p:sp>
      <p:sp>
        <p:nvSpPr>
          <p:cNvPr id="21" name="Text 18"/>
          <p:cNvSpPr/>
          <p:nvPr/>
        </p:nvSpPr>
        <p:spPr>
          <a:xfrm>
            <a:off x="6728155"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22" name="Shape 19"/>
          <p:cNvSpPr/>
          <p:nvPr/>
        </p:nvSpPr>
        <p:spPr>
          <a:xfrm>
            <a:off x="8205826" y="6062472"/>
            <a:ext cx="1143000" cy="512064"/>
          </a:xfrm>
          <a:prstGeom prst="roundRect">
            <a:avLst>
              <a:gd name="adj" fmla="val 12500"/>
            </a:avLst>
          </a:prstGeom>
          <a:solidFill>
            <a:srgbClr val="F1F3F4"/>
          </a:solidFill>
          <a:ln w="12700">
            <a:solidFill>
              <a:srgbClr val="DADCE0"/>
            </a:solidFill>
            <a:prstDash val="solid"/>
          </a:ln>
        </p:spPr>
      </p:sp>
      <p:sp>
        <p:nvSpPr>
          <p:cNvPr id="23" name="Text 20"/>
          <p:cNvSpPr/>
          <p:nvPr/>
        </p:nvSpPr>
        <p:spPr>
          <a:xfrm>
            <a:off x="8297266"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a:t>
            </a:r>
            <a:endParaRPr lang="en-US" sz="1200" dirty="0"/>
          </a:p>
        </p:txBody>
      </p:sp>
      <p:sp>
        <p:nvSpPr>
          <p:cNvPr id="24" name="Text 21"/>
          <p:cNvSpPr/>
          <p:nvPr/>
        </p:nvSpPr>
        <p:spPr>
          <a:xfrm>
            <a:off x="9485986"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
        <p:nvSpPr>
          <p:cNvPr id="25" name="Text 22"/>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Hay más preventivos, pero las fallas mecánicas son las que más horas detienen una central.</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dura cada tipo de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Lo más frecuente no es lo que más pesa.</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Contar eventos y medir su duración responden preguntas distintas.</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337767"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12" name="Shape 10"/>
          <p:cNvSpPr/>
          <p:nvPr/>
        </p:nvSpPr>
        <p:spPr>
          <a:xfrm>
            <a:off x="2023567" y="6062472"/>
            <a:ext cx="1526134" cy="512064"/>
          </a:xfrm>
          <a:prstGeom prst="roundRect">
            <a:avLst>
              <a:gd name="adj" fmla="val 12500"/>
            </a:avLst>
          </a:prstGeom>
          <a:solidFill>
            <a:srgbClr val="E8F0FE"/>
          </a:solidFill>
          <a:ln w="28575">
            <a:solidFill>
              <a:srgbClr val="1A73E8"/>
            </a:solidFill>
            <a:prstDash val="solid"/>
          </a:ln>
        </p:spPr>
      </p:sp>
      <p:sp>
        <p:nvSpPr>
          <p:cNvPr id="13" name="Text 11"/>
          <p:cNvSpPr/>
          <p:nvPr/>
        </p:nvSpPr>
        <p:spPr>
          <a:xfrm>
            <a:off x="211500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4" name="Shape 12"/>
          <p:cNvSpPr/>
          <p:nvPr/>
        </p:nvSpPr>
        <p:spPr>
          <a:xfrm>
            <a:off x="3686861" y="6062472"/>
            <a:ext cx="1243584" cy="512064"/>
          </a:xfrm>
          <a:prstGeom prst="roundRect">
            <a:avLst>
              <a:gd name="adj" fmla="val 12500"/>
            </a:avLst>
          </a:prstGeom>
          <a:solidFill>
            <a:srgbClr val="F1F3F4"/>
          </a:solidFill>
          <a:ln w="12700">
            <a:solidFill>
              <a:srgbClr val="DADCE0"/>
            </a:solidFill>
            <a:prstDash val="solid"/>
          </a:ln>
        </p:spPr>
      </p:sp>
      <p:sp>
        <p:nvSpPr>
          <p:cNvPr id="15" name="Text 13"/>
          <p:cNvSpPr/>
          <p:nvPr/>
        </p:nvSpPr>
        <p:spPr>
          <a:xfrm>
            <a:off x="3778301"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16" name="Shape 14"/>
          <p:cNvSpPr/>
          <p:nvPr/>
        </p:nvSpPr>
        <p:spPr>
          <a:xfrm>
            <a:off x="5067605" y="6062472"/>
            <a:ext cx="1431950"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5159045"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18" name="Shape 16"/>
          <p:cNvSpPr/>
          <p:nvPr/>
        </p:nvSpPr>
        <p:spPr>
          <a:xfrm>
            <a:off x="6636715" y="6062472"/>
            <a:ext cx="1431950"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6728155"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20" name="Shape 18"/>
          <p:cNvSpPr/>
          <p:nvPr/>
        </p:nvSpPr>
        <p:spPr>
          <a:xfrm>
            <a:off x="8205826" y="6062472"/>
            <a:ext cx="114300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8297266"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a:t>
            </a:r>
            <a:endParaRPr lang="en-US" sz="1200" dirty="0"/>
          </a:p>
        </p:txBody>
      </p:sp>
      <p:sp>
        <p:nvSpPr>
          <p:cNvPr id="22" name="Text 20"/>
          <p:cNvSpPr/>
          <p:nvPr/>
        </p:nvSpPr>
        <p:spPr>
          <a:xfrm>
            <a:off x="9485986"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cada tipo de evento por tecnología.</a:t>
            </a:r>
            <a:endParaRPr lang="en-US" sz="1400" dirty="0"/>
          </a:p>
        </p:txBody>
      </p:sp>
      <p:pic>
        <p:nvPicPr>
          <p:cNvPr id="6" name="Image 0" descr="../work35/modulos/modulo04/img/lab04_estudio2_tecnologia.png">    </p:cNvPr>
          <p:cNvPicPr>
            <a:picLocks noChangeAspect="1"/>
          </p:cNvPicPr>
          <p:nvPr/>
        </p:nvPicPr>
        <p:blipFill>
          <a:blip r:embed="rId1"/>
          <a:stretch>
            <a:fillRect/>
          </a:stretch>
        </p:blipFill>
        <p:spPr>
          <a:xfrm>
            <a:off x="548640" y="1463040"/>
            <a:ext cx="11091672" cy="3983197"/>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tipo de evento en la lista y vuelve a correr la celda. Prueba con evento_climatico y con falla_electrica.</a:t>
            </a:r>
            <a:endParaRPr lang="en-US" sz="1400" dirty="0"/>
          </a:p>
        </p:txBody>
      </p:sp>
      <p:sp>
        <p:nvSpPr>
          <p:cNvPr id="6" name="Shape 4"/>
          <p:cNvSpPr/>
          <p:nvPr/>
        </p:nvSpPr>
        <p:spPr>
          <a:xfrm>
            <a:off x="548640" y="1481328"/>
            <a:ext cx="11091672" cy="2346579"/>
          </a:xfrm>
          <a:prstGeom prst="roundRect">
            <a:avLst>
              <a:gd name="adj" fmla="val 2338"/>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2154555"/>
          </a:xfrm>
          <a:prstGeom prst="rect">
            <a:avLst/>
          </a:prstGeom>
          <a:noFill/>
          <a:ln/>
        </p:spPr>
        <p:txBody>
          <a:bodyPr wrap="square" lIns="0" tIns="0" rIns="0" bIns="0" rtlCol="0" anchor="t"/>
          <a:lstStyle/>
          <a:p>
            <a:pPr indent="0" marL="0">
              <a:buNone/>
            </a:pPr>
            <a:r>
              <a:rPr lang="en-US" sz="1300"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tipo = </a:t>
            </a:r>
            <a:pPr indent="0" marL="0">
              <a:buNone/>
            </a:pPr>
            <a:r>
              <a:rPr lang="en-US" sz="13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188038"/>
                </a:solidFill>
                <a:latin typeface="Courier New" pitchFamily="34" charset="0"/>
                <a:ea typeface="Courier New" pitchFamily="34" charset="-122"/>
                <a:cs typeface="Courier New" pitchFamily="34" charset="-120"/>
              </a:rPr>
              <a:t># A cada evento se le pega la ficha de su central, como en el Lab 01.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con_ficha = pd.merge(mant, centrales, on=</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"left"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 = con_ficha[con_ficha[</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 tipo]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{len(elegidos)} eventos de tipo {tipo}"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].value_counts()</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tipo</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3855339"/>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337767"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18" name="Shape 16"/>
          <p:cNvSpPr/>
          <p:nvPr/>
        </p:nvSpPr>
        <p:spPr>
          <a:xfrm>
            <a:off x="2023567" y="6062472"/>
            <a:ext cx="1243584"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115007" y="6071616"/>
            <a:ext cx="110642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porcentaje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72.34…</a:t>
            </a:r>
            <a:endParaRPr lang="en-US" sz="1200" dirty="0"/>
          </a:p>
        </p:txBody>
      </p:sp>
      <p:sp>
        <p:nvSpPr>
          <p:cNvPr id="20" name="Shape 18"/>
          <p:cNvSpPr/>
          <p:nvPr/>
        </p:nvSpPr>
        <p:spPr>
          <a:xfrm>
            <a:off x="3404311" y="6062472"/>
            <a:ext cx="14319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3495751"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a_tiempo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34 × 3</a:t>
            </a:r>
            <a:endParaRPr lang="en-US" sz="1200" dirty="0"/>
          </a:p>
        </p:txBody>
      </p:sp>
      <p:sp>
        <p:nvSpPr>
          <p:cNvPr id="22" name="Shape 20"/>
          <p:cNvSpPr/>
          <p:nvPr/>
        </p:nvSpPr>
        <p:spPr>
          <a:xfrm>
            <a:off x="4973422" y="6062472"/>
            <a:ext cx="1431950"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064862"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fallas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3</a:t>
            </a:r>
            <a:endParaRPr lang="en-US" sz="1200" dirty="0"/>
          </a:p>
        </p:txBody>
      </p:sp>
      <p:sp>
        <p:nvSpPr>
          <p:cNvPr id="24" name="Shape 22"/>
          <p:cNvSpPr/>
          <p:nvPr/>
        </p:nvSpPr>
        <p:spPr>
          <a:xfrm>
            <a:off x="6542532" y="6062472"/>
            <a:ext cx="1143000"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6633972"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dias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a:t>
            </a:r>
            <a:endParaRPr lang="en-US" sz="1200" dirty="0"/>
          </a:p>
        </p:txBody>
      </p:sp>
      <p:sp>
        <p:nvSpPr>
          <p:cNvPr id="26" name="Shape 24"/>
          <p:cNvSpPr/>
          <p:nvPr/>
        </p:nvSpPr>
        <p:spPr>
          <a:xfrm>
            <a:off x="7822692" y="6062472"/>
            <a:ext cx="1143000" cy="512064"/>
          </a:xfrm>
          <a:prstGeom prst="roundRect">
            <a:avLst>
              <a:gd name="adj" fmla="val 12500"/>
            </a:avLst>
          </a:prstGeom>
          <a:solidFill>
            <a:srgbClr val="F1F3F4"/>
          </a:solidFill>
          <a:ln w="12700">
            <a:solidFill>
              <a:srgbClr val="DADCE0"/>
            </a:solidFill>
            <a:prstDash val="solid"/>
          </a:ln>
        </p:spPr>
      </p:sp>
      <p:sp>
        <p:nvSpPr>
          <p:cNvPr id="27" name="Text 25"/>
          <p:cNvSpPr/>
          <p:nvPr/>
        </p:nvSpPr>
        <p:spPr>
          <a:xfrm>
            <a:off x="7914132"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1.90…</a:t>
            </a:r>
            <a:endParaRPr lang="en-US" sz="1200" dirty="0"/>
          </a:p>
        </p:txBody>
      </p:sp>
      <p:sp>
        <p:nvSpPr>
          <p:cNvPr id="28" name="Text 26"/>
          <p:cNvSpPr/>
          <p:nvPr/>
        </p:nvSpPr>
        <p:spPr>
          <a:xfrm>
            <a:off x="9102852"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10 más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72768"/>
            <a:ext cx="10634472" cy="26517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con_ficha = pd.merge(mant, centrales, on=</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 how=</a:t>
            </a:r>
            <a:pPr indent="0" marL="0">
              <a:buNone/>
            </a:pPr>
            <a:r>
              <a:rPr lang="en-US" sz="1600" dirty="0">
                <a:solidFill>
                  <a:srgbClr val="A31515"/>
                </a:solidFill>
                <a:latin typeface="Courier New" pitchFamily="34" charset="0"/>
                <a:ea typeface="Courier New" pitchFamily="34" charset="-122"/>
                <a:cs typeface="Courier New" pitchFamily="34" charset="-120"/>
              </a:rPr>
              <a:t>"left"</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2257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3225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530352"/>
          </a:xfrm>
          <a:prstGeom prst="roundRect">
            <a:avLst>
              <a:gd name="adj" fmla="val 8621"/>
            </a:avLst>
          </a:prstGeom>
          <a:solidFill>
            <a:srgbClr val="DBE9FB"/>
          </a:solidFill>
          <a:ln w="12700">
            <a:solidFill>
              <a:srgbClr val="DBE9FB"/>
            </a:solidFill>
            <a:prstDash val="solid"/>
          </a:ln>
        </p:spPr>
      </p:sp>
      <p:sp>
        <p:nvSpPr>
          <p:cNvPr id="11" name="Text 9"/>
          <p:cNvSpPr/>
          <p:nvPr/>
        </p:nvSpPr>
        <p:spPr>
          <a:xfrm>
            <a:off x="1170432" y="22219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pd.merge(mant, centrales, ...)</a:t>
            </a:r>
            <a:endParaRPr lang="en-US" sz="1400" dirty="0"/>
          </a:p>
        </p:txBody>
      </p:sp>
      <p:sp>
        <p:nvSpPr>
          <p:cNvPr id="12" name="Text 10"/>
          <p:cNvSpPr/>
          <p:nvPr/>
        </p:nvSpPr>
        <p:spPr>
          <a:xfrm>
            <a:off x="6263640" y="22219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Une la bitácora con las fichas de las centrales.</a:t>
            </a:r>
            <a:endParaRPr lang="en-US" sz="1600" dirty="0"/>
          </a:p>
        </p:txBody>
      </p:sp>
      <p:sp>
        <p:nvSpPr>
          <p:cNvPr id="13" name="Shape 11"/>
          <p:cNvSpPr/>
          <p:nvPr/>
        </p:nvSpPr>
        <p:spPr>
          <a:xfrm>
            <a:off x="548640" y="303580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0358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3784"/>
            <a:ext cx="4937760" cy="713232"/>
          </a:xfrm>
          <a:prstGeom prst="roundRect">
            <a:avLst>
              <a:gd name="adj" fmla="val 6410"/>
            </a:avLst>
          </a:prstGeom>
          <a:solidFill>
            <a:srgbClr val="DCEFE0"/>
          </a:solidFill>
          <a:ln w="12700">
            <a:solidFill>
              <a:srgbClr val="DCEFE0"/>
            </a:solidFill>
            <a:prstDash val="solid"/>
          </a:ln>
        </p:spPr>
      </p:sp>
      <p:sp>
        <p:nvSpPr>
          <p:cNvPr id="16" name="Text 14"/>
          <p:cNvSpPr/>
          <p:nvPr/>
        </p:nvSpPr>
        <p:spPr>
          <a:xfrm>
            <a:off x="1170432" y="2843784"/>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on="central"</a:t>
            </a:r>
            <a:endParaRPr lang="en-US" sz="1400" dirty="0"/>
          </a:p>
        </p:txBody>
      </p:sp>
      <p:sp>
        <p:nvSpPr>
          <p:cNvPr id="17" name="Text 15"/>
          <p:cNvSpPr/>
          <p:nvPr/>
        </p:nvSpPr>
        <p:spPr>
          <a:xfrm>
            <a:off x="6263640" y="2843784"/>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Busca la pareja de cada evento por el nombre de la central.</a:t>
            </a:r>
            <a:endParaRPr lang="en-US" sz="1600" dirty="0"/>
          </a:p>
        </p:txBody>
      </p:sp>
      <p:sp>
        <p:nvSpPr>
          <p:cNvPr id="18" name="Shape 16"/>
          <p:cNvSpPr/>
          <p:nvPr/>
        </p:nvSpPr>
        <p:spPr>
          <a:xfrm>
            <a:off x="548640" y="3840480"/>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38404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48456"/>
            <a:ext cx="4937760" cy="713232"/>
          </a:xfrm>
          <a:prstGeom prst="roundRect">
            <a:avLst>
              <a:gd name="adj" fmla="val 6410"/>
            </a:avLst>
          </a:prstGeom>
          <a:solidFill>
            <a:srgbClr val="FDF0C8"/>
          </a:solidFill>
          <a:ln w="12700">
            <a:solidFill>
              <a:srgbClr val="FDF0C8"/>
            </a:solidFill>
            <a:prstDash val="solid"/>
          </a:ln>
        </p:spPr>
      </p:sp>
      <p:sp>
        <p:nvSpPr>
          <p:cNvPr id="21" name="Text 19"/>
          <p:cNvSpPr/>
          <p:nvPr/>
        </p:nvSpPr>
        <p:spPr>
          <a:xfrm>
            <a:off x="1170432" y="3648456"/>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how="left"</a:t>
            </a:r>
            <a:endParaRPr lang="en-US" sz="1400" dirty="0"/>
          </a:p>
        </p:txBody>
      </p:sp>
      <p:sp>
        <p:nvSpPr>
          <p:cNvPr id="22" name="Text 20"/>
          <p:cNvSpPr/>
          <p:nvPr/>
        </p:nvSpPr>
        <p:spPr>
          <a:xfrm>
            <a:off x="6263640" y="3648456"/>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Conserva todos los eventos, aunque no encuentren ficha.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 cada evento de la bitácora pégale la ficha de su central.</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tipo de evento en la lista y vuelve a correr la celda. Prueba con evento_climatico y con falla_electrica.</a:t>
            </a:r>
            <a:endParaRPr lang="en-US" sz="1400" dirty="0"/>
          </a:p>
        </p:txBody>
      </p:sp>
      <p:sp>
        <p:nvSpPr>
          <p:cNvPr id="6" name="Text 4"/>
          <p:cNvSpPr/>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Hay 80 eventos de tipo evento_climatico</a:t>
            </a:r>
            <a:endParaRPr lang="en-US" sz="1200" dirty="0"/>
          </a:p>
        </p:txBody>
      </p:sp>
      <p:sp>
        <p:nvSpPr>
          <p:cNvPr id="9" name="Shape 7"/>
          <p:cNvSpPr/>
          <p:nvPr/>
        </p:nvSpPr>
        <p:spPr>
          <a:xfrm>
            <a:off x="1325880" y="2304288"/>
            <a:ext cx="10314432" cy="1825142"/>
          </a:xfrm>
          <a:prstGeom prst="rect">
            <a:avLst/>
          </a:prstGeom>
          <a:solidFill>
            <a:srgbClr val="FFFFFF"/>
          </a:solidFill>
          <a:ln w="12700">
            <a:solidFill>
              <a:srgbClr val="DADCE0"/>
            </a:solidFill>
            <a:prstDash val="solid"/>
          </a:ln>
        </p:spPr>
      </p:sp>
      <p:sp>
        <p:nvSpPr>
          <p:cNvPr id="10" name="Text 8"/>
          <p:cNvSpPr/>
          <p:nvPr/>
        </p:nvSpPr>
        <p:spPr>
          <a:xfrm>
            <a:off x="1463040" y="2377440"/>
            <a:ext cx="10085832" cy="169712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55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12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diesel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count, dtype: int64</a:t>
            </a:r>
            <a:endParaRPr lang="en-US" sz="1200" dirty="0"/>
          </a:p>
        </p:txBody>
      </p:sp>
      <p:sp>
        <p:nvSpPr>
          <p:cNvPr id="11" name="Text 9"/>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10"/>
          <p:cNvSpPr/>
          <p:nvPr/>
        </p:nvSpPr>
        <p:spPr>
          <a:xfrm>
            <a:off x="548640" y="6062472"/>
            <a:ext cx="1997050"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640080"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14" name="Shape 12"/>
          <p:cNvSpPr/>
          <p:nvPr/>
        </p:nvSpPr>
        <p:spPr>
          <a:xfrm>
            <a:off x="2682850" y="6062472"/>
            <a:ext cx="1431950"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277429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6" name="Shape 14"/>
          <p:cNvSpPr/>
          <p:nvPr/>
        </p:nvSpPr>
        <p:spPr>
          <a:xfrm>
            <a:off x="4251960" y="6062472"/>
            <a:ext cx="1620317" cy="512064"/>
          </a:xfrm>
          <a:prstGeom prst="roundRect">
            <a:avLst>
              <a:gd name="adj" fmla="val 12500"/>
            </a:avLst>
          </a:prstGeom>
          <a:solidFill>
            <a:srgbClr val="FEF3D6"/>
          </a:solidFill>
          <a:ln w="25400">
            <a:solidFill>
              <a:srgbClr val="F9AB00"/>
            </a:solidFill>
            <a:prstDash val="solid"/>
          </a:ln>
        </p:spPr>
      </p:sp>
      <p:sp>
        <p:nvSpPr>
          <p:cNvPr id="17" name="Text 15"/>
          <p:cNvSpPr/>
          <p:nvPr/>
        </p:nvSpPr>
        <p:spPr>
          <a:xfrm>
            <a:off x="4343400"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18" name="Shape 16"/>
          <p:cNvSpPr/>
          <p:nvPr/>
        </p:nvSpPr>
        <p:spPr>
          <a:xfrm>
            <a:off x="6009437" y="6062472"/>
            <a:ext cx="1526134" cy="512064"/>
          </a:xfrm>
          <a:prstGeom prst="roundRect">
            <a:avLst>
              <a:gd name="adj" fmla="val 12500"/>
            </a:avLst>
          </a:prstGeom>
          <a:solidFill>
            <a:srgbClr val="FEF3D6"/>
          </a:solidFill>
          <a:ln w="25400">
            <a:solidFill>
              <a:srgbClr val="F9AB00"/>
            </a:solidFill>
            <a:prstDash val="solid"/>
          </a:ln>
        </p:spPr>
      </p:sp>
      <p:sp>
        <p:nvSpPr>
          <p:cNvPr id="19" name="Text 17"/>
          <p:cNvSpPr/>
          <p:nvPr/>
        </p:nvSpPr>
        <p:spPr>
          <a:xfrm>
            <a:off x="610087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80 × 10</a:t>
            </a:r>
            <a:endParaRPr lang="en-US" sz="1200" dirty="0"/>
          </a:p>
        </p:txBody>
      </p:sp>
      <p:sp>
        <p:nvSpPr>
          <p:cNvPr id="20" name="Text 18"/>
          <p:cNvSpPr/>
          <p:nvPr/>
        </p:nvSpPr>
        <p:spPr>
          <a:xfrm>
            <a:off x="7672730"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16 más</a:t>
            </a:r>
            <a:endParaRPr lang="en-US" sz="1200" dirty="0"/>
          </a:p>
        </p:txBody>
      </p:sp>
      <p:sp>
        <p:nvSpPr>
          <p:cNvPr id="21" name="Text 19"/>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55 de los 80 eventos climáticos fueron en centrales eólicas.</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falla_electrica en la lista y se vuelve a correr la celda.</a:t>
            </a:r>
            <a:endParaRPr lang="en-US" sz="1400" dirty="0"/>
          </a:p>
        </p:txBody>
      </p:sp>
      <p:sp>
        <p:nvSpPr>
          <p:cNvPr id="6" name="Shape 4"/>
          <p:cNvSpPr/>
          <p:nvPr/>
        </p:nvSpPr>
        <p:spPr>
          <a:xfrm>
            <a:off x="548640" y="1481328"/>
            <a:ext cx="11091672" cy="1484757"/>
          </a:xfrm>
          <a:prstGeom prst="roundRect">
            <a:avLst>
              <a:gd name="adj" fmla="val 3695"/>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1292733"/>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tipo = </a:t>
            </a:r>
            <a:pPr indent="0" marL="0">
              <a:buNone/>
            </a:pPr>
            <a:r>
              <a:rPr lang="en-US" sz="1300" dirty="0">
                <a:solidFill>
                  <a:srgbClr val="A31515"/>
                </a:solidFill>
                <a:latin typeface="Courier New" pitchFamily="34" charset="0"/>
                <a:ea typeface="Courier New" pitchFamily="34" charset="-122"/>
                <a:cs typeface="Courier New" pitchFamily="34" charset="-120"/>
              </a:rPr>
              <a:t>"falla_electrica"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con_ficha = pd.merge(mant, centrales, on=</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"left"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 = con_ficha[con_ficha[</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 == tipo]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{len(elegidos)} eventos de tipo {tipo}"</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elegidos[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].value_counts()</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tipo</a:t>
            </a:r>
            <a:endParaRPr lang="en-US" sz="1100" dirty="0"/>
          </a:p>
        </p:txBody>
      </p:sp>
      <p:sp>
        <p:nvSpPr>
          <p:cNvPr id="11"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2993517"/>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80 × 10</a:t>
            </a:r>
            <a:endParaRPr lang="en-US" sz="1200" dirty="0"/>
          </a:p>
        </p:txBody>
      </p:sp>
      <p:sp>
        <p:nvSpPr>
          <p:cNvPr id="18" name="Shape 16"/>
          <p:cNvSpPr/>
          <p:nvPr/>
        </p:nvSpPr>
        <p:spPr>
          <a:xfrm>
            <a:off x="2211934" y="6062472"/>
            <a:ext cx="1620317"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303374"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0" name="Shape 18"/>
          <p:cNvSpPr/>
          <p:nvPr/>
        </p:nvSpPr>
        <p:spPr>
          <a:xfrm>
            <a:off x="3969410" y="6062472"/>
            <a:ext cx="14319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406085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2" name="Shape 20"/>
          <p:cNvSpPr/>
          <p:nvPr/>
        </p:nvSpPr>
        <p:spPr>
          <a:xfrm>
            <a:off x="5538521" y="6062472"/>
            <a:ext cx="1997050"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629961"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24" name="Shape 22"/>
          <p:cNvSpPr/>
          <p:nvPr/>
        </p:nvSpPr>
        <p:spPr>
          <a:xfrm>
            <a:off x="7672730" y="6062472"/>
            <a:ext cx="1337767"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7764170"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6" name="Text 24"/>
          <p:cNvSpPr/>
          <p:nvPr/>
        </p:nvSpPr>
        <p:spPr>
          <a:xfrm>
            <a:off x="9147658"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
        <p:nvSpPr>
          <p:cNvPr id="27" name="Text 25"/>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falla_electrica en la lista y se vuelve a correr la celda.</a:t>
            </a:r>
            <a:endParaRPr lang="en-US" sz="1400" dirty="0"/>
          </a:p>
        </p:txBody>
      </p:sp>
      <p:sp>
        <p:nvSpPr>
          <p:cNvPr id="6" name="Shape 4"/>
          <p:cNvSpPr/>
          <p:nvPr/>
        </p:nvSpPr>
        <p:spPr>
          <a:xfrm>
            <a:off x="548640" y="1481328"/>
            <a:ext cx="11091672" cy="1385316"/>
          </a:xfrm>
          <a:prstGeom prst="roundRect">
            <a:avLst>
              <a:gd name="adj" fmla="val 3960"/>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19329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tipo = </a:t>
            </a:r>
            <a:pPr indent="0" marL="0">
              <a:buNone/>
            </a:pPr>
            <a:r>
              <a:rPr lang="en-US" sz="1200" dirty="0">
                <a:solidFill>
                  <a:srgbClr val="A31515"/>
                </a:solidFill>
                <a:latin typeface="Courier New" pitchFamily="34" charset="0"/>
                <a:ea typeface="Courier New" pitchFamily="34" charset="-122"/>
                <a:cs typeface="Courier New" pitchFamily="34" charset="-120"/>
              </a:rPr>
              <a:t>"falla_electrica"</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"fa…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"centrales.csv"</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con_ficha = pd.merge(mant, centrales, on=</a:t>
            </a:r>
            <a:pPr indent="0" marL="0">
              <a:buNone/>
            </a:pPr>
            <a:r>
              <a:rPr lang="en-US" sz="1200" dirty="0">
                <a:solidFill>
                  <a:srgbClr val="A31515"/>
                </a:solidFill>
                <a:latin typeface="Courier New" pitchFamily="34" charset="0"/>
                <a:ea typeface="Courier New" pitchFamily="34" charset="-122"/>
                <a:cs typeface="Courier New" pitchFamily="34" charset="-120"/>
              </a:rPr>
              <a:t>"central"</a:t>
            </a:r>
            <a:pPr indent="0" marL="0">
              <a:buNone/>
            </a:pPr>
            <a:r>
              <a:rPr lang="en-US" sz="1200" dirty="0">
                <a:solidFill>
                  <a:srgbClr val="202124"/>
                </a:solidFill>
                <a:latin typeface="Courier New" pitchFamily="34" charset="0"/>
                <a:ea typeface="Courier New" pitchFamily="34" charset="-122"/>
                <a:cs typeface="Courier New" pitchFamily="34" charset="-120"/>
              </a:rPr>
              <a:t>, how=</a:t>
            </a:r>
            <a:pPr indent="0" marL="0">
              <a:buNone/>
            </a:pPr>
            <a:r>
              <a:rPr lang="en-US" sz="1200" dirty="0">
                <a:solidFill>
                  <a:srgbClr val="A31515"/>
                </a:solidFill>
                <a:latin typeface="Courier New" pitchFamily="34" charset="0"/>
                <a:ea typeface="Courier New" pitchFamily="34" charset="-122"/>
                <a:cs typeface="Courier New" pitchFamily="34" charset="-120"/>
              </a:rPr>
              <a:t>"left"</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elegidos = con_ficha[con_ficha[</a:t>
            </a:r>
            <a:pPr indent="0" marL="0">
              <a:buNone/>
            </a:pPr>
            <a:r>
              <a:rPr lang="en-US" sz="1200" dirty="0">
                <a:solidFill>
                  <a:srgbClr val="A31515"/>
                </a:solidFill>
                <a:latin typeface="Courier New" pitchFamily="34" charset="0"/>
                <a:ea typeface="Courier New" pitchFamily="34" charset="-122"/>
                <a:cs typeface="Courier New" pitchFamily="34" charset="-120"/>
              </a:rPr>
              <a:t>"tipo_evento"</a:t>
            </a:r>
            <a:pPr indent="0" marL="0">
              <a:buNone/>
            </a:pPr>
            <a:r>
              <a:rPr lang="en-US" sz="1200" dirty="0">
                <a:solidFill>
                  <a:srgbClr val="202124"/>
                </a:solidFill>
                <a:latin typeface="Courier New" pitchFamily="34" charset="0"/>
                <a:ea typeface="Courier New" pitchFamily="34" charset="-122"/>
                <a:cs typeface="Courier New" pitchFamily="34" charset="-120"/>
              </a:rPr>
              <a:t>] == tipo]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 Hay {len(elegidos)} eventos de tipo {tipo}"</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elegidos[</a:t>
            </a:r>
            <a:pPr indent="0" marL="0">
              <a:buNone/>
            </a:pPr>
            <a:r>
              <a:rPr lang="en-US" sz="1200" dirty="0">
                <a:solidFill>
                  <a:srgbClr val="A31515"/>
                </a:solidFill>
                <a:latin typeface="Courier New" pitchFamily="34" charset="0"/>
                <a:ea typeface="Courier New" pitchFamily="34" charset="-122"/>
                <a:cs typeface="Courier New" pitchFamily="34" charset="-120"/>
              </a:rPr>
              <a:t>"tecnologia"</a:t>
            </a:r>
            <a:pPr indent="0" marL="0">
              <a:buNone/>
            </a:pPr>
            <a:r>
              <a:rPr lang="en-US" sz="1200" dirty="0">
                <a:solidFill>
                  <a:srgbClr val="202124"/>
                </a:solidFill>
                <a:latin typeface="Courier New" pitchFamily="34" charset="0"/>
                <a:ea typeface="Courier New" pitchFamily="34" charset="-122"/>
                <a:cs typeface="Courier New" pitchFamily="34" charset="-120"/>
              </a:rPr>
              <a:t>].value_counts()</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tipo</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2976372"/>
            <a:ext cx="10314432" cy="384048"/>
          </a:xfrm>
          <a:prstGeom prst="rect">
            <a:avLst/>
          </a:prstGeom>
          <a:solidFill>
            <a:srgbClr val="FFFFFF"/>
          </a:solidFill>
          <a:ln w="12700">
            <a:solidFill>
              <a:srgbClr val="DADCE0"/>
            </a:solidFill>
            <a:prstDash val="solid"/>
          </a:ln>
        </p:spPr>
      </p:sp>
      <p:sp>
        <p:nvSpPr>
          <p:cNvPr id="15" name="Text 13"/>
          <p:cNvSpPr/>
          <p:nvPr/>
        </p:nvSpPr>
        <p:spPr>
          <a:xfrm>
            <a:off x="1463040" y="3049524"/>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Hay 47 eventos de tipo falla_electrica</a:t>
            </a:r>
            <a:endParaRPr lang="en-US" sz="1200" dirty="0"/>
          </a:p>
        </p:txBody>
      </p:sp>
      <p:sp>
        <p:nvSpPr>
          <p:cNvPr id="16" name="Shape 14"/>
          <p:cNvSpPr/>
          <p:nvPr/>
        </p:nvSpPr>
        <p:spPr>
          <a:xfrm>
            <a:off x="1325880" y="3451860"/>
            <a:ext cx="10314432" cy="1825142"/>
          </a:xfrm>
          <a:prstGeom prst="rect">
            <a:avLst/>
          </a:prstGeom>
          <a:solidFill>
            <a:srgbClr val="FFFFFF"/>
          </a:solidFill>
          <a:ln w="12700">
            <a:solidFill>
              <a:srgbClr val="DADCE0"/>
            </a:solidFill>
            <a:prstDash val="solid"/>
          </a:ln>
        </p:spPr>
      </p:sp>
      <p:sp>
        <p:nvSpPr>
          <p:cNvPr id="17" name="Text 15"/>
          <p:cNvSpPr/>
          <p:nvPr/>
        </p:nvSpPr>
        <p:spPr>
          <a:xfrm>
            <a:off x="1463040" y="3525012"/>
            <a:ext cx="10085832" cy="169712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14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13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diesel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count, dtype: int64</a:t>
            </a:r>
            <a:endParaRPr lang="en-US" sz="1200" dirty="0"/>
          </a:p>
        </p:txBody>
      </p:sp>
      <p:sp>
        <p:nvSpPr>
          <p:cNvPr id="18" name="Text 16"/>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9" name="Shape 17"/>
          <p:cNvSpPr/>
          <p:nvPr/>
        </p:nvSpPr>
        <p:spPr>
          <a:xfrm>
            <a:off x="548640" y="6062472"/>
            <a:ext cx="1902866" cy="512064"/>
          </a:xfrm>
          <a:prstGeom prst="roundRect">
            <a:avLst>
              <a:gd name="adj" fmla="val 12500"/>
            </a:avLst>
          </a:prstGeom>
          <a:solidFill>
            <a:srgbClr val="FEF3D6"/>
          </a:solidFill>
          <a:ln w="25400">
            <a:solidFill>
              <a:srgbClr val="F9AB00"/>
            </a:solidFill>
            <a:prstDash val="solid"/>
          </a:ln>
        </p:spPr>
      </p:sp>
      <p:sp>
        <p:nvSpPr>
          <p:cNvPr id="20" name="Text 18"/>
          <p:cNvSpPr/>
          <p:nvPr/>
        </p:nvSpPr>
        <p:spPr>
          <a:xfrm>
            <a:off x="640080"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1" name="Shape 19"/>
          <p:cNvSpPr/>
          <p:nvPr/>
        </p:nvSpPr>
        <p:spPr>
          <a:xfrm>
            <a:off x="2588666" y="6062472"/>
            <a:ext cx="1526134"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2680106"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3" name="Shape 21"/>
          <p:cNvSpPr/>
          <p:nvPr/>
        </p:nvSpPr>
        <p:spPr>
          <a:xfrm>
            <a:off x="4251960" y="6062472"/>
            <a:ext cx="2750515" cy="512064"/>
          </a:xfrm>
          <a:prstGeom prst="roundRect">
            <a:avLst>
              <a:gd name="adj" fmla="val 12500"/>
            </a:avLst>
          </a:prstGeom>
          <a:solidFill>
            <a:srgbClr val="E8F0FE"/>
          </a:solidFill>
          <a:ln w="28575">
            <a:solidFill>
              <a:srgbClr val="1A73E8"/>
            </a:solidFill>
            <a:prstDash val="solid"/>
          </a:ln>
        </p:spPr>
      </p:sp>
      <p:sp>
        <p:nvSpPr>
          <p:cNvPr id="24" name="Text 22"/>
          <p:cNvSpPr/>
          <p:nvPr/>
        </p:nvSpPr>
        <p:spPr>
          <a:xfrm>
            <a:off x="4343400"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5" name="Shape 23"/>
          <p:cNvSpPr/>
          <p:nvPr/>
        </p:nvSpPr>
        <p:spPr>
          <a:xfrm>
            <a:off x="7139635" y="6062472"/>
            <a:ext cx="1143000" cy="512064"/>
          </a:xfrm>
          <a:prstGeom prst="roundRect">
            <a:avLst>
              <a:gd name="adj" fmla="val 12500"/>
            </a:avLst>
          </a:prstGeom>
          <a:solidFill>
            <a:srgbClr val="E8F0FE"/>
          </a:solidFill>
          <a:ln w="28575">
            <a:solidFill>
              <a:srgbClr val="1A73E8"/>
            </a:solidFill>
            <a:prstDash val="solid"/>
          </a:ln>
        </p:spPr>
      </p:sp>
      <p:sp>
        <p:nvSpPr>
          <p:cNvPr id="26" name="Text 24"/>
          <p:cNvSpPr/>
          <p:nvPr/>
        </p:nvSpPr>
        <p:spPr>
          <a:xfrm>
            <a:off x="723107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7" name="Shape 25"/>
          <p:cNvSpPr/>
          <p:nvPr/>
        </p:nvSpPr>
        <p:spPr>
          <a:xfrm>
            <a:off x="8419795" y="6062472"/>
            <a:ext cx="1526134" cy="512064"/>
          </a:xfrm>
          <a:prstGeom prst="roundRect">
            <a:avLst>
              <a:gd name="adj" fmla="val 12500"/>
            </a:avLst>
          </a:prstGeom>
          <a:solidFill>
            <a:srgbClr val="E8F0FE"/>
          </a:solidFill>
          <a:ln w="28575">
            <a:solidFill>
              <a:srgbClr val="1A73E8"/>
            </a:solidFill>
            <a:prstDash val="solid"/>
          </a:ln>
        </p:spPr>
      </p:sp>
      <p:sp>
        <p:nvSpPr>
          <p:cNvPr id="28" name="Text 26"/>
          <p:cNvSpPr/>
          <p:nvPr/>
        </p:nvSpPr>
        <p:spPr>
          <a:xfrm>
            <a:off x="8511235"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29" name="Text 27"/>
          <p:cNvSpPr/>
          <p:nvPr/>
        </p:nvSpPr>
        <p:spPr>
          <a:xfrm>
            <a:off x="10083089"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
        <p:nvSpPr>
          <p:cNvPr id="30" name="Text 28"/>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Las 47 fallas eléctricas están más repartidas entre las tecnologías.</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mira qué le pasa a cada tecnología</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Con la ficha pegada, cada evento se mira por tecnología.</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Es el merge del Lab 01, con un filtro y un conteo.</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902866"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2" name="Shape 10"/>
          <p:cNvSpPr/>
          <p:nvPr/>
        </p:nvSpPr>
        <p:spPr>
          <a:xfrm>
            <a:off x="2588666" y="6062472"/>
            <a:ext cx="1526134"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2680106"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14" name="Shape 12"/>
          <p:cNvSpPr/>
          <p:nvPr/>
        </p:nvSpPr>
        <p:spPr>
          <a:xfrm>
            <a:off x="4251960" y="6062472"/>
            <a:ext cx="2750515" cy="512064"/>
          </a:xfrm>
          <a:prstGeom prst="roundRect">
            <a:avLst>
              <a:gd name="adj" fmla="val 12500"/>
            </a:avLst>
          </a:prstGeom>
          <a:solidFill>
            <a:srgbClr val="E8F0FE"/>
          </a:solidFill>
          <a:ln w="28575">
            <a:solidFill>
              <a:srgbClr val="1A73E8"/>
            </a:solidFill>
            <a:prstDash val="solid"/>
          </a:ln>
        </p:spPr>
      </p:sp>
      <p:sp>
        <p:nvSpPr>
          <p:cNvPr id="15" name="Text 13"/>
          <p:cNvSpPr/>
          <p:nvPr/>
        </p:nvSpPr>
        <p:spPr>
          <a:xfrm>
            <a:off x="4343400" y="6071616"/>
            <a:ext cx="2613355"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6" name="Shape 14"/>
          <p:cNvSpPr/>
          <p:nvPr/>
        </p:nvSpPr>
        <p:spPr>
          <a:xfrm>
            <a:off x="7139635" y="6062472"/>
            <a:ext cx="1143000" cy="512064"/>
          </a:xfrm>
          <a:prstGeom prst="roundRect">
            <a:avLst>
              <a:gd name="adj" fmla="val 12500"/>
            </a:avLst>
          </a:prstGeom>
          <a:solidFill>
            <a:srgbClr val="E8F0FE"/>
          </a:solidFill>
          <a:ln w="28575">
            <a:solidFill>
              <a:srgbClr val="1A73E8"/>
            </a:solidFill>
            <a:prstDash val="solid"/>
          </a:ln>
        </p:spPr>
      </p:sp>
      <p:sp>
        <p:nvSpPr>
          <p:cNvPr id="17" name="Text 15"/>
          <p:cNvSpPr/>
          <p:nvPr/>
        </p:nvSpPr>
        <p:spPr>
          <a:xfrm>
            <a:off x="7231075" y="6071616"/>
            <a:ext cx="100584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8" name="Shape 16"/>
          <p:cNvSpPr/>
          <p:nvPr/>
        </p:nvSpPr>
        <p:spPr>
          <a:xfrm>
            <a:off x="8419795" y="6062472"/>
            <a:ext cx="1526134" cy="512064"/>
          </a:xfrm>
          <a:prstGeom prst="roundRect">
            <a:avLst>
              <a:gd name="adj" fmla="val 12500"/>
            </a:avLst>
          </a:prstGeom>
          <a:solidFill>
            <a:srgbClr val="E8F0FE"/>
          </a:solidFill>
          <a:ln w="28575">
            <a:solidFill>
              <a:srgbClr val="1A73E8"/>
            </a:solidFill>
            <a:prstDash val="solid"/>
          </a:ln>
        </p:spPr>
      </p:sp>
      <p:sp>
        <p:nvSpPr>
          <p:cNvPr id="19" name="Text 17"/>
          <p:cNvSpPr/>
          <p:nvPr/>
        </p:nvSpPr>
        <p:spPr>
          <a:xfrm>
            <a:off x="8511235"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20" name="Text 18"/>
          <p:cNvSpPr/>
          <p:nvPr/>
        </p:nvSpPr>
        <p:spPr>
          <a:xfrm>
            <a:off x="10083089"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el lift de todas las parejas a la vez.</a:t>
            </a:r>
            <a:endParaRPr lang="en-US" sz="1400" dirty="0"/>
          </a:p>
        </p:txBody>
      </p:sp>
      <p:pic>
        <p:nvPicPr>
          <p:cNvPr id="6" name="Image 0" descr="../work35/modulos/modulo04/img/lab04_estudio3_parejas.png">    </p:cNvPr>
          <p:cNvPicPr>
            <a:picLocks noChangeAspect="1"/>
          </p:cNvPicPr>
          <p:nvPr/>
        </p:nvPicPr>
        <p:blipFill>
          <a:blip r:embed="rId1"/>
          <a:stretch>
            <a:fillRect/>
          </a:stretch>
        </p:blipFill>
        <p:spPr>
          <a:xfrm>
            <a:off x="1316494" y="1463040"/>
            <a:ext cx="9555963" cy="52578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la lista y vuelve a correr la celda. Prueba falla_electrica, evento_climatico y preventivo.</a:t>
            </a:r>
            <a:endParaRPr lang="en-US" sz="1400" dirty="0"/>
          </a:p>
        </p:txBody>
      </p:sp>
      <p:sp>
        <p:nvSpPr>
          <p:cNvPr id="6" name="Shape 4"/>
          <p:cNvSpPr/>
          <p:nvPr/>
        </p:nvSpPr>
        <p:spPr>
          <a:xfrm>
            <a:off x="548640" y="1481328"/>
            <a:ext cx="11091672" cy="2263712"/>
          </a:xfrm>
          <a:prstGeom prst="roundRect">
            <a:avLst>
              <a:gd name="adj" fmla="val 2424"/>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2071688"/>
          </a:xfrm>
          <a:prstGeom prst="rect">
            <a:avLst/>
          </a:prstGeom>
          <a:noFill/>
          <a:ln/>
        </p:spPr>
        <p:txBody>
          <a:bodyPr wrap="square" lIns="0" tIns="0" rIns="0" bIns="0" rtlCol="0" anchor="t"/>
          <a:lstStyle/>
          <a:p>
            <a:pPr indent="0" marL="0">
              <a:buNone/>
            </a:pPr>
            <a:r>
              <a:rPr lang="en-US" sz="1250" dirty="0">
                <a:solidFill>
                  <a:srgbClr val="188038"/>
                </a:solidFill>
                <a:latin typeface="Courier New" pitchFamily="34" charset="0"/>
                <a:ea typeface="Courier New" pitchFamily="34" charset="-122"/>
                <a:cs typeface="Courier New" pitchFamily="34" charset="-120"/>
              </a:rPr>
              <a:t># Estudio 3</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si = </a:t>
            </a:r>
            <a:pPr indent="0" marL="0">
              <a:buNone/>
            </a:pPr>
            <a:r>
              <a:rPr lang="en-US" sz="1250" dirty="0">
                <a:solidFill>
                  <a:srgbClr val="A31515"/>
                </a:solidFill>
                <a:latin typeface="Courier New" pitchFamily="34" charset="0"/>
                <a:ea typeface="Courier New" pitchFamily="34" charset="-122"/>
                <a:cs typeface="Courier New" pitchFamily="34" charset="-120"/>
              </a:rPr>
              <a:t>"falla_electrica"</a:t>
            </a:r>
            <a:pPr indent="0" marL="0">
              <a:buNone/>
            </a:pPr>
            <a:r>
              <a:rPr lang="en-US" sz="1250" dirty="0">
                <a:solidFill>
                  <a:srgbClr val="202124"/>
                </a:solidFill>
                <a:latin typeface="Courier New" pitchFamily="34" charset="0"/>
                <a:ea typeface="Courier New" pitchFamily="34" charset="-122"/>
                <a:cs typeface="Courier New" pitchFamily="34" charset="-120"/>
              </a:rPr>
              <a:t> </a:t>
            </a:r>
            <a:pPr indent="0" marL="0">
              <a:buNone/>
            </a:pPr>
            <a:r>
              <a:rPr lang="en-US" sz="1250" dirty="0">
                <a:solidFill>
                  <a:srgbClr val="80868B"/>
                </a:solidFill>
                <a:latin typeface="Courier New" pitchFamily="34" charset="0"/>
                <a:ea typeface="Courier New" pitchFamily="34" charset="-122"/>
                <a:cs typeface="Courier New" pitchFamily="34" charset="-120"/>
              </a:rPr>
              <a:t>#@param ["preventivo", "correctivo", "inspeccion", "f…</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188038"/>
                </a:solidFill>
                <a:latin typeface="Courier New" pitchFamily="34" charset="0"/>
                <a:ea typeface="Courier New" pitchFamily="34" charset="-122"/>
                <a:cs typeface="Courier New" pitchFamily="34" charset="-120"/>
              </a:rPr>
              <a:t># Lo mismo del Paso 4, para todos los entonces a la vez.</a:t>
            </a:r>
            <a:endParaRPr lang="en-US" sz="1250" dirty="0"/>
          </a:p>
          <a:p>
            <a:pPr indent="0" marL="0">
              <a:buNone/>
            </a:pPr>
            <a:r>
              <a:rPr lang="en-US" sz="1250" dirty="0">
                <a:solidFill>
                  <a:srgbClr val="188038"/>
                </a:solidFill>
                <a:latin typeface="Courier New" pitchFamily="34" charset="0"/>
                <a:ea typeface="Courier New" pitchFamily="34" charset="-122"/>
                <a:cs typeface="Courier New" pitchFamily="34" charset="-120"/>
              </a:rPr>
              <a:t># mean saca la proporción de cada columna, en las canastas con si y en todas.</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con_si = tabla[tabla[si] == True]</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lift = con_si.mean() / tabla.mean()</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188038"/>
                </a:solidFill>
                <a:latin typeface="Courier New" pitchFamily="34" charset="0"/>
                <a:ea typeface="Courier New" pitchFamily="34" charset="-122"/>
                <a:cs typeface="Courier New" pitchFamily="34" charset="-120"/>
              </a:rPr>
              <a:t># drop quita el mismo evento, porque siempre se acompaña a sí mismo.</a:t>
            </a:r>
            <a:endParaRPr lang="en-US" sz="1250" dirty="0"/>
          </a:p>
          <a:p>
            <a:pPr indent="0" marL="0">
              <a:buNone/>
            </a:pPr>
            <a:r>
              <a:rPr lang="en-US" sz="1250" dirty="0">
                <a:solidFill>
                  <a:srgbClr val="202124"/>
                </a:solidFill>
                <a:latin typeface="Courier New" pitchFamily="34" charset="0"/>
                <a:ea typeface="Courier New" pitchFamily="34" charset="-122"/>
                <a:cs typeface="Courier New" pitchFamily="34" charset="-120"/>
              </a:rPr>
              <a:t>lift.drop(si).round(2).sort_values(ascending=False)</a:t>
            </a:r>
            <a:endParaRPr lang="en-US" sz="125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3772472"/>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18" name="Shape 16"/>
          <p:cNvSpPr/>
          <p:nvPr/>
        </p:nvSpPr>
        <p:spPr>
          <a:xfrm>
            <a:off x="2211934" y="6062472"/>
            <a:ext cx="1620317"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303374"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0" name="Shape 18"/>
          <p:cNvSpPr/>
          <p:nvPr/>
        </p:nvSpPr>
        <p:spPr>
          <a:xfrm>
            <a:off x="3969410" y="6062472"/>
            <a:ext cx="14319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406085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2" name="Shape 20"/>
          <p:cNvSpPr/>
          <p:nvPr/>
        </p:nvSpPr>
        <p:spPr>
          <a:xfrm>
            <a:off x="5538521" y="6062472"/>
            <a:ext cx="1902866"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629961"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4" name="Shape 22"/>
          <p:cNvSpPr/>
          <p:nvPr/>
        </p:nvSpPr>
        <p:spPr>
          <a:xfrm>
            <a:off x="7578547" y="6062472"/>
            <a:ext cx="1337767"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7669987"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6" name="Text 24"/>
          <p:cNvSpPr/>
          <p:nvPr/>
        </p:nvSpPr>
        <p:spPr>
          <a:xfrm>
            <a:off x="905347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72768"/>
            <a:ext cx="10634472" cy="265176"/>
          </a:xfrm>
          <a:prstGeom prst="rect">
            <a:avLst/>
          </a:prstGeom>
          <a:noFill/>
          <a:ln/>
        </p:spPr>
        <p:txBody>
          <a:bodyPr wrap="square" lIns="0" tIns="0" rIns="0" bIns="0" rtlCol="0" anchor="t"/>
          <a:lstStyle/>
          <a:p>
            <a:pPr indent="0" marL="0">
              <a:buNone/>
            </a:pPr>
            <a:r>
              <a:rPr lang="en-US" sz="1600" dirty="0">
                <a:solidFill>
                  <a:srgbClr val="202124"/>
                </a:solidFill>
                <a:latin typeface="Courier New" pitchFamily="34" charset="0"/>
                <a:ea typeface="Courier New" pitchFamily="34" charset="-122"/>
                <a:cs typeface="Courier New" pitchFamily="34" charset="-120"/>
              </a:rPr>
              <a:t>lift = con_si.mean() / tabla.mean()</a:t>
            </a:r>
            <a:endParaRPr lang="en-US" sz="1600" dirty="0"/>
          </a:p>
        </p:txBody>
      </p:sp>
      <p:sp>
        <p:nvSpPr>
          <p:cNvPr id="8" name="Shape 6"/>
          <p:cNvSpPr/>
          <p:nvPr/>
        </p:nvSpPr>
        <p:spPr>
          <a:xfrm>
            <a:off x="548640" y="241401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4140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713232"/>
          </a:xfrm>
          <a:prstGeom prst="roundRect">
            <a:avLst>
              <a:gd name="adj" fmla="val 6410"/>
            </a:avLst>
          </a:prstGeom>
          <a:solidFill>
            <a:srgbClr val="DBE9FB"/>
          </a:solidFill>
          <a:ln w="12700">
            <a:solidFill>
              <a:srgbClr val="DBE9FB"/>
            </a:solidFill>
            <a:prstDash val="solid"/>
          </a:ln>
        </p:spPr>
      </p:sp>
      <p:sp>
        <p:nvSpPr>
          <p:cNvPr id="11" name="Text 9"/>
          <p:cNvSpPr/>
          <p:nvPr/>
        </p:nvSpPr>
        <p:spPr>
          <a:xfrm>
            <a:off x="1170432" y="2221992"/>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con_si.mean()</a:t>
            </a:r>
            <a:endParaRPr lang="en-US" sz="1400" dirty="0"/>
          </a:p>
        </p:txBody>
      </p:sp>
      <p:sp>
        <p:nvSpPr>
          <p:cNvPr id="12" name="Text 10"/>
          <p:cNvSpPr/>
          <p:nvPr/>
        </p:nvSpPr>
        <p:spPr>
          <a:xfrm>
            <a:off x="6263640" y="2221992"/>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confianza con cada evento, en las canastas con si.</a:t>
            </a:r>
            <a:endParaRPr lang="en-US" sz="1600" dirty="0"/>
          </a:p>
        </p:txBody>
      </p:sp>
      <p:sp>
        <p:nvSpPr>
          <p:cNvPr id="13" name="Shape 11"/>
          <p:cNvSpPr/>
          <p:nvPr/>
        </p:nvSpPr>
        <p:spPr>
          <a:xfrm>
            <a:off x="548640" y="312724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026664"/>
            <a:ext cx="4937760" cy="530352"/>
          </a:xfrm>
          <a:prstGeom prst="roundRect">
            <a:avLst>
              <a:gd name="adj" fmla="val 8621"/>
            </a:avLst>
          </a:prstGeom>
          <a:solidFill>
            <a:srgbClr val="DCEFE0"/>
          </a:solidFill>
          <a:ln w="12700">
            <a:solidFill>
              <a:srgbClr val="DCEFE0"/>
            </a:solidFill>
            <a:prstDash val="solid"/>
          </a:ln>
        </p:spPr>
      </p:sp>
      <p:sp>
        <p:nvSpPr>
          <p:cNvPr id="16" name="Text 14"/>
          <p:cNvSpPr/>
          <p:nvPr/>
        </p:nvSpPr>
        <p:spPr>
          <a:xfrm>
            <a:off x="1170432" y="302666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tabla.mean()</a:t>
            </a:r>
            <a:endParaRPr lang="en-US" sz="1400" dirty="0"/>
          </a:p>
        </p:txBody>
      </p:sp>
      <p:sp>
        <p:nvSpPr>
          <p:cNvPr id="17" name="Text 15"/>
          <p:cNvSpPr/>
          <p:nvPr/>
        </p:nvSpPr>
        <p:spPr>
          <a:xfrm>
            <a:off x="6263640" y="302666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normal de cada evento, en todas las canastas.</a:t>
            </a:r>
            <a:endParaRPr lang="en-US" sz="1600" dirty="0"/>
          </a:p>
        </p:txBody>
      </p:sp>
      <p:sp>
        <p:nvSpPr>
          <p:cNvPr id="18" name="Shape 16"/>
          <p:cNvSpPr/>
          <p:nvPr/>
        </p:nvSpPr>
        <p:spPr>
          <a:xfrm>
            <a:off x="548640" y="3840480"/>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38404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48456"/>
            <a:ext cx="4937760" cy="713232"/>
          </a:xfrm>
          <a:prstGeom prst="roundRect">
            <a:avLst>
              <a:gd name="adj" fmla="val 6410"/>
            </a:avLst>
          </a:prstGeom>
          <a:solidFill>
            <a:srgbClr val="FDF0C8"/>
          </a:solidFill>
          <a:ln w="12700">
            <a:solidFill>
              <a:srgbClr val="FDF0C8"/>
            </a:solidFill>
            <a:prstDash val="solid"/>
          </a:ln>
        </p:spPr>
      </p:sp>
      <p:sp>
        <p:nvSpPr>
          <p:cNvPr id="21" name="Text 19"/>
          <p:cNvSpPr/>
          <p:nvPr/>
        </p:nvSpPr>
        <p:spPr>
          <a:xfrm>
            <a:off x="1170432" y="3648456"/>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t>
            </a:r>
            <a:endParaRPr lang="en-US" sz="1400" dirty="0"/>
          </a:p>
        </p:txBody>
      </p:sp>
      <p:sp>
        <p:nvSpPr>
          <p:cNvPr id="22" name="Text 20"/>
          <p:cNvSpPr/>
          <p:nvPr/>
        </p:nvSpPr>
        <p:spPr>
          <a:xfrm>
            <a:off x="6263640" y="3648456"/>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Divide columna por columna. Da el lift de cada pareja.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divide la confianza de cada evento por lo normal de ese evento.</a:t>
            </a:r>
            <a:endParaRPr lang="en-US" sz="15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la lista y vuelve a correr la celda. Prueba falla_electrica, evento_climatico y preventivo.</a:t>
            </a:r>
            <a:endParaRPr lang="en-US" sz="1400" dirty="0"/>
          </a:p>
        </p:txBody>
      </p:sp>
      <p:sp>
        <p:nvSpPr>
          <p:cNvPr id="6" name="Shape 4"/>
          <p:cNvSpPr/>
          <p:nvPr/>
        </p:nvSpPr>
        <p:spPr>
          <a:xfrm>
            <a:off x="548640" y="1481328"/>
            <a:ext cx="11091672" cy="2180844"/>
          </a:xfrm>
          <a:prstGeom prst="roundRect">
            <a:avLst>
              <a:gd name="adj" fmla="val 2516"/>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988820"/>
          </a:xfrm>
          <a:prstGeom prst="rect">
            <a:avLst/>
          </a:prstGeom>
          <a:noFill/>
          <a:ln/>
        </p:spPr>
        <p:txBody>
          <a:bodyPr wrap="square" lIns="0" tIns="0" rIns="0" bIns="0" rtlCol="0" anchor="t"/>
          <a:lstStyle/>
          <a:p>
            <a:pPr indent="0" marL="0">
              <a:buNone/>
            </a:pPr>
            <a:r>
              <a:rPr lang="en-US" sz="1200" dirty="0">
                <a:solidFill>
                  <a:srgbClr val="188038"/>
                </a:solidFill>
                <a:latin typeface="Courier New" pitchFamily="34" charset="0"/>
                <a:ea typeface="Courier New" pitchFamily="34" charset="-122"/>
                <a:cs typeface="Courier New" pitchFamily="34" charset="-120"/>
              </a:rPr>
              <a:t># Estudio 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si = </a:t>
            </a:r>
            <a:pPr indent="0" marL="0">
              <a:buNone/>
            </a:pPr>
            <a:r>
              <a:rPr lang="en-US" sz="1200" dirty="0">
                <a:solidFill>
                  <a:srgbClr val="A31515"/>
                </a:solidFill>
                <a:latin typeface="Courier New" pitchFamily="34" charset="0"/>
                <a:ea typeface="Courier New" pitchFamily="34" charset="-122"/>
                <a:cs typeface="Courier New" pitchFamily="34" charset="-120"/>
              </a:rPr>
              <a:t>"falla_electrica"</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"fall…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188038"/>
                </a:solidFill>
                <a:latin typeface="Courier New" pitchFamily="34" charset="0"/>
                <a:ea typeface="Courier New" pitchFamily="34" charset="-122"/>
                <a:cs typeface="Courier New" pitchFamily="34" charset="-120"/>
              </a:rPr>
              <a:t># Lo mismo del Paso 4, para todos los entonces a la vez.</a:t>
            </a:r>
            <a:endParaRPr lang="en-US" sz="1200" dirty="0"/>
          </a:p>
          <a:p>
            <a:pPr indent="0" marL="0">
              <a:buNone/>
            </a:pPr>
            <a:r>
              <a:rPr lang="en-US" sz="1200" dirty="0">
                <a:solidFill>
                  <a:srgbClr val="188038"/>
                </a:solidFill>
                <a:latin typeface="Courier New" pitchFamily="34" charset="0"/>
                <a:ea typeface="Courier New" pitchFamily="34" charset="-122"/>
                <a:cs typeface="Courier New" pitchFamily="34" charset="-120"/>
              </a:rPr>
              <a:t># mean saca la proporción de cada columna, en las canastas con si y en todas.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con_si = tabla[tabla[si] == True]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 con_si.mean() / tabla.mean()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188038"/>
                </a:solidFill>
                <a:latin typeface="Courier New" pitchFamily="34" charset="0"/>
                <a:ea typeface="Courier New" pitchFamily="34" charset="-122"/>
                <a:cs typeface="Courier New" pitchFamily="34" charset="-120"/>
              </a:rPr>
              <a:t># drop quita el mismo evento, porque siempre se acompaña a sí mismo.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lift.drop(si).round(2).sort_values(ascending=False)</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3771900"/>
            <a:ext cx="10314432" cy="1613002"/>
          </a:xfrm>
          <a:prstGeom prst="rect">
            <a:avLst/>
          </a:prstGeom>
          <a:solidFill>
            <a:srgbClr val="FFFFFF"/>
          </a:solidFill>
          <a:ln w="12700">
            <a:solidFill>
              <a:srgbClr val="DADCE0"/>
            </a:solidFill>
            <a:prstDash val="solid"/>
          </a:ln>
        </p:spPr>
      </p:sp>
      <p:sp>
        <p:nvSpPr>
          <p:cNvPr id="15" name="Text 13"/>
          <p:cNvSpPr/>
          <p:nvPr/>
        </p:nvSpPr>
        <p:spPr>
          <a:xfrm>
            <a:off x="1463040" y="3845052"/>
            <a:ext cx="10085832" cy="148498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tipo_evento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2.08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0.93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0.92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0.90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0.65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dtype: float64</a:t>
            </a:r>
            <a:endParaRPr lang="en-US" sz="1200" dirty="0"/>
          </a:p>
        </p:txBody>
      </p:sp>
      <p:sp>
        <p:nvSpPr>
          <p:cNvPr id="16" name="Text 14"/>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5"/>
          <p:cNvSpPr/>
          <p:nvPr/>
        </p:nvSpPr>
        <p:spPr>
          <a:xfrm>
            <a:off x="548640" y="6062472"/>
            <a:ext cx="1902866" cy="512064"/>
          </a:xfrm>
          <a:prstGeom prst="roundRect">
            <a:avLst>
              <a:gd name="adj" fmla="val 12500"/>
            </a:avLst>
          </a:prstGeom>
          <a:solidFill>
            <a:srgbClr val="FEF3D6"/>
          </a:solidFill>
          <a:ln w="25400">
            <a:solidFill>
              <a:srgbClr val="F9AB00"/>
            </a:solidFill>
            <a:prstDash val="solid"/>
          </a:ln>
        </p:spPr>
      </p:sp>
      <p:sp>
        <p:nvSpPr>
          <p:cNvPr id="18" name="Text 16"/>
          <p:cNvSpPr/>
          <p:nvPr/>
        </p:nvSpPr>
        <p:spPr>
          <a:xfrm>
            <a:off x="640080"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9" name="Shape 17"/>
          <p:cNvSpPr/>
          <p:nvPr/>
        </p:nvSpPr>
        <p:spPr>
          <a:xfrm>
            <a:off x="2588666" y="6062472"/>
            <a:ext cx="1431950" cy="512064"/>
          </a:xfrm>
          <a:prstGeom prst="roundRect">
            <a:avLst>
              <a:gd name="adj" fmla="val 12500"/>
            </a:avLst>
          </a:prstGeom>
          <a:solidFill>
            <a:srgbClr val="FEF3D6"/>
          </a:solidFill>
          <a:ln w="25400">
            <a:solidFill>
              <a:srgbClr val="F9AB00"/>
            </a:solidFill>
            <a:prstDash val="solid"/>
          </a:ln>
        </p:spPr>
      </p:sp>
      <p:sp>
        <p:nvSpPr>
          <p:cNvPr id="20" name="Text 18"/>
          <p:cNvSpPr/>
          <p:nvPr/>
        </p:nvSpPr>
        <p:spPr>
          <a:xfrm>
            <a:off x="2680106"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42 × 6</a:t>
            </a:r>
            <a:endParaRPr lang="en-US" sz="1200" dirty="0"/>
          </a:p>
        </p:txBody>
      </p:sp>
      <p:sp>
        <p:nvSpPr>
          <p:cNvPr id="21" name="Shape 19"/>
          <p:cNvSpPr/>
          <p:nvPr/>
        </p:nvSpPr>
        <p:spPr>
          <a:xfrm>
            <a:off x="4157777" y="6062472"/>
            <a:ext cx="1997050"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4249217"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3" name="Shape 21"/>
          <p:cNvSpPr/>
          <p:nvPr/>
        </p:nvSpPr>
        <p:spPr>
          <a:xfrm>
            <a:off x="6291986" y="6062472"/>
            <a:ext cx="1526134" cy="512064"/>
          </a:xfrm>
          <a:prstGeom prst="roundRect">
            <a:avLst>
              <a:gd name="adj" fmla="val 12500"/>
            </a:avLst>
          </a:prstGeom>
          <a:solidFill>
            <a:srgbClr val="E8F0FE"/>
          </a:solidFill>
          <a:ln w="28575">
            <a:solidFill>
              <a:srgbClr val="1A73E8"/>
            </a:solidFill>
            <a:prstDash val="solid"/>
          </a:ln>
        </p:spPr>
      </p:sp>
      <p:sp>
        <p:nvSpPr>
          <p:cNvPr id="24" name="Text 22"/>
          <p:cNvSpPr/>
          <p:nvPr/>
        </p:nvSpPr>
        <p:spPr>
          <a:xfrm>
            <a:off x="6383426"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25" name="Shape 23"/>
          <p:cNvSpPr/>
          <p:nvPr/>
        </p:nvSpPr>
        <p:spPr>
          <a:xfrm>
            <a:off x="7955280" y="6062472"/>
            <a:ext cx="1526134" cy="512064"/>
          </a:xfrm>
          <a:prstGeom prst="roundRect">
            <a:avLst>
              <a:gd name="adj" fmla="val 12500"/>
            </a:avLst>
          </a:prstGeom>
          <a:solidFill>
            <a:srgbClr val="F1F3F4"/>
          </a:solidFill>
          <a:ln w="12700">
            <a:solidFill>
              <a:srgbClr val="DADCE0"/>
            </a:solidFill>
            <a:prstDash val="solid"/>
          </a:ln>
        </p:spPr>
      </p:sp>
      <p:sp>
        <p:nvSpPr>
          <p:cNvPr id="26" name="Text 24"/>
          <p:cNvSpPr/>
          <p:nvPr/>
        </p:nvSpPr>
        <p:spPr>
          <a:xfrm>
            <a:off x="804672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7" name="Text 25"/>
          <p:cNvSpPr/>
          <p:nvPr/>
        </p:nvSpPr>
        <p:spPr>
          <a:xfrm>
            <a:off x="961857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
        <p:nvSpPr>
          <p:cNvPr id="28" name="Text 26"/>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falla eléctrica, solo el correctivo pasa de 1. Su lift es 2,08.</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la lista y se vuelve a correr la celda.</a:t>
            </a:r>
            <a:endParaRPr lang="en-US" sz="1400" dirty="0"/>
          </a:p>
        </p:txBody>
      </p:sp>
      <p:sp>
        <p:nvSpPr>
          <p:cNvPr id="6" name="Shape 4"/>
          <p:cNvSpPr/>
          <p:nvPr/>
        </p:nvSpPr>
        <p:spPr>
          <a:xfrm>
            <a:off x="548640" y="1481328"/>
            <a:ext cx="11091672" cy="1053846"/>
          </a:xfrm>
          <a:prstGeom prst="roundRect">
            <a:avLst>
              <a:gd name="adj" fmla="val 5206"/>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861822"/>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si = </a:t>
            </a:r>
            <a:pPr indent="0" marL="0">
              <a:buNone/>
            </a:pPr>
            <a:r>
              <a:rPr lang="en-US" sz="13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con_si = tabla[tabla[si] == True]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lift = con_si.mean() / tabla.mean()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lift.drop(si).round(2).sort_values(ascending=False)</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2562606"/>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18" name="Shape 16"/>
          <p:cNvSpPr/>
          <p:nvPr/>
        </p:nvSpPr>
        <p:spPr>
          <a:xfrm>
            <a:off x="2211934" y="6062472"/>
            <a:ext cx="1620317"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303374"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0" name="Shape 18"/>
          <p:cNvSpPr/>
          <p:nvPr/>
        </p:nvSpPr>
        <p:spPr>
          <a:xfrm>
            <a:off x="3969410" y="6062472"/>
            <a:ext cx="14319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406085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2" name="Shape 20"/>
          <p:cNvSpPr/>
          <p:nvPr/>
        </p:nvSpPr>
        <p:spPr>
          <a:xfrm>
            <a:off x="5538521" y="6062472"/>
            <a:ext cx="1902866"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629961"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4" name="Shape 22"/>
          <p:cNvSpPr/>
          <p:nvPr/>
        </p:nvSpPr>
        <p:spPr>
          <a:xfrm>
            <a:off x="7578547" y="6062472"/>
            <a:ext cx="1337767"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7669987"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6" name="Text 24"/>
          <p:cNvSpPr/>
          <p:nvPr/>
        </p:nvSpPr>
        <p:spPr>
          <a:xfrm>
            <a:off x="905347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
        <p:nvSpPr>
          <p:cNvPr id="27" name="Text 25"/>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la lista y se vuelve a correr la celda.</a:t>
            </a:r>
            <a:endParaRPr lang="en-US" sz="1400" dirty="0"/>
          </a:p>
        </p:txBody>
      </p:sp>
      <p:sp>
        <p:nvSpPr>
          <p:cNvPr id="6" name="Shape 4"/>
          <p:cNvSpPr/>
          <p:nvPr/>
        </p:nvSpPr>
        <p:spPr>
          <a:xfrm>
            <a:off x="548640" y="1481328"/>
            <a:ext cx="11091672" cy="987552"/>
          </a:xfrm>
          <a:prstGeom prst="roundRect">
            <a:avLst>
              <a:gd name="adj" fmla="val 5556"/>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79552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 = </a:t>
            </a:r>
            <a:pPr indent="0" marL="0">
              <a:buNone/>
            </a:pPr>
            <a:r>
              <a:rPr lang="en-US" sz="12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"fal…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con_si = tabla[tabla[si] == True]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 con_si.mean() / tabla.mean()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lift.drop(si).round(2).sort_values(ascending=False)</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2578608"/>
            <a:ext cx="10314432" cy="1613002"/>
          </a:xfrm>
          <a:prstGeom prst="rect">
            <a:avLst/>
          </a:prstGeom>
          <a:solidFill>
            <a:srgbClr val="FFFFFF"/>
          </a:solidFill>
          <a:ln w="12700">
            <a:solidFill>
              <a:srgbClr val="DADCE0"/>
            </a:solidFill>
            <a:prstDash val="solid"/>
          </a:ln>
        </p:spPr>
      </p:sp>
      <p:sp>
        <p:nvSpPr>
          <p:cNvPr id="15" name="Text 13"/>
          <p:cNvSpPr/>
          <p:nvPr/>
        </p:nvSpPr>
        <p:spPr>
          <a:xfrm>
            <a:off x="1463040" y="2651760"/>
            <a:ext cx="10085832" cy="148498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tipo_evento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1.90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1.15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0.90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0.68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0.65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dtype: float64</a:t>
            </a:r>
            <a:endParaRPr lang="en-US" sz="1200" dirty="0"/>
          </a:p>
        </p:txBody>
      </p:sp>
      <p:sp>
        <p:nvSpPr>
          <p:cNvPr id="16" name="Text 14"/>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5"/>
          <p:cNvSpPr/>
          <p:nvPr/>
        </p:nvSpPr>
        <p:spPr>
          <a:xfrm>
            <a:off x="548640" y="6062472"/>
            <a:ext cx="1997050" cy="512064"/>
          </a:xfrm>
          <a:prstGeom prst="roundRect">
            <a:avLst>
              <a:gd name="adj" fmla="val 12500"/>
            </a:avLst>
          </a:prstGeom>
          <a:solidFill>
            <a:srgbClr val="FEF3D6"/>
          </a:solidFill>
          <a:ln w="25400">
            <a:solidFill>
              <a:srgbClr val="F9AB00"/>
            </a:solidFill>
            <a:prstDash val="solid"/>
          </a:ln>
        </p:spPr>
      </p:sp>
      <p:sp>
        <p:nvSpPr>
          <p:cNvPr id="18" name="Text 16"/>
          <p:cNvSpPr/>
          <p:nvPr/>
        </p:nvSpPr>
        <p:spPr>
          <a:xfrm>
            <a:off x="640080"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19" name="Shape 17"/>
          <p:cNvSpPr/>
          <p:nvPr/>
        </p:nvSpPr>
        <p:spPr>
          <a:xfrm>
            <a:off x="2682850" y="6062472"/>
            <a:ext cx="1431950" cy="512064"/>
          </a:xfrm>
          <a:prstGeom prst="roundRect">
            <a:avLst>
              <a:gd name="adj" fmla="val 12500"/>
            </a:avLst>
          </a:prstGeom>
          <a:solidFill>
            <a:srgbClr val="FEF3D6"/>
          </a:solidFill>
          <a:ln w="25400">
            <a:solidFill>
              <a:srgbClr val="F9AB00"/>
            </a:solidFill>
            <a:prstDash val="solid"/>
          </a:ln>
        </p:spPr>
      </p:sp>
      <p:sp>
        <p:nvSpPr>
          <p:cNvPr id="20" name="Text 18"/>
          <p:cNvSpPr/>
          <p:nvPr/>
        </p:nvSpPr>
        <p:spPr>
          <a:xfrm>
            <a:off x="277429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55 × 6</a:t>
            </a:r>
            <a:endParaRPr lang="en-US" sz="1200" dirty="0"/>
          </a:p>
        </p:txBody>
      </p:sp>
      <p:sp>
        <p:nvSpPr>
          <p:cNvPr id="21" name="Shape 19"/>
          <p:cNvSpPr/>
          <p:nvPr/>
        </p:nvSpPr>
        <p:spPr>
          <a:xfrm>
            <a:off x="4251960" y="6062472"/>
            <a:ext cx="1997050"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4343400"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3" name="Shape 21"/>
          <p:cNvSpPr/>
          <p:nvPr/>
        </p:nvSpPr>
        <p:spPr>
          <a:xfrm>
            <a:off x="6386170" y="6062472"/>
            <a:ext cx="1526134" cy="512064"/>
          </a:xfrm>
          <a:prstGeom prst="roundRect">
            <a:avLst>
              <a:gd name="adj" fmla="val 12500"/>
            </a:avLst>
          </a:prstGeom>
          <a:solidFill>
            <a:srgbClr val="E8F0FE"/>
          </a:solidFill>
          <a:ln w="28575">
            <a:solidFill>
              <a:srgbClr val="1A73E8"/>
            </a:solidFill>
            <a:prstDash val="solid"/>
          </a:ln>
        </p:spPr>
      </p:sp>
      <p:sp>
        <p:nvSpPr>
          <p:cNvPr id="24" name="Text 22"/>
          <p:cNvSpPr/>
          <p:nvPr/>
        </p:nvSpPr>
        <p:spPr>
          <a:xfrm>
            <a:off x="647761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25" name="Shape 23"/>
          <p:cNvSpPr/>
          <p:nvPr/>
        </p:nvSpPr>
        <p:spPr>
          <a:xfrm>
            <a:off x="8049463" y="6062472"/>
            <a:ext cx="1526134" cy="512064"/>
          </a:xfrm>
          <a:prstGeom prst="roundRect">
            <a:avLst>
              <a:gd name="adj" fmla="val 12500"/>
            </a:avLst>
          </a:prstGeom>
          <a:solidFill>
            <a:srgbClr val="F1F3F4"/>
          </a:solidFill>
          <a:ln w="12700">
            <a:solidFill>
              <a:srgbClr val="DADCE0"/>
            </a:solidFill>
            <a:prstDash val="solid"/>
          </a:ln>
        </p:spPr>
      </p:sp>
      <p:sp>
        <p:nvSpPr>
          <p:cNvPr id="26" name="Text 24"/>
          <p:cNvSpPr/>
          <p:nvPr/>
        </p:nvSpPr>
        <p:spPr>
          <a:xfrm>
            <a:off x="8140903"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7" name="Text 25"/>
          <p:cNvSpPr/>
          <p:nvPr/>
        </p:nvSpPr>
        <p:spPr>
          <a:xfrm>
            <a:off x="9712757"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
        <p:nvSpPr>
          <p:cNvPr id="28" name="Text 26"/>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evento climático, la falla mecánica tiene lift 1,9.</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la lista y se vuelve a correr la celda.</a:t>
            </a:r>
            <a:endParaRPr lang="en-US" sz="1400" dirty="0"/>
          </a:p>
        </p:txBody>
      </p:sp>
      <p:sp>
        <p:nvSpPr>
          <p:cNvPr id="6" name="Shape 4"/>
          <p:cNvSpPr/>
          <p:nvPr/>
        </p:nvSpPr>
        <p:spPr>
          <a:xfrm>
            <a:off x="548640" y="1481328"/>
            <a:ext cx="11091672" cy="1053846"/>
          </a:xfrm>
          <a:prstGeom prst="roundRect">
            <a:avLst>
              <a:gd name="adj" fmla="val 5206"/>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861822"/>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si = </a:t>
            </a:r>
            <a:pPr indent="0" marL="0">
              <a:buNone/>
            </a:pPr>
            <a:r>
              <a:rPr lang="en-US" sz="1300" dirty="0">
                <a:solidFill>
                  <a:srgbClr val="A31515"/>
                </a:solidFill>
                <a:latin typeface="Courier New" pitchFamily="34" charset="0"/>
                <a:ea typeface="Courier New" pitchFamily="34" charset="-122"/>
                <a:cs typeface="Courier New" pitchFamily="34" charset="-120"/>
              </a:rPr>
              <a:t>"preventivo"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["preventivo", "correctivo", "inspeccion", "fal…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con_si = tabla[tabla[si] == True]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lift = con_si.mean() / tabla.mean()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lift.drop(si).round(2).sort_values(ascending=False)</a:t>
            </a:r>
            <a:endParaRPr lang="en-US" sz="13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preventivo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2562606"/>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18" name="Shape 16"/>
          <p:cNvSpPr/>
          <p:nvPr/>
        </p:nvSpPr>
        <p:spPr>
          <a:xfrm>
            <a:off x="2211934" y="6062472"/>
            <a:ext cx="1620317"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303374"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0" name="Shape 18"/>
          <p:cNvSpPr/>
          <p:nvPr/>
        </p:nvSpPr>
        <p:spPr>
          <a:xfrm>
            <a:off x="3969410" y="6062472"/>
            <a:ext cx="14319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406085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2" name="Shape 20"/>
          <p:cNvSpPr/>
          <p:nvPr/>
        </p:nvSpPr>
        <p:spPr>
          <a:xfrm>
            <a:off x="5538521" y="6062472"/>
            <a:ext cx="1902866"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629961"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4" name="Shape 22"/>
          <p:cNvSpPr/>
          <p:nvPr/>
        </p:nvSpPr>
        <p:spPr>
          <a:xfrm>
            <a:off x="7578547" y="6062472"/>
            <a:ext cx="1337767"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7669987"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6" name="Text 24"/>
          <p:cNvSpPr/>
          <p:nvPr/>
        </p:nvSpPr>
        <p:spPr>
          <a:xfrm>
            <a:off x="905347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
        <p:nvSpPr>
          <p:cNvPr id="27" name="Text 25"/>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la lista y se vuelve a correr la celda.</a:t>
            </a:r>
            <a:endParaRPr lang="en-US" sz="1400" dirty="0"/>
          </a:p>
        </p:txBody>
      </p:sp>
      <p:sp>
        <p:nvSpPr>
          <p:cNvPr id="6" name="Shape 4"/>
          <p:cNvSpPr/>
          <p:nvPr/>
        </p:nvSpPr>
        <p:spPr>
          <a:xfrm>
            <a:off x="548640" y="1481328"/>
            <a:ext cx="11091672" cy="987552"/>
          </a:xfrm>
          <a:prstGeom prst="roundRect">
            <a:avLst>
              <a:gd name="adj" fmla="val 5556"/>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79552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 = </a:t>
            </a:r>
            <a:pPr indent="0" marL="0">
              <a:buNone/>
            </a:pPr>
            <a:r>
              <a:rPr lang="en-US" sz="1200" dirty="0">
                <a:solidFill>
                  <a:srgbClr val="A31515"/>
                </a:solidFill>
                <a:latin typeface="Courier New" pitchFamily="34" charset="0"/>
                <a:ea typeface="Courier New" pitchFamily="34" charset="-122"/>
                <a:cs typeface="Courier New" pitchFamily="34" charset="-120"/>
              </a:rPr>
              <a:t>"preventivo"</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["preventivo", "correctivo", "inspeccion", "falla_mec…</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con_si = tabla[tabla[si] == True]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 = con_si.mean() / tabla.mean()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lift.drop(si).round(2).sort_values(ascending=False)</a:t>
            </a:r>
            <a:endParaRPr lang="en-US" sz="12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si</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preventivo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2578608"/>
            <a:ext cx="10314432" cy="1613002"/>
          </a:xfrm>
          <a:prstGeom prst="rect">
            <a:avLst/>
          </a:prstGeom>
          <a:solidFill>
            <a:srgbClr val="FFFFFF"/>
          </a:solidFill>
          <a:ln w="12700">
            <a:solidFill>
              <a:srgbClr val="DADCE0"/>
            </a:solidFill>
            <a:prstDash val="solid"/>
          </a:ln>
        </p:spPr>
      </p:sp>
      <p:sp>
        <p:nvSpPr>
          <p:cNvPr id="15" name="Text 13"/>
          <p:cNvSpPr/>
          <p:nvPr/>
        </p:nvSpPr>
        <p:spPr>
          <a:xfrm>
            <a:off x="1463040" y="2651760"/>
            <a:ext cx="10085832" cy="148498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tipo_evento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0.93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0.90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0.90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0.84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0.83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dtype: float64</a:t>
            </a:r>
            <a:endParaRPr lang="en-US" sz="1200" dirty="0"/>
          </a:p>
        </p:txBody>
      </p:sp>
      <p:sp>
        <p:nvSpPr>
          <p:cNvPr id="16" name="Text 14"/>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5"/>
          <p:cNvSpPr/>
          <p:nvPr/>
        </p:nvSpPr>
        <p:spPr>
          <a:xfrm>
            <a:off x="548640" y="6062472"/>
            <a:ext cx="1431950" cy="512064"/>
          </a:xfrm>
          <a:prstGeom prst="roundRect">
            <a:avLst>
              <a:gd name="adj" fmla="val 12500"/>
            </a:avLst>
          </a:prstGeom>
          <a:solidFill>
            <a:srgbClr val="FEF3D6"/>
          </a:solidFill>
          <a:ln w="25400">
            <a:solidFill>
              <a:srgbClr val="F9AB00"/>
            </a:solidFill>
            <a:prstDash val="solid"/>
          </a:ln>
        </p:spPr>
      </p:sp>
      <p:sp>
        <p:nvSpPr>
          <p:cNvPr id="18" name="Text 16"/>
          <p:cNvSpPr/>
          <p:nvPr/>
        </p:nvSpPr>
        <p:spPr>
          <a:xfrm>
            <a:off x="64008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9" name="Shape 17"/>
          <p:cNvSpPr/>
          <p:nvPr/>
        </p:nvSpPr>
        <p:spPr>
          <a:xfrm>
            <a:off x="2117750" y="6062472"/>
            <a:ext cx="1526134" cy="512064"/>
          </a:xfrm>
          <a:prstGeom prst="roundRect">
            <a:avLst>
              <a:gd name="adj" fmla="val 12500"/>
            </a:avLst>
          </a:prstGeom>
          <a:solidFill>
            <a:srgbClr val="FEF3D6"/>
          </a:solidFill>
          <a:ln w="25400">
            <a:solidFill>
              <a:srgbClr val="F9AB00"/>
            </a:solidFill>
            <a:prstDash val="solid"/>
          </a:ln>
        </p:spPr>
      </p:sp>
      <p:sp>
        <p:nvSpPr>
          <p:cNvPr id="20" name="Text 18"/>
          <p:cNvSpPr/>
          <p:nvPr/>
        </p:nvSpPr>
        <p:spPr>
          <a:xfrm>
            <a:off x="220919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121 × 6</a:t>
            </a:r>
            <a:endParaRPr lang="en-US" sz="1200" dirty="0"/>
          </a:p>
        </p:txBody>
      </p:sp>
      <p:sp>
        <p:nvSpPr>
          <p:cNvPr id="21" name="Shape 19"/>
          <p:cNvSpPr/>
          <p:nvPr/>
        </p:nvSpPr>
        <p:spPr>
          <a:xfrm>
            <a:off x="3781044" y="6062472"/>
            <a:ext cx="1997050"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3872484"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3" name="Shape 21"/>
          <p:cNvSpPr/>
          <p:nvPr/>
        </p:nvSpPr>
        <p:spPr>
          <a:xfrm>
            <a:off x="5915254" y="6062472"/>
            <a:ext cx="1526134" cy="512064"/>
          </a:xfrm>
          <a:prstGeom prst="roundRect">
            <a:avLst>
              <a:gd name="adj" fmla="val 12500"/>
            </a:avLst>
          </a:prstGeom>
          <a:solidFill>
            <a:srgbClr val="E8F0FE"/>
          </a:solidFill>
          <a:ln w="28575">
            <a:solidFill>
              <a:srgbClr val="1A73E8"/>
            </a:solidFill>
            <a:prstDash val="solid"/>
          </a:ln>
        </p:spPr>
      </p:sp>
      <p:sp>
        <p:nvSpPr>
          <p:cNvPr id="24" name="Text 22"/>
          <p:cNvSpPr/>
          <p:nvPr/>
        </p:nvSpPr>
        <p:spPr>
          <a:xfrm>
            <a:off x="600669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25" name="Shape 23"/>
          <p:cNvSpPr/>
          <p:nvPr/>
        </p:nvSpPr>
        <p:spPr>
          <a:xfrm>
            <a:off x="7578547" y="6062472"/>
            <a:ext cx="1526134" cy="512064"/>
          </a:xfrm>
          <a:prstGeom prst="roundRect">
            <a:avLst>
              <a:gd name="adj" fmla="val 12500"/>
            </a:avLst>
          </a:prstGeom>
          <a:solidFill>
            <a:srgbClr val="F1F3F4"/>
          </a:solidFill>
          <a:ln w="12700">
            <a:solidFill>
              <a:srgbClr val="DADCE0"/>
            </a:solidFill>
            <a:prstDash val="solid"/>
          </a:ln>
        </p:spPr>
      </p:sp>
      <p:sp>
        <p:nvSpPr>
          <p:cNvPr id="26" name="Text 24"/>
          <p:cNvSpPr/>
          <p:nvPr/>
        </p:nvSpPr>
        <p:spPr>
          <a:xfrm>
            <a:off x="766998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7" name="Text 25"/>
          <p:cNvSpPr/>
          <p:nvPr/>
        </p:nvSpPr>
        <p:spPr>
          <a:xfrm>
            <a:off x="9241841"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
        <p:nvSpPr>
          <p:cNvPr id="28" name="Text 26"/>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Con preventivo ningún evento pasa de 1. El preventivo no anuncia nada.</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eventos acompañan a cada uno?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confianza alta no basta.</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Las reglas que dicen algo tienen lift lejos de 1. Y que dos eventos vayan juntos no prueba que uno cause el otro.</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431950"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2" name="Shape 10"/>
          <p:cNvSpPr/>
          <p:nvPr/>
        </p:nvSpPr>
        <p:spPr>
          <a:xfrm>
            <a:off x="2117750" y="6062472"/>
            <a:ext cx="1526134"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220919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con_si</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121 × 6</a:t>
            </a:r>
            <a:endParaRPr lang="en-US" sz="1200" dirty="0"/>
          </a:p>
        </p:txBody>
      </p:sp>
      <p:sp>
        <p:nvSpPr>
          <p:cNvPr id="14" name="Shape 12"/>
          <p:cNvSpPr/>
          <p:nvPr/>
        </p:nvSpPr>
        <p:spPr>
          <a:xfrm>
            <a:off x="3781044" y="6062472"/>
            <a:ext cx="1997050"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3872484"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lift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6" name="Shape 14"/>
          <p:cNvSpPr/>
          <p:nvPr/>
        </p:nvSpPr>
        <p:spPr>
          <a:xfrm>
            <a:off x="5915254" y="6062472"/>
            <a:ext cx="1526134" cy="512064"/>
          </a:xfrm>
          <a:prstGeom prst="roundRect">
            <a:avLst>
              <a:gd name="adj" fmla="val 12500"/>
            </a:avLst>
          </a:prstGeom>
          <a:solidFill>
            <a:srgbClr val="E8F0FE"/>
          </a:solidFill>
          <a:ln w="28575">
            <a:solidFill>
              <a:srgbClr val="1A73E8"/>
            </a:solidFill>
            <a:prstDash val="solid"/>
          </a:ln>
        </p:spPr>
      </p:sp>
      <p:sp>
        <p:nvSpPr>
          <p:cNvPr id="17" name="Text 15"/>
          <p:cNvSpPr/>
          <p:nvPr/>
        </p:nvSpPr>
        <p:spPr>
          <a:xfrm>
            <a:off x="600669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tabla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215 × 6</a:t>
            </a:r>
            <a:endParaRPr lang="en-US" sz="1200" dirty="0"/>
          </a:p>
        </p:txBody>
      </p:sp>
      <p:sp>
        <p:nvSpPr>
          <p:cNvPr id="18" name="Shape 16"/>
          <p:cNvSpPr/>
          <p:nvPr/>
        </p:nvSpPr>
        <p:spPr>
          <a:xfrm>
            <a:off x="7578547" y="6062472"/>
            <a:ext cx="1526134"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766998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0" name="Text 18"/>
          <p:cNvSpPr/>
          <p:nvPr/>
        </p:nvSpPr>
        <p:spPr>
          <a:xfrm>
            <a:off x="9241841"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shift pone al lado de cada evento el siguiente.</a:t>
            </a:r>
            <a:endParaRPr lang="en-US" sz="1400" dirty="0"/>
          </a:p>
        </p:txBody>
      </p:sp>
      <p:pic>
        <p:nvPicPr>
          <p:cNvPr id="6" name="Image 0" descr="../work35/modulos/modulo04/img/lab04_estudio4_siguiente.png">    </p:cNvPr>
          <p:cNvPicPr>
            <a:picLocks noChangeAspect="1"/>
          </p:cNvPicPr>
          <p:nvPr/>
        </p:nvPicPr>
        <p:blipFill>
          <a:blip r:embed="rId1"/>
          <a:stretch>
            <a:fillRect/>
          </a:stretch>
        </p:blipFill>
        <p:spPr>
          <a:xfrm>
            <a:off x="548640" y="1463040"/>
            <a:ext cx="11091672" cy="4672338"/>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la lista y vuelve a correr la celda. Prueba falla_electrica, evento_climatico y preventivo.</a:t>
            </a:r>
            <a:endParaRPr lang="en-US" sz="1400" dirty="0"/>
          </a:p>
        </p:txBody>
      </p:sp>
      <p:sp>
        <p:nvSpPr>
          <p:cNvPr id="6" name="Shape 4"/>
          <p:cNvSpPr/>
          <p:nvPr/>
        </p:nvSpPr>
        <p:spPr>
          <a:xfrm>
            <a:off x="548640" y="1481328"/>
            <a:ext cx="11091672" cy="2562034"/>
          </a:xfrm>
          <a:prstGeom prst="roundRect">
            <a:avLst>
              <a:gd name="adj" fmla="val 2141"/>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2370010"/>
          </a:xfrm>
          <a:prstGeom prst="rect">
            <a:avLst/>
          </a:prstGeom>
          <a:noFill/>
          <a:ln/>
        </p:spPr>
        <p:txBody>
          <a:bodyPr wrap="square" lIns="0" tIns="0" rIns="0" bIns="0" rtlCol="0" anchor="t"/>
          <a:lstStyle/>
          <a:p>
            <a:pPr indent="0" marL="0">
              <a:buNone/>
            </a:pPr>
            <a:r>
              <a:rPr lang="en-US" sz="1100" dirty="0">
                <a:solidFill>
                  <a:srgbClr val="188038"/>
                </a:solidFill>
                <a:latin typeface="Courier New" pitchFamily="34" charset="0"/>
                <a:ea typeface="Courier New" pitchFamily="34" charset="-122"/>
                <a:cs typeface="Courier New" pitchFamily="34" charset="-120"/>
              </a:rPr>
              <a:t># Estudio 4</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evento = </a:t>
            </a:r>
            <a:pPr indent="0" marL="0">
              <a:buNone/>
            </a:pPr>
            <a:r>
              <a:rPr lang="en-US" sz="1100" dirty="0">
                <a:solidFill>
                  <a:srgbClr val="A31515"/>
                </a:solidFill>
                <a:latin typeface="Courier New" pitchFamily="34" charset="0"/>
                <a:ea typeface="Courier New" pitchFamily="34" charset="-122"/>
                <a:cs typeface="Courier New" pitchFamily="34" charset="-120"/>
              </a:rPr>
              <a:t>"falla_electrica"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["preventivo", "correctivo", "inspeccion", "falla_m…</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Se ordena por central y fecha, y shift(-1) trae el evento de la fila siguiente.</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groupby("central") cuida que el siguiente sea de la misma central.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 = mant.sort_values([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]).copy()</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].shift(-1)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Las filas del evento elegido, y en qué porcentaje viene cada siguiente.</a:t>
            </a:r>
            <a:endParaRPr lang="en-US" sz="1100" dirty="0"/>
          </a:p>
          <a:p>
            <a:pPr indent="0" marL="0">
              <a:buNone/>
            </a:pPr>
            <a:r>
              <a:rPr lang="en-US" sz="1100" dirty="0">
                <a:solidFill>
                  <a:srgbClr val="188038"/>
                </a:solidFill>
                <a:latin typeface="Courier New" pitchFamily="34" charset="0"/>
                <a:ea typeface="Courier New" pitchFamily="34" charset="-122"/>
                <a:cs typeface="Courier New" pitchFamily="34" charset="-120"/>
              </a:rPr>
              <a:t># normalize=True entrega proporciones en vez de conteos.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despues = ordenados[ordenados[</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evento]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"Después de {evento}, el evento siguiente en la misma central, en porcentaje"</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(100 * despues[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].value_counts(normalize=True)).round(1)</a:t>
            </a:r>
            <a:endParaRPr lang="en-US" sz="11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evento</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falla_electrica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407079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526134"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18" name="Shape 16"/>
          <p:cNvSpPr/>
          <p:nvPr/>
        </p:nvSpPr>
        <p:spPr>
          <a:xfrm>
            <a:off x="2211934" y="6062472"/>
            <a:ext cx="1620317"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303374"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0" name="Shape 18"/>
          <p:cNvSpPr/>
          <p:nvPr/>
        </p:nvSpPr>
        <p:spPr>
          <a:xfrm>
            <a:off x="3969410" y="6062472"/>
            <a:ext cx="14319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406085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2" name="Shape 20"/>
          <p:cNvSpPr/>
          <p:nvPr/>
        </p:nvSpPr>
        <p:spPr>
          <a:xfrm>
            <a:off x="5538521" y="6062472"/>
            <a:ext cx="1902866"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629961"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tipo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4" name="Shape 22"/>
          <p:cNvSpPr/>
          <p:nvPr/>
        </p:nvSpPr>
        <p:spPr>
          <a:xfrm>
            <a:off x="7578547" y="6062472"/>
            <a:ext cx="1337767"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7669987" y="6071616"/>
            <a:ext cx="120060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6" name="Text 24"/>
          <p:cNvSpPr/>
          <p:nvPr/>
        </p:nvSpPr>
        <p:spPr>
          <a:xfrm>
            <a:off x="905347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4632"/>
          </a:xfrm>
          <a:prstGeom prst="roundRect">
            <a:avLst>
              <a:gd name="adj" fmla="val 11321"/>
            </a:avLst>
          </a:prstGeom>
          <a:solidFill>
            <a:srgbClr val="F8F9FA"/>
          </a:solidFill>
          <a:ln w="12700">
            <a:solidFill>
              <a:srgbClr val="DADCE0"/>
            </a:solidFill>
            <a:prstDash val="solid"/>
          </a:ln>
        </p:spPr>
      </p:sp>
      <p:sp>
        <p:nvSpPr>
          <p:cNvPr id="7" name="Text 5"/>
          <p:cNvSpPr/>
          <p:nvPr/>
        </p:nvSpPr>
        <p:spPr>
          <a:xfrm>
            <a:off x="822960" y="1597628"/>
            <a:ext cx="10634472" cy="215456"/>
          </a:xfrm>
          <a:prstGeom prst="rect">
            <a:avLst/>
          </a:prstGeom>
          <a:noFill/>
          <a:ln/>
        </p:spPr>
        <p:txBody>
          <a:bodyPr wrap="square" lIns="0" tIns="0" rIns="0" bIns="0" rtlCol="0" anchor="t"/>
          <a:lstStyle/>
          <a:p>
            <a:pPr indent="0" marL="0">
              <a:buNone/>
            </a:pPr>
            <a:r>
              <a:rPr lang="en-US" sz="1300" dirty="0">
                <a:solidFill>
                  <a:srgbClr val="202124"/>
                </a:solidFill>
                <a:latin typeface="Courier New" pitchFamily="34" charset="0"/>
                <a:ea typeface="Courier New" pitchFamily="34" charset="-122"/>
                <a:cs typeface="Courier New" pitchFamily="34" charset="-120"/>
              </a:rPr>
              <a:t>ordenados[</a:t>
            </a:r>
            <a:pPr indent="0" marL="0">
              <a:buNone/>
            </a:pPr>
            <a:r>
              <a:rPr lang="en-US" sz="1300" dirty="0">
                <a:solidFill>
                  <a:srgbClr val="A31515"/>
                </a:solidFill>
                <a:latin typeface="Courier New" pitchFamily="34" charset="0"/>
                <a:ea typeface="Courier New" pitchFamily="34" charset="-122"/>
                <a:cs typeface="Courier New" pitchFamily="34" charset="-120"/>
              </a:rPr>
              <a:t>"siguiente"</a:t>
            </a:r>
            <a:pPr indent="0" marL="0">
              <a:buNone/>
            </a:pPr>
            <a:r>
              <a:rPr lang="en-US" sz="13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"tipo_evento"</a:t>
            </a:r>
            <a:pPr indent="0" marL="0">
              <a:buNone/>
            </a:pPr>
            <a:r>
              <a:rPr lang="en-US" sz="1300" dirty="0">
                <a:solidFill>
                  <a:srgbClr val="202124"/>
                </a:solidFill>
                <a:latin typeface="Courier New" pitchFamily="34" charset="0"/>
                <a:ea typeface="Courier New" pitchFamily="34" charset="-122"/>
                <a:cs typeface="Courier New" pitchFamily="34" charset="-120"/>
              </a:rPr>
              <a:t>].shift(-1)</a:t>
            </a:r>
            <a:endParaRPr lang="en-US" sz="1300" dirty="0"/>
          </a:p>
        </p:txBody>
      </p:sp>
      <p:sp>
        <p:nvSpPr>
          <p:cNvPr id="8" name="Shape 6"/>
          <p:cNvSpPr/>
          <p:nvPr/>
        </p:nvSpPr>
        <p:spPr>
          <a:xfrm>
            <a:off x="548640" y="2322576"/>
            <a:ext cx="329184" cy="329184"/>
          </a:xfrm>
          <a:prstGeom prst="ellipse">
            <a:avLst/>
          </a:prstGeom>
          <a:solidFill>
            <a:srgbClr val="1A6FD4"/>
          </a:solidFill>
          <a:ln w="12700">
            <a:solidFill>
              <a:srgbClr val="1A6FD4"/>
            </a:solidFill>
            <a:prstDash val="solid"/>
          </a:ln>
        </p:spPr>
      </p:sp>
      <p:sp>
        <p:nvSpPr>
          <p:cNvPr id="9" name="Text 7"/>
          <p:cNvSpPr/>
          <p:nvPr/>
        </p:nvSpPr>
        <p:spPr>
          <a:xfrm>
            <a:off x="548640" y="23225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21992"/>
            <a:ext cx="4937760" cy="530352"/>
          </a:xfrm>
          <a:prstGeom prst="roundRect">
            <a:avLst>
              <a:gd name="adj" fmla="val 8621"/>
            </a:avLst>
          </a:prstGeom>
          <a:solidFill>
            <a:srgbClr val="DBE9FB"/>
          </a:solidFill>
          <a:ln w="12700">
            <a:solidFill>
              <a:srgbClr val="DBE9FB"/>
            </a:solidFill>
            <a:prstDash val="solid"/>
          </a:ln>
        </p:spPr>
      </p:sp>
      <p:sp>
        <p:nvSpPr>
          <p:cNvPr id="11" name="Text 9"/>
          <p:cNvSpPr/>
          <p:nvPr/>
        </p:nvSpPr>
        <p:spPr>
          <a:xfrm>
            <a:off x="1170432" y="2221992"/>
            <a:ext cx="4754880" cy="530352"/>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ordenados.groupby("central")["tipo_evento"]</a:t>
            </a:r>
            <a:endParaRPr lang="en-US" sz="1200" dirty="0"/>
          </a:p>
        </p:txBody>
      </p:sp>
      <p:sp>
        <p:nvSpPr>
          <p:cNvPr id="12" name="Text 10"/>
          <p:cNvSpPr/>
          <p:nvPr/>
        </p:nvSpPr>
        <p:spPr>
          <a:xfrm>
            <a:off x="6263640" y="22219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tipo de evento, separado por central.</a:t>
            </a:r>
            <a:endParaRPr lang="en-US" sz="1600" dirty="0"/>
          </a:p>
        </p:txBody>
      </p:sp>
      <p:sp>
        <p:nvSpPr>
          <p:cNvPr id="13" name="Shape 11"/>
          <p:cNvSpPr/>
          <p:nvPr/>
        </p:nvSpPr>
        <p:spPr>
          <a:xfrm>
            <a:off x="548640" y="3035808"/>
            <a:ext cx="329184" cy="329184"/>
          </a:xfrm>
          <a:prstGeom prst="ellipse">
            <a:avLst/>
          </a:prstGeom>
          <a:solidFill>
            <a:srgbClr val="1E8E3E"/>
          </a:solidFill>
          <a:ln w="12700">
            <a:solidFill>
              <a:srgbClr val="1E8E3E"/>
            </a:solidFill>
            <a:prstDash val="solid"/>
          </a:ln>
        </p:spPr>
      </p:sp>
      <p:sp>
        <p:nvSpPr>
          <p:cNvPr id="14" name="Text 12"/>
          <p:cNvSpPr/>
          <p:nvPr/>
        </p:nvSpPr>
        <p:spPr>
          <a:xfrm>
            <a:off x="548640" y="30358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3784"/>
            <a:ext cx="4937760" cy="713232"/>
          </a:xfrm>
          <a:prstGeom prst="roundRect">
            <a:avLst>
              <a:gd name="adj" fmla="val 6410"/>
            </a:avLst>
          </a:prstGeom>
          <a:solidFill>
            <a:srgbClr val="DCEFE0"/>
          </a:solidFill>
          <a:ln w="12700">
            <a:solidFill>
              <a:srgbClr val="DCEFE0"/>
            </a:solidFill>
            <a:prstDash val="solid"/>
          </a:ln>
        </p:spPr>
      </p:sp>
      <p:sp>
        <p:nvSpPr>
          <p:cNvPr id="16" name="Text 14"/>
          <p:cNvSpPr/>
          <p:nvPr/>
        </p:nvSpPr>
        <p:spPr>
          <a:xfrm>
            <a:off x="1170432" y="2843784"/>
            <a:ext cx="4754880" cy="71323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.shift(-1)</a:t>
            </a:r>
            <a:endParaRPr lang="en-US" sz="1400" dirty="0"/>
          </a:p>
        </p:txBody>
      </p:sp>
      <p:sp>
        <p:nvSpPr>
          <p:cNvPr id="17" name="Text 15"/>
          <p:cNvSpPr/>
          <p:nvPr/>
        </p:nvSpPr>
        <p:spPr>
          <a:xfrm>
            <a:off x="6263640" y="2843784"/>
            <a:ext cx="5376672" cy="71323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Sube la columna una fila. Cada evento recibe el que vino después.</a:t>
            </a:r>
            <a:endParaRPr lang="en-US" sz="1600" dirty="0"/>
          </a:p>
        </p:txBody>
      </p:sp>
      <p:sp>
        <p:nvSpPr>
          <p:cNvPr id="18" name="Shape 16"/>
          <p:cNvSpPr/>
          <p:nvPr/>
        </p:nvSpPr>
        <p:spPr>
          <a:xfrm>
            <a:off x="548640" y="3749040"/>
            <a:ext cx="329184" cy="329184"/>
          </a:xfrm>
          <a:prstGeom prst="ellipse">
            <a:avLst/>
          </a:prstGeom>
          <a:solidFill>
            <a:srgbClr val="B07D00"/>
          </a:solidFill>
          <a:ln w="12700">
            <a:solidFill>
              <a:srgbClr val="B07D00"/>
            </a:solidFill>
            <a:prstDash val="solid"/>
          </a:ln>
        </p:spPr>
      </p:sp>
      <p:sp>
        <p:nvSpPr>
          <p:cNvPr id="19" name="Text 17"/>
          <p:cNvSpPr/>
          <p:nvPr/>
        </p:nvSpPr>
        <p:spPr>
          <a:xfrm>
            <a:off x="548640" y="3749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48456"/>
            <a:ext cx="4937760" cy="530352"/>
          </a:xfrm>
          <a:prstGeom prst="roundRect">
            <a:avLst>
              <a:gd name="adj" fmla="val 8621"/>
            </a:avLst>
          </a:prstGeom>
          <a:solidFill>
            <a:srgbClr val="FDF0C8"/>
          </a:solidFill>
          <a:ln w="12700">
            <a:solidFill>
              <a:srgbClr val="FDF0C8"/>
            </a:solidFill>
            <a:prstDash val="solid"/>
          </a:ln>
        </p:spPr>
      </p:sp>
      <p:sp>
        <p:nvSpPr>
          <p:cNvPr id="21" name="Text 19"/>
          <p:cNvSpPr/>
          <p:nvPr/>
        </p:nvSpPr>
        <p:spPr>
          <a:xfrm>
            <a:off x="1170432" y="364845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ordenados["siguiente"] =</a:t>
            </a:r>
            <a:endParaRPr lang="en-US" sz="1400" dirty="0"/>
          </a:p>
        </p:txBody>
      </p:sp>
      <p:sp>
        <p:nvSpPr>
          <p:cNvPr id="22" name="Text 20"/>
          <p:cNvSpPr/>
          <p:nvPr/>
        </p:nvSpPr>
        <p:spPr>
          <a:xfrm>
            <a:off x="6263640" y="364845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guarda como columna nueva.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al lado de cada evento pon el que vino después en la misma central.</a:t>
            </a:r>
            <a:endParaRPr lang="en-US" sz="15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 evento en la lista y vuelve a correr la celda. Prueba falla_electrica, evento_climatico y preventivo.</a:t>
            </a:r>
            <a:endParaRPr lang="en-US" sz="1400" dirty="0"/>
          </a:p>
        </p:txBody>
      </p:sp>
      <p:sp>
        <p:nvSpPr>
          <p:cNvPr id="6" name="Text 4"/>
          <p:cNvSpPr/>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384048"/>
          </a:xfrm>
          <a:prstGeom prst="rect">
            <a:avLst/>
          </a:prstGeom>
          <a:solidFill>
            <a:srgbClr val="FFFFFF"/>
          </a:solidFill>
          <a:ln w="12700">
            <a:solidFill>
              <a:srgbClr val="DADCE0"/>
            </a:solidFill>
            <a:prstDash val="solid"/>
          </a:ln>
        </p:spPr>
      </p:sp>
      <p:sp>
        <p:nvSpPr>
          <p:cNvPr id="8" name="Text 6"/>
          <p:cNvSpPr/>
          <p:nvPr/>
        </p:nvSpPr>
        <p:spPr>
          <a:xfrm>
            <a:off x="1463040" y="1901952"/>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Después de falla_electrica, el evento siguiente en la misma central, en porcentaje</a:t>
            </a:r>
            <a:endParaRPr lang="en-US" sz="1200" dirty="0"/>
          </a:p>
        </p:txBody>
      </p:sp>
      <p:sp>
        <p:nvSpPr>
          <p:cNvPr id="9" name="Shape 7"/>
          <p:cNvSpPr/>
          <p:nvPr/>
        </p:nvSpPr>
        <p:spPr>
          <a:xfrm>
            <a:off x="1325880" y="2304288"/>
            <a:ext cx="10314432" cy="1400861"/>
          </a:xfrm>
          <a:prstGeom prst="rect">
            <a:avLst/>
          </a:prstGeom>
          <a:solidFill>
            <a:srgbClr val="FFFFFF"/>
          </a:solidFill>
          <a:ln w="12700">
            <a:solidFill>
              <a:srgbClr val="DADCE0"/>
            </a:solidFill>
            <a:prstDash val="solid"/>
          </a:ln>
        </p:spPr>
      </p:sp>
      <p:sp>
        <p:nvSpPr>
          <p:cNvPr id="10" name="Text 8"/>
          <p:cNvSpPr/>
          <p:nvPr/>
        </p:nvSpPr>
        <p:spPr>
          <a:xfrm>
            <a:off x="1463040" y="2377440"/>
            <a:ext cx="10085832" cy="1272845"/>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siguiente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78.7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10.6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6.4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4.3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proportion, dtype: float64</a:t>
            </a:r>
            <a:endParaRPr lang="en-US" sz="1200" dirty="0"/>
          </a:p>
        </p:txBody>
      </p:sp>
      <p:sp>
        <p:nvSpPr>
          <p:cNvPr id="11" name="Text 9"/>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2" name="Shape 10"/>
          <p:cNvSpPr/>
          <p:nvPr/>
        </p:nvSpPr>
        <p:spPr>
          <a:xfrm>
            <a:off x="548640" y="6062472"/>
            <a:ext cx="1902866"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640080"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14" name="Shape 12"/>
          <p:cNvSpPr/>
          <p:nvPr/>
        </p:nvSpPr>
        <p:spPr>
          <a:xfrm>
            <a:off x="2588666" y="6062472"/>
            <a:ext cx="1526134" cy="512064"/>
          </a:xfrm>
          <a:prstGeom prst="roundRect">
            <a:avLst>
              <a:gd name="adj" fmla="val 12500"/>
            </a:avLst>
          </a:prstGeom>
          <a:solidFill>
            <a:srgbClr val="FEF3D6"/>
          </a:solidFill>
          <a:ln w="25400">
            <a:solidFill>
              <a:srgbClr val="F9AB00"/>
            </a:solidFill>
            <a:prstDash val="solid"/>
          </a:ln>
        </p:spPr>
      </p:sp>
      <p:sp>
        <p:nvSpPr>
          <p:cNvPr id="15" name="Text 13"/>
          <p:cNvSpPr/>
          <p:nvPr/>
        </p:nvSpPr>
        <p:spPr>
          <a:xfrm>
            <a:off x="2680106"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16" name="Shape 14"/>
          <p:cNvSpPr/>
          <p:nvPr/>
        </p:nvSpPr>
        <p:spPr>
          <a:xfrm>
            <a:off x="4251960" y="6062472"/>
            <a:ext cx="1431950" cy="512064"/>
          </a:xfrm>
          <a:prstGeom prst="roundRect">
            <a:avLst>
              <a:gd name="adj" fmla="val 12500"/>
            </a:avLst>
          </a:prstGeom>
          <a:solidFill>
            <a:srgbClr val="FEF3D6"/>
          </a:solidFill>
          <a:ln w="25400">
            <a:solidFill>
              <a:srgbClr val="F9AB00"/>
            </a:solidFill>
            <a:prstDash val="solid"/>
          </a:ln>
        </p:spPr>
      </p:sp>
      <p:sp>
        <p:nvSpPr>
          <p:cNvPr id="17" name="Text 15"/>
          <p:cNvSpPr/>
          <p:nvPr/>
        </p:nvSpPr>
        <p:spPr>
          <a:xfrm>
            <a:off x="434340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despues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7</a:t>
            </a:r>
            <a:endParaRPr lang="en-US" sz="1200" dirty="0"/>
          </a:p>
        </p:txBody>
      </p:sp>
      <p:sp>
        <p:nvSpPr>
          <p:cNvPr id="18" name="Shape 16"/>
          <p:cNvSpPr/>
          <p:nvPr/>
        </p:nvSpPr>
        <p:spPr>
          <a:xfrm>
            <a:off x="5821070" y="6062472"/>
            <a:ext cx="1526134" cy="512064"/>
          </a:xfrm>
          <a:prstGeom prst="roundRect">
            <a:avLst>
              <a:gd name="adj" fmla="val 12500"/>
            </a:avLst>
          </a:prstGeom>
          <a:solidFill>
            <a:srgbClr val="E8F0FE"/>
          </a:solidFill>
          <a:ln w="28575">
            <a:solidFill>
              <a:srgbClr val="1A73E8"/>
            </a:solidFill>
            <a:prstDash val="solid"/>
          </a:ln>
        </p:spPr>
      </p:sp>
      <p:sp>
        <p:nvSpPr>
          <p:cNvPr id="19" name="Text 17"/>
          <p:cNvSpPr/>
          <p:nvPr/>
        </p:nvSpPr>
        <p:spPr>
          <a:xfrm>
            <a:off x="591251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20" name="Shape 18"/>
          <p:cNvSpPr/>
          <p:nvPr/>
        </p:nvSpPr>
        <p:spPr>
          <a:xfrm>
            <a:off x="7484364" y="6062472"/>
            <a:ext cx="1526134"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757580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2" name="Text 20"/>
          <p:cNvSpPr/>
          <p:nvPr/>
        </p:nvSpPr>
        <p:spPr>
          <a:xfrm>
            <a:off x="9147658"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18 más</a:t>
            </a:r>
            <a:endParaRPr lang="en-US" sz="1200" dirty="0"/>
          </a:p>
        </p:txBody>
      </p:sp>
      <p:sp>
        <p:nvSpPr>
          <p:cNvPr id="23" name="Text 21"/>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Después de una falla eléctrica, el 78,7 por ciento de las veces viene un correctivo.</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la lista y se vuelve a correr la celda.</a:t>
            </a:r>
            <a:endParaRPr lang="en-US" sz="1400" dirty="0"/>
          </a:p>
        </p:txBody>
      </p:sp>
      <p:sp>
        <p:nvSpPr>
          <p:cNvPr id="6" name="Shape 4"/>
          <p:cNvSpPr/>
          <p:nvPr/>
        </p:nvSpPr>
        <p:spPr>
          <a:xfrm>
            <a:off x="548640" y="1481328"/>
            <a:ext cx="11091672" cy="1285875"/>
          </a:xfrm>
          <a:prstGeom prst="roundRect">
            <a:avLst>
              <a:gd name="adj" fmla="val 4267"/>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1093851"/>
          </a:xfrm>
          <a:prstGeom prst="rect">
            <a:avLst/>
          </a:prstGeom>
          <a:noFill/>
          <a:ln/>
        </p:spPr>
        <p:txBody>
          <a:bodyPr wrap="square" lIns="0" tIns="0" rIns="0" bIns="0" rtlCol="0" anchor="t"/>
          <a:lstStyle/>
          <a:p>
            <a:pPr indent="0" marL="0">
              <a:buNone/>
            </a:pPr>
            <a:r>
              <a:rPr lang="en-US" sz="1100" dirty="0">
                <a:solidFill>
                  <a:srgbClr val="202124"/>
                </a:solidFill>
                <a:latin typeface="Courier New" pitchFamily="34" charset="0"/>
                <a:ea typeface="Courier New" pitchFamily="34" charset="-122"/>
                <a:cs typeface="Courier New" pitchFamily="34" charset="-120"/>
              </a:rPr>
              <a:t>evento = </a:t>
            </a:r>
            <a:pPr indent="0" marL="0">
              <a:buNone/>
            </a:pPr>
            <a:r>
              <a:rPr lang="en-US" sz="11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["preventivo", "correctivo", "inspeccion", "falla_…</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 = mant.sort_values([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]).copy()</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].shift(-1)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despues = ordenados[ordenados[</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evento]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"Después de {evento}, el evento siguiente en la misma central, en porcentaje"</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(100 * despues[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].value_counts(normalize=True)).round(1)</a:t>
            </a:r>
            <a:endParaRPr lang="en-US" sz="11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evento</a:t>
            </a:r>
            <a:endParaRPr lang="en-US" sz="1100" dirty="0"/>
          </a:p>
        </p:txBody>
      </p:sp>
      <p:sp>
        <p:nvSpPr>
          <p:cNvPr id="11"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2794635"/>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431950"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despues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7</a:t>
            </a:r>
            <a:endParaRPr lang="en-US" sz="1200" dirty="0"/>
          </a:p>
        </p:txBody>
      </p:sp>
      <p:sp>
        <p:nvSpPr>
          <p:cNvPr id="18" name="Shape 16"/>
          <p:cNvSpPr/>
          <p:nvPr/>
        </p:nvSpPr>
        <p:spPr>
          <a:xfrm>
            <a:off x="2117750" y="6062472"/>
            <a:ext cx="1526134"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20919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20" name="Shape 18"/>
          <p:cNvSpPr/>
          <p:nvPr/>
        </p:nvSpPr>
        <p:spPr>
          <a:xfrm>
            <a:off x="3781044" y="6062472"/>
            <a:ext cx="1902866"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3872484" y="6071616"/>
            <a:ext cx="1765706"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"falla_electrica"</a:t>
            </a:r>
            <a:endParaRPr lang="en-US" sz="1200" dirty="0"/>
          </a:p>
        </p:txBody>
      </p:sp>
      <p:sp>
        <p:nvSpPr>
          <p:cNvPr id="22" name="Shape 20"/>
          <p:cNvSpPr/>
          <p:nvPr/>
        </p:nvSpPr>
        <p:spPr>
          <a:xfrm>
            <a:off x="5821070" y="6062472"/>
            <a:ext cx="1526134"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591251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4" name="Shape 22"/>
          <p:cNvSpPr/>
          <p:nvPr/>
        </p:nvSpPr>
        <p:spPr>
          <a:xfrm>
            <a:off x="7484364" y="6062472"/>
            <a:ext cx="1620317"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7575804"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6" name="Text 24"/>
          <p:cNvSpPr/>
          <p:nvPr/>
        </p:nvSpPr>
        <p:spPr>
          <a:xfrm>
            <a:off x="9241841"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18 más</a:t>
            </a:r>
            <a:endParaRPr lang="en-US" sz="1200" dirty="0"/>
          </a:p>
        </p:txBody>
      </p:sp>
      <p:sp>
        <p:nvSpPr>
          <p:cNvPr id="27" name="Text 25"/>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evento_climatico en la lista y se vuelve a correr la celda.</a:t>
            </a:r>
            <a:endParaRPr lang="en-US" sz="1400" dirty="0"/>
          </a:p>
        </p:txBody>
      </p:sp>
      <p:sp>
        <p:nvSpPr>
          <p:cNvPr id="6" name="Shape 4"/>
          <p:cNvSpPr/>
          <p:nvPr/>
        </p:nvSpPr>
        <p:spPr>
          <a:xfrm>
            <a:off x="548640" y="1481328"/>
            <a:ext cx="11091672" cy="1285875"/>
          </a:xfrm>
          <a:prstGeom prst="roundRect">
            <a:avLst>
              <a:gd name="adj" fmla="val 426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093851"/>
          </a:xfrm>
          <a:prstGeom prst="rect">
            <a:avLst/>
          </a:prstGeom>
          <a:noFill/>
          <a:ln/>
        </p:spPr>
        <p:txBody>
          <a:bodyPr wrap="square" lIns="0" tIns="0" rIns="0" bIns="0" rtlCol="0" anchor="t"/>
          <a:lstStyle/>
          <a:p>
            <a:pPr indent="0" marL="0">
              <a:buNone/>
            </a:pPr>
            <a:r>
              <a:rPr lang="en-US" sz="1100" dirty="0">
                <a:solidFill>
                  <a:srgbClr val="202124"/>
                </a:solidFill>
                <a:latin typeface="Courier New" pitchFamily="34" charset="0"/>
                <a:ea typeface="Courier New" pitchFamily="34" charset="-122"/>
                <a:cs typeface="Courier New" pitchFamily="34" charset="-120"/>
              </a:rPr>
              <a:t>evento = </a:t>
            </a:r>
            <a:pPr indent="0" marL="0">
              <a:buNone/>
            </a:pPr>
            <a:r>
              <a:rPr lang="en-US" sz="1100" dirty="0">
                <a:solidFill>
                  <a:srgbClr val="A31515"/>
                </a:solidFill>
                <a:latin typeface="Courier New" pitchFamily="34" charset="0"/>
                <a:ea typeface="Courier New" pitchFamily="34" charset="-122"/>
                <a:cs typeface="Courier New" pitchFamily="34" charset="-120"/>
              </a:rPr>
              <a:t>"evento_climatico"</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["preventivo", "correctivo", "inspeccion", "falla_…</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 = mant.sort_values([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]).copy()</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].shift(-1)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despues = ordenados[ordenados[</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evento]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"Después de {evento}, el evento siguiente en la misma central, en porcentaje"</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(100 * despues[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].value_counts(normalize=True)).round(1)</a:t>
            </a:r>
            <a:endParaRPr lang="en-US" sz="11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evento</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evento_climatico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2876931"/>
            <a:ext cx="10314432" cy="384048"/>
          </a:xfrm>
          <a:prstGeom prst="rect">
            <a:avLst/>
          </a:prstGeom>
          <a:solidFill>
            <a:srgbClr val="FFFFFF"/>
          </a:solidFill>
          <a:ln w="12700">
            <a:solidFill>
              <a:srgbClr val="DADCE0"/>
            </a:solidFill>
            <a:prstDash val="solid"/>
          </a:ln>
        </p:spPr>
      </p:sp>
      <p:sp>
        <p:nvSpPr>
          <p:cNvPr id="15" name="Text 13"/>
          <p:cNvSpPr/>
          <p:nvPr/>
        </p:nvSpPr>
        <p:spPr>
          <a:xfrm>
            <a:off x="1463040" y="2950083"/>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Después de evento_climatico, el evento siguiente en la misma central, en porcentaje</a:t>
            </a:r>
            <a:endParaRPr lang="en-US" sz="1200" dirty="0"/>
          </a:p>
        </p:txBody>
      </p:sp>
      <p:sp>
        <p:nvSpPr>
          <p:cNvPr id="16" name="Shape 14"/>
          <p:cNvSpPr/>
          <p:nvPr/>
        </p:nvSpPr>
        <p:spPr>
          <a:xfrm>
            <a:off x="1325880" y="3352419"/>
            <a:ext cx="10314432" cy="1825142"/>
          </a:xfrm>
          <a:prstGeom prst="rect">
            <a:avLst/>
          </a:prstGeom>
          <a:solidFill>
            <a:srgbClr val="FFFFFF"/>
          </a:solidFill>
          <a:ln w="12700">
            <a:solidFill>
              <a:srgbClr val="DADCE0"/>
            </a:solidFill>
            <a:prstDash val="solid"/>
          </a:ln>
        </p:spPr>
      </p:sp>
      <p:sp>
        <p:nvSpPr>
          <p:cNvPr id="17" name="Text 15"/>
          <p:cNvSpPr/>
          <p:nvPr/>
        </p:nvSpPr>
        <p:spPr>
          <a:xfrm>
            <a:off x="1463040" y="3425571"/>
            <a:ext cx="10085832" cy="169712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siguiente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60.3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17.9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7.7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2.6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2.6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proportion, dtype: float64</a:t>
            </a:r>
            <a:endParaRPr lang="en-US" sz="1200" dirty="0"/>
          </a:p>
        </p:txBody>
      </p:sp>
      <p:sp>
        <p:nvSpPr>
          <p:cNvPr id="18" name="Text 16"/>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9" name="Shape 17"/>
          <p:cNvSpPr/>
          <p:nvPr/>
        </p:nvSpPr>
        <p:spPr>
          <a:xfrm>
            <a:off x="548640" y="6062472"/>
            <a:ext cx="1997050" cy="512064"/>
          </a:xfrm>
          <a:prstGeom prst="roundRect">
            <a:avLst>
              <a:gd name="adj" fmla="val 12500"/>
            </a:avLst>
          </a:prstGeom>
          <a:solidFill>
            <a:srgbClr val="FEF3D6"/>
          </a:solidFill>
          <a:ln w="25400">
            <a:solidFill>
              <a:srgbClr val="F9AB00"/>
            </a:solidFill>
            <a:prstDash val="solid"/>
          </a:ln>
        </p:spPr>
      </p:sp>
      <p:sp>
        <p:nvSpPr>
          <p:cNvPr id="20" name="Text 18"/>
          <p:cNvSpPr/>
          <p:nvPr/>
        </p:nvSpPr>
        <p:spPr>
          <a:xfrm>
            <a:off x="640080"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21" name="Shape 19"/>
          <p:cNvSpPr/>
          <p:nvPr/>
        </p:nvSpPr>
        <p:spPr>
          <a:xfrm>
            <a:off x="2682850" y="6062472"/>
            <a:ext cx="1431950"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277429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despues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80 × 7</a:t>
            </a:r>
            <a:endParaRPr lang="en-US" sz="1200" dirty="0"/>
          </a:p>
        </p:txBody>
      </p:sp>
      <p:sp>
        <p:nvSpPr>
          <p:cNvPr id="23" name="Shape 21"/>
          <p:cNvSpPr/>
          <p:nvPr/>
        </p:nvSpPr>
        <p:spPr>
          <a:xfrm>
            <a:off x="4251960" y="6062472"/>
            <a:ext cx="1526134" cy="512064"/>
          </a:xfrm>
          <a:prstGeom prst="roundRect">
            <a:avLst>
              <a:gd name="adj" fmla="val 12500"/>
            </a:avLst>
          </a:prstGeom>
          <a:solidFill>
            <a:srgbClr val="E8F0FE"/>
          </a:solidFill>
          <a:ln w="28575">
            <a:solidFill>
              <a:srgbClr val="1A73E8"/>
            </a:solidFill>
            <a:prstDash val="solid"/>
          </a:ln>
        </p:spPr>
      </p:sp>
      <p:sp>
        <p:nvSpPr>
          <p:cNvPr id="24" name="Text 22"/>
          <p:cNvSpPr/>
          <p:nvPr/>
        </p:nvSpPr>
        <p:spPr>
          <a:xfrm>
            <a:off x="434340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25" name="Shape 23"/>
          <p:cNvSpPr/>
          <p:nvPr/>
        </p:nvSpPr>
        <p:spPr>
          <a:xfrm>
            <a:off x="5915254" y="6062472"/>
            <a:ext cx="1526134" cy="512064"/>
          </a:xfrm>
          <a:prstGeom prst="roundRect">
            <a:avLst>
              <a:gd name="adj" fmla="val 12500"/>
            </a:avLst>
          </a:prstGeom>
          <a:solidFill>
            <a:srgbClr val="E8F0FE"/>
          </a:solidFill>
          <a:ln w="28575">
            <a:solidFill>
              <a:srgbClr val="1A73E8"/>
            </a:solidFill>
            <a:prstDash val="solid"/>
          </a:ln>
        </p:spPr>
      </p:sp>
      <p:sp>
        <p:nvSpPr>
          <p:cNvPr id="26" name="Text 24"/>
          <p:cNvSpPr/>
          <p:nvPr/>
        </p:nvSpPr>
        <p:spPr>
          <a:xfrm>
            <a:off x="600669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27" name="Shape 25"/>
          <p:cNvSpPr/>
          <p:nvPr/>
        </p:nvSpPr>
        <p:spPr>
          <a:xfrm>
            <a:off x="7578547" y="6062472"/>
            <a:ext cx="1526134" cy="512064"/>
          </a:xfrm>
          <a:prstGeom prst="roundRect">
            <a:avLst>
              <a:gd name="adj" fmla="val 12500"/>
            </a:avLst>
          </a:prstGeom>
          <a:solidFill>
            <a:srgbClr val="F1F3F4"/>
          </a:solidFill>
          <a:ln w="12700">
            <a:solidFill>
              <a:srgbClr val="DADCE0"/>
            </a:solidFill>
            <a:prstDash val="solid"/>
          </a:ln>
        </p:spPr>
      </p:sp>
      <p:sp>
        <p:nvSpPr>
          <p:cNvPr id="28" name="Text 26"/>
          <p:cNvSpPr/>
          <p:nvPr/>
        </p:nvSpPr>
        <p:spPr>
          <a:xfrm>
            <a:off x="7669987"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9" name="Text 27"/>
          <p:cNvSpPr/>
          <p:nvPr/>
        </p:nvSpPr>
        <p:spPr>
          <a:xfrm>
            <a:off x="9241841"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18 más</a:t>
            </a:r>
            <a:endParaRPr lang="en-US" sz="1200" dirty="0"/>
          </a:p>
        </p:txBody>
      </p:sp>
      <p:sp>
        <p:nvSpPr>
          <p:cNvPr id="30" name="Text 28"/>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Después de un evento climático, el 60,3 por ciento de las veces viene una falla mecánica.</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la lista y se vuelve a correr la celda.</a:t>
            </a:r>
            <a:endParaRPr lang="en-US" sz="1400" dirty="0"/>
          </a:p>
        </p:txBody>
      </p:sp>
      <p:sp>
        <p:nvSpPr>
          <p:cNvPr id="6" name="Shape 4"/>
          <p:cNvSpPr/>
          <p:nvPr/>
        </p:nvSpPr>
        <p:spPr>
          <a:xfrm>
            <a:off x="548640" y="1481328"/>
            <a:ext cx="11091672" cy="1285875"/>
          </a:xfrm>
          <a:prstGeom prst="roundRect">
            <a:avLst>
              <a:gd name="adj" fmla="val 4267"/>
            </a:avLst>
          </a:prstGeom>
          <a:solidFill>
            <a:srgbClr val="F8F9FA"/>
          </a:solidFill>
          <a:ln w="25400">
            <a:solidFill>
              <a:srgbClr val="F9AB00"/>
            </a:solidFill>
            <a:prstDash val="solid"/>
          </a:ln>
        </p:spPr>
      </p:sp>
      <p:sp>
        <p:nvSpPr>
          <p:cNvPr id="7"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8"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9" name="Text 7"/>
          <p:cNvSpPr/>
          <p:nvPr/>
        </p:nvSpPr>
        <p:spPr>
          <a:xfrm>
            <a:off x="1325880" y="1600200"/>
            <a:ext cx="7360920" cy="1093851"/>
          </a:xfrm>
          <a:prstGeom prst="rect">
            <a:avLst/>
          </a:prstGeom>
          <a:noFill/>
          <a:ln/>
        </p:spPr>
        <p:txBody>
          <a:bodyPr wrap="square" lIns="0" tIns="0" rIns="0" bIns="0" rtlCol="0" anchor="t"/>
          <a:lstStyle/>
          <a:p>
            <a:pPr indent="0" marL="0">
              <a:buNone/>
            </a:pPr>
            <a:r>
              <a:rPr lang="en-US" sz="1100" dirty="0">
                <a:solidFill>
                  <a:srgbClr val="202124"/>
                </a:solidFill>
                <a:latin typeface="Courier New" pitchFamily="34" charset="0"/>
                <a:ea typeface="Courier New" pitchFamily="34" charset="-122"/>
                <a:cs typeface="Courier New" pitchFamily="34" charset="-120"/>
              </a:rPr>
              <a:t>evento = </a:t>
            </a:r>
            <a:pPr indent="0" marL="0">
              <a:buNone/>
            </a:pPr>
            <a:r>
              <a:rPr lang="en-US" sz="1100" dirty="0">
                <a:solidFill>
                  <a:srgbClr val="A31515"/>
                </a:solidFill>
                <a:latin typeface="Courier New" pitchFamily="34" charset="0"/>
                <a:ea typeface="Courier New" pitchFamily="34" charset="-122"/>
                <a:cs typeface="Courier New" pitchFamily="34" charset="-120"/>
              </a:rPr>
              <a:t>"preventivo"</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["preventivo", "correctivo", "inspeccion", "falla_mecani…</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 = mant.sort_values([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]).copy()</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].shift(-1)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despues = ordenados[ordenados[</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evento]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"Después de {evento}, el evento siguiente en la misma central, en porcentaje"</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(100 * despues[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].value_counts(normalize=True)).round(1)</a:t>
            </a:r>
            <a:endParaRPr lang="en-US" sz="11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evento</a:t>
            </a:r>
            <a:endParaRPr lang="en-US" sz="1100" dirty="0"/>
          </a:p>
        </p:txBody>
      </p:sp>
      <p:sp>
        <p:nvSpPr>
          <p:cNvPr id="11"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preventivo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p:nvPr/>
        </p:nvSpPr>
        <p:spPr>
          <a:xfrm>
            <a:off x="1325880" y="2794635"/>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3"/>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4"/>
          <p:cNvSpPr/>
          <p:nvPr/>
        </p:nvSpPr>
        <p:spPr>
          <a:xfrm>
            <a:off x="548640" y="6062472"/>
            <a:ext cx="1431950" cy="512064"/>
          </a:xfrm>
          <a:prstGeom prst="roundRect">
            <a:avLst>
              <a:gd name="adj" fmla="val 12500"/>
            </a:avLst>
          </a:prstGeom>
          <a:solidFill>
            <a:srgbClr val="F1F3F4"/>
          </a:solidFill>
          <a:ln w="12700">
            <a:solidFill>
              <a:srgbClr val="DADCE0"/>
            </a:solidFill>
            <a:prstDash val="solid"/>
          </a:ln>
        </p:spPr>
      </p:sp>
      <p:sp>
        <p:nvSpPr>
          <p:cNvPr id="17" name="Text 15"/>
          <p:cNvSpPr/>
          <p:nvPr/>
        </p:nvSpPr>
        <p:spPr>
          <a:xfrm>
            <a:off x="64008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despues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80 × 7</a:t>
            </a:r>
            <a:endParaRPr lang="en-US" sz="1200" dirty="0"/>
          </a:p>
        </p:txBody>
      </p:sp>
      <p:sp>
        <p:nvSpPr>
          <p:cNvPr id="18" name="Shape 16"/>
          <p:cNvSpPr/>
          <p:nvPr/>
        </p:nvSpPr>
        <p:spPr>
          <a:xfrm>
            <a:off x="2117750" y="6062472"/>
            <a:ext cx="1526134"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220919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20" name="Shape 18"/>
          <p:cNvSpPr/>
          <p:nvPr/>
        </p:nvSpPr>
        <p:spPr>
          <a:xfrm>
            <a:off x="3781044" y="6062472"/>
            <a:ext cx="1997050" cy="512064"/>
          </a:xfrm>
          <a:prstGeom prst="roundRect">
            <a:avLst>
              <a:gd name="adj" fmla="val 12500"/>
            </a:avLst>
          </a:prstGeom>
          <a:solidFill>
            <a:srgbClr val="F1F3F4"/>
          </a:solidFill>
          <a:ln w="12700">
            <a:solidFill>
              <a:srgbClr val="DADCE0"/>
            </a:solidFill>
            <a:prstDash val="solid"/>
          </a:ln>
        </p:spPr>
      </p:sp>
      <p:sp>
        <p:nvSpPr>
          <p:cNvPr id="21" name="Text 19"/>
          <p:cNvSpPr/>
          <p:nvPr/>
        </p:nvSpPr>
        <p:spPr>
          <a:xfrm>
            <a:off x="3872484" y="6071616"/>
            <a:ext cx="18598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"evento_climatico"</a:t>
            </a:r>
            <a:endParaRPr lang="en-US" sz="1200" dirty="0"/>
          </a:p>
        </p:txBody>
      </p:sp>
      <p:sp>
        <p:nvSpPr>
          <p:cNvPr id="22" name="Shape 20"/>
          <p:cNvSpPr/>
          <p:nvPr/>
        </p:nvSpPr>
        <p:spPr>
          <a:xfrm>
            <a:off x="5915254" y="6062472"/>
            <a:ext cx="1526134" cy="512064"/>
          </a:xfrm>
          <a:prstGeom prst="roundRect">
            <a:avLst>
              <a:gd name="adj" fmla="val 12500"/>
            </a:avLst>
          </a:prstGeom>
          <a:solidFill>
            <a:srgbClr val="F1F3F4"/>
          </a:solidFill>
          <a:ln w="12700">
            <a:solidFill>
              <a:srgbClr val="DADCE0"/>
            </a:solidFill>
            <a:prstDash val="solid"/>
          </a:ln>
        </p:spPr>
      </p:sp>
      <p:sp>
        <p:nvSpPr>
          <p:cNvPr id="23" name="Text 21"/>
          <p:cNvSpPr/>
          <p:nvPr/>
        </p:nvSpPr>
        <p:spPr>
          <a:xfrm>
            <a:off x="600669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4" name="Shape 22"/>
          <p:cNvSpPr/>
          <p:nvPr/>
        </p:nvSpPr>
        <p:spPr>
          <a:xfrm>
            <a:off x="7578547" y="6062472"/>
            <a:ext cx="1620317" cy="512064"/>
          </a:xfrm>
          <a:prstGeom prst="roundRect">
            <a:avLst>
              <a:gd name="adj" fmla="val 12500"/>
            </a:avLst>
          </a:prstGeom>
          <a:solidFill>
            <a:srgbClr val="F1F3F4"/>
          </a:solidFill>
          <a:ln w="12700">
            <a:solidFill>
              <a:srgbClr val="DADCE0"/>
            </a:solidFill>
            <a:prstDash val="solid"/>
          </a:ln>
        </p:spPr>
      </p:sp>
      <p:sp>
        <p:nvSpPr>
          <p:cNvPr id="25" name="Text 23"/>
          <p:cNvSpPr/>
          <p:nvPr/>
        </p:nvSpPr>
        <p:spPr>
          <a:xfrm>
            <a:off x="7669987" y="6071616"/>
            <a:ext cx="1483157"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10</a:t>
            </a:r>
            <a:endParaRPr lang="en-US" sz="1200" dirty="0"/>
          </a:p>
        </p:txBody>
      </p:sp>
      <p:sp>
        <p:nvSpPr>
          <p:cNvPr id="26" name="Text 24"/>
          <p:cNvSpPr/>
          <p:nvPr/>
        </p:nvSpPr>
        <p:spPr>
          <a:xfrm>
            <a:off x="9336024"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18 más</a:t>
            </a:r>
            <a:endParaRPr lang="en-US" sz="1200" dirty="0"/>
          </a:p>
        </p:txBody>
      </p:sp>
      <p:sp>
        <p:nvSpPr>
          <p:cNvPr id="27" name="Text 25"/>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preventivo en la lista y se vuelve a correr la celda.</a:t>
            </a:r>
            <a:endParaRPr lang="en-US" sz="1400" dirty="0"/>
          </a:p>
        </p:txBody>
      </p:sp>
      <p:sp>
        <p:nvSpPr>
          <p:cNvPr id="6" name="Shape 4"/>
          <p:cNvSpPr/>
          <p:nvPr/>
        </p:nvSpPr>
        <p:spPr>
          <a:xfrm>
            <a:off x="548640" y="1481328"/>
            <a:ext cx="11091672" cy="1285875"/>
          </a:xfrm>
          <a:prstGeom prst="roundRect">
            <a:avLst>
              <a:gd name="adj" fmla="val 426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p:nvPr/>
        </p:nvSpPr>
        <p:spPr>
          <a:xfrm>
            <a:off x="1325880" y="1600200"/>
            <a:ext cx="7360920" cy="1093851"/>
          </a:xfrm>
          <a:prstGeom prst="rect">
            <a:avLst/>
          </a:prstGeom>
          <a:noFill/>
          <a:ln/>
        </p:spPr>
        <p:txBody>
          <a:bodyPr wrap="square" lIns="0" tIns="0" rIns="0" bIns="0" rtlCol="0" anchor="t"/>
          <a:lstStyle/>
          <a:p>
            <a:pPr indent="0" marL="0">
              <a:buNone/>
            </a:pPr>
            <a:r>
              <a:rPr lang="en-US" sz="1100" dirty="0">
                <a:solidFill>
                  <a:srgbClr val="202124"/>
                </a:solidFill>
                <a:latin typeface="Courier New" pitchFamily="34" charset="0"/>
                <a:ea typeface="Courier New" pitchFamily="34" charset="-122"/>
                <a:cs typeface="Courier New" pitchFamily="34" charset="-120"/>
              </a:rPr>
              <a:t>evento = </a:t>
            </a:r>
            <a:pPr indent="0" marL="0">
              <a:buNone/>
            </a:pPr>
            <a:r>
              <a:rPr lang="en-US" sz="1100" dirty="0">
                <a:solidFill>
                  <a:srgbClr val="A31515"/>
                </a:solidFill>
                <a:latin typeface="Courier New" pitchFamily="34" charset="0"/>
                <a:ea typeface="Courier New" pitchFamily="34" charset="-122"/>
                <a:cs typeface="Courier New" pitchFamily="34" charset="-120"/>
              </a:rPr>
              <a:t>"preventivo"</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["preventivo", "correctivo", "inspeccion", "falla_mecani…</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 = mant.sort_values([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]).copy()</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ordenados[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 = ordenados.groupby(</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].shift(-1)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despues = ordenados[ordenados[</a:t>
            </a:r>
            <a:pPr indent="0" marL="0">
              <a:buNone/>
            </a:pPr>
            <a:r>
              <a:rPr lang="en-US" sz="1100" dirty="0">
                <a:solidFill>
                  <a:srgbClr val="A31515"/>
                </a:solidFill>
                <a:latin typeface="Courier New" pitchFamily="34" charset="0"/>
                <a:ea typeface="Courier New" pitchFamily="34" charset="-122"/>
                <a:cs typeface="Courier New" pitchFamily="34" charset="-120"/>
              </a:rPr>
              <a:t>"tipo_evento"</a:t>
            </a:r>
            <a:pPr indent="0" marL="0">
              <a:buNone/>
            </a:pPr>
            <a:r>
              <a:rPr lang="en-US" sz="1100" dirty="0">
                <a:solidFill>
                  <a:srgbClr val="202124"/>
                </a:solidFill>
                <a:latin typeface="Courier New" pitchFamily="34" charset="0"/>
                <a:ea typeface="Courier New" pitchFamily="34" charset="-122"/>
                <a:cs typeface="Courier New" pitchFamily="34" charset="-120"/>
              </a:rPr>
              <a:t>] == evento]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print(f</a:t>
            </a:r>
            <a:pPr indent="0" marL="0">
              <a:buNone/>
            </a:pPr>
            <a:r>
              <a:rPr lang="en-US" sz="1100" dirty="0">
                <a:solidFill>
                  <a:srgbClr val="A31515"/>
                </a:solidFill>
                <a:latin typeface="Courier New" pitchFamily="34" charset="0"/>
                <a:ea typeface="Courier New" pitchFamily="34" charset="-122"/>
                <a:cs typeface="Courier New" pitchFamily="34" charset="-120"/>
              </a:rPr>
              <a:t>"Después de {evento}, el evento siguiente en la misma central, en porcentaje"</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(100 * despues[</a:t>
            </a:r>
            <a:pPr indent="0" marL="0">
              <a:buNone/>
            </a:pPr>
            <a:r>
              <a:rPr lang="en-US" sz="1100" dirty="0">
                <a:solidFill>
                  <a:srgbClr val="A31515"/>
                </a:solidFill>
                <a:latin typeface="Courier New" pitchFamily="34" charset="0"/>
                <a:ea typeface="Courier New" pitchFamily="34" charset="-122"/>
                <a:cs typeface="Courier New" pitchFamily="34" charset="-120"/>
              </a:rPr>
              <a:t>"siguiente"</a:t>
            </a:r>
            <a:pPr indent="0" marL="0">
              <a:buNone/>
            </a:pPr>
            <a:r>
              <a:rPr lang="en-US" sz="1100" dirty="0">
                <a:solidFill>
                  <a:srgbClr val="202124"/>
                </a:solidFill>
                <a:latin typeface="Courier New" pitchFamily="34" charset="0"/>
                <a:ea typeface="Courier New" pitchFamily="34" charset="-122"/>
                <a:cs typeface="Courier New" pitchFamily="34" charset="-120"/>
              </a:rPr>
              <a:t>].value_counts(normalize=True)).round(1)</a:t>
            </a:r>
            <a:endParaRPr lang="en-US" sz="1100" dirty="0"/>
          </a:p>
        </p:txBody>
      </p:sp>
      <p:sp>
        <p:nvSpPr>
          <p:cNvPr id="10" name="Text 8"/>
          <p:cNvSpPr/>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evento</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preventivo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2876931"/>
            <a:ext cx="10314432" cy="384048"/>
          </a:xfrm>
          <a:prstGeom prst="rect">
            <a:avLst/>
          </a:prstGeom>
          <a:solidFill>
            <a:srgbClr val="FFFFFF"/>
          </a:solidFill>
          <a:ln w="12700">
            <a:solidFill>
              <a:srgbClr val="DADCE0"/>
            </a:solidFill>
            <a:prstDash val="solid"/>
          </a:ln>
        </p:spPr>
      </p:sp>
      <p:sp>
        <p:nvSpPr>
          <p:cNvPr id="15" name="Text 13"/>
          <p:cNvSpPr/>
          <p:nvPr/>
        </p:nvSpPr>
        <p:spPr>
          <a:xfrm>
            <a:off x="1463040" y="2950083"/>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Después de preventivo, el evento siguiente en la misma central, en porcentaje</a:t>
            </a:r>
            <a:endParaRPr lang="en-US" sz="1200" dirty="0"/>
          </a:p>
        </p:txBody>
      </p:sp>
      <p:sp>
        <p:nvSpPr>
          <p:cNvPr id="16" name="Shape 14"/>
          <p:cNvSpPr/>
          <p:nvPr/>
        </p:nvSpPr>
        <p:spPr>
          <a:xfrm>
            <a:off x="1325880" y="3352419"/>
            <a:ext cx="10314432" cy="1825142"/>
          </a:xfrm>
          <a:prstGeom prst="rect">
            <a:avLst/>
          </a:prstGeom>
          <a:solidFill>
            <a:srgbClr val="FFFFFF"/>
          </a:solidFill>
          <a:ln w="12700">
            <a:solidFill>
              <a:srgbClr val="DADCE0"/>
            </a:solidFill>
            <a:prstDash val="solid"/>
          </a:ln>
        </p:spPr>
      </p:sp>
      <p:sp>
        <p:nvSpPr>
          <p:cNvPr id="17" name="Text 15"/>
          <p:cNvSpPr/>
          <p:nvPr/>
        </p:nvSpPr>
        <p:spPr>
          <a:xfrm>
            <a:off x="1463040" y="3425571"/>
            <a:ext cx="10085832" cy="1697126"/>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siguiente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preventivo          27.6</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inspeccion          21.7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correctivo          15.1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evento_climatico    13.8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falla_electrica     11.2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falla_mecanica      10.5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proportion, dtype: float64</a:t>
            </a:r>
            <a:endParaRPr lang="en-US" sz="1200" dirty="0"/>
          </a:p>
        </p:txBody>
      </p:sp>
      <p:sp>
        <p:nvSpPr>
          <p:cNvPr id="18" name="Text 16"/>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9" name="Shape 17"/>
          <p:cNvSpPr/>
          <p:nvPr/>
        </p:nvSpPr>
        <p:spPr>
          <a:xfrm>
            <a:off x="548640" y="6062472"/>
            <a:ext cx="1431950" cy="512064"/>
          </a:xfrm>
          <a:prstGeom prst="roundRect">
            <a:avLst>
              <a:gd name="adj" fmla="val 12500"/>
            </a:avLst>
          </a:prstGeom>
          <a:solidFill>
            <a:srgbClr val="FEF3D6"/>
          </a:solidFill>
          <a:ln w="25400">
            <a:solidFill>
              <a:srgbClr val="F9AB00"/>
            </a:solidFill>
            <a:prstDash val="solid"/>
          </a:ln>
        </p:spPr>
      </p:sp>
      <p:sp>
        <p:nvSpPr>
          <p:cNvPr id="20" name="Text 18"/>
          <p:cNvSpPr/>
          <p:nvPr/>
        </p:nvSpPr>
        <p:spPr>
          <a:xfrm>
            <a:off x="64008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21" name="Shape 19"/>
          <p:cNvSpPr/>
          <p:nvPr/>
        </p:nvSpPr>
        <p:spPr>
          <a:xfrm>
            <a:off x="2117750" y="6062472"/>
            <a:ext cx="1526134" cy="512064"/>
          </a:xfrm>
          <a:prstGeom prst="roundRect">
            <a:avLst>
              <a:gd name="adj" fmla="val 12500"/>
            </a:avLst>
          </a:prstGeom>
          <a:solidFill>
            <a:srgbClr val="FEF3D6"/>
          </a:solidFill>
          <a:ln w="25400">
            <a:solidFill>
              <a:srgbClr val="F9AB00"/>
            </a:solidFill>
            <a:prstDash val="solid"/>
          </a:ln>
        </p:spPr>
      </p:sp>
      <p:sp>
        <p:nvSpPr>
          <p:cNvPr id="22" name="Text 20"/>
          <p:cNvSpPr/>
          <p:nvPr/>
        </p:nvSpPr>
        <p:spPr>
          <a:xfrm>
            <a:off x="220919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despues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158 × 7</a:t>
            </a:r>
            <a:endParaRPr lang="en-US" sz="1200" dirty="0"/>
          </a:p>
        </p:txBody>
      </p:sp>
      <p:sp>
        <p:nvSpPr>
          <p:cNvPr id="23" name="Shape 21"/>
          <p:cNvSpPr/>
          <p:nvPr/>
        </p:nvSpPr>
        <p:spPr>
          <a:xfrm>
            <a:off x="3781044" y="6062472"/>
            <a:ext cx="1526134" cy="512064"/>
          </a:xfrm>
          <a:prstGeom prst="roundRect">
            <a:avLst>
              <a:gd name="adj" fmla="val 12500"/>
            </a:avLst>
          </a:prstGeom>
          <a:solidFill>
            <a:srgbClr val="E8F0FE"/>
          </a:solidFill>
          <a:ln w="28575">
            <a:solidFill>
              <a:srgbClr val="1A73E8"/>
            </a:solidFill>
            <a:prstDash val="solid"/>
          </a:ln>
        </p:spPr>
      </p:sp>
      <p:sp>
        <p:nvSpPr>
          <p:cNvPr id="24" name="Text 22"/>
          <p:cNvSpPr/>
          <p:nvPr/>
        </p:nvSpPr>
        <p:spPr>
          <a:xfrm>
            <a:off x="387248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25" name="Shape 23"/>
          <p:cNvSpPr/>
          <p:nvPr/>
        </p:nvSpPr>
        <p:spPr>
          <a:xfrm>
            <a:off x="5444338" y="6062472"/>
            <a:ext cx="1526134" cy="512064"/>
          </a:xfrm>
          <a:prstGeom prst="roundRect">
            <a:avLst>
              <a:gd name="adj" fmla="val 12500"/>
            </a:avLst>
          </a:prstGeom>
          <a:solidFill>
            <a:srgbClr val="E8F0FE"/>
          </a:solidFill>
          <a:ln w="28575">
            <a:solidFill>
              <a:srgbClr val="1A73E8"/>
            </a:solidFill>
            <a:prstDash val="solid"/>
          </a:ln>
        </p:spPr>
      </p:sp>
      <p:sp>
        <p:nvSpPr>
          <p:cNvPr id="26" name="Text 24"/>
          <p:cNvSpPr/>
          <p:nvPr/>
        </p:nvSpPr>
        <p:spPr>
          <a:xfrm>
            <a:off x="5535778"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27" name="Shape 25"/>
          <p:cNvSpPr/>
          <p:nvPr/>
        </p:nvSpPr>
        <p:spPr>
          <a:xfrm>
            <a:off x="7107631" y="6062472"/>
            <a:ext cx="1526134" cy="512064"/>
          </a:xfrm>
          <a:prstGeom prst="roundRect">
            <a:avLst>
              <a:gd name="adj" fmla="val 12500"/>
            </a:avLst>
          </a:prstGeom>
          <a:solidFill>
            <a:srgbClr val="F1F3F4"/>
          </a:solidFill>
          <a:ln w="12700">
            <a:solidFill>
              <a:srgbClr val="DADCE0"/>
            </a:solidFill>
            <a:prstDash val="solid"/>
          </a:ln>
        </p:spPr>
      </p:sp>
      <p:sp>
        <p:nvSpPr>
          <p:cNvPr id="28" name="Text 26"/>
          <p:cNvSpPr/>
          <p:nvPr/>
        </p:nvSpPr>
        <p:spPr>
          <a:xfrm>
            <a:off x="7199071"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9" name="Text 27"/>
          <p:cNvSpPr/>
          <p:nvPr/>
        </p:nvSpPr>
        <p:spPr>
          <a:xfrm>
            <a:off x="8770925"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18 más</a:t>
            </a:r>
            <a:endParaRPr lang="en-US" sz="1200" dirty="0"/>
          </a:p>
        </p:txBody>
      </p:sp>
      <p:sp>
        <p:nvSpPr>
          <p:cNvPr id="30" name="Text 28"/>
          <p:cNvSpPr/>
          <p:nvPr/>
        </p:nvSpPr>
        <p:spPr>
          <a:xfrm>
            <a:off x="548640" y="6592824"/>
            <a:ext cx="11091672" cy="219456"/>
          </a:xfrm>
          <a:prstGeom prst="rect">
            <a:avLst/>
          </a:prstGeom>
          <a:noFill/>
          <a:ln/>
        </p:spPr>
        <p:txBody>
          <a:bodyPr wrap="square" lIns="0" tIns="0" rIns="0" bIns="0" rtlCol="0" anchor="ctr"/>
          <a:lstStyle/>
          <a:p>
            <a:pPr indent="0" marL="0">
              <a:buNone/>
            </a:pPr>
            <a:r>
              <a:rPr lang="en-US" sz="1300" dirty="0">
                <a:solidFill>
                  <a:srgbClr val="0B3D62"/>
                </a:solidFill>
                <a:latin typeface="Calibri" pitchFamily="34" charset="0"/>
                <a:ea typeface="Calibri" pitchFamily="34" charset="-122"/>
                <a:cs typeface="Calibri" pitchFamily="34" charset="-120"/>
              </a:rPr>
              <a:t>Después de un preventivo puede venir cualquier cosa. Ninguno pasa del 28 por ciento.</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viene después de cada evento?</a:t>
            </a:r>
            <a:endParaRPr lang="en-US" sz="2400" dirty="0"/>
          </a:p>
        </p:txBody>
      </p:sp>
      <p:sp>
        <p:nvSpPr>
          <p:cNvPr id="5" name="Text 3"/>
          <p:cNvSpPr/>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6"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7" name="Text 5"/>
          <p:cNvSpPr/>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El orden en el tiempo muestra qué viene después.</a:t>
            </a:r>
            <a:endParaRPr lang="en-US" sz="2800" dirty="0"/>
          </a:p>
        </p:txBody>
      </p:sp>
      <p:sp>
        <p:nvSpPr>
          <p:cNvPr id="8" name="Text 6"/>
          <p:cNvSpPr/>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La canasta dice qué va junto en un mes. shift dice qué vino justo después.</a:t>
            </a:r>
            <a:endParaRPr lang="en-US" sz="2200" dirty="0"/>
          </a:p>
        </p:txBody>
      </p:sp>
      <p:sp>
        <p:nvSpPr>
          <p:cNvPr id="9" name="Text 7"/>
          <p:cNvSpPr/>
          <p:nvPr/>
        </p:nvSpPr>
        <p:spPr>
          <a:xfrm>
            <a:off x="548640" y="5788152"/>
            <a:ext cx="4572000" cy="228600"/>
          </a:xfrm>
          <a:prstGeom prst="rect">
            <a:avLst/>
          </a:prstGeom>
          <a:noFill/>
          <a:ln/>
        </p:spPr>
        <p:txBody>
          <a:bodyPr wrap="square" lIns="0" tIns="0" rIns="0" bIns="0" rtlCol="0" anchor="ctr"/>
          <a:lstStyle/>
          <a:p>
            <a:pPr indent="0" marL="0">
              <a:buNone/>
            </a:pPr>
            <a:r>
              <a:rPr lang="en-US" sz="1100" b="1"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8"/>
          <p:cNvSpPr/>
          <p:nvPr/>
        </p:nvSpPr>
        <p:spPr>
          <a:xfrm>
            <a:off x="548640" y="6062472"/>
            <a:ext cx="1431950" cy="512064"/>
          </a:xfrm>
          <a:prstGeom prst="roundRect">
            <a:avLst>
              <a:gd name="adj" fmla="val 12500"/>
            </a:avLst>
          </a:prstGeom>
          <a:solidFill>
            <a:srgbClr val="FEF3D6"/>
          </a:solidFill>
          <a:ln w="25400">
            <a:solidFill>
              <a:srgbClr val="F9AB00"/>
            </a:solidFill>
            <a:prstDash val="solid"/>
          </a:ln>
        </p:spPr>
      </p:sp>
      <p:sp>
        <p:nvSpPr>
          <p:cNvPr id="11" name="Text 9"/>
          <p:cNvSpPr/>
          <p:nvPr/>
        </p:nvSpPr>
        <p:spPr>
          <a:xfrm>
            <a:off x="640080" y="6071616"/>
            <a:ext cx="1294790"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evento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"preventivo"</a:t>
            </a:r>
            <a:endParaRPr lang="en-US" sz="1200" dirty="0"/>
          </a:p>
        </p:txBody>
      </p:sp>
      <p:sp>
        <p:nvSpPr>
          <p:cNvPr id="12" name="Shape 10"/>
          <p:cNvSpPr/>
          <p:nvPr/>
        </p:nvSpPr>
        <p:spPr>
          <a:xfrm>
            <a:off x="2117750" y="6062472"/>
            <a:ext cx="1526134" cy="512064"/>
          </a:xfrm>
          <a:prstGeom prst="roundRect">
            <a:avLst>
              <a:gd name="adj" fmla="val 12500"/>
            </a:avLst>
          </a:prstGeom>
          <a:solidFill>
            <a:srgbClr val="FEF3D6"/>
          </a:solidFill>
          <a:ln w="25400">
            <a:solidFill>
              <a:srgbClr val="F9AB00"/>
            </a:solidFill>
            <a:prstDash val="solid"/>
          </a:ln>
        </p:spPr>
      </p:sp>
      <p:sp>
        <p:nvSpPr>
          <p:cNvPr id="13" name="Text 11"/>
          <p:cNvSpPr/>
          <p:nvPr/>
        </p:nvSpPr>
        <p:spPr>
          <a:xfrm>
            <a:off x="2209190"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despues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158 × 7</a:t>
            </a:r>
            <a:endParaRPr lang="en-US" sz="1200" dirty="0"/>
          </a:p>
        </p:txBody>
      </p:sp>
      <p:sp>
        <p:nvSpPr>
          <p:cNvPr id="14" name="Shape 12"/>
          <p:cNvSpPr/>
          <p:nvPr/>
        </p:nvSpPr>
        <p:spPr>
          <a:xfrm>
            <a:off x="3781044" y="6062472"/>
            <a:ext cx="1526134" cy="512064"/>
          </a:xfrm>
          <a:prstGeom prst="roundRect">
            <a:avLst>
              <a:gd name="adj" fmla="val 12500"/>
            </a:avLst>
          </a:prstGeom>
          <a:solidFill>
            <a:srgbClr val="E8F0FE"/>
          </a:solidFill>
          <a:ln w="28575">
            <a:solidFill>
              <a:srgbClr val="1A73E8"/>
            </a:solidFill>
            <a:prstDash val="solid"/>
          </a:ln>
        </p:spPr>
      </p:sp>
      <p:sp>
        <p:nvSpPr>
          <p:cNvPr id="15" name="Text 13"/>
          <p:cNvSpPr/>
          <p:nvPr/>
        </p:nvSpPr>
        <p:spPr>
          <a:xfrm>
            <a:off x="3872484"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mant</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6</a:t>
            </a:r>
            <a:endParaRPr lang="en-US" sz="1200" dirty="0"/>
          </a:p>
        </p:txBody>
      </p:sp>
      <p:sp>
        <p:nvSpPr>
          <p:cNvPr id="16" name="Shape 14"/>
          <p:cNvSpPr/>
          <p:nvPr/>
        </p:nvSpPr>
        <p:spPr>
          <a:xfrm>
            <a:off x="5444338" y="6062472"/>
            <a:ext cx="1526134" cy="512064"/>
          </a:xfrm>
          <a:prstGeom prst="roundRect">
            <a:avLst>
              <a:gd name="adj" fmla="val 12500"/>
            </a:avLst>
          </a:prstGeom>
          <a:solidFill>
            <a:srgbClr val="E8F0FE"/>
          </a:solidFill>
          <a:ln w="28575">
            <a:solidFill>
              <a:srgbClr val="1A73E8"/>
            </a:solidFill>
            <a:prstDash val="solid"/>
          </a:ln>
        </p:spPr>
      </p:sp>
      <p:sp>
        <p:nvSpPr>
          <p:cNvPr id="17" name="Text 15"/>
          <p:cNvSpPr/>
          <p:nvPr/>
        </p:nvSpPr>
        <p:spPr>
          <a:xfrm>
            <a:off x="5535778"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ordenados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600 × 7</a:t>
            </a:r>
            <a:endParaRPr lang="en-US" sz="1200" dirty="0"/>
          </a:p>
        </p:txBody>
      </p:sp>
      <p:sp>
        <p:nvSpPr>
          <p:cNvPr id="18" name="Shape 16"/>
          <p:cNvSpPr/>
          <p:nvPr/>
        </p:nvSpPr>
        <p:spPr>
          <a:xfrm>
            <a:off x="7107631" y="6062472"/>
            <a:ext cx="1526134" cy="512064"/>
          </a:xfrm>
          <a:prstGeom prst="roundRect">
            <a:avLst>
              <a:gd name="adj" fmla="val 12500"/>
            </a:avLst>
          </a:prstGeom>
          <a:solidFill>
            <a:srgbClr val="F1F3F4"/>
          </a:solidFill>
          <a:ln w="12700">
            <a:solidFill>
              <a:srgbClr val="DADCE0"/>
            </a:solidFill>
            <a:prstDash val="solid"/>
          </a:ln>
        </p:spPr>
      </p:sp>
      <p:sp>
        <p:nvSpPr>
          <p:cNvPr id="19" name="Text 17"/>
          <p:cNvSpPr/>
          <p:nvPr/>
        </p:nvSpPr>
        <p:spPr>
          <a:xfrm>
            <a:off x="7199071" y="6071616"/>
            <a:ext cx="1388974" cy="493776"/>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47 × 10</a:t>
            </a:r>
            <a:endParaRPr lang="en-US" sz="1200" dirty="0"/>
          </a:p>
        </p:txBody>
      </p:sp>
      <p:sp>
        <p:nvSpPr>
          <p:cNvPr id="20" name="Text 18"/>
          <p:cNvSpPr/>
          <p:nvPr/>
        </p:nvSpPr>
        <p:spPr>
          <a:xfrm>
            <a:off x="8770925" y="6062472"/>
            <a:ext cx="1005840" cy="512064"/>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y 18 más</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0B3D62"/>
        </a:solidFill>
      </p:bgPr>
    </p:bg>
    <p:spTree>
      <p:nvGrpSpPr>
        <p:cNvPr id="1" name=""/>
        <p:cNvGrpSpPr/>
        <p:nvPr/>
      </p:nvGrpSpPr>
      <p:grpSpPr>
        <a:xfrm>
          <a:off x="0" y="0"/>
          <a:ext cx="0" cy="0"/>
          <a:chOff x="0" y="0"/>
          <a:chExt cx="0" cy="0"/>
        </a:xfrm>
      </p:grpSpPr>
      <p:sp>
        <p:nvSpPr>
          <p:cNvPr id="2" name="Text 0"/>
          <p:cNvSpPr/>
          <p:nvPr/>
        </p:nvSpPr>
        <p:spPr>
          <a:xfrm>
            <a:off x="731520" y="164592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Ahora en Colab</a:t>
            </a:r>
            <a:endParaRPr lang="en-US" sz="4000" dirty="0"/>
          </a:p>
        </p:txBody>
      </p:sp>
      <p:sp>
        <p:nvSpPr>
          <p:cNvPr id="3" name="Text 1"/>
          <p:cNvSpPr/>
          <p:nvPr/>
        </p:nvSpPr>
        <p:spPr>
          <a:xfrm>
            <a:off x="731520" y="2560320"/>
            <a:ext cx="1069848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Ahora abran el Lab 04 guiado y hagan los 5 pasos de la Parte 1. La Parte 2 queda para la casa, con la guía y estas láminas.</a:t>
            </a:r>
            <a:endParaRPr lang="en-US" sz="2000" dirty="0"/>
          </a:p>
        </p:txBody>
      </p:sp>
      <p:sp>
        <p:nvSpPr>
          <p:cNvPr id="4" name="Text 2"/>
          <p:cNvSpPr/>
          <p:nvPr/>
        </p:nvSpPr>
        <p:spPr>
          <a:xfrm>
            <a:off x="731520" y="3611880"/>
            <a:ext cx="10698480" cy="457200"/>
          </a:xfrm>
          <a:prstGeom prst="rect">
            <a:avLst/>
          </a:prstGeom>
          <a:noFill/>
          <a:ln/>
        </p:spPr>
        <p:txBody>
          <a:bodyPr wrap="square" lIns="0" tIns="0" rIns="0" bIns="0" rtlCol="0" anchor="ctr"/>
          <a:lstStyle/>
          <a:p>
            <a:pPr indent="0" marL="0">
              <a:buNone/>
            </a:pPr>
            <a:r>
              <a:rPr lang="en-US" sz="1800" dirty="0">
                <a:solidFill>
                  <a:srgbClr val="F9AB00"/>
                </a:solidFill>
                <a:latin typeface="Calibri" pitchFamily="34" charset="0"/>
                <a:ea typeface="Calibri" pitchFamily="34" charset="-122"/>
                <a:cs typeface="Calibri" pitchFamily="34" charset="-120"/>
              </a:rPr>
              <a:t>Si algo no calza, escriban en el chat el número del paso.</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1672" cy="640080"/>
          </a:xfrm>
          <a:prstGeom prst="rect">
            <a:avLst/>
          </a:prstGeom>
          <a:noFill/>
          <a:ln/>
        </p:spPr>
        <p:txBody>
          <a:bodyPr wrap="square" lIns="0" tIns="0" rIns="0" bIns="0" rtlCol="0" anchor="ctr"/>
          <a:lstStyle/>
          <a:p>
            <a:pPr indent="0" marL="0">
              <a:buNone/>
            </a:pPr>
            <a:r>
              <a:rPr lang="en-US" sz="3200" b="1" dirty="0">
                <a:solidFill>
                  <a:srgbClr val="0B3D62"/>
                </a:solidFill>
                <a:latin typeface="Calibri" pitchFamily="34" charset="0"/>
                <a:ea typeface="Calibri" pitchFamily="34" charset="-122"/>
                <a:cs typeface="Calibri" pitchFamily="34" charset="-120"/>
              </a:rPr>
              <a:t>Del Lab 04 al Lab 05</a:t>
            </a:r>
            <a:endParaRPr lang="en-US" sz="3200" dirty="0"/>
          </a:p>
        </p:txBody>
      </p:sp>
      <p:sp>
        <p:nvSpPr>
          <p:cNvPr id="3" name="Text 1"/>
          <p:cNvSpPr/>
          <p:nvPr/>
        </p:nvSpPr>
        <p:spPr>
          <a:xfrm>
            <a:off x="548640" y="1143000"/>
            <a:ext cx="11091672" cy="457200"/>
          </a:xfrm>
          <a:prstGeom prst="rect">
            <a:avLst/>
          </a:prstGeom>
          <a:noFill/>
          <a:ln/>
        </p:spPr>
        <p:txBody>
          <a:bodyPr wrap="square" lIns="0" tIns="0" rIns="0" bIns="0" rtlCol="0" anchor="ctr"/>
          <a:lstStyle/>
          <a:p>
            <a:pPr indent="0" marL="0">
              <a:buNone/>
            </a:pPr>
            <a:r>
              <a:rPr lang="en-US" sz="1800" dirty="0">
                <a:solidFill>
                  <a:srgbClr val="5F6368"/>
                </a:solidFill>
                <a:latin typeface="Calibri" pitchFamily="34" charset="0"/>
                <a:ea typeface="Calibri" pitchFamily="34" charset="-122"/>
                <a:cs typeface="Calibri" pitchFamily="34" charset="-120"/>
              </a:rPr>
              <a:t>Lo que nos llevamos y cómo sigue</a:t>
            </a:r>
            <a:endParaRPr lang="en-US" sz="1800" dirty="0"/>
          </a:p>
        </p:txBody>
      </p:sp>
      <p:sp>
        <p:nvSpPr>
          <p:cNvPr id="4" name="Shape 2"/>
          <p:cNvSpPr/>
          <p:nvPr/>
        </p:nvSpPr>
        <p:spPr>
          <a:xfrm>
            <a:off x="548640" y="2011680"/>
            <a:ext cx="548640" cy="548640"/>
          </a:xfrm>
          <a:prstGeom prst="ellipse">
            <a:avLst/>
          </a:prstGeom>
          <a:solidFill>
            <a:srgbClr val="1A73E8"/>
          </a:solidFill>
          <a:ln w="12700">
            <a:solidFill>
              <a:srgbClr val="1A73E8"/>
            </a:solidFill>
            <a:prstDash val="solid"/>
          </a:ln>
        </p:spPr>
      </p:sp>
      <p:sp>
        <p:nvSpPr>
          <p:cNvPr id="5" name="Text 3"/>
          <p:cNvSpPr/>
          <p:nvPr/>
        </p:nvSpPr>
        <p:spPr>
          <a:xfrm>
            <a:off x="548640" y="20116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371600" y="1920240"/>
            <a:ext cx="10268712" cy="731520"/>
          </a:xfrm>
          <a:prstGeom prst="rect">
            <a:avLst/>
          </a:prstGeom>
          <a:noFill/>
          <a:ln/>
        </p:spPr>
        <p:txBody>
          <a:bodyPr wrap="square" lIns="0" tIns="0" rIns="0" bIns="0" rtlCol="0" anchor="ctr"/>
          <a:lstStyle/>
          <a:p>
            <a:pPr indent="0" marL="0">
              <a:buNone/>
            </a:pPr>
            <a:r>
              <a:rPr lang="en-US" sz="2200" dirty="0">
                <a:solidFill>
                  <a:srgbClr val="202124"/>
                </a:solidFill>
                <a:latin typeface="Calibri" pitchFamily="34" charset="0"/>
                <a:ea typeface="Calibri" pitchFamily="34" charset="-122"/>
                <a:cs typeface="Calibri" pitchFamily="34" charset="-120"/>
              </a:rPr>
              <a:t>Una bitácora se agrupa en canastas con la tabla dinámica, y el promedio de sí o no dice qué tan común es cada evento.</a:t>
            </a:r>
            <a:endParaRPr lang="en-US" sz="2200" dirty="0"/>
          </a:p>
        </p:txBody>
      </p:sp>
      <p:sp>
        <p:nvSpPr>
          <p:cNvPr id="7" name="Shape 5"/>
          <p:cNvSpPr/>
          <p:nvPr/>
        </p:nvSpPr>
        <p:spPr>
          <a:xfrm>
            <a:off x="548640" y="3200400"/>
            <a:ext cx="548640" cy="548640"/>
          </a:xfrm>
          <a:prstGeom prst="ellipse">
            <a:avLst/>
          </a:prstGeom>
          <a:solidFill>
            <a:srgbClr val="1A73E8"/>
          </a:solidFill>
          <a:ln w="12700">
            <a:solidFill>
              <a:srgbClr val="1A73E8"/>
            </a:solidFill>
            <a:prstDash val="solid"/>
          </a:ln>
        </p:spPr>
      </p:sp>
      <p:sp>
        <p:nvSpPr>
          <p:cNvPr id="8" name="Text 6"/>
          <p:cNvSpPr/>
          <p:nvPr/>
        </p:nvSpPr>
        <p:spPr>
          <a:xfrm>
            <a:off x="548640" y="32004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9" name="Text 7"/>
          <p:cNvSpPr/>
          <p:nvPr/>
        </p:nvSpPr>
        <p:spPr>
          <a:xfrm>
            <a:off x="1371600" y="3108960"/>
            <a:ext cx="10268712" cy="731520"/>
          </a:xfrm>
          <a:prstGeom prst="rect">
            <a:avLst/>
          </a:prstGeom>
          <a:noFill/>
          <a:ln/>
        </p:spPr>
        <p:txBody>
          <a:bodyPr wrap="square" lIns="0" tIns="0" rIns="0" bIns="0" rtlCol="0" anchor="ctr"/>
          <a:lstStyle/>
          <a:p>
            <a:pPr indent="0" marL="0">
              <a:buNone/>
            </a:pPr>
            <a:r>
              <a:rPr lang="en-US" sz="2200" dirty="0">
                <a:solidFill>
                  <a:srgbClr val="202124"/>
                </a:solidFill>
                <a:latin typeface="Calibri" pitchFamily="34" charset="0"/>
                <a:ea typeface="Calibri" pitchFamily="34" charset="-122"/>
                <a:cs typeface="Calibri" pitchFamily="34" charset="-120"/>
              </a:rPr>
              <a:t>La confianza se compara con lo normal, y eso es el lift. La ventana de días es una decisión que se deja escrita.</a:t>
            </a:r>
            <a:endParaRPr lang="en-US" sz="2200" dirty="0"/>
          </a:p>
        </p:txBody>
      </p:sp>
      <p:sp>
        <p:nvSpPr>
          <p:cNvPr id="10" name="Shape 8"/>
          <p:cNvSpPr/>
          <p:nvPr/>
        </p:nvSpPr>
        <p:spPr>
          <a:xfrm>
            <a:off x="548640" y="4389120"/>
            <a:ext cx="548640" cy="548640"/>
          </a:xfrm>
          <a:prstGeom prst="ellipse">
            <a:avLst/>
          </a:prstGeom>
          <a:solidFill>
            <a:srgbClr val="0B3D62"/>
          </a:solidFill>
          <a:ln w="12700">
            <a:solidFill>
              <a:srgbClr val="0B3D62"/>
            </a:solidFill>
            <a:prstDash val="solid"/>
          </a:ln>
        </p:spPr>
      </p:sp>
      <p:sp>
        <p:nvSpPr>
          <p:cNvPr id="11" name="Text 9"/>
          <p:cNvSpPr/>
          <p:nvPr/>
        </p:nvSpPr>
        <p:spPr>
          <a:xfrm>
            <a:off x="54864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 10"/>
          <p:cNvSpPr/>
          <p:nvPr/>
        </p:nvSpPr>
        <p:spPr>
          <a:xfrm>
            <a:off x="1371600" y="4297680"/>
            <a:ext cx="10268712" cy="731520"/>
          </a:xfrm>
          <a:prstGeom prst="rect">
            <a:avLst/>
          </a:prstGeom>
          <a:noFill/>
          <a:ln/>
        </p:spPr>
        <p:txBody>
          <a:bodyPr wrap="square" lIns="0" tIns="0" rIns="0" bIns="0" rtlCol="0" anchor="ctr"/>
          <a:lstStyle/>
          <a:p>
            <a:pPr indent="0" marL="0">
              <a:buNone/>
            </a:pPr>
            <a:r>
              <a:rPr lang="en-US" sz="2200" dirty="0">
                <a:solidFill>
                  <a:srgbClr val="202124"/>
                </a:solidFill>
                <a:latin typeface="Calibri" pitchFamily="34" charset="0"/>
                <a:ea typeface="Calibri" pitchFamily="34" charset="-122"/>
                <a:cs typeface="Calibri" pitchFamily="34" charset="-120"/>
              </a:rPr>
              <a:t>El Lab 05 busca grupos sin una respuesta correcta, como centrales que se comportan parecido.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04 guiado · Minería de datos</dc:title>
  <dc:subject>PptxGenJS Presentation</dc:subject>
  <dc:creator>PptxGenJS</dc:creator>
  <cp:lastModifiedBy>PptxGenJS</cp:lastModifiedBy>
  <cp:revision>1</cp:revision>
  <dcterms:created xsi:type="dcterms:W3CDTF">2026-10-19T22:44:10Z</dcterms:created>
  <dcterms:modified xsi:type="dcterms:W3CDTF">2026-10-19T22:44:10Z</dcterms:modified>
</cp:coreProperties>
</file>