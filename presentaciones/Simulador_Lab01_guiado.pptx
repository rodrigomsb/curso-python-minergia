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SUGERIDOS
Esta presentación 25 min y el Lab 01 guiado en Colab 45 min.
ESTA LÁMINA
Presentar las tres preguntas del lab. Cómo se abre y se mira una tabla, de dónde pueden venir los datos y qué se pierde o se duplica al unir dos tablas. La tercera es la más importante para su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esta lámina al comienzo. Hoy se ven solo estos 5 pasos, que son la Parte 1 del cuaderno. La Parte 2 está al final del mismo cuaderno y queda para la casa, con la guía en PDF. Se muestra en la última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el archivo tal como viene, texto con comas. A la derecha la tabla que arma pandas. La primera línea pasa a ser el nombre de las columnas y pandas agrega a la izquierda el número de fila, que se llama índice.
DECIR
El índice no viene en el archivo. Lo pone pandas para poder ubicar cada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DATOS = "https://...datos/"
Guarda la dirección de la carpeta de datos del curso en GitHub. Va en mayúsculas por costumbre, para marcar que es un valor que no cambia. Así no hay que repetir la dirección larga en cada paso.
import pandas as pd
Trae pandas, la herramienta para tablas.
centrales = pd.read_csv(DATOS + "centrales.csv")
El signo más junta dos textos. La dirección de la carpeta más el nombre del archivo forma la dirección completa. read_csv lo lee y lo convierte en tabla.
centrales
Última línea, se muestra la tabla.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entre pd y read_csv se lee como de. read_csv de pandas.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Las mismas 20 centrales de la Bienvenida. En la lámina se ven 6, en Colab se ven todas.
MEMORIA
DATOS, pd y centrales son nuevos.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Lo que tienen que llevarse es que el archivo es texto y la tabla es lo que pandas arma a partir de él. Desde ahora todo se trabaja sobre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Primero se hace la pregunta a cada fila, si su tecnología es hidro. Sale una columna de True y False. Después pasan solo las filas con True.
DECIR
El número de fila se conserva. Por eso cuando eligen solar la tabla empieza en 5 y no en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tecnologia = "hidro" #@param [...]
Desplegable con las seis tecnologías. Van sin tilde, igual que en los datos.
filtradas = centrales[centrales["tecnologia"] == tecnologia]
Un filtro como el de la Bienvenida. Se lee de adentro hacia afuera. Compara la columna con lo elegido y deja pasar solo las filas que coinciden.
print(f"✓ Hay {len(filtradas)} centrales de {tecnologia}")
len cuenta las filas.
filtradas
Se muestra.
SINTAXIS DE TODO EL CÓDIGO DE ESTA CELDA
# comentario
Todo lo que va después del signo # es un comentario. Python no lo ejecuta, sirve para explicar el código a quien lo lee.
==
Dos signos igual preguntan si dos cosas son iguales. Dan True o False. Un solo igual guarda.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lee de adentro hacia afuera. Las dos veces que aparece centrales confunde. Una es la columna que se compara y la otra la tabla que se filtra. Volver a la Bienvenida, Paso 6, que usó un filtro igual, sobre la región.
SINTAXIS DE TODO EL CÓDIGO DE ESTA CELDA
# comentario
Todo lo que va después del signo # es un comentario. Python no lo ejecuta, sirve para explicar el código a quien lo lee.
==
Dos signos igual preguntan si dos cosas son iguales. Dan True o False. Un solo igual guarda.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Hay 5 centrales hidro.
SINTAXIS DE TODO EL CÓDIGO DE ESTA CELDA
# comentario
Todo lo que va después del signo # es un comentario. Python no lo ejecuta, sirve para explicar el código a quien lo lee.
==
Dos signos igual preguntan si dos cosas son iguales. Dan True o False. Un solo igual guarda.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solar en el desplegable.
SINTAXIS DE TODO EL CÓDIGO DE ESTA CELDA
# comentario
Todo lo que va después del signo # es un comentario. Python no lo ejecuta, sirve para explicar el código a quien lo lee.
==
Dos signos igual preguntan si dos cosas son iguales. Dan True o False. Un solo igual guarda.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También 5, todas en Antofagasta y Atacama.
PREGUNTAR
¿Por qué creen que las solares están en el norte? Por la radiación.
SINTAXIS DE TODO EL CÓDIGO DE ESTA CELDA
# comentario
Todo lo que va después del signo # es un comentario. Python no lo ejecuta, sirve para explicar el código a quien lo lee.
==
Dos signos igual preguntan si dos cosas son iguales. Dan True o False. Un solo igual guarda.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f"... {nombre} ..."
Texto con una f delante. Lo que va entre llaves se reemplaza por su valor al mostrarse.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pregunta de adentro, centrales["tecnologia"] == tecnologia, da una columna de True y False. Los corchetes de afuera dejan pasar solo las filas con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 multiplicación. 20 centrales por 24 horas por 366 días da 175.680 filas. 2024 fue bisiesto.
DECIR
Cuando corramos la celda, el primer número que va a salir tiene que ser ese. Y parse_dates hace que la fecha deje de ser texto, por eso se le puede pedir el primer y el último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generacion = pd.read_csv(DATOS + "generacion.csv", parse_dates=["fecha"])
Lee el archivo de generación. parse_dates le avisa que la columna fecha trae fechas. Sin eso, la fecha llegaría como texto y no se podría pedir el primer o el último día.
generacion.shape
Filas y columnas.
generacion["fecha"].min().date() y max()
El primer y el último día.
generacion.head()
Muestra las primeras cinco filas.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pd.read_csv( ... )
Lee un archivo separado por comas y lo convierte en tabla. pd es pandas.
"texto"
Lo que va entre comillas es texto. Sin comillas, Python lo entiende como un nombre o un número.
parse_dates=[ ... ]
Las columnas que hay que leer como fecha y no como texto.
print( ... )
Muestra en pantalla lo que va dentro. Si van varias cosas separadas por coma, las muestra en una línea con un espacio entre ellas.
.shape
Filas y columnas de la tabla.
tabla["columna"]
Corchetes con un nombre entre comillas eligen una columna de la tabla. También eligen una llave de un diccionario.
a.b().c()
Cadena de pasos. Cada punto toma lo que salió a su izquierda y le aplica algo más. Se lee de izquierda a derecha.
.min()
El valor más chico. En fechas, la más antigua.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ajustes con nombre, nombre igual valor, aparecen mucho. Sin ese ajuste la fecha llegaría como texto.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pd.read_csv( ... )
Lee un archivo separado por comas y lo convierte en tabla. pd es pandas.
"texto"
Lo que va entre comillas es texto. Sin comillas, Python lo entiende como un nombre o un número.
parse_dates=[ ... ]
Las columnas que hay que leer como fecha y no como texto.
print( ... )
Muestra en pantalla lo que va dentro. Si van varias cosas separadas por coma, las muestra en una línea con un espacio entre ellas.
.shape
Filas y columnas de la tabla.
tabla["columna"]
Corchetes con un nombre entre comillas eligen una columna de la tabla. También eligen una llave de un diccionario.
a.b().c()
Cadena de pasos. Cada punto toma lo que salió a su izquierda y le aplica algo más. Se lee de izquierda a derecha.
.min()
El valor más chico. En fechas, la más antigua.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lámina explica cada pieza de esta línea. Abajo está la sintaxis de toda la celda.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pd.read_csv( ... )
Lee un archivo separado por comas y lo convierte en tabla. pd es pandas.
"texto"
Lo que va entre comillas es texto. Sin comillas, Python lo entiende como un nombre o un número.
parse_dates=[ ... ]
Las columnas que hay que leer como fecha y no como texto.
print( ... )
Muestra en pantalla lo que va dentro. Si van varias cosas separadas por coma, las muestra en una línea con un espacio entre ellas.
.shape
Filas y columnas de la tabla.
tabla["columna"]
Corchetes con un nombre entre comillas eligen una columna de la tabla. También eligen una llave de un diccionario.
a.b().c()
Cadena de pasos. Cada punto toma lo que salió a su izquierda y le aplica algo más. Se lee de izquierda a derecha.
.min()
El valor más chico. En fechas, la más antigua.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175.680 filas. Son 20 centrales por 24 horas por 366 días, porque 2024 fue bisiesto.
Va del 1 de enero al 31 de diciembre de 2024.
En la tabla la fecha se ve sin la hora porque todas son medianoche. El diagrama le agrega 00:00:00 para mostrar que ya es fecha.
DECIR
Un archivo así en Excel ya cuesta abrirlo. Aquí se lee en segundos.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pd.read_csv( ... )
Lee un archivo separado por comas y lo convierte en tabla. pd es pandas.
"texto"
Lo que va entre comillas es texto. Sin comillas, Python lo entiende como un nombre o un número.
parse_dates=[ ... ]
Las columnas que hay que leer como fecha y no como texto.
print( ... )
Muestra en pantalla lo que va dentro. Si van varias cosas separadas por coma, las muestra en una línea con un espacio entre ellas.
.shape
Filas y columnas de la tabla.
tabla["columna"]
Corchetes con un nombre entre comillas eligen una columna de la tabla. También eligen una llave de un diccionario.
a.b().c()
Cadena de pasos. Cada punto toma lo que salió a su izquierda y le aplica algo más. Se lee de izquierda a derecha.
.min()
El valor más chico. En fechas, la más antigua.
.date()
Deja solo el día de una fecha, sin la hora.
.max()
El valor más grande. En fechas, la más reciente.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Contar filas es el primer control. Si una central dejó de informar unas horas, el número no calzaría con la multiplicación.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antes de mostrar el diagrama. Lo habitual es que muchos digan las mismas, porque piensan que unir solo agrega columnas.
RESPUESTA
Menos. Con inner se pierden las 24 horas de las tres centrales sin ficha, 72 filas, y quedan 408. No aparece ningún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Dos círculos. El azul son las 20 centrales que tienen generación el 15 de junio. El amarillo son las 17 que tienen ficha. Las 17 están en los dos, y 3 están solo en el azul, en rojo.
DECIR
inner deja solo lo que está en los dos, 17 centrales. left deja todo el círculo de la izquierda, las 20.
OJO
El dibujo cuenta centrales, no filas. Cada central son 24 filas del día. Por eso este dibujo no sirve para el Paso 5, donde el problema son filas repetidas.
SI PREGUNTAN POR OTRAS FORMAS DE UNIR
Hay otras, como outer y cross. No se usan en la ruta guiada. Están en la ruta completa del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seis centrales de un día. A tres les falta la ficha, en rojo. Con inner esas tres desaparecen. Con left se quedan con la ficha vacía.
DECIR
Lo peligroso de inner es que no avisa. El código corre bien y faltan filas. Con el día completo, 480 filas pasan a 408.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como_unir = "inner" #@param [...]
Se elige la forma de unir.
un_dia = generacion[generacion["fecha"] == "2024-06-15"]
Deja solo la generación de un día, con un filtro como el del Paso 2, ahora sobre la fecha. Así los números son manejables, 480 filas.
fichas = pd.read_csv(DATOS + "fichas.csv")
Lee la planilla de fichas que mantiene otra área. Le faltan tres centrales, como pasa en la vida real.
unido = pd.merge(un_dia, fichas, on="central", how=como_unir)
Une las dos tablas usando la columna central. Es como un BUSCARV. how dice qué hacer con las filas que no encuentran pareja.
Los print
Cuentan las filas antes y después de unir. len cuenta las filas, como en el Paso 2.
SINTAXIS DE TODO EL CÓDIGO DE ESTA CELDA
# comentario
Todo lo que va después del signo # es un comentario. Python no lo ejecuta, sirve para explicar el código a quien lo lee.
==
Dos signos igual preguntan si dos cosas son iguales. Dan True o False. Un solo igual guarda.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al diagrama. La izquierda es un_dia, la derecha fichas.
SINTAXIS DE TODO EL CÓDIGO DE ESTA CELDA
# comentario
Todo lo que va después del signo # es un comentario. Python no lo ejecuta, sirve para explicar el código a quien lo lee.
==
Dos signos igual preguntan si dos cosas son iguales. Dan True o False. Un solo igual guarda.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Antes de unir hay 480 filas y después 408. Con inner se perdieron 72 filas, las 24 horas de las tres centrales sin ficha, y no apareció ningún error.
DECIR
Este es el error más peligroso del módulo. El código corre bien, la tabla se ve normal y le faltan filas.
SINTAXIS DE TODO EL CÓDIGO DE ESTA CELDA
# comentario
Todo lo que va después del signo # es un comentario. Python no lo ejecuta, sirve para explicar el código a quien lo lee.
==
Dos signos igual preguntan si dos cosas son iguales. Dan True o False. Un solo igual guarda.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left, que conserva toda la generación aunque no tenga ficha.
SINTAXIS DE TODO EL CÓDIGO DE ESTA CELDA
# comentario
Todo lo que va después del signo # es un comentario. Python no lo ejecuta, sirve para explicar el código a quien lo lee.
==
Dos signos igual preguntan si dos cosas son iguales. Dan True o False. Un solo igual guarda.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480 filas antes y 480 después. No se perdió nada. Las tres centrales sin ficha quedan con la tecnología vacía, que pandas muestra como NaN.
Insistir en la regla. Antes y después de unir se cuentan las filas. Preguntar si en su trabajo han cruzado tablas con BUSCARV y les han quedado filas con error o vacías.
SINTAXIS DE TODO EL CÓDIGO DE ESTA CELDA
# comentario
Todo lo que va después del signo # es un comentario. Python no lo ejecuta, sirve para explicar el código a quien lo lee.
==
Dos signos igual preguntan si dos cosas son iguales. Dan True o False. Un solo igual guarda.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Que voten y que digan cuántas filas esperan.
RESPUESTA
Suben a 528. Cada hora de las dos centrales repetidas encuentra dos fichas y queda dos veces, 48 filas de más. Con fichas.csv quedan igual, 480.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Río Manso Alto tiene dos fichas. Cada una de sus horas encuentra dos parejas y queda dos veces. Con dos centrales repetidas, 480 filas pasan a 528.
DECIR
Aquí no se pierde nada, se infla. El error contrario al paso anterior, y se detecta igual, contando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archivo = "fichas.csv" #@param [...]
Se elige qué planilla leer. fichas_repetidas.csv es la misma, con dos centrales anotadas dos veces.
fichas = pd.read_csv(DATOS + archivo)
Lee la planilla elegida. DATOS + archivo junta la carpeta con el nombre del archivo.
unido = pd.merge(un_dia, fichas, on="central", how="left")
Une igual que en el paso anterior, con left.
Los print
Cuántas fichas trae la planilla y cuántas filas hay antes y después de unir.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lista cambia el archivo sin tocar el código. Es lo mismo que elegir la tecnología en el Paso 2.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 planilla trae 17 fichas. Antes de unir hay 480 filas y después también 480. No se perdió ni se duplicó nada.
DECIR
Así se ve una unión que no duplica filas. Las filas no cambian.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fichas_repetidas.csv, que trae 19 fichas porque dos centrales están anotadas dos veces.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Antes 480 filas y después 528. Cada hora de las dos centrales repetidas encontró dos fichas y quedó dos veces, 48 filas de más.
DECIR
Aquí no se perdió nada, se infló. Es el error contrario al del paso anterior y se detecta igual, contando filas.
DECIR
En la práctica las planillas de fichas vienen con repetidos más seguido de lo que uno cree. Por eso se cuentan las filas antes y después de unir.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PASAR ESTA LÁMINA
Aquí termina lo que se ve en clase. Desde esta lámina vienen los estudios de la Parte 2, explicados igual que los pasos, para que los alumnos los repasen en la casa. Cada lámina lleva arriba la etiqueta naranja PARA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shape da filas y columnas, en ese orden. columns da los nombres. sum suma la columna marcada en amarillo.
DECIR
El índice de la izquierda no cuenta como columna. Por eso son 5 y no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centrales.shape
Entrega dos números, filas y columnas.
list(centrales.columns)
Los nombres de las columnas.
centrales["potencia_mw"].sum()
Toma la columna de potencia y la suma.
DECIR
Son las tres preguntas que se le hacen a cualquier tabla apenas se abre. Cuántos datos hay, qué datos hay y un total para tener una referencia.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.shape
Filas y columnas de la tabla.
list( ... )
Convierte algo en una lista, para poder verlo completo.
.columns
Los nombres de las columnas.
tabla["columna"]
Corchetes con un nombre entre comillas eligen una columna de la tabla. También eligen una llave de un diccionario.
.sum()
Suma la columna. En una columna de True y False, cuenta los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 dos números entre paréntesis, primero filas y después columnas.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.shape
Filas y columnas de la tabla.
list( ... )
Convierte algo en una lista, para poder verlo completo.
.columns
Los nombres de las columnas.
tabla["columna"]
Corchetes con un nombre entre comillas eligen una columna de la tabla. También eligen una llave de un diccionario.
.sum()
Suma la columna. En una columna de True y False, cuenta los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forma, tabla, corchetes con la columna, punto y una acción, se repite en todo el curso.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.shape
Filas y columnas de la tabla.
list( ... )
Convierte algo en una lista, para poder verlo completo.
.columns
Los nombres de las columnas.
tabla["columna"]
Corchetes con un nombre entre comillas eligen una columna de la tabla. También eligen una llave de un diccionario.
.sum()
Suma la columna. En una columna de True y False, cuenta los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20 filas, 5 columnas y 4.540 MW en total.
PREGUNTAR
¿Para qué sirve anotar el total? Para compararlo después. Si al final de un proceso el total cambió, algo pasó.
DECIR
Es la misma idea de la Parte 1, donde se contaron las filas antes y después de unir. Aquí la costumbre es anotar un total antes de transformar una tabla, para compararlo después.
SINTAXIS DE TODO EL CÓDIGO DE ESTA CELDA
# comentario
Todo lo que va después del signo # es un comentario. Python no lo ejecuta, sirve para explicar el código a quien lo lee.
print( ... )
Muestra en pantalla lo que va dentro. Si van varias cosas separadas por coma, las muestra en una línea con un espacio entre ellas.
"texto"
Lo que va entre comillas es texto. Sin comillas, Python lo entiende como un nombre o un número.
.shape
Filas y columnas de la tabla.
list( ... )
Convierte algo en una lista, para poder verlo completo.
.columns
Los nombres de las columnas.
tabla["columna"]
Corchetes con un nombre entre comillas eligen una columna de la tabla. También eligen una llave de un diccionario.
.sum()
Suma la columna. En una columna de True y False, cuenta los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Las 20 centrales se separan por tecnología, cada grupo se suma y sale una fila por grupo. Al lado de cada grupo está la suma escrita.
DECIR
Entran 20 filas y salen 6. Es lo mismo que hace una tabla dinámica de Excel. sort_values las ordena de menor a mayor, por eso en el gráfico hidro es la barra de más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agrupar_por = "tecnologia" #@param [...]
Se elige si agrupar por tecnología o por región.
resumen = centrales.groupby(agrupar_por)["potencia_mw"].sum().sort_values()
Junta las filas del mismo grupo, suma la potencia de cada grupo y ordena de menor a mayor.
grafico = resumen.plot.barh(title=..., figsize=(8, 3.5))
Dibuja una barra horizontal por grupo, con su título. figsize es el ancho y el alto del gráfico. Los gráficos se ven con calma en el Módulo 6.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número decimal
Los decimales se escriben con punto, no con coma. 0.56 es cero coma cincuenta y seis.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.sort_values( ... )
Ordena. Por defecto de menor a mayor. En una tabla se indica la columna.
.plot.barh(title=...)
Dibuja un gráfico de barras horizontales, una barra por fila. title pone el título.
f"... {nombre} ..."
Texto con una f delante. Lo que va entre llaves se reemplaza por su valor al mostrarse.
figsize=(ancho, alto)
El tamaño del gráfico en pulgadas, primero el ancho y después el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cadena. Cada punto toma lo que salió de la izquierda y le hace algo más. Se lee de izquierda a derecha, como una receta.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número decimal
Los decimales se escriben con punto, no con coma. 0.56 es cero coma cincuenta y seis.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.sort_values( ... )
Ordena. Por defecto de menor a mayor. En una tabla se indica la columna.
.plot.barh(title=...)
Dibuja un gráfico de barras horizontales, una barra por fila. title pone el título.
f"... {nombre} ..."
Texto con una f delante. Lo que va entre llaves se reemplaza por su valor al mostrarse.
figsize=(ancho, alto)
El tamaño del gráfico en pulgadas, primero el ancho y después el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Hidro es la que más potencia tiene, con 1.265 MW.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número decimal
Los decimales se escriben con punto, no con coma. 0.56 es cero coma cincuenta y seis.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.sort_values( ... )
Ordena. Por defecto de menor a mayor. En una tabla se indica la columna.
.plot.barh(title=...)
Dibuja un gráfico de barras horizontales, una barra por fila. title pone el título.
f"... {nombre} ..."
Texto con una f delante. Lo que va entre llaves se reemplaza por su valor al mostrarse.
figsize=(ancho, alto)
El tamaño del gráfico en pulgadas, primero el ancho y después el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region. La misma celda agrupa ahora por región.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número decimal
Los decimales se escriben con punto, no con coma. 0.56 es cero coma cincuenta y seis.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.sort_values( ... )
Ordena. Por defecto de menor a mayor. En una tabla se indica la columna.
.plot.barh(title=...)
Dibuja un gráfico de barras horizontales, una barra por fila. title pone el título.
f"... {nombre} ..."
Texto con una f delante. Lo que va entre llaves se reemplaza por su valor al mostrarse.
figsize=(ancho, alto)
El tamaño del gráfico en pulgadas, primero el ancho y después el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Biobío es la región con más potencia instalada.
DECIR
Una tabla dinámica de Excel hace esto mismo. La diferencia es que aquí queda escrito y se repite igual cada vez.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número decimal
Los decimales se escriben con punto, no con coma. 0.56 es cero coma cincuenta y seis.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.sort_values( ... )
Ordena. Por defecto de menor a mayor. En una tabla se indica la columna.
.plot.barh(title=...)
Dibuja un gráfico de barras horizontales, una barra por fila. title pone el título.
f"... {nombre} ..."
Texto con una f delante. Lo que va entre llaves se reemplaza por su valor al mostrarse.
figsize=(ancho, alto)
El tamaño del gráfico en pulgadas, primero el ancho y después el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Esto lo dice el recuadro amarillo del cuaderno. Los datos del curso son sintéticos y no sirven para hablar del sistema eléctrico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El Excel tiene dos pestañas. Sin sheet_name, read_excel trae solo la primera, centrales. Con sheet_name="notas" trae la hoja notas.
DECIR
Es fácil no darse cuenta de que el archivo traía más hojas.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primera = pd.read_excel(DATOS + "centrales.xlsx")
read_excel lee un Excel. Sin sheet_name trae solo la primera hoja, la de centrales.
print("La primera hoja tiene", len(primera), "filas")
Cuenta sus filas.
notas = pd.read_excel(DATOS + "centrales.xlsx", sheet_name="notas")
Con sheet_name se elige la hoja por su nombre.
notas
Muestra la hoja notas.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pd.read_excel( ... )
Lee un archivo de Excel.
"texto"
Lo que va entre comillas es texto. Sin comillas, Python lo entiende como un nombre o un número.
print( ... )
Muestra en pantalla lo que va dentro. Si van varias cosas separadas por coma, las muestra en una línea con un espacio entre ellas.
len( ... )
Cuenta cuántos elementos tiene una lista o cuántas filas tiene una tabla.
sheet_name="hoja"
Elige qué hoja del Excel leer, por el nombre de su pestaña. Sin sheet_name se lee solo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nombre no está escrito igual que en la pestaña, Python avisa con un error.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pd.read_excel( ... )
Lee un archivo de Excel.
"texto"
Lo que va entre comillas es texto. Sin comillas, Python lo entiende como un nombre o un número.
print( ... )
Muestra en pantalla lo que va dentro. Si van varias cosas separadas por coma, las muestra en una línea con un espacio entre ellas.
len( ... )
Cuenta cuántos elementos tiene una lista o cuántas filas tiene una tabla.
sheet_name="hoja"
Elige qué hoja del Excel leer, por el nombre de su pestaña. Sin sheet_name se lee solo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 primera hoja tiene 20 filas, las centrales. La hoja notas trae dos notas en texto.
DECIR
Lo importante es que el Excel termina en el mismo tipo de tabla que el CSV.
DECIR
Sin sheet_name, read_excel lee solo la primera hoja. Es fácil no darse cuenta de que había más.
SINTAXIS DE TODO EL CÓDIGO DE ESTA CELDA
# comentario
Todo lo que va después del signo # es un comentario. Python no lo ejecuta, sirve para explicar el código a quien lo lee.
+
Suma números. Con textos, los junta uno detrás del otro.
nombre = valor
Un solo signo igual guarda. A la izquierda va el nombre y a la derecha lo que se guarda. Si el nombre ya existía, su valor anterior se reemplaza.
pd.read_excel( ... )
Lee un archivo de Excel.
"texto"
Lo que va entre comillas es texto. Sin comillas, Python lo entiende como un nombre o un número.
print( ... )
Muestra en pantalla lo que va dentro. Si van varias cosas separadas por coma, las muestra en una línea con un espacio entre ellas.
len( ... )
Cuenta cuántos elementos tiene una lista o cuántas filas tiene una tabla.
sheet_name="hoja"
Elige qué hoja del Excel leer, por el nombre de su pestaña. Sin sheet_name se lee solo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 respuesta tiene dos partes. metadata describe los datos. datos es una lista de registros, todos con las mismas llaves. pd.DataFrame convierte cada registro en una fila y cada llave en una columna.
DECIR
Son 5.208 registros. La celda muestra solo las primeras cinco filas con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import requests
Trae la herramienta para pedir datos a internet.
respuesta = requests.get(DATOS + "precios_nudo.json").json()
Pide la dirección y convierte la respuesta en datos que Python entiende. Un servicio web real se lee igual, solo cambia la dirección.
list(respuesta.keys())
La respuesta trae dos partes, metadata y datos.
precios = pd.DataFrame(respuesta["datos"])
Convierte la lista de registros en una tabla. Es el mismo pd.DataFrame del Paso 7 del Lab 00.
precios.head()
Muestra las primeras cinco filas.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print( ... )
Muestra en pantalla lo que va dentro. Si van varias cosas separadas por coma, las muestra en una línea con un espacio entre ellas.
list( ... )
Convierte algo en una lista, para poder verlo completo.
.keys()
Las llaves de un diccionario.
pd.DataFrame( ... )
Arma una tabla. Con un diccionario de listas, cada llave es una columna. Con una lista de diccionarios, cada diccionario es una fila.
tabla["columna"]
Corchetes con un nombre entre comillas eligen una columna de la tabla. También eligen una llave de un diccionario.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lámina explica cada pieza de esta línea. Abajo está la sintaxis de toda la celda.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print( ... )
Muestra en pantalla lo que va dentro. Si van varias cosas separadas por coma, las muestra en una línea con un espacio entre ellas.
list( ... )
Convierte algo en una lista, para poder verlo completo.
.keys()
Las llaves de un diccionario.
pd.DataFrame( ... )
Arma una tabla. Con un diccionario de listas, cada llave es una columna. Con una lista de diccionarios, cada diccionario es una fila.
tabla["columna"]
Corchetes con un nombre entre comillas eligen una columna de la tabla. También eligen una llave de un diccionario.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un diccionario los corchetes eligen por nombre, igual que con una columna.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print( ... )
Muestra en pantalla lo que va dentro. Si van varias cosas separadas por coma, las muestra en una línea con un espacio entre ellas.
list( ... )
Convierte algo en una lista, para poder verlo completo.
.keys()
Las llaves de un diccionario.
pd.DataFrame( ... )
Arma una tabla. Con un diccionario de listas, cada llave es una columna. Con una lista de diccionarios, cada diccionario es una fila.
tabla["columna"]
Corchetes con un nombre entre comillas eligen una columna de la tabla. También eligen una llave de un diccionario.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Precios por hora y por región, en dólares por MWh.
SI PREGUNTAN QUÉ ES UN SERVICIO WEB
Una dirección de internet que en vez de una página entrega datos. Muchas instituciones publican así su información.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print( ... )
Muestra en pantalla lo que va dentro. Si van varias cosas separadas por coma, las muestra en una línea con un espacio entre ellas.
list( ... )
Convierte algo en una lista, para poder verlo completo.
.keys()
Las llaves de un diccionario.
pd.DataFrame( ... )
Arma una tabla. Con un diccionario de listas, cada llave es una columna. Con una lista de diccionarios, cada diccionario es una fila.
tabla["columna"]
Corchetes con un nombre entre comillas eligen una columna de la tabla. También eligen una llave de un diccionario.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parte metadata describe los datos, de dónde vienen, cuándo se consultaron y en qué unidad están. Los datos de verdad están en la parte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La consulta en SQL viaja a la base. La base hace la suma adentro y devuelve solo siete filas, una por región.
DECIR
En la base hay 61.488 filas, pero a pandas llegan 7. Aquí la base es un archivo que se baja entero a Colab para practicar. Con una base en un servidor, por la red viajarían solo esas 7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urllib.request.urlretrieve(DATOS + "demanda.db", "demanda.db")
Baja el archivo de la base de datos a Colab.
conexion = sqlite3.connect("demanda.db")
Abre una conexión con la base.
consulta = """..."""
La pregunta escrita en SQL, el idioma de las bases de datos. Pide la demanda total por región, ordenada de mayor a menor. Las tres comillas permiten escribir un texto de varias líneas.
pd.read_sql(consulta, conexion)
Le hace la pregunta a la base y trae la respuesta como tabla.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urllib.request.urlretrieve(dirección, archivo)
Baja un archivo de internet y lo guarda en Colab.
"texto"
Lo que va entre comillas es texto. Sin comillas, Python lo entiende como un nombre o un número.
nombre = valor
Un solo signo igual guarda. A la izquierda va el nombre y a la derecha lo que se guarda. Si el nombre ya existía, su valor anterior se reemplaza.
sqlite3.connect(archivo)
Abre una conexión con una base de datos SQLite.
"""texto de varias líneas"""
Tres comillas permiten escribir un texto que ocupa varias líneas.
SELECT ... FROM ... GROUP BY ... ORDER BY
Una consulta SQL. SELECT qué columnas, FROM de qué tabla, GROUP BY por qué agrupar, ORDER BY cómo ordenar y DESC de mayor a menor. AS le pone nombre a una columna calculada.
pd.read_sql(consulta, conexion)
Le hace la consulta SQL a la base de datos y trae la respuesta como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es otro idioma, el de las bases de datos. No hace falta aprenderlo en este curso, solo saber leer una consulta simple.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urllib.request.urlretrieve(dirección, archivo)
Baja un archivo de internet y lo guarda en Colab.
"texto"
Lo que va entre comillas es texto. Sin comillas, Python lo entiende como un nombre o un número.
nombre = valor
Un solo signo igual guarda. A la izquierda va el nombre y a la derecha lo que se guarda. Si el nombre ya existía, su valor anterior se reemplaza.
sqlite3.connect(archivo)
Abre una conexión con una base de datos SQLite.
"""texto de varias líneas"""
Tres comillas permiten escribir un texto que ocupa varias líneas.
SELECT ... FROM ... GROUP BY ... ORDER BY
Una consulta SQL. SELECT qué columnas, FROM de qué tabla, GROUP BY por qué agrupar, ORDER BY cómo ordenar y DESC de mayor a menor. AS le pone nombre a una columna calculada.
pd.read_sql(consulta, conexion)
Le hace la consulta SQL a la base de datos y trae la respuesta como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 Metropolitana encabeza con 7,8 millones de MWh.
DECIR
La base hace el cálculo y entrega solo el resumen, siete filas en vez de miles.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urllib.request.urlretrieve(dirección, archivo)
Baja un archivo de internet y lo guarda en Colab.
"texto"
Lo que va entre comillas es texto. Sin comillas, Python lo entiende como un nombre o un número.
nombre = valor
Un solo signo igual guarda. A la izquierda va el nombre y a la derecha lo que se guarda. Si el nombre ya existía, su valor anterior se reemplaza.
sqlite3.connect(archivo)
Abre una conexión con una base de datos SQLite.
"""texto de varias líneas"""
Tres comillas permiten escribir un texto que ocupa varias líneas.
SELECT ... FROM ... GROUP BY ... ORDER BY
Una consulta SQL. SELECT qué columnas, FROM de qué tabla, GROUP BY por qué agrupar, ORDER BY cómo ordenar y DESC de mayor a menor. AS le pone nombre a una columna calculada.
pd.read_sql(consulta, conexion)
Le hace la consulta SQL a la base de datos y trae la respuesta como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bases grandes no se baja la tabla completa. Se le pide a la base el resumen y llega solo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Pegar en el chat el enlace del Lab 01 guiado.
El Paso 3 demora unos segundos porque el archivo es grande.
CIERRE
La idea que se tienen que llevar es contar las filas antes y después de unir dos tablas.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PASAR ESTA LÁMINA
Mostrarla al volver de Colab, antes de la pausa o justo después. Repetir la regla del punto 1 en voz alta, que es la que tienen que llevarse.
DECIR
El primer paso del Lab 02 une de la misma forma que acaban de hacerlo, con how left, ahora con todo el año y con la tabla de centrales completa. Si las filas no cambian al unir, sabemos que no se perdió ni se duplicó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txBox="1"/>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01 guiado · Importar y unir</a:t>
            </a:r>
            <a:endParaRPr lang="en-US" sz="4000" dirty="0"/>
          </a:p>
        </p:txBody>
      </p:sp>
      <p:sp>
        <p:nvSpPr>
          <p:cNvPr id="3" name="Text 1"/>
          <p:cNvSpPr txBox="1"/>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Parte 1 en clase, 5 pasos · Parte 2 para la casa, 5 estudios</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txBox="1"/>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Cada paso se muestra primero aquí. Un clic avanza.</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txBox="1"/>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Abajo aparece lo que Python recuerda, que en Colab no se ve.</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txBox="1"/>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lo hacen en Colab, y les tiene que salir igual.</a:t>
            </a:r>
            <a:endParaRPr lang="en-US" sz="1800" dirty="0"/>
          </a:p>
        </p:txBody>
      </p:sp>
      <p:sp>
        <p:nvSpPr>
          <p:cNvPr id="14" name="Text 11"/>
          <p:cNvSpPr txBox="1"/>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D62"/>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PARTE 1 · EN CLASE</a:t>
            </a:r>
            <a:endParaRPr lang="en-US" sz="4400" dirty="0"/>
          </a:p>
        </p:txBody>
      </p:sp>
      <p:sp>
        <p:nvSpPr>
          <p:cNvPr id="3" name="Text 1"/>
          <p:cNvSpPr txBox="1"/>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Hoy hacemos estos 5 pasos, juntos, con estas láminas y después en Colab.</a:t>
            </a:r>
            <a:endParaRPr lang="en-US" sz="2000" dirty="0"/>
          </a:p>
        </p:txBody>
      </p:sp>
      <p:sp>
        <p:nvSpPr>
          <p:cNvPr id="4" name="Shape 2"/>
          <p:cNvSpPr/>
          <p:nvPr/>
        </p:nvSpPr>
        <p:spPr>
          <a:xfrm>
            <a:off x="731520" y="2240280"/>
            <a:ext cx="548640" cy="548640"/>
          </a:xfrm>
          <a:prstGeom prst="ellipse">
            <a:avLst/>
          </a:prstGeom>
          <a:solidFill>
            <a:srgbClr val="F9AB00"/>
          </a:solidFill>
          <a:ln w="12700">
            <a:solidFill>
              <a:srgbClr val="F9AB00"/>
            </a:solidFill>
            <a:prstDash val="solid"/>
          </a:ln>
        </p:spPr>
      </p:sp>
      <p:sp>
        <p:nvSpPr>
          <p:cNvPr id="5" name="Text 3"/>
          <p:cNvSpPr txBox="1"/>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1   </a:t>
            </a:r>
            <a:pPr indent="0" marL="0">
              <a:buNone/>
            </a:pPr>
            <a:r>
              <a:rPr lang="en-US" sz="2400" dirty="0">
                <a:solidFill>
                  <a:srgbClr val="FFFFFF"/>
                </a:solidFill>
                <a:latin typeface="Calibri" pitchFamily="34" charset="0"/>
                <a:ea typeface="Calibri" pitchFamily="34" charset="-122"/>
                <a:cs typeface="Calibri" pitchFamily="34" charset="-120"/>
              </a:rPr>
              <a:t>¿Qué centrales tenemos?</a:t>
            </a:r>
            <a:endParaRPr lang="en-US" sz="2400" dirty="0"/>
          </a:p>
        </p:txBody>
      </p:sp>
      <p:sp>
        <p:nvSpPr>
          <p:cNvPr id="7" name="Shape 5"/>
          <p:cNvSpPr/>
          <p:nvPr/>
        </p:nvSpPr>
        <p:spPr>
          <a:xfrm>
            <a:off x="731520" y="3017520"/>
            <a:ext cx="548640" cy="548640"/>
          </a:xfrm>
          <a:prstGeom prst="ellipse">
            <a:avLst/>
          </a:prstGeom>
          <a:solidFill>
            <a:srgbClr val="F9AB00"/>
          </a:solidFill>
          <a:ln w="12700">
            <a:solidFill>
              <a:srgbClr val="F9AB00"/>
            </a:solidFill>
            <a:prstDash val="solid"/>
          </a:ln>
        </p:spPr>
      </p:sp>
      <p:sp>
        <p:nvSpPr>
          <p:cNvPr id="8" name="Text 6"/>
          <p:cNvSpPr txBox="1"/>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2   </a:t>
            </a:r>
            <a:pPr indent="0" marL="0">
              <a:buNone/>
            </a:pPr>
            <a:r>
              <a:rPr lang="en-US" sz="2400" dirty="0">
                <a:solidFill>
                  <a:srgbClr val="FFFFFF"/>
                </a:solidFill>
                <a:latin typeface="Calibri" pitchFamily="34" charset="0"/>
                <a:ea typeface="Calibri" pitchFamily="34" charset="-122"/>
                <a:cs typeface="Calibri" pitchFamily="34" charset="-120"/>
              </a:rPr>
              <a:t>Tu turno, filtra por tecnología</a:t>
            </a:r>
            <a:endParaRPr lang="en-US" sz="2400" dirty="0"/>
          </a:p>
        </p:txBody>
      </p:sp>
      <p:sp>
        <p:nvSpPr>
          <p:cNvPr id="10" name="Shape 8"/>
          <p:cNvSpPr/>
          <p:nvPr/>
        </p:nvSpPr>
        <p:spPr>
          <a:xfrm>
            <a:off x="731520" y="3794760"/>
            <a:ext cx="548640" cy="548640"/>
          </a:xfrm>
          <a:prstGeom prst="ellipse">
            <a:avLst/>
          </a:prstGeom>
          <a:solidFill>
            <a:srgbClr val="F9AB00"/>
          </a:solidFill>
          <a:ln w="12700">
            <a:solidFill>
              <a:srgbClr val="F9AB00"/>
            </a:solidFill>
            <a:prstDash val="solid"/>
          </a:ln>
        </p:spPr>
      </p:sp>
      <p:sp>
        <p:nvSpPr>
          <p:cNvPr id="11" name="Text 9"/>
          <p:cNvSpPr txBox="1"/>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3   </a:t>
            </a:r>
            <a:pPr indent="0" marL="0">
              <a:buNone/>
            </a:pPr>
            <a:r>
              <a:rPr lang="en-US" sz="2400" dirty="0">
                <a:solidFill>
                  <a:srgbClr val="FFFFFF"/>
                </a:solidFill>
                <a:latin typeface="Calibri" pitchFamily="34" charset="0"/>
                <a:ea typeface="Calibri" pitchFamily="34" charset="-122"/>
                <a:cs typeface="Calibri" pitchFamily="34" charset="-120"/>
              </a:rPr>
              <a:t>¿Cómo llega la generación de cada hora?</a:t>
            </a:r>
            <a:endParaRPr lang="en-US" sz="2400" dirty="0"/>
          </a:p>
        </p:txBody>
      </p:sp>
      <p:sp>
        <p:nvSpPr>
          <p:cNvPr id="13" name="Shape 11"/>
          <p:cNvSpPr/>
          <p:nvPr/>
        </p:nvSpPr>
        <p:spPr>
          <a:xfrm>
            <a:off x="731520" y="4572000"/>
            <a:ext cx="548640" cy="548640"/>
          </a:xfrm>
          <a:prstGeom prst="ellipse">
            <a:avLst/>
          </a:prstGeom>
          <a:solidFill>
            <a:srgbClr val="F9AB00"/>
          </a:solidFill>
          <a:ln w="12700">
            <a:solidFill>
              <a:srgbClr val="F9AB00"/>
            </a:solidFill>
            <a:prstDash val="solid"/>
          </a:ln>
        </p:spPr>
      </p:sp>
      <p:sp>
        <p:nvSpPr>
          <p:cNvPr id="14" name="Text 12"/>
          <p:cNvSpPr txBox="1"/>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4   </a:t>
            </a:r>
            <a:pPr indent="0" marL="0">
              <a:buNone/>
            </a:pPr>
            <a:r>
              <a:rPr lang="en-US" sz="2400" dirty="0">
                <a:solidFill>
                  <a:srgbClr val="FFFFFF"/>
                </a:solidFill>
                <a:latin typeface="Calibri" pitchFamily="34" charset="0"/>
                <a:ea typeface="Calibri" pitchFamily="34" charset="-122"/>
                <a:cs typeface="Calibri" pitchFamily="34" charset="-120"/>
              </a:rPr>
              <a:t>Tu turno, une generación con fichas</a:t>
            </a:r>
            <a:endParaRPr lang="en-US" sz="2400" dirty="0"/>
          </a:p>
        </p:txBody>
      </p:sp>
      <p:sp>
        <p:nvSpPr>
          <p:cNvPr id="16" name="Shape 14"/>
          <p:cNvSpPr/>
          <p:nvPr/>
        </p:nvSpPr>
        <p:spPr>
          <a:xfrm>
            <a:off x="731520" y="5349240"/>
            <a:ext cx="548640" cy="548640"/>
          </a:xfrm>
          <a:prstGeom prst="ellipse">
            <a:avLst/>
          </a:prstGeom>
          <a:solidFill>
            <a:srgbClr val="F9AB00"/>
          </a:solidFill>
          <a:ln w="12700">
            <a:solidFill>
              <a:srgbClr val="F9AB00"/>
            </a:solidFill>
            <a:prstDash val="solid"/>
          </a:ln>
        </p:spPr>
      </p:sp>
      <p:sp>
        <p:nvSpPr>
          <p:cNvPr id="17" name="Text 15"/>
          <p:cNvSpPr txBox="1"/>
          <p:nvPr/>
        </p:nvSpPr>
        <p:spPr>
          <a:xfrm>
            <a:off x="731520" y="534924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5</a:t>
            </a:r>
            <a:endParaRPr lang="en-US" sz="2000" dirty="0"/>
          </a:p>
        </p:txBody>
      </p:sp>
      <p:sp>
        <p:nvSpPr>
          <p:cNvPr id="18" name="Text 16"/>
          <p:cNvSpPr txBox="1"/>
          <p:nvPr/>
        </p:nvSpPr>
        <p:spPr>
          <a:xfrm>
            <a:off x="1508760" y="534924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5   </a:t>
            </a:r>
            <a:pPr indent="0" marL="0">
              <a:buNone/>
            </a:pPr>
            <a:r>
              <a:rPr lang="en-US" sz="2400" dirty="0">
                <a:solidFill>
                  <a:srgbClr val="FFFFFF"/>
                </a:solidFill>
                <a:latin typeface="Calibri" pitchFamily="34" charset="0"/>
                <a:ea typeface="Calibri" pitchFamily="34" charset="-122"/>
                <a:cs typeface="Calibri" pitchFamily="34" charset="-120"/>
              </a:rPr>
              <a:t>Tu turno, ¿qué pasa con fichas repetidas?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centrales tenemos?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hace read_csv con el archivo.</a:t>
            </a:r>
            <a:endParaRPr lang="en-US" sz="1400" dirty="0"/>
          </a:p>
        </p:txBody>
      </p:sp>
      <p:pic>
        <p:nvPicPr>
          <p:cNvPr id="6" name="Image 0" descr="../work34/modulos/modulo01/img/lab01_paso1_csv.png">    </p:cNvPr>
          <p:cNvPicPr>
            <a:picLocks noChangeAspect="1"/>
          </p:cNvPicPr>
          <p:nvPr/>
        </p:nvPicPr>
        <p:blipFill>
          <a:blip r:embed="rId1"/>
          <a:stretch>
            <a:fillRect/>
          </a:stretch>
        </p:blipFill>
        <p:spPr>
          <a:xfrm>
            <a:off x="548640" y="1463040"/>
            <a:ext cx="11091672" cy="44906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centrales tenemos?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La tabla se lee desde la carpeta de datos del repositorio del curso.</a:t>
            </a:r>
            <a:endParaRPr lang="en-US" sz="1400" dirty="0"/>
          </a:p>
        </p:txBody>
      </p:sp>
      <p:sp>
        <p:nvSpPr>
          <p:cNvPr id="7" name="Shape 4"/>
          <p:cNvSpPr/>
          <p:nvPr/>
        </p:nvSpPr>
        <p:spPr>
          <a:xfrm>
            <a:off x="548640" y="1481328"/>
            <a:ext cx="11091672" cy="2125980"/>
          </a:xfrm>
          <a:prstGeom prst="roundRect">
            <a:avLst>
              <a:gd name="adj" fmla="val 2581"/>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194310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1</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carpeta de datos del curso, en el repositorio.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DATOS = </a:t>
            </a:r>
            <a:pPr indent="0" marL="0">
              <a:buNone/>
            </a:pPr>
            <a:r>
              <a:rPr lang="en-US" sz="1300" dirty="0">
                <a:solidFill>
                  <a:srgbClr val="A31515"/>
                </a:solidFill>
                <a:latin typeface="Courier New" pitchFamily="34" charset="0"/>
                <a:ea typeface="Courier New" pitchFamily="34" charset="-122"/>
                <a:cs typeface="Courier New" pitchFamily="34" charset="-120"/>
              </a:rPr>
              <a:t>"https://raw.githubusercontent.com/RodrigoMSB/curso-python-minergia/main/datos/"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import pandas as pd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read_csv lee un archivo separado por comas y lo convierte en una tabla.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centrales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"centrales.csv"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centrales</a:t>
            </a:r>
            <a:endParaRPr lang="en-US" sz="1300" dirty="0"/>
          </a:p>
        </p:txBody>
      </p:sp>
      <p:sp>
        <p:nvSpPr>
          <p:cNvPr id="11" name="Text 8"/>
          <p:cNvSpPr txBox="1"/>
          <p:nvPr/>
        </p:nvSpPr>
        <p:spPr>
          <a:xfrm>
            <a:off x="1325880" y="36438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Text 10"/>
          <p:cNvSpPr txBox="1"/>
          <p:nvPr/>
        </p:nvSpPr>
        <p:spPr>
          <a:xfrm>
            <a:off x="548640" y="6089904"/>
            <a:ext cx="7315200" cy="457200"/>
          </a:xfrm>
          <a:prstGeom prst="rect">
            <a:avLst/>
          </a:prstGeom>
          <a:noFill/>
          <a:ln/>
        </p:spPr>
        <p:txBody>
          <a:bodyPr wrap="square" lIns="0" tIns="0" rIns="0" bIns="0" rtlCol="0" anchor="ctr"/>
          <a:lstStyle/>
          <a:p>
            <a:pPr indent="0" marL="0">
              <a:buNone/>
            </a:pPr>
            <a:r>
              <a:rPr lang="en-US" sz="1300" i="1" dirty="0">
                <a:solidFill>
                  <a:srgbClr val="5F6368"/>
                </a:solidFill>
                <a:latin typeface="Calibri" pitchFamily="34" charset="0"/>
                <a:ea typeface="Calibri" pitchFamily="34" charset="-122"/>
                <a:cs typeface="Calibri" pitchFamily="34" charset="-120"/>
              </a:rPr>
              <a:t>Todavía nada. La memoria está vacía.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centrales tenemos?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centrales = pd.read_csv(DATOS + </a:t>
            </a:r>
            <a:pPr indent="0" marL="0">
              <a:buNone/>
            </a:pPr>
            <a:r>
              <a:rPr lang="en-US" sz="1600" dirty="0">
                <a:solidFill>
                  <a:srgbClr val="A31515"/>
                </a:solidFill>
                <a:latin typeface="Courier New" pitchFamily="34" charset="0"/>
                <a:ea typeface="Courier New" pitchFamily="34" charset="-122"/>
                <a:cs typeface="Courier New" pitchFamily="34" charset="-120"/>
              </a:rPr>
              <a:t>"centrales.csv"</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507996"/>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5079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905256"/>
          </a:xfrm>
          <a:prstGeom prst="roundRect">
            <a:avLst>
              <a:gd name="adj" fmla="val 5051"/>
            </a:avLst>
          </a:prstGeom>
          <a:solidFill>
            <a:srgbClr val="DBE9FB"/>
          </a:solidFill>
          <a:ln w="12700">
            <a:solidFill>
              <a:srgbClr val="DBE9FB"/>
            </a:solidFill>
            <a:prstDash val="solid"/>
          </a:ln>
        </p:spPr>
      </p:sp>
      <p:sp>
        <p:nvSpPr>
          <p:cNvPr id="11" name="Text 9"/>
          <p:cNvSpPr txBox="1"/>
          <p:nvPr/>
        </p:nvSpPr>
        <p:spPr>
          <a:xfrm>
            <a:off x="1170432" y="2219960"/>
            <a:ext cx="4754880" cy="905256"/>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DATOS + "centrales.csv"</a:t>
            </a:r>
            <a:endParaRPr lang="en-US" sz="1400" dirty="0"/>
          </a:p>
        </p:txBody>
      </p:sp>
      <p:sp>
        <p:nvSpPr>
          <p:cNvPr id="12" name="Text 10"/>
          <p:cNvSpPr txBox="1"/>
          <p:nvPr/>
        </p:nvSpPr>
        <p:spPr>
          <a:xfrm>
            <a:off x="6263640" y="2219960"/>
            <a:ext cx="5376672" cy="905256"/>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signo más junta dos textos. La dirección de la carpeta más el nombre del archivo forma la dirección completa.</a:t>
            </a:r>
            <a:endParaRPr lang="en-US" sz="1600" dirty="0"/>
          </a:p>
        </p:txBody>
      </p:sp>
      <p:sp>
        <p:nvSpPr>
          <p:cNvPr id="13" name="Shape 11"/>
          <p:cNvSpPr/>
          <p:nvPr/>
        </p:nvSpPr>
        <p:spPr>
          <a:xfrm>
            <a:off x="548640" y="337210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372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216656"/>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3216656"/>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pd.read_csv( ... )</a:t>
            </a:r>
            <a:endParaRPr lang="en-US" sz="1400" dirty="0"/>
          </a:p>
        </p:txBody>
      </p:sp>
      <p:sp>
        <p:nvSpPr>
          <p:cNvPr id="17" name="Text 15"/>
          <p:cNvSpPr txBox="1"/>
          <p:nvPr/>
        </p:nvSpPr>
        <p:spPr>
          <a:xfrm>
            <a:off x="6263640" y="3216656"/>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pd es pandas. read_csv lee el archivo y lo convierte en tabla.</a:t>
            </a:r>
            <a:endParaRPr lang="en-US" sz="1600" dirty="0"/>
          </a:p>
        </p:txBody>
      </p:sp>
      <p:sp>
        <p:nvSpPr>
          <p:cNvPr id="18" name="Shape 16"/>
          <p:cNvSpPr/>
          <p:nvPr/>
        </p:nvSpPr>
        <p:spPr>
          <a:xfrm>
            <a:off x="548640" y="4048760"/>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40487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948176"/>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94817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centrales =</a:t>
            </a:r>
            <a:endParaRPr lang="en-US" sz="1400" dirty="0"/>
          </a:p>
        </p:txBody>
      </p:sp>
      <p:sp>
        <p:nvSpPr>
          <p:cNvPr id="22" name="Text 20"/>
          <p:cNvSpPr txBox="1"/>
          <p:nvPr/>
        </p:nvSpPr>
        <p:spPr>
          <a:xfrm>
            <a:off x="6263640" y="394817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la tabla con el nombre centrales.</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lee el archivo centrales.csv de la carpeta del curso y guárdalo como la tabla centrales.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centrales tenemos?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La tabla se lee desde la carpeta de datos del repositorio del curso.</a:t>
            </a:r>
            <a:endParaRPr lang="en-US" sz="1400" dirty="0"/>
          </a:p>
        </p:txBody>
      </p:sp>
      <p:sp>
        <p:nvSpPr>
          <p:cNvPr id="6" name="Shape 4"/>
          <p:cNvSpPr/>
          <p:nvPr/>
        </p:nvSpPr>
        <p:spPr>
          <a:xfrm>
            <a:off x="548640" y="1481328"/>
            <a:ext cx="11091672" cy="1961388"/>
          </a:xfrm>
          <a:prstGeom prst="roundRect">
            <a:avLst>
              <a:gd name="adj" fmla="val 279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778508"/>
          </a:xfrm>
          <a:prstGeom prst="rect">
            <a:avLst/>
          </a:prstGeom>
          <a:noFill/>
          <a:ln/>
        </p:spPr>
        <p:txBody>
          <a:bodyPr wrap="square" lIns="0" tIns="0" rIns="0" bIns="0" rtlCol="0" anchor="t"/>
          <a:lstStyle/>
          <a:p>
            <a:pPr indent="0" marL="0">
              <a:buNone/>
            </a:pPr>
            <a:r>
              <a:rPr lang="en-US" sz="1200" i="1" dirty="0">
                <a:solidFill>
                  <a:srgbClr val="188038"/>
                </a:solidFill>
                <a:latin typeface="Courier New" pitchFamily="34" charset="0"/>
                <a:ea typeface="Courier New" pitchFamily="34" charset="-122"/>
                <a:cs typeface="Courier New" pitchFamily="34" charset="-120"/>
              </a:rPr>
              <a:t># Paso 1</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La carpeta de datos del curso, en el repositorio.</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DATOS = </a:t>
            </a:r>
            <a:pPr indent="0" marL="0">
              <a:buNone/>
            </a:pPr>
            <a:r>
              <a:rPr lang="en-US" sz="1200" dirty="0">
                <a:solidFill>
                  <a:srgbClr val="A31515"/>
                </a:solidFill>
                <a:latin typeface="Courier New" pitchFamily="34" charset="0"/>
                <a:ea typeface="Courier New" pitchFamily="34" charset="-122"/>
                <a:cs typeface="Courier New" pitchFamily="34" charset="-120"/>
              </a:rPr>
              <a:t>"https://raw.githubusercontent.com/RodrigoMSB/curso-python-minergia/main/datos/"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import pandas as pd</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read_csv lee un archivo separado por comas y lo convierte en una tabla.</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centrales = pd.read_csv(DATOS + </a:t>
            </a:r>
            <a:pPr indent="0" marL="0">
              <a:buNone/>
            </a:pPr>
            <a:r>
              <a:rPr lang="en-US" sz="1200" dirty="0">
                <a:solidFill>
                  <a:srgbClr val="A31515"/>
                </a:solidFill>
                <a:latin typeface="Courier New" pitchFamily="34" charset="0"/>
                <a:ea typeface="Courier New" pitchFamily="34" charset="-122"/>
                <a:cs typeface="Courier New" pitchFamily="34" charset="-120"/>
              </a:rPr>
              <a:t>"centrales.csv"</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centrales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325880" y="3552444"/>
          <a:ext cx="9144000" cy="914400"/>
        </p:xfrm>
        <a:graphic>
          <a:graphicData uri="http://schemas.openxmlformats.org/drawingml/2006/table">
            <a:tbl>
              <a:tblPr/>
              <a:tblGrid>
                <a:gridCol w="365760"/>
                <a:gridCol w="2377440"/>
                <a:gridCol w="1188720"/>
                <a:gridCol w="1280160"/>
                <a:gridCol w="1280160"/>
                <a:gridCol w="128016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tecnologia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potencia_mw</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anio_inicio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Salto Verde</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310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1998</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Aguas Claras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180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2011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Vega Azul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2016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Tres Saltos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260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Parque Solar Pampa Alta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230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2019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1" name="Text 8"/>
          <p:cNvSpPr txBox="1"/>
          <p:nvPr/>
        </p:nvSpPr>
        <p:spPr>
          <a:xfrm>
            <a:off x="1325880" y="5253228"/>
            <a:ext cx="7315200" cy="256032"/>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 y 14 filas más, 20 en total. En Colab se ven todas.</a:t>
            </a:r>
            <a:endParaRPr lang="en-US" sz="1200" dirty="0"/>
          </a:p>
        </p:txBody>
      </p:sp>
      <p:sp>
        <p:nvSpPr>
          <p:cNvPr id="13"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4" name="Shape 10"/>
          <p:cNvSpPr/>
          <p:nvPr/>
        </p:nvSpPr>
        <p:spPr>
          <a:xfrm>
            <a:off x="548640" y="6062472"/>
            <a:ext cx="2770632" cy="566928"/>
          </a:xfrm>
          <a:prstGeom prst="roundRect">
            <a:avLst>
              <a:gd name="adj" fmla="val 11290"/>
            </a:avLst>
          </a:prstGeom>
          <a:solidFill>
            <a:srgbClr val="FEF3D6"/>
          </a:solidFill>
          <a:ln w="25400">
            <a:solidFill>
              <a:srgbClr val="F9AB00"/>
            </a:solidFill>
            <a:prstDash val="solid"/>
          </a:ln>
        </p:spPr>
      </p:sp>
      <p:sp>
        <p:nvSpPr>
          <p:cNvPr id="15" name="Text 11"/>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6" name="Shape 12"/>
          <p:cNvSpPr/>
          <p:nvPr/>
        </p:nvSpPr>
        <p:spPr>
          <a:xfrm>
            <a:off x="3456432" y="6062472"/>
            <a:ext cx="1143000" cy="566928"/>
          </a:xfrm>
          <a:prstGeom prst="roundRect">
            <a:avLst>
              <a:gd name="adj" fmla="val 11290"/>
            </a:avLst>
          </a:prstGeom>
          <a:solidFill>
            <a:srgbClr val="FEF3D6"/>
          </a:solidFill>
          <a:ln w="25400">
            <a:solidFill>
              <a:srgbClr val="F9AB00"/>
            </a:solidFill>
            <a:prstDash val="solid"/>
          </a:ln>
        </p:spPr>
      </p:sp>
      <p:sp>
        <p:nvSpPr>
          <p:cNvPr id="17" name="Text 13"/>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8" name="Shape 14"/>
          <p:cNvSpPr/>
          <p:nvPr/>
        </p:nvSpPr>
        <p:spPr>
          <a:xfrm>
            <a:off x="4736592" y="6062472"/>
            <a:ext cx="1426464" cy="566928"/>
          </a:xfrm>
          <a:prstGeom prst="roundRect">
            <a:avLst>
              <a:gd name="adj" fmla="val 11290"/>
            </a:avLst>
          </a:prstGeom>
          <a:solidFill>
            <a:srgbClr val="FEF3D6"/>
          </a:solidFill>
          <a:ln w="25400">
            <a:solidFill>
              <a:srgbClr val="F9AB00"/>
            </a:solidFill>
            <a:prstDash val="solid"/>
          </a:ln>
        </p:spPr>
      </p:sp>
      <p:sp>
        <p:nvSpPr>
          <p:cNvPr id="19" name="Text 15"/>
          <p:cNvSpPr txBox="1"/>
          <p:nvPr/>
        </p:nvSpPr>
        <p:spPr>
          <a:xfrm>
            <a:off x="482803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0" name="Text 16"/>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La tabla quedó guardada con el nombre centrales. Son las mismas 20 centrales de la Bienvenida.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centrales tenemos?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 CSV es solo texto.</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read_csv lo convierte en una tabla con nombres de columna, filas e índice.</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FEF3D6"/>
          </a:solidFill>
          <a:ln w="25400">
            <a:solidFill>
              <a:srgbClr val="F9AB00"/>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FEF3D6"/>
          </a:solidFill>
          <a:ln w="25400">
            <a:solidFill>
              <a:srgbClr val="F9AB00"/>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1426464"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decide el filtro qué filas pasan.</a:t>
            </a:r>
            <a:endParaRPr lang="en-US" sz="1400" dirty="0"/>
          </a:p>
        </p:txBody>
      </p:sp>
      <p:pic>
        <p:nvPicPr>
          <p:cNvPr id="6" name="Image 0" descr="../work34/modulos/modulo01/img/lab01_paso2_filtro.png">    </p:cNvPr>
          <p:cNvPicPr>
            <a:picLocks noChangeAspect="1"/>
          </p:cNvPicPr>
          <p:nvPr/>
        </p:nvPicPr>
        <p:blipFill>
          <a:blip r:embed="rId1"/>
          <a:stretch>
            <a:fillRect/>
          </a:stretch>
        </p:blipFill>
        <p:spPr>
          <a:xfrm>
            <a:off x="592512" y="1463040"/>
            <a:ext cx="11003929" cy="4617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una tecnología en la lista y vuelve a correr la celda.</a:t>
            </a:r>
            <a:endParaRPr lang="en-US" sz="1400" dirty="0"/>
          </a:p>
        </p:txBody>
      </p:sp>
      <p:sp>
        <p:nvSpPr>
          <p:cNvPr id="7" name="Shape 4"/>
          <p:cNvSpPr/>
          <p:nvPr/>
        </p:nvSpPr>
        <p:spPr>
          <a:xfrm>
            <a:off x="548640" y="1481328"/>
            <a:ext cx="11091672" cy="1920240"/>
          </a:xfrm>
          <a:prstGeom prst="roundRect">
            <a:avLst>
              <a:gd name="adj" fmla="val 2857"/>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tabla deja solo las centrales de la tecnología elegida.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"hidro"</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 = centrales[centrales[</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Hay {len(filtradas)} centrales de {tecnologia}"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hidro</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4381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42646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9" name="Shape 16"/>
          <p:cNvSpPr/>
          <p:nvPr/>
        </p:nvSpPr>
        <p:spPr>
          <a:xfrm>
            <a:off x="2112264" y="6062472"/>
            <a:ext cx="11430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203704"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1" name="Shape 18"/>
          <p:cNvSpPr/>
          <p:nvPr/>
        </p:nvSpPr>
        <p:spPr>
          <a:xfrm>
            <a:off x="3392424" y="6062472"/>
            <a:ext cx="2770632"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483864"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filtradas = centrales[centrales[</a:t>
            </a:r>
            <a:pPr indent="0" marL="0">
              <a:buNone/>
            </a:pPr>
            <a:r>
              <a:rPr lang="en-US" sz="1600" dirty="0">
                <a:solidFill>
                  <a:srgbClr val="A31515"/>
                </a:solidFill>
                <a:latin typeface="Courier New" pitchFamily="34" charset="0"/>
                <a:ea typeface="Courier New" pitchFamily="34" charset="-122"/>
                <a:cs typeface="Courier New" pitchFamily="34" charset="-120"/>
              </a:rPr>
              <a:t>"tecnologia"</a:t>
            </a:r>
            <a:pPr indent="0" marL="0">
              <a:buNone/>
            </a:pPr>
            <a:r>
              <a:rPr lang="en-US" sz="1600" dirty="0">
                <a:solidFill>
                  <a:srgbClr val="202124"/>
                </a:solidFill>
                <a:latin typeface="Courier New" pitchFamily="34" charset="0"/>
                <a:ea typeface="Courier New" pitchFamily="34" charset="-122"/>
                <a:cs typeface="Courier New" pitchFamily="34" charset="-120"/>
              </a:rPr>
              <a:t>] == tecnologia]</a:t>
            </a:r>
            <a:endParaRPr lang="en-US" sz="1600" dirty="0"/>
          </a:p>
        </p:txBody>
      </p:sp>
      <p:sp>
        <p:nvSpPr>
          <p:cNvPr id="8" name="Shape 6"/>
          <p:cNvSpPr/>
          <p:nvPr/>
        </p:nvSpPr>
        <p:spPr>
          <a:xfrm>
            <a:off x="548640" y="2320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20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219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centrales["tecnologia"]</a:t>
            </a:r>
            <a:endParaRPr lang="en-US" sz="1400" dirty="0"/>
          </a:p>
        </p:txBody>
      </p:sp>
      <p:sp>
        <p:nvSpPr>
          <p:cNvPr id="12" name="Text 10"/>
          <p:cNvSpPr txBox="1"/>
          <p:nvPr/>
        </p:nvSpPr>
        <p:spPr>
          <a:xfrm>
            <a:off x="6263640" y="2219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tecnología, las 20 filas.</a:t>
            </a:r>
            <a:endParaRPr lang="en-US" sz="1600" dirty="0"/>
          </a:p>
        </p:txBody>
      </p:sp>
      <p:sp>
        <p:nvSpPr>
          <p:cNvPr id="13" name="Shape 11"/>
          <p:cNvSpPr/>
          <p:nvPr/>
        </p:nvSpPr>
        <p:spPr>
          <a:xfrm>
            <a:off x="548640" y="2997200"/>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2997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1752"/>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84175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 tecnologia</a:t>
            </a:r>
            <a:endParaRPr lang="en-US" sz="1400" dirty="0"/>
          </a:p>
        </p:txBody>
      </p:sp>
      <p:sp>
        <p:nvSpPr>
          <p:cNvPr id="17" name="Text 15"/>
          <p:cNvSpPr txBox="1"/>
          <p:nvPr/>
        </p:nvSpPr>
        <p:spPr>
          <a:xfrm>
            <a:off x="6263640" y="284175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Compara cada fila con lo elegido en la lista. Da verdadero o falso en cada una.</a:t>
            </a:r>
            <a:endParaRPr lang="en-US" sz="1600" dirty="0"/>
          </a:p>
        </p:txBody>
      </p:sp>
      <p:sp>
        <p:nvSpPr>
          <p:cNvPr id="18" name="Shape 16"/>
          <p:cNvSpPr/>
          <p:nvPr/>
        </p:nvSpPr>
        <p:spPr>
          <a:xfrm>
            <a:off x="548640" y="3728720"/>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28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640080"/>
          </a:xfrm>
          <a:prstGeom prst="roundRect">
            <a:avLst>
              <a:gd name="adj" fmla="val 7143"/>
            </a:avLst>
          </a:prstGeom>
          <a:solidFill>
            <a:srgbClr val="FDF0C8"/>
          </a:solidFill>
          <a:ln w="12700">
            <a:solidFill>
              <a:srgbClr val="FDF0C8"/>
            </a:solidFill>
            <a:prstDash val="solid"/>
          </a:ln>
        </p:spPr>
      </p:sp>
      <p:sp>
        <p:nvSpPr>
          <p:cNvPr id="21" name="Text 19"/>
          <p:cNvSpPr txBox="1"/>
          <p:nvPr/>
        </p:nvSpPr>
        <p:spPr>
          <a:xfrm>
            <a:off x="1170432" y="357327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centrales[ ... ]</a:t>
            </a:r>
            <a:endParaRPr lang="en-US" sz="1400" dirty="0"/>
          </a:p>
        </p:txBody>
      </p:sp>
      <p:sp>
        <p:nvSpPr>
          <p:cNvPr id="22" name="Text 20"/>
          <p:cNvSpPr txBox="1"/>
          <p:nvPr/>
        </p:nvSpPr>
        <p:spPr>
          <a:xfrm>
            <a:off x="6263640" y="357327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Con una lista de verdaderos y falsos adentro, la tabla deja pasar solo las filas con verdadero.</a:t>
            </a:r>
            <a:endParaRPr lang="en-US" sz="1600" dirty="0"/>
          </a:p>
        </p:txBody>
      </p:sp>
      <p:sp>
        <p:nvSpPr>
          <p:cNvPr id="23" name="Shape 21"/>
          <p:cNvSpPr/>
          <p:nvPr/>
        </p:nvSpPr>
        <p:spPr>
          <a:xfrm>
            <a:off x="548640" y="4405376"/>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4053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04792"/>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3047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filtradas =</a:t>
            </a:r>
            <a:endParaRPr lang="en-US" sz="1400" dirty="0"/>
          </a:p>
        </p:txBody>
      </p:sp>
      <p:sp>
        <p:nvSpPr>
          <p:cNvPr id="27" name="Text 25"/>
          <p:cNvSpPr txBox="1"/>
          <p:nvPr/>
        </p:nvSpPr>
        <p:spPr>
          <a:xfrm>
            <a:off x="6263640" y="43047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esas filas con el nombre filtradas.</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filtradas son las filas de centrales cuya tecnología es la elegida.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una tecnología en la lista y vuelve a correr la celda.</a:t>
            </a:r>
            <a:endParaRPr lang="en-US" sz="1400" dirty="0"/>
          </a:p>
        </p:txBody>
      </p:sp>
      <p:sp>
        <p:nvSpPr>
          <p:cNvPr id="6" name="Shape 4"/>
          <p:cNvSpPr/>
          <p:nvPr/>
        </p:nvSpPr>
        <p:spPr>
          <a:xfrm>
            <a:off x="548640" y="1481328"/>
            <a:ext cx="11091672" cy="1920240"/>
          </a:xfrm>
          <a:prstGeom prst="roundRect">
            <a:avLst>
              <a:gd name="adj" fmla="val 285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tabla deja solo las centrales de la tecnología elegida.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"hidro"</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 = centrales[centrales[</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Hay {len(filtradas)} centrales de {tecnologia}"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hidro</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511296"/>
            <a:ext cx="10314432" cy="384048"/>
          </a:xfrm>
          <a:prstGeom prst="rect">
            <a:avLst/>
          </a:prstGeom>
          <a:solidFill>
            <a:srgbClr val="FFFFFF"/>
          </a:solidFill>
          <a:ln w="12700">
            <a:solidFill>
              <a:srgbClr val="DADCE0"/>
            </a:solidFill>
            <a:prstDash val="solid"/>
          </a:ln>
        </p:spPr>
      </p:sp>
      <p:sp>
        <p:nvSpPr>
          <p:cNvPr id="15" name="Text 13"/>
          <p:cNvSpPr txBox="1"/>
          <p:nvPr/>
        </p:nvSpPr>
        <p:spPr>
          <a:xfrm>
            <a:off x="1463040" y="3584448"/>
            <a:ext cx="10085832" cy="25603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 Hay 5 centrales de hidro</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325880" y="3986784"/>
          <a:ext cx="9144000" cy="914400"/>
        </p:xfrm>
        <a:graphic>
          <a:graphicData uri="http://schemas.openxmlformats.org/drawingml/2006/table">
            <a:tbl>
              <a:tblPr/>
              <a:tblGrid>
                <a:gridCol w="365760"/>
                <a:gridCol w="2286000"/>
                <a:gridCol w="1188720"/>
                <a:gridCol w="1097280"/>
                <a:gridCol w="1280160"/>
                <a:gridCol w="128016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tecnologia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potencia_mw</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anio_inicio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Salto Verde</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310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1998</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Aguas Claras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180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2011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Vega Azul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2016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Tres Saltos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260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8"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9" name="Shape 15"/>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20" name="Text 16"/>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1" name="Shape 17"/>
          <p:cNvSpPr/>
          <p:nvPr/>
        </p:nvSpPr>
        <p:spPr>
          <a:xfrm>
            <a:off x="2112264" y="6062472"/>
            <a:ext cx="1234440" cy="566928"/>
          </a:xfrm>
          <a:prstGeom prst="roundRect">
            <a:avLst>
              <a:gd name="adj" fmla="val 11290"/>
            </a:avLst>
          </a:prstGeom>
          <a:solidFill>
            <a:srgbClr val="FEF3D6"/>
          </a:solidFill>
          <a:ln w="25400">
            <a:solidFill>
              <a:srgbClr val="F9AB00"/>
            </a:solidFill>
            <a:prstDash val="solid"/>
          </a:ln>
        </p:spPr>
      </p:sp>
      <p:sp>
        <p:nvSpPr>
          <p:cNvPr id="22" name="Text 18"/>
          <p:cNvSpPr txBox="1"/>
          <p:nvPr/>
        </p:nvSpPr>
        <p:spPr>
          <a:xfrm>
            <a:off x="2203704"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"hidro"</a:t>
            </a:r>
            <a:endParaRPr lang="en-US" sz="1200" dirty="0"/>
          </a:p>
        </p:txBody>
      </p:sp>
      <p:sp>
        <p:nvSpPr>
          <p:cNvPr id="23" name="Shape 19"/>
          <p:cNvSpPr/>
          <p:nvPr/>
        </p:nvSpPr>
        <p:spPr>
          <a:xfrm>
            <a:off x="3483864" y="6062472"/>
            <a:ext cx="1330452" cy="566928"/>
          </a:xfrm>
          <a:prstGeom prst="roundRect">
            <a:avLst>
              <a:gd name="adj" fmla="val 11290"/>
            </a:avLst>
          </a:prstGeom>
          <a:solidFill>
            <a:srgbClr val="FEF3D6"/>
          </a:solidFill>
          <a:ln w="25400">
            <a:solidFill>
              <a:srgbClr val="F9AB00"/>
            </a:solidFill>
            <a:prstDash val="solid"/>
          </a:ln>
        </p:spPr>
      </p:sp>
      <p:sp>
        <p:nvSpPr>
          <p:cNvPr id="24" name="Text 20"/>
          <p:cNvSpPr txBox="1"/>
          <p:nvPr/>
        </p:nvSpPr>
        <p:spPr>
          <a:xfrm>
            <a:off x="35753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25" name="Shape 21"/>
          <p:cNvSpPr/>
          <p:nvPr/>
        </p:nvSpPr>
        <p:spPr>
          <a:xfrm>
            <a:off x="4951476" y="6062472"/>
            <a:ext cx="1143000" cy="566928"/>
          </a:xfrm>
          <a:prstGeom prst="roundRect">
            <a:avLst>
              <a:gd name="adj" fmla="val 11290"/>
            </a:avLst>
          </a:prstGeom>
          <a:solidFill>
            <a:srgbClr val="F1F3F4"/>
          </a:solidFill>
          <a:ln w="12700">
            <a:solidFill>
              <a:srgbClr val="DADCE0"/>
            </a:solidFill>
            <a:prstDash val="solid"/>
          </a:ln>
        </p:spPr>
      </p:sp>
      <p:sp>
        <p:nvSpPr>
          <p:cNvPr id="26" name="Text 22"/>
          <p:cNvSpPr txBox="1"/>
          <p:nvPr/>
        </p:nvSpPr>
        <p:spPr>
          <a:xfrm>
            <a:off x="504291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7" name="Shape 23"/>
          <p:cNvSpPr/>
          <p:nvPr/>
        </p:nvSpPr>
        <p:spPr>
          <a:xfrm>
            <a:off x="6231636" y="6062472"/>
            <a:ext cx="2770632" cy="566928"/>
          </a:xfrm>
          <a:prstGeom prst="roundRect">
            <a:avLst>
              <a:gd name="adj" fmla="val 11290"/>
            </a:avLst>
          </a:prstGeom>
          <a:solidFill>
            <a:srgbClr val="F1F3F4"/>
          </a:solidFill>
          <a:ln w="12700">
            <a:solidFill>
              <a:srgbClr val="DADCE0"/>
            </a:solidFill>
            <a:prstDash val="solid"/>
          </a:ln>
        </p:spPr>
      </p:sp>
      <p:sp>
        <p:nvSpPr>
          <p:cNvPr id="28" name="Text 24"/>
          <p:cNvSpPr txBox="1"/>
          <p:nvPr/>
        </p:nvSpPr>
        <p:spPr>
          <a:xfrm>
            <a:off x="6323076"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9" name="Text 25"/>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Un filtro deja pasar solo las filas que cumplen la condición.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solar en la lista y se vuelve a correr la celda.</a:t>
            </a:r>
            <a:endParaRPr lang="en-US" sz="1400" dirty="0"/>
          </a:p>
        </p:txBody>
      </p:sp>
      <p:sp>
        <p:nvSpPr>
          <p:cNvPr id="7" name="Shape 4"/>
          <p:cNvSpPr/>
          <p:nvPr/>
        </p:nvSpPr>
        <p:spPr>
          <a:xfrm>
            <a:off x="548640" y="1481328"/>
            <a:ext cx="11091672" cy="1920240"/>
          </a:xfrm>
          <a:prstGeom prst="roundRect">
            <a:avLst>
              <a:gd name="adj" fmla="val 2857"/>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tabla deja solo las centrales de la tecnología elegida.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"solar"</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 = centrales[centrales[</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Hay {len(filtradas)} centrales de {tecnologia}"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solar</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4381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19" name="Shape 16"/>
          <p:cNvSpPr/>
          <p:nvPr/>
        </p:nvSpPr>
        <p:spPr>
          <a:xfrm>
            <a:off x="2016252" y="6062472"/>
            <a:ext cx="123444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107692"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"hidro"</a:t>
            </a:r>
            <a:endParaRPr lang="en-US" sz="1200" dirty="0"/>
          </a:p>
        </p:txBody>
      </p:sp>
      <p:sp>
        <p:nvSpPr>
          <p:cNvPr id="21" name="Shape 18"/>
          <p:cNvSpPr/>
          <p:nvPr/>
        </p:nvSpPr>
        <p:spPr>
          <a:xfrm>
            <a:off x="3387852" y="6062472"/>
            <a:ext cx="142646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47929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3" name="Shape 20"/>
          <p:cNvSpPr/>
          <p:nvPr/>
        </p:nvSpPr>
        <p:spPr>
          <a:xfrm>
            <a:off x="4951476" y="6062472"/>
            <a:ext cx="11430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04291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5" name="Shape 22"/>
          <p:cNvSpPr/>
          <p:nvPr/>
        </p:nvSpPr>
        <p:spPr>
          <a:xfrm>
            <a:off x="6231636" y="6062472"/>
            <a:ext cx="2770632"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6323076"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7" name="Text 24"/>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solar en la lista y se vuelve a correr la celda.</a:t>
            </a:r>
            <a:endParaRPr lang="en-US" sz="1400" dirty="0"/>
          </a:p>
        </p:txBody>
      </p:sp>
      <p:sp>
        <p:nvSpPr>
          <p:cNvPr id="6" name="Shape 4"/>
          <p:cNvSpPr/>
          <p:nvPr/>
        </p:nvSpPr>
        <p:spPr>
          <a:xfrm>
            <a:off x="548640" y="1481328"/>
            <a:ext cx="11091672" cy="1920240"/>
          </a:xfrm>
          <a:prstGeom prst="roundRect">
            <a:avLst>
              <a:gd name="adj" fmla="val 285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tabla deja solo las centrales de la tecnología elegida.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"solar"</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 = centrales[centrales[</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Hay {len(filtradas)} centrales de {tecnologia}"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filtradas</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solar</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511296"/>
            <a:ext cx="10314432" cy="384048"/>
          </a:xfrm>
          <a:prstGeom prst="rect">
            <a:avLst/>
          </a:prstGeom>
          <a:solidFill>
            <a:srgbClr val="FFFFFF"/>
          </a:solidFill>
          <a:ln w="12700">
            <a:solidFill>
              <a:srgbClr val="DADCE0"/>
            </a:solidFill>
            <a:prstDash val="solid"/>
          </a:ln>
        </p:spPr>
      </p:sp>
      <p:sp>
        <p:nvSpPr>
          <p:cNvPr id="15" name="Text 13"/>
          <p:cNvSpPr txBox="1"/>
          <p:nvPr/>
        </p:nvSpPr>
        <p:spPr>
          <a:xfrm>
            <a:off x="1463040" y="3584448"/>
            <a:ext cx="10085832" cy="25603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 Hay 5 centrales de solar</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325880" y="3986784"/>
          <a:ext cx="9144000" cy="914400"/>
        </p:xfrm>
        <a:graphic>
          <a:graphicData uri="http://schemas.openxmlformats.org/drawingml/2006/table">
            <a:tbl>
              <a:tblPr/>
              <a:tblGrid>
                <a:gridCol w="365760"/>
                <a:gridCol w="2743200"/>
                <a:gridCol w="1188720"/>
                <a:gridCol w="1280160"/>
                <a:gridCol w="1280160"/>
                <a:gridCol w="128016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tecnologia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potencia_mw</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anio_inicio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Parque Solar Pampa Alta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230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2019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Parque Solar Llano Seco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Atacama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180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Parque Solar Sol Naciente</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145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Parque Solar Quebrada Honda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Atacama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Parque Solar Altiplano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310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8"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9" name="Shape 15"/>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20" name="Text 16"/>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1" name="Shape 17"/>
          <p:cNvSpPr/>
          <p:nvPr/>
        </p:nvSpPr>
        <p:spPr>
          <a:xfrm>
            <a:off x="2112264" y="6062472"/>
            <a:ext cx="1234440" cy="566928"/>
          </a:xfrm>
          <a:prstGeom prst="roundRect">
            <a:avLst>
              <a:gd name="adj" fmla="val 11290"/>
            </a:avLst>
          </a:prstGeom>
          <a:solidFill>
            <a:srgbClr val="FEF3D6"/>
          </a:solidFill>
          <a:ln w="25400">
            <a:solidFill>
              <a:srgbClr val="F9AB00"/>
            </a:solidFill>
            <a:prstDash val="solid"/>
          </a:ln>
        </p:spPr>
      </p:sp>
      <p:sp>
        <p:nvSpPr>
          <p:cNvPr id="22" name="Text 18"/>
          <p:cNvSpPr txBox="1"/>
          <p:nvPr/>
        </p:nvSpPr>
        <p:spPr>
          <a:xfrm>
            <a:off x="2203704"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23" name="Shape 19"/>
          <p:cNvSpPr/>
          <p:nvPr/>
        </p:nvSpPr>
        <p:spPr>
          <a:xfrm>
            <a:off x="3483864" y="6062472"/>
            <a:ext cx="1330452" cy="566928"/>
          </a:xfrm>
          <a:prstGeom prst="roundRect">
            <a:avLst>
              <a:gd name="adj" fmla="val 11290"/>
            </a:avLst>
          </a:prstGeom>
          <a:solidFill>
            <a:srgbClr val="E8F0FE"/>
          </a:solidFill>
          <a:ln w="28575">
            <a:solidFill>
              <a:srgbClr val="1A73E8"/>
            </a:solidFill>
            <a:prstDash val="solid"/>
          </a:ln>
        </p:spPr>
      </p:sp>
      <p:sp>
        <p:nvSpPr>
          <p:cNvPr id="24" name="Text 20"/>
          <p:cNvSpPr txBox="1"/>
          <p:nvPr/>
        </p:nvSpPr>
        <p:spPr>
          <a:xfrm>
            <a:off x="35753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25" name="Shape 21"/>
          <p:cNvSpPr/>
          <p:nvPr/>
        </p:nvSpPr>
        <p:spPr>
          <a:xfrm>
            <a:off x="4951476" y="6062472"/>
            <a:ext cx="1143000" cy="566928"/>
          </a:xfrm>
          <a:prstGeom prst="roundRect">
            <a:avLst>
              <a:gd name="adj" fmla="val 11290"/>
            </a:avLst>
          </a:prstGeom>
          <a:solidFill>
            <a:srgbClr val="F1F3F4"/>
          </a:solidFill>
          <a:ln w="12700">
            <a:solidFill>
              <a:srgbClr val="DADCE0"/>
            </a:solidFill>
            <a:prstDash val="solid"/>
          </a:ln>
        </p:spPr>
      </p:sp>
      <p:sp>
        <p:nvSpPr>
          <p:cNvPr id="26" name="Text 22"/>
          <p:cNvSpPr txBox="1"/>
          <p:nvPr/>
        </p:nvSpPr>
        <p:spPr>
          <a:xfrm>
            <a:off x="504291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7" name="Shape 23"/>
          <p:cNvSpPr/>
          <p:nvPr/>
        </p:nvSpPr>
        <p:spPr>
          <a:xfrm>
            <a:off x="6231636" y="6062472"/>
            <a:ext cx="2770632" cy="566928"/>
          </a:xfrm>
          <a:prstGeom prst="roundRect">
            <a:avLst>
              <a:gd name="adj" fmla="val 11290"/>
            </a:avLst>
          </a:prstGeom>
          <a:solidFill>
            <a:srgbClr val="F1F3F4"/>
          </a:solidFill>
          <a:ln w="12700">
            <a:solidFill>
              <a:srgbClr val="DADCE0"/>
            </a:solidFill>
            <a:prstDash val="solid"/>
          </a:ln>
        </p:spPr>
      </p:sp>
      <p:sp>
        <p:nvSpPr>
          <p:cNvPr id="28" name="Text 24"/>
          <p:cNvSpPr txBox="1"/>
          <p:nvPr/>
        </p:nvSpPr>
        <p:spPr>
          <a:xfrm>
            <a:off x="6323076"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9" name="Text 25"/>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Misma celda, otra pregunta. Hay 5 centrales solares.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por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 filtro es una pregunta de verdadero o falso.</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Las filas que responden True pasan y las que responden False quedan afuera.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3" name="Shape 10"/>
          <p:cNvSpPr/>
          <p:nvPr/>
        </p:nvSpPr>
        <p:spPr>
          <a:xfrm>
            <a:off x="2112264" y="6062472"/>
            <a:ext cx="1234440" cy="566928"/>
          </a:xfrm>
          <a:prstGeom prst="roundRect">
            <a:avLst>
              <a:gd name="adj" fmla="val 11290"/>
            </a:avLst>
          </a:prstGeom>
          <a:solidFill>
            <a:srgbClr val="FEF3D6"/>
          </a:solidFill>
          <a:ln w="25400">
            <a:solidFill>
              <a:srgbClr val="F9AB00"/>
            </a:solidFill>
            <a:prstDash val="solid"/>
          </a:ln>
        </p:spPr>
      </p:sp>
      <p:sp>
        <p:nvSpPr>
          <p:cNvPr id="14" name="Text 11"/>
          <p:cNvSpPr txBox="1"/>
          <p:nvPr/>
        </p:nvSpPr>
        <p:spPr>
          <a:xfrm>
            <a:off x="2203704"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15" name="Shape 12"/>
          <p:cNvSpPr/>
          <p:nvPr/>
        </p:nvSpPr>
        <p:spPr>
          <a:xfrm>
            <a:off x="3483864" y="6062472"/>
            <a:ext cx="1330452" cy="566928"/>
          </a:xfrm>
          <a:prstGeom prst="roundRect">
            <a:avLst>
              <a:gd name="adj" fmla="val 11290"/>
            </a:avLst>
          </a:prstGeom>
          <a:solidFill>
            <a:srgbClr val="E8F0FE"/>
          </a:solidFill>
          <a:ln w="28575">
            <a:solidFill>
              <a:srgbClr val="1A73E8"/>
            </a:solidFill>
            <a:prstDash val="solid"/>
          </a:ln>
        </p:spPr>
      </p:sp>
      <p:sp>
        <p:nvSpPr>
          <p:cNvPr id="16" name="Text 13"/>
          <p:cNvSpPr txBox="1"/>
          <p:nvPr/>
        </p:nvSpPr>
        <p:spPr>
          <a:xfrm>
            <a:off x="35753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17" name="Shape 14"/>
          <p:cNvSpPr/>
          <p:nvPr/>
        </p:nvSpPr>
        <p:spPr>
          <a:xfrm>
            <a:off x="4951476" y="6062472"/>
            <a:ext cx="1143000"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504291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9" name="Shape 16"/>
          <p:cNvSpPr/>
          <p:nvPr/>
        </p:nvSpPr>
        <p:spPr>
          <a:xfrm>
            <a:off x="6231636" y="6062472"/>
            <a:ext cx="2770632"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6323076"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llega la generación de cada hora?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cuántas filas debería tener la tabla y por qué.</a:t>
            </a:r>
            <a:endParaRPr lang="en-US" sz="1400" dirty="0"/>
          </a:p>
        </p:txBody>
      </p:sp>
      <p:pic>
        <p:nvPicPr>
          <p:cNvPr id="6" name="Image 0" descr="../work34/modulos/modulo01/img/lab01_paso3_filas.png">    </p:cNvPr>
          <p:cNvPicPr>
            <a:picLocks noChangeAspect="1"/>
          </p:cNvPicPr>
          <p:nvPr/>
        </p:nvPicPr>
        <p:blipFill>
          <a:blip r:embed="rId1"/>
          <a:stretch>
            <a:fillRect/>
          </a:stretch>
        </p:blipFill>
        <p:spPr>
          <a:xfrm>
            <a:off x="548640" y="1463040"/>
            <a:ext cx="11091672" cy="40978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llega la generación de cada hora?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El archivo es grande y puede demorar unos segundos.</a:t>
            </a:r>
            <a:endParaRPr lang="en-US" sz="1400" dirty="0"/>
          </a:p>
        </p:txBody>
      </p:sp>
      <p:sp>
        <p:nvSpPr>
          <p:cNvPr id="7" name="Shape 4"/>
          <p:cNvSpPr/>
          <p:nvPr/>
        </p:nvSpPr>
        <p:spPr>
          <a:xfrm>
            <a:off x="548640" y="1481328"/>
            <a:ext cx="11091672" cy="1920240"/>
          </a:xfrm>
          <a:prstGeom prst="roundRect">
            <a:avLst>
              <a:gd name="adj" fmla="val 2857"/>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parse_dates avisa que la columna fecha trae fechas y no texto.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generacion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"generacion.csv"</a:t>
            </a:r>
            <a:pPr indent="0" marL="0">
              <a:buNone/>
            </a:pPr>
            <a:r>
              <a:rPr lang="en-US" sz="1300" dirty="0">
                <a:solidFill>
                  <a:srgbClr val="202124"/>
                </a:solidFill>
                <a:latin typeface="Courier New" pitchFamily="34" charset="0"/>
                <a:ea typeface="Courier New" pitchFamily="34" charset="-122"/>
                <a:cs typeface="Courier New" pitchFamily="34" charset="-120"/>
              </a:rPr>
              <a:t>, parse_dates=[</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y columnas"</a:t>
            </a:r>
            <a:pPr indent="0" marL="0">
              <a:buNone/>
            </a:pPr>
            <a:r>
              <a:rPr lang="en-US" sz="1300" dirty="0">
                <a:solidFill>
                  <a:srgbClr val="202124"/>
                </a:solidFill>
                <a:latin typeface="Courier New" pitchFamily="34" charset="0"/>
                <a:ea typeface="Courier New" pitchFamily="34" charset="-122"/>
                <a:cs typeface="Courier New" pitchFamily="34" charset="-120"/>
              </a:rPr>
              <a:t>, generacion.shape)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"Primer día      "</a:t>
            </a:r>
            <a:pPr indent="0" marL="0">
              <a:buNone/>
            </a:pPr>
            <a:r>
              <a:rPr lang="en-US" sz="1300" dirty="0">
                <a:solidFill>
                  <a:srgbClr val="202124"/>
                </a:solidFill>
                <a:latin typeface="Courier New" pitchFamily="34" charset="0"/>
                <a:ea typeface="Courier New" pitchFamily="34" charset="-122"/>
                <a:cs typeface="Courier New" pitchFamily="34" charset="-120"/>
              </a:rPr>
              <a:t>, generacion[</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].min().date())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"Último día      "</a:t>
            </a:r>
            <a:pPr indent="0" marL="0">
              <a:buNone/>
            </a:pPr>
            <a:r>
              <a:rPr lang="en-US" sz="1300" dirty="0">
                <a:solidFill>
                  <a:srgbClr val="202124"/>
                </a:solidFill>
                <a:latin typeface="Courier New" pitchFamily="34" charset="0"/>
                <a:ea typeface="Courier New" pitchFamily="34" charset="-122"/>
                <a:cs typeface="Courier New" pitchFamily="34" charset="-120"/>
              </a:rPr>
              <a:t>, generacion[</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].max().date())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generacion.head()</a:t>
            </a:r>
            <a:endParaRPr lang="en-US" sz="1300" dirty="0"/>
          </a:p>
        </p:txBody>
      </p:sp>
      <p:sp>
        <p:nvSpPr>
          <p:cNvPr id="11" name="Text 8"/>
          <p:cNvSpPr txBox="1"/>
          <p:nvPr/>
        </p:nvSpPr>
        <p:spPr>
          <a:xfrm>
            <a:off x="1325880" y="34381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15" name="Shape 12"/>
          <p:cNvSpPr/>
          <p:nvPr/>
        </p:nvSpPr>
        <p:spPr>
          <a:xfrm>
            <a:off x="2016252" y="6062472"/>
            <a:ext cx="1234440"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107692"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17" name="Shape 14"/>
          <p:cNvSpPr/>
          <p:nvPr/>
        </p:nvSpPr>
        <p:spPr>
          <a:xfrm>
            <a:off x="3387852" y="6062472"/>
            <a:ext cx="142646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347929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9" name="Shape 16"/>
          <p:cNvSpPr/>
          <p:nvPr/>
        </p:nvSpPr>
        <p:spPr>
          <a:xfrm>
            <a:off x="4951476" y="6062472"/>
            <a:ext cx="11430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504291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1" name="Shape 18"/>
          <p:cNvSpPr/>
          <p:nvPr/>
        </p:nvSpPr>
        <p:spPr>
          <a:xfrm>
            <a:off x="6231636" y="6062472"/>
            <a:ext cx="2770632"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6323076"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llega la generación de cada hora?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generacion = pd.read_csv(DATOS + </a:t>
            </a:r>
            <a:pPr indent="0" marL="0">
              <a:buNone/>
            </a:pPr>
            <a:r>
              <a:rPr lang="en-US" sz="1600" dirty="0">
                <a:solidFill>
                  <a:srgbClr val="A31515"/>
                </a:solidFill>
                <a:latin typeface="Courier New" pitchFamily="34" charset="0"/>
                <a:ea typeface="Courier New" pitchFamily="34" charset="-122"/>
                <a:cs typeface="Courier New" pitchFamily="34" charset="-120"/>
              </a:rPr>
              <a:t>"generacion.csv"</a:t>
            </a:r>
            <a:pPr indent="0" marL="0">
              <a:buNone/>
            </a:pPr>
            <a:r>
              <a:rPr lang="en-US" sz="1600" dirty="0">
                <a:solidFill>
                  <a:srgbClr val="202124"/>
                </a:solidFill>
                <a:latin typeface="Courier New" pitchFamily="34" charset="0"/>
                <a:ea typeface="Courier New" pitchFamily="34" charset="-122"/>
                <a:cs typeface="Courier New" pitchFamily="34" charset="-120"/>
              </a:rPr>
              <a:t>, parse_dates=[</a:t>
            </a:r>
            <a:pPr indent="0" marL="0">
              <a:buNone/>
            </a:pPr>
            <a:r>
              <a:rPr lang="en-US" sz="1600" dirty="0">
                <a:solidFill>
                  <a:srgbClr val="A31515"/>
                </a:solidFill>
                <a:latin typeface="Courier New" pitchFamily="34" charset="0"/>
                <a:ea typeface="Courier New" pitchFamily="34" charset="-122"/>
                <a:cs typeface="Courier New" pitchFamily="34" charset="-120"/>
              </a:rPr>
              <a:t>"fecha"</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pd.read_csv( ... , ... )</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Dentro de los paréntesis van varias cosas separadas por coma.</a:t>
            </a:r>
            <a:endParaRPr lang="en-US" sz="1600" dirty="0"/>
          </a:p>
        </p:txBody>
      </p:sp>
      <p:sp>
        <p:nvSpPr>
          <p:cNvPr id="13" name="Shape 11"/>
          <p:cNvSpPr/>
          <p:nvPr/>
        </p:nvSpPr>
        <p:spPr>
          <a:xfrm>
            <a:off x="548640" y="3239516"/>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2395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905256"/>
          </a:xfrm>
          <a:prstGeom prst="roundRect">
            <a:avLst>
              <a:gd name="adj" fmla="val 5051"/>
            </a:avLst>
          </a:prstGeom>
          <a:solidFill>
            <a:srgbClr val="DCEFE0"/>
          </a:solidFill>
          <a:ln w="12700">
            <a:solidFill>
              <a:srgbClr val="DCEFE0"/>
            </a:solidFill>
            <a:prstDash val="solid"/>
          </a:ln>
        </p:spPr>
      </p:sp>
      <p:sp>
        <p:nvSpPr>
          <p:cNvPr id="16" name="Text 14"/>
          <p:cNvSpPr txBox="1"/>
          <p:nvPr/>
        </p:nvSpPr>
        <p:spPr>
          <a:xfrm>
            <a:off x="1170432" y="2951480"/>
            <a:ext cx="4754880" cy="905256"/>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parse_dates=["fecha"]</a:t>
            </a:r>
            <a:endParaRPr lang="en-US" sz="1400" dirty="0"/>
          </a:p>
        </p:txBody>
      </p:sp>
      <p:sp>
        <p:nvSpPr>
          <p:cNvPr id="17" name="Text 15"/>
          <p:cNvSpPr txBox="1"/>
          <p:nvPr/>
        </p:nvSpPr>
        <p:spPr>
          <a:xfrm>
            <a:off x="6263640" y="2951480"/>
            <a:ext cx="5376672" cy="905256"/>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 ajuste con nombre. Avisa que la columna fecha trae fechas. Va entre corchetes porque podrían ser varias columnas.</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lee generacion.csv y convierte la columna fecha en fecha.</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llega la generación de cada hora?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generacion[</a:t>
            </a:r>
            <a:pPr indent="0" marL="0">
              <a:buNone/>
            </a:pPr>
            <a:r>
              <a:rPr lang="en-US" sz="1600" dirty="0">
                <a:solidFill>
                  <a:srgbClr val="A31515"/>
                </a:solidFill>
                <a:latin typeface="Courier New" pitchFamily="34" charset="0"/>
                <a:ea typeface="Courier New" pitchFamily="34" charset="-122"/>
                <a:cs typeface="Courier New" pitchFamily="34" charset="-120"/>
              </a:rPr>
              <a:t>"fecha"</a:t>
            </a:r>
            <a:pPr indent="0" marL="0">
              <a:buNone/>
            </a:pPr>
            <a:r>
              <a:rPr lang="en-US" sz="1600" dirty="0">
                <a:solidFill>
                  <a:srgbClr val="202124"/>
                </a:solidFill>
                <a:latin typeface="Courier New" pitchFamily="34" charset="0"/>
                <a:ea typeface="Courier New" pitchFamily="34" charset="-122"/>
                <a:cs typeface="Courier New" pitchFamily="34" charset="-120"/>
              </a:rPr>
              <a:t>].min().date()</a:t>
            </a:r>
            <a:endParaRPr lang="en-US" sz="1600" dirty="0"/>
          </a:p>
        </p:txBody>
      </p:sp>
      <p:sp>
        <p:nvSpPr>
          <p:cNvPr id="8" name="Shape 6"/>
          <p:cNvSpPr/>
          <p:nvPr/>
        </p:nvSpPr>
        <p:spPr>
          <a:xfrm>
            <a:off x="548640" y="2320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20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219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generacion["fecha"]</a:t>
            </a:r>
            <a:endParaRPr lang="en-US" sz="1400" dirty="0"/>
          </a:p>
        </p:txBody>
      </p:sp>
      <p:sp>
        <p:nvSpPr>
          <p:cNvPr id="12" name="Text 10"/>
          <p:cNvSpPr txBox="1"/>
          <p:nvPr/>
        </p:nvSpPr>
        <p:spPr>
          <a:xfrm>
            <a:off x="6263640" y="2219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de fechas.</a:t>
            </a:r>
            <a:endParaRPr lang="en-US" sz="1600" dirty="0"/>
          </a:p>
        </p:txBody>
      </p:sp>
      <p:sp>
        <p:nvSpPr>
          <p:cNvPr id="13" name="Shape 11"/>
          <p:cNvSpPr/>
          <p:nvPr/>
        </p:nvSpPr>
        <p:spPr>
          <a:xfrm>
            <a:off x="548640" y="2942336"/>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29423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1752"/>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84175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.min()</a:t>
            </a:r>
            <a:endParaRPr lang="en-US" sz="1400" dirty="0"/>
          </a:p>
        </p:txBody>
      </p:sp>
      <p:sp>
        <p:nvSpPr>
          <p:cNvPr id="17" name="Text 15"/>
          <p:cNvSpPr txBox="1"/>
          <p:nvPr/>
        </p:nvSpPr>
        <p:spPr>
          <a:xfrm>
            <a:off x="6263640" y="284175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fecha más antigua.</a:t>
            </a:r>
            <a:endParaRPr lang="en-US" sz="1600" dirty="0"/>
          </a:p>
        </p:txBody>
      </p:sp>
      <p:sp>
        <p:nvSpPr>
          <p:cNvPr id="18" name="Shape 16"/>
          <p:cNvSpPr/>
          <p:nvPr/>
        </p:nvSpPr>
        <p:spPr>
          <a:xfrm>
            <a:off x="548640" y="3564128"/>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5641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463544"/>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463544"/>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.date()</a:t>
            </a:r>
            <a:endParaRPr lang="en-US" sz="1400" dirty="0"/>
          </a:p>
        </p:txBody>
      </p:sp>
      <p:sp>
        <p:nvSpPr>
          <p:cNvPr id="22" name="Text 20"/>
          <p:cNvSpPr txBox="1"/>
          <p:nvPr/>
        </p:nvSpPr>
        <p:spPr>
          <a:xfrm>
            <a:off x="6263640" y="3463544"/>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Muestra solo el día, sin la hora.</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el primer día de la columna fecha.</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llega la generación de cada hora?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El archivo es grande y puede demorar unos segundos.</a:t>
            </a:r>
            <a:endParaRPr lang="en-US" sz="1400" dirty="0"/>
          </a:p>
        </p:txBody>
      </p:sp>
      <p:sp>
        <p:nvSpPr>
          <p:cNvPr id="6" name="Shape 4"/>
          <p:cNvSpPr/>
          <p:nvPr/>
        </p:nvSpPr>
        <p:spPr>
          <a:xfrm>
            <a:off x="548640" y="1481328"/>
            <a:ext cx="11091672" cy="1664208"/>
          </a:xfrm>
          <a:prstGeom prst="roundRect">
            <a:avLst>
              <a:gd name="adj" fmla="val 329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481328"/>
          </a:xfrm>
          <a:prstGeom prst="rect">
            <a:avLst/>
          </a:prstGeom>
          <a:noFill/>
          <a:ln/>
        </p:spPr>
        <p:txBody>
          <a:bodyPr wrap="square" lIns="0" tIns="0" rIns="0" bIns="0" rtlCol="0" anchor="t"/>
          <a:lstStyle/>
          <a:p>
            <a:pPr indent="0" marL="0">
              <a:buNone/>
            </a:pPr>
            <a:r>
              <a:rPr lang="en-US" sz="1100" i="1" dirty="0">
                <a:solidFill>
                  <a:srgbClr val="188038"/>
                </a:solidFill>
                <a:latin typeface="Courier New" pitchFamily="34" charset="0"/>
                <a:ea typeface="Courier New" pitchFamily="34" charset="-122"/>
                <a:cs typeface="Courier New" pitchFamily="34" charset="-120"/>
              </a:rPr>
              <a:t># Paso 3</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parse_dates avisa que la columna fecha trae fechas y no texto.</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generacion = pd.read_csv(DATOS + </a:t>
            </a:r>
            <a:pPr indent="0" marL="0">
              <a:buNone/>
            </a:pPr>
            <a:r>
              <a:rPr lang="en-US" sz="1100" dirty="0">
                <a:solidFill>
                  <a:srgbClr val="A31515"/>
                </a:solidFill>
                <a:latin typeface="Courier New" pitchFamily="34" charset="0"/>
                <a:ea typeface="Courier New" pitchFamily="34" charset="-122"/>
                <a:cs typeface="Courier New" pitchFamily="34" charset="-120"/>
              </a:rPr>
              <a:t>"generacion.csv"</a:t>
            </a:r>
            <a:pPr indent="0" marL="0">
              <a:buNone/>
            </a:pPr>
            <a:r>
              <a:rPr lang="en-US" sz="1100" dirty="0">
                <a:solidFill>
                  <a:srgbClr val="202124"/>
                </a:solidFill>
                <a:latin typeface="Courier New" pitchFamily="34" charset="0"/>
                <a:ea typeface="Courier New" pitchFamily="34" charset="-122"/>
                <a:cs typeface="Courier New" pitchFamily="34" charset="-120"/>
              </a:rPr>
              <a:t>, parse_dates=[</a:t>
            </a:r>
            <a:pPr indent="0" marL="0">
              <a:buNone/>
            </a:pPr>
            <a:r>
              <a:rPr lang="en-US" sz="1100" dirty="0">
                <a:solidFill>
                  <a:srgbClr val="A31515"/>
                </a:solidFill>
                <a:latin typeface="Courier New" pitchFamily="34" charset="0"/>
                <a:ea typeface="Courier New" pitchFamily="34" charset="-122"/>
                <a:cs typeface="Courier New" pitchFamily="34" charset="-120"/>
              </a:rPr>
              <a:t>"fecha"</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"Filas y columnas"</a:t>
            </a:r>
            <a:pPr indent="0" marL="0">
              <a:buNone/>
            </a:pPr>
            <a:r>
              <a:rPr lang="en-US" sz="1100" dirty="0">
                <a:solidFill>
                  <a:srgbClr val="202124"/>
                </a:solidFill>
                <a:latin typeface="Courier New" pitchFamily="34" charset="0"/>
                <a:ea typeface="Courier New" pitchFamily="34" charset="-122"/>
                <a:cs typeface="Courier New" pitchFamily="34" charset="-120"/>
              </a:rPr>
              <a:t>, generacion.shape)</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"Primer día      "</a:t>
            </a:r>
            <a:pPr indent="0" marL="0">
              <a:buNone/>
            </a:pPr>
            <a:r>
              <a:rPr lang="en-US" sz="1100" dirty="0">
                <a:solidFill>
                  <a:srgbClr val="202124"/>
                </a:solidFill>
                <a:latin typeface="Courier New" pitchFamily="34" charset="0"/>
                <a:ea typeface="Courier New" pitchFamily="34" charset="-122"/>
                <a:cs typeface="Courier New" pitchFamily="34" charset="-120"/>
              </a:rPr>
              <a:t>, generacion[</a:t>
            </a:r>
            <a:pPr indent="0" marL="0">
              <a:buNone/>
            </a:pPr>
            <a:r>
              <a:rPr lang="en-US" sz="1100" dirty="0">
                <a:solidFill>
                  <a:srgbClr val="A31515"/>
                </a:solidFill>
                <a:latin typeface="Courier New" pitchFamily="34" charset="0"/>
                <a:ea typeface="Courier New" pitchFamily="34" charset="-122"/>
                <a:cs typeface="Courier New" pitchFamily="34" charset="-120"/>
              </a:rPr>
              <a:t>"fecha"</a:t>
            </a:r>
            <a:pPr indent="0" marL="0">
              <a:buNone/>
            </a:pPr>
            <a:r>
              <a:rPr lang="en-US" sz="1100" dirty="0">
                <a:solidFill>
                  <a:srgbClr val="202124"/>
                </a:solidFill>
                <a:latin typeface="Courier New" pitchFamily="34" charset="0"/>
                <a:ea typeface="Courier New" pitchFamily="34" charset="-122"/>
                <a:cs typeface="Courier New" pitchFamily="34" charset="-120"/>
              </a:rPr>
              <a:t>].min().date())</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"Último día      "</a:t>
            </a:r>
            <a:pPr indent="0" marL="0">
              <a:buNone/>
            </a:pPr>
            <a:r>
              <a:rPr lang="en-US" sz="1100" dirty="0">
                <a:solidFill>
                  <a:srgbClr val="202124"/>
                </a:solidFill>
                <a:latin typeface="Courier New" pitchFamily="34" charset="0"/>
                <a:ea typeface="Courier New" pitchFamily="34" charset="-122"/>
                <a:cs typeface="Courier New" pitchFamily="34" charset="-120"/>
              </a:rPr>
              <a:t>, generacion[</a:t>
            </a:r>
            <a:pPr indent="0" marL="0">
              <a:buNone/>
            </a:pPr>
            <a:r>
              <a:rPr lang="en-US" sz="1100" dirty="0">
                <a:solidFill>
                  <a:srgbClr val="A31515"/>
                </a:solidFill>
                <a:latin typeface="Courier New" pitchFamily="34" charset="0"/>
                <a:ea typeface="Courier New" pitchFamily="34" charset="-122"/>
                <a:cs typeface="Courier New" pitchFamily="34" charset="-120"/>
              </a:rPr>
              <a:t>"fecha"</a:t>
            </a:r>
            <a:pPr indent="0" marL="0">
              <a:buNone/>
            </a:pPr>
            <a:r>
              <a:rPr lang="en-US" sz="1100" dirty="0">
                <a:solidFill>
                  <a:srgbClr val="202124"/>
                </a:solidFill>
                <a:latin typeface="Courier New" pitchFamily="34" charset="0"/>
                <a:ea typeface="Courier New" pitchFamily="34" charset="-122"/>
                <a:cs typeface="Courier New" pitchFamily="34" charset="-120"/>
              </a:rPr>
              <a:t>].max().date())</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generacion.head()</a:t>
            </a:r>
            <a:endParaRPr lang="en-US" sz="1100" dirty="0"/>
          </a:p>
        </p:txBody>
      </p:sp>
      <p:sp>
        <p:nvSpPr>
          <p:cNvPr id="10" name="Shape 8"/>
          <p:cNvSpPr/>
          <p:nvPr/>
        </p:nvSpPr>
        <p:spPr>
          <a:xfrm>
            <a:off x="1325880" y="3255264"/>
            <a:ext cx="10314432" cy="786384"/>
          </a:xfrm>
          <a:prstGeom prst="rect">
            <a:avLst/>
          </a:prstGeom>
          <a:solidFill>
            <a:srgbClr val="FFFFFF"/>
          </a:solidFill>
          <a:ln w="12700">
            <a:solidFill>
              <a:srgbClr val="DADCE0"/>
            </a:solidFill>
            <a:prstDash val="solid"/>
          </a:ln>
        </p:spPr>
      </p:sp>
      <p:sp>
        <p:nvSpPr>
          <p:cNvPr id="11" name="Text 9"/>
          <p:cNvSpPr txBox="1"/>
          <p:nvPr/>
        </p:nvSpPr>
        <p:spPr>
          <a:xfrm>
            <a:off x="1463040" y="3328416"/>
            <a:ext cx="10085832" cy="658368"/>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y columnas (175680, 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Primer día       2024-01-01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Último día       2024-12-31</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325880" y="4133088"/>
          <a:ext cx="9144000" cy="914400"/>
        </p:xfrm>
        <a:graphic>
          <a:graphicData uri="http://schemas.openxmlformats.org/drawingml/2006/table">
            <a:tbl>
              <a:tblPr/>
              <a:tblGrid>
                <a:gridCol w="365760"/>
                <a:gridCol w="1188720"/>
                <a:gridCol w="822960"/>
                <a:gridCol w="2286000"/>
                <a:gridCol w="82296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mwh</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163.69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179.81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173.77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170.39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169.84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4" name="Text 10"/>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5" name="Shape 11"/>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6" name="Text 12"/>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7" name="Shape 13"/>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8" name="Text 14"/>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9" name="Shape 15"/>
          <p:cNvSpPr/>
          <p:nvPr/>
        </p:nvSpPr>
        <p:spPr>
          <a:xfrm>
            <a:off x="4736592" y="6062472"/>
            <a:ext cx="1810512" cy="566928"/>
          </a:xfrm>
          <a:prstGeom prst="roundRect">
            <a:avLst>
              <a:gd name="adj" fmla="val 11290"/>
            </a:avLst>
          </a:prstGeom>
          <a:solidFill>
            <a:srgbClr val="FEF3D6"/>
          </a:solidFill>
          <a:ln w="25400">
            <a:solidFill>
              <a:srgbClr val="F9AB00"/>
            </a:solidFill>
            <a:prstDash val="solid"/>
          </a:ln>
        </p:spPr>
      </p:sp>
      <p:sp>
        <p:nvSpPr>
          <p:cNvPr id="20" name="Text 16"/>
          <p:cNvSpPr txBox="1"/>
          <p:nvPr/>
        </p:nvSpPr>
        <p:spPr>
          <a:xfrm>
            <a:off x="482803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1" name="Shape 17"/>
          <p:cNvSpPr/>
          <p:nvPr/>
        </p:nvSpPr>
        <p:spPr>
          <a:xfrm>
            <a:off x="6684264" y="6062472"/>
            <a:ext cx="1330452" cy="566928"/>
          </a:xfrm>
          <a:prstGeom prst="roundRect">
            <a:avLst>
              <a:gd name="adj" fmla="val 11290"/>
            </a:avLst>
          </a:prstGeom>
          <a:solidFill>
            <a:srgbClr val="F1F3F4"/>
          </a:solidFill>
          <a:ln w="12700">
            <a:solidFill>
              <a:srgbClr val="DADCE0"/>
            </a:solidFill>
            <a:prstDash val="solid"/>
          </a:ln>
        </p:spPr>
      </p:sp>
      <p:sp>
        <p:nvSpPr>
          <p:cNvPr id="22" name="Text 18"/>
          <p:cNvSpPr txBox="1"/>
          <p:nvPr/>
        </p:nvSpPr>
        <p:spPr>
          <a:xfrm>
            <a:off x="67757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23" name="Shape 19"/>
          <p:cNvSpPr/>
          <p:nvPr/>
        </p:nvSpPr>
        <p:spPr>
          <a:xfrm>
            <a:off x="8151876" y="6062472"/>
            <a:ext cx="1234440" cy="566928"/>
          </a:xfrm>
          <a:prstGeom prst="roundRect">
            <a:avLst>
              <a:gd name="adj" fmla="val 11290"/>
            </a:avLst>
          </a:prstGeom>
          <a:solidFill>
            <a:srgbClr val="F1F3F4"/>
          </a:solidFill>
          <a:ln w="12700">
            <a:solidFill>
              <a:srgbClr val="DADCE0"/>
            </a:solidFill>
            <a:prstDash val="solid"/>
          </a:ln>
        </p:spPr>
      </p:sp>
      <p:sp>
        <p:nvSpPr>
          <p:cNvPr id="24" name="Text 20"/>
          <p:cNvSpPr txBox="1"/>
          <p:nvPr/>
        </p:nvSpPr>
        <p:spPr>
          <a:xfrm>
            <a:off x="8243316"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25" name="Text 21"/>
          <p:cNvSpPr txBox="1"/>
          <p:nvPr/>
        </p:nvSpPr>
        <p:spPr>
          <a:xfrm>
            <a:off x="9523476"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 más</a:t>
            </a:r>
            <a:endParaRPr lang="en-US" sz="1200" dirty="0"/>
          </a:p>
        </p:txBody>
      </p:sp>
      <p:sp>
        <p:nvSpPr>
          <p:cNvPr id="26" name="Text 22"/>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Son 175.680 filas, una por central y por hora de 2024.</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¿Cómo llega la generación de cada hora?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Antes de calcular, se mira cuántas filas hay y qué fechas cubre.</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20 centrales por 24 horas por 366 días dan 175.680. Si no calza, faltan o sobran datos.</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1810512"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17" name="Shape 14"/>
          <p:cNvSpPr/>
          <p:nvPr/>
        </p:nvSpPr>
        <p:spPr>
          <a:xfrm>
            <a:off x="6684264" y="6062472"/>
            <a:ext cx="133045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7757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19" name="Shape 16"/>
          <p:cNvSpPr/>
          <p:nvPr/>
        </p:nvSpPr>
        <p:spPr>
          <a:xfrm>
            <a:off x="8151876" y="6062472"/>
            <a:ext cx="123444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8243316"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21" name="Text 18"/>
          <p:cNvSpPr txBox="1"/>
          <p:nvPr/>
        </p:nvSpPr>
        <p:spPr>
          <a:xfrm>
            <a:off x="9523476"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 más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txBox="1"/>
          <p:nvPr/>
        </p:nvSpPr>
        <p:spPr>
          <a:xfrm>
            <a:off x="822960" y="1600200"/>
            <a:ext cx="10543032" cy="502920"/>
          </a:xfrm>
          <a:prstGeom prst="rect">
            <a:avLst/>
          </a:prstGeom>
          <a:noFill/>
          <a:ln/>
        </p:spPr>
        <p:txBody>
          <a:bodyPr wrap="square" lIns="0" tIns="0" rIns="0" bIns="0" rtlCol="0" anchor="ctr"/>
          <a:lstStyle/>
          <a:p>
            <a:pPr indent="0" marL="0">
              <a:buNone/>
            </a:pPr>
            <a:r>
              <a:rPr lang="en-US" sz="1600" b="1" spc="200" kern="0"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txBox="1"/>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Un día tiene 480 filas, 20 centrales por 24 horas. A tres centrales les falta la ficha.</a:t>
            </a:r>
            <a:endParaRPr lang="en-US" sz="2000" dirty="0"/>
          </a:p>
        </p:txBody>
      </p:sp>
      <p:sp>
        <p:nvSpPr>
          <p:cNvPr id="9" name="Text 7"/>
          <p:cNvSpPr txBox="1"/>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Con inner, ¿cuántas filas van a quedar después de unir?</a:t>
            </a:r>
            <a:endParaRPr lang="en-US" sz="3000" dirty="0"/>
          </a:p>
        </p:txBody>
      </p:sp>
      <p:sp>
        <p:nvSpPr>
          <p:cNvPr id="10" name="Shape 8"/>
          <p:cNvSpPr/>
          <p:nvPr/>
        </p:nvSpPr>
        <p:spPr>
          <a:xfrm>
            <a:off x="548640" y="4572000"/>
            <a:ext cx="3514344" cy="822960"/>
          </a:xfrm>
          <a:prstGeom prst="roundRect">
            <a:avLst>
              <a:gd name="adj" fmla="val 8889"/>
            </a:avLst>
          </a:prstGeom>
          <a:solidFill>
            <a:srgbClr val="FEF3D6"/>
          </a:solidFill>
          <a:ln w="19050">
            <a:solidFill>
              <a:srgbClr val="F9AB00"/>
            </a:solidFill>
            <a:prstDash val="solid"/>
          </a:ln>
        </p:spPr>
      </p:sp>
      <p:sp>
        <p:nvSpPr>
          <p:cNvPr id="11" name="Text 9"/>
          <p:cNvSpPr txBox="1"/>
          <p:nvPr/>
        </p:nvSpPr>
        <p:spPr>
          <a:xfrm>
            <a:off x="548640"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Las mismas 480</a:t>
            </a:r>
            <a:endParaRPr lang="en-US" sz="2000" dirty="0"/>
          </a:p>
        </p:txBody>
      </p:sp>
      <p:sp>
        <p:nvSpPr>
          <p:cNvPr id="12" name="Shape 10"/>
          <p:cNvSpPr/>
          <p:nvPr/>
        </p:nvSpPr>
        <p:spPr>
          <a:xfrm>
            <a:off x="4337304" y="4572000"/>
            <a:ext cx="3514344" cy="822960"/>
          </a:xfrm>
          <a:prstGeom prst="roundRect">
            <a:avLst>
              <a:gd name="adj" fmla="val 8889"/>
            </a:avLst>
          </a:prstGeom>
          <a:solidFill>
            <a:srgbClr val="FEF3D6"/>
          </a:solidFill>
          <a:ln w="19050">
            <a:solidFill>
              <a:srgbClr val="F9AB00"/>
            </a:solidFill>
            <a:prstDash val="solid"/>
          </a:ln>
        </p:spPr>
      </p:sp>
      <p:sp>
        <p:nvSpPr>
          <p:cNvPr id="13" name="Text 11"/>
          <p:cNvSpPr txBox="1"/>
          <p:nvPr/>
        </p:nvSpPr>
        <p:spPr>
          <a:xfrm>
            <a:off x="4337304"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Más de 480</a:t>
            </a:r>
            <a:endParaRPr lang="en-US" sz="2000" dirty="0"/>
          </a:p>
        </p:txBody>
      </p:sp>
      <p:sp>
        <p:nvSpPr>
          <p:cNvPr id="14" name="Shape 12"/>
          <p:cNvSpPr/>
          <p:nvPr/>
        </p:nvSpPr>
        <p:spPr>
          <a:xfrm>
            <a:off x="8125968" y="4572000"/>
            <a:ext cx="3514344" cy="822960"/>
          </a:xfrm>
          <a:prstGeom prst="roundRect">
            <a:avLst>
              <a:gd name="adj" fmla="val 8889"/>
            </a:avLst>
          </a:prstGeom>
          <a:solidFill>
            <a:srgbClr val="FEF3D6"/>
          </a:solidFill>
          <a:ln w="19050">
            <a:solidFill>
              <a:srgbClr val="F9AB00"/>
            </a:solidFill>
            <a:prstDash val="solid"/>
          </a:ln>
        </p:spPr>
      </p:sp>
      <p:sp>
        <p:nvSpPr>
          <p:cNvPr id="15" name="Text 13"/>
          <p:cNvSpPr txBox="1"/>
          <p:nvPr/>
        </p:nvSpPr>
        <p:spPr>
          <a:xfrm>
            <a:off x="8125968"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Menos de 480</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centrales conserva cada forma de unir.</a:t>
            </a:r>
            <a:endParaRPr lang="en-US" sz="1400" dirty="0"/>
          </a:p>
        </p:txBody>
      </p:sp>
      <p:pic>
        <p:nvPicPr>
          <p:cNvPr id="6" name="Image 0" descr="../work34/modulos/modulo01/img/lab01_paso4_conjuntos.png">    </p:cNvPr>
          <p:cNvPicPr>
            <a:picLocks noChangeAspect="1"/>
          </p:cNvPicPr>
          <p:nvPr/>
        </p:nvPicPr>
        <p:blipFill>
          <a:blip r:embed="rId1"/>
          <a:stretch>
            <a:fillRect/>
          </a:stretch>
        </p:blipFill>
        <p:spPr>
          <a:xfrm>
            <a:off x="1501852" y="1463040"/>
            <a:ext cx="9185247" cy="46177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le pasa a cada central al unir.</a:t>
            </a:r>
            <a:endParaRPr lang="en-US" sz="1400" dirty="0"/>
          </a:p>
        </p:txBody>
      </p:sp>
      <p:pic>
        <p:nvPicPr>
          <p:cNvPr id="6" name="Image 0" descr="../work34/modulos/modulo01/img/lab01_paso9_join.png">    </p:cNvPr>
          <p:cNvPicPr>
            <a:picLocks noChangeAspect="1"/>
          </p:cNvPicPr>
          <p:nvPr/>
        </p:nvPicPr>
        <p:blipFill>
          <a:blip r:embed="rId1"/>
          <a:stretch>
            <a:fillRect/>
          </a:stretch>
        </p:blipFill>
        <p:spPr>
          <a:xfrm>
            <a:off x="1988872" y="1463040"/>
            <a:ext cx="8211209" cy="46177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unir en la lista y vuelve a correr la celda. Compara cuántas filas hay antes y después de unir.</a:t>
            </a:r>
            <a:endParaRPr lang="en-US" sz="1400" dirty="0"/>
          </a:p>
        </p:txBody>
      </p:sp>
      <p:sp>
        <p:nvSpPr>
          <p:cNvPr id="7" name="Shape 4"/>
          <p:cNvSpPr/>
          <p:nvPr/>
        </p:nvSpPr>
        <p:spPr>
          <a:xfrm>
            <a:off x="548640" y="1481328"/>
            <a:ext cx="11091672" cy="3154680"/>
          </a:xfrm>
          <a:prstGeom prst="roundRect">
            <a:avLst>
              <a:gd name="adj" fmla="val 1739"/>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97180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4</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inner deja solo lo que está en las dos tablas.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left conserva toda la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como_unir = </a:t>
            </a:r>
            <a:pPr indent="0" marL="0">
              <a:buNone/>
            </a:pPr>
            <a:r>
              <a:rPr lang="en-US" sz="1300" dirty="0">
                <a:solidFill>
                  <a:srgbClr val="A31515"/>
                </a:solidFill>
                <a:latin typeface="Courier New" pitchFamily="34" charset="0"/>
                <a:ea typeface="Courier New" pitchFamily="34" charset="-122"/>
                <a:cs typeface="Courier New" pitchFamily="34" charset="-120"/>
              </a:rPr>
              <a:t>"inner"</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["inner", "left"]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generación de un solo día, con un filtro como el del Paso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un_dia = generacion[generacion[</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 </a:t>
            </a:r>
            <a:pPr indent="0" marL="0">
              <a:buNone/>
            </a:pPr>
            <a:r>
              <a:rPr lang="en-US" sz="1300" dirty="0">
                <a:solidFill>
                  <a:srgbClr val="A31515"/>
                </a:solidFill>
                <a:latin typeface="Courier New" pitchFamily="34" charset="0"/>
                <a:ea typeface="Courier New" pitchFamily="34" charset="-122"/>
                <a:cs typeface="Courier New" pitchFamily="34" charset="-120"/>
              </a:rPr>
              <a:t>"2024-06-15"</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planilla de fichas que mantiene otra área. Le faltan tres centrales.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"fichas.csv"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how=como_unir)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como_unir</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inner</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6725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81051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19" name="Shape 16"/>
          <p:cNvSpPr/>
          <p:nvPr/>
        </p:nvSpPr>
        <p:spPr>
          <a:xfrm>
            <a:off x="2496312" y="6062472"/>
            <a:ext cx="1330452"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58775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21" name="Shape 18"/>
          <p:cNvSpPr/>
          <p:nvPr/>
        </p:nvSpPr>
        <p:spPr>
          <a:xfrm>
            <a:off x="3963924" y="6062472"/>
            <a:ext cx="123444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4055364"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23" name="Shape 20"/>
          <p:cNvSpPr/>
          <p:nvPr/>
        </p:nvSpPr>
        <p:spPr>
          <a:xfrm>
            <a:off x="5335524" y="6062472"/>
            <a:ext cx="1426464"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426964"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5" name="Shape 22"/>
          <p:cNvSpPr/>
          <p:nvPr/>
        </p:nvSpPr>
        <p:spPr>
          <a:xfrm>
            <a:off x="6899148" y="6062472"/>
            <a:ext cx="1143000"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699058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7" name="Text 24"/>
          <p:cNvSpPr txBox="1"/>
          <p:nvPr/>
        </p:nvSpPr>
        <p:spPr>
          <a:xfrm>
            <a:off x="817930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 más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600" dirty="0">
                <a:solidFill>
                  <a:srgbClr val="A31515"/>
                </a:solidFill>
                <a:latin typeface="Courier New" pitchFamily="34" charset="0"/>
                <a:ea typeface="Courier New" pitchFamily="34" charset="-122"/>
                <a:cs typeface="Courier New" pitchFamily="34" charset="-120"/>
              </a:rPr>
              <a:t>"central"</a:t>
            </a:r>
            <a:pPr indent="0" marL="0">
              <a:buNone/>
            </a:pPr>
            <a:r>
              <a:rPr lang="en-US" sz="1600" dirty="0">
                <a:solidFill>
                  <a:srgbClr val="202124"/>
                </a:solidFill>
                <a:latin typeface="Courier New" pitchFamily="34" charset="0"/>
                <a:ea typeface="Courier New" pitchFamily="34" charset="-122"/>
                <a:cs typeface="Courier New" pitchFamily="34" charset="-120"/>
              </a:rPr>
              <a:t>, how=como_unir)</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pd.merge(un_dia, fichas, ...)</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Une dos tablas, la de la izquierda y la de la derecha.</a:t>
            </a:r>
            <a:endParaRPr lang="en-US" sz="1600" dirty="0"/>
          </a:p>
        </p:txBody>
      </p:sp>
      <p:sp>
        <p:nvSpPr>
          <p:cNvPr id="13" name="Shape 11"/>
          <p:cNvSpPr/>
          <p:nvPr/>
        </p:nvSpPr>
        <p:spPr>
          <a:xfrm>
            <a:off x="548640" y="3106928"/>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0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95148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on="central"</a:t>
            </a:r>
            <a:endParaRPr lang="en-US" sz="1400" dirty="0"/>
          </a:p>
        </p:txBody>
      </p:sp>
      <p:sp>
        <p:nvSpPr>
          <p:cNvPr id="17" name="Text 15"/>
          <p:cNvSpPr txBox="1"/>
          <p:nvPr/>
        </p:nvSpPr>
        <p:spPr>
          <a:xfrm>
            <a:off x="6263640" y="295148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que tienen en común y que se usa para buscar la pareja. Como el BUSCARV.</a:t>
            </a:r>
            <a:endParaRPr lang="en-US" sz="1600" dirty="0"/>
          </a:p>
        </p:txBody>
      </p:sp>
      <p:sp>
        <p:nvSpPr>
          <p:cNvPr id="18" name="Shape 16"/>
          <p:cNvSpPr/>
          <p:nvPr/>
        </p:nvSpPr>
        <p:spPr>
          <a:xfrm>
            <a:off x="548640" y="3838448"/>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838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83000"/>
            <a:ext cx="4937760" cy="640080"/>
          </a:xfrm>
          <a:prstGeom prst="roundRect">
            <a:avLst>
              <a:gd name="adj" fmla="val 7143"/>
            </a:avLst>
          </a:prstGeom>
          <a:solidFill>
            <a:srgbClr val="FDF0C8"/>
          </a:solidFill>
          <a:ln w="12700">
            <a:solidFill>
              <a:srgbClr val="FDF0C8"/>
            </a:solidFill>
            <a:prstDash val="solid"/>
          </a:ln>
        </p:spPr>
      </p:sp>
      <p:sp>
        <p:nvSpPr>
          <p:cNvPr id="21" name="Text 19"/>
          <p:cNvSpPr txBox="1"/>
          <p:nvPr/>
        </p:nvSpPr>
        <p:spPr>
          <a:xfrm>
            <a:off x="1170432" y="368300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how=como_unir</a:t>
            </a:r>
            <a:endParaRPr lang="en-US" sz="1400" dirty="0"/>
          </a:p>
        </p:txBody>
      </p:sp>
      <p:sp>
        <p:nvSpPr>
          <p:cNvPr id="22" name="Text 20"/>
          <p:cNvSpPr txBox="1"/>
          <p:nvPr/>
        </p:nvSpPr>
        <p:spPr>
          <a:xfrm>
            <a:off x="6263640" y="368300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Qué hacer con las filas sin pareja. inner las deja fuera, left conserva todas las de la izquierda.</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une la generación del día con las fichas usando la central, de la forma elegida.</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unir en la lista y vuelve a correr la celda. Compara cuántas filas hay antes y después de unir.</a:t>
            </a:r>
            <a:endParaRPr lang="en-US" sz="1400" dirty="0"/>
          </a:p>
        </p:txBody>
      </p:sp>
      <p:sp>
        <p:nvSpPr>
          <p:cNvPr id="6" name="Shape 4"/>
          <p:cNvSpPr/>
          <p:nvPr/>
        </p:nvSpPr>
        <p:spPr>
          <a:xfrm>
            <a:off x="548640" y="1481328"/>
            <a:ext cx="11091672" cy="3154680"/>
          </a:xfrm>
          <a:prstGeom prst="roundRect">
            <a:avLst>
              <a:gd name="adj" fmla="val 1739"/>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97180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4</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inner deja solo lo que está en las dos tablas.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left conserva toda la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como_unir = </a:t>
            </a:r>
            <a:pPr indent="0" marL="0">
              <a:buNone/>
            </a:pPr>
            <a:r>
              <a:rPr lang="en-US" sz="1300" dirty="0">
                <a:solidFill>
                  <a:srgbClr val="A31515"/>
                </a:solidFill>
                <a:latin typeface="Courier New" pitchFamily="34" charset="0"/>
                <a:ea typeface="Courier New" pitchFamily="34" charset="-122"/>
                <a:cs typeface="Courier New" pitchFamily="34" charset="-120"/>
              </a:rPr>
              <a:t>"inner"</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["inner", "left"]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generación de un solo día, con un filtro como el del Paso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un_dia = generacion[generacion[</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 </a:t>
            </a:r>
            <a:pPr indent="0" marL="0">
              <a:buNone/>
            </a:pPr>
            <a:r>
              <a:rPr lang="en-US" sz="1300" dirty="0">
                <a:solidFill>
                  <a:srgbClr val="A31515"/>
                </a:solidFill>
                <a:latin typeface="Courier New" pitchFamily="34" charset="0"/>
                <a:ea typeface="Courier New" pitchFamily="34" charset="-122"/>
                <a:cs typeface="Courier New" pitchFamily="34" charset="-120"/>
              </a:rPr>
              <a:t>"2024-06-15"</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planilla de fichas que mantiene otra área. Le faltan tres centrales.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"fichas.csv"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how=como_unir)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como_unir</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inner</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4745736"/>
            <a:ext cx="10314432" cy="585216"/>
          </a:xfrm>
          <a:prstGeom prst="rect">
            <a:avLst/>
          </a:prstGeom>
          <a:solidFill>
            <a:srgbClr val="FFFFFF"/>
          </a:solidFill>
          <a:ln w="12700">
            <a:solidFill>
              <a:srgbClr val="DADCE0"/>
            </a:solidFill>
            <a:prstDash val="solid"/>
          </a:ln>
        </p:spPr>
      </p:sp>
      <p:sp>
        <p:nvSpPr>
          <p:cNvPr id="15" name="Text 13"/>
          <p:cNvSpPr txBox="1"/>
          <p:nvPr/>
        </p:nvSpPr>
        <p:spPr>
          <a:xfrm>
            <a:off x="1463040" y="4818888"/>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antes de unir   480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después de unir 408</a:t>
            </a:r>
            <a:endParaRPr lang="en-US" sz="1200" dirty="0"/>
          </a:p>
        </p:txBody>
      </p:sp>
      <p:sp>
        <p:nvSpPr>
          <p:cNvPr id="17"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8" name="Shape 15"/>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9" name="Text 16"/>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0" name="Shape 17"/>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21" name="Text 18"/>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2" name="Shape 19"/>
          <p:cNvSpPr/>
          <p:nvPr/>
        </p:nvSpPr>
        <p:spPr>
          <a:xfrm>
            <a:off x="4736592" y="6062472"/>
            <a:ext cx="1810512"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482803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4" name="Shape 21"/>
          <p:cNvSpPr/>
          <p:nvPr/>
        </p:nvSpPr>
        <p:spPr>
          <a:xfrm>
            <a:off x="6684264" y="6062472"/>
            <a:ext cx="1143000" cy="566928"/>
          </a:xfrm>
          <a:prstGeom prst="roundRect">
            <a:avLst>
              <a:gd name="adj" fmla="val 11290"/>
            </a:avLst>
          </a:prstGeom>
          <a:solidFill>
            <a:srgbClr val="FEF3D6"/>
          </a:solidFill>
          <a:ln w="25400">
            <a:solidFill>
              <a:srgbClr val="F9AB00"/>
            </a:solidFill>
            <a:prstDash val="solid"/>
          </a:ln>
        </p:spPr>
      </p:sp>
      <p:sp>
        <p:nvSpPr>
          <p:cNvPr id="25" name="Text 22"/>
          <p:cNvSpPr txBox="1"/>
          <p:nvPr/>
        </p:nvSpPr>
        <p:spPr>
          <a:xfrm>
            <a:off x="6775704"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"inner"</a:t>
            </a:r>
            <a:endParaRPr lang="en-US" sz="1200" dirty="0"/>
          </a:p>
        </p:txBody>
      </p:sp>
      <p:sp>
        <p:nvSpPr>
          <p:cNvPr id="26" name="Shape 23"/>
          <p:cNvSpPr/>
          <p:nvPr/>
        </p:nvSpPr>
        <p:spPr>
          <a:xfrm>
            <a:off x="7964424" y="6062472"/>
            <a:ext cx="1522476" cy="566928"/>
          </a:xfrm>
          <a:prstGeom prst="roundRect">
            <a:avLst>
              <a:gd name="adj" fmla="val 11290"/>
            </a:avLst>
          </a:prstGeom>
          <a:solidFill>
            <a:srgbClr val="FEF3D6"/>
          </a:solidFill>
          <a:ln w="25400">
            <a:solidFill>
              <a:srgbClr val="F9AB00"/>
            </a:solidFill>
            <a:prstDash val="solid"/>
          </a:ln>
        </p:spPr>
      </p:sp>
      <p:sp>
        <p:nvSpPr>
          <p:cNvPr id="27" name="Text 24"/>
          <p:cNvSpPr txBox="1"/>
          <p:nvPr/>
        </p:nvSpPr>
        <p:spPr>
          <a:xfrm>
            <a:off x="805586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8" name="Text 25"/>
          <p:cNvSpPr txBox="1"/>
          <p:nvPr/>
        </p:nvSpPr>
        <p:spPr>
          <a:xfrm>
            <a:off x="962406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
        <p:nvSpPr>
          <p:cNvPr id="29" name="Text 26"/>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Con inner, las 480 filas del día quedaron en 408. Se perdieron 72 sin ningún aviso.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left en la lista y se vuelve a correr la celda.</a:t>
            </a:r>
            <a:endParaRPr lang="en-US" sz="1400" dirty="0"/>
          </a:p>
        </p:txBody>
      </p:sp>
      <p:sp>
        <p:nvSpPr>
          <p:cNvPr id="7" name="Shape 4"/>
          <p:cNvSpPr/>
          <p:nvPr/>
        </p:nvSpPr>
        <p:spPr>
          <a:xfrm>
            <a:off x="548640" y="1481328"/>
            <a:ext cx="11091672" cy="3154680"/>
          </a:xfrm>
          <a:prstGeom prst="roundRect">
            <a:avLst>
              <a:gd name="adj" fmla="val 1739"/>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97180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4</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inner deja solo lo que está en las dos tablas.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left conserva toda la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como_unir = </a:t>
            </a:r>
            <a:pPr indent="0" marL="0">
              <a:buNone/>
            </a:pPr>
            <a:r>
              <a:rPr lang="en-US" sz="1300" dirty="0">
                <a:solidFill>
                  <a:srgbClr val="A31515"/>
                </a:solidFill>
                <a:latin typeface="Courier New" pitchFamily="34" charset="0"/>
                <a:ea typeface="Courier New" pitchFamily="34" charset="-122"/>
                <a:cs typeface="Courier New" pitchFamily="34" charset="-120"/>
              </a:rPr>
              <a:t>"left"</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["inner", "left"]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generación de un solo día, con un filtro como el del Paso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un_dia = generacion[generacion[</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 </a:t>
            </a:r>
            <a:pPr indent="0" marL="0">
              <a:buNone/>
            </a:pPr>
            <a:r>
              <a:rPr lang="en-US" sz="1300" dirty="0">
                <a:solidFill>
                  <a:srgbClr val="A31515"/>
                </a:solidFill>
                <a:latin typeface="Courier New" pitchFamily="34" charset="0"/>
                <a:ea typeface="Courier New" pitchFamily="34" charset="-122"/>
                <a:cs typeface="Courier New" pitchFamily="34" charset="-120"/>
              </a:rPr>
              <a:t>"2024-06-15"</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planilla de fichas que mantiene otra área. Le faltan tres centrales.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"fichas.csv"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how=como_unir)</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como_unir</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left</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6725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52247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408 × 8</a:t>
            </a:r>
            <a:endParaRPr lang="en-US" sz="1200" dirty="0"/>
          </a:p>
        </p:txBody>
      </p:sp>
      <p:sp>
        <p:nvSpPr>
          <p:cNvPr id="19" name="Shape 16"/>
          <p:cNvSpPr/>
          <p:nvPr/>
        </p:nvSpPr>
        <p:spPr>
          <a:xfrm>
            <a:off x="2208276" y="6062472"/>
            <a:ext cx="1426464"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299716"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 × 5</a:t>
            </a:r>
            <a:endParaRPr lang="en-US" sz="1200" dirty="0"/>
          </a:p>
        </p:txBody>
      </p:sp>
      <p:sp>
        <p:nvSpPr>
          <p:cNvPr id="21" name="Shape 18"/>
          <p:cNvSpPr/>
          <p:nvPr/>
        </p:nvSpPr>
        <p:spPr>
          <a:xfrm>
            <a:off x="3771900" y="6062472"/>
            <a:ext cx="1522476"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863340"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3" name="Shape 20"/>
          <p:cNvSpPr/>
          <p:nvPr/>
        </p:nvSpPr>
        <p:spPr>
          <a:xfrm>
            <a:off x="5431536" y="6062472"/>
            <a:ext cx="11430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52297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"inner"</a:t>
            </a:r>
            <a:endParaRPr lang="en-US" sz="1200" dirty="0"/>
          </a:p>
        </p:txBody>
      </p:sp>
      <p:sp>
        <p:nvSpPr>
          <p:cNvPr id="25" name="Shape 22"/>
          <p:cNvSpPr/>
          <p:nvPr/>
        </p:nvSpPr>
        <p:spPr>
          <a:xfrm>
            <a:off x="6711696" y="6062472"/>
            <a:ext cx="1810512"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6803136"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7" name="Shape 24"/>
          <p:cNvSpPr/>
          <p:nvPr/>
        </p:nvSpPr>
        <p:spPr>
          <a:xfrm>
            <a:off x="8659368" y="6062472"/>
            <a:ext cx="1330452"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8750808"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29" name="Text 26"/>
          <p:cNvSpPr txBox="1"/>
          <p:nvPr/>
        </p:nvSpPr>
        <p:spPr>
          <a:xfrm>
            <a:off x="1012698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4 más</a:t>
            </a:r>
            <a:endParaRPr lang="en-US" sz="1200" dirty="0"/>
          </a:p>
        </p:txBody>
      </p:sp>
      <p:sp>
        <p:nvSpPr>
          <p:cNvPr id="30" name="Text 27"/>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une generación con fichas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left en la lista y se vuelve a correr la celda.</a:t>
            </a:r>
            <a:endParaRPr lang="en-US" sz="1400" dirty="0"/>
          </a:p>
        </p:txBody>
      </p:sp>
      <p:sp>
        <p:nvSpPr>
          <p:cNvPr id="6" name="Shape 4"/>
          <p:cNvSpPr/>
          <p:nvPr/>
        </p:nvSpPr>
        <p:spPr>
          <a:xfrm>
            <a:off x="548640" y="1481328"/>
            <a:ext cx="11091672" cy="2706624"/>
          </a:xfrm>
          <a:prstGeom prst="roundRect">
            <a:avLst>
              <a:gd name="adj" fmla="val 202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523744"/>
          </a:xfrm>
          <a:prstGeom prst="rect">
            <a:avLst/>
          </a:prstGeom>
          <a:noFill/>
          <a:ln/>
        </p:spPr>
        <p:txBody>
          <a:bodyPr wrap="square" lIns="0" tIns="0" rIns="0" bIns="0" rtlCol="0" anchor="t"/>
          <a:lstStyle/>
          <a:p>
            <a:pPr indent="0" marL="0">
              <a:buNone/>
            </a:pPr>
            <a:r>
              <a:rPr lang="en-US" sz="1100" i="1" dirty="0">
                <a:solidFill>
                  <a:srgbClr val="188038"/>
                </a:solidFill>
                <a:latin typeface="Courier New" pitchFamily="34" charset="0"/>
                <a:ea typeface="Courier New" pitchFamily="34" charset="-122"/>
                <a:cs typeface="Courier New" pitchFamily="34" charset="-120"/>
              </a:rPr>
              <a:t># Paso 4</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inner deja solo lo que está en las dos tablas.</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left conserva toda la generación.</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como_unir = </a:t>
            </a:r>
            <a:pPr indent="0" marL="0">
              <a:buNone/>
            </a:pPr>
            <a:r>
              <a:rPr lang="en-US" sz="1100" dirty="0">
                <a:solidFill>
                  <a:srgbClr val="A31515"/>
                </a:solidFill>
                <a:latin typeface="Courier New" pitchFamily="34" charset="0"/>
                <a:ea typeface="Courier New" pitchFamily="34" charset="-122"/>
                <a:cs typeface="Courier New" pitchFamily="34" charset="-120"/>
              </a:rPr>
              <a:t>"left"</a:t>
            </a:r>
            <a:pPr indent="0" marL="0">
              <a:buNone/>
            </a:pPr>
            <a:r>
              <a:rPr lang="en-US" sz="1100" dirty="0">
                <a:solidFill>
                  <a:srgbClr val="202124"/>
                </a:solidFill>
                <a:latin typeface="Courier New" pitchFamily="34" charset="0"/>
                <a:ea typeface="Courier New" pitchFamily="34" charset="-122"/>
                <a:cs typeface="Courier New" pitchFamily="34" charset="-120"/>
              </a:rPr>
              <a:t> </a:t>
            </a:r>
            <a:pPr indent="0" marL="0">
              <a:buNone/>
            </a:pPr>
            <a:r>
              <a:rPr lang="en-US" sz="1100" dirty="0">
                <a:solidFill>
                  <a:srgbClr val="80868B"/>
                </a:solidFill>
                <a:latin typeface="Courier New" pitchFamily="34" charset="0"/>
                <a:ea typeface="Courier New" pitchFamily="34" charset="-122"/>
                <a:cs typeface="Courier New" pitchFamily="34" charset="-120"/>
              </a:rPr>
              <a:t>#@param ["inner", "left"]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La generación de un solo día, con un filtro como el del Paso 2.</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un_dia = generacion[generacion[</a:t>
            </a:r>
            <a:pPr indent="0" marL="0">
              <a:buNone/>
            </a:pPr>
            <a:r>
              <a:rPr lang="en-US" sz="1100" dirty="0">
                <a:solidFill>
                  <a:srgbClr val="A31515"/>
                </a:solidFill>
                <a:latin typeface="Courier New" pitchFamily="34" charset="0"/>
                <a:ea typeface="Courier New" pitchFamily="34" charset="-122"/>
                <a:cs typeface="Courier New" pitchFamily="34" charset="-120"/>
              </a:rPr>
              <a:t>"fecha"</a:t>
            </a:r>
            <a:pPr indent="0" marL="0">
              <a:buNone/>
            </a:pPr>
            <a:r>
              <a:rPr lang="en-US" sz="1100" dirty="0">
                <a:solidFill>
                  <a:srgbClr val="202124"/>
                </a:solidFill>
                <a:latin typeface="Courier New" pitchFamily="34" charset="0"/>
                <a:ea typeface="Courier New" pitchFamily="34" charset="-122"/>
                <a:cs typeface="Courier New" pitchFamily="34" charset="-120"/>
              </a:rPr>
              <a:t>] == </a:t>
            </a:r>
            <a:pPr indent="0" marL="0">
              <a:buNone/>
            </a:pPr>
            <a:r>
              <a:rPr lang="en-US" sz="1100" dirty="0">
                <a:solidFill>
                  <a:srgbClr val="A31515"/>
                </a:solidFill>
                <a:latin typeface="Courier New" pitchFamily="34" charset="0"/>
                <a:ea typeface="Courier New" pitchFamily="34" charset="-122"/>
                <a:cs typeface="Courier New" pitchFamily="34" charset="-120"/>
              </a:rPr>
              <a:t>"2024-06-15"</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La planilla de fichas que mantiene otra área. Le faltan tres centrales.</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fichas = pd.read_csv(DATOS + </a:t>
            </a:r>
            <a:pPr indent="0" marL="0">
              <a:buNone/>
            </a:pPr>
            <a:r>
              <a:rPr lang="en-US" sz="1100" dirty="0">
                <a:solidFill>
                  <a:srgbClr val="A31515"/>
                </a:solidFill>
                <a:latin typeface="Courier New" pitchFamily="34" charset="0"/>
                <a:ea typeface="Courier New" pitchFamily="34" charset="-122"/>
                <a:cs typeface="Courier New" pitchFamily="34" charset="-120"/>
              </a:rPr>
              <a:t>"fichas.csv"</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100" dirty="0">
                <a:solidFill>
                  <a:srgbClr val="A31515"/>
                </a:solidFill>
                <a:latin typeface="Courier New" pitchFamily="34" charset="0"/>
                <a:ea typeface="Courier New" pitchFamily="34" charset="-122"/>
                <a:cs typeface="Courier New" pitchFamily="34" charset="-120"/>
              </a:rPr>
              <a:t>"central"</a:t>
            </a:r>
            <a:pPr indent="0" marL="0">
              <a:buNone/>
            </a:pPr>
            <a:r>
              <a:rPr lang="en-US" sz="1100" dirty="0">
                <a:solidFill>
                  <a:srgbClr val="202124"/>
                </a:solidFill>
                <a:latin typeface="Courier New" pitchFamily="34" charset="0"/>
                <a:ea typeface="Courier New" pitchFamily="34" charset="-122"/>
                <a:cs typeface="Courier New" pitchFamily="34" charset="-120"/>
              </a:rPr>
              <a:t>, how=como_unir)</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100" dirty="0">
                <a:solidFill>
                  <a:srgbClr val="202124"/>
                </a:solidFill>
                <a:latin typeface="Courier New" pitchFamily="34" charset="0"/>
                <a:ea typeface="Courier New" pitchFamily="34" charset="-122"/>
                <a:cs typeface="Courier New" pitchFamily="34" charset="-120"/>
              </a:rPr>
              <a:t>, len(un_dia))</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100" dirty="0">
                <a:solidFill>
                  <a:srgbClr val="202124"/>
                </a:solidFill>
                <a:latin typeface="Courier New" pitchFamily="34" charset="0"/>
                <a:ea typeface="Courier New" pitchFamily="34" charset="-122"/>
                <a:cs typeface="Courier New" pitchFamily="34" charset="-120"/>
              </a:rPr>
              <a:t>, len(unido))</a:t>
            </a:r>
            <a:endParaRPr lang="en-US" sz="11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como_unir</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left</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4297680"/>
            <a:ext cx="10314432" cy="585216"/>
          </a:xfrm>
          <a:prstGeom prst="rect">
            <a:avLst/>
          </a:prstGeom>
          <a:solidFill>
            <a:srgbClr val="FFFFFF"/>
          </a:solidFill>
          <a:ln w="12700">
            <a:solidFill>
              <a:srgbClr val="DADCE0"/>
            </a:solidFill>
            <a:prstDash val="solid"/>
          </a:ln>
        </p:spPr>
      </p:sp>
      <p:sp>
        <p:nvSpPr>
          <p:cNvPr id="15" name="Text 13"/>
          <p:cNvSpPr txBox="1"/>
          <p:nvPr/>
        </p:nvSpPr>
        <p:spPr>
          <a:xfrm>
            <a:off x="1463040" y="4370832"/>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antes de unir   480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después de unir 480</a:t>
            </a:r>
            <a:endParaRPr lang="en-US" sz="1200" dirty="0"/>
          </a:p>
        </p:txBody>
      </p:sp>
      <p:sp>
        <p:nvSpPr>
          <p:cNvPr id="16" name="Shape 14"/>
          <p:cNvSpPr/>
          <p:nvPr/>
        </p:nvSpPr>
        <p:spPr>
          <a:xfrm>
            <a:off x="1325880" y="5020056"/>
            <a:ext cx="10314432" cy="566928"/>
          </a:xfrm>
          <a:prstGeom prst="roundRect">
            <a:avLst>
              <a:gd name="adj" fmla="val 9677"/>
            </a:avLst>
          </a:prstGeom>
          <a:solidFill>
            <a:srgbClr val="FFF8D6"/>
          </a:solidFill>
          <a:ln w="12700">
            <a:solidFill>
              <a:srgbClr val="FFF8D6"/>
            </a:solidFill>
            <a:prstDash val="solid"/>
          </a:ln>
        </p:spPr>
      </p:sp>
      <p:sp>
        <p:nvSpPr>
          <p:cNvPr id="17" name="Text 15"/>
          <p:cNvSpPr txBox="1"/>
          <p:nvPr/>
        </p:nvSpPr>
        <p:spPr>
          <a:xfrm>
            <a:off x="1508760" y="5020056"/>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Antes y después de unir, se cuentan las filas.  </a:t>
            </a:r>
            <a:pPr indent="0" marL="0">
              <a:buNone/>
            </a:pPr>
            <a:r>
              <a:rPr lang="en-US" sz="1400" dirty="0">
                <a:solidFill>
                  <a:srgbClr val="202124"/>
                </a:solidFill>
                <a:latin typeface="Calibri" pitchFamily="34" charset="0"/>
                <a:ea typeface="Calibri" pitchFamily="34" charset="-122"/>
                <a:cs typeface="Calibri" pitchFamily="34" charset="-120"/>
              </a:rPr>
              <a:t>Si cambiaron, algo se perdió o se duplicó en la unión.</a:t>
            </a:r>
            <a:endParaRPr lang="en-US" sz="1400" dirty="0"/>
          </a:p>
        </p:txBody>
      </p:sp>
      <p:sp>
        <p:nvSpPr>
          <p:cNvPr id="19" name="Text 16"/>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0" name="Shape 17"/>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21" name="Text 18"/>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2" name="Shape 19"/>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4" name="Shape 21"/>
          <p:cNvSpPr/>
          <p:nvPr/>
        </p:nvSpPr>
        <p:spPr>
          <a:xfrm>
            <a:off x="4736592" y="6062472"/>
            <a:ext cx="1810512" cy="566928"/>
          </a:xfrm>
          <a:prstGeom prst="roundRect">
            <a:avLst>
              <a:gd name="adj" fmla="val 11290"/>
            </a:avLst>
          </a:prstGeom>
          <a:solidFill>
            <a:srgbClr val="E8F0FE"/>
          </a:solidFill>
          <a:ln w="28575">
            <a:solidFill>
              <a:srgbClr val="1A73E8"/>
            </a:solidFill>
            <a:prstDash val="solid"/>
          </a:ln>
        </p:spPr>
      </p:sp>
      <p:sp>
        <p:nvSpPr>
          <p:cNvPr id="25" name="Text 22"/>
          <p:cNvSpPr txBox="1"/>
          <p:nvPr/>
        </p:nvSpPr>
        <p:spPr>
          <a:xfrm>
            <a:off x="482803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6" name="Shape 23"/>
          <p:cNvSpPr/>
          <p:nvPr/>
        </p:nvSpPr>
        <p:spPr>
          <a:xfrm>
            <a:off x="6684264" y="6062472"/>
            <a:ext cx="1143000" cy="566928"/>
          </a:xfrm>
          <a:prstGeom prst="roundRect">
            <a:avLst>
              <a:gd name="adj" fmla="val 11290"/>
            </a:avLst>
          </a:prstGeom>
          <a:solidFill>
            <a:srgbClr val="FEF3D6"/>
          </a:solidFill>
          <a:ln w="25400">
            <a:solidFill>
              <a:srgbClr val="F9AB00"/>
            </a:solidFill>
            <a:prstDash val="solid"/>
          </a:ln>
        </p:spPr>
      </p:sp>
      <p:sp>
        <p:nvSpPr>
          <p:cNvPr id="27" name="Text 24"/>
          <p:cNvSpPr txBox="1"/>
          <p:nvPr/>
        </p:nvSpPr>
        <p:spPr>
          <a:xfrm>
            <a:off x="6775704"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"left"</a:t>
            </a:r>
            <a:endParaRPr lang="en-US" sz="1200" dirty="0"/>
          </a:p>
        </p:txBody>
      </p:sp>
      <p:sp>
        <p:nvSpPr>
          <p:cNvPr id="28" name="Shape 25"/>
          <p:cNvSpPr/>
          <p:nvPr/>
        </p:nvSpPr>
        <p:spPr>
          <a:xfrm>
            <a:off x="7964424" y="6062472"/>
            <a:ext cx="1522476" cy="566928"/>
          </a:xfrm>
          <a:prstGeom prst="roundRect">
            <a:avLst>
              <a:gd name="adj" fmla="val 11290"/>
            </a:avLst>
          </a:prstGeom>
          <a:solidFill>
            <a:srgbClr val="E8F0FE"/>
          </a:solidFill>
          <a:ln w="28575">
            <a:solidFill>
              <a:srgbClr val="1A73E8"/>
            </a:solidFill>
            <a:prstDash val="solid"/>
          </a:ln>
        </p:spPr>
      </p:sp>
      <p:sp>
        <p:nvSpPr>
          <p:cNvPr id="29" name="Text 26"/>
          <p:cNvSpPr txBox="1"/>
          <p:nvPr/>
        </p:nvSpPr>
        <p:spPr>
          <a:xfrm>
            <a:off x="805586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30" name="Text 27"/>
          <p:cNvSpPr txBox="1"/>
          <p:nvPr/>
        </p:nvSpPr>
        <p:spPr>
          <a:xfrm>
            <a:off x="962406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
        <p:nvSpPr>
          <p:cNvPr id="31" name="Text 28"/>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Con left no se pierde ninguna fila. Las centrales sin ficha quedan con la ficha vacía.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txBox="1"/>
          <p:nvPr/>
        </p:nvSpPr>
        <p:spPr>
          <a:xfrm>
            <a:off x="822960" y="1600200"/>
            <a:ext cx="10543032" cy="502920"/>
          </a:xfrm>
          <a:prstGeom prst="rect">
            <a:avLst/>
          </a:prstGeom>
          <a:noFill/>
          <a:ln/>
        </p:spPr>
        <p:txBody>
          <a:bodyPr wrap="square" lIns="0" tIns="0" rIns="0" bIns="0" rtlCol="0" anchor="ctr"/>
          <a:lstStyle/>
          <a:p>
            <a:pPr indent="0" marL="0">
              <a:buNone/>
            </a:pPr>
            <a:r>
              <a:rPr lang="en-US" sz="1600" b="1" spc="200" kern="0"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txBox="1"/>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Un día tiene 480 filas, 20 centrales por 24 horas. En fichas_repetidas.csv dos centrales vienen anotadas dos veces.</a:t>
            </a:r>
            <a:endParaRPr lang="en-US" sz="2000" dirty="0"/>
          </a:p>
        </p:txBody>
      </p:sp>
      <p:sp>
        <p:nvSpPr>
          <p:cNvPr id="9" name="Text 7"/>
          <p:cNvSpPr txBox="1"/>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Después de unir con esa planilla, ¿las filas suben, bajan o quedan igual?</a:t>
            </a:r>
            <a:endParaRPr lang="en-US" sz="3000" dirty="0"/>
          </a:p>
        </p:txBody>
      </p:sp>
      <p:sp>
        <p:nvSpPr>
          <p:cNvPr id="10" name="Shape 8"/>
          <p:cNvSpPr/>
          <p:nvPr/>
        </p:nvSpPr>
        <p:spPr>
          <a:xfrm>
            <a:off x="548640" y="4572000"/>
            <a:ext cx="3514344" cy="822960"/>
          </a:xfrm>
          <a:prstGeom prst="roundRect">
            <a:avLst>
              <a:gd name="adj" fmla="val 8889"/>
            </a:avLst>
          </a:prstGeom>
          <a:solidFill>
            <a:srgbClr val="FEF3D6"/>
          </a:solidFill>
          <a:ln w="19050">
            <a:solidFill>
              <a:srgbClr val="F9AB00"/>
            </a:solidFill>
            <a:prstDash val="solid"/>
          </a:ln>
        </p:spPr>
      </p:sp>
      <p:sp>
        <p:nvSpPr>
          <p:cNvPr id="11" name="Text 9"/>
          <p:cNvSpPr txBox="1"/>
          <p:nvPr/>
        </p:nvSpPr>
        <p:spPr>
          <a:xfrm>
            <a:off x="548640"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Suben</a:t>
            </a:r>
            <a:endParaRPr lang="en-US" sz="2000" dirty="0"/>
          </a:p>
        </p:txBody>
      </p:sp>
      <p:sp>
        <p:nvSpPr>
          <p:cNvPr id="12" name="Shape 10"/>
          <p:cNvSpPr/>
          <p:nvPr/>
        </p:nvSpPr>
        <p:spPr>
          <a:xfrm>
            <a:off x="4337304" y="4572000"/>
            <a:ext cx="3514344" cy="822960"/>
          </a:xfrm>
          <a:prstGeom prst="roundRect">
            <a:avLst>
              <a:gd name="adj" fmla="val 8889"/>
            </a:avLst>
          </a:prstGeom>
          <a:solidFill>
            <a:srgbClr val="FEF3D6"/>
          </a:solidFill>
          <a:ln w="19050">
            <a:solidFill>
              <a:srgbClr val="F9AB00"/>
            </a:solidFill>
            <a:prstDash val="solid"/>
          </a:ln>
        </p:spPr>
      </p:sp>
      <p:sp>
        <p:nvSpPr>
          <p:cNvPr id="13" name="Text 11"/>
          <p:cNvSpPr txBox="1"/>
          <p:nvPr/>
        </p:nvSpPr>
        <p:spPr>
          <a:xfrm>
            <a:off x="4337304"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Bajan</a:t>
            </a:r>
            <a:endParaRPr lang="en-US" sz="2000" dirty="0"/>
          </a:p>
        </p:txBody>
      </p:sp>
      <p:sp>
        <p:nvSpPr>
          <p:cNvPr id="14" name="Shape 12"/>
          <p:cNvSpPr/>
          <p:nvPr/>
        </p:nvSpPr>
        <p:spPr>
          <a:xfrm>
            <a:off x="8125968" y="4572000"/>
            <a:ext cx="3514344" cy="822960"/>
          </a:xfrm>
          <a:prstGeom prst="roundRect">
            <a:avLst>
              <a:gd name="adj" fmla="val 8889"/>
            </a:avLst>
          </a:prstGeom>
          <a:solidFill>
            <a:srgbClr val="FEF3D6"/>
          </a:solidFill>
          <a:ln w="19050">
            <a:solidFill>
              <a:srgbClr val="F9AB00"/>
            </a:solidFill>
            <a:prstDash val="solid"/>
          </a:ln>
        </p:spPr>
      </p:sp>
      <p:sp>
        <p:nvSpPr>
          <p:cNvPr id="15" name="Text 13"/>
          <p:cNvSpPr txBox="1"/>
          <p:nvPr/>
        </p:nvSpPr>
        <p:spPr>
          <a:xfrm>
            <a:off x="8125968"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Quedan igual</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pasa si una ficha viene dos veces.</a:t>
            </a:r>
            <a:endParaRPr lang="en-US" sz="1400" dirty="0"/>
          </a:p>
        </p:txBody>
      </p:sp>
      <p:pic>
        <p:nvPicPr>
          <p:cNvPr id="6" name="Image 0" descr="../work34/modulos/modulo01/img/lab01_paso10_repetidas.png">    </p:cNvPr>
          <p:cNvPicPr>
            <a:picLocks noChangeAspect="1"/>
          </p:cNvPicPr>
          <p:nvPr/>
        </p:nvPicPr>
        <p:blipFill>
          <a:blip r:embed="rId1"/>
          <a:stretch>
            <a:fillRect/>
          </a:stretch>
        </p:blipFill>
        <p:spPr>
          <a:xfrm>
            <a:off x="613468" y="1463040"/>
            <a:ext cx="10962015" cy="46177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fichas.csv y mira cuántas filas quedan. Después elige fichas_repetidas.csv en la lista y vuelve a correrla.</a:t>
            </a:r>
            <a:endParaRPr lang="en-US" sz="1400" dirty="0"/>
          </a:p>
        </p:txBody>
      </p:sp>
      <p:sp>
        <p:nvSpPr>
          <p:cNvPr id="7" name="Shape 4"/>
          <p:cNvSpPr/>
          <p:nvPr/>
        </p:nvSpPr>
        <p:spPr>
          <a:xfrm>
            <a:off x="548640" y="1481328"/>
            <a:ext cx="11091672" cy="2331720"/>
          </a:xfrm>
          <a:prstGeom prst="roundRect">
            <a:avLst>
              <a:gd name="adj" fmla="val 2353"/>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14884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fichas_repetidas.csv es la misma planilla, pero con dos centrales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anotadas dos veces, como a veces llega en la práctica.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archivo = </a:t>
            </a:r>
            <a:pPr indent="0" marL="0">
              <a:buNone/>
            </a:pPr>
            <a:r>
              <a:rPr lang="en-US" sz="1300" dirty="0">
                <a:solidFill>
                  <a:srgbClr val="A31515"/>
                </a:solidFill>
                <a:latin typeface="Courier New" pitchFamily="34" charset="0"/>
                <a:ea typeface="Courier New" pitchFamily="34" charset="-122"/>
                <a:cs typeface="Courier New" pitchFamily="34" charset="-120"/>
              </a:rPr>
              <a:t>"fichas.csv"</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["fichas.csv", "fichas_repetidas.csv"]</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archivo)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a:t>
            </a:r>
            <a:pPr indent="0" marL="0">
              <a:buNone/>
            </a:pPr>
            <a:r>
              <a:rPr lang="en-US" sz="1300" dirty="0">
                <a:solidFill>
                  <a:srgbClr val="A31515"/>
                </a:solidFill>
                <a:latin typeface="Courier New" pitchFamily="34" charset="0"/>
                <a:ea typeface="Courier New" pitchFamily="34" charset="-122"/>
                <a:cs typeface="Courier New" pitchFamily="34" charset="-120"/>
              </a:rPr>
              <a:t>"left"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"Fichas en la planilla"</a:t>
            </a:r>
            <a:pPr indent="0" marL="0">
              <a:buNone/>
            </a:pPr>
            <a:r>
              <a:rPr lang="en-US" sz="1300" dirty="0">
                <a:solidFill>
                  <a:srgbClr val="202124"/>
                </a:solidFill>
                <a:latin typeface="Courier New" pitchFamily="34" charset="0"/>
                <a:ea typeface="Courier New" pitchFamily="34" charset="-122"/>
                <a:cs typeface="Courier New" pitchFamily="34" charset="-120"/>
              </a:rPr>
              <a:t>, len(fichas))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archivo</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fichas.csv</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84962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52247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8</a:t>
            </a:r>
            <a:endParaRPr lang="en-US" sz="1200" dirty="0"/>
          </a:p>
        </p:txBody>
      </p:sp>
      <p:sp>
        <p:nvSpPr>
          <p:cNvPr id="19" name="Shape 16"/>
          <p:cNvSpPr/>
          <p:nvPr/>
        </p:nvSpPr>
        <p:spPr>
          <a:xfrm>
            <a:off x="2208276" y="6062472"/>
            <a:ext cx="1426464"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299716"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 × 5</a:t>
            </a:r>
            <a:endParaRPr lang="en-US" sz="1200" dirty="0"/>
          </a:p>
        </p:txBody>
      </p:sp>
      <p:sp>
        <p:nvSpPr>
          <p:cNvPr id="21" name="Shape 18"/>
          <p:cNvSpPr/>
          <p:nvPr/>
        </p:nvSpPr>
        <p:spPr>
          <a:xfrm>
            <a:off x="3771900" y="6062472"/>
            <a:ext cx="1522476"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863340"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3" name="Shape 20"/>
          <p:cNvSpPr/>
          <p:nvPr/>
        </p:nvSpPr>
        <p:spPr>
          <a:xfrm>
            <a:off x="5431536" y="6062472"/>
            <a:ext cx="11430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52297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"left"</a:t>
            </a:r>
            <a:endParaRPr lang="en-US" sz="1200" dirty="0"/>
          </a:p>
        </p:txBody>
      </p:sp>
      <p:sp>
        <p:nvSpPr>
          <p:cNvPr id="25" name="Shape 22"/>
          <p:cNvSpPr/>
          <p:nvPr/>
        </p:nvSpPr>
        <p:spPr>
          <a:xfrm>
            <a:off x="6711696" y="6062472"/>
            <a:ext cx="1810512"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6803136"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7" name="Shape 24"/>
          <p:cNvSpPr/>
          <p:nvPr/>
        </p:nvSpPr>
        <p:spPr>
          <a:xfrm>
            <a:off x="8659368" y="6062472"/>
            <a:ext cx="1330452"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8750808"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filtradas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 × 5</a:t>
            </a:r>
            <a:endParaRPr lang="en-US" sz="1200" dirty="0"/>
          </a:p>
        </p:txBody>
      </p:sp>
      <p:sp>
        <p:nvSpPr>
          <p:cNvPr id="29" name="Text 26"/>
          <p:cNvSpPr txBox="1"/>
          <p:nvPr/>
        </p:nvSpPr>
        <p:spPr>
          <a:xfrm>
            <a:off x="1012698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4 más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fichas = pd.read_csv(DATOS + archivo)</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archivo</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nombre elegido en la lista, fichas.csv o fichas_repetidas.csv.</a:t>
            </a:r>
            <a:endParaRPr lang="en-US" sz="1600" dirty="0"/>
          </a:p>
        </p:txBody>
      </p:sp>
      <p:sp>
        <p:nvSpPr>
          <p:cNvPr id="13" name="Shape 11"/>
          <p:cNvSpPr/>
          <p:nvPr/>
        </p:nvSpPr>
        <p:spPr>
          <a:xfrm>
            <a:off x="548640" y="3106928"/>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0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95148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DATOS + archivo</a:t>
            </a:r>
            <a:endParaRPr lang="en-US" sz="1400" dirty="0"/>
          </a:p>
        </p:txBody>
      </p:sp>
      <p:sp>
        <p:nvSpPr>
          <p:cNvPr id="17" name="Text 15"/>
          <p:cNvSpPr txBox="1"/>
          <p:nvPr/>
        </p:nvSpPr>
        <p:spPr>
          <a:xfrm>
            <a:off x="6263640" y="295148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signo más junta la carpeta con el nombre del archivo, como en el Paso 1.</a:t>
            </a:r>
            <a:endParaRPr lang="en-US" sz="1600" dirty="0"/>
          </a:p>
        </p:txBody>
      </p:sp>
      <p:sp>
        <p:nvSpPr>
          <p:cNvPr id="18" name="Shape 16"/>
          <p:cNvSpPr/>
          <p:nvPr/>
        </p:nvSpPr>
        <p:spPr>
          <a:xfrm>
            <a:off x="548640" y="3783584"/>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8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83000"/>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68300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pd.read_csv( ... )</a:t>
            </a:r>
            <a:endParaRPr lang="en-US" sz="1400" dirty="0"/>
          </a:p>
        </p:txBody>
      </p:sp>
      <p:sp>
        <p:nvSpPr>
          <p:cNvPr id="22" name="Text 20"/>
          <p:cNvSpPr txBox="1"/>
          <p:nvPr/>
        </p:nvSpPr>
        <p:spPr>
          <a:xfrm>
            <a:off x="6263640" y="368300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Lee la planilla elegida.</a:t>
            </a:r>
            <a:endParaRPr lang="en-US" sz="1600" dirty="0"/>
          </a:p>
        </p:txBody>
      </p:sp>
      <p:sp>
        <p:nvSpPr>
          <p:cNvPr id="23" name="Shape 21"/>
          <p:cNvSpPr/>
          <p:nvPr/>
        </p:nvSpPr>
        <p:spPr>
          <a:xfrm>
            <a:off x="548640" y="4460240"/>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4602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04792"/>
            <a:ext cx="4937760" cy="640080"/>
          </a:xfrm>
          <a:prstGeom prst="roundRect">
            <a:avLst>
              <a:gd name="adj" fmla="val 7143"/>
            </a:avLst>
          </a:prstGeom>
          <a:solidFill>
            <a:srgbClr val="ECE2FA"/>
          </a:solidFill>
          <a:ln w="12700">
            <a:solidFill>
              <a:srgbClr val="ECE2FA"/>
            </a:solidFill>
            <a:prstDash val="solid"/>
          </a:ln>
        </p:spPr>
      </p:sp>
      <p:sp>
        <p:nvSpPr>
          <p:cNvPr id="26" name="Text 24"/>
          <p:cNvSpPr txBox="1"/>
          <p:nvPr/>
        </p:nvSpPr>
        <p:spPr>
          <a:xfrm>
            <a:off x="1170432" y="430479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fichas =</a:t>
            </a:r>
            <a:endParaRPr lang="en-US" sz="1400" dirty="0"/>
          </a:p>
        </p:txBody>
      </p:sp>
      <p:sp>
        <p:nvSpPr>
          <p:cNvPr id="27" name="Text 25"/>
          <p:cNvSpPr txBox="1"/>
          <p:nvPr/>
        </p:nvSpPr>
        <p:spPr>
          <a:xfrm>
            <a:off x="6263640" y="430479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guarda con el nombre fichas, en lugar de la anterior.</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lee la planilla elegida en la lista y guárdala como fichas.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con fichas.csv y mira cuántas filas quedan. Después elige fichas_repetidas.csv en la lista y vuelve a correrla.</a:t>
            </a:r>
            <a:endParaRPr lang="en-US" sz="1400" dirty="0"/>
          </a:p>
        </p:txBody>
      </p:sp>
      <p:sp>
        <p:nvSpPr>
          <p:cNvPr id="6" name="Shape 4"/>
          <p:cNvSpPr/>
          <p:nvPr/>
        </p:nvSpPr>
        <p:spPr>
          <a:xfrm>
            <a:off x="548640" y="1481328"/>
            <a:ext cx="11091672" cy="2331720"/>
          </a:xfrm>
          <a:prstGeom prst="roundRect">
            <a:avLst>
              <a:gd name="adj" fmla="val 2353"/>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14884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fichas_repetidas.csv es la misma planilla, pero con dos centrales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anotadas dos veces, como a veces llega en la práctica.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archivo = </a:t>
            </a:r>
            <a:pPr indent="0" marL="0">
              <a:buNone/>
            </a:pPr>
            <a:r>
              <a:rPr lang="en-US" sz="1300" dirty="0">
                <a:solidFill>
                  <a:srgbClr val="A31515"/>
                </a:solidFill>
                <a:latin typeface="Courier New" pitchFamily="34" charset="0"/>
                <a:ea typeface="Courier New" pitchFamily="34" charset="-122"/>
                <a:cs typeface="Courier New" pitchFamily="34" charset="-120"/>
              </a:rPr>
              <a:t>"fichas.csv"</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["fichas.csv", "fichas_repetidas.csv"]</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archivo)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a:t>
            </a:r>
            <a:pPr indent="0" marL="0">
              <a:buNone/>
            </a:pPr>
            <a:r>
              <a:rPr lang="en-US" sz="1300" dirty="0">
                <a:solidFill>
                  <a:srgbClr val="A31515"/>
                </a:solidFill>
                <a:latin typeface="Courier New" pitchFamily="34" charset="0"/>
                <a:ea typeface="Courier New" pitchFamily="34" charset="-122"/>
                <a:cs typeface="Courier New" pitchFamily="34" charset="-120"/>
              </a:rPr>
              <a:t>"left"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"Fichas en la planilla"</a:t>
            </a:r>
            <a:pPr indent="0" marL="0">
              <a:buNone/>
            </a:pPr>
            <a:r>
              <a:rPr lang="en-US" sz="1300" dirty="0">
                <a:solidFill>
                  <a:srgbClr val="202124"/>
                </a:solidFill>
                <a:latin typeface="Courier New" pitchFamily="34" charset="0"/>
                <a:ea typeface="Courier New" pitchFamily="34" charset="-122"/>
                <a:cs typeface="Courier New" pitchFamily="34" charset="-120"/>
              </a:rPr>
              <a:t>, len(fichas))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archivo</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fichas.csv</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922776"/>
            <a:ext cx="10314432" cy="786384"/>
          </a:xfrm>
          <a:prstGeom prst="rect">
            <a:avLst/>
          </a:prstGeom>
          <a:solidFill>
            <a:srgbClr val="FFFFFF"/>
          </a:solidFill>
          <a:ln w="12700">
            <a:solidFill>
              <a:srgbClr val="DADCE0"/>
            </a:solidFill>
            <a:prstDash val="solid"/>
          </a:ln>
        </p:spPr>
      </p:sp>
      <p:sp>
        <p:nvSpPr>
          <p:cNvPr id="15" name="Text 13"/>
          <p:cNvSpPr txBox="1"/>
          <p:nvPr/>
        </p:nvSpPr>
        <p:spPr>
          <a:xfrm>
            <a:off x="1463040" y="3995928"/>
            <a:ext cx="10085832" cy="658368"/>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Fichas en la planilla 17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antes de unir   480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después de unir 480</a:t>
            </a:r>
            <a:endParaRPr lang="en-US" sz="1200" dirty="0"/>
          </a:p>
        </p:txBody>
      </p:sp>
      <p:sp>
        <p:nvSpPr>
          <p:cNvPr id="17"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8" name="Shape 15"/>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9" name="Text 16"/>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0" name="Shape 17"/>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21" name="Text 18"/>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2" name="Shape 19"/>
          <p:cNvSpPr/>
          <p:nvPr/>
        </p:nvSpPr>
        <p:spPr>
          <a:xfrm>
            <a:off x="4736592" y="6062472"/>
            <a:ext cx="1522476"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482803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4" name="Shape 21"/>
          <p:cNvSpPr/>
          <p:nvPr/>
        </p:nvSpPr>
        <p:spPr>
          <a:xfrm>
            <a:off x="6396228" y="6062472"/>
            <a:ext cx="1426464" cy="566928"/>
          </a:xfrm>
          <a:prstGeom prst="roundRect">
            <a:avLst>
              <a:gd name="adj" fmla="val 11290"/>
            </a:avLst>
          </a:prstGeom>
          <a:solidFill>
            <a:srgbClr val="E8F0FE"/>
          </a:solidFill>
          <a:ln w="28575">
            <a:solidFill>
              <a:srgbClr val="1A73E8"/>
            </a:solidFill>
            <a:prstDash val="solid"/>
          </a:ln>
        </p:spPr>
      </p:sp>
      <p:sp>
        <p:nvSpPr>
          <p:cNvPr id="25" name="Text 22"/>
          <p:cNvSpPr txBox="1"/>
          <p:nvPr/>
        </p:nvSpPr>
        <p:spPr>
          <a:xfrm>
            <a:off x="6487668"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 × 5</a:t>
            </a:r>
            <a:endParaRPr lang="en-US" sz="1200" dirty="0"/>
          </a:p>
        </p:txBody>
      </p:sp>
      <p:sp>
        <p:nvSpPr>
          <p:cNvPr id="26" name="Shape 23"/>
          <p:cNvSpPr/>
          <p:nvPr/>
        </p:nvSpPr>
        <p:spPr>
          <a:xfrm>
            <a:off x="7959852" y="6062472"/>
            <a:ext cx="1522476" cy="566928"/>
          </a:xfrm>
          <a:prstGeom prst="roundRect">
            <a:avLst>
              <a:gd name="adj" fmla="val 11290"/>
            </a:avLst>
          </a:prstGeom>
          <a:solidFill>
            <a:srgbClr val="E8F0FE"/>
          </a:solidFill>
          <a:ln w="28575">
            <a:solidFill>
              <a:srgbClr val="1A73E8"/>
            </a:solidFill>
            <a:prstDash val="solid"/>
          </a:ln>
        </p:spPr>
      </p:sp>
      <p:sp>
        <p:nvSpPr>
          <p:cNvPr id="27" name="Text 24"/>
          <p:cNvSpPr txBox="1"/>
          <p:nvPr/>
        </p:nvSpPr>
        <p:spPr>
          <a:xfrm>
            <a:off x="805129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8</a:t>
            </a:r>
            <a:endParaRPr lang="en-US" sz="1200" dirty="0"/>
          </a:p>
        </p:txBody>
      </p:sp>
      <p:sp>
        <p:nvSpPr>
          <p:cNvPr id="28" name="Text 25"/>
          <p:cNvSpPr txBox="1"/>
          <p:nvPr/>
        </p:nvSpPr>
        <p:spPr>
          <a:xfrm>
            <a:off x="961948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6 más</a:t>
            </a:r>
            <a:endParaRPr lang="en-US" sz="1200" dirty="0"/>
          </a:p>
        </p:txBody>
      </p:sp>
      <p:sp>
        <p:nvSpPr>
          <p:cNvPr id="29" name="Text 26"/>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Con fichas.csv las filas no cambian, 480 antes y 480 después.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fichas_repetidas.csv en la lista y se vuelve a correr la celda.</a:t>
            </a:r>
            <a:endParaRPr lang="en-US" sz="1400" dirty="0"/>
          </a:p>
        </p:txBody>
      </p:sp>
      <p:sp>
        <p:nvSpPr>
          <p:cNvPr id="7" name="Shape 4"/>
          <p:cNvSpPr/>
          <p:nvPr/>
        </p:nvSpPr>
        <p:spPr>
          <a:xfrm>
            <a:off x="548640" y="1481328"/>
            <a:ext cx="11091672" cy="2537460"/>
          </a:xfrm>
          <a:prstGeom prst="roundRect">
            <a:avLst>
              <a:gd name="adj" fmla="val 2162"/>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fichas_repetidas.csv es la misma planilla, pero con dos centrales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anotadas dos veces, como a veces llega en la práctica.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archivo = </a:t>
            </a:r>
            <a:pPr indent="0" marL="0">
              <a:buNone/>
            </a:pPr>
            <a:r>
              <a:rPr lang="en-US" sz="1300" dirty="0">
                <a:solidFill>
                  <a:srgbClr val="A31515"/>
                </a:solidFill>
                <a:latin typeface="Courier New" pitchFamily="34" charset="0"/>
                <a:ea typeface="Courier New" pitchFamily="34" charset="-122"/>
                <a:cs typeface="Courier New" pitchFamily="34" charset="-120"/>
              </a:rPr>
              <a:t>"fichas_repetidas.csv"</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["fichas.csv", "fichas_repetidas.csv"]</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archivo)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a:t>
            </a:r>
            <a:pPr indent="0" marL="0">
              <a:buNone/>
            </a:pPr>
            <a:r>
              <a:rPr lang="en-US" sz="1300" dirty="0">
                <a:solidFill>
                  <a:srgbClr val="A31515"/>
                </a:solidFill>
                <a:latin typeface="Courier New" pitchFamily="34" charset="0"/>
                <a:ea typeface="Courier New" pitchFamily="34" charset="-122"/>
                <a:cs typeface="Courier New" pitchFamily="34" charset="-120"/>
              </a:rPr>
              <a:t>"left"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"Fichas en la planilla"</a:t>
            </a:r>
            <a:pPr indent="0" marL="0">
              <a:buNone/>
            </a:pPr>
            <a:r>
              <a:rPr lang="en-US" sz="1300" dirty="0">
                <a:solidFill>
                  <a:srgbClr val="202124"/>
                </a:solidFill>
                <a:latin typeface="Courier New" pitchFamily="34" charset="0"/>
                <a:ea typeface="Courier New" pitchFamily="34" charset="-122"/>
                <a:cs typeface="Courier New" pitchFamily="34" charset="-120"/>
              </a:rPr>
              <a:t>, len(fichas))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archivo</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fichas_repetidas.csv</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0553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42646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"fichas.csv"</a:t>
            </a:r>
            <a:endParaRPr lang="en-US" sz="1200" dirty="0"/>
          </a:p>
        </p:txBody>
      </p:sp>
      <p:sp>
        <p:nvSpPr>
          <p:cNvPr id="19" name="Shape 16"/>
          <p:cNvSpPr/>
          <p:nvPr/>
        </p:nvSpPr>
        <p:spPr>
          <a:xfrm>
            <a:off x="2112264" y="6062472"/>
            <a:ext cx="152247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20370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8</a:t>
            </a:r>
            <a:endParaRPr lang="en-US" sz="1200" dirty="0"/>
          </a:p>
        </p:txBody>
      </p:sp>
      <p:sp>
        <p:nvSpPr>
          <p:cNvPr id="21" name="Shape 18"/>
          <p:cNvSpPr/>
          <p:nvPr/>
        </p:nvSpPr>
        <p:spPr>
          <a:xfrm>
            <a:off x="3771900" y="6062472"/>
            <a:ext cx="142646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86334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 × 5</a:t>
            </a:r>
            <a:endParaRPr lang="en-US" sz="1200" dirty="0"/>
          </a:p>
        </p:txBody>
      </p:sp>
      <p:sp>
        <p:nvSpPr>
          <p:cNvPr id="23" name="Shape 20"/>
          <p:cNvSpPr/>
          <p:nvPr/>
        </p:nvSpPr>
        <p:spPr>
          <a:xfrm>
            <a:off x="5335524" y="6062472"/>
            <a:ext cx="1522476"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42696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5" name="Shape 22"/>
          <p:cNvSpPr/>
          <p:nvPr/>
        </p:nvSpPr>
        <p:spPr>
          <a:xfrm>
            <a:off x="6995160" y="6062472"/>
            <a:ext cx="1143000"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708660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"left"</a:t>
            </a:r>
            <a:endParaRPr lang="en-US" sz="1200" dirty="0"/>
          </a:p>
        </p:txBody>
      </p:sp>
      <p:sp>
        <p:nvSpPr>
          <p:cNvPr id="27" name="Shape 24"/>
          <p:cNvSpPr/>
          <p:nvPr/>
        </p:nvSpPr>
        <p:spPr>
          <a:xfrm>
            <a:off x="8275320" y="6062472"/>
            <a:ext cx="1810512"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836676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9" name="Text 26"/>
          <p:cNvSpPr txBox="1"/>
          <p:nvPr/>
        </p:nvSpPr>
        <p:spPr>
          <a:xfrm>
            <a:off x="1022299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
        <p:nvSpPr>
          <p:cNvPr id="30" name="Text 27"/>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¿qué pasa con fichas repetidas?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fichas_repetidas.csv en la lista y se vuelve a correr la celda.</a:t>
            </a:r>
            <a:endParaRPr lang="en-US" sz="1400" dirty="0"/>
          </a:p>
        </p:txBody>
      </p:sp>
      <p:sp>
        <p:nvSpPr>
          <p:cNvPr id="6" name="Shape 4"/>
          <p:cNvSpPr/>
          <p:nvPr/>
        </p:nvSpPr>
        <p:spPr>
          <a:xfrm>
            <a:off x="548640" y="1481328"/>
            <a:ext cx="11091672" cy="2537460"/>
          </a:xfrm>
          <a:prstGeom prst="roundRect">
            <a:avLst>
              <a:gd name="adj" fmla="val 2162"/>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fichas_repetidas.csv es la misma planilla, pero con dos centrales</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anotadas dos veces, como a veces llega en la práctica.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archivo = </a:t>
            </a:r>
            <a:pPr indent="0" marL="0">
              <a:buNone/>
            </a:pPr>
            <a:r>
              <a:rPr lang="en-US" sz="1300" dirty="0">
                <a:solidFill>
                  <a:srgbClr val="A31515"/>
                </a:solidFill>
                <a:latin typeface="Courier New" pitchFamily="34" charset="0"/>
                <a:ea typeface="Courier New" pitchFamily="34" charset="-122"/>
                <a:cs typeface="Courier New" pitchFamily="34" charset="-120"/>
              </a:rPr>
              <a:t>"fichas_repetidas.csv"</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["fichas.csv", "fichas_repetidas.csv"]</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fichas = pd.read_csv(DATOS + archivo)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unido = pd.merge(un_dia, fichas,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a:t>
            </a:r>
            <a:pPr indent="0" marL="0">
              <a:buNone/>
            </a:pPr>
            <a:r>
              <a:rPr lang="en-US" sz="1300" dirty="0">
                <a:solidFill>
                  <a:srgbClr val="A31515"/>
                </a:solidFill>
                <a:latin typeface="Courier New" pitchFamily="34" charset="0"/>
                <a:ea typeface="Courier New" pitchFamily="34" charset="-122"/>
                <a:cs typeface="Courier New" pitchFamily="34" charset="-120"/>
              </a:rPr>
              <a:t>"left"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"Fichas en la planilla"</a:t>
            </a:r>
            <a:pPr indent="0" marL="0">
              <a:buNone/>
            </a:pPr>
            <a:r>
              <a:rPr lang="en-US" sz="1300" dirty="0">
                <a:solidFill>
                  <a:srgbClr val="202124"/>
                </a:solidFill>
                <a:latin typeface="Courier New" pitchFamily="34" charset="0"/>
                <a:ea typeface="Courier New" pitchFamily="34" charset="-122"/>
                <a:cs typeface="Courier New" pitchFamily="34" charset="-120"/>
              </a:rPr>
              <a:t>, len(fichas))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antes de unir  "</a:t>
            </a:r>
            <a:pPr indent="0" marL="0">
              <a:buNone/>
            </a:pPr>
            <a:r>
              <a:rPr lang="en-US" sz="1300" dirty="0">
                <a:solidFill>
                  <a:srgbClr val="202124"/>
                </a:solidFill>
                <a:latin typeface="Courier New" pitchFamily="34" charset="0"/>
                <a:ea typeface="Courier New" pitchFamily="34" charset="-122"/>
                <a:cs typeface="Courier New" pitchFamily="34" charset="-120"/>
              </a:rPr>
              <a:t>, len(un_dia))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después de unir"</a:t>
            </a:r>
            <a:pPr indent="0" marL="0">
              <a:buNone/>
            </a:pPr>
            <a:r>
              <a:rPr lang="en-US" sz="1300" dirty="0">
                <a:solidFill>
                  <a:srgbClr val="202124"/>
                </a:solidFill>
                <a:latin typeface="Courier New" pitchFamily="34" charset="0"/>
                <a:ea typeface="Courier New" pitchFamily="34" charset="-122"/>
                <a:cs typeface="Courier New" pitchFamily="34" charset="-120"/>
              </a:rPr>
              <a:t>, len(unido))</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archivo</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fichas_repetidas.csv</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4128516"/>
            <a:ext cx="10314432" cy="786384"/>
          </a:xfrm>
          <a:prstGeom prst="rect">
            <a:avLst/>
          </a:prstGeom>
          <a:solidFill>
            <a:srgbClr val="FFFFFF"/>
          </a:solidFill>
          <a:ln w="12700">
            <a:solidFill>
              <a:srgbClr val="DADCE0"/>
            </a:solidFill>
            <a:prstDash val="solid"/>
          </a:ln>
        </p:spPr>
      </p:sp>
      <p:sp>
        <p:nvSpPr>
          <p:cNvPr id="15" name="Text 13"/>
          <p:cNvSpPr txBox="1"/>
          <p:nvPr/>
        </p:nvSpPr>
        <p:spPr>
          <a:xfrm>
            <a:off x="1463040" y="4201668"/>
            <a:ext cx="10085832" cy="658368"/>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Fichas en la planilla 19</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antes de unir   480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Filas después de unir 528</a:t>
            </a:r>
            <a:endParaRPr lang="en-US" sz="1200" dirty="0"/>
          </a:p>
        </p:txBody>
      </p:sp>
      <p:sp>
        <p:nvSpPr>
          <p:cNvPr id="16" name="Shape 14"/>
          <p:cNvSpPr/>
          <p:nvPr/>
        </p:nvSpPr>
        <p:spPr>
          <a:xfrm>
            <a:off x="1325880" y="5052060"/>
            <a:ext cx="10314432" cy="566928"/>
          </a:xfrm>
          <a:prstGeom prst="roundRect">
            <a:avLst>
              <a:gd name="adj" fmla="val 9677"/>
            </a:avLst>
          </a:prstGeom>
          <a:solidFill>
            <a:srgbClr val="FFF8D6"/>
          </a:solidFill>
          <a:ln w="12700">
            <a:solidFill>
              <a:srgbClr val="FFF8D6"/>
            </a:solidFill>
            <a:prstDash val="solid"/>
          </a:ln>
        </p:spPr>
      </p:sp>
      <p:sp>
        <p:nvSpPr>
          <p:cNvPr id="17" name="Text 15"/>
          <p:cNvSpPr txBox="1"/>
          <p:nvPr/>
        </p:nvSpPr>
        <p:spPr>
          <a:xfrm>
            <a:off x="1508760" y="5052060"/>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Una ficha repetida no da error, multiplica las filas.  </a:t>
            </a:r>
            <a:pPr indent="0" marL="0">
              <a:buNone/>
            </a:pPr>
            <a:r>
              <a:rPr lang="en-US" sz="1400" dirty="0">
                <a:solidFill>
                  <a:srgbClr val="202124"/>
                </a:solidFill>
                <a:latin typeface="Calibri" pitchFamily="34" charset="0"/>
                <a:ea typeface="Calibri" pitchFamily="34" charset="-122"/>
                <a:cs typeface="Calibri" pitchFamily="34" charset="-120"/>
              </a:rPr>
              <a:t>Por eso, antes de unir, se revisa que la planilla no tenga centrales repetidas.</a:t>
            </a:r>
            <a:endParaRPr lang="en-US" sz="1400" dirty="0"/>
          </a:p>
        </p:txBody>
      </p:sp>
      <p:sp>
        <p:nvSpPr>
          <p:cNvPr id="19" name="Text 16"/>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0" name="Shape 17"/>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21" name="Text 18"/>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22" name="Shape 19"/>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4" name="Shape 21"/>
          <p:cNvSpPr/>
          <p:nvPr/>
        </p:nvSpPr>
        <p:spPr>
          <a:xfrm>
            <a:off x="4736592" y="6062472"/>
            <a:ext cx="1522476" cy="566928"/>
          </a:xfrm>
          <a:prstGeom prst="roundRect">
            <a:avLst>
              <a:gd name="adj" fmla="val 11290"/>
            </a:avLst>
          </a:prstGeom>
          <a:solidFill>
            <a:srgbClr val="E8F0FE"/>
          </a:solidFill>
          <a:ln w="28575">
            <a:solidFill>
              <a:srgbClr val="1A73E8"/>
            </a:solidFill>
            <a:prstDash val="solid"/>
          </a:ln>
        </p:spPr>
      </p:sp>
      <p:sp>
        <p:nvSpPr>
          <p:cNvPr id="25" name="Text 22"/>
          <p:cNvSpPr txBox="1"/>
          <p:nvPr/>
        </p:nvSpPr>
        <p:spPr>
          <a:xfrm>
            <a:off x="482803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6" name="Shape 23"/>
          <p:cNvSpPr/>
          <p:nvPr/>
        </p:nvSpPr>
        <p:spPr>
          <a:xfrm>
            <a:off x="6396228" y="6062472"/>
            <a:ext cx="1426464" cy="566928"/>
          </a:xfrm>
          <a:prstGeom prst="roundRect">
            <a:avLst>
              <a:gd name="adj" fmla="val 11290"/>
            </a:avLst>
          </a:prstGeom>
          <a:solidFill>
            <a:srgbClr val="FEF3D6"/>
          </a:solidFill>
          <a:ln w="25400">
            <a:solidFill>
              <a:srgbClr val="F9AB00"/>
            </a:solidFill>
            <a:prstDash val="solid"/>
          </a:ln>
        </p:spPr>
      </p:sp>
      <p:sp>
        <p:nvSpPr>
          <p:cNvPr id="27" name="Text 24"/>
          <p:cNvSpPr txBox="1"/>
          <p:nvPr/>
        </p:nvSpPr>
        <p:spPr>
          <a:xfrm>
            <a:off x="6487668"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19 × 5</a:t>
            </a:r>
            <a:endParaRPr lang="en-US" sz="1200" dirty="0"/>
          </a:p>
        </p:txBody>
      </p:sp>
      <p:sp>
        <p:nvSpPr>
          <p:cNvPr id="28" name="Shape 25"/>
          <p:cNvSpPr/>
          <p:nvPr/>
        </p:nvSpPr>
        <p:spPr>
          <a:xfrm>
            <a:off x="7959852" y="6062472"/>
            <a:ext cx="1522476" cy="566928"/>
          </a:xfrm>
          <a:prstGeom prst="roundRect">
            <a:avLst>
              <a:gd name="adj" fmla="val 11290"/>
            </a:avLst>
          </a:prstGeom>
          <a:solidFill>
            <a:srgbClr val="FEF3D6"/>
          </a:solidFill>
          <a:ln w="25400">
            <a:solidFill>
              <a:srgbClr val="F9AB00"/>
            </a:solidFill>
            <a:prstDash val="solid"/>
          </a:ln>
        </p:spPr>
      </p:sp>
      <p:sp>
        <p:nvSpPr>
          <p:cNvPr id="29" name="Text 26"/>
          <p:cNvSpPr txBox="1"/>
          <p:nvPr/>
        </p:nvSpPr>
        <p:spPr>
          <a:xfrm>
            <a:off x="805129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30" name="Text 27"/>
          <p:cNvSpPr txBox="1"/>
          <p:nvPr/>
        </p:nvSpPr>
        <p:spPr>
          <a:xfrm>
            <a:off x="961948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6 más</a:t>
            </a:r>
            <a:endParaRPr lang="en-US" sz="1200" dirty="0"/>
          </a:p>
        </p:txBody>
      </p:sp>
      <p:sp>
        <p:nvSpPr>
          <p:cNvPr id="31" name="Text 28"/>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Con fichas repetidas las filas suben de 480 a 528. Se inflaron.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9AB00"/>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PARTE 2 · PARA LA CASA</a:t>
            </a:r>
            <a:endParaRPr lang="en-US" sz="4400" dirty="0"/>
          </a:p>
        </p:txBody>
      </p:sp>
      <p:sp>
        <p:nvSpPr>
          <p:cNvPr id="3" name="Text 1"/>
          <p:cNvSpPr txBox="1"/>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No se ve en clase. Cada estudio viene explicado en las láminas que siguen, con la guía como apoyo.</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txBox="1"/>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1   </a:t>
            </a:r>
            <a:pPr indent="0" marL="0">
              <a:buNone/>
            </a:pPr>
            <a:r>
              <a:rPr lang="en-US" sz="2400" dirty="0">
                <a:solidFill>
                  <a:srgbClr val="0B3D62"/>
                </a:solidFill>
                <a:latin typeface="Calibri" pitchFamily="34" charset="0"/>
                <a:ea typeface="Calibri" pitchFamily="34" charset="-122"/>
                <a:cs typeface="Calibri" pitchFamily="34" charset="-120"/>
              </a:rPr>
              <a:t>¿Qué tamaño tiene la tabla?</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txBox="1"/>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2   </a:t>
            </a:r>
            <a:pPr indent="0" marL="0">
              <a:buNone/>
            </a:pPr>
            <a:r>
              <a:rPr lang="en-US" sz="2400" dirty="0">
                <a:solidFill>
                  <a:srgbClr val="0B3D62"/>
                </a:solidFill>
                <a:latin typeface="Calibri" pitchFamily="34" charset="0"/>
                <a:ea typeface="Calibri" pitchFamily="34" charset="-122"/>
                <a:cs typeface="Calibri" pitchFamily="34" charset="-120"/>
              </a:rPr>
              <a:t>Tu turno, resume la potencia</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txBox="1"/>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3   </a:t>
            </a:r>
            <a:pPr indent="0" marL="0">
              <a:buNone/>
            </a:pPr>
            <a:r>
              <a:rPr lang="en-US" sz="2400" dirty="0">
                <a:solidFill>
                  <a:srgbClr val="0B3D62"/>
                </a:solidFill>
                <a:latin typeface="Calibri" pitchFamily="34" charset="0"/>
                <a:ea typeface="Calibri" pitchFamily="34" charset="-122"/>
                <a:cs typeface="Calibri" pitchFamily="34" charset="-120"/>
              </a:rPr>
              <a:t>¿Y si los datos vienen en Excel?</a:t>
            </a:r>
            <a:endParaRPr lang="en-US" sz="2400" dirty="0"/>
          </a:p>
        </p:txBody>
      </p:sp>
      <p:sp>
        <p:nvSpPr>
          <p:cNvPr id="13" name="Shape 11"/>
          <p:cNvSpPr/>
          <p:nvPr/>
        </p:nvSpPr>
        <p:spPr>
          <a:xfrm>
            <a:off x="731520" y="4572000"/>
            <a:ext cx="548640" cy="548640"/>
          </a:xfrm>
          <a:prstGeom prst="ellipse">
            <a:avLst/>
          </a:prstGeom>
          <a:solidFill>
            <a:srgbClr val="0B3D62"/>
          </a:solidFill>
          <a:ln w="12700">
            <a:solidFill>
              <a:srgbClr val="0B3D62"/>
            </a:solidFill>
            <a:prstDash val="solid"/>
          </a:ln>
        </p:spPr>
      </p:sp>
      <p:sp>
        <p:nvSpPr>
          <p:cNvPr id="14" name="Text 12"/>
          <p:cNvSpPr txBox="1"/>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4   </a:t>
            </a:r>
            <a:pPr indent="0" marL="0">
              <a:buNone/>
            </a:pPr>
            <a:r>
              <a:rPr lang="en-US" sz="2400" dirty="0">
                <a:solidFill>
                  <a:srgbClr val="0B3D62"/>
                </a:solidFill>
                <a:latin typeface="Calibri" pitchFamily="34" charset="0"/>
                <a:ea typeface="Calibri" pitchFamily="34" charset="-122"/>
                <a:cs typeface="Calibri" pitchFamily="34" charset="-120"/>
              </a:rPr>
              <a:t>¿Y si vienen de un servicio web?</a:t>
            </a:r>
            <a:endParaRPr lang="en-US" sz="2400" dirty="0"/>
          </a:p>
        </p:txBody>
      </p:sp>
      <p:sp>
        <p:nvSpPr>
          <p:cNvPr id="16" name="Shape 14"/>
          <p:cNvSpPr/>
          <p:nvPr/>
        </p:nvSpPr>
        <p:spPr>
          <a:xfrm>
            <a:off x="731520" y="5349240"/>
            <a:ext cx="548640" cy="548640"/>
          </a:xfrm>
          <a:prstGeom prst="ellipse">
            <a:avLst/>
          </a:prstGeom>
          <a:solidFill>
            <a:srgbClr val="0B3D62"/>
          </a:solidFill>
          <a:ln w="12700">
            <a:solidFill>
              <a:srgbClr val="0B3D62"/>
            </a:solidFill>
            <a:prstDash val="solid"/>
          </a:ln>
        </p:spPr>
      </p:sp>
      <p:sp>
        <p:nvSpPr>
          <p:cNvPr id="17" name="Text 15"/>
          <p:cNvSpPr txBox="1"/>
          <p:nvPr/>
        </p:nvSpPr>
        <p:spPr>
          <a:xfrm>
            <a:off x="731520" y="5349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8" name="Text 16"/>
          <p:cNvSpPr txBox="1"/>
          <p:nvPr/>
        </p:nvSpPr>
        <p:spPr>
          <a:xfrm>
            <a:off x="1508760" y="534924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5   </a:t>
            </a:r>
            <a:pPr indent="0" marL="0">
              <a:buNone/>
            </a:pPr>
            <a:r>
              <a:rPr lang="en-US" sz="2400" dirty="0">
                <a:solidFill>
                  <a:srgbClr val="0B3D62"/>
                </a:solidFill>
                <a:latin typeface="Calibri" pitchFamily="34" charset="0"/>
                <a:ea typeface="Calibri" pitchFamily="34" charset="-122"/>
                <a:cs typeface="Calibri" pitchFamily="34" charset="-120"/>
              </a:rPr>
              <a:t>¿Y si vienen de una base de datos?</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tamaño tiene la tabla?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las tres preguntas que se le hacen a una tabla.</a:t>
            </a:r>
            <a:endParaRPr lang="en-US" sz="1400" dirty="0"/>
          </a:p>
        </p:txBody>
      </p:sp>
      <p:pic>
        <p:nvPicPr>
          <p:cNvPr id="6" name="Image 0" descr="../work34/modulos/modulo01/img/lab01_estudio1_tamano.png">    </p:cNvPr>
          <p:cNvPicPr>
            <a:picLocks noChangeAspect="1"/>
          </p:cNvPicPr>
          <p:nvPr/>
        </p:nvPicPr>
        <p:blipFill>
          <a:blip r:embed="rId1"/>
          <a:stretch>
            <a:fillRect/>
          </a:stretch>
        </p:blipFill>
        <p:spPr>
          <a:xfrm>
            <a:off x="548640" y="1463040"/>
            <a:ext cx="11091672" cy="410823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tamaño tiene la tabla?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7" name="Shape 4"/>
          <p:cNvSpPr/>
          <p:nvPr/>
        </p:nvSpPr>
        <p:spPr>
          <a:xfrm>
            <a:off x="548640" y="1481328"/>
            <a:ext cx="11091672" cy="1303020"/>
          </a:xfrm>
          <a:prstGeom prst="roundRect">
            <a:avLst>
              <a:gd name="adj" fmla="val 4211"/>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112014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1</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Tres preguntas que uno le hace a cualquier tabla apenas la abre.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y columnas"</a:t>
            </a:r>
            <a:pPr indent="0" marL="0">
              <a:buNone/>
            </a:pPr>
            <a:r>
              <a:rPr lang="en-US" sz="1300" dirty="0">
                <a:solidFill>
                  <a:srgbClr val="202124"/>
                </a:solidFill>
                <a:latin typeface="Courier New" pitchFamily="34" charset="0"/>
                <a:ea typeface="Courier New" pitchFamily="34" charset="-122"/>
                <a:cs typeface="Courier New" pitchFamily="34" charset="-120"/>
              </a:rPr>
              <a:t>, centrales.shape)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"Columnas        "</a:t>
            </a:r>
            <a:pPr indent="0" marL="0">
              <a:buNone/>
            </a:pPr>
            <a:r>
              <a:rPr lang="en-US" sz="1300" dirty="0">
                <a:solidFill>
                  <a:srgbClr val="202124"/>
                </a:solidFill>
                <a:latin typeface="Courier New" pitchFamily="34" charset="0"/>
                <a:ea typeface="Courier New" pitchFamily="34" charset="-122"/>
                <a:cs typeface="Courier New" pitchFamily="34" charset="-120"/>
              </a:rPr>
              <a:t>, list(centrales.columns))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"Potencia total  "</a:t>
            </a:r>
            <a:pPr indent="0" marL="0">
              <a:buNone/>
            </a:pPr>
            <a:r>
              <a:rPr lang="en-US" sz="1300" dirty="0">
                <a:solidFill>
                  <a:srgbClr val="202124"/>
                </a:solidFill>
                <a:latin typeface="Courier New" pitchFamily="34" charset="0"/>
                <a:ea typeface="Courier New" pitchFamily="34" charset="-122"/>
                <a:cs typeface="Courier New" pitchFamily="34" charset="-120"/>
              </a:rPr>
              <a:t>, centrales[</a:t>
            </a:r>
            <a:pPr indent="0" marL="0">
              <a:buNone/>
            </a:pPr>
            <a:r>
              <a:rPr lang="en-US" sz="1300" dirty="0">
                <a:solidFill>
                  <a:srgbClr val="A31515"/>
                </a:solidFill>
                <a:latin typeface="Courier New" pitchFamily="34" charset="0"/>
                <a:ea typeface="Courier New" pitchFamily="34" charset="-122"/>
                <a:cs typeface="Courier New" pitchFamily="34" charset="-120"/>
              </a:rPr>
              <a:t>"potencia_mw"</a:t>
            </a:r>
            <a:pPr indent="0" marL="0">
              <a:buNone/>
            </a:pPr>
            <a:r>
              <a:rPr lang="en-US" sz="1300" dirty="0">
                <a:solidFill>
                  <a:srgbClr val="202124"/>
                </a:solidFill>
                <a:latin typeface="Courier New" pitchFamily="34" charset="0"/>
                <a:ea typeface="Courier New" pitchFamily="34" charset="-122"/>
                <a:cs typeface="Courier New" pitchFamily="34" charset="-120"/>
              </a:rPr>
              <a:t>].sum(), </a:t>
            </a:r>
            <a:pPr indent="0" marL="0">
              <a:buNone/>
            </a:pPr>
            <a:r>
              <a:rPr lang="en-US" sz="1300" dirty="0">
                <a:solidFill>
                  <a:srgbClr val="A31515"/>
                </a:solidFill>
                <a:latin typeface="Courier New" pitchFamily="34" charset="0"/>
                <a:ea typeface="Courier New" pitchFamily="34" charset="-122"/>
                <a:cs typeface="Courier New" pitchFamily="34" charset="-120"/>
              </a:rPr>
              <a:t>"MW"</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1" name="Text 8"/>
          <p:cNvSpPr txBox="1"/>
          <p:nvPr/>
        </p:nvSpPr>
        <p:spPr>
          <a:xfrm>
            <a:off x="1325880" y="282092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2386584"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15" name="Shape 12"/>
          <p:cNvSpPr/>
          <p:nvPr/>
        </p:nvSpPr>
        <p:spPr>
          <a:xfrm>
            <a:off x="3072384" y="6062472"/>
            <a:ext cx="1522476"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316382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17" name="Shape 14"/>
          <p:cNvSpPr/>
          <p:nvPr/>
        </p:nvSpPr>
        <p:spPr>
          <a:xfrm>
            <a:off x="4732020" y="6062472"/>
            <a:ext cx="142646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482346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19 × 5</a:t>
            </a:r>
            <a:endParaRPr lang="en-US" sz="1200" dirty="0"/>
          </a:p>
        </p:txBody>
      </p:sp>
      <p:sp>
        <p:nvSpPr>
          <p:cNvPr id="19" name="Shape 16"/>
          <p:cNvSpPr/>
          <p:nvPr/>
        </p:nvSpPr>
        <p:spPr>
          <a:xfrm>
            <a:off x="6295644" y="6062472"/>
            <a:ext cx="152247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638708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1" name="Shape 18"/>
          <p:cNvSpPr/>
          <p:nvPr/>
        </p:nvSpPr>
        <p:spPr>
          <a:xfrm>
            <a:off x="7955280"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804672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"left"</a:t>
            </a:r>
            <a:endParaRPr lang="en-US" sz="1200" dirty="0"/>
          </a:p>
        </p:txBody>
      </p:sp>
      <p:sp>
        <p:nvSpPr>
          <p:cNvPr id="23" name="Text 20"/>
          <p:cNvSpPr txBox="1"/>
          <p:nvPr/>
        </p:nvSpPr>
        <p:spPr>
          <a:xfrm>
            <a:off x="923544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6 más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tamaño tiene la tabla?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centrales.shape</a:t>
            </a:r>
            <a:endParaRPr lang="en-US" sz="1600" dirty="0"/>
          </a:p>
        </p:txBody>
      </p:sp>
      <p:sp>
        <p:nvSpPr>
          <p:cNvPr id="8" name="Shape 6"/>
          <p:cNvSpPr/>
          <p:nvPr/>
        </p:nvSpPr>
        <p:spPr>
          <a:xfrm>
            <a:off x="548640" y="2320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20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219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centrales</a:t>
            </a:r>
            <a:endParaRPr lang="en-US" sz="1400" dirty="0"/>
          </a:p>
        </p:txBody>
      </p:sp>
      <p:sp>
        <p:nvSpPr>
          <p:cNvPr id="12" name="Text 10"/>
          <p:cNvSpPr txBox="1"/>
          <p:nvPr/>
        </p:nvSpPr>
        <p:spPr>
          <a:xfrm>
            <a:off x="6263640" y="2219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tabla que se quiere medir.</a:t>
            </a:r>
            <a:endParaRPr lang="en-US" sz="1600" dirty="0"/>
          </a:p>
        </p:txBody>
      </p:sp>
      <p:sp>
        <p:nvSpPr>
          <p:cNvPr id="13" name="Shape 11"/>
          <p:cNvSpPr/>
          <p:nvPr/>
        </p:nvSpPr>
        <p:spPr>
          <a:xfrm>
            <a:off x="548640" y="2997200"/>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2997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1752"/>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84175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.shape</a:t>
            </a:r>
            <a:endParaRPr lang="en-US" sz="1400" dirty="0"/>
          </a:p>
        </p:txBody>
      </p:sp>
      <p:sp>
        <p:nvSpPr>
          <p:cNvPr id="17" name="Text 15"/>
          <p:cNvSpPr txBox="1"/>
          <p:nvPr/>
        </p:nvSpPr>
        <p:spPr>
          <a:xfrm>
            <a:off x="6263640" y="284175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tamaño de la tabla. Va sin paréntesis porque es un dato que la tabla ya tiene, no una acción.</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cuántas filas y cuántas columnas tiene centrales.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tamaño tiene la tabla?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centrales[</a:t>
            </a:r>
            <a:pPr indent="0" marL="0">
              <a:buNone/>
            </a:pPr>
            <a:r>
              <a:rPr lang="en-US" sz="1600" dirty="0">
                <a:solidFill>
                  <a:srgbClr val="A31515"/>
                </a:solidFill>
                <a:latin typeface="Courier New" pitchFamily="34" charset="0"/>
                <a:ea typeface="Courier New" pitchFamily="34" charset="-122"/>
                <a:cs typeface="Courier New" pitchFamily="34" charset="-120"/>
              </a:rPr>
              <a:t>"potencia_mw"</a:t>
            </a:r>
            <a:pPr indent="0" marL="0">
              <a:buNone/>
            </a:pPr>
            <a:r>
              <a:rPr lang="en-US" sz="1600" dirty="0">
                <a:solidFill>
                  <a:srgbClr val="202124"/>
                </a:solidFill>
                <a:latin typeface="Courier New" pitchFamily="34" charset="0"/>
                <a:ea typeface="Courier New" pitchFamily="34" charset="-122"/>
                <a:cs typeface="Courier New" pitchFamily="34" charset="-120"/>
              </a:rPr>
              <a:t>].sum()</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centrales["potencia_mw"]</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Corchetes con un nombre entre comillas eligen una columna de la tabla.</a:t>
            </a:r>
            <a:endParaRPr lang="en-US" sz="1600" dirty="0"/>
          </a:p>
        </p:txBody>
      </p:sp>
      <p:sp>
        <p:nvSpPr>
          <p:cNvPr id="13" name="Shape 11"/>
          <p:cNvSpPr/>
          <p:nvPr/>
        </p:nvSpPr>
        <p:spPr>
          <a:xfrm>
            <a:off x="548640" y="3106928"/>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0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95148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.sum()</a:t>
            </a:r>
            <a:endParaRPr lang="en-US" sz="1400" dirty="0"/>
          </a:p>
        </p:txBody>
      </p:sp>
      <p:sp>
        <p:nvSpPr>
          <p:cNvPr id="17" name="Text 15"/>
          <p:cNvSpPr txBox="1"/>
          <p:nvPr/>
        </p:nvSpPr>
        <p:spPr>
          <a:xfrm>
            <a:off x="6263640" y="295148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punto aplica una acción a lo que está a la izquierda. sum suma la columna.</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suma la columna potencia_mw de la tabla centrales.</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tamaño tiene la tabla?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Shape 4"/>
          <p:cNvSpPr/>
          <p:nvPr/>
        </p:nvSpPr>
        <p:spPr>
          <a:xfrm>
            <a:off x="548640" y="1481328"/>
            <a:ext cx="11091672" cy="1303020"/>
          </a:xfrm>
          <a:prstGeom prst="roundRect">
            <a:avLst>
              <a:gd name="adj" fmla="val 4211"/>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12014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1</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Tres preguntas que uno le hace a cualquier tabla apenas la abre.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y columnas"</a:t>
            </a:r>
            <a:pPr indent="0" marL="0">
              <a:buNone/>
            </a:pPr>
            <a:r>
              <a:rPr lang="en-US" sz="1300" dirty="0">
                <a:solidFill>
                  <a:srgbClr val="202124"/>
                </a:solidFill>
                <a:latin typeface="Courier New" pitchFamily="34" charset="0"/>
                <a:ea typeface="Courier New" pitchFamily="34" charset="-122"/>
                <a:cs typeface="Courier New" pitchFamily="34" charset="-120"/>
              </a:rPr>
              <a:t>, centrales.shape)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"Columnas        "</a:t>
            </a:r>
            <a:pPr indent="0" marL="0">
              <a:buNone/>
            </a:pPr>
            <a:r>
              <a:rPr lang="en-US" sz="1300" dirty="0">
                <a:solidFill>
                  <a:srgbClr val="202124"/>
                </a:solidFill>
                <a:latin typeface="Courier New" pitchFamily="34" charset="0"/>
                <a:ea typeface="Courier New" pitchFamily="34" charset="-122"/>
                <a:cs typeface="Courier New" pitchFamily="34" charset="-120"/>
              </a:rPr>
              <a:t>, list(centrales.columns))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"Potencia total  "</a:t>
            </a:r>
            <a:pPr indent="0" marL="0">
              <a:buNone/>
            </a:pPr>
            <a:r>
              <a:rPr lang="en-US" sz="1300" dirty="0">
                <a:solidFill>
                  <a:srgbClr val="202124"/>
                </a:solidFill>
                <a:latin typeface="Courier New" pitchFamily="34" charset="0"/>
                <a:ea typeface="Courier New" pitchFamily="34" charset="-122"/>
                <a:cs typeface="Courier New" pitchFamily="34" charset="-120"/>
              </a:rPr>
              <a:t>, centrales[</a:t>
            </a:r>
            <a:pPr indent="0" marL="0">
              <a:buNone/>
            </a:pPr>
            <a:r>
              <a:rPr lang="en-US" sz="1300" dirty="0">
                <a:solidFill>
                  <a:srgbClr val="A31515"/>
                </a:solidFill>
                <a:latin typeface="Courier New" pitchFamily="34" charset="0"/>
                <a:ea typeface="Courier New" pitchFamily="34" charset="-122"/>
                <a:cs typeface="Courier New" pitchFamily="34" charset="-120"/>
              </a:rPr>
              <a:t>"potencia_mw"</a:t>
            </a:r>
            <a:pPr indent="0" marL="0">
              <a:buNone/>
            </a:pPr>
            <a:r>
              <a:rPr lang="en-US" sz="1300" dirty="0">
                <a:solidFill>
                  <a:srgbClr val="202124"/>
                </a:solidFill>
                <a:latin typeface="Courier New" pitchFamily="34" charset="0"/>
                <a:ea typeface="Courier New" pitchFamily="34" charset="-122"/>
                <a:cs typeface="Courier New" pitchFamily="34" charset="-120"/>
              </a:rPr>
              <a:t>].sum(), </a:t>
            </a:r>
            <a:pPr indent="0" marL="0">
              <a:buNone/>
            </a:pPr>
            <a:r>
              <a:rPr lang="en-US" sz="1300" dirty="0">
                <a:solidFill>
                  <a:srgbClr val="A31515"/>
                </a:solidFill>
                <a:latin typeface="Courier New" pitchFamily="34" charset="0"/>
                <a:ea typeface="Courier New" pitchFamily="34" charset="-122"/>
                <a:cs typeface="Courier New" pitchFamily="34" charset="-120"/>
              </a:rPr>
              <a:t>"MW"</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1325880" y="2894076"/>
            <a:ext cx="10314432" cy="786384"/>
          </a:xfrm>
          <a:prstGeom prst="rect">
            <a:avLst/>
          </a:prstGeom>
          <a:solidFill>
            <a:srgbClr val="FFFFFF"/>
          </a:solidFill>
          <a:ln w="12700">
            <a:solidFill>
              <a:srgbClr val="DADCE0"/>
            </a:solidFill>
            <a:prstDash val="solid"/>
          </a:ln>
        </p:spPr>
      </p:sp>
      <p:sp>
        <p:nvSpPr>
          <p:cNvPr id="11" name="Text 9"/>
          <p:cNvSpPr txBox="1"/>
          <p:nvPr/>
        </p:nvSpPr>
        <p:spPr>
          <a:xfrm>
            <a:off x="1463040" y="2967228"/>
            <a:ext cx="10085832" cy="658368"/>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y columnas (20, 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Columnas         ['central', 'tecnologia', 'region', 'potencia_mw', 'anio_inicio']</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Potencia total   4540 MW</a:t>
            </a:r>
            <a:endParaRPr lang="en-US" sz="1200" dirty="0"/>
          </a:p>
        </p:txBody>
      </p:sp>
      <p:sp>
        <p:nvSpPr>
          <p:cNvPr id="12" name="Shape 10"/>
          <p:cNvSpPr/>
          <p:nvPr/>
        </p:nvSpPr>
        <p:spPr>
          <a:xfrm>
            <a:off x="1325880" y="3817620"/>
            <a:ext cx="10314432" cy="566928"/>
          </a:xfrm>
          <a:prstGeom prst="roundRect">
            <a:avLst>
              <a:gd name="adj" fmla="val 9677"/>
            </a:avLst>
          </a:prstGeom>
          <a:solidFill>
            <a:srgbClr val="FFF8D6"/>
          </a:solidFill>
          <a:ln w="12700">
            <a:solidFill>
              <a:srgbClr val="FFF8D6"/>
            </a:solidFill>
            <a:prstDash val="solid"/>
          </a:ln>
        </p:spPr>
      </p:sp>
      <p:sp>
        <p:nvSpPr>
          <p:cNvPr id="13" name="Text 11"/>
          <p:cNvSpPr txBox="1"/>
          <p:nvPr/>
        </p:nvSpPr>
        <p:spPr>
          <a:xfrm>
            <a:off x="1508760" y="3817620"/>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Anotar el total al comienzo sirve de control.  </a:t>
            </a:r>
            <a:pPr indent="0" marL="0">
              <a:buNone/>
            </a:pPr>
            <a:r>
              <a:rPr lang="en-US" sz="1400" dirty="0">
                <a:solidFill>
                  <a:srgbClr val="202124"/>
                </a:solidFill>
                <a:latin typeface="Calibri" pitchFamily="34" charset="0"/>
                <a:ea typeface="Calibri" pitchFamily="34" charset="-122"/>
                <a:cs typeface="Calibri" pitchFamily="34" charset="-120"/>
              </a:rPr>
              <a:t>Si más adelante cambia sin razón, algo se perdió o se duplicó en el camino.</a:t>
            </a:r>
            <a:endParaRPr lang="en-US" sz="1400" dirty="0"/>
          </a:p>
        </p:txBody>
      </p:sp>
      <p:sp>
        <p:nvSpPr>
          <p:cNvPr id="15" name="Text 12"/>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6" name="Shape 13"/>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17" name="Text 14"/>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8" name="Shape 15"/>
          <p:cNvSpPr/>
          <p:nvPr/>
        </p:nvSpPr>
        <p:spPr>
          <a:xfrm>
            <a:off x="2112264" y="6062472"/>
            <a:ext cx="2386584" cy="566928"/>
          </a:xfrm>
          <a:prstGeom prst="roundRect">
            <a:avLst>
              <a:gd name="adj" fmla="val 11290"/>
            </a:avLst>
          </a:prstGeom>
          <a:solidFill>
            <a:srgbClr val="F1F3F4"/>
          </a:solidFill>
          <a:ln w="12700">
            <a:solidFill>
              <a:srgbClr val="DADCE0"/>
            </a:solidFill>
            <a:prstDash val="solid"/>
          </a:ln>
        </p:spPr>
      </p:sp>
      <p:sp>
        <p:nvSpPr>
          <p:cNvPr id="19" name="Text 16"/>
          <p:cNvSpPr txBox="1"/>
          <p:nvPr/>
        </p:nvSpPr>
        <p:spPr>
          <a:xfrm>
            <a:off x="2203704"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20" name="Shape 17"/>
          <p:cNvSpPr/>
          <p:nvPr/>
        </p:nvSpPr>
        <p:spPr>
          <a:xfrm>
            <a:off x="4636008" y="6062472"/>
            <a:ext cx="1522476" cy="566928"/>
          </a:xfrm>
          <a:prstGeom prst="roundRect">
            <a:avLst>
              <a:gd name="adj" fmla="val 11290"/>
            </a:avLst>
          </a:prstGeom>
          <a:solidFill>
            <a:srgbClr val="F1F3F4"/>
          </a:solidFill>
          <a:ln w="12700">
            <a:solidFill>
              <a:srgbClr val="DADCE0"/>
            </a:solidFill>
            <a:prstDash val="solid"/>
          </a:ln>
        </p:spPr>
      </p:sp>
      <p:sp>
        <p:nvSpPr>
          <p:cNvPr id="21" name="Text 18"/>
          <p:cNvSpPr txBox="1"/>
          <p:nvPr/>
        </p:nvSpPr>
        <p:spPr>
          <a:xfrm>
            <a:off x="4727448"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2" name="Shape 19"/>
          <p:cNvSpPr/>
          <p:nvPr/>
        </p:nvSpPr>
        <p:spPr>
          <a:xfrm>
            <a:off x="6295644" y="6062472"/>
            <a:ext cx="1426464" cy="566928"/>
          </a:xfrm>
          <a:prstGeom prst="roundRect">
            <a:avLst>
              <a:gd name="adj" fmla="val 11290"/>
            </a:avLst>
          </a:prstGeom>
          <a:solidFill>
            <a:srgbClr val="F1F3F4"/>
          </a:solidFill>
          <a:ln w="12700">
            <a:solidFill>
              <a:srgbClr val="DADCE0"/>
            </a:solidFill>
            <a:prstDash val="solid"/>
          </a:ln>
        </p:spPr>
      </p:sp>
      <p:sp>
        <p:nvSpPr>
          <p:cNvPr id="23" name="Text 20"/>
          <p:cNvSpPr txBox="1"/>
          <p:nvPr/>
        </p:nvSpPr>
        <p:spPr>
          <a:xfrm>
            <a:off x="6387084"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19 × 5</a:t>
            </a:r>
            <a:endParaRPr lang="en-US" sz="1200" dirty="0"/>
          </a:p>
        </p:txBody>
      </p:sp>
      <p:sp>
        <p:nvSpPr>
          <p:cNvPr id="24" name="Shape 21"/>
          <p:cNvSpPr/>
          <p:nvPr/>
        </p:nvSpPr>
        <p:spPr>
          <a:xfrm>
            <a:off x="7859268" y="6062472"/>
            <a:ext cx="1522476" cy="566928"/>
          </a:xfrm>
          <a:prstGeom prst="roundRect">
            <a:avLst>
              <a:gd name="adj" fmla="val 11290"/>
            </a:avLst>
          </a:prstGeom>
          <a:solidFill>
            <a:srgbClr val="F1F3F4"/>
          </a:solidFill>
          <a:ln w="12700">
            <a:solidFill>
              <a:srgbClr val="DADCE0"/>
            </a:solidFill>
            <a:prstDash val="solid"/>
          </a:ln>
        </p:spPr>
      </p:sp>
      <p:sp>
        <p:nvSpPr>
          <p:cNvPr id="25" name="Text 22"/>
          <p:cNvSpPr txBox="1"/>
          <p:nvPr/>
        </p:nvSpPr>
        <p:spPr>
          <a:xfrm>
            <a:off x="7950708"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6" name="Text 23"/>
          <p:cNvSpPr txBox="1"/>
          <p:nvPr/>
        </p:nvSpPr>
        <p:spPr>
          <a:xfrm>
            <a:off x="951890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6 más</a:t>
            </a:r>
            <a:endParaRPr lang="en-US" sz="1200" dirty="0"/>
          </a:p>
        </p:txBody>
      </p:sp>
      <p:sp>
        <p:nvSpPr>
          <p:cNvPr id="27" name="Text 24"/>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Antes de calcular nada, se mira el tamaño, las columnas y un total.</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hace groupby con las 20 centrales.</a:t>
            </a:r>
            <a:endParaRPr lang="en-US" sz="1400" dirty="0"/>
          </a:p>
        </p:txBody>
      </p:sp>
      <p:pic>
        <p:nvPicPr>
          <p:cNvPr id="6" name="Image 0" descr="../work34/modulos/modulo01/img/lab01_estudio2_groupby.png">    </p:cNvPr>
          <p:cNvPicPr>
            <a:picLocks noChangeAspect="1"/>
          </p:cNvPicPr>
          <p:nvPr/>
        </p:nvPicPr>
        <p:blipFill>
          <a:blip r:embed="rId1"/>
          <a:stretch>
            <a:fillRect/>
          </a:stretch>
        </p:blipFill>
        <p:spPr>
          <a:xfrm>
            <a:off x="2186280" y="1463040"/>
            <a:ext cx="7816393" cy="46177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agrupar en la lista y vuelve a correr la celda.</a:t>
            </a:r>
            <a:endParaRPr lang="en-US" sz="1400" dirty="0"/>
          </a:p>
        </p:txBody>
      </p:sp>
      <p:sp>
        <p:nvSpPr>
          <p:cNvPr id="7" name="Shape 4"/>
          <p:cNvSpPr/>
          <p:nvPr/>
        </p:nvSpPr>
        <p:spPr>
          <a:xfrm>
            <a:off x="548640" y="1481328"/>
            <a:ext cx="11091672" cy="2537460"/>
          </a:xfrm>
          <a:prstGeom prst="roundRect">
            <a:avLst>
              <a:gd name="adj" fmla="val 2162"/>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2</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Suma la potencia de las centrales que comparten el valor elegido.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resumen = centrales.groupby(agrupar_por)[</a:t>
            </a:r>
            <a:pPr indent="0" marL="0">
              <a:buNone/>
            </a:pPr>
            <a:r>
              <a:rPr lang="en-US" sz="1300" dirty="0">
                <a:solidFill>
                  <a:srgbClr val="A31515"/>
                </a:solidFill>
                <a:latin typeface="Courier New" pitchFamily="34" charset="0"/>
                <a:ea typeface="Courier New" pitchFamily="34" charset="-122"/>
                <a:cs typeface="Courier New" pitchFamily="34" charset="-120"/>
              </a:rPr>
              <a:t>"potencia_mw"</a:t>
            </a:r>
            <a:pPr indent="0" marL="0">
              <a:buNone/>
            </a:pPr>
            <a:r>
              <a:rPr lang="en-US" sz="1300" dirty="0">
                <a:solidFill>
                  <a:srgbClr val="202124"/>
                </a:solidFill>
                <a:latin typeface="Courier New" pitchFamily="34" charset="0"/>
                <a:ea typeface="Courier New" pitchFamily="34" charset="-122"/>
                <a:cs typeface="Courier New" pitchFamily="34" charset="-120"/>
              </a:rPr>
              <a:t>].sum().sort_values()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plot.barh dibuja una barra horizontal por cada grupo.</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figsize es el ancho y el alto del gráfico, en pulgadas.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grafico = resumen.plot.barh(title=f</a:t>
            </a:r>
            <a:pPr indent="0" marL="0">
              <a:buNone/>
            </a:pPr>
            <a:r>
              <a:rPr lang="en-US" sz="1300" dirty="0">
                <a:solidFill>
                  <a:srgbClr val="A31515"/>
                </a:solidFill>
                <a:latin typeface="Courier New" pitchFamily="34" charset="0"/>
                <a:ea typeface="Courier New" pitchFamily="34" charset="-122"/>
                <a:cs typeface="Courier New" pitchFamily="34" charset="-120"/>
              </a:rPr>
              <a:t>"Potencia instalada por {agrupar_por}, en MW"</a:t>
            </a:r>
            <a:pPr indent="0" marL="0">
              <a:buNone/>
            </a:pPr>
            <a:r>
              <a:rPr lang="en-US" sz="1300" dirty="0">
                <a:solidFill>
                  <a:srgbClr val="202124"/>
                </a:solidFill>
                <a:latin typeface="Courier New" pitchFamily="34" charset="0"/>
                <a:ea typeface="Courier New" pitchFamily="34" charset="-122"/>
                <a:cs typeface="Courier New" pitchFamily="34" charset="-120"/>
              </a:rPr>
              <a:t>, figsize=(8, 3.5))</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tecnologia</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0553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238658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19" name="Shape 16"/>
          <p:cNvSpPr/>
          <p:nvPr/>
        </p:nvSpPr>
        <p:spPr>
          <a:xfrm>
            <a:off x="3072384" y="6062472"/>
            <a:ext cx="152247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316382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1" name="Shape 18"/>
          <p:cNvSpPr/>
          <p:nvPr/>
        </p:nvSpPr>
        <p:spPr>
          <a:xfrm>
            <a:off x="4732020" y="6062472"/>
            <a:ext cx="142646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482346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19 × 5</a:t>
            </a:r>
            <a:endParaRPr lang="en-US" sz="1200" dirty="0"/>
          </a:p>
        </p:txBody>
      </p:sp>
      <p:sp>
        <p:nvSpPr>
          <p:cNvPr id="23" name="Shape 20"/>
          <p:cNvSpPr/>
          <p:nvPr/>
        </p:nvSpPr>
        <p:spPr>
          <a:xfrm>
            <a:off x="6295644" y="6062472"/>
            <a:ext cx="1522476"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638708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un_dia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480 × 4</a:t>
            </a:r>
            <a:endParaRPr lang="en-US" sz="1200" dirty="0"/>
          </a:p>
        </p:txBody>
      </p:sp>
      <p:sp>
        <p:nvSpPr>
          <p:cNvPr id="25" name="Shape 22"/>
          <p:cNvSpPr/>
          <p:nvPr/>
        </p:nvSpPr>
        <p:spPr>
          <a:xfrm>
            <a:off x="7955280" y="6062472"/>
            <a:ext cx="1143000"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804672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como_unir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"left"</a:t>
            </a:r>
            <a:endParaRPr lang="en-US" sz="1200" dirty="0"/>
          </a:p>
        </p:txBody>
      </p:sp>
      <p:sp>
        <p:nvSpPr>
          <p:cNvPr id="27" name="Text 24"/>
          <p:cNvSpPr txBox="1"/>
          <p:nvPr/>
        </p:nvSpPr>
        <p:spPr>
          <a:xfrm>
            <a:off x="923544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6 más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resumen = centrales.groupby(agrupar_por)[</a:t>
            </a:r>
            <a:pPr indent="0" marL="0">
              <a:buNone/>
            </a:pPr>
            <a:r>
              <a:rPr lang="en-US" sz="1600" dirty="0">
                <a:solidFill>
                  <a:srgbClr val="A31515"/>
                </a:solidFill>
                <a:latin typeface="Courier New" pitchFamily="34" charset="0"/>
                <a:ea typeface="Courier New" pitchFamily="34" charset="-122"/>
                <a:cs typeface="Courier New" pitchFamily="34" charset="-120"/>
              </a:rPr>
              <a:t>"potencia_mw"</a:t>
            </a:r>
            <a:pPr indent="0" marL="0">
              <a:buNone/>
            </a:pPr>
            <a:r>
              <a:rPr lang="en-US" sz="1600" dirty="0">
                <a:solidFill>
                  <a:srgbClr val="202124"/>
                </a:solidFill>
                <a:latin typeface="Courier New" pitchFamily="34" charset="0"/>
                <a:ea typeface="Courier New" pitchFamily="34" charset="-122"/>
                <a:cs typeface="Courier New" pitchFamily="34" charset="-120"/>
              </a:rPr>
              <a:t>].sum().sort_values()</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centrales.groupby(agrupar_por)</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Separa las filas en grupos según la columna elegida, tecnología o región.</a:t>
            </a:r>
            <a:endParaRPr lang="en-US" sz="1600" dirty="0"/>
          </a:p>
        </p:txBody>
      </p:sp>
      <p:sp>
        <p:nvSpPr>
          <p:cNvPr id="13" name="Shape 11"/>
          <p:cNvSpPr/>
          <p:nvPr/>
        </p:nvSpPr>
        <p:spPr>
          <a:xfrm>
            <a:off x="548640" y="305206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052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95148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["potencia_mw"]</a:t>
            </a:r>
            <a:endParaRPr lang="en-US" sz="1400" dirty="0"/>
          </a:p>
        </p:txBody>
      </p:sp>
      <p:sp>
        <p:nvSpPr>
          <p:cNvPr id="17" name="Text 15"/>
          <p:cNvSpPr txBox="1"/>
          <p:nvPr/>
        </p:nvSpPr>
        <p:spPr>
          <a:xfrm>
            <a:off x="6263640" y="295148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De cada grupo, toma la columna potencia.</a:t>
            </a:r>
            <a:endParaRPr lang="en-US" sz="1600" dirty="0"/>
          </a:p>
        </p:txBody>
      </p:sp>
      <p:sp>
        <p:nvSpPr>
          <p:cNvPr id="18" name="Shape 16"/>
          <p:cNvSpPr/>
          <p:nvPr/>
        </p:nvSpPr>
        <p:spPr>
          <a:xfrm>
            <a:off x="548640" y="3728720"/>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28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640080"/>
          </a:xfrm>
          <a:prstGeom prst="roundRect">
            <a:avLst>
              <a:gd name="adj" fmla="val 7143"/>
            </a:avLst>
          </a:prstGeom>
          <a:solidFill>
            <a:srgbClr val="FDF0C8"/>
          </a:solidFill>
          <a:ln w="12700">
            <a:solidFill>
              <a:srgbClr val="FDF0C8"/>
            </a:solidFill>
            <a:prstDash val="solid"/>
          </a:ln>
        </p:spPr>
      </p:sp>
      <p:sp>
        <p:nvSpPr>
          <p:cNvPr id="21" name="Text 19"/>
          <p:cNvSpPr txBox="1"/>
          <p:nvPr/>
        </p:nvSpPr>
        <p:spPr>
          <a:xfrm>
            <a:off x="1170432" y="357327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.sum()</a:t>
            </a:r>
            <a:endParaRPr lang="en-US" sz="1400" dirty="0"/>
          </a:p>
        </p:txBody>
      </p:sp>
      <p:sp>
        <p:nvSpPr>
          <p:cNvPr id="22" name="Text 20"/>
          <p:cNvSpPr txBox="1"/>
          <p:nvPr/>
        </p:nvSpPr>
        <p:spPr>
          <a:xfrm>
            <a:off x="6263640" y="357327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Suma la potencia de cada grupo. Queda un número por grupo.</a:t>
            </a:r>
            <a:endParaRPr lang="en-US" sz="1600" dirty="0"/>
          </a:p>
        </p:txBody>
      </p:sp>
      <p:sp>
        <p:nvSpPr>
          <p:cNvPr id="23" name="Shape 21"/>
          <p:cNvSpPr/>
          <p:nvPr/>
        </p:nvSpPr>
        <p:spPr>
          <a:xfrm>
            <a:off x="548640" y="4405376"/>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4053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04792"/>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3047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.sort_values()</a:t>
            </a:r>
            <a:endParaRPr lang="en-US" sz="1400" dirty="0"/>
          </a:p>
        </p:txBody>
      </p:sp>
      <p:sp>
        <p:nvSpPr>
          <p:cNvPr id="27" name="Text 25"/>
          <p:cNvSpPr txBox="1"/>
          <p:nvPr/>
        </p:nvSpPr>
        <p:spPr>
          <a:xfrm>
            <a:off x="6263640" y="43047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Ordena de menor a mayor.</a:t>
            </a:r>
            <a:endParaRPr lang="en-US" sz="1600" dirty="0"/>
          </a:p>
        </p:txBody>
      </p:sp>
      <p:sp>
        <p:nvSpPr>
          <p:cNvPr id="28" name="Shape 26"/>
          <p:cNvSpPr/>
          <p:nvPr/>
        </p:nvSpPr>
        <p:spPr>
          <a:xfrm>
            <a:off x="548640" y="5027168"/>
            <a:ext cx="329184" cy="329184"/>
          </a:xfrm>
          <a:prstGeom prst="ellipse">
            <a:avLst/>
          </a:prstGeom>
          <a:solidFill>
            <a:srgbClr val="C5221F"/>
          </a:solidFill>
          <a:ln w="12700">
            <a:solidFill>
              <a:srgbClr val="C5221F"/>
            </a:solidFill>
            <a:prstDash val="solid"/>
          </a:ln>
        </p:spPr>
      </p:sp>
      <p:sp>
        <p:nvSpPr>
          <p:cNvPr id="29" name="Text 27"/>
          <p:cNvSpPr txBox="1"/>
          <p:nvPr/>
        </p:nvSpPr>
        <p:spPr>
          <a:xfrm>
            <a:off x="548640" y="5027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Shape 28"/>
          <p:cNvSpPr/>
          <p:nvPr/>
        </p:nvSpPr>
        <p:spPr>
          <a:xfrm>
            <a:off x="1051560" y="4926584"/>
            <a:ext cx="4937760" cy="530352"/>
          </a:xfrm>
          <a:prstGeom prst="roundRect">
            <a:avLst>
              <a:gd name="adj" fmla="val 8621"/>
            </a:avLst>
          </a:prstGeom>
          <a:solidFill>
            <a:srgbClr val="FCE8E6"/>
          </a:solidFill>
          <a:ln w="12700">
            <a:solidFill>
              <a:srgbClr val="FCE8E6"/>
            </a:solidFill>
            <a:prstDash val="solid"/>
          </a:ln>
        </p:spPr>
      </p:sp>
      <p:sp>
        <p:nvSpPr>
          <p:cNvPr id="31" name="Text 29"/>
          <p:cNvSpPr txBox="1"/>
          <p:nvPr/>
        </p:nvSpPr>
        <p:spPr>
          <a:xfrm>
            <a:off x="1170432" y="4926584"/>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resumen =</a:t>
            </a:r>
            <a:endParaRPr lang="en-US" sz="1400" dirty="0"/>
          </a:p>
        </p:txBody>
      </p:sp>
      <p:sp>
        <p:nvSpPr>
          <p:cNvPr id="32" name="Text 30"/>
          <p:cNvSpPr txBox="1"/>
          <p:nvPr/>
        </p:nvSpPr>
        <p:spPr>
          <a:xfrm>
            <a:off x="6263640" y="4926584"/>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el resultado.</a:t>
            </a:r>
            <a:endParaRPr lang="en-US" sz="1600" dirty="0"/>
          </a:p>
        </p:txBody>
      </p:sp>
      <p:sp>
        <p:nvSpPr>
          <p:cNvPr id="33" name="Shape 31"/>
          <p:cNvSpPr/>
          <p:nvPr/>
        </p:nvSpPr>
        <p:spPr>
          <a:xfrm>
            <a:off x="548640" y="5989320"/>
            <a:ext cx="73152" cy="548640"/>
          </a:xfrm>
          <a:prstGeom prst="rect">
            <a:avLst/>
          </a:prstGeom>
          <a:solidFill>
            <a:srgbClr val="0B3D62"/>
          </a:solidFill>
          <a:ln w="12700">
            <a:solidFill>
              <a:srgbClr val="0B3D62"/>
            </a:solidFill>
            <a:prstDash val="solid"/>
          </a:ln>
        </p:spPr>
      </p:sp>
      <p:sp>
        <p:nvSpPr>
          <p:cNvPr id="34" name="Text 3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agrupa las centrales, suma la potencia de cada grupo, ordena y guarda como resumen.</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agrupar en la lista y vuelve a correr la celda.</a:t>
            </a:r>
            <a:endParaRPr lang="en-US" sz="1400" dirty="0"/>
          </a:p>
        </p:txBody>
      </p:sp>
      <p:sp>
        <p:nvSpPr>
          <p:cNvPr id="6" name="Text 4"/>
          <p:cNvSpPr txBox="1"/>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pic>
        <p:nvPicPr>
          <p:cNvPr id="7" name="Image 0" descr="/tmp/claude-0/-home-claude/53fc5af0-c828-58c7-8b29-cc4adc4b42a1/scratchpad/sim/v8/lab01_img/fig1.png">    </p:cNvPr>
          <p:cNvPicPr>
            <a:picLocks noChangeAspect="1"/>
          </p:cNvPicPr>
          <p:nvPr/>
        </p:nvPicPr>
        <p:blipFill>
          <a:blip r:embed="rId1"/>
          <a:stretch>
            <a:fillRect/>
          </a:stretch>
        </p:blipFill>
        <p:spPr>
          <a:xfrm>
            <a:off x="1325880" y="1828800"/>
            <a:ext cx="4807131" cy="2103120"/>
          </a:xfrm>
          <a:prstGeom prst="rect">
            <a:avLst/>
          </a:prstGeom>
        </p:spPr>
      </p:pic>
      <p:sp>
        <p:nvSpPr>
          <p:cNvPr id="9" name="Text 5"/>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6"/>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11" name="Text 7"/>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2" name="Shape 8"/>
          <p:cNvSpPr/>
          <p:nvPr/>
        </p:nvSpPr>
        <p:spPr>
          <a:xfrm>
            <a:off x="2112264" y="6062472"/>
            <a:ext cx="1426464" cy="566928"/>
          </a:xfrm>
          <a:prstGeom prst="roundRect">
            <a:avLst>
              <a:gd name="adj" fmla="val 11290"/>
            </a:avLst>
          </a:prstGeom>
          <a:solidFill>
            <a:srgbClr val="FEF3D6"/>
          </a:solidFill>
          <a:ln w="25400">
            <a:solidFill>
              <a:srgbClr val="F9AB00"/>
            </a:solidFill>
            <a:prstDash val="solid"/>
          </a:ln>
        </p:spPr>
      </p:sp>
      <p:sp>
        <p:nvSpPr>
          <p:cNvPr id="13" name="Text 9"/>
          <p:cNvSpPr txBox="1"/>
          <p:nvPr/>
        </p:nvSpPr>
        <p:spPr>
          <a:xfrm>
            <a:off x="2203704"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"tecnologia"</a:t>
            </a:r>
            <a:endParaRPr lang="en-US" sz="1200" dirty="0"/>
          </a:p>
        </p:txBody>
      </p:sp>
      <p:sp>
        <p:nvSpPr>
          <p:cNvPr id="14" name="Shape 10"/>
          <p:cNvSpPr/>
          <p:nvPr/>
        </p:nvSpPr>
        <p:spPr>
          <a:xfrm>
            <a:off x="3675888" y="6062472"/>
            <a:ext cx="2002536" cy="566928"/>
          </a:xfrm>
          <a:prstGeom prst="roundRect">
            <a:avLst>
              <a:gd name="adj" fmla="val 11290"/>
            </a:avLst>
          </a:prstGeom>
          <a:solidFill>
            <a:srgbClr val="FEF3D6"/>
          </a:solidFill>
          <a:ln w="25400">
            <a:solidFill>
              <a:srgbClr val="F9AB00"/>
            </a:solidFill>
            <a:prstDash val="solid"/>
          </a:ln>
        </p:spPr>
      </p:sp>
      <p:sp>
        <p:nvSpPr>
          <p:cNvPr id="15" name="Text 11"/>
          <p:cNvSpPr txBox="1"/>
          <p:nvPr/>
        </p:nvSpPr>
        <p:spPr>
          <a:xfrm>
            <a:off x="376732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16" name="Shape 12"/>
          <p:cNvSpPr/>
          <p:nvPr/>
        </p:nvSpPr>
        <p:spPr>
          <a:xfrm>
            <a:off x="5815584" y="6062472"/>
            <a:ext cx="2386584" cy="566928"/>
          </a:xfrm>
          <a:prstGeom prst="roundRect">
            <a:avLst>
              <a:gd name="adj" fmla="val 11290"/>
            </a:avLst>
          </a:prstGeom>
          <a:solidFill>
            <a:srgbClr val="F1F3F4"/>
          </a:solidFill>
          <a:ln w="12700">
            <a:solidFill>
              <a:srgbClr val="DADCE0"/>
            </a:solidFill>
            <a:prstDash val="solid"/>
          </a:ln>
        </p:spPr>
      </p:sp>
      <p:sp>
        <p:nvSpPr>
          <p:cNvPr id="17" name="Text 13"/>
          <p:cNvSpPr txBox="1"/>
          <p:nvPr/>
        </p:nvSpPr>
        <p:spPr>
          <a:xfrm>
            <a:off x="5907024"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18" name="Shape 14"/>
          <p:cNvSpPr/>
          <p:nvPr/>
        </p:nvSpPr>
        <p:spPr>
          <a:xfrm>
            <a:off x="8339328" y="6062472"/>
            <a:ext cx="1522476" cy="566928"/>
          </a:xfrm>
          <a:prstGeom prst="roundRect">
            <a:avLst>
              <a:gd name="adj" fmla="val 11290"/>
            </a:avLst>
          </a:prstGeom>
          <a:solidFill>
            <a:srgbClr val="F1F3F4"/>
          </a:solidFill>
          <a:ln w="12700">
            <a:solidFill>
              <a:srgbClr val="DADCE0"/>
            </a:solidFill>
            <a:prstDash val="solid"/>
          </a:ln>
        </p:spPr>
      </p:sp>
      <p:sp>
        <p:nvSpPr>
          <p:cNvPr id="19" name="Text 15"/>
          <p:cNvSpPr txBox="1"/>
          <p:nvPr/>
        </p:nvSpPr>
        <p:spPr>
          <a:xfrm>
            <a:off x="8430768"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0" name="Text 16"/>
          <p:cNvSpPr txBox="1"/>
          <p:nvPr/>
        </p:nvSpPr>
        <p:spPr>
          <a:xfrm>
            <a:off x="99989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
        <p:nvSpPr>
          <p:cNvPr id="21" name="Text 17"/>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La celda suma la potencia por grupo y la dibuja.</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region en la lista y se vuelve a correr la celda.</a:t>
            </a:r>
            <a:endParaRPr lang="en-US" sz="1400" dirty="0"/>
          </a:p>
        </p:txBody>
      </p:sp>
      <p:sp>
        <p:nvSpPr>
          <p:cNvPr id="7" name="Shape 4"/>
          <p:cNvSpPr/>
          <p:nvPr/>
        </p:nvSpPr>
        <p:spPr>
          <a:xfrm>
            <a:off x="548640" y="1481328"/>
            <a:ext cx="11091672" cy="2537460"/>
          </a:xfrm>
          <a:prstGeom prst="roundRect">
            <a:avLst>
              <a:gd name="adj" fmla="val 2162"/>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2</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Suma la potencia de las centrales que comparten el valor elegido.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resumen = centrales.groupby(agrupar_por)[</a:t>
            </a:r>
            <a:pPr indent="0" marL="0">
              <a:buNone/>
            </a:pPr>
            <a:r>
              <a:rPr lang="en-US" sz="1300" dirty="0">
                <a:solidFill>
                  <a:srgbClr val="A31515"/>
                </a:solidFill>
                <a:latin typeface="Courier New" pitchFamily="34" charset="0"/>
                <a:ea typeface="Courier New" pitchFamily="34" charset="-122"/>
                <a:cs typeface="Courier New" pitchFamily="34" charset="-120"/>
              </a:rPr>
              <a:t>"potencia_mw"</a:t>
            </a:r>
            <a:pPr indent="0" marL="0">
              <a:buNone/>
            </a:pPr>
            <a:r>
              <a:rPr lang="en-US" sz="1300" dirty="0">
                <a:solidFill>
                  <a:srgbClr val="202124"/>
                </a:solidFill>
                <a:latin typeface="Courier New" pitchFamily="34" charset="0"/>
                <a:ea typeface="Courier New" pitchFamily="34" charset="-122"/>
                <a:cs typeface="Courier New" pitchFamily="34" charset="-120"/>
              </a:rPr>
              <a:t>].sum().sort_values()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plot.barh dibuja una barra horizontal por cada grupo.</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figsize es el ancho y el alto del gráfico, en pulgadas.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grafico = resumen.plot.barh(title=f</a:t>
            </a:r>
            <a:pPr indent="0" marL="0">
              <a:buNone/>
            </a:pPr>
            <a:r>
              <a:rPr lang="en-US" sz="1300" dirty="0">
                <a:solidFill>
                  <a:srgbClr val="A31515"/>
                </a:solidFill>
                <a:latin typeface="Courier New" pitchFamily="34" charset="0"/>
                <a:ea typeface="Courier New" pitchFamily="34" charset="-122"/>
                <a:cs typeface="Courier New" pitchFamily="34" charset="-120"/>
              </a:rPr>
              <a:t>"Potencia instalada por {agrupar_por}, en MW"</a:t>
            </a:r>
            <a:pPr indent="0" marL="0">
              <a:buNone/>
            </a:pPr>
            <a:r>
              <a:rPr lang="en-US" sz="1300" dirty="0">
                <a:solidFill>
                  <a:srgbClr val="202124"/>
                </a:solidFill>
                <a:latin typeface="Courier New" pitchFamily="34" charset="0"/>
                <a:ea typeface="Courier New" pitchFamily="34" charset="-122"/>
                <a:cs typeface="Courier New" pitchFamily="34" charset="-120"/>
              </a:rPr>
              <a:t>, figsize=(8, 3.5))</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region</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0553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200253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19" name="Shape 16"/>
          <p:cNvSpPr/>
          <p:nvPr/>
        </p:nvSpPr>
        <p:spPr>
          <a:xfrm>
            <a:off x="2688336" y="6062472"/>
            <a:ext cx="1426464"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779776"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"tecnologia"</a:t>
            </a:r>
            <a:endParaRPr lang="en-US" sz="1200" dirty="0"/>
          </a:p>
        </p:txBody>
      </p:sp>
      <p:sp>
        <p:nvSpPr>
          <p:cNvPr id="21" name="Shape 18"/>
          <p:cNvSpPr/>
          <p:nvPr/>
        </p:nvSpPr>
        <p:spPr>
          <a:xfrm>
            <a:off x="4251960" y="6062472"/>
            <a:ext cx="238658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4343400"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23" name="Shape 20"/>
          <p:cNvSpPr/>
          <p:nvPr/>
        </p:nvSpPr>
        <p:spPr>
          <a:xfrm>
            <a:off x="6775704" y="6062472"/>
            <a:ext cx="1522476"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6867144"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5" name="Shape 22"/>
          <p:cNvSpPr/>
          <p:nvPr/>
        </p:nvSpPr>
        <p:spPr>
          <a:xfrm>
            <a:off x="8435340" y="6062472"/>
            <a:ext cx="1426464"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85267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19 × 5</a:t>
            </a:r>
            <a:endParaRPr lang="en-US" sz="1200" dirty="0"/>
          </a:p>
        </p:txBody>
      </p:sp>
      <p:sp>
        <p:nvSpPr>
          <p:cNvPr id="27" name="Text 24"/>
          <p:cNvSpPr txBox="1"/>
          <p:nvPr/>
        </p:nvSpPr>
        <p:spPr>
          <a:xfrm>
            <a:off x="99989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
        <p:nvSpPr>
          <p:cNvPr id="28" name="Text 25"/>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region en la lista y se vuelve a correr la celda.</a:t>
            </a:r>
            <a:endParaRPr lang="en-US" sz="1400" dirty="0"/>
          </a:p>
        </p:txBody>
      </p:sp>
      <p:sp>
        <p:nvSpPr>
          <p:cNvPr id="6" name="Text 4"/>
          <p:cNvSpPr txBox="1"/>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pic>
        <p:nvPicPr>
          <p:cNvPr id="7" name="Image 0" descr="/tmp/claude-0/-home-claude/53fc5af0-c828-58c7-8b29-cc4adc4b42a1/scratchpad/sim/v8/lab01_img/fig2.png">    </p:cNvPr>
          <p:cNvPicPr>
            <a:picLocks noChangeAspect="1"/>
          </p:cNvPicPr>
          <p:nvPr/>
        </p:nvPicPr>
        <p:blipFill>
          <a:blip r:embed="rId1"/>
          <a:stretch>
            <a:fillRect/>
          </a:stretch>
        </p:blipFill>
        <p:spPr>
          <a:xfrm>
            <a:off x="1325880" y="1828800"/>
            <a:ext cx="4807131" cy="2103120"/>
          </a:xfrm>
          <a:prstGeom prst="rect">
            <a:avLst/>
          </a:prstGeom>
        </p:spPr>
      </p:pic>
      <p:sp>
        <p:nvSpPr>
          <p:cNvPr id="9" name="Text 5"/>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6"/>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11" name="Text 7"/>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2" name="Shape 8"/>
          <p:cNvSpPr/>
          <p:nvPr/>
        </p:nvSpPr>
        <p:spPr>
          <a:xfrm>
            <a:off x="2112264" y="6062472"/>
            <a:ext cx="1330452" cy="566928"/>
          </a:xfrm>
          <a:prstGeom prst="roundRect">
            <a:avLst>
              <a:gd name="adj" fmla="val 11290"/>
            </a:avLst>
          </a:prstGeom>
          <a:solidFill>
            <a:srgbClr val="FEF3D6"/>
          </a:solidFill>
          <a:ln w="25400">
            <a:solidFill>
              <a:srgbClr val="F9AB00"/>
            </a:solidFill>
            <a:prstDash val="solid"/>
          </a:ln>
        </p:spPr>
      </p:sp>
      <p:sp>
        <p:nvSpPr>
          <p:cNvPr id="13" name="Text 9"/>
          <p:cNvSpPr txBox="1"/>
          <p:nvPr/>
        </p:nvSpPr>
        <p:spPr>
          <a:xfrm>
            <a:off x="22037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4" name="Shape 10"/>
          <p:cNvSpPr/>
          <p:nvPr/>
        </p:nvSpPr>
        <p:spPr>
          <a:xfrm>
            <a:off x="3579876" y="6062472"/>
            <a:ext cx="2002536" cy="566928"/>
          </a:xfrm>
          <a:prstGeom prst="roundRect">
            <a:avLst>
              <a:gd name="adj" fmla="val 11290"/>
            </a:avLst>
          </a:prstGeom>
          <a:solidFill>
            <a:srgbClr val="FEF3D6"/>
          </a:solidFill>
          <a:ln w="25400">
            <a:solidFill>
              <a:srgbClr val="F9AB00"/>
            </a:solidFill>
            <a:prstDash val="solid"/>
          </a:ln>
        </p:spPr>
      </p:sp>
      <p:sp>
        <p:nvSpPr>
          <p:cNvPr id="15" name="Text 11"/>
          <p:cNvSpPr txBox="1"/>
          <p:nvPr/>
        </p:nvSpPr>
        <p:spPr>
          <a:xfrm>
            <a:off x="367131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6" name="Shape 12"/>
          <p:cNvSpPr/>
          <p:nvPr/>
        </p:nvSpPr>
        <p:spPr>
          <a:xfrm>
            <a:off x="5719572" y="6062472"/>
            <a:ext cx="2386584" cy="566928"/>
          </a:xfrm>
          <a:prstGeom prst="roundRect">
            <a:avLst>
              <a:gd name="adj" fmla="val 11290"/>
            </a:avLst>
          </a:prstGeom>
          <a:solidFill>
            <a:srgbClr val="F1F3F4"/>
          </a:solidFill>
          <a:ln w="12700">
            <a:solidFill>
              <a:srgbClr val="DADCE0"/>
            </a:solidFill>
            <a:prstDash val="solid"/>
          </a:ln>
        </p:spPr>
      </p:sp>
      <p:sp>
        <p:nvSpPr>
          <p:cNvPr id="17" name="Text 13"/>
          <p:cNvSpPr txBox="1"/>
          <p:nvPr/>
        </p:nvSpPr>
        <p:spPr>
          <a:xfrm>
            <a:off x="5811012"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18" name="Shape 14"/>
          <p:cNvSpPr/>
          <p:nvPr/>
        </p:nvSpPr>
        <p:spPr>
          <a:xfrm>
            <a:off x="8243316" y="6062472"/>
            <a:ext cx="1522476" cy="566928"/>
          </a:xfrm>
          <a:prstGeom prst="roundRect">
            <a:avLst>
              <a:gd name="adj" fmla="val 11290"/>
            </a:avLst>
          </a:prstGeom>
          <a:solidFill>
            <a:srgbClr val="F1F3F4"/>
          </a:solidFill>
          <a:ln w="12700">
            <a:solidFill>
              <a:srgbClr val="DADCE0"/>
            </a:solidFill>
            <a:prstDash val="solid"/>
          </a:ln>
        </p:spPr>
      </p:sp>
      <p:sp>
        <p:nvSpPr>
          <p:cNvPr id="19" name="Text 15"/>
          <p:cNvSpPr txBox="1"/>
          <p:nvPr/>
        </p:nvSpPr>
        <p:spPr>
          <a:xfrm>
            <a:off x="8334756"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0" name="Text 16"/>
          <p:cNvSpPr txBox="1"/>
          <p:nvPr/>
        </p:nvSpPr>
        <p:spPr>
          <a:xfrm>
            <a:off x="990295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
        <p:nvSpPr>
          <p:cNvPr id="21" name="Text 17"/>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El mismo resumen, ahora por región.</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la potencia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Potencia instalada no es energía generada.</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En este parque inventado la solar es segunda en potencia y quinta en energía, porque de noche no genera.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1426464"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3" name="Shape 10"/>
          <p:cNvSpPr/>
          <p:nvPr/>
        </p:nvSpPr>
        <p:spPr>
          <a:xfrm>
            <a:off x="2112264" y="6062472"/>
            <a:ext cx="1330452" cy="566928"/>
          </a:xfrm>
          <a:prstGeom prst="roundRect">
            <a:avLst>
              <a:gd name="adj" fmla="val 11290"/>
            </a:avLst>
          </a:prstGeom>
          <a:solidFill>
            <a:srgbClr val="FEF3D6"/>
          </a:solidFill>
          <a:ln w="25400">
            <a:solidFill>
              <a:srgbClr val="F9AB00"/>
            </a:solidFill>
            <a:prstDash val="solid"/>
          </a:ln>
        </p:spPr>
      </p:sp>
      <p:sp>
        <p:nvSpPr>
          <p:cNvPr id="14" name="Text 11"/>
          <p:cNvSpPr txBox="1"/>
          <p:nvPr/>
        </p:nvSpPr>
        <p:spPr>
          <a:xfrm>
            <a:off x="220370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5" name="Shape 12"/>
          <p:cNvSpPr/>
          <p:nvPr/>
        </p:nvSpPr>
        <p:spPr>
          <a:xfrm>
            <a:off x="3579876" y="6062472"/>
            <a:ext cx="2002536"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367131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7" name="Shape 14"/>
          <p:cNvSpPr/>
          <p:nvPr/>
        </p:nvSpPr>
        <p:spPr>
          <a:xfrm>
            <a:off x="5719572" y="6062472"/>
            <a:ext cx="238658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5811012"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19" name="Shape 16"/>
          <p:cNvSpPr/>
          <p:nvPr/>
        </p:nvSpPr>
        <p:spPr>
          <a:xfrm>
            <a:off x="8243316" y="6062472"/>
            <a:ext cx="152247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8334756"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1" name="Text 18"/>
          <p:cNvSpPr txBox="1"/>
          <p:nvPr/>
        </p:nvSpPr>
        <p:spPr>
          <a:xfrm>
            <a:off x="990295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los datos vienen en Excel?</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hoja lee read_excel.</a:t>
            </a:r>
            <a:endParaRPr lang="en-US" sz="1400" dirty="0"/>
          </a:p>
        </p:txBody>
      </p:sp>
      <p:pic>
        <p:nvPicPr>
          <p:cNvPr id="6" name="Image 0" descr="../work34/modulos/modulo01/img/lab01_estudio3_excel.png">    </p:cNvPr>
          <p:cNvPicPr>
            <a:picLocks noChangeAspect="1"/>
          </p:cNvPicPr>
          <p:nvPr/>
        </p:nvPicPr>
        <p:blipFill>
          <a:blip r:embed="rId1"/>
          <a:stretch>
            <a:fillRect/>
          </a:stretch>
        </p:blipFill>
        <p:spPr>
          <a:xfrm>
            <a:off x="548640" y="1463040"/>
            <a:ext cx="11091672" cy="383903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los datos vienen en Excel?</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mira la hoja de notas.</a:t>
            </a:r>
            <a:endParaRPr lang="en-US" sz="1400" dirty="0"/>
          </a:p>
        </p:txBody>
      </p:sp>
      <p:sp>
        <p:nvSpPr>
          <p:cNvPr id="7" name="Shape 4"/>
          <p:cNvSpPr/>
          <p:nvPr/>
        </p:nvSpPr>
        <p:spPr>
          <a:xfrm>
            <a:off x="548640" y="1481328"/>
            <a:ext cx="11091672" cy="1920240"/>
          </a:xfrm>
          <a:prstGeom prst="roundRect">
            <a:avLst>
              <a:gd name="adj" fmla="val 2857"/>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Sin sheet_name, read_excel lee solo la primera hoja del archivo.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primera = pd.read_excel(DATOS + </a:t>
            </a:r>
            <a:pPr indent="0" marL="0">
              <a:buNone/>
            </a:pPr>
            <a:r>
              <a:rPr lang="en-US" sz="1300" dirty="0">
                <a:solidFill>
                  <a:srgbClr val="A31515"/>
                </a:solidFill>
                <a:latin typeface="Courier New" pitchFamily="34" charset="0"/>
                <a:ea typeface="Courier New" pitchFamily="34" charset="-122"/>
                <a:cs typeface="Courier New" pitchFamily="34" charset="-120"/>
              </a:rPr>
              <a:t>"centrales.xlsx"</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"La primera hoja tiene"</a:t>
            </a:r>
            <a:pPr indent="0" marL="0">
              <a:buNone/>
            </a:pPr>
            <a:r>
              <a:rPr lang="en-US" sz="1300" dirty="0">
                <a:solidFill>
                  <a:srgbClr val="202124"/>
                </a:solidFill>
                <a:latin typeface="Courier New" pitchFamily="34" charset="0"/>
                <a:ea typeface="Courier New" pitchFamily="34" charset="-122"/>
                <a:cs typeface="Courier New" pitchFamily="34" charset="-120"/>
              </a:rPr>
              <a:t>, len(primera), </a:t>
            </a:r>
            <a:pPr indent="0" marL="0">
              <a:buNone/>
            </a:pPr>
            <a:r>
              <a:rPr lang="en-US" sz="1300" dirty="0">
                <a:solidFill>
                  <a:srgbClr val="A31515"/>
                </a:solidFill>
                <a:latin typeface="Courier New" pitchFamily="34" charset="0"/>
                <a:ea typeface="Courier New" pitchFamily="34" charset="-122"/>
                <a:cs typeface="Courier New" pitchFamily="34" charset="-120"/>
              </a:rPr>
              <a:t>"filas"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Con sheet_name se elige la hoja por su nombre, tal como aparece en la pestaña.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notas = pd.read_excel(DATOS + </a:t>
            </a:r>
            <a:pPr indent="0" marL="0">
              <a:buNone/>
            </a:pPr>
            <a:r>
              <a:rPr lang="en-US" sz="1300" dirty="0">
                <a:solidFill>
                  <a:srgbClr val="A31515"/>
                </a:solidFill>
                <a:latin typeface="Courier New" pitchFamily="34" charset="0"/>
                <a:ea typeface="Courier New" pitchFamily="34" charset="-122"/>
                <a:cs typeface="Courier New" pitchFamily="34" charset="-120"/>
              </a:rPr>
              <a:t>"centrales.xlsx"</a:t>
            </a:r>
            <a:pPr indent="0" marL="0">
              <a:buNone/>
            </a:pPr>
            <a:r>
              <a:rPr lang="en-US" sz="1300" dirty="0">
                <a:solidFill>
                  <a:srgbClr val="202124"/>
                </a:solidFill>
                <a:latin typeface="Courier New" pitchFamily="34" charset="0"/>
                <a:ea typeface="Courier New" pitchFamily="34" charset="-122"/>
                <a:cs typeface="Courier New" pitchFamily="34" charset="-120"/>
              </a:rPr>
              <a:t>, sheet_name=</a:t>
            </a:r>
            <a:pPr indent="0" marL="0">
              <a:buNone/>
            </a:pPr>
            <a:r>
              <a:rPr lang="en-US" sz="1300" dirty="0">
                <a:solidFill>
                  <a:srgbClr val="A31515"/>
                </a:solidFill>
                <a:latin typeface="Courier New" pitchFamily="34" charset="0"/>
                <a:ea typeface="Courier New" pitchFamily="34" charset="-122"/>
                <a:cs typeface="Courier New" pitchFamily="34" charset="-120"/>
              </a:rPr>
              <a:t>"notas"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notas</a:t>
            </a:r>
            <a:endParaRPr lang="en-US" sz="1300" dirty="0"/>
          </a:p>
        </p:txBody>
      </p:sp>
      <p:sp>
        <p:nvSpPr>
          <p:cNvPr id="11" name="Text 8"/>
          <p:cNvSpPr txBox="1"/>
          <p:nvPr/>
        </p:nvSpPr>
        <p:spPr>
          <a:xfrm>
            <a:off x="1325880" y="34381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2002536"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5" name="Shape 12"/>
          <p:cNvSpPr/>
          <p:nvPr/>
        </p:nvSpPr>
        <p:spPr>
          <a:xfrm>
            <a:off x="2688336" y="6062472"/>
            <a:ext cx="1330452"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77977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7" name="Shape 14"/>
          <p:cNvSpPr/>
          <p:nvPr/>
        </p:nvSpPr>
        <p:spPr>
          <a:xfrm>
            <a:off x="4155948" y="6062472"/>
            <a:ext cx="238658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4247388"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19" name="Shape 16"/>
          <p:cNvSpPr/>
          <p:nvPr/>
        </p:nvSpPr>
        <p:spPr>
          <a:xfrm>
            <a:off x="6679692" y="6062472"/>
            <a:ext cx="152247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677113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unido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528 × 8</a:t>
            </a:r>
            <a:endParaRPr lang="en-US" sz="1200" dirty="0"/>
          </a:p>
        </p:txBody>
      </p:sp>
      <p:sp>
        <p:nvSpPr>
          <p:cNvPr id="21" name="Shape 18"/>
          <p:cNvSpPr/>
          <p:nvPr/>
        </p:nvSpPr>
        <p:spPr>
          <a:xfrm>
            <a:off x="8339328" y="6062472"/>
            <a:ext cx="142646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8430768"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fichas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19 × 5</a:t>
            </a:r>
            <a:endParaRPr lang="en-US" sz="1200" dirty="0"/>
          </a:p>
        </p:txBody>
      </p:sp>
      <p:sp>
        <p:nvSpPr>
          <p:cNvPr id="23" name="Text 20"/>
          <p:cNvSpPr txBox="1"/>
          <p:nvPr/>
        </p:nvSpPr>
        <p:spPr>
          <a:xfrm>
            <a:off x="990295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los datos vienen en Excel?</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notas = pd.read_excel(DATOS + </a:t>
            </a:r>
            <a:pPr indent="0" marL="0">
              <a:buNone/>
            </a:pPr>
            <a:r>
              <a:rPr lang="en-US" sz="1600" dirty="0">
                <a:solidFill>
                  <a:srgbClr val="A31515"/>
                </a:solidFill>
                <a:latin typeface="Courier New" pitchFamily="34" charset="0"/>
                <a:ea typeface="Courier New" pitchFamily="34" charset="-122"/>
                <a:cs typeface="Courier New" pitchFamily="34" charset="-120"/>
              </a:rPr>
              <a:t>"centrales.xlsx"</a:t>
            </a:r>
            <a:pPr indent="0" marL="0">
              <a:buNone/>
            </a:pPr>
            <a:r>
              <a:rPr lang="en-US" sz="1600" dirty="0">
                <a:solidFill>
                  <a:srgbClr val="202124"/>
                </a:solidFill>
                <a:latin typeface="Courier New" pitchFamily="34" charset="0"/>
                <a:ea typeface="Courier New" pitchFamily="34" charset="-122"/>
                <a:cs typeface="Courier New" pitchFamily="34" charset="-120"/>
              </a:rPr>
              <a:t>, sheet_name=</a:t>
            </a:r>
            <a:pPr indent="0" marL="0">
              <a:buNone/>
            </a:pPr>
            <a:r>
              <a:rPr lang="en-US" sz="1600" dirty="0">
                <a:solidFill>
                  <a:srgbClr val="A31515"/>
                </a:solidFill>
                <a:latin typeface="Courier New" pitchFamily="34" charset="0"/>
                <a:ea typeface="Courier New" pitchFamily="34" charset="-122"/>
                <a:cs typeface="Courier New" pitchFamily="34" charset="-120"/>
              </a:rPr>
              <a:t>"notas"</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20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20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219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pd.read_excel( ... )</a:t>
            </a:r>
            <a:endParaRPr lang="en-US" sz="1400" dirty="0"/>
          </a:p>
        </p:txBody>
      </p:sp>
      <p:sp>
        <p:nvSpPr>
          <p:cNvPr id="12" name="Text 10"/>
          <p:cNvSpPr txBox="1"/>
          <p:nvPr/>
        </p:nvSpPr>
        <p:spPr>
          <a:xfrm>
            <a:off x="6263640" y="2219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Lee un archivo Excel, igual que read_csv lee un CSV.</a:t>
            </a:r>
            <a:endParaRPr lang="en-US" sz="1600" dirty="0"/>
          </a:p>
        </p:txBody>
      </p:sp>
      <p:sp>
        <p:nvSpPr>
          <p:cNvPr id="13" name="Shape 11"/>
          <p:cNvSpPr/>
          <p:nvPr/>
        </p:nvSpPr>
        <p:spPr>
          <a:xfrm>
            <a:off x="548640" y="2997200"/>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2997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1752"/>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84175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sheet_name="notas"</a:t>
            </a:r>
            <a:endParaRPr lang="en-US" sz="1400" dirty="0"/>
          </a:p>
        </p:txBody>
      </p:sp>
      <p:sp>
        <p:nvSpPr>
          <p:cNvPr id="17" name="Text 15"/>
          <p:cNvSpPr txBox="1"/>
          <p:nvPr/>
        </p:nvSpPr>
        <p:spPr>
          <a:xfrm>
            <a:off x="6263640" y="284175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Elige la hoja por su nombre. Sin esto se lee solo la primera.</a:t>
            </a:r>
            <a:endParaRPr lang="en-US" sz="1600" dirty="0"/>
          </a:p>
        </p:txBody>
      </p:sp>
      <p:sp>
        <p:nvSpPr>
          <p:cNvPr id="18" name="Shape 16"/>
          <p:cNvSpPr/>
          <p:nvPr/>
        </p:nvSpPr>
        <p:spPr>
          <a:xfrm>
            <a:off x="548640" y="3673856"/>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6738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57327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notas =</a:t>
            </a:r>
            <a:endParaRPr lang="en-US" sz="1400" dirty="0"/>
          </a:p>
        </p:txBody>
      </p:sp>
      <p:sp>
        <p:nvSpPr>
          <p:cNvPr id="22" name="Text 20"/>
          <p:cNvSpPr txBox="1"/>
          <p:nvPr/>
        </p:nvSpPr>
        <p:spPr>
          <a:xfrm>
            <a:off x="6263640" y="357327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la hoja como una tabla.</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lee la hoja notas de centrales.xlsx y guárdala como la tabla notas.</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los datos vienen en Excel?</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y mira la hoja de notas.</a:t>
            </a:r>
            <a:endParaRPr lang="en-US" sz="1400" dirty="0"/>
          </a:p>
        </p:txBody>
      </p:sp>
      <p:sp>
        <p:nvSpPr>
          <p:cNvPr id="6" name="Shape 4"/>
          <p:cNvSpPr/>
          <p:nvPr/>
        </p:nvSpPr>
        <p:spPr>
          <a:xfrm>
            <a:off x="548640" y="1481328"/>
            <a:ext cx="11091672" cy="1920240"/>
          </a:xfrm>
          <a:prstGeom prst="roundRect">
            <a:avLst>
              <a:gd name="adj" fmla="val 285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Sin sheet_name, read_excel lee solo la primera hoja del archivo.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primera = pd.read_excel(DATOS + </a:t>
            </a:r>
            <a:pPr indent="0" marL="0">
              <a:buNone/>
            </a:pPr>
            <a:r>
              <a:rPr lang="en-US" sz="1300" dirty="0">
                <a:solidFill>
                  <a:srgbClr val="A31515"/>
                </a:solidFill>
                <a:latin typeface="Courier New" pitchFamily="34" charset="0"/>
                <a:ea typeface="Courier New" pitchFamily="34" charset="-122"/>
                <a:cs typeface="Courier New" pitchFamily="34" charset="-120"/>
              </a:rPr>
              <a:t>"centrales.xlsx"</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"La primera hoja tiene"</a:t>
            </a:r>
            <a:pPr indent="0" marL="0">
              <a:buNone/>
            </a:pPr>
            <a:r>
              <a:rPr lang="en-US" sz="1300" dirty="0">
                <a:solidFill>
                  <a:srgbClr val="202124"/>
                </a:solidFill>
                <a:latin typeface="Courier New" pitchFamily="34" charset="0"/>
                <a:ea typeface="Courier New" pitchFamily="34" charset="-122"/>
                <a:cs typeface="Courier New" pitchFamily="34" charset="-120"/>
              </a:rPr>
              <a:t>, len(primera), </a:t>
            </a:r>
            <a:pPr indent="0" marL="0">
              <a:buNone/>
            </a:pPr>
            <a:r>
              <a:rPr lang="en-US" sz="1300" dirty="0">
                <a:solidFill>
                  <a:srgbClr val="A31515"/>
                </a:solidFill>
                <a:latin typeface="Courier New" pitchFamily="34" charset="0"/>
                <a:ea typeface="Courier New" pitchFamily="34" charset="-122"/>
                <a:cs typeface="Courier New" pitchFamily="34" charset="-120"/>
              </a:rPr>
              <a:t>"filas"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Con sheet_name se elige la hoja por su nombre, tal como aparece en la pestaña.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notas = pd.read_excel(DATOS + </a:t>
            </a:r>
            <a:pPr indent="0" marL="0">
              <a:buNone/>
            </a:pPr>
            <a:r>
              <a:rPr lang="en-US" sz="1300" dirty="0">
                <a:solidFill>
                  <a:srgbClr val="A31515"/>
                </a:solidFill>
                <a:latin typeface="Courier New" pitchFamily="34" charset="0"/>
                <a:ea typeface="Courier New" pitchFamily="34" charset="-122"/>
                <a:cs typeface="Courier New" pitchFamily="34" charset="-120"/>
              </a:rPr>
              <a:t>"centrales.xlsx"</a:t>
            </a:r>
            <a:pPr indent="0" marL="0">
              <a:buNone/>
            </a:pPr>
            <a:r>
              <a:rPr lang="en-US" sz="1300" dirty="0">
                <a:solidFill>
                  <a:srgbClr val="202124"/>
                </a:solidFill>
                <a:latin typeface="Courier New" pitchFamily="34" charset="0"/>
                <a:ea typeface="Courier New" pitchFamily="34" charset="-122"/>
                <a:cs typeface="Courier New" pitchFamily="34" charset="-120"/>
              </a:rPr>
              <a:t>, sheet_name=</a:t>
            </a:r>
            <a:pPr indent="0" marL="0">
              <a:buNone/>
            </a:pPr>
            <a:r>
              <a:rPr lang="en-US" sz="1300" dirty="0">
                <a:solidFill>
                  <a:srgbClr val="A31515"/>
                </a:solidFill>
                <a:latin typeface="Courier New" pitchFamily="34" charset="0"/>
                <a:ea typeface="Courier New" pitchFamily="34" charset="-122"/>
                <a:cs typeface="Courier New" pitchFamily="34" charset="-120"/>
              </a:rPr>
              <a:t>"notas"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notas</a:t>
            </a:r>
            <a:endParaRPr lang="en-US" sz="1300" dirty="0"/>
          </a:p>
        </p:txBody>
      </p:sp>
      <p:sp>
        <p:nvSpPr>
          <p:cNvPr id="10" name="Shape 8"/>
          <p:cNvSpPr/>
          <p:nvPr/>
        </p:nvSpPr>
        <p:spPr>
          <a:xfrm>
            <a:off x="1325880" y="3511296"/>
            <a:ext cx="10314432" cy="384048"/>
          </a:xfrm>
          <a:prstGeom prst="rect">
            <a:avLst/>
          </a:prstGeom>
          <a:solidFill>
            <a:srgbClr val="FFFFFF"/>
          </a:solidFill>
          <a:ln w="12700">
            <a:solidFill>
              <a:srgbClr val="DADCE0"/>
            </a:solidFill>
            <a:prstDash val="solid"/>
          </a:ln>
        </p:spPr>
      </p:sp>
      <p:sp>
        <p:nvSpPr>
          <p:cNvPr id="11" name="Text 9"/>
          <p:cNvSpPr txBox="1"/>
          <p:nvPr/>
        </p:nvSpPr>
        <p:spPr>
          <a:xfrm>
            <a:off x="1463040" y="3584448"/>
            <a:ext cx="10085832" cy="25603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La primera hoja tiene 20 filas</a:t>
            </a:r>
            <a:endParaRPr lang="en-US" sz="1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325880" y="3986784"/>
          <a:ext cx="9144000" cy="914400"/>
        </p:xfrm>
        <a:graphic>
          <a:graphicData uri="http://schemas.openxmlformats.org/drawingml/2006/table">
            <a:tbl>
              <a:tblPr/>
              <a:tblGrid>
                <a:gridCol w="365760"/>
                <a:gridCol w="557784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nota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Potencias declaradas al 31 de diciembre de 2024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Las centrales de pasada se informan con su potencia máxima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3" name="Shape 10"/>
          <p:cNvSpPr/>
          <p:nvPr/>
        </p:nvSpPr>
        <p:spPr>
          <a:xfrm>
            <a:off x="1325880" y="4855464"/>
            <a:ext cx="10314432" cy="566928"/>
          </a:xfrm>
          <a:prstGeom prst="roundRect">
            <a:avLst>
              <a:gd name="adj" fmla="val 9677"/>
            </a:avLst>
          </a:prstGeom>
          <a:solidFill>
            <a:srgbClr val="FFF8D6"/>
          </a:solidFill>
          <a:ln w="12700">
            <a:solidFill>
              <a:srgbClr val="FFF8D6"/>
            </a:solidFill>
            <a:prstDash val="solid"/>
          </a:ln>
        </p:spPr>
      </p:sp>
      <p:sp>
        <p:nvSpPr>
          <p:cNvPr id="14" name="Text 11"/>
          <p:cNvSpPr txBox="1"/>
          <p:nvPr/>
        </p:nvSpPr>
        <p:spPr>
          <a:xfrm>
            <a:off x="1508760" y="4855464"/>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Un Excel con varias hojas trae varias tablas.  </a:t>
            </a:r>
            <a:pPr indent="0" marL="0">
              <a:buNone/>
            </a:pPr>
            <a:r>
              <a:rPr lang="en-US" sz="1400" dirty="0">
                <a:solidFill>
                  <a:srgbClr val="202124"/>
                </a:solidFill>
                <a:latin typeface="Calibri" pitchFamily="34" charset="0"/>
                <a:ea typeface="Calibri" pitchFamily="34" charset="-122"/>
                <a:cs typeface="Calibri" pitchFamily="34" charset="-120"/>
              </a:rPr>
              <a:t>sheet_name elige cuál leer, por el nombre de su pestaña.</a:t>
            </a:r>
            <a:endParaRPr lang="en-US" sz="1400" dirty="0"/>
          </a:p>
        </p:txBody>
      </p:sp>
      <p:sp>
        <p:nvSpPr>
          <p:cNvPr id="16" name="Text 12"/>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3"/>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8" name="Text 14"/>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9" name="Shape 15"/>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20" name="Text 16"/>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1" name="Shape 17"/>
          <p:cNvSpPr/>
          <p:nvPr/>
        </p:nvSpPr>
        <p:spPr>
          <a:xfrm>
            <a:off x="4736592" y="6062472"/>
            <a:ext cx="1426464" cy="566928"/>
          </a:xfrm>
          <a:prstGeom prst="roundRect">
            <a:avLst>
              <a:gd name="adj" fmla="val 11290"/>
            </a:avLst>
          </a:prstGeom>
          <a:solidFill>
            <a:srgbClr val="FEF3D6"/>
          </a:solidFill>
          <a:ln w="25400">
            <a:solidFill>
              <a:srgbClr val="F9AB00"/>
            </a:solidFill>
            <a:prstDash val="solid"/>
          </a:ln>
        </p:spPr>
      </p:sp>
      <p:sp>
        <p:nvSpPr>
          <p:cNvPr id="22" name="Text 18"/>
          <p:cNvSpPr txBox="1"/>
          <p:nvPr/>
        </p:nvSpPr>
        <p:spPr>
          <a:xfrm>
            <a:off x="482803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primera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3" name="Shape 19"/>
          <p:cNvSpPr/>
          <p:nvPr/>
        </p:nvSpPr>
        <p:spPr>
          <a:xfrm>
            <a:off x="6300216" y="6062472"/>
            <a:ext cx="1330452" cy="566928"/>
          </a:xfrm>
          <a:prstGeom prst="roundRect">
            <a:avLst>
              <a:gd name="adj" fmla="val 11290"/>
            </a:avLst>
          </a:prstGeom>
          <a:solidFill>
            <a:srgbClr val="FEF3D6"/>
          </a:solidFill>
          <a:ln w="25400">
            <a:solidFill>
              <a:srgbClr val="F9AB00"/>
            </a:solidFill>
            <a:prstDash val="solid"/>
          </a:ln>
        </p:spPr>
      </p:sp>
      <p:sp>
        <p:nvSpPr>
          <p:cNvPr id="24" name="Text 20"/>
          <p:cNvSpPr txBox="1"/>
          <p:nvPr/>
        </p:nvSpPr>
        <p:spPr>
          <a:xfrm>
            <a:off x="639165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notas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1</a:t>
            </a:r>
            <a:endParaRPr lang="en-US" sz="1200" dirty="0"/>
          </a:p>
        </p:txBody>
      </p:sp>
      <p:sp>
        <p:nvSpPr>
          <p:cNvPr id="25" name="Shape 21"/>
          <p:cNvSpPr/>
          <p:nvPr/>
        </p:nvSpPr>
        <p:spPr>
          <a:xfrm>
            <a:off x="7767828" y="6062472"/>
            <a:ext cx="2002536" cy="566928"/>
          </a:xfrm>
          <a:prstGeom prst="roundRect">
            <a:avLst>
              <a:gd name="adj" fmla="val 11290"/>
            </a:avLst>
          </a:prstGeom>
          <a:solidFill>
            <a:srgbClr val="F1F3F4"/>
          </a:solidFill>
          <a:ln w="12700">
            <a:solidFill>
              <a:srgbClr val="DADCE0"/>
            </a:solidFill>
            <a:prstDash val="solid"/>
          </a:ln>
        </p:spPr>
      </p:sp>
      <p:sp>
        <p:nvSpPr>
          <p:cNvPr id="26" name="Text 22"/>
          <p:cNvSpPr txBox="1"/>
          <p:nvPr/>
        </p:nvSpPr>
        <p:spPr>
          <a:xfrm>
            <a:off x="785926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27" name="Text 23"/>
          <p:cNvSpPr txBox="1"/>
          <p:nvPr/>
        </p:nvSpPr>
        <p:spPr>
          <a:xfrm>
            <a:off x="990752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10 más</a:t>
            </a:r>
            <a:endParaRPr lang="en-US" sz="1200" dirty="0"/>
          </a:p>
        </p:txBody>
      </p:sp>
      <p:sp>
        <p:nvSpPr>
          <p:cNvPr id="28" name="Text 24"/>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Sin sheet_name se lee la primera hoja. Con sheet_name, la hoja que se nombra.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 servicio web?</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forma tiene la respuesta del servicio web.</a:t>
            </a:r>
            <a:endParaRPr lang="en-US" sz="1400" dirty="0"/>
          </a:p>
        </p:txBody>
      </p:sp>
      <p:pic>
        <p:nvPicPr>
          <p:cNvPr id="6" name="Image 0" descr="../work34/modulos/modulo01/img/lab01_estudio4_json.png">    </p:cNvPr>
          <p:cNvPicPr>
            <a:picLocks noChangeAspect="1"/>
          </p:cNvPicPr>
          <p:nvPr/>
        </p:nvPicPr>
        <p:blipFill>
          <a:blip r:embed="rId1"/>
          <a:stretch>
            <a:fillRect/>
          </a:stretch>
        </p:blipFill>
        <p:spPr>
          <a:xfrm>
            <a:off x="548640" y="1463040"/>
            <a:ext cx="11091672" cy="40970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 servicio web?</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7" name="Shape 4"/>
          <p:cNvSpPr/>
          <p:nvPr/>
        </p:nvSpPr>
        <p:spPr>
          <a:xfrm>
            <a:off x="548640" y="1481328"/>
            <a:ext cx="11091672" cy="2331720"/>
          </a:xfrm>
          <a:prstGeom prst="roundRect">
            <a:avLst>
              <a:gd name="adj" fmla="val 2353"/>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214884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4</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Así se lee un servicio web de verdad. Aquí la dirección apunta a un archivo del curso.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import requests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respuesta = requests.get(DATOS + </a:t>
            </a:r>
            <a:pPr indent="0" marL="0">
              <a:buNone/>
            </a:pPr>
            <a:r>
              <a:rPr lang="en-US" sz="1300" dirty="0">
                <a:solidFill>
                  <a:srgbClr val="A31515"/>
                </a:solidFill>
                <a:latin typeface="Courier New" pitchFamily="34" charset="0"/>
                <a:ea typeface="Courier New" pitchFamily="34" charset="-122"/>
                <a:cs typeface="Courier New" pitchFamily="34" charset="-120"/>
              </a:rPr>
              <a:t>"precios_nudo.json"</a:t>
            </a:r>
            <a:pPr indent="0" marL="0">
              <a:buNone/>
            </a:pPr>
            <a:r>
              <a:rPr lang="en-US" sz="1300" dirty="0">
                <a:solidFill>
                  <a:srgbClr val="202124"/>
                </a:solidFill>
                <a:latin typeface="Courier New" pitchFamily="34" charset="0"/>
                <a:ea typeface="Courier New" pitchFamily="34" charset="-122"/>
                <a:cs typeface="Courier New" pitchFamily="34" charset="-120"/>
              </a:rPr>
              <a:t>).json()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"Partes de la respuesta"</a:t>
            </a:r>
            <a:pPr indent="0" marL="0">
              <a:buNone/>
            </a:pPr>
            <a:r>
              <a:rPr lang="en-US" sz="1300" dirty="0">
                <a:solidFill>
                  <a:srgbClr val="202124"/>
                </a:solidFill>
                <a:latin typeface="Courier New" pitchFamily="34" charset="0"/>
                <a:ea typeface="Courier New" pitchFamily="34" charset="-122"/>
                <a:cs typeface="Courier New" pitchFamily="34" charset="-120"/>
              </a:rPr>
              <a:t>, list(respuesta.keys()))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parte datos es una lista de registros. pd.DataFrame la convierte en tabla.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precios = pd.DataFrame(respuesta[</a:t>
            </a:r>
            <a:pPr indent="0" marL="0">
              <a:buNone/>
            </a:pPr>
            <a:r>
              <a:rPr lang="en-US" sz="1300" dirty="0">
                <a:solidFill>
                  <a:srgbClr val="A31515"/>
                </a:solidFill>
                <a:latin typeface="Courier New" pitchFamily="34" charset="0"/>
                <a:ea typeface="Courier New" pitchFamily="34" charset="-122"/>
                <a:cs typeface="Courier New" pitchFamily="34" charset="-120"/>
              </a:rPr>
              <a:t>"datos"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precios.head()</a:t>
            </a:r>
            <a:endParaRPr lang="en-US" sz="1300" dirty="0"/>
          </a:p>
        </p:txBody>
      </p:sp>
      <p:sp>
        <p:nvSpPr>
          <p:cNvPr id="11" name="Text 8"/>
          <p:cNvSpPr txBox="1"/>
          <p:nvPr/>
        </p:nvSpPr>
        <p:spPr>
          <a:xfrm>
            <a:off x="1325880" y="384962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notas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1</a:t>
            </a:r>
            <a:endParaRPr lang="en-US" sz="1200" dirty="0"/>
          </a:p>
        </p:txBody>
      </p:sp>
      <p:sp>
        <p:nvSpPr>
          <p:cNvPr id="15" name="Shape 12"/>
          <p:cNvSpPr/>
          <p:nvPr/>
        </p:nvSpPr>
        <p:spPr>
          <a:xfrm>
            <a:off x="2016252" y="6062472"/>
            <a:ext cx="1426464"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10769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primera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7" name="Shape 14"/>
          <p:cNvSpPr/>
          <p:nvPr/>
        </p:nvSpPr>
        <p:spPr>
          <a:xfrm>
            <a:off x="3579876" y="6062472"/>
            <a:ext cx="200253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367131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9" name="Shape 16"/>
          <p:cNvSpPr/>
          <p:nvPr/>
        </p:nvSpPr>
        <p:spPr>
          <a:xfrm>
            <a:off x="5719572" y="6062472"/>
            <a:ext cx="1330452"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581101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21" name="Shape 18"/>
          <p:cNvSpPr/>
          <p:nvPr/>
        </p:nvSpPr>
        <p:spPr>
          <a:xfrm>
            <a:off x="7187184" y="6062472"/>
            <a:ext cx="238658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7278624" y="6071616"/>
            <a:ext cx="224942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archivo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"fichas_repetidas.csv"</a:t>
            </a:r>
            <a:endParaRPr lang="en-US" sz="1200" dirty="0"/>
          </a:p>
        </p:txBody>
      </p:sp>
      <p:sp>
        <p:nvSpPr>
          <p:cNvPr id="23" name="Text 20"/>
          <p:cNvSpPr txBox="1"/>
          <p:nvPr/>
        </p:nvSpPr>
        <p:spPr>
          <a:xfrm>
            <a:off x="971092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10 más</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 servicio web?</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respuesta = requests.get(DATOS + </a:t>
            </a:r>
            <a:pPr indent="0" marL="0">
              <a:buNone/>
            </a:pPr>
            <a:r>
              <a:rPr lang="en-US" sz="1600" dirty="0">
                <a:solidFill>
                  <a:srgbClr val="A31515"/>
                </a:solidFill>
                <a:latin typeface="Courier New" pitchFamily="34" charset="0"/>
                <a:ea typeface="Courier New" pitchFamily="34" charset="-122"/>
                <a:cs typeface="Courier New" pitchFamily="34" charset="-120"/>
              </a:rPr>
              <a:t>"precios_nudo.json"</a:t>
            </a:r>
            <a:pPr indent="0" marL="0">
              <a:buNone/>
            </a:pPr>
            <a:r>
              <a:rPr lang="en-US" sz="1600" dirty="0">
                <a:solidFill>
                  <a:srgbClr val="202124"/>
                </a:solidFill>
                <a:latin typeface="Courier New" pitchFamily="34" charset="0"/>
                <a:ea typeface="Courier New" pitchFamily="34" charset="-122"/>
                <a:cs typeface="Courier New" pitchFamily="34" charset="-120"/>
              </a:rPr>
              <a:t>).json()</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requests.get( ... )</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Pide la dirección a internet, como cuando se abre una página.</a:t>
            </a:r>
            <a:endParaRPr lang="en-US" sz="1600" dirty="0"/>
          </a:p>
        </p:txBody>
      </p:sp>
      <p:sp>
        <p:nvSpPr>
          <p:cNvPr id="13" name="Shape 11"/>
          <p:cNvSpPr/>
          <p:nvPr/>
        </p:nvSpPr>
        <p:spPr>
          <a:xfrm>
            <a:off x="548640" y="3106928"/>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0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95148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.json()</a:t>
            </a:r>
            <a:endParaRPr lang="en-US" sz="1400" dirty="0"/>
          </a:p>
        </p:txBody>
      </p:sp>
      <p:sp>
        <p:nvSpPr>
          <p:cNvPr id="17" name="Text 15"/>
          <p:cNvSpPr txBox="1"/>
          <p:nvPr/>
        </p:nvSpPr>
        <p:spPr>
          <a:xfrm>
            <a:off x="6263640" y="295148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Convierte la respuesta en datos que Python entiende, con llaves y listas.</a:t>
            </a:r>
            <a:endParaRPr lang="en-US" sz="1600" dirty="0"/>
          </a:p>
        </p:txBody>
      </p:sp>
      <p:sp>
        <p:nvSpPr>
          <p:cNvPr id="18" name="Shape 16"/>
          <p:cNvSpPr/>
          <p:nvPr/>
        </p:nvSpPr>
        <p:spPr>
          <a:xfrm>
            <a:off x="548640" y="3783584"/>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8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83000"/>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68300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respuesta =</a:t>
            </a:r>
            <a:endParaRPr lang="en-US" sz="1400" dirty="0"/>
          </a:p>
        </p:txBody>
      </p:sp>
      <p:sp>
        <p:nvSpPr>
          <p:cNvPr id="22" name="Text 20"/>
          <p:cNvSpPr txBox="1"/>
          <p:nvPr/>
        </p:nvSpPr>
        <p:spPr>
          <a:xfrm>
            <a:off x="6263640" y="368300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lo que llegó.</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pide los precios a la dirección y guarda la respuesta como datos.</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 servicio web?</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precios = pd.DataFrame(respuesta[</a:t>
            </a:r>
            <a:pPr indent="0" marL="0">
              <a:buNone/>
            </a:pPr>
            <a:r>
              <a:rPr lang="en-US" sz="1600" dirty="0">
                <a:solidFill>
                  <a:srgbClr val="A31515"/>
                </a:solidFill>
                <a:latin typeface="Courier New" pitchFamily="34" charset="0"/>
                <a:ea typeface="Courier New" pitchFamily="34" charset="-122"/>
                <a:cs typeface="Courier New" pitchFamily="34" charset="-120"/>
              </a:rPr>
              <a:t>"datos"</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respuesta["datos"]</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respuesta trae dos partes. Con corchetes se toma la parte datos, que es la lista de registros.</a:t>
            </a:r>
            <a:endParaRPr lang="en-US" sz="1600" dirty="0"/>
          </a:p>
        </p:txBody>
      </p:sp>
      <p:sp>
        <p:nvSpPr>
          <p:cNvPr id="13" name="Shape 11"/>
          <p:cNvSpPr/>
          <p:nvPr/>
        </p:nvSpPr>
        <p:spPr>
          <a:xfrm>
            <a:off x="548640" y="3106928"/>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0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95148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pd.DataFrame( ... )</a:t>
            </a:r>
            <a:endParaRPr lang="en-US" sz="1400" dirty="0"/>
          </a:p>
        </p:txBody>
      </p:sp>
      <p:sp>
        <p:nvSpPr>
          <p:cNvPr id="17" name="Text 15"/>
          <p:cNvSpPr txBox="1"/>
          <p:nvPr/>
        </p:nvSpPr>
        <p:spPr>
          <a:xfrm>
            <a:off x="6263640" y="295148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Convierte la lista de registros en una tabla, una fila por registro.</a:t>
            </a:r>
            <a:endParaRPr lang="en-US" sz="1600" dirty="0"/>
          </a:p>
        </p:txBody>
      </p:sp>
      <p:sp>
        <p:nvSpPr>
          <p:cNvPr id="18" name="Shape 16"/>
          <p:cNvSpPr/>
          <p:nvPr/>
        </p:nvSpPr>
        <p:spPr>
          <a:xfrm>
            <a:off x="548640" y="3783584"/>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8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83000"/>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68300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precios =</a:t>
            </a:r>
            <a:endParaRPr lang="en-US" sz="1400" dirty="0"/>
          </a:p>
        </p:txBody>
      </p:sp>
      <p:sp>
        <p:nvSpPr>
          <p:cNvPr id="22" name="Text 20"/>
          <p:cNvSpPr txBox="1"/>
          <p:nvPr/>
        </p:nvSpPr>
        <p:spPr>
          <a:xfrm>
            <a:off x="6263640" y="368300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la tabla con el nombre precios.</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convierte los registros de la parte datos en la tabla precios.</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 servicio web?</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Shape 4"/>
          <p:cNvSpPr/>
          <p:nvPr/>
        </p:nvSpPr>
        <p:spPr>
          <a:xfrm>
            <a:off x="548640" y="1481328"/>
            <a:ext cx="11091672" cy="2011680"/>
          </a:xfrm>
          <a:prstGeom prst="roundRect">
            <a:avLst>
              <a:gd name="adj" fmla="val 272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828800"/>
          </a:xfrm>
          <a:prstGeom prst="rect">
            <a:avLst/>
          </a:prstGeom>
          <a:noFill/>
          <a:ln/>
        </p:spPr>
        <p:txBody>
          <a:bodyPr wrap="square" lIns="0" tIns="0" rIns="0" bIns="0" rtlCol="0" anchor="t"/>
          <a:lstStyle/>
          <a:p>
            <a:pPr indent="0" marL="0">
              <a:buNone/>
            </a:pPr>
            <a:r>
              <a:rPr lang="en-US" sz="1100" i="1" dirty="0">
                <a:solidFill>
                  <a:srgbClr val="188038"/>
                </a:solidFill>
                <a:latin typeface="Courier New" pitchFamily="34" charset="0"/>
                <a:ea typeface="Courier New" pitchFamily="34" charset="-122"/>
                <a:cs typeface="Courier New" pitchFamily="34" charset="-120"/>
              </a:rPr>
              <a:t># Estudio 4</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Así se lee un servicio web de verdad. Aquí la dirección apunta a un archivo del curso.</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import requests</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respuesta = requests.get(DATOS + </a:t>
            </a:r>
            <a:pPr indent="0" marL="0">
              <a:buNone/>
            </a:pPr>
            <a:r>
              <a:rPr lang="en-US" sz="1100" dirty="0">
                <a:solidFill>
                  <a:srgbClr val="A31515"/>
                </a:solidFill>
                <a:latin typeface="Courier New" pitchFamily="34" charset="0"/>
                <a:ea typeface="Courier New" pitchFamily="34" charset="-122"/>
                <a:cs typeface="Courier New" pitchFamily="34" charset="-120"/>
              </a:rPr>
              <a:t>"precios_nudo.json"</a:t>
            </a:r>
            <a:pPr indent="0" marL="0">
              <a:buNone/>
            </a:pPr>
            <a:r>
              <a:rPr lang="en-US" sz="1100" dirty="0">
                <a:solidFill>
                  <a:srgbClr val="202124"/>
                </a:solidFill>
                <a:latin typeface="Courier New" pitchFamily="34" charset="0"/>
                <a:ea typeface="Courier New" pitchFamily="34" charset="-122"/>
                <a:cs typeface="Courier New" pitchFamily="34" charset="-120"/>
              </a:rPr>
              <a:t>).json()</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"Partes de la respuesta"</a:t>
            </a:r>
            <a:pPr indent="0" marL="0">
              <a:buNone/>
            </a:pPr>
            <a:r>
              <a:rPr lang="en-US" sz="1100" dirty="0">
                <a:solidFill>
                  <a:srgbClr val="202124"/>
                </a:solidFill>
                <a:latin typeface="Courier New" pitchFamily="34" charset="0"/>
                <a:ea typeface="Courier New" pitchFamily="34" charset="-122"/>
                <a:cs typeface="Courier New" pitchFamily="34" charset="-120"/>
              </a:rPr>
              <a:t>, list(respuesta.keys()))</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La parte datos es una lista de registros. pd.DataFrame la convierte en tabla.</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precios = pd.DataFrame(respuesta[</a:t>
            </a:r>
            <a:pPr indent="0" marL="0">
              <a:buNone/>
            </a:pPr>
            <a:r>
              <a:rPr lang="en-US" sz="1100" dirty="0">
                <a:solidFill>
                  <a:srgbClr val="A31515"/>
                </a:solidFill>
                <a:latin typeface="Courier New" pitchFamily="34" charset="0"/>
                <a:ea typeface="Courier New" pitchFamily="34" charset="-122"/>
                <a:cs typeface="Courier New" pitchFamily="34" charset="-120"/>
              </a:rPr>
              <a:t>"datos"</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precios.head()</a:t>
            </a:r>
            <a:endParaRPr lang="en-US" sz="1100" dirty="0"/>
          </a:p>
        </p:txBody>
      </p:sp>
      <p:sp>
        <p:nvSpPr>
          <p:cNvPr id="10" name="Shape 8"/>
          <p:cNvSpPr/>
          <p:nvPr/>
        </p:nvSpPr>
        <p:spPr>
          <a:xfrm>
            <a:off x="1325880" y="3602736"/>
            <a:ext cx="10314432" cy="384048"/>
          </a:xfrm>
          <a:prstGeom prst="rect">
            <a:avLst/>
          </a:prstGeom>
          <a:solidFill>
            <a:srgbClr val="FFFFFF"/>
          </a:solidFill>
          <a:ln w="12700">
            <a:solidFill>
              <a:srgbClr val="DADCE0"/>
            </a:solidFill>
            <a:prstDash val="solid"/>
          </a:ln>
        </p:spPr>
      </p:sp>
      <p:sp>
        <p:nvSpPr>
          <p:cNvPr id="11" name="Text 9"/>
          <p:cNvSpPr txBox="1"/>
          <p:nvPr/>
        </p:nvSpPr>
        <p:spPr>
          <a:xfrm>
            <a:off x="1463040" y="3675888"/>
            <a:ext cx="10085832" cy="25603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Partes de la respuesta ['metadata', 'datos']</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325880" y="4078224"/>
          <a:ext cx="9144000" cy="914400"/>
        </p:xfrm>
        <a:graphic>
          <a:graphicData uri="http://schemas.openxmlformats.org/drawingml/2006/table">
            <a:tbl>
              <a:tblPr/>
              <a:tblGrid>
                <a:gridCol w="365760"/>
                <a:gridCol w="1188720"/>
                <a:gridCol w="822960"/>
                <a:gridCol w="1280160"/>
                <a:gridCol w="155448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precio_usd_mwh</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47.97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40.81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49.35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45.50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40.00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4" name="Text 10"/>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5" name="Shape 11"/>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6" name="Text 12"/>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7" name="Shape 13"/>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8" name="Text 14"/>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9" name="Shape 15"/>
          <p:cNvSpPr/>
          <p:nvPr/>
        </p:nvSpPr>
        <p:spPr>
          <a:xfrm>
            <a:off x="4736592" y="6062472"/>
            <a:ext cx="2002536" cy="566928"/>
          </a:xfrm>
          <a:prstGeom prst="roundRect">
            <a:avLst>
              <a:gd name="adj" fmla="val 11290"/>
            </a:avLst>
          </a:prstGeom>
          <a:solidFill>
            <a:srgbClr val="FEF3D6"/>
          </a:solidFill>
          <a:ln w="25400">
            <a:solidFill>
              <a:srgbClr val="F9AB00"/>
            </a:solidFill>
            <a:prstDash val="solid"/>
          </a:ln>
        </p:spPr>
      </p:sp>
      <p:sp>
        <p:nvSpPr>
          <p:cNvPr id="20" name="Text 16"/>
          <p:cNvSpPr txBox="1"/>
          <p:nvPr/>
        </p:nvSpPr>
        <p:spPr>
          <a:xfrm>
            <a:off x="482803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respuesta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datos con 2 partes</a:t>
            </a:r>
            <a:endParaRPr lang="en-US" sz="1200" dirty="0"/>
          </a:p>
        </p:txBody>
      </p:sp>
      <p:sp>
        <p:nvSpPr>
          <p:cNvPr id="21" name="Shape 17"/>
          <p:cNvSpPr/>
          <p:nvPr/>
        </p:nvSpPr>
        <p:spPr>
          <a:xfrm>
            <a:off x="6876288" y="6062472"/>
            <a:ext cx="1618488" cy="566928"/>
          </a:xfrm>
          <a:prstGeom prst="roundRect">
            <a:avLst>
              <a:gd name="adj" fmla="val 11290"/>
            </a:avLst>
          </a:prstGeom>
          <a:solidFill>
            <a:srgbClr val="FEF3D6"/>
          </a:solidFill>
          <a:ln w="25400">
            <a:solidFill>
              <a:srgbClr val="F9AB00"/>
            </a:solidFill>
            <a:prstDash val="solid"/>
          </a:ln>
        </p:spPr>
      </p:sp>
      <p:sp>
        <p:nvSpPr>
          <p:cNvPr id="22" name="Text 18"/>
          <p:cNvSpPr txBox="1"/>
          <p:nvPr/>
        </p:nvSpPr>
        <p:spPr>
          <a:xfrm>
            <a:off x="6967728"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23" name="Shape 19"/>
          <p:cNvSpPr/>
          <p:nvPr/>
        </p:nvSpPr>
        <p:spPr>
          <a:xfrm>
            <a:off x="8631936" y="6062472"/>
            <a:ext cx="1330452" cy="566928"/>
          </a:xfrm>
          <a:prstGeom prst="roundRect">
            <a:avLst>
              <a:gd name="adj" fmla="val 11290"/>
            </a:avLst>
          </a:prstGeom>
          <a:solidFill>
            <a:srgbClr val="F1F3F4"/>
          </a:solidFill>
          <a:ln w="12700">
            <a:solidFill>
              <a:srgbClr val="DADCE0"/>
            </a:solidFill>
            <a:prstDash val="solid"/>
          </a:ln>
        </p:spPr>
      </p:sp>
      <p:sp>
        <p:nvSpPr>
          <p:cNvPr id="24" name="Text 20"/>
          <p:cNvSpPr txBox="1"/>
          <p:nvPr/>
        </p:nvSpPr>
        <p:spPr>
          <a:xfrm>
            <a:off x="872337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notas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1</a:t>
            </a:r>
            <a:endParaRPr lang="en-US" sz="1200" dirty="0"/>
          </a:p>
        </p:txBody>
      </p:sp>
      <p:sp>
        <p:nvSpPr>
          <p:cNvPr id="25" name="Text 21"/>
          <p:cNvSpPr txBox="1"/>
          <p:nvPr/>
        </p:nvSpPr>
        <p:spPr>
          <a:xfrm>
            <a:off x="1009954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
        <p:nvSpPr>
          <p:cNvPr id="26" name="Text 22"/>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La respuesta de un servicio web se convierte en tabla.</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 servicio web?</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 servicio web entrega datos, no una página.</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Se toma la parte que trae los registros y se convierte en tabla.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2002536"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respuesta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datos con 2 partes</a:t>
            </a:r>
            <a:endParaRPr lang="en-US" sz="1200" dirty="0"/>
          </a:p>
        </p:txBody>
      </p:sp>
      <p:sp>
        <p:nvSpPr>
          <p:cNvPr id="17" name="Shape 14"/>
          <p:cNvSpPr/>
          <p:nvPr/>
        </p:nvSpPr>
        <p:spPr>
          <a:xfrm>
            <a:off x="6876288" y="6062472"/>
            <a:ext cx="1618488" cy="566928"/>
          </a:xfrm>
          <a:prstGeom prst="roundRect">
            <a:avLst>
              <a:gd name="adj" fmla="val 11290"/>
            </a:avLst>
          </a:prstGeom>
          <a:solidFill>
            <a:srgbClr val="FEF3D6"/>
          </a:solidFill>
          <a:ln w="25400">
            <a:solidFill>
              <a:srgbClr val="F9AB00"/>
            </a:solidFill>
            <a:prstDash val="solid"/>
          </a:ln>
        </p:spPr>
      </p:sp>
      <p:sp>
        <p:nvSpPr>
          <p:cNvPr id="18" name="Text 15"/>
          <p:cNvSpPr txBox="1"/>
          <p:nvPr/>
        </p:nvSpPr>
        <p:spPr>
          <a:xfrm>
            <a:off x="6967728"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19" name="Shape 16"/>
          <p:cNvSpPr/>
          <p:nvPr/>
        </p:nvSpPr>
        <p:spPr>
          <a:xfrm>
            <a:off x="8631936" y="6062472"/>
            <a:ext cx="1330452"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872337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notas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1</a:t>
            </a:r>
            <a:endParaRPr lang="en-US" sz="1200" dirty="0"/>
          </a:p>
        </p:txBody>
      </p:sp>
      <p:sp>
        <p:nvSpPr>
          <p:cNvPr id="21" name="Text 18"/>
          <p:cNvSpPr txBox="1"/>
          <p:nvPr/>
        </p:nvSpPr>
        <p:spPr>
          <a:xfrm>
            <a:off x="1009954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una base de datos?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viaja la pregunta a la base y qué vuelve.</a:t>
            </a:r>
            <a:endParaRPr lang="en-US" sz="1400" dirty="0"/>
          </a:p>
        </p:txBody>
      </p:sp>
      <p:pic>
        <p:nvPicPr>
          <p:cNvPr id="6" name="Image 0" descr="../work34/modulos/modulo01/img/lab01_paso8_sql.png">    </p:cNvPr>
          <p:cNvPicPr>
            <a:picLocks noChangeAspect="1"/>
          </p:cNvPicPr>
          <p:nvPr/>
        </p:nvPicPr>
        <p:blipFill>
          <a:blip r:embed="rId1"/>
          <a:stretch>
            <a:fillRect/>
          </a:stretch>
        </p:blipFill>
        <p:spPr>
          <a:xfrm>
            <a:off x="548640" y="1463040"/>
            <a:ext cx="11091672" cy="433231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5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una base de datos?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7" name="Shape 4"/>
          <p:cNvSpPr/>
          <p:nvPr/>
        </p:nvSpPr>
        <p:spPr>
          <a:xfrm>
            <a:off x="548640" y="1481328"/>
            <a:ext cx="11091672" cy="3154680"/>
          </a:xfrm>
          <a:prstGeom prst="roundRect">
            <a:avLst>
              <a:gd name="adj" fmla="val 1739"/>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297180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Se baja el archivo de la base a Colab y se abre una conexión con él.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import sqlite3, urllib.request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urllib.request.urlretrieve(DATOS + </a:t>
            </a:r>
            <a:pPr indent="0" marL="0">
              <a:buNone/>
            </a:pPr>
            <a:r>
              <a:rPr lang="en-US" sz="1300" dirty="0">
                <a:solidFill>
                  <a:srgbClr val="A31515"/>
                </a:solidFill>
                <a:latin typeface="Courier New" pitchFamily="34" charset="0"/>
                <a:ea typeface="Courier New" pitchFamily="34" charset="-122"/>
                <a:cs typeface="Courier New" pitchFamily="34" charset="-120"/>
              </a:rPr>
              <a:t>"demanda.db"</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"demanda.db"</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conexion = sqlite3.connect(</a:t>
            </a:r>
            <a:pPr indent="0" marL="0">
              <a:buNone/>
            </a:pPr>
            <a:r>
              <a:rPr lang="en-US" sz="1300" dirty="0">
                <a:solidFill>
                  <a:srgbClr val="A31515"/>
                </a:solidFill>
                <a:latin typeface="Courier New" pitchFamily="34" charset="0"/>
                <a:ea typeface="Courier New" pitchFamily="34" charset="-122"/>
                <a:cs typeface="Courier New" pitchFamily="34" charset="-120"/>
              </a:rPr>
              <a:t>"demanda.db"</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El cálculo se escribe en SQL y lo resuelve la base, que entrega solo el resumen.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consulta = </a:t>
            </a:r>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SELECT region, SUM(mwh) AS demanda_total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FROM demanda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GROUP BY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ORDER BY demanda_total DESC</a:t>
            </a:r>
            <a:endParaRPr lang="en-US" sz="1300" dirty="0"/>
          </a:p>
          <a:p>
            <a:pPr indent="0" marL="0">
              <a:buNone/>
            </a:pPr>
            <a:r>
              <a:rPr lang="en-US" sz="1300" dirty="0">
                <a:solidFill>
                  <a:srgbClr val="A31515"/>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pd.read_sql(consulta, conexion)</a:t>
            </a:r>
            <a:endParaRPr lang="en-US" sz="1300" dirty="0"/>
          </a:p>
        </p:txBody>
      </p:sp>
      <p:sp>
        <p:nvSpPr>
          <p:cNvPr id="11" name="Text 8"/>
          <p:cNvSpPr txBox="1"/>
          <p:nvPr/>
        </p:nvSpPr>
        <p:spPr>
          <a:xfrm>
            <a:off x="1325880" y="467258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1618488"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15" name="Shape 12"/>
          <p:cNvSpPr/>
          <p:nvPr/>
        </p:nvSpPr>
        <p:spPr>
          <a:xfrm>
            <a:off x="2304288" y="6062472"/>
            <a:ext cx="2002536"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39572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respuesta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datos con 2 partes</a:t>
            </a:r>
            <a:endParaRPr lang="en-US" sz="1200" dirty="0"/>
          </a:p>
        </p:txBody>
      </p:sp>
      <p:sp>
        <p:nvSpPr>
          <p:cNvPr id="17" name="Shape 14"/>
          <p:cNvSpPr/>
          <p:nvPr/>
        </p:nvSpPr>
        <p:spPr>
          <a:xfrm>
            <a:off x="4443984" y="6062472"/>
            <a:ext cx="133045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453542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notas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 × 1</a:t>
            </a:r>
            <a:endParaRPr lang="en-US" sz="1200" dirty="0"/>
          </a:p>
        </p:txBody>
      </p:sp>
      <p:sp>
        <p:nvSpPr>
          <p:cNvPr id="19" name="Shape 16"/>
          <p:cNvSpPr/>
          <p:nvPr/>
        </p:nvSpPr>
        <p:spPr>
          <a:xfrm>
            <a:off x="5911596" y="6062472"/>
            <a:ext cx="1426464"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6003036"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primera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1" name="Shape 18"/>
          <p:cNvSpPr/>
          <p:nvPr/>
        </p:nvSpPr>
        <p:spPr>
          <a:xfrm>
            <a:off x="7475220" y="6062472"/>
            <a:ext cx="2002536"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756666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23" name="Text 20"/>
          <p:cNvSpPr txBox="1"/>
          <p:nvPr/>
        </p:nvSpPr>
        <p:spPr>
          <a:xfrm>
            <a:off x="9614916"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una base de datos?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1244600"/>
          </a:xfrm>
          <a:prstGeom prst="roundRect">
            <a:avLst>
              <a:gd name="adj" fmla="val 4408"/>
            </a:avLst>
          </a:prstGeom>
          <a:solidFill>
            <a:srgbClr val="F8F9FA"/>
          </a:solidFill>
          <a:ln w="12700">
            <a:solidFill>
              <a:srgbClr val="DADCE0"/>
            </a:solidFill>
            <a:prstDash val="solid"/>
          </a:ln>
        </p:spPr>
      </p:sp>
      <p:sp>
        <p:nvSpPr>
          <p:cNvPr id="7" name="Text 5"/>
          <p:cNvSpPr txBox="1"/>
          <p:nvPr/>
        </p:nvSpPr>
        <p:spPr>
          <a:xfrm>
            <a:off x="822960" y="1554480"/>
            <a:ext cx="10634472" cy="1107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SELECT region, SUM(mwh) AS demanda_total</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FROM demanda</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GROUP BY region</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ORDER BY demanda_total DESC</a:t>
            </a:r>
            <a:endParaRPr lang="en-US" sz="1600" dirty="0"/>
          </a:p>
        </p:txBody>
      </p:sp>
      <p:sp>
        <p:nvSpPr>
          <p:cNvPr id="8" name="Shape 6"/>
          <p:cNvSpPr/>
          <p:nvPr/>
        </p:nvSpPr>
        <p:spPr>
          <a:xfrm>
            <a:off x="548640" y="3066079"/>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3066079"/>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981960"/>
            <a:ext cx="4937760" cy="497422"/>
          </a:xfrm>
          <a:prstGeom prst="roundRect">
            <a:avLst>
              <a:gd name="adj" fmla="val 9191"/>
            </a:avLst>
          </a:prstGeom>
          <a:solidFill>
            <a:srgbClr val="DBE9FB"/>
          </a:solidFill>
          <a:ln w="12700">
            <a:solidFill>
              <a:srgbClr val="DBE9FB"/>
            </a:solidFill>
            <a:prstDash val="solid"/>
          </a:ln>
        </p:spPr>
      </p:sp>
      <p:sp>
        <p:nvSpPr>
          <p:cNvPr id="11" name="Text 9"/>
          <p:cNvSpPr txBox="1"/>
          <p:nvPr/>
        </p:nvSpPr>
        <p:spPr>
          <a:xfrm>
            <a:off x="1170432" y="2981960"/>
            <a:ext cx="4754880" cy="497422"/>
          </a:xfrm>
          <a:prstGeom prst="rect">
            <a:avLst/>
          </a:prstGeom>
          <a:noFill/>
          <a:ln/>
        </p:spPr>
        <p:txBody>
          <a:bodyPr wrap="square" lIns="0" tIns="0" rIns="0" bIns="0" rtlCol="0" anchor="ctr"/>
          <a:lstStyle/>
          <a:p>
            <a:pPr indent="0" marL="0">
              <a:buNone/>
            </a:pPr>
            <a:r>
              <a:rPr lang="en-US" sz="1313" b="1" dirty="0">
                <a:solidFill>
                  <a:srgbClr val="202124"/>
                </a:solidFill>
                <a:latin typeface="Courier New" pitchFamily="34" charset="0"/>
                <a:ea typeface="Courier New" pitchFamily="34" charset="-122"/>
                <a:cs typeface="Courier New" pitchFamily="34" charset="-120"/>
              </a:rPr>
              <a:t>SELECT region, SUM(mwh)</a:t>
            </a:r>
            <a:endParaRPr lang="en-US" sz="1313" dirty="0"/>
          </a:p>
        </p:txBody>
      </p:sp>
      <p:sp>
        <p:nvSpPr>
          <p:cNvPr id="12" name="Text 10"/>
          <p:cNvSpPr txBox="1"/>
          <p:nvPr/>
        </p:nvSpPr>
        <p:spPr>
          <a:xfrm>
            <a:off x="6263640" y="2981960"/>
            <a:ext cx="5376672" cy="497422"/>
          </a:xfrm>
          <a:prstGeom prst="rect">
            <a:avLst/>
          </a:prstGeom>
          <a:noFill/>
          <a:ln/>
        </p:spPr>
        <p:txBody>
          <a:bodyPr wrap="square" lIns="0" tIns="0" rIns="0" bIns="0" rtlCol="0" anchor="ctr"/>
          <a:lstStyle/>
          <a:p>
            <a:pPr indent="0" marL="0">
              <a:buNone/>
            </a:pPr>
            <a:r>
              <a:rPr lang="en-US" sz="1501" dirty="0">
                <a:solidFill>
                  <a:srgbClr val="202124"/>
                </a:solidFill>
                <a:latin typeface="Calibri" pitchFamily="34" charset="0"/>
                <a:ea typeface="Calibri" pitchFamily="34" charset="-122"/>
                <a:cs typeface="Calibri" pitchFamily="34" charset="-120"/>
              </a:rPr>
              <a:t>Qué columnas traer. La región y la suma de mwh.</a:t>
            </a:r>
            <a:endParaRPr lang="en-US" sz="1501" dirty="0"/>
          </a:p>
        </p:txBody>
      </p:sp>
      <p:sp>
        <p:nvSpPr>
          <p:cNvPr id="13" name="Shape 11"/>
          <p:cNvSpPr/>
          <p:nvPr/>
        </p:nvSpPr>
        <p:spPr>
          <a:xfrm>
            <a:off x="548640" y="3649263"/>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649263"/>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565144"/>
            <a:ext cx="4937760" cy="497422"/>
          </a:xfrm>
          <a:prstGeom prst="roundRect">
            <a:avLst>
              <a:gd name="adj" fmla="val 9191"/>
            </a:avLst>
          </a:prstGeom>
          <a:solidFill>
            <a:srgbClr val="DCEFE0"/>
          </a:solidFill>
          <a:ln w="12700">
            <a:solidFill>
              <a:srgbClr val="DCEFE0"/>
            </a:solidFill>
            <a:prstDash val="solid"/>
          </a:ln>
        </p:spPr>
      </p:sp>
      <p:sp>
        <p:nvSpPr>
          <p:cNvPr id="16" name="Text 14"/>
          <p:cNvSpPr txBox="1"/>
          <p:nvPr/>
        </p:nvSpPr>
        <p:spPr>
          <a:xfrm>
            <a:off x="1170432" y="3565144"/>
            <a:ext cx="4754880" cy="497422"/>
          </a:xfrm>
          <a:prstGeom prst="rect">
            <a:avLst/>
          </a:prstGeom>
          <a:noFill/>
          <a:ln/>
        </p:spPr>
        <p:txBody>
          <a:bodyPr wrap="square" lIns="0" tIns="0" rIns="0" bIns="0" rtlCol="0" anchor="ctr"/>
          <a:lstStyle/>
          <a:p>
            <a:pPr indent="0" marL="0">
              <a:buNone/>
            </a:pPr>
            <a:r>
              <a:rPr lang="en-US" sz="1313" b="1" dirty="0">
                <a:solidFill>
                  <a:srgbClr val="202124"/>
                </a:solidFill>
                <a:latin typeface="Courier New" pitchFamily="34" charset="0"/>
                <a:ea typeface="Courier New" pitchFamily="34" charset="-122"/>
                <a:cs typeface="Courier New" pitchFamily="34" charset="-120"/>
              </a:rPr>
              <a:t>AS demanda_total</a:t>
            </a:r>
            <a:endParaRPr lang="en-US" sz="1313" dirty="0"/>
          </a:p>
        </p:txBody>
      </p:sp>
      <p:sp>
        <p:nvSpPr>
          <p:cNvPr id="17" name="Text 15"/>
          <p:cNvSpPr txBox="1"/>
          <p:nvPr/>
        </p:nvSpPr>
        <p:spPr>
          <a:xfrm>
            <a:off x="6263640" y="3565144"/>
            <a:ext cx="5376672" cy="497422"/>
          </a:xfrm>
          <a:prstGeom prst="rect">
            <a:avLst/>
          </a:prstGeom>
          <a:noFill/>
          <a:ln/>
        </p:spPr>
        <p:txBody>
          <a:bodyPr wrap="square" lIns="0" tIns="0" rIns="0" bIns="0" rtlCol="0" anchor="ctr"/>
          <a:lstStyle/>
          <a:p>
            <a:pPr indent="0" marL="0">
              <a:buNone/>
            </a:pPr>
            <a:r>
              <a:rPr lang="en-US" sz="1501" dirty="0">
                <a:solidFill>
                  <a:srgbClr val="202124"/>
                </a:solidFill>
                <a:latin typeface="Calibri" pitchFamily="34" charset="0"/>
                <a:ea typeface="Calibri" pitchFamily="34" charset="-122"/>
                <a:cs typeface="Calibri" pitchFamily="34" charset="-120"/>
              </a:rPr>
              <a:t>Le pone nombre a la suma.</a:t>
            </a:r>
            <a:endParaRPr lang="en-US" sz="1501" dirty="0"/>
          </a:p>
        </p:txBody>
      </p:sp>
      <p:sp>
        <p:nvSpPr>
          <p:cNvPr id="18" name="Shape 16"/>
          <p:cNvSpPr/>
          <p:nvPr/>
        </p:nvSpPr>
        <p:spPr>
          <a:xfrm>
            <a:off x="548640" y="4232447"/>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4232447"/>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4148328"/>
            <a:ext cx="4937760" cy="497422"/>
          </a:xfrm>
          <a:prstGeom prst="roundRect">
            <a:avLst>
              <a:gd name="adj" fmla="val 9191"/>
            </a:avLst>
          </a:prstGeom>
          <a:solidFill>
            <a:srgbClr val="FDF0C8"/>
          </a:solidFill>
          <a:ln w="12700">
            <a:solidFill>
              <a:srgbClr val="FDF0C8"/>
            </a:solidFill>
            <a:prstDash val="solid"/>
          </a:ln>
        </p:spPr>
      </p:sp>
      <p:sp>
        <p:nvSpPr>
          <p:cNvPr id="21" name="Text 19"/>
          <p:cNvSpPr txBox="1"/>
          <p:nvPr/>
        </p:nvSpPr>
        <p:spPr>
          <a:xfrm>
            <a:off x="1170432" y="4148328"/>
            <a:ext cx="4754880" cy="497422"/>
          </a:xfrm>
          <a:prstGeom prst="rect">
            <a:avLst/>
          </a:prstGeom>
          <a:noFill/>
          <a:ln/>
        </p:spPr>
        <p:txBody>
          <a:bodyPr wrap="square" lIns="0" tIns="0" rIns="0" bIns="0" rtlCol="0" anchor="ctr"/>
          <a:lstStyle/>
          <a:p>
            <a:pPr indent="0" marL="0">
              <a:buNone/>
            </a:pPr>
            <a:r>
              <a:rPr lang="en-US" sz="1313" b="1" dirty="0">
                <a:solidFill>
                  <a:srgbClr val="202124"/>
                </a:solidFill>
                <a:latin typeface="Courier New" pitchFamily="34" charset="0"/>
                <a:ea typeface="Courier New" pitchFamily="34" charset="-122"/>
                <a:cs typeface="Courier New" pitchFamily="34" charset="-120"/>
              </a:rPr>
              <a:t>FROM demanda</a:t>
            </a:r>
            <a:endParaRPr lang="en-US" sz="1313" dirty="0"/>
          </a:p>
        </p:txBody>
      </p:sp>
      <p:sp>
        <p:nvSpPr>
          <p:cNvPr id="22" name="Text 20"/>
          <p:cNvSpPr txBox="1"/>
          <p:nvPr/>
        </p:nvSpPr>
        <p:spPr>
          <a:xfrm>
            <a:off x="6263640" y="4148328"/>
            <a:ext cx="5376672" cy="497422"/>
          </a:xfrm>
          <a:prstGeom prst="rect">
            <a:avLst/>
          </a:prstGeom>
          <a:noFill/>
          <a:ln/>
        </p:spPr>
        <p:txBody>
          <a:bodyPr wrap="square" lIns="0" tIns="0" rIns="0" bIns="0" rtlCol="0" anchor="ctr"/>
          <a:lstStyle/>
          <a:p>
            <a:pPr indent="0" marL="0">
              <a:buNone/>
            </a:pPr>
            <a:r>
              <a:rPr lang="en-US" sz="1501" dirty="0">
                <a:solidFill>
                  <a:srgbClr val="202124"/>
                </a:solidFill>
                <a:latin typeface="Calibri" pitchFamily="34" charset="0"/>
                <a:ea typeface="Calibri" pitchFamily="34" charset="-122"/>
                <a:cs typeface="Calibri" pitchFamily="34" charset="-120"/>
              </a:rPr>
              <a:t>De qué tabla de la base.</a:t>
            </a:r>
            <a:endParaRPr lang="en-US" sz="1501" dirty="0"/>
          </a:p>
        </p:txBody>
      </p:sp>
      <p:sp>
        <p:nvSpPr>
          <p:cNvPr id="23" name="Shape 21"/>
          <p:cNvSpPr/>
          <p:nvPr/>
        </p:nvSpPr>
        <p:spPr>
          <a:xfrm>
            <a:off x="548640" y="4815631"/>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815631"/>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731512"/>
            <a:ext cx="4937760" cy="497422"/>
          </a:xfrm>
          <a:prstGeom prst="roundRect">
            <a:avLst>
              <a:gd name="adj" fmla="val 9191"/>
            </a:avLst>
          </a:prstGeom>
          <a:solidFill>
            <a:srgbClr val="ECE2FA"/>
          </a:solidFill>
          <a:ln w="12700">
            <a:solidFill>
              <a:srgbClr val="ECE2FA"/>
            </a:solidFill>
            <a:prstDash val="solid"/>
          </a:ln>
        </p:spPr>
      </p:sp>
      <p:sp>
        <p:nvSpPr>
          <p:cNvPr id="26" name="Text 24"/>
          <p:cNvSpPr txBox="1"/>
          <p:nvPr/>
        </p:nvSpPr>
        <p:spPr>
          <a:xfrm>
            <a:off x="1170432" y="4731512"/>
            <a:ext cx="4754880" cy="497422"/>
          </a:xfrm>
          <a:prstGeom prst="rect">
            <a:avLst/>
          </a:prstGeom>
          <a:noFill/>
          <a:ln/>
        </p:spPr>
        <p:txBody>
          <a:bodyPr wrap="square" lIns="0" tIns="0" rIns="0" bIns="0" rtlCol="0" anchor="ctr"/>
          <a:lstStyle/>
          <a:p>
            <a:pPr indent="0" marL="0">
              <a:buNone/>
            </a:pPr>
            <a:r>
              <a:rPr lang="en-US" sz="1313" b="1" dirty="0">
                <a:solidFill>
                  <a:srgbClr val="202124"/>
                </a:solidFill>
                <a:latin typeface="Courier New" pitchFamily="34" charset="0"/>
                <a:ea typeface="Courier New" pitchFamily="34" charset="-122"/>
                <a:cs typeface="Courier New" pitchFamily="34" charset="-120"/>
              </a:rPr>
              <a:t>GROUP BY region</a:t>
            </a:r>
            <a:endParaRPr lang="en-US" sz="1313" dirty="0"/>
          </a:p>
        </p:txBody>
      </p:sp>
      <p:sp>
        <p:nvSpPr>
          <p:cNvPr id="27" name="Text 25"/>
          <p:cNvSpPr txBox="1"/>
          <p:nvPr/>
        </p:nvSpPr>
        <p:spPr>
          <a:xfrm>
            <a:off x="6263640" y="4731512"/>
            <a:ext cx="5376672" cy="497422"/>
          </a:xfrm>
          <a:prstGeom prst="rect">
            <a:avLst/>
          </a:prstGeom>
          <a:noFill/>
          <a:ln/>
        </p:spPr>
        <p:txBody>
          <a:bodyPr wrap="square" lIns="0" tIns="0" rIns="0" bIns="0" rtlCol="0" anchor="ctr"/>
          <a:lstStyle/>
          <a:p>
            <a:pPr indent="0" marL="0">
              <a:buNone/>
            </a:pPr>
            <a:r>
              <a:rPr lang="en-US" sz="1501" dirty="0">
                <a:solidFill>
                  <a:srgbClr val="202124"/>
                </a:solidFill>
                <a:latin typeface="Calibri" pitchFamily="34" charset="0"/>
                <a:ea typeface="Calibri" pitchFamily="34" charset="-122"/>
                <a:cs typeface="Calibri" pitchFamily="34" charset="-120"/>
              </a:rPr>
              <a:t>Suma por región, igual que groupby en pandas.</a:t>
            </a:r>
            <a:endParaRPr lang="en-US" sz="1501" dirty="0"/>
          </a:p>
        </p:txBody>
      </p:sp>
      <p:sp>
        <p:nvSpPr>
          <p:cNvPr id="28" name="Shape 26"/>
          <p:cNvSpPr/>
          <p:nvPr/>
        </p:nvSpPr>
        <p:spPr>
          <a:xfrm>
            <a:off x="548640" y="5398815"/>
            <a:ext cx="329184" cy="329184"/>
          </a:xfrm>
          <a:prstGeom prst="ellipse">
            <a:avLst/>
          </a:prstGeom>
          <a:solidFill>
            <a:srgbClr val="C5221F"/>
          </a:solidFill>
          <a:ln w="12700">
            <a:solidFill>
              <a:srgbClr val="C5221F"/>
            </a:solidFill>
            <a:prstDash val="solid"/>
          </a:ln>
        </p:spPr>
      </p:sp>
      <p:sp>
        <p:nvSpPr>
          <p:cNvPr id="29" name="Text 27"/>
          <p:cNvSpPr txBox="1"/>
          <p:nvPr/>
        </p:nvSpPr>
        <p:spPr>
          <a:xfrm>
            <a:off x="548640" y="5398815"/>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Shape 28"/>
          <p:cNvSpPr/>
          <p:nvPr/>
        </p:nvSpPr>
        <p:spPr>
          <a:xfrm>
            <a:off x="1051560" y="5314696"/>
            <a:ext cx="4937760" cy="497422"/>
          </a:xfrm>
          <a:prstGeom prst="roundRect">
            <a:avLst>
              <a:gd name="adj" fmla="val 9191"/>
            </a:avLst>
          </a:prstGeom>
          <a:solidFill>
            <a:srgbClr val="FCE8E6"/>
          </a:solidFill>
          <a:ln w="12700">
            <a:solidFill>
              <a:srgbClr val="FCE8E6"/>
            </a:solidFill>
            <a:prstDash val="solid"/>
          </a:ln>
        </p:spPr>
      </p:sp>
      <p:sp>
        <p:nvSpPr>
          <p:cNvPr id="31" name="Text 29"/>
          <p:cNvSpPr txBox="1"/>
          <p:nvPr/>
        </p:nvSpPr>
        <p:spPr>
          <a:xfrm>
            <a:off x="1170432" y="5314696"/>
            <a:ext cx="4754880" cy="497422"/>
          </a:xfrm>
          <a:prstGeom prst="rect">
            <a:avLst/>
          </a:prstGeom>
          <a:noFill/>
          <a:ln/>
        </p:spPr>
        <p:txBody>
          <a:bodyPr wrap="square" lIns="0" tIns="0" rIns="0" bIns="0" rtlCol="0" anchor="ctr"/>
          <a:lstStyle/>
          <a:p>
            <a:pPr indent="0" marL="0">
              <a:buNone/>
            </a:pPr>
            <a:r>
              <a:rPr lang="en-US" sz="1313" b="1" dirty="0">
                <a:solidFill>
                  <a:srgbClr val="202124"/>
                </a:solidFill>
                <a:latin typeface="Courier New" pitchFamily="34" charset="0"/>
                <a:ea typeface="Courier New" pitchFamily="34" charset="-122"/>
                <a:cs typeface="Courier New" pitchFamily="34" charset="-120"/>
              </a:rPr>
              <a:t>ORDER BY ... DESC</a:t>
            </a:r>
            <a:endParaRPr lang="en-US" sz="1313" dirty="0"/>
          </a:p>
        </p:txBody>
      </p:sp>
      <p:sp>
        <p:nvSpPr>
          <p:cNvPr id="32" name="Text 30"/>
          <p:cNvSpPr txBox="1"/>
          <p:nvPr/>
        </p:nvSpPr>
        <p:spPr>
          <a:xfrm>
            <a:off x="6263640" y="5314696"/>
            <a:ext cx="5376672" cy="497422"/>
          </a:xfrm>
          <a:prstGeom prst="rect">
            <a:avLst/>
          </a:prstGeom>
          <a:noFill/>
          <a:ln/>
        </p:spPr>
        <p:txBody>
          <a:bodyPr wrap="square" lIns="0" tIns="0" rIns="0" bIns="0" rtlCol="0" anchor="ctr"/>
          <a:lstStyle/>
          <a:p>
            <a:pPr indent="0" marL="0">
              <a:buNone/>
            </a:pPr>
            <a:r>
              <a:rPr lang="en-US" sz="1501" dirty="0">
                <a:solidFill>
                  <a:srgbClr val="202124"/>
                </a:solidFill>
                <a:latin typeface="Calibri" pitchFamily="34" charset="0"/>
                <a:ea typeface="Calibri" pitchFamily="34" charset="-122"/>
                <a:cs typeface="Calibri" pitchFamily="34" charset="-120"/>
              </a:rPr>
              <a:t>Ordena de mayor a menor. DESC es descendente.</a:t>
            </a:r>
            <a:endParaRPr lang="en-US" sz="1501" dirty="0"/>
          </a:p>
        </p:txBody>
      </p:sp>
      <p:sp>
        <p:nvSpPr>
          <p:cNvPr id="33" name="Shape 31"/>
          <p:cNvSpPr/>
          <p:nvPr/>
        </p:nvSpPr>
        <p:spPr>
          <a:xfrm>
            <a:off x="548640" y="5989320"/>
            <a:ext cx="73152" cy="548640"/>
          </a:xfrm>
          <a:prstGeom prst="rect">
            <a:avLst/>
          </a:prstGeom>
          <a:solidFill>
            <a:srgbClr val="0B3D62"/>
          </a:solidFill>
          <a:ln w="12700">
            <a:solidFill>
              <a:srgbClr val="0B3D62"/>
            </a:solidFill>
            <a:prstDash val="solid"/>
          </a:ln>
        </p:spPr>
      </p:sp>
      <p:sp>
        <p:nvSpPr>
          <p:cNvPr id="34" name="Text 3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trae la demanda total de cada región, de la mayor a la menor.</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una base de datos?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Text 4"/>
          <p:cNvSpPr txBox="1"/>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325880" y="1828800"/>
          <a:ext cx="9144000" cy="914400"/>
        </p:xfrm>
        <a:graphic>
          <a:graphicData uri="http://schemas.openxmlformats.org/drawingml/2006/table">
            <a:tbl>
              <a:tblPr/>
              <a:tblGrid>
                <a:gridCol w="365760"/>
                <a:gridCol w="1463040"/>
                <a:gridCol w="146304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demanda_total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Metropolitana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7779657.53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1825770.20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1632753.33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864564.87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Coquimbo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816624.13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672440.52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Atacama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307486.00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9" name="Text 5"/>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6"/>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1" name="Text 7"/>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2" name="Shape 8"/>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3" name="Text 9"/>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4" name="Shape 10"/>
          <p:cNvSpPr/>
          <p:nvPr/>
        </p:nvSpPr>
        <p:spPr>
          <a:xfrm>
            <a:off x="4736592" y="6062472"/>
            <a:ext cx="2002536" cy="566928"/>
          </a:xfrm>
          <a:prstGeom prst="roundRect">
            <a:avLst>
              <a:gd name="adj" fmla="val 11290"/>
            </a:avLst>
          </a:prstGeom>
          <a:solidFill>
            <a:srgbClr val="FEF3D6"/>
          </a:solidFill>
          <a:ln w="25400">
            <a:solidFill>
              <a:srgbClr val="F9AB00"/>
            </a:solidFill>
            <a:prstDash val="solid"/>
          </a:ln>
        </p:spPr>
      </p:sp>
      <p:sp>
        <p:nvSpPr>
          <p:cNvPr id="15" name="Text 11"/>
          <p:cNvSpPr txBox="1"/>
          <p:nvPr/>
        </p:nvSpPr>
        <p:spPr>
          <a:xfrm>
            <a:off x="482803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conexion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conexión a la base</a:t>
            </a:r>
            <a:endParaRPr lang="en-US" sz="1200" dirty="0"/>
          </a:p>
        </p:txBody>
      </p:sp>
      <p:sp>
        <p:nvSpPr>
          <p:cNvPr id="16" name="Shape 12"/>
          <p:cNvSpPr/>
          <p:nvPr/>
        </p:nvSpPr>
        <p:spPr>
          <a:xfrm>
            <a:off x="6876288" y="6062472"/>
            <a:ext cx="2770632" cy="566928"/>
          </a:xfrm>
          <a:prstGeom prst="roundRect">
            <a:avLst>
              <a:gd name="adj" fmla="val 11290"/>
            </a:avLst>
          </a:prstGeom>
          <a:solidFill>
            <a:srgbClr val="FEF3D6"/>
          </a:solidFill>
          <a:ln w="25400">
            <a:solidFill>
              <a:srgbClr val="F9AB00"/>
            </a:solidFill>
            <a:prstDash val="solid"/>
          </a:ln>
        </p:spPr>
      </p:sp>
      <p:sp>
        <p:nvSpPr>
          <p:cNvPr id="17" name="Text 13"/>
          <p:cNvSpPr txBox="1"/>
          <p:nvPr/>
        </p:nvSpPr>
        <p:spPr>
          <a:xfrm>
            <a:off x="6967728"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consulta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"SELECT region, SUM(mwh) …</a:t>
            </a:r>
            <a:endParaRPr lang="en-US" sz="1200" dirty="0"/>
          </a:p>
        </p:txBody>
      </p:sp>
      <p:sp>
        <p:nvSpPr>
          <p:cNvPr id="18" name="Text 14"/>
          <p:cNvSpPr txBox="1"/>
          <p:nvPr/>
        </p:nvSpPr>
        <p:spPr>
          <a:xfrm>
            <a:off x="978408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15 más</a:t>
            </a:r>
            <a:endParaRPr lang="en-US" sz="1200" dirty="0"/>
          </a:p>
        </p:txBody>
      </p:sp>
      <p:sp>
        <p:nvSpPr>
          <p:cNvPr id="19" name="Text 15"/>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La base de datos entrega el resumen ya calculado, y también termina en una tabla.</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si vienen de una base de datos?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La base de datos hace el cálculo pesado.</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A pandas llega solo el resultado, 7 filas en vez de 61.488.</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2002536"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conexion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conexión a la base</a:t>
            </a:r>
            <a:endParaRPr lang="en-US" sz="1200" dirty="0"/>
          </a:p>
        </p:txBody>
      </p:sp>
      <p:sp>
        <p:nvSpPr>
          <p:cNvPr id="17" name="Shape 14"/>
          <p:cNvSpPr/>
          <p:nvPr/>
        </p:nvSpPr>
        <p:spPr>
          <a:xfrm>
            <a:off x="6876288" y="6062472"/>
            <a:ext cx="2770632" cy="566928"/>
          </a:xfrm>
          <a:prstGeom prst="roundRect">
            <a:avLst>
              <a:gd name="adj" fmla="val 11290"/>
            </a:avLst>
          </a:prstGeom>
          <a:solidFill>
            <a:srgbClr val="FEF3D6"/>
          </a:solidFill>
          <a:ln w="25400">
            <a:solidFill>
              <a:srgbClr val="F9AB00"/>
            </a:solidFill>
            <a:prstDash val="solid"/>
          </a:ln>
        </p:spPr>
      </p:sp>
      <p:sp>
        <p:nvSpPr>
          <p:cNvPr id="18" name="Text 15"/>
          <p:cNvSpPr txBox="1"/>
          <p:nvPr/>
        </p:nvSpPr>
        <p:spPr>
          <a:xfrm>
            <a:off x="6967728"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consulta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"SELECT region, SUM(mwh) …</a:t>
            </a:r>
            <a:endParaRPr lang="en-US" sz="1200" dirty="0"/>
          </a:p>
        </p:txBody>
      </p:sp>
      <p:sp>
        <p:nvSpPr>
          <p:cNvPr id="19" name="Text 16"/>
          <p:cNvSpPr txBox="1"/>
          <p:nvPr/>
        </p:nvSpPr>
        <p:spPr>
          <a:xfrm>
            <a:off x="978408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15 más</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3D62"/>
        </a:solidFill>
      </p:bgPr>
    </p:bg>
    <p:spTree>
      <p:nvGrpSpPr>
        <p:cNvPr id="1" name=""/>
        <p:cNvGrpSpPr/>
        <p:nvPr/>
      </p:nvGrpSpPr>
      <p:grpSpPr>
        <a:xfrm>
          <a:off x="0" y="0"/>
          <a:ext cx="0" cy="0"/>
          <a:chOff x="0" y="0"/>
          <a:chExt cx="0" cy="0"/>
        </a:xfrm>
      </p:grpSpPr>
      <p:sp>
        <p:nvSpPr>
          <p:cNvPr id="3" name="Text 0"/>
          <p:cNvSpPr txBox="1"/>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4" name="Text 1"/>
          <p:cNvSpPr txBox="1"/>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Ahora abran el Lab 01 guiado y hagan los 5 pasos de la Parte 1. La Parte 2 queda para la casa, con la guía y estas láminas.</a:t>
            </a:r>
            <a:endParaRPr lang="en-US" sz="2000" dirty="0"/>
          </a:p>
        </p:txBody>
      </p:sp>
      <p:sp>
        <p:nvSpPr>
          <p:cNvPr id="5" name="Text 2"/>
          <p:cNvSpPr txBox="1"/>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calza, escriban en el chat el número del paso.</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Del Lab 01 al Lab 02</a:t>
            </a:r>
            <a:endParaRPr lang="en-US" sz="3200" dirty="0"/>
          </a:p>
        </p:txBody>
      </p:sp>
      <p:sp>
        <p:nvSpPr>
          <p:cNvPr id="3" name="Text 1"/>
          <p:cNvSpPr txBox="1"/>
          <p:nvPr/>
        </p:nvSpPr>
        <p:spPr>
          <a:xfrm>
            <a:off x="548640" y="1143000"/>
            <a:ext cx="11091672" cy="45720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nos llevamos y cómo sigue</a:t>
            </a:r>
            <a:endParaRPr lang="en-US" sz="1800" dirty="0"/>
          </a:p>
        </p:txBody>
      </p:sp>
      <p:sp>
        <p:nvSpPr>
          <p:cNvPr id="4" name="Shape 2"/>
          <p:cNvSpPr/>
          <p:nvPr/>
        </p:nvSpPr>
        <p:spPr>
          <a:xfrm>
            <a:off x="548640" y="2011680"/>
            <a:ext cx="548640" cy="548640"/>
          </a:xfrm>
          <a:prstGeom prst="ellipse">
            <a:avLst/>
          </a:prstGeom>
          <a:solidFill>
            <a:srgbClr val="1A73E8"/>
          </a:solidFill>
          <a:ln w="12700">
            <a:solidFill>
              <a:srgbClr val="1A73E8"/>
            </a:solidFill>
            <a:prstDash val="solid"/>
          </a:ln>
        </p:spPr>
      </p:sp>
      <p:sp>
        <p:nvSpPr>
          <p:cNvPr id="5" name="Text 3"/>
          <p:cNvSpPr txBox="1"/>
          <p:nvPr/>
        </p:nvSpPr>
        <p:spPr>
          <a:xfrm>
            <a:off x="548640" y="2011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371600" y="192024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Antes y después de unir se cuentan las filas.</a:t>
            </a:r>
            <a:endParaRPr lang="en-US" sz="2200" dirty="0"/>
          </a:p>
        </p:txBody>
      </p:sp>
      <p:sp>
        <p:nvSpPr>
          <p:cNvPr id="7" name="Shape 5"/>
          <p:cNvSpPr/>
          <p:nvPr/>
        </p:nvSpPr>
        <p:spPr>
          <a:xfrm>
            <a:off x="548640" y="3200400"/>
            <a:ext cx="548640" cy="548640"/>
          </a:xfrm>
          <a:prstGeom prst="ellipse">
            <a:avLst/>
          </a:prstGeom>
          <a:solidFill>
            <a:srgbClr val="1A73E8"/>
          </a:solidFill>
          <a:ln w="12700">
            <a:solidFill>
              <a:srgbClr val="1A73E8"/>
            </a:solidFill>
            <a:prstDash val="solid"/>
          </a:ln>
        </p:spPr>
      </p:sp>
      <p:sp>
        <p:nvSpPr>
          <p:cNvPr id="8" name="Text 6"/>
          <p:cNvSpPr txBox="1"/>
          <p:nvPr/>
        </p:nvSpPr>
        <p:spPr>
          <a:xfrm>
            <a:off x="548640" y="3200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371600" y="310896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inner deja fuera sin aviso lo que no tiene pareja. Una ficha repetida multiplica las filas.</a:t>
            </a:r>
            <a:endParaRPr lang="en-US" sz="2200" dirty="0"/>
          </a:p>
        </p:txBody>
      </p:sp>
      <p:sp>
        <p:nvSpPr>
          <p:cNvPr id="10" name="Shape 8"/>
          <p:cNvSpPr/>
          <p:nvPr/>
        </p:nvSpPr>
        <p:spPr>
          <a:xfrm>
            <a:off x="548640" y="4389120"/>
            <a:ext cx="548640" cy="548640"/>
          </a:xfrm>
          <a:prstGeom prst="ellipse">
            <a:avLst/>
          </a:prstGeom>
          <a:solidFill>
            <a:srgbClr val="0B3D62"/>
          </a:solidFill>
          <a:ln w="12700">
            <a:solidFill>
              <a:srgbClr val="0B3D62"/>
            </a:solidFill>
            <a:prstDash val="solid"/>
          </a:ln>
        </p:spPr>
      </p:sp>
      <p:sp>
        <p:nvSpPr>
          <p:cNvPr id="11" name="Text 9"/>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371600" y="4297680"/>
            <a:ext cx="10268712" cy="731520"/>
          </a:xfrm>
          <a:prstGeom prst="rect">
            <a:avLst/>
          </a:prstGeom>
          <a:noFill/>
          <a:ln/>
        </p:spPr>
        <p:txBody>
          <a:bodyPr wrap="square" lIns="0" tIns="0" rIns="0" bIns="0" rtlCol="0" anchor="ctr"/>
          <a:lstStyle/>
          <a:p>
            <a:pPr indent="0" marL="0">
              <a:buNone/>
            </a:pPr>
            <a:r>
              <a:rPr lang="en-US" sz="2200" dirty="0">
                <a:solidFill>
                  <a:srgbClr val="202124"/>
                </a:solidFill>
                <a:latin typeface="Calibri" pitchFamily="34" charset="0"/>
                <a:ea typeface="Calibri" pitchFamily="34" charset="-122"/>
                <a:cs typeface="Calibri" pitchFamily="34" charset="-120"/>
              </a:rPr>
              <a:t>El Lab 02 parte uniendo de la misma forma, ahora con todo el año, y usa la tabla unida para filtrar, agrupar y resumir.</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01 guiado · Importar y unir</dc:title>
  <dc:subject>PptxGenJS Presentation</dc:subject>
  <dc:creator>PptxGenJS</dc:creator>
  <cp:lastModifiedBy>PptxGenJS</cp:lastModifiedBy>
  <cp:revision>1</cp:revision>
  <dcterms:created xsi:type="dcterms:W3CDTF">2026-10-15T10:37:52Z</dcterms:created>
  <dcterms:modified xsi:type="dcterms:W3CDTF">2026-10-15T10:37:52Z</dcterms:modified>
</cp:coreProperties>
</file>