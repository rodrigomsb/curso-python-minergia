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TIEMPOS SUGERIDOS
Esta presentación 25 min y el Lab 01 guiado en Colab 45 min.
ESTA LÁMINA
Presentar las tres preguntas del lab. Cómo se abre y se mira una tabla, de dónde pueden venir los datos y qué se pierde o se duplica al unir dos tablas. La tercera es la más importante para su trabajo.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esta lámina al comienzo. Hoy se ven solo estos 5 pasos, que son la Parte 1 del cuaderno. La Parte 2 está al final del mismo cuaderno y queda para la casa, con la guía en PDF. Se muestra en la última lámina.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A la izquierda el archivo tal como viene, texto con comas. A la derecha la tabla que arma pandas. La primera línea pasa a ser el nombre de las columnas y pandas agrega a la izquierda el número de fila, que se llama índice.
DECIR
El índice no viene en el archivo. Lo pone pandas para poder ubicar cada fila.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DATOS = "https://...datos/"
Guarda la dirección de la carpeta de datos del curso en GitHub. Va en mayúsculas por costumbre, para marcar que es un valor que no cambia. Así no hay que repetir la dirección larga en cada paso.
import pandas as pd
Trae pandas, la herramienta para tablas.
centrales = pd.read_csv(DATOS + "centrales.csv")
El signo más junta dos textos. La dirección de la carpeta más el nombre del archivo forma la dirección completa. read_csv lo lee y lo convierte en tabla.
centrales
Última línea, se muestra la tabla.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
Divide.
import
Trae una herramienta que no viene cargada desde el comienzo. import pandas as pd la trae y le pone el apodo pd, para escribir menos.
as
Le da un apodo a lo que se importa. Desde ahí se usa el apodo.
pd.read_csv( ... )
Lee un archivo separado por comas y lo convierte en tabla. pd es pandas.
+
Suma números. Con textos, los junta uno detrás del otro.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punto entre pd y read_csv se lee como de. read_csv de pandas.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
Divide.
import
Trae una herramienta que no viene cargada desde el comienzo. import pandas as pd la trae y le pone el apodo pd, para escribir menos.
as
Le da un apodo a lo que se importa. Desde ahí se usa el apodo.
pd.read_csv( ... )
Lee un archivo separado por comas y lo convierte en tabla. pd es pandas.
+
Suma números. Con textos, los junta uno detrás del otro.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Las mismas 20 centrales de la bienvenida. En la lámina se ven 6, en Colab se ven todas.
MEMORIA
DATOS, pd y centrales son nuevos.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
Divide.
import
Trae una herramienta que no viene cargada desde el comienzo. import pandas as pd la trae y le pone el apodo pd, para escribir menos.
as
Le da un apodo a lo que se importa. Desde ahí se usa el apodo.
pd.read_csv( ... )
Lee un archivo separado por comas y lo convierte en tabla. pd es pandas.
+
Suma números. Con textos, los junta uno detrás del otro.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Lo que tienen que llevarse es que el archivo es texto y la tabla es lo que pandas arma a partir de él. Desde ahora todo se trabaja sobre la tabla.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Primero se hace la pregunta a cada fila, si su tecnología es hidro. Sale una columna de True y False. Después pasan solo las filas con True.
DECIR
El número de fila se conserva. Por eso cuando eligen solar la tabla empieza en 5 y no en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tecnologia = "hidro" #@param [...]
Desplegable con las seis tecnologías. Van sin tilde, igual que en los datos.
filtradas = centrales[centrales["tecnologia"] == tecnologia]
Un filtro, igual al de la bienvenida. Se lee de adentro hacia afuera. Compara la columna con lo elegido y deja pasar solo las filas que coinciden.
print(f"✓ Hay {len(filtradas)} centrales de {tecnologia}")
len cuenta las filas.
filtradas
Se muestra.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tabla[condición]
Con una columna de True y False adentro, la tabla deja pasar solo las filas con True. Es un filtro.
tabla["columna"]
Corchetes con un nombre entre comillas eligen una columna de la tabla. También eligen una llave de un diccionario.
==
Dos signos igual preguntan si dos cosas son iguales. Dan True o False. Un solo igual guarda.
print( ... )
Muestra en pantalla lo que va dentro. Si van varias cosas separadas por coma, las muestra en una línea con un espacio entre ellas.
f"... {nombre} ..."
Texto con una f delante. Lo que va entre llaves se reemplaza por su valor al mostrarse.
len( ... )
Cuenta cuántos elementos tiene una lista o cuántas filas tiene una tabla.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lee de adentro hacia afuera. Las dos veces que aparece centrales confunde. Una es la columna que se compara y la otra la tabla que se filtra. Volver a la Bienvenida, Estudio 3, que usó el mismo filtro.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tabla[condición]
Con una columna de True y False adentro, la tabla deja pasar solo las filas con True. Es un filtro.
tabla["columna"]
Corchetes con un nombre entre comillas eligen una columna de la tabla. También eligen una llave de un diccionario.
==
Dos signos igual preguntan si dos cosas son iguales. Dan True o False. Un solo igual guarda.
print( ... )
Muestra en pantalla lo que va dentro. Si van varias cosas separadas por coma, las muestra en una línea con un espacio entre ellas.
f"... {nombre} ..."
Texto con una f delante. Lo que va entre llaves se reemplaza por su valor al mostrarse.
len( ... )
Cuenta cuántos elementos tiene una lista o cuántas filas tiene una tabla.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Hay 5 centrales hidro.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tabla[condición]
Con una columna de True y False adentro, la tabla deja pasar solo las filas con True. Es un filtro.
tabla["columna"]
Corchetes con un nombre entre comillas eligen una columna de la tabla. También eligen una llave de un diccionario.
==
Dos signos igual preguntan si dos cosas son iguales. Dan True o False. Un solo igual guarda.
print( ... )
Muestra en pantalla lo que va dentro. Si van varias cosas separadas por coma, las muestra en una línea con un espacio entre ellas.
f"... {nombre} ..."
Texto con una f delante. Lo que va entre llaves se reemplaza por su valor al mostrarse.
len( ... )
Cuenta cuántos elementos tiene una lista o cuántas filas tiene una tabla.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CAMBIÓ
Se eligió solar en el desplegable.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tabla[condición]
Con una columna de True y False adentro, la tabla deja pasar solo las filas con True. Es un filtro.
tabla["columna"]
Corchetes con un nombre entre comillas eligen una columna de la tabla. También eligen una llave de un diccionario.
==
Dos signos igual preguntan si dos cosas son iguales. Dan True o False. Un solo igual guarda.
print( ... )
Muestra en pantalla lo que va dentro. Si van varias cosas separadas por coma, las muestra en una línea con un espacio entre ellas.
f"... {nombre} ..."
Texto con una f delante. Lo que va entre llaves se reemplaza por su valor al mostrarse.
len( ... )
Cuenta cuántos elementos tiene una lista o cuántas filas tiene una tabla.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También 5, todas en Antofagasta y Atacama.
PREGUNTAR
¿Por qué creen que las solares están en el norte? Por la radiación.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tabla[condición]
Con una columna de True y False adentro, la tabla deja pasar solo las filas con True. Es un filtro.
tabla["columna"]
Corchetes con un nombre entre comillas eligen una columna de la tabla. También eligen una llave de un diccionario.
==
Dos signos igual preguntan si dos cosas son iguales. Dan True o False. Un solo igual guarda.
print( ... )
Muestra en pantalla lo que va dentro. Si van varias cosas separadas por coma, las muestra en una línea con un espacio entre ellas.
f"... {nombre} ..."
Texto con una f delante. Lo que va entre llaves se reemplaza por su valor al mostrarse.
len( ... )
Cuenta cuántos elementos tiene una lista o cuántas filas tiene una tabla.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La pregunta de adentro, centrales["tecnologia"] == tecnologia, da una columna de True y False. Los corchetes de afuera dejan pasar solo las filas con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La multiplicación. 20 centrales por 24 horas por 366 días da 175.680 filas. 2024 fue bisiesto.
DECIR
Cuando corramos la celda, el primer número que va a salir tiene que ser ese. Y parse_dates hace que la fecha deje de ser texto, por eso se le puede pedir el primer y el último día.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generacion = pd.read_csv(DATOS + "generacion.csv", parse_dates=["fecha"])
Lee el archivo de generación. parse_dates le avisa que la columna fecha trae fechas. Sin eso, la fecha llegaría como texto y no se podría pedir el primer o el último día.
generacion.shape
Filas y columnas.
generacion["fecha"].min().date() y max()
El primer y el último día.
generacion.head()
Muestra las primeras cinco filas.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pd.read_csv( ... )
Lee un archivo separado por comas y lo convierte en tabla. pd es pandas.
+
Suma números. Con textos, los junta uno detrás del otro.
"texto"
Lo que va entre comillas es texto. Sin comillas, Python lo entiende como un nombre o un número.
parse_dates=[ ... ]
Las columnas que hay que leer como fecha y no como texto.
print( ... )
Muestra en pantalla lo que va dentro. Si van varias cosas separadas por coma, las muestra en una línea con un espacio entre ellas.
.shape
Filas y columnas de la tabla.
tabla["columna"]
Corchetes con un nombre entre comillas eligen una columna de la tabla. También eligen una llave de un diccionario.
a.b().c()
Cadena de pasos. Cada punto toma lo que salió a su izquierda y le aplica algo más. Se lee de izquierda a derecha.
.min()
El valor más chico. En fechas, la más antigua.
.date()
Deja solo el día de una fecha, sin la hora.
.max()
El valor más grande. En fechas, la más reciente.
.head(n)
Las primeras n filas. Sin n, cinco.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ajustes con nombre, nombre igual valor, aparecen mucho. Sin ese ajuste la fecha llegaría como texto.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pd.read_csv( ... )
Lee un archivo separado por comas y lo convierte en tabla. pd es pandas.
+
Suma números. Con textos, los junta uno detrás del otro.
"texto"
Lo que va entre comillas es texto. Sin comillas, Python lo entiende como un nombre o un número.
parse_dates=[ ... ]
Las columnas que hay que leer como fecha y no como texto.
print( ... )
Muestra en pantalla lo que va dentro. Si van varias cosas separadas por coma, las muestra en una línea con un espacio entre ellas.
.shape
Filas y columnas de la tabla.
tabla["columna"]
Corchetes con un nombre entre comillas eligen una columna de la tabla. También eligen una llave de un diccionario.
a.b().c()
Cadena de pasos. Cada punto toma lo que salió a su izquierda y le aplica algo más. Se lee de izquierda a derecha.
.min()
El valor más chico. En fechas, la más antigua.
.date()
Deja solo el día de una fecha, sin la hora.
.max()
El valor más grande. En fechas, la más reciente.
.head(n)
Las primeras n filas. Sin n, cinco.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lámina explica cada pieza de esta línea. Abajo está la sintaxis de toda la celda.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pd.read_csv( ... )
Lee un archivo separado por comas y lo convierte en tabla. pd es pandas.
+
Suma números. Con textos, los junta uno detrás del otro.
"texto"
Lo que va entre comillas es texto. Sin comillas, Python lo entiende como un nombre o un número.
parse_dates=[ ... ]
Las columnas que hay que leer como fecha y no como texto.
print( ... )
Muestra en pantalla lo que va dentro. Si van varias cosas separadas por coma, las muestra en una línea con un espacio entre ellas.
.shape
Filas y columnas de la tabla.
tabla["columna"]
Corchetes con un nombre entre comillas eligen una columna de la tabla. También eligen una llave de un diccionario.
a.b().c()
Cadena de pasos. Cada punto toma lo que salió a su izquierda y le aplica algo más. Se lee de izquierda a derecha.
.min()
El valor más chico. En fechas, la más antigua.
.date()
Deja solo el día de una fecha, sin la hora.
.max()
El valor más grande. En fechas, la más reciente.
.head(n)
Las primeras n filas. Sin n, cinco.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175.680 filas. Son 20 centrales por 24 horas por 366 días, porque 2024 fue bisiesto.
Va del 1 de enero al 31 de diciembre de 2024.
DECIR
Un archivo así en Excel ya cuesta abrirlo. Aquí se lee en segundos.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pd.read_csv( ... )
Lee un archivo separado por comas y lo convierte en tabla. pd es pandas.
+
Suma números. Con textos, los junta uno detrás del otro.
"texto"
Lo que va entre comillas es texto. Sin comillas, Python lo entiende como un nombre o un número.
parse_dates=[ ... ]
Las columnas que hay que leer como fecha y no como texto.
print( ... )
Muestra en pantalla lo que va dentro. Si van varias cosas separadas por coma, las muestra en una línea con un espacio entre ellas.
.shape
Filas y columnas de la tabla.
tabla["columna"]
Corchetes con un nombre entre comillas eligen una columna de la tabla. También eligen una llave de un diccionario.
a.b().c()
Cadena de pasos. Cada punto toma lo que salió a su izquierda y le aplica algo más. Se lee de izquierda a derecha.
.min()
El valor más chico. En fechas, la más antigua.
.date()
Deja solo el día de una fecha, sin la hora.
.max()
El valor más grande. En fechas, la más reciente.
.head(n)
Las primeras n filas. Sin n, cinco.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Contar filas es el primer control. Si una central dejó de informar unas horas, el número no calzaría con la multiplicación.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A la izquierda seis centrales de un día. A tres les falta la ficha, en rojo. Con inner esas tres desaparecen y el total baja. Con left se quedan con la ficha vacía.
DECIR
Lo peligroso de inner es que no avisa. El código corre bien y el total está 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como_unir = "inner" #@param [...]
Se elige la forma de unir.
un_dia = generacion[generacion["fecha"] == "2024-06-15"]
Deja solo la generación de un día, para que los números sean manejables.
sin_ficha = [...] y fichas = centrales[~centrales["central"].isin(sin_ficha)]
Arma una tabla de fichas a la que le faltan tres centrales, como pasa en la vida real. isin pregunta si la central está en la lista, y la virgulilla ~ invierte la respuesta. Quedan las que no están en la lista.
unido = pd.merge(un_dia, fichas, on="central", how=como_unir)
Une las dos tablas usando la columna central. Es como un BUSCARV. how dice qué hacer con las que no encuentran pareja.
Los print
Muestran la generación real, la unida y la unida por tecnología.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tabla[condición]
Con una columna de True y False adentro, la tabla deja pasar solo las filas con True. Es un filtro.
tabla["columna"]
Corchetes con un nombre entre comillas eligen una columna de la tabla. También eligen una llave de un diccionario.
==
Dos signos igual preguntan si dos cosas son iguales. Dan True o False. Un solo igual guarda.
[a, b, c]
Una lista. Varios valores entre corchetes, separados por comas, guardados bajo un solo nombre.
~
Invierte True y False.
.isin(lista)
True en las filas cuyo valor está en la lista.
pd.merge(izquierda, derecha, ...)
Une dos tablas buscando la pareja de cada fila, como el BUSCARV.
on=
La columna, o la lista de columnas, que tienen en común las dos tablas y que se usa para buscar la pareja.
how=
Qué hacer con las filas que no encuentran pareja. inner deja solo las que están en las dos tablas y left conserva todas las de la tabla izquierda.
print( ... )
Muestra en pantalla lo que va dentro. Si van varias cosas separadas por coma, las muestra en una línea con un espacio entre ellas.
round(valor, n)
Redondea un número a n decimales. Sin n, al entero más cercano.
.sum()
Suma la columna. En una columna de True y False, cuenta los True.
print()
Vacío, deja una línea en blanco.
.fillna(valor)
Rellena las celdas vacías con un valor. Con un diccionario, un valor distinto por columna.
{"nombre": valor}
Un diccionario. Cada nombre entre comillas, la llave, tiene su valor a la derecha de los dos puntos. Se consulta con corchetes, diccionario["nombre"].
.groupby(columna)
Separa las filas en grupos según los valores de la columna. Con una lista, por varias columnas a la vez. Lo que viene después se calcula por grupo.
a.b().c()
Cadena de pasos. Cada punto toma lo que salió a su izquierda y le aplica algo más. Se lee de izquierda a derecha.
.round(n)
Redondea a n decimales.
.sort_values( ... )
Ordena. Por defecto de menor a mayor. En una tabla se indica la columna.
ascending=False
Ordena de mayor a menor.
True y False
Verdadero y falso. Al sumarlos, True vale 1 y False vale 0, por eso sumar una columna de True y False cuenta los verdaderos.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virgulilla se escribe con Alt Gr y la tecla del más en teclado español.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tabla[condición]
Con una columna de True y False adentro, la tabla deja pasar solo las filas con True. Es un filtro.
tabla["columna"]
Corchetes con un nombre entre comillas eligen una columna de la tabla. También eligen una llave de un diccionario.
==
Dos signos igual preguntan si dos cosas son iguales. Dan True o False. Un solo igual guarda.
[a, b, c]
Una lista. Varios valores entre corchetes, separados por comas, guardados bajo un solo nombre.
~
Invierte True y False.
.isin(lista)
True en las filas cuyo valor está en la lista.
pd.merge(izquierda, derecha, ...)
Une dos tablas buscando la pareja de cada fila, como el BUSCARV.
on=
La columna, o la lista de columnas, que tienen en común las dos tablas y que se usa para buscar la pareja.
how=
Qué hacer con las filas que no encuentran pareja. inner deja solo las que están en las dos tablas y left conserva todas las de la tabla izquierda.
print( ... )
Muestra en pantalla lo que va dentro. Si van varias cosas separadas por coma, las muestra en una línea con un espacio entre ellas.
round(valor, n)
Redondea un número a n decimales. Sin n, al entero más cercano.
.sum()
Suma la columna. En una columna de True y False, cuenta los True.
print()
Vacío, deja una línea en blanco.
.fillna(valor)
Rellena las celdas vacías con un valor. Con un diccionario, un valor distinto por columna.
{"nombre": valor}
Un diccionario. Cada nombre entre comillas, la llave, tiene su valor a la derecha de los dos puntos. Se consulta con corchetes, diccionario["nombre"].
.groupby(columna)
Separa las filas en grupos según los valores de la columna. Con una lista, por varias columnas a la vez. Lo que viene después se calcula por grupo.
a.b().c()
Cadena de pasos. Cada punto toma lo que salió a su izquierda y le aplica algo más. Se lee de izquierda a derecha.
.round(n)
Redondea a n decimales.
.sort_values( ... )
Ordena. Por defecto de menor a mayor. En una tabla se indica la columna.
ascending=False
Ordena de mayor a menor.
True y False
Verdadero y falso. Al sumarlos, True vale 1 y False vale 0, por eso sumar una columna de True y False cuenta los verdaderos.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Volver al diagrama. La izquierda es un_dia, la derecha fichas.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tabla[condición]
Con una columna de True y False adentro, la tabla deja pasar solo las filas con True. Es un filtro.
tabla["columna"]
Corchetes con un nombre entre comillas eligen una columna de la tabla. También eligen una llave de un diccionario.
==
Dos signos igual preguntan si dos cosas son iguales. Dan True o False. Un solo igual guarda.
[a, b, c]
Una lista. Varios valores entre corchetes, separados por comas, guardados bajo un solo nombre.
~
Invierte True y False.
.isin(lista)
True en las filas cuyo valor está en la lista.
pd.merge(izquierda, derecha, ...)
Une dos tablas buscando la pareja de cada fila, como el BUSCARV.
on=
La columna, o la lista de columnas, que tienen en común las dos tablas y que se usa para buscar la pareja.
how=
Qué hacer con las filas que no encuentran pareja. inner deja solo las que están en las dos tablas y left conserva todas las de la tabla izquierda.
print( ... )
Muestra en pantalla lo que va dentro. Si van varias cosas separadas por coma, las muestra en una línea con un espacio entre ellas.
round(valor, n)
Redondea un número a n decimales. Sin n, al entero más cercano.
.sum()
Suma la columna. En una columna de True y False, cuenta los True.
print()
Vacío, deja una línea en blanco.
.fillna(valor)
Rellena las celdas vacías con un valor. Con un diccionario, un valor distinto por columna.
{"nombre": valor}
Un diccionario. Cada nombre entre comillas, la llave, tiene su valor a la derecha de los dos puntos. Se consulta con corchetes, diccionario["nombre"].
.groupby(columna)
Separa las filas en grupos según los valores de la columna. Con una lista, por varias columnas a la vez. Lo que viene después se calcula por grupo.
a.b().c()
Cadena de pasos. Cada punto toma lo que salió a su izquierda y le aplica algo más. Se lee de izquierda a derecha.
.round(n)
Redondea a n decimales.
.sort_values( ... )
Ordena. Por defecto de menor a mayor. En una tabla se indica la columna.
ascending=False
Ordena de mayor a menor.
True y False
Verdadero y falso. Al sumarlos, True vale 1 y False vale 0, por eso sumar una columna de True y False cuenta los verdaderos.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La generación real del día es 52.650 MWh, pero la unida es 50.395,9. Con inner se perdieron 2.254,1 MWh y no apareció ningún error.
DECIR
Este es el error más peligroso del módulo. El código corre bien, los números se ven razonables y el total está mal.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tabla[condición]
Con una columna de True y False adentro, la tabla deja pasar solo las filas con True. Es un filtro.
tabla["columna"]
Corchetes con un nombre entre comillas eligen una columna de la tabla. También eligen una llave de un diccionario.
==
Dos signos igual preguntan si dos cosas son iguales. Dan True o False. Un solo igual guarda.
[a, b, c]
Una lista. Varios valores entre corchetes, separados por comas, guardados bajo un solo nombre.
~
Invierte True y False.
.isin(lista)
True en las filas cuyo valor está en la lista.
pd.merge(izquierda, derecha, ...)
Une dos tablas buscando la pareja de cada fila, como el BUSCARV.
on=
La columna, o la lista de columnas, que tienen en común las dos tablas y que se usa para buscar la pareja.
how=
Qué hacer con las filas que no encuentran pareja. inner deja solo las que están en las dos tablas y left conserva todas las de la tabla izquierda.
print( ... )
Muestra en pantalla lo que va dentro. Si van varias cosas separadas por coma, las muestra en una línea con un espacio entre ellas.
round(valor, n)
Redondea un número a n decimales. Sin n, al entero más cercano.
.sum()
Suma la columna. En una columna de True y False, cuenta los True.
print()
Vacío, deja una línea en blanco.
.fillna(valor)
Rellena las celdas vacías con un valor. Con un diccionario, un valor distinto por columna.
{"nombre": valor}
Un diccionario. Cada nombre entre comillas, la llave, tiene su valor a la derecha de los dos puntos. Se consulta con corchetes, diccionario["nombre"].
.groupby(columna)
Separa las filas en grupos según los valores de la columna. Con una lista, por varias columnas a la vez. Lo que viene después se calcula por grupo.
a.b().c()
Cadena de pasos. Cada punto toma lo que salió a su izquierda y le aplica algo más. Se lee de izquierda a derecha.
.round(n)
Redondea a n decimales.
.sort_values( ... )
Ordena. Por defecto de menor a mayor. En una tabla se indica la columna.
ascending=False
Ordena de mayor a menor.
True y False
Verdadero y falso. Al sumarlos, True vale 1 y False vale 0, por eso sumar una columna de True y False cuenta los verdaderos.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CAMBIÓ
Se eligió left, que conserva toda la generación aunque no tenga ficha.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tabla[condición]
Con una columna de True y False adentro, la tabla deja pasar solo las filas con True. Es un filtro.
tabla["columna"]
Corchetes con un nombre entre comillas eligen una columna de la tabla. También eligen una llave de un diccionario.
==
Dos signos igual preguntan si dos cosas son iguales. Dan True o False. Un solo igual guarda.
[a, b, c]
Una lista. Varios valores entre corchetes, separados por comas, guardados bajo un solo nombre.
~
Invierte True y False.
.isin(lista)
True en las filas cuyo valor está en la lista.
pd.merge(izquierda, derecha, ...)
Une dos tablas buscando la pareja de cada fila, como el BUSCARV.
on=
La columna, o la lista de columnas, que tienen en común las dos tablas y que se usa para buscar la pareja.
how=
Qué hacer con las filas que no encuentran pareja. inner deja solo las que están en las dos tablas y left conserva todas las de la tabla izquierda.
print( ... )
Muestra en pantalla lo que va dentro. Si van varias cosas separadas por coma, las muestra en una línea con un espacio entre ellas.
round(valor, n)
Redondea un número a n decimales. Sin n, al entero más cercano.
.sum()
Suma la columna. En una columna de True y False, cuenta los True.
print()
Vacío, deja una línea en blanco.
.fillna(valor)
Rellena las celdas vacías con un valor. Con un diccionario, un valor distinto por columna.
{"nombre": valor}
Un diccionario. Cada nombre entre comillas, la llave, tiene su valor a la derecha de los dos puntos. Se consulta con corchetes, diccionario["nombre"].
.groupby(columna)
Separa las filas en grupos según los valores de la columna. Con una lista, por varias columnas a la vez. Lo que viene después se calcula por grupo.
a.b().c()
Cadena de pasos. Cada punto toma lo que salió a su izquierda y le aplica algo más. Se lee de izquierda a derecha.
.round(n)
Redondea a n decimales.
.sort_values( ... )
Ordena. Por defecto de menor a mayor. En una tabla se indica la columna.
ascending=False
Ordena de mayor a menor.
True y False
Verdadero y falso. Al sumarlos, True vale 1 y False vale 0, por eso sumar una columna de True y False cuenta los verdaderos.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Ahora la unida es igual a la real. Las centrales sin ficha aparecen agrupadas como sin ficha, con los 2.254 MWh que inner había perdido.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tabla[condición]
Con una columna de True y False adentro, la tabla deja pasar solo las filas con True. Es un filtro.
tabla["columna"]
Corchetes con un nombre entre comillas eligen una columna de la tabla. También eligen una llave de un diccionario.
==
Dos signos igual preguntan si dos cosas son iguales. Dan True o False. Un solo igual guarda.
[a, b, c]
Una lista. Varios valores entre corchetes, separados por comas, guardados bajo un solo nombre.
~
Invierte True y False.
.isin(lista)
True en las filas cuyo valor está en la lista.
pd.merge(izquierda, derecha, ...)
Une dos tablas buscando la pareja de cada fila, como el BUSCARV.
on=
La columna, o la lista de columnas, que tienen en común las dos tablas y que se usa para buscar la pareja.
how=
Qué hacer con las filas que no encuentran pareja. inner deja solo las que están en las dos tablas y left conserva todas las de la tabla izquierda.
print( ... )
Muestra en pantalla lo que va dentro. Si van varias cosas separadas por coma, las muestra en una línea con un espacio entre ellas.
round(valor, n)
Redondea un número a n decimales. Sin n, al entero más cercano.
.sum()
Suma la columna. En una columna de True y False, cuenta los True.
print()
Vacío, deja una línea en blanco.
.fillna(valor)
Rellena las celdas vacías con un valor. Con un diccionario, un valor distinto por columna.
{"nombre": valor}
Un diccionario. Cada nombre entre comillas, la llave, tiene su valor a la derecha de los dos puntos. Se consulta con corchetes, diccionario["nombre"].
.groupby(columna)
Separa las filas en grupos según los valores de la columna. Con una lista, por varias columnas a la vez. Lo que viene después se calcula por grupo.
a.b().c()
Cadena de pasos. Cada punto toma lo que salió a su izquierda y le aplica algo más. Se lee de izquierda a derecha.
.round(n)
Redondea a n decimales.
.sort_values( ... )
Ordena. Por defecto de menor a mayor. En una tabla se indica la columna.
ascending=False
Ordena de mayor a menor.
True y False
Verdadero y falso. Al sumarlos, True vale 1 y False vale 0, por eso sumar una columna de True y False cuenta los verdaderos.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Insistir en la regla. Antes y después de unir se cuentan filas y se compara el total. Preguntar si en su trabajo han cruzado tablas con BUSCARV y les han quedado filas con error o vacías.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Río Manso Alto tiene dos fichas. Cada una de sus horas encuentra dos parejas y queda dos veces. Con dos centrales repetidas, 480 filas pasan a 528.
DECIR
Aquí no se pierde nada, se infla. El error contrario al paso anterior, y se detecta igual, contando filas.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quitar_repetidas = False #@param {type:"boolean"}
Una casilla. Desmarcada es False y marcada es True.
fichas_repetidas = pd.concat([fichas, fichas.head(2)], ignore_index=True)
Pega al final de las fichas sus dos primeras filas otra vez. Simula una tabla con centrales repetidas.
if quitar_repetidas:
Solo si la casilla está marcada, drop_duplicates deja una sola ficha por central.
unido = pd.merge(..., how="left")
Une igual que en el paso anterior.
Los print
Filas antes y después, generación real y unida. Si calzan, aparece el ✓.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True y False
Verdadero y falso. Al sumarlos, True vale 1 y False vale 0, por eso sumar una columna de True y False cuenta los verdaderos.
#@param
Marca de Colab, no de Python. Convierte la línea en un formulario, con lista, deslizador, campo o casilla. Para Python sigue siendo un comentario y la variable toma el valor escrito a la izquierda.
{type:"boolean"}
Pide a Colab una casilla. Marcada vale True y sin marcar vale False.
"texto"
Lo que va entre comillas es texto. Sin comillas, Python lo entiende como un nombre o un número.
pd.concat([t1, t2])
Pega tablas una debajo de la otra.
.head(n)
Las primeras n filas. Sin n, cinco.
ignore_index=True
Vuelve a numerar las filas desde cero.
if condición:
Si la condición es verdadera, se ejecutan las líneas con sangría que vienen debajo. Los dos puntos cierran la condición.
sangría
Las líneas corridas hacia la derecha dependen de la línea de arriba que termina en dos puntos. En Python la sangría es obligatoria.
.drop_duplicates()
Quita las filas repetidas y deja la primera.
subset=
Las columnas que se miran para decidir si una fila está repetida.
pd.merge(izquierda, derecha, ...)
Une dos tablas buscando la pareja de cada fila, como el BUSCARV.
on=
La columna, o la lista de columnas, que tienen en común las dos tablas y que se usa para buscar la pareja.
how=
Qué hacer con las filas que no encuentran pareja. inner deja solo las que están en las dos tablas y left conserva todas las de la tabla izquierda.
round(valor, n)
Redondea un número a n decimales. Sin n, al entero más cercano.
tabla["columna"]
Corchetes con un nombre entre comillas eligen una columna de la tabla. También eligen una llave de un diccionario.
.sum()
Suma la columna. En una columna de True y False, cuenta los True.
print( ... )
Muestra en pantalla lo que va dentro. Si van varias cosas separadas por coma, las muestra en una línea con un espacio entre ellas.
.shape
Filas y columnas de la tabla.
==
Dos signos igual preguntan si dos cosas son iguales. Dan True o False. Un solo igual guarda.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simula una tabla que llega con centrales repetidas, como pasa en la práctica.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True y False
Verdadero y falso. Al sumarlos, True vale 1 y False vale 0, por eso sumar una columna de True y False cuenta los verdaderos.
#@param
Marca de Colab, no de Python. Convierte la línea en un formulario, con lista, deslizador, campo o casilla. Para Python sigue siendo un comentario y la variable toma el valor escrito a la izquierda.
{type:"boolean"}
Pide a Colab una casilla. Marcada vale True y sin marcar vale False.
"texto"
Lo que va entre comillas es texto. Sin comillas, Python lo entiende como un nombre o un número.
pd.concat([t1, t2])
Pega tablas una debajo de la otra.
.head(n)
Las primeras n filas. Sin n, cinco.
ignore_index=True
Vuelve a numerar las filas desde cero.
if condición:
Si la condición es verdadera, se ejecutan las líneas con sangría que vienen debajo. Los dos puntos cierran la condición.
sangría
Las líneas corridas hacia la derecha dependen de la línea de arriba que termina en dos puntos. En Python la sangría es obligatoria.
.drop_duplicates()
Quita las filas repetidas y deja la primera.
subset=
Las columnas que se miran para decidir si una fila está repetida.
pd.merge(izquierda, derecha, ...)
Une dos tablas buscando la pareja de cada fila, como el BUSCARV.
on=
La columna, o la lista de columnas, que tienen en común las dos tablas y que se usa para buscar la pareja.
how=
Qué hacer con las filas que no encuentran pareja. inner deja solo las que están en las dos tablas y left conserva todas las de la tabla izquierda.
round(valor, n)
Redondea un número a n decimales. Sin n, al entero más cercano.
tabla["columna"]
Corchetes con un nombre entre comillas eligen una columna de la tabla. También eligen una llave de un diccionario.
.sum()
Suma la columna. En una columna de True y False, cuenta los True.
print( ... )
Muestra en pantalla lo que va dentro. Si van varias cosas separadas por coma, las muestra en una línea con un espacio entre ellas.
.shape
Filas y columnas de la tabla.
==
Dos signos igual preguntan si dos cosas son iguales. Dan True o False. Un solo igual guarda.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Antes había 480 filas y después 528. La generación unida sube a 64.298,7 MWh, más que la real. Cada central repetida duplicó sus 24 horas.
DECIR
Aquí no se perdió nada, se infló. Es el error contrario al del paso anterior y se detecta igual, contando.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True y False
Verdadero y falso. Al sumarlos, True vale 1 y False vale 0, por eso sumar una columna de True y False cuenta los verdaderos.
#@param
Marca de Colab, no de Python. Convierte la línea en un formulario, con lista, deslizador, campo o casilla. Para Python sigue siendo un comentario y la variable toma el valor escrito a la izquierda.
{type:"boolean"}
Pide a Colab una casilla. Marcada vale True y sin marcar vale False.
"texto"
Lo que va entre comillas es texto. Sin comillas, Python lo entiende como un nombre o un número.
pd.concat([t1, t2])
Pega tablas una debajo de la otra.
.head(n)
Las primeras n filas. Sin n, cinco.
ignore_index=True
Vuelve a numerar las filas desde cero.
if condición:
Si la condición es verdadera, se ejecutan las líneas con sangría que vienen debajo. Los dos puntos cierran la condición.
sangría
Las líneas corridas hacia la derecha dependen de la línea de arriba que termina en dos puntos. En Python la sangría es obligatoria.
.drop_duplicates()
Quita las filas repetidas y deja la primera.
subset=
Las columnas que se miran para decidir si una fila está repetida.
pd.merge(izquierda, derecha, ...)
Une dos tablas buscando la pareja de cada fila, como el BUSCARV.
on=
La columna, o la lista de columnas, que tienen en común las dos tablas y que se usa para buscar la pareja.
how=
Qué hacer con las filas que no encuentran pareja. inner deja solo las que están en las dos tablas y left conserva todas las de la tabla izquierda.
round(valor, n)
Redondea un número a n decimales. Sin n, al entero más cercano.
tabla["columna"]
Corchetes con un nombre entre comillas eligen una columna de la tabla. También eligen una llave de un diccionario.
.sum()
Suma la columna. En una columna de True y False, cuenta los True.
print( ... )
Muestra en pantalla lo que va dentro. Si van varias cosas separadas por coma, las muestra en una línea con un espacio entre ellas.
.shape
Filas y columnas de la tabla.
==
Dos signos igual preguntan si dos cosas son iguales. Dan True o False. Un solo igual guarda.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CAMBIÓ
Se marcó la casilla.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True y False
Verdadero y falso. Al sumarlos, True vale 1 y False vale 0, por eso sumar una columna de True y False cuenta los verdaderos.
#@param
Marca de Colab, no de Python. Convierte la línea en un formulario, con lista, deslizador, campo o casilla. Para Python sigue siendo un comentario y la variable toma el valor escrito a la izquierda.
{type:"boolean"}
Pide a Colab una casilla. Marcada vale True y sin marcar vale False.
"texto"
Lo que va entre comillas es texto. Sin comillas, Python lo entiende como un nombre o un número.
pd.concat([t1, t2])
Pega tablas una debajo de la otra.
.head(n)
Las primeras n filas. Sin n, cinco.
ignore_index=True
Vuelve a numerar las filas desde cero.
if condición:
Si la condición es verdadera, se ejecutan las líneas con sangría que vienen debajo. Los dos puntos cierran la condición.
sangría
Las líneas corridas hacia la derecha dependen de la línea de arriba que termina en dos puntos. En Python la sangría es obligatoria.
.drop_duplicates()
Quita las filas repetidas y deja la primera.
subset=
Las columnas que se miran para decidir si una fila está repetida.
pd.merge(izquierda, derecha, ...)
Une dos tablas buscando la pareja de cada fila, como el BUSCARV.
on=
La columna, o la lista de columnas, que tienen en común las dos tablas y que se usa para buscar la pareja.
how=
Qué hacer con las filas que no encuentran pareja. inner deja solo las que están en las dos tablas y left conserva todas las de la tabla izquierda.
round(valor, n)
Redondea un número a n decimales. Sin n, al entero más cercano.
tabla["columna"]
Corchetes con un nombre entre comillas eligen una columna de la tabla. También eligen una llave de un diccionario.
.sum()
Suma la columna. En una columna de True y False, cuenta los True.
print( ... )
Muestra en pantalla lo que va dentro. Si van varias cosas separadas por coma, las muestra en una línea con un espacio entre ellas.
.shape
Filas y columnas de la tabla.
==
Dos signos igual preguntan si dos cosas son iguales. Dan True o False. Un solo igual guarda.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480 filas antes y después, y la generación calza. Aparece el ✓.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True y False
Verdadero y falso. Al sumarlos, True vale 1 y False vale 0, por eso sumar una columna de True y False cuenta los verdaderos.
#@param
Marca de Colab, no de Python. Convierte la línea en un formulario, con lista, deslizador, campo o casilla. Para Python sigue siendo un comentario y la variable toma el valor escrito a la izquierda.
{type:"boolean"}
Pide a Colab una casilla. Marcada vale True y sin marcar vale False.
"texto"
Lo que va entre comillas es texto. Sin comillas, Python lo entiende como un nombre o un número.
pd.concat([t1, t2])
Pega tablas una debajo de la otra.
.head(n)
Las primeras n filas. Sin n, cinco.
ignore_index=True
Vuelve a numerar las filas desde cero.
if condición:
Si la condición es verdadera, se ejecutan las líneas con sangría que vienen debajo. Los dos puntos cierran la condición.
sangría
Las líneas corridas hacia la derecha dependen de la línea de arriba que termina en dos puntos. En Python la sangría es obligatoria.
.drop_duplicates()
Quita las filas repetidas y deja la primera.
subset=
Las columnas que se miran para decidir si una fila está repetida.
pd.merge(izquierda, derecha, ...)
Une dos tablas buscando la pareja de cada fila, como el BUSCARV.
on=
La columna, o la lista de columnas, que tienen en común las dos tablas y que se usa para buscar la pareja.
how=
Qué hacer con las filas que no encuentran pareja. inner deja solo las que están en las dos tablas y left conserva todas las de la tabla izquierda.
round(valor, n)
Redondea un número a n decimales. Sin n, al entero más cercano.
tabla["columna"]
Corchetes con un nombre entre comillas eligen una columna de la tabla. También eligen una llave de un diccionario.
.sum()
Suma la columna. En una columna de True y False, cuenta los True.
print( ... )
Muestra en pantalla lo que va dentro. Si van varias cosas separadas por coma, las muestra en una línea con un espacio entre ellas.
.shape
Filas y columnas de la tabla.
==
Dos signos igual preguntan si dos cosas son iguales. Dan True o False. Un solo igual guarda.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En la práctica las tablas de fichas vienen con repetidos más seguido de lo que uno cree. Antes de unir se revisa con duplicated o se quitan con drop_duplicates.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CÓMO PASAR ESTA LÁMINA
Aquí termina lo que se ve en clase. Desde esta lámina vienen los estudios de la Parte 2, explicados igual que los pasos, para que los alumnos los repasen en la casa. Cada lámina lleva arriba la etiqueta naranja PARA LA CASA.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shape da filas y columnas, en ese orden. columns da los nombres. sum suma la columna marcada en amarillo.
DECIR
El índice de la izquierda no cuenta como columna. Por eso son 5 y no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centrales.shape
Entrega dos números, filas y columnas.
list(centrales.columns)
Los nombres de las columnas.
centrales["potencia_mw"].sum()
Toma la columna de potencia y la suma.
DECIR
Son las tres preguntas que se le hacen a cualquier tabla apenas se abre. Cuántos datos hay, qué datos hay y un total para tener una referencia.
SINTAXIS DE TODO EL CÓDIGO DE ESTA CELDA
# comentario
Todo lo que va después del signo # es un comentario. Python no lo ejecuta, sirve para explicar el código a quien lo lee.
print( ... )
Muestra en pantalla lo que va dentro. Si van varias cosas separadas por coma, las muestra en una línea con un espacio entre ellas.
"texto"
Lo que va entre comillas es texto. Sin comillas, Python lo entiende como un nombre o un número.
.shape
Filas y columnas de la tabla.
list( ... )
Convierte algo en una lista, para poder verlo completo.
.columns
Los nombres de las columnas.
tabla["columna"]
Corchetes con un nombre entre comillas eligen una columna de la tabla. También eligen una llave de un diccionario.
.sum()
Suma la columna. En una columna de True y False, cuenta los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Entrega dos números entre paréntesis, primero filas y después columnas.
SINTAXIS DE TODO EL CÓDIGO DE ESTA CELDA
# comentario
Todo lo que va después del signo # es un comentario. Python no lo ejecuta, sirve para explicar el código a quien lo lee.
print( ... )
Muestra en pantalla lo que va dentro. Si van varias cosas separadas por coma, las muestra en una línea con un espacio entre ellas.
"texto"
Lo que va entre comillas es texto. Sin comillas, Python lo entiende como un nombre o un número.
.shape
Filas y columnas de la tabla.
list( ... )
Convierte algo en una lista, para poder verlo completo.
.columns
Los nombres de las columnas.
tabla["columna"]
Corchetes con un nombre entre comillas eligen una columna de la tabla. También eligen una llave de un diccionario.
.sum()
Suma la columna. En una columna de True y False, cuenta los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forma, tabla, corchetes con la columna, punto y una acción, se repite en todo el curso.
SINTAXIS DE TODO EL CÓDIGO DE ESTA CELDA
# comentario
Todo lo que va después del signo # es un comentario. Python no lo ejecuta, sirve para explicar el código a quien lo lee.
print( ... )
Muestra en pantalla lo que va dentro. Si van varias cosas separadas por coma, las muestra en una línea con un espacio entre ellas.
"texto"
Lo que va entre comillas es texto. Sin comillas, Python lo entiende como un nombre o un número.
.shape
Filas y columnas de la tabla.
list( ... )
Convierte algo en una lista, para poder verlo completo.
.columns
Los nombres de las columnas.
tabla["columna"]
Corchetes con un nombre entre comillas eligen una columna de la tabla. También eligen una llave de un diccionario.
.sum()
Suma la columna. En una columna de True y False, cuenta los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20 filas, 5 columnas y 4.540 MW en total.
PREGUNTAR
¿Para qué sirve anotar el total? Para compararlo después. Si al final de un proceso el total cambió, algo pasó.
DECIR
Es el mismo control de la Parte 1. El total se anota antes de transformar la tabla y se compara después.
SINTAXIS DE TODO EL CÓDIGO DE ESTA CELDA
# comentario
Todo lo que va después del signo # es un comentario. Python no lo ejecuta, sirve para explicar el código a quien lo lee.
print( ... )
Muestra en pantalla lo que va dentro. Si van varias cosas separadas por coma, las muestra en una línea con un espacio entre ellas.
"texto"
Lo que va entre comillas es texto. Sin comillas, Python lo entiende como un nombre o un número.
.shape
Filas y columnas de la tabla.
list( ... )
Convierte algo en una lista, para poder verlo completo.
.columns
Los nombres de las columnas.
tabla["columna"]
Corchetes con un nombre entre comillas eligen una columna de la tabla. También eligen una llave de un diccionario.
.sum()
Suma la columna. En una columna de True y False, cuenta los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Las 20 centrales se separan por tecnología, cada grupo se suma y sale una fila por grupo. Al lado de cada grupo está la suma escrita.
DECIR
Entran 20 filas y salen 6. Es lo mismo que hace una tabla dinámica de Excel. sort_values las ordena de menor a mayor, por eso en el gráfico hidro es la barra de más arriba.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agrupar_por = "tecnologia" #@param [...]
Se elige si agrupar por tecnología o por región.
import matplotlib.pyplot as plt
Trae la herramienta para dibujar gráficos.
resumen = centrales.groupby(agrupar_por)["potencia_mw"].sum().sort_values()
Junta las filas del mismo grupo, suma la potencia de cada grupo y ordena de menor a mayor.
Las líneas con fig y ax
Dibujan un gráfico de barras horizontales con título y nombre del eje. No hace falta explicarlas una por una. Los gráficos se ven con calma en el Módulo 6.
plt.show()
Muestra el gráfico.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import
Trae una herramienta que no viene cargada desde el comienzo. import pandas as pd la trae y le pone el apodo pd, para escribir menos.
as
Le da un apodo a lo que se importa. Desde ahí se usa el apodo.
.groupby(columna)
Separa las filas en grupos según los valores de la columna. Con una lista, por varias columnas a la vez. Lo que viene después se calcula por grupo.
a.b().c()
Cadena de pasos. Cada punto toma lo que salió a su izquierda y le aplica algo más. Se lee de izquierda a derecha.
.sum()
Suma la columna. En una columna de True y False, cuenta los True.
.sort_values( ... )
Ordena. Por defecto de menor a mayor. En una tabla se indica la columna.
fig, ax = plt.subplots(figsize=(ancho, alto))
Crea un gráfico vacío. fig es la hoja y ax el área donde se dibuja. figsize es el tamaño en pulgadas. Dos nombres a la izquierda del igual reciben las dos cosas que entrega.
número decimal
Los decimales se escriben con punto, no con coma. 0.56 es cero coma cincuenta y seis.
ax.barh(etiquetas, valores, color=...)
Dibuja barras horizontales.
.index
Los rótulos de las filas.
.values
Los valores, sin los rótulos.
ax.set_title y ax.set_xlabel
Ponen el título y el nombre del eje.
f"... {nombre} ..."
Texto con una f delante. Lo que va entre llaves se reemplaza por su valor al mostrarse.
plt.show()
Muestra el gráfico.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una cadena. Cada punto toma lo que salió de la izquierda y le hace algo más. Se lee de izquierda a derecha, como una receta.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import
Trae una herramienta que no viene cargada desde el comienzo. import pandas as pd la trae y le pone el apodo pd, para escribir menos.
as
Le da un apodo a lo que se importa. Desde ahí se usa el apodo.
.groupby(columna)
Separa las filas en grupos según los valores de la columna. Con una lista, por varias columnas a la vez. Lo que viene después se calcula por grupo.
a.b().c()
Cadena de pasos. Cada punto toma lo que salió a su izquierda y le aplica algo más. Se lee de izquierda a derecha.
.sum()
Suma la columna. En una columna de True y False, cuenta los True.
.sort_values( ... )
Ordena. Por defecto de menor a mayor. En una tabla se indica la columna.
fig, ax = plt.subplots(figsize=(ancho, alto))
Crea un gráfico vacío. fig es la hoja y ax el área donde se dibuja. figsize es el tamaño en pulgadas. Dos nombres a la izquierda del igual reciben las dos cosas que entrega.
número decimal
Los decimales se escriben con punto, no con coma. 0.56 es cero coma cincuenta y seis.
ax.barh(etiquetas, valores, color=...)
Dibuja barras horizontales.
.index
Los rótulos de las filas.
.values
Los valores, sin los rótulos.
ax.set_title y ax.set_xlabel
Ponen el título y el nombre del eje.
f"... {nombre} ..."
Texto con una f delante. Lo que va entre llaves se reemplaza por su valor al mostrarse.
plt.show()
Muestra el gráfico.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Hidro es la que más potencia tiene, con 1.265 MW.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import
Trae una herramienta que no viene cargada desde el comienzo. import pandas as pd la trae y le pone el apodo pd, para escribir menos.
as
Le da un apodo a lo que se importa. Desde ahí se usa el apodo.
.groupby(columna)
Separa las filas en grupos según los valores de la columna. Con una lista, por varias columnas a la vez. Lo que viene después se calcula por grupo.
a.b().c()
Cadena de pasos. Cada punto toma lo que salió a su izquierda y le aplica algo más. Se lee de izquierda a derecha.
.sum()
Suma la columna. En una columna de True y False, cuenta los True.
.sort_values( ... )
Ordena. Por defecto de menor a mayor. En una tabla se indica la columna.
fig, ax = plt.subplots(figsize=(ancho, alto))
Crea un gráfico vacío. fig es la hoja y ax el área donde se dibuja. figsize es el tamaño en pulgadas. Dos nombres a la izquierda del igual reciben las dos cosas que entrega.
número decimal
Los decimales se escriben con punto, no con coma. 0.56 es cero coma cincuenta y seis.
ax.barh(etiquetas, valores, color=...)
Dibuja barras horizontales.
.index
Los rótulos de las filas.
.values
Los valores, sin los rótulos.
ax.set_title y ax.set_xlabel
Ponen el título y el nombre del eje.
f"... {nombre} ..."
Texto con una f delante. Lo que va entre llaves se reemplaza por su valor al mostrarse.
plt.show()
Muestra el gráfico.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CAMBIÓ
Se eligió region. La misma celda agrupa ahora por región.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import
Trae una herramienta que no viene cargada desde el comienzo. import pandas as pd la trae y le pone el apodo pd, para escribir menos.
as
Le da un apodo a lo que se importa. Desde ahí se usa el apodo.
.groupby(columna)
Separa las filas en grupos según los valores de la columna. Con una lista, por varias columnas a la vez. Lo que viene después se calcula por grupo.
a.b().c()
Cadena de pasos. Cada punto toma lo que salió a su izquierda y le aplica algo más. Se lee de izquierda a derecha.
.sum()
Suma la columna. En una columna de True y False, cuenta los True.
.sort_values( ... )
Ordena. Por defecto de menor a mayor. En una tabla se indica la columna.
fig, ax = plt.subplots(figsize=(ancho, alto))
Crea un gráfico vacío. fig es la hoja y ax el área donde se dibuja. figsize es el tamaño en pulgadas. Dos nombres a la izquierda del igual reciben las dos cosas que entrega.
número decimal
Los decimales se escriben con punto, no con coma. 0.56 es cero coma cincuenta y seis.
ax.barh(etiquetas, valores, color=...)
Dibuja barras horizontales.
.index
Los rótulos de las filas.
.values
Los valores, sin los rótulos.
ax.set_title y ax.set_xlabel
Ponen el título y el nombre del eje.
f"... {nombre} ..."
Texto con una f delante. Lo que va entre llaves se reemplaza por su valor al mostrarse.
plt.show()
Muestra el gráfico.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Biobío es la región con más potencia instalada.
DECIR
Una tabla dinámica de Excel hace esto mismo. La diferencia es que aquí queda escrito y se repite igual cada vez.
SINTAXIS DE TODO EL CÓDIGO DE ESTA CELDA
# comentario
Todo lo que va después del signo # es un comentario. Python no lo ejecuta, sirve para explicar el código a quien lo lee.
nombre = valor
Un solo signo igual guarda. A la izquierda va el nombre y a la derecha lo que se guarda. Si el nombre ya existía, su valor anterior se reemplaza.
"texto"
Lo que va entre comillas es texto. Sin comillas, Python lo entiende como un nombre o un número.
#@param
Marca de Colab, no de Python. Convierte la línea en un formulario, con lista, deslizador, campo o casilla. Para Python sigue siendo un comentario y la variable toma el valor escrito a la izquierda.
#@param [ ... ]
Con una lista de opciones entre corchetes, Colab muestra un desplegable.
["a", "b"]
Una lista de textos. Dentro de una instrucción de pandas suele indicar varias columnas a la vez.
import
Trae una herramienta que no viene cargada desde el comienzo. import pandas as pd la trae y le pone el apodo pd, para escribir menos.
as
Le da un apodo a lo que se importa. Desde ahí se usa el apodo.
.groupby(columna)
Separa las filas en grupos según los valores de la columna. Con una lista, por varias columnas a la vez. Lo que viene después se calcula por grupo.
a.b().c()
Cadena de pasos. Cada punto toma lo que salió a su izquierda y le aplica algo más. Se lee de izquierda a derecha.
.sum()
Suma la columna. En una columna de True y False, cuenta los True.
.sort_values( ... )
Ordena. Por defecto de menor a mayor. En una tabla se indica la columna.
fig, ax = plt.subplots(figsize=(ancho, alto))
Crea un gráfico vacío. fig es la hoja y ax el área donde se dibuja. figsize es el tamaño en pulgadas. Dos nombres a la izquierda del igual reciben las dos cosas que entrega.
número decimal
Los decimales se escriben con punto, no con coma. 0.56 es cero coma cincuenta y seis.
ax.barh(etiquetas, valores, color=...)
Dibuja barras horizontales.
.index
Los rótulos de las filas.
.values
Los valores, sin los rótulos.
ax.set_title y ax.set_xlabel
Ponen el título y el nombre del eje.
f"... {nombre} ..."
Texto con una f delante. Lo que va entre llaves se reemplaza por su valor al mostrarse.
plt.show()
Muestra el gráfico.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Esto lo dice el recuadro amarillo del cuaderno. Los datos del curso son sintéticos y no sirven para hablar del sistema eléctrico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El Excel tiene dos pestañas. Con sheet_name=None, hojas guarda las dos, cada una por su nombre. hojas["notas"] saca la tabla de la hoja notas.
DECIR
Sin sheet_name=None se leería solo la primera hoja.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hojas = pd.read_excel(DATOS + "centrales.xlsx", sheet_name=None)
read_excel lee un Excel. Con sheet_name=None trae todas las hojas, cada una como una tabla.
list(hojas.keys())
Los nombres de las hojas.
hojas["notas"]
Muestra la hoja notas.
SINTAXIS DE TODO EL CÓDIGO DE ESTA CELDA
# comentario
Todo lo que va después del signo # es un comentario. Python no lo ejecuta, sirve para explicar el código a quien lo lee.
sheet_name=None
Trae todas las hojas del Excel, cada una como una tabla, guardadas en un diccionario por nombre de hoja.
nombre = valor
Un solo signo igual guarda. A la izquierda va el nombre y a la derecha lo que se guarda. Si el nombre ya existía, su valor anterior se reemplaza.
None
Nada. Asignado a una celda la deja vacía.
pd.read_excel( ... )
Lee un archivo de Excel.
+
Suma números. Con textos, los junta uno detrás del otro.
"texto"
Lo que va entre comillas es texto. Sin comillas, Python lo entiende como un nombre o un número.
print( ... )
Muestra en pantalla lo que va dentro. Si van varias cosas separadas por coma, las muestra en una línea con un espacio entre ellas.
list( ... )
Convierte algo en una lista, para poder verlo completo.
.keys()
Las llaves de un diccionario.
tabla["columna"]
Corchetes con un nombre entre comillas eligen una columna de la tabla. También eligen una llave de un diccionario.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Volver al diagrama. hojas no es una tabla, es un conjunto de tablas con nombre.
SINTAXIS DE TODO EL CÓDIGO DE ESTA CELDA
# comentario
Todo lo que va después del signo # es un comentario. Python no lo ejecuta, sirve para explicar el código a quien lo lee.
sheet_name=None
Trae todas las hojas del Excel, cada una como una tabla, guardadas en un diccionario por nombre de hoja.
nombre = valor
Un solo signo igual guarda. A la izquierda va el nombre y a la derecha lo que se guarda. Si el nombre ya existía, su valor anterior se reemplaza.
None
Nada. Asignado a una celda la deja vacía.
pd.read_excel( ... )
Lee un archivo de Excel.
+
Suma números. Con textos, los junta uno detrás del otro.
"texto"
Lo que va entre comillas es texto. Sin comillas, Python lo entiende como un nombre o un número.
print( ... )
Muestra en pantalla lo que va dentro. Si van varias cosas separadas por coma, las muestra en una línea con un espacio entre ellas.
list( ... )
Convierte algo en una lista, para poder verlo completo.
.keys()
Las llaves de un diccionario.
tabla["columna"]
Corchetes con un nombre entre comillas eligen una columna de la tabla. También eligen una llave de un diccionario.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el nombre no está escrito igual que en la pestaña, Python avisa con un KeyError.
SINTAXIS DE TODO EL CÓDIGO DE ESTA CELDA
# comentario
Todo lo que va después del signo # es un comentario. Python no lo ejecuta, sirve para explicar el código a quien lo lee.
sheet_name=None
Trae todas las hojas del Excel, cada una como una tabla, guardadas en un diccionario por nombre de hoja.
nombre = valor
Un solo signo igual guarda. A la izquierda va el nombre y a la derecha lo que se guarda. Si el nombre ya existía, su valor anterior se reemplaza.
None
Nada. Asignado a una celda la deja vacía.
pd.read_excel( ... )
Lee un archivo de Excel.
+
Suma números. Con textos, los junta uno detrás del otro.
"texto"
Lo que va entre comillas es texto. Sin comillas, Python lo entiende como un nombre o un número.
print( ... )
Muestra en pantalla lo que va dentro. Si van varias cosas separadas por coma, las muestra en una línea con un espacio entre ellas.
list( ... )
Convierte algo en una lista, para poder verlo completo.
.keys()
Las llaves de un diccionario.
tabla["columna"]
Corchetes con un nombre entre comillas eligen una columna de la tabla. También eligen una llave de un diccionario.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El archivo tiene dos hojas, centrales y notas.
DECIR
Lo importante es que el Excel termina en el mismo tipo de tabla que el CSV.
DECIR
Sin sheet_name=None, read_excel lee solo la primera hoja. Es fácil no darse cuenta de que había más.
SINTAXIS DE TODO EL CÓDIGO DE ESTA CELDA
# comentario
Todo lo que va después del signo # es un comentario. Python no lo ejecuta, sirve para explicar el código a quien lo lee.
sheet_name=None
Trae todas las hojas del Excel, cada una como una tabla, guardadas en un diccionario por nombre de hoja.
nombre = valor
Un solo signo igual guarda. A la izquierda va el nombre y a la derecha lo que se guarda. Si el nombre ya existía, su valor anterior se reemplaza.
None
Nada. Asignado a una celda la deja vacía.
pd.read_excel( ... )
Lee un archivo de Excel.
+
Suma números. Con textos, los junta uno detrás del otro.
"texto"
Lo que va entre comillas es texto. Sin comillas, Python lo entiende como un nombre o un número.
print( ... )
Muestra en pantalla lo que va dentro. Si van varias cosas separadas por coma, las muestra en una línea con un espacio entre ellas.
list( ... )
Convierte algo en una lista, para poder verlo completo.
.keys()
Las llaves de un diccionario.
tabla["columna"]
Corchetes con un nombre entre comillas eligen una columna de la tabla. También eligen una llave de un diccionario.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La respuesta tiene dos partes. metadata describe los datos. datos es una lista de registros, todos con las mismas llaves. json_normalize convierte cada registro en una fila y cada llave en una columna.
DECIR
Son 5.208 registros. La celda muestra solo las primeras cinco filas con 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import requests
Trae la herramienta para pedir datos a internet.
respuesta = requests.get(DATOS + "precios_nudo.json").json()
Pide la dirección y convierte la respuesta en datos que Python entiende. Un servicio web real se lee igual, solo cambia la dirección.
list(respuesta.keys())
La respuesta trae dos partes, metadata y datos.
pd.json_normalize(respuesta["datos"]).head()
Convierte la lista de registros en una tabla y muestra las primeras filas.
SINTAXIS DE TODO EL CÓDIGO DE ESTA CELDA
# comentario
Todo lo que va después del signo # es un comentario. Python no lo ejecuta, sirve para explicar el código a quien lo lee.
import
Trae una herramienta que no viene cargada desde el comienzo. import pandas as pd la trae y le pone el apodo pd, para escribir menos.
nombre = valor
Un solo signo igual guarda. A la izquierda va el nombre y a la derecha lo que se guarda. Si el nombre ya existía, su valor anterior se reemplaza.
requests.get(dirección)
Pide una dirección a internet, como cuando se abre una página.
a.b().c()
Cadena de pasos. Cada punto toma lo que salió a su izquierda y le aplica algo más. Se lee de izquierda a derecha.
+
Suma números. Con textos, los junta uno detrás del otro.
"texto"
Lo que va entre comillas es texto. Sin comillas, Python lo entiende como un nombre o un número.
.json()
Convierte la respuesta en datos de Python, diccionarios y listas.
print( ... )
Muestra en pantalla lo que va dentro. Si van varias cosas separadas por coma, las muestra en una línea con un espacio entre ellas.
list( ... )
Convierte algo en una lista, para poder verlo completo.
.keys()
Las llaves de un diccionario.
pd.json_normalize( ... )
Convierte una lista de registros, como los que entrega un servicio web, en una tabla.
tabla["columna"]
Corchetes con un nombre entre comillas eligen una columna de la tabla. También eligen una llave de un diccionario.
.head(n)
Las primeras n filas. Sin n, cinco.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lámina explica cada pieza de esta línea. Abajo está la sintaxis de toda la celda.
SINTAXIS DE TODO EL CÓDIGO DE ESTA CELDA
# comentario
Todo lo que va después del signo # es un comentario. Python no lo ejecuta, sirve para explicar el código a quien lo lee.
import
Trae una herramienta que no viene cargada desde el comienzo. import pandas as pd la trae y le pone el apodo pd, para escribir menos.
nombre = valor
Un solo signo igual guarda. A la izquierda va el nombre y a la derecha lo que se guarda. Si el nombre ya existía, su valor anterior se reemplaza.
requests.get(dirección)
Pide una dirección a internet, como cuando se abre una página.
a.b().c()
Cadena de pasos. Cada punto toma lo que salió a su izquierda y le aplica algo más. Se lee de izquierda a derecha.
+
Suma números. Con textos, los junta uno detrás del otro.
"texto"
Lo que va entre comillas es texto. Sin comillas, Python lo entiende como un nombre o un número.
.json()
Convierte la respuesta en datos de Python, diccionarios y listas.
print( ... )
Muestra en pantalla lo que va dentro. Si van varias cosas separadas por coma, las muestra en una línea con un espacio entre ellas.
list( ... )
Convierte algo en una lista, para poder verlo completo.
.keys()
Las llaves de un diccionario.
pd.json_normalize( ... )
Convierte una lista de registros, como los que entrega un servicio web, en una tabla.
tabla["columna"]
Corchetes con un nombre entre comillas eligen una columna de la tabla. También eligen una llave de un diccionario.
.head(n)
Las primeras n filas. Sin n, cinco.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un diccionario los corchetes eligen por nombre, igual que con una columna.
SINTAXIS DE TODO EL CÓDIGO DE ESTA CELDA
# comentario
Todo lo que va después del signo # es un comentario. Python no lo ejecuta, sirve para explicar el código a quien lo lee.
import
Trae una herramienta que no viene cargada desde el comienzo. import pandas as pd la trae y le pone el apodo pd, para escribir menos.
nombre = valor
Un solo signo igual guarda. A la izquierda va el nombre y a la derecha lo que se guarda. Si el nombre ya existía, su valor anterior se reemplaza.
requests.get(dirección)
Pide una dirección a internet, como cuando se abre una página.
a.b().c()
Cadena de pasos. Cada punto toma lo que salió a su izquierda y le aplica algo más. Se lee de izquierda a derecha.
+
Suma números. Con textos, los junta uno detrás del otro.
"texto"
Lo que va entre comillas es texto. Sin comillas, Python lo entiende como un nombre o un número.
.json()
Convierte la respuesta en datos de Python, diccionarios y listas.
print( ... )
Muestra en pantalla lo que va dentro. Si van varias cosas separadas por coma, las muestra en una línea con un espacio entre ellas.
list( ... )
Convierte algo en una lista, para poder verlo completo.
.keys()
Las llaves de un diccionario.
pd.json_normalize( ... )
Convierte una lista de registros, como los que entrega un servicio web, en una tabla.
tabla["columna"]
Corchetes con un nombre entre comillas eligen una columna de la tabla. También eligen una llave de un diccionario.
.head(n)
Las primeras n filas. Sin n, cinco.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Precios por hora y por región, en dólares por MWh.
SI PREGUNTAN QUÉ ES UN SERVICIO WEB
Una dirección de internet que en vez de una página entrega datos. Muchas instituciones publican así su información.
SINTAXIS DE TODO EL CÓDIGO DE ESTA CELDA
# comentario
Todo lo que va después del signo # es un comentario. Python no lo ejecuta, sirve para explicar el código a quien lo lee.
import
Trae una herramienta que no viene cargada desde el comienzo. import pandas as pd la trae y le pone el apodo pd, para escribir menos.
nombre = valor
Un solo signo igual guarda. A la izquierda va el nombre y a la derecha lo que se guarda. Si el nombre ya existía, su valor anterior se reemplaza.
requests.get(dirección)
Pide una dirección a internet, como cuando se abre una página.
a.b().c()
Cadena de pasos. Cada punto toma lo que salió a su izquierda y le aplica algo más. Se lee de izquierda a derecha.
+
Suma números. Con textos, los junta uno detrás del otro.
"texto"
Lo que va entre comillas es texto. Sin comillas, Python lo entiende como un nombre o un número.
.json()
Convierte la respuesta en datos de Python, diccionarios y listas.
print( ... )
Muestra en pantalla lo que va dentro. Si van varias cosas separadas por coma, las muestra en una línea con un espacio entre ellas.
list( ... )
Convierte algo en una lista, para poder verlo completo.
.keys()
Las llaves de un diccionario.
pd.json_normalize( ... )
Convierte una lista de registros, como los que entrega un servicio web, en una tabla.
tabla["columna"]
Corchetes con un nombre entre comillas eligen una columna de la tabla. También eligen una llave de un diccionario.
.head(n)
Las primeras n filas. Sin n, cinco.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La parte metadata describe los datos, quién los publica, cuándo y en qué unidad. Los datos de verdad están en la parte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MIRAR
La consulta en SQL viaja a la base. La base hace la suma adentro y devuelve solo siete filas, una por región.
DECIR
En la base hay 61.488 filas, pero a Colab llegan 7. Con bases grandes eso marca la diferencia.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LÍNEA POR LÍNEA
urllib.request.urlretrieve(DATOS + "demanda.db", "demanda.db")
Baja el archivo de la base de datos a Colab.
conexion = sqlite3.connect("demanda.db")
Abre una conexión con la base.
consulta = """..."""
La pregunta escrita en SQL, el idioma de las bases de datos. Pide la demanda total por región, ordenada de mayor a menor. Las tres comillas permiten escribir un texto de varias líneas.
pd.read_sql(consulta, conexion)
Le hace la pregunta a la base y trae la respuesta como tabla.
SINTAXIS DE TODO EL CÓDIGO DE ESTA CELDA
# comentario
Todo lo que va después del signo # es un comentario. Python no lo ejecuta, sirve para explicar el código a quien lo lee.
import
Trae una herramienta que no viene cargada desde el comienzo. import pandas as pd la trae y le pone el apodo pd, para escribir menos.
urllib.request.urlretrieve(dirección, archivo)
Baja un archivo de internet y lo guarda en Colab.
+
Suma números. Con textos, los junta uno detrás del otro.
"texto"
Lo que va entre comillas es texto. Sin comillas, Python lo entiende como un nombre o un número.
nombre = valor
Un solo signo igual guarda. A la izquierda va el nombre y a la derecha lo que se guarda. Si el nombre ya existía, su valor anterior se reemplaza.
sqlite3.connect(archivo)
Abre una conexión con una base de datos SQLite.
"""texto de varias líneas"""
Tres comillas permiten escribir un texto que ocupa varias líneas.
sangría
Las líneas corridas hacia la derecha dependen de la línea de arriba que termina en dos puntos. En Python la sangría es obligatoria.
SELECT ... FROM ... GROUP BY ... ORDER BY
Una consulta SQL. SELECT qué columnas, FROM de qué tabla, GROUP BY por qué agrupar, ORDER BY cómo ordenar y DESC de mayor a menor. AS le pone nombre a una columna calculada.
pd.read_sql(consulta, conexion)
Le hace la consulta SQL a la base de datos y trae la respuesta como tabla.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SQL es otro idioma, el de las bases de datos. No hace falta aprenderlo en este curso, solo saber leer una consulta simple.
SINTAXIS DE TODO EL CÓDIGO DE ESTA CELDA
# comentario
Todo lo que va después del signo # es un comentario. Python no lo ejecuta, sirve para explicar el código a quien lo lee.
import
Trae una herramienta que no viene cargada desde el comienzo. import pandas as pd la trae y le pone el apodo pd, para escribir menos.
urllib.request.urlretrieve(dirección, archivo)
Baja un archivo de internet y lo guarda en Colab.
+
Suma números. Con textos, los junta uno detrás del otro.
"texto"
Lo que va entre comillas es texto. Sin comillas, Python lo entiende como un nombre o un número.
nombre = valor
Un solo signo igual guarda. A la izquierda va el nombre y a la derecha lo que se guarda. Si el nombre ya existía, su valor anterior se reemplaza.
sqlite3.connect(archivo)
Abre una conexión con una base de datos SQLite.
"""texto de varias líneas"""
Tres comillas permiten escribir un texto que ocupa varias líneas.
sangría
Las líneas corridas hacia la derecha dependen de la línea de arriba que termina en dos puntos. En Python la sangría es obligatoria.
SELECT ... FROM ... GROUP BY ... ORDER BY
Una consulta SQL. SELECT qué columnas, FROM de qué tabla, GROUP BY por qué agrupar, ORDER BY cómo ordenar y DESC de mayor a menor. AS le pone nombre a una columna calculada.
pd.read_sql(consulta, conexion)
Le hace la consulta SQL a la base de datos y trae la respuesta como tabla.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SALIDA
La Metropolitana encabeza con 7,8 millones de MWh.
DECIR
La base hace el cálculo y entrega solo el resumen. Viajan siete filas en vez de miles.
SINTAXIS DE TODO EL CÓDIGO DE ESTA CELDA
# comentario
Todo lo que va después del signo # es un comentario. Python no lo ejecuta, sirve para explicar el código a quien lo lee.
import
Trae una herramienta que no viene cargada desde el comienzo. import pandas as pd la trae y le pone el apodo pd, para escribir menos.
urllib.request.urlretrieve(dirección, archivo)
Baja un archivo de internet y lo guarda en Colab.
+
Suma números. Con textos, los junta uno detrás del otro.
"texto"
Lo que va entre comillas es texto. Sin comillas, Python lo entiende como un nombre o un número.
nombre = valor
Un solo signo igual guarda. A la izquierda va el nombre y a la derecha lo que se guarda. Si el nombre ya existía, su valor anterior se reemplaza.
sqlite3.connect(archivo)
Abre una conexión con una base de datos SQLite.
"""texto de varias líneas"""
Tres comillas permiten escribir un texto que ocupa varias líneas.
sangría
Las líneas corridas hacia la derecha dependen de la línea de arriba que termina en dos puntos. En Python la sangría es obligatoria.
SELECT ... FROM ... GROUP BY ... ORDER BY
Una consulta SQL. SELECT qué columnas, FROM de qué tabla, GROUP BY por qué agrupar, ORDER BY cómo ordenar y DESC de mayor a menor. AS le pone nombre a una columna calculada.
pd.read_sql(consulta, conexion)
Le hace la consulta SQL a la base de datos y trae la respuesta como tabla.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DECIR
Con bases grandes no se baja la tabla completa. Se le pide a la base el resumen y llega solo eso.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Pegar en el chat el enlace del Lab 01 guiado.
El Paso 3 demora unos segundos porque el archivo es grande.
CIERRE
La idea que se tienen que llevar es contar filas y comparar el total antes y después de unir dos tablas.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D62"/>
        </a:solidFill>
      </p:bgPr>
    </p:bg>
    <p:spTree>
      <p:nvGrpSpPr>
        <p:cNvPr id="1" name=""/>
        <p:cNvGrpSpPr/>
        <p:nvPr/>
      </p:nvGrpSpPr>
      <p:grpSpPr>
        <a:xfrm>
          <a:off x="0" y="0"/>
          <a:ext cx="0" cy="0"/>
          <a:chOff x="0" y="0"/>
          <a:chExt cx="0" cy="0"/>
        </a:xfrm>
      </p:grpSpPr>
      <p:sp>
        <p:nvSpPr>
          <p:cNvPr id="2" name="Text 0"/>
          <p:cNvSpPr txBox="1"/>
          <p:nvPr/>
        </p:nvSpPr>
        <p:spPr>
          <a:xfrm>
            <a:off x="731520" y="1280160"/>
            <a:ext cx="10698480"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Lab 01 guiado · Importar y unir</a:t>
            </a:r>
            <a:endParaRPr lang="en-US" sz="4000" dirty="0"/>
          </a:p>
        </p:txBody>
      </p:sp>
      <p:sp>
        <p:nvSpPr>
          <p:cNvPr id="3" name="Text 1"/>
          <p:cNvSpPr txBox="1"/>
          <p:nvPr/>
        </p:nvSpPr>
        <p:spPr>
          <a:xfrm>
            <a:off x="731520" y="2148840"/>
            <a:ext cx="10698480" cy="45720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Parte 1 en clase, 5 pasos · Parte 2 para la casa, 5 estudios</a:t>
            </a:r>
            <a:endParaRPr lang="en-US" sz="2000" dirty="0"/>
          </a:p>
        </p:txBody>
      </p:sp>
      <p:sp>
        <p:nvSpPr>
          <p:cNvPr id="4" name="Shape 2"/>
          <p:cNvSpPr/>
          <p:nvPr/>
        </p:nvSpPr>
        <p:spPr>
          <a:xfrm>
            <a:off x="731520" y="3200400"/>
            <a:ext cx="502920" cy="502920"/>
          </a:xfrm>
          <a:prstGeom prst="ellipse">
            <a:avLst/>
          </a:prstGeom>
          <a:solidFill>
            <a:srgbClr val="F9AB00"/>
          </a:solidFill>
          <a:ln w="12700">
            <a:solidFill>
              <a:srgbClr val="F9AB00"/>
            </a:solidFill>
            <a:prstDash val="solid"/>
          </a:ln>
        </p:spPr>
      </p:sp>
      <p:sp>
        <p:nvSpPr>
          <p:cNvPr id="5" name="Text 3"/>
          <p:cNvSpPr txBox="1"/>
          <p:nvPr/>
        </p:nvSpPr>
        <p:spPr>
          <a:xfrm>
            <a:off x="731520" y="3200400"/>
            <a:ext cx="502920" cy="502920"/>
          </a:xfrm>
          <a:prstGeom prst="rect">
            <a:avLst/>
          </a:prstGeom>
          <a:noFill/>
          <a:ln/>
        </p:spPr>
        <p:txBody>
          <a:bodyPr wrap="square" lIns="0" tIns="0" rIns="0" bIns="0" rtlCol="0" anchor="ctr"/>
          <a:lstStyle/>
          <a:p>
            <a:pPr algn="ctr" indent="0" marL="0">
              <a:buNone/>
            </a:pPr>
            <a:r>
              <a:rPr lang="en-US" sz="1600" b="1" dirty="0">
                <a:solidFill>
                  <a:srgbClr val="0B3D62"/>
                </a:solidFill>
                <a:latin typeface="Calibri" pitchFamily="34" charset="0"/>
                <a:ea typeface="Calibri" pitchFamily="34" charset="-122"/>
                <a:cs typeface="Calibri" pitchFamily="34" charset="-120"/>
              </a:rPr>
              <a:t>1</a:t>
            </a:r>
            <a:endParaRPr lang="en-US" sz="1600" dirty="0"/>
          </a:p>
        </p:txBody>
      </p:sp>
      <p:sp>
        <p:nvSpPr>
          <p:cNvPr id="6" name="Text 4"/>
          <p:cNvSpPr txBox="1"/>
          <p:nvPr/>
        </p:nvSpPr>
        <p:spPr>
          <a:xfrm>
            <a:off x="1463040" y="3200400"/>
            <a:ext cx="9601200" cy="50292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Cada paso se muestra primero aquí. Un clic avanza.</a:t>
            </a:r>
            <a:endParaRPr lang="en-US" sz="1800" dirty="0"/>
          </a:p>
        </p:txBody>
      </p:sp>
      <p:sp>
        <p:nvSpPr>
          <p:cNvPr id="7" name="Shape 5"/>
          <p:cNvSpPr/>
          <p:nvPr/>
        </p:nvSpPr>
        <p:spPr>
          <a:xfrm>
            <a:off x="731520" y="3977640"/>
            <a:ext cx="502920" cy="502920"/>
          </a:xfrm>
          <a:prstGeom prst="ellipse">
            <a:avLst/>
          </a:prstGeom>
          <a:solidFill>
            <a:srgbClr val="F9AB00"/>
          </a:solidFill>
          <a:ln w="12700">
            <a:solidFill>
              <a:srgbClr val="F9AB00"/>
            </a:solidFill>
            <a:prstDash val="solid"/>
          </a:ln>
        </p:spPr>
      </p:sp>
      <p:sp>
        <p:nvSpPr>
          <p:cNvPr id="8" name="Text 6"/>
          <p:cNvSpPr txBox="1"/>
          <p:nvPr/>
        </p:nvSpPr>
        <p:spPr>
          <a:xfrm>
            <a:off x="731520" y="3977640"/>
            <a:ext cx="502920" cy="502920"/>
          </a:xfrm>
          <a:prstGeom prst="rect">
            <a:avLst/>
          </a:prstGeom>
          <a:noFill/>
          <a:ln/>
        </p:spPr>
        <p:txBody>
          <a:bodyPr wrap="square" lIns="0" tIns="0" rIns="0" bIns="0" rtlCol="0" anchor="ctr"/>
          <a:lstStyle/>
          <a:p>
            <a:pPr algn="ctr" indent="0" marL="0">
              <a:buNone/>
            </a:pPr>
            <a:r>
              <a:rPr lang="en-US" sz="1600" b="1" dirty="0">
                <a:solidFill>
                  <a:srgbClr val="0B3D62"/>
                </a:solidFill>
                <a:latin typeface="Calibri" pitchFamily="34" charset="0"/>
                <a:ea typeface="Calibri" pitchFamily="34" charset="-122"/>
                <a:cs typeface="Calibri" pitchFamily="34" charset="-120"/>
              </a:rPr>
              <a:t>2</a:t>
            </a:r>
            <a:endParaRPr lang="en-US" sz="1600" dirty="0"/>
          </a:p>
        </p:txBody>
      </p:sp>
      <p:sp>
        <p:nvSpPr>
          <p:cNvPr id="9" name="Text 7"/>
          <p:cNvSpPr txBox="1"/>
          <p:nvPr/>
        </p:nvSpPr>
        <p:spPr>
          <a:xfrm>
            <a:off x="1463040" y="3977640"/>
            <a:ext cx="9601200" cy="50292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Abajo aparece lo que Python recuerda, que en Colab no se ve.</a:t>
            </a:r>
            <a:endParaRPr lang="en-US" sz="1800" dirty="0"/>
          </a:p>
        </p:txBody>
      </p:sp>
      <p:sp>
        <p:nvSpPr>
          <p:cNvPr id="10" name="Shape 8"/>
          <p:cNvSpPr/>
          <p:nvPr/>
        </p:nvSpPr>
        <p:spPr>
          <a:xfrm>
            <a:off x="731520" y="4754880"/>
            <a:ext cx="502920" cy="502920"/>
          </a:xfrm>
          <a:prstGeom prst="ellipse">
            <a:avLst/>
          </a:prstGeom>
          <a:solidFill>
            <a:srgbClr val="F9AB00"/>
          </a:solidFill>
          <a:ln w="12700">
            <a:solidFill>
              <a:srgbClr val="F9AB00"/>
            </a:solidFill>
            <a:prstDash val="solid"/>
          </a:ln>
        </p:spPr>
      </p:sp>
      <p:sp>
        <p:nvSpPr>
          <p:cNvPr id="11" name="Text 9"/>
          <p:cNvSpPr txBox="1"/>
          <p:nvPr/>
        </p:nvSpPr>
        <p:spPr>
          <a:xfrm>
            <a:off x="731520" y="4754880"/>
            <a:ext cx="502920" cy="502920"/>
          </a:xfrm>
          <a:prstGeom prst="rect">
            <a:avLst/>
          </a:prstGeom>
          <a:noFill/>
          <a:ln/>
        </p:spPr>
        <p:txBody>
          <a:bodyPr wrap="square" lIns="0" tIns="0" rIns="0" bIns="0" rtlCol="0" anchor="ctr"/>
          <a:lstStyle/>
          <a:p>
            <a:pPr algn="ctr" indent="0" marL="0">
              <a:buNone/>
            </a:pPr>
            <a:r>
              <a:rPr lang="en-US" sz="1600" b="1" dirty="0">
                <a:solidFill>
                  <a:srgbClr val="0B3D62"/>
                </a:solidFill>
                <a:latin typeface="Calibri" pitchFamily="34" charset="0"/>
                <a:ea typeface="Calibri" pitchFamily="34" charset="-122"/>
                <a:cs typeface="Calibri" pitchFamily="34" charset="-120"/>
              </a:rPr>
              <a:t>3</a:t>
            </a:r>
            <a:endParaRPr lang="en-US" sz="1600" dirty="0"/>
          </a:p>
        </p:txBody>
      </p:sp>
      <p:sp>
        <p:nvSpPr>
          <p:cNvPr id="12" name="Text 10"/>
          <p:cNvSpPr txBox="1"/>
          <p:nvPr/>
        </p:nvSpPr>
        <p:spPr>
          <a:xfrm>
            <a:off x="1463040" y="4754880"/>
            <a:ext cx="9601200" cy="50292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Después lo hacen en Colab, y les tiene que salir igual.</a:t>
            </a:r>
            <a:endParaRPr lang="en-US" sz="1800" dirty="0"/>
          </a:p>
        </p:txBody>
      </p:sp>
      <p:sp>
        <p:nvSpPr>
          <p:cNvPr id="14" name="Text 11"/>
          <p:cNvSpPr txBox="1"/>
          <p:nvPr/>
        </p:nvSpPr>
        <p:spPr>
          <a:xfrm>
            <a:off x="731520" y="6126480"/>
            <a:ext cx="106984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Análisis Avanzado de Datos con Python · Subsecretaría de Energía</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3D62"/>
        </a:solidFill>
      </p:bgPr>
    </p:bg>
    <p:spTree>
      <p:nvGrpSpPr>
        <p:cNvPr id="1" name=""/>
        <p:cNvGrpSpPr/>
        <p:nvPr/>
      </p:nvGrpSpPr>
      <p:grpSpPr>
        <a:xfrm>
          <a:off x="0" y="0"/>
          <a:ext cx="0" cy="0"/>
          <a:chOff x="0" y="0"/>
          <a:chExt cx="0" cy="0"/>
        </a:xfrm>
      </p:grpSpPr>
      <p:sp>
        <p:nvSpPr>
          <p:cNvPr id="2" name="Text 0"/>
          <p:cNvSpPr txBox="1"/>
          <p:nvPr/>
        </p:nvSpPr>
        <p:spPr>
          <a:xfrm>
            <a:off x="731520" y="548640"/>
            <a:ext cx="10698480" cy="822960"/>
          </a:xfrm>
          <a:prstGeom prst="rect">
            <a:avLst/>
          </a:prstGeom>
          <a:noFill/>
          <a:ln/>
        </p:spPr>
        <p:txBody>
          <a:bodyPr wrap="square" lIns="0" tIns="0" rIns="0" bIns="0" rtlCol="0" anchor="ctr"/>
          <a:lstStyle/>
          <a:p>
            <a:pPr indent="0" marL="0">
              <a:buNone/>
            </a:pPr>
            <a:r>
              <a:rPr lang="en-US" sz="4400" b="1" dirty="0">
                <a:solidFill>
                  <a:srgbClr val="FFFFFF"/>
                </a:solidFill>
                <a:latin typeface="Calibri" pitchFamily="34" charset="0"/>
                <a:ea typeface="Calibri" pitchFamily="34" charset="-122"/>
                <a:cs typeface="Calibri" pitchFamily="34" charset="-120"/>
              </a:rPr>
              <a:t>PARTE 1 · EN CLASE</a:t>
            </a:r>
            <a:endParaRPr lang="en-US" sz="4400" dirty="0"/>
          </a:p>
        </p:txBody>
      </p:sp>
      <p:sp>
        <p:nvSpPr>
          <p:cNvPr id="3" name="Text 1"/>
          <p:cNvSpPr txBox="1"/>
          <p:nvPr/>
        </p:nvSpPr>
        <p:spPr>
          <a:xfrm>
            <a:off x="731520" y="1371600"/>
            <a:ext cx="10698480" cy="45720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Hoy hacemos estos 5 pasos, juntos, con estas láminas y después en Colab.</a:t>
            </a:r>
            <a:endParaRPr lang="en-US" sz="2000" dirty="0"/>
          </a:p>
        </p:txBody>
      </p:sp>
      <p:sp>
        <p:nvSpPr>
          <p:cNvPr id="4" name="Shape 2"/>
          <p:cNvSpPr/>
          <p:nvPr/>
        </p:nvSpPr>
        <p:spPr>
          <a:xfrm>
            <a:off x="731520" y="2240280"/>
            <a:ext cx="548640" cy="548640"/>
          </a:xfrm>
          <a:prstGeom prst="ellipse">
            <a:avLst/>
          </a:prstGeom>
          <a:solidFill>
            <a:srgbClr val="F9AB00"/>
          </a:solidFill>
          <a:ln w="12700">
            <a:solidFill>
              <a:srgbClr val="F9AB00"/>
            </a:solidFill>
            <a:prstDash val="solid"/>
          </a:ln>
        </p:spPr>
      </p:sp>
      <p:sp>
        <p:nvSpPr>
          <p:cNvPr id="5" name="Text 3"/>
          <p:cNvSpPr txBox="1"/>
          <p:nvPr/>
        </p:nvSpPr>
        <p:spPr>
          <a:xfrm>
            <a:off x="731520" y="2240280"/>
            <a:ext cx="548640" cy="548640"/>
          </a:xfrm>
          <a:prstGeom prst="rect">
            <a:avLst/>
          </a:prstGeom>
          <a:noFill/>
          <a:ln/>
        </p:spPr>
        <p:txBody>
          <a:bodyPr wrap="square" lIns="0" tIns="0" rIns="0" bIns="0" rtlCol="0" anchor="ctr"/>
          <a:lstStyle/>
          <a:p>
            <a:pPr algn="ctr" indent="0" marL="0">
              <a:buNone/>
            </a:pPr>
            <a:r>
              <a:rPr lang="en-US" sz="2000" b="1" dirty="0">
                <a:solidFill>
                  <a:srgbClr val="0B3D62"/>
                </a:solidFill>
                <a:latin typeface="Calibri" pitchFamily="34" charset="0"/>
                <a:ea typeface="Calibri" pitchFamily="34" charset="-122"/>
                <a:cs typeface="Calibri" pitchFamily="34" charset="-120"/>
              </a:rPr>
              <a:t>1</a:t>
            </a:r>
            <a:endParaRPr lang="en-US" sz="2000" dirty="0"/>
          </a:p>
        </p:txBody>
      </p:sp>
      <p:sp>
        <p:nvSpPr>
          <p:cNvPr id="6" name="Text 4"/>
          <p:cNvSpPr txBox="1"/>
          <p:nvPr/>
        </p:nvSpPr>
        <p:spPr>
          <a:xfrm>
            <a:off x="1508760" y="2240280"/>
            <a:ext cx="996696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Paso 1   </a:t>
            </a:r>
            <a:pPr indent="0" marL="0">
              <a:buNone/>
            </a:pPr>
            <a:r>
              <a:rPr lang="en-US" sz="2400" dirty="0">
                <a:solidFill>
                  <a:srgbClr val="FFFFFF"/>
                </a:solidFill>
                <a:latin typeface="Calibri" pitchFamily="34" charset="0"/>
                <a:ea typeface="Calibri" pitchFamily="34" charset="-122"/>
                <a:cs typeface="Calibri" pitchFamily="34" charset="-120"/>
              </a:rPr>
              <a:t>¿Qué centrales tenemos?</a:t>
            </a:r>
            <a:endParaRPr lang="en-US" sz="2400" dirty="0"/>
          </a:p>
        </p:txBody>
      </p:sp>
      <p:sp>
        <p:nvSpPr>
          <p:cNvPr id="7" name="Shape 5"/>
          <p:cNvSpPr/>
          <p:nvPr/>
        </p:nvSpPr>
        <p:spPr>
          <a:xfrm>
            <a:off x="731520" y="3017520"/>
            <a:ext cx="548640" cy="548640"/>
          </a:xfrm>
          <a:prstGeom prst="ellipse">
            <a:avLst/>
          </a:prstGeom>
          <a:solidFill>
            <a:srgbClr val="F9AB00"/>
          </a:solidFill>
          <a:ln w="12700">
            <a:solidFill>
              <a:srgbClr val="F9AB00"/>
            </a:solidFill>
            <a:prstDash val="solid"/>
          </a:ln>
        </p:spPr>
      </p:sp>
      <p:sp>
        <p:nvSpPr>
          <p:cNvPr id="8" name="Text 6"/>
          <p:cNvSpPr txBox="1"/>
          <p:nvPr/>
        </p:nvSpPr>
        <p:spPr>
          <a:xfrm>
            <a:off x="731520" y="3017520"/>
            <a:ext cx="548640" cy="548640"/>
          </a:xfrm>
          <a:prstGeom prst="rect">
            <a:avLst/>
          </a:prstGeom>
          <a:noFill/>
          <a:ln/>
        </p:spPr>
        <p:txBody>
          <a:bodyPr wrap="square" lIns="0" tIns="0" rIns="0" bIns="0" rtlCol="0" anchor="ctr"/>
          <a:lstStyle/>
          <a:p>
            <a:pPr algn="ctr" indent="0" marL="0">
              <a:buNone/>
            </a:pPr>
            <a:r>
              <a:rPr lang="en-US" sz="2000" b="1" dirty="0">
                <a:solidFill>
                  <a:srgbClr val="0B3D62"/>
                </a:solidFill>
                <a:latin typeface="Calibri" pitchFamily="34" charset="0"/>
                <a:ea typeface="Calibri" pitchFamily="34" charset="-122"/>
                <a:cs typeface="Calibri" pitchFamily="34" charset="-120"/>
              </a:rPr>
              <a:t>2</a:t>
            </a:r>
            <a:endParaRPr lang="en-US" sz="2000" dirty="0"/>
          </a:p>
        </p:txBody>
      </p:sp>
      <p:sp>
        <p:nvSpPr>
          <p:cNvPr id="9" name="Text 7"/>
          <p:cNvSpPr txBox="1"/>
          <p:nvPr/>
        </p:nvSpPr>
        <p:spPr>
          <a:xfrm>
            <a:off x="1508760" y="3017520"/>
            <a:ext cx="996696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Paso 2   </a:t>
            </a:r>
            <a:pPr indent="0" marL="0">
              <a:buNone/>
            </a:pPr>
            <a:r>
              <a:rPr lang="en-US" sz="2400" dirty="0">
                <a:solidFill>
                  <a:srgbClr val="FFFFFF"/>
                </a:solidFill>
                <a:latin typeface="Calibri" pitchFamily="34" charset="0"/>
                <a:ea typeface="Calibri" pitchFamily="34" charset="-122"/>
                <a:cs typeface="Calibri" pitchFamily="34" charset="-120"/>
              </a:rPr>
              <a:t>Tu turno, filtra por tecnología</a:t>
            </a:r>
            <a:endParaRPr lang="en-US" sz="2400" dirty="0"/>
          </a:p>
        </p:txBody>
      </p:sp>
      <p:sp>
        <p:nvSpPr>
          <p:cNvPr id="10" name="Shape 8"/>
          <p:cNvSpPr/>
          <p:nvPr/>
        </p:nvSpPr>
        <p:spPr>
          <a:xfrm>
            <a:off x="731520" y="3794760"/>
            <a:ext cx="548640" cy="548640"/>
          </a:xfrm>
          <a:prstGeom prst="ellipse">
            <a:avLst/>
          </a:prstGeom>
          <a:solidFill>
            <a:srgbClr val="F9AB00"/>
          </a:solidFill>
          <a:ln w="12700">
            <a:solidFill>
              <a:srgbClr val="F9AB00"/>
            </a:solidFill>
            <a:prstDash val="solid"/>
          </a:ln>
        </p:spPr>
      </p:sp>
      <p:sp>
        <p:nvSpPr>
          <p:cNvPr id="11" name="Text 9"/>
          <p:cNvSpPr txBox="1"/>
          <p:nvPr/>
        </p:nvSpPr>
        <p:spPr>
          <a:xfrm>
            <a:off x="731520" y="3794760"/>
            <a:ext cx="548640" cy="548640"/>
          </a:xfrm>
          <a:prstGeom prst="rect">
            <a:avLst/>
          </a:prstGeom>
          <a:noFill/>
          <a:ln/>
        </p:spPr>
        <p:txBody>
          <a:bodyPr wrap="square" lIns="0" tIns="0" rIns="0" bIns="0" rtlCol="0" anchor="ctr"/>
          <a:lstStyle/>
          <a:p>
            <a:pPr algn="ctr" indent="0" marL="0">
              <a:buNone/>
            </a:pPr>
            <a:r>
              <a:rPr lang="en-US" sz="2000" b="1" dirty="0">
                <a:solidFill>
                  <a:srgbClr val="0B3D62"/>
                </a:solidFill>
                <a:latin typeface="Calibri" pitchFamily="34" charset="0"/>
                <a:ea typeface="Calibri" pitchFamily="34" charset="-122"/>
                <a:cs typeface="Calibri" pitchFamily="34" charset="-120"/>
              </a:rPr>
              <a:t>3</a:t>
            </a:r>
            <a:endParaRPr lang="en-US" sz="2000" dirty="0"/>
          </a:p>
        </p:txBody>
      </p:sp>
      <p:sp>
        <p:nvSpPr>
          <p:cNvPr id="12" name="Text 10"/>
          <p:cNvSpPr txBox="1"/>
          <p:nvPr/>
        </p:nvSpPr>
        <p:spPr>
          <a:xfrm>
            <a:off x="1508760" y="3794760"/>
            <a:ext cx="996696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Paso 3   </a:t>
            </a:r>
            <a:pPr indent="0" marL="0">
              <a:buNone/>
            </a:pPr>
            <a:r>
              <a:rPr lang="en-US" sz="2400" dirty="0">
                <a:solidFill>
                  <a:srgbClr val="FFFFFF"/>
                </a:solidFill>
                <a:latin typeface="Calibri" pitchFamily="34" charset="0"/>
                <a:ea typeface="Calibri" pitchFamily="34" charset="-122"/>
                <a:cs typeface="Calibri" pitchFamily="34" charset="-120"/>
              </a:rPr>
              <a:t>¿Cómo llega la generación de cada hora?</a:t>
            </a:r>
            <a:endParaRPr lang="en-US" sz="2400" dirty="0"/>
          </a:p>
        </p:txBody>
      </p:sp>
      <p:sp>
        <p:nvSpPr>
          <p:cNvPr id="13" name="Shape 11"/>
          <p:cNvSpPr/>
          <p:nvPr/>
        </p:nvSpPr>
        <p:spPr>
          <a:xfrm>
            <a:off x="731520" y="4572000"/>
            <a:ext cx="548640" cy="548640"/>
          </a:xfrm>
          <a:prstGeom prst="ellipse">
            <a:avLst/>
          </a:prstGeom>
          <a:solidFill>
            <a:srgbClr val="F9AB00"/>
          </a:solidFill>
          <a:ln w="12700">
            <a:solidFill>
              <a:srgbClr val="F9AB00"/>
            </a:solidFill>
            <a:prstDash val="solid"/>
          </a:ln>
        </p:spPr>
      </p:sp>
      <p:sp>
        <p:nvSpPr>
          <p:cNvPr id="14" name="Text 12"/>
          <p:cNvSpPr txBox="1"/>
          <p:nvPr/>
        </p:nvSpPr>
        <p:spPr>
          <a:xfrm>
            <a:off x="731520" y="4572000"/>
            <a:ext cx="548640" cy="548640"/>
          </a:xfrm>
          <a:prstGeom prst="rect">
            <a:avLst/>
          </a:prstGeom>
          <a:noFill/>
          <a:ln/>
        </p:spPr>
        <p:txBody>
          <a:bodyPr wrap="square" lIns="0" tIns="0" rIns="0" bIns="0" rtlCol="0" anchor="ctr"/>
          <a:lstStyle/>
          <a:p>
            <a:pPr algn="ctr" indent="0" marL="0">
              <a:buNone/>
            </a:pPr>
            <a:r>
              <a:rPr lang="en-US" sz="2000" b="1" dirty="0">
                <a:solidFill>
                  <a:srgbClr val="0B3D62"/>
                </a:solidFill>
                <a:latin typeface="Calibri" pitchFamily="34" charset="0"/>
                <a:ea typeface="Calibri" pitchFamily="34" charset="-122"/>
                <a:cs typeface="Calibri" pitchFamily="34" charset="-120"/>
              </a:rPr>
              <a:t>4</a:t>
            </a:r>
            <a:endParaRPr lang="en-US" sz="2000" dirty="0"/>
          </a:p>
        </p:txBody>
      </p:sp>
      <p:sp>
        <p:nvSpPr>
          <p:cNvPr id="15" name="Text 13"/>
          <p:cNvSpPr txBox="1"/>
          <p:nvPr/>
        </p:nvSpPr>
        <p:spPr>
          <a:xfrm>
            <a:off x="1508760" y="4572000"/>
            <a:ext cx="996696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Paso 4   </a:t>
            </a:r>
            <a:pPr indent="0" marL="0">
              <a:buNone/>
            </a:pPr>
            <a:r>
              <a:rPr lang="en-US" sz="2400" dirty="0">
                <a:solidFill>
                  <a:srgbClr val="FFFFFF"/>
                </a:solidFill>
                <a:latin typeface="Calibri" pitchFamily="34" charset="0"/>
                <a:ea typeface="Calibri" pitchFamily="34" charset="-122"/>
                <a:cs typeface="Calibri" pitchFamily="34" charset="-120"/>
              </a:rPr>
              <a:t>Tu turno, une generación con fichas</a:t>
            </a:r>
            <a:endParaRPr lang="en-US" sz="2400" dirty="0"/>
          </a:p>
        </p:txBody>
      </p:sp>
      <p:sp>
        <p:nvSpPr>
          <p:cNvPr id="16" name="Shape 14"/>
          <p:cNvSpPr/>
          <p:nvPr/>
        </p:nvSpPr>
        <p:spPr>
          <a:xfrm>
            <a:off x="731520" y="5349240"/>
            <a:ext cx="548640" cy="548640"/>
          </a:xfrm>
          <a:prstGeom prst="ellipse">
            <a:avLst/>
          </a:prstGeom>
          <a:solidFill>
            <a:srgbClr val="F9AB00"/>
          </a:solidFill>
          <a:ln w="12700">
            <a:solidFill>
              <a:srgbClr val="F9AB00"/>
            </a:solidFill>
            <a:prstDash val="solid"/>
          </a:ln>
        </p:spPr>
      </p:sp>
      <p:sp>
        <p:nvSpPr>
          <p:cNvPr id="17" name="Text 15"/>
          <p:cNvSpPr txBox="1"/>
          <p:nvPr/>
        </p:nvSpPr>
        <p:spPr>
          <a:xfrm>
            <a:off x="731520" y="5349240"/>
            <a:ext cx="548640" cy="548640"/>
          </a:xfrm>
          <a:prstGeom prst="rect">
            <a:avLst/>
          </a:prstGeom>
          <a:noFill/>
          <a:ln/>
        </p:spPr>
        <p:txBody>
          <a:bodyPr wrap="square" lIns="0" tIns="0" rIns="0" bIns="0" rtlCol="0" anchor="ctr"/>
          <a:lstStyle/>
          <a:p>
            <a:pPr algn="ctr" indent="0" marL="0">
              <a:buNone/>
            </a:pPr>
            <a:r>
              <a:rPr lang="en-US" sz="2000" b="1" dirty="0">
                <a:solidFill>
                  <a:srgbClr val="0B3D62"/>
                </a:solidFill>
                <a:latin typeface="Calibri" pitchFamily="34" charset="0"/>
                <a:ea typeface="Calibri" pitchFamily="34" charset="-122"/>
                <a:cs typeface="Calibri" pitchFamily="34" charset="-120"/>
              </a:rPr>
              <a:t>5</a:t>
            </a:r>
            <a:endParaRPr lang="en-US" sz="2000" dirty="0"/>
          </a:p>
        </p:txBody>
      </p:sp>
      <p:sp>
        <p:nvSpPr>
          <p:cNvPr id="18" name="Text 16"/>
          <p:cNvSpPr txBox="1"/>
          <p:nvPr/>
        </p:nvSpPr>
        <p:spPr>
          <a:xfrm>
            <a:off x="1508760" y="5349240"/>
            <a:ext cx="9966960" cy="548640"/>
          </a:xfrm>
          <a:prstGeom prst="rect">
            <a:avLst/>
          </a:prstGeom>
          <a:noFill/>
          <a:ln/>
        </p:spPr>
        <p:txBody>
          <a:bodyPr wrap="square" lIns="0" tIns="0" rIns="0" bIns="0" rtlCol="0" anchor="ctr"/>
          <a:lstStyle/>
          <a:p>
            <a:pPr indent="0" marL="0">
              <a:buNone/>
            </a:pPr>
            <a:r>
              <a:rPr lang="en-US" sz="2400" b="1" dirty="0">
                <a:solidFill>
                  <a:srgbClr val="FFFFFF"/>
                </a:solidFill>
                <a:latin typeface="Calibri" pitchFamily="34" charset="0"/>
                <a:ea typeface="Calibri" pitchFamily="34" charset="-122"/>
                <a:cs typeface="Calibri" pitchFamily="34" charset="-120"/>
              </a:rPr>
              <a:t>Paso 5   </a:t>
            </a:r>
            <a:pPr indent="0" marL="0">
              <a:buNone/>
            </a:pPr>
            <a:r>
              <a:rPr lang="en-US" sz="2400" dirty="0">
                <a:solidFill>
                  <a:srgbClr val="FFFFFF"/>
                </a:solidFill>
                <a:latin typeface="Calibri" pitchFamily="34" charset="0"/>
                <a:ea typeface="Calibri" pitchFamily="34" charset="-122"/>
                <a:cs typeface="Calibri" pitchFamily="34" charset="-120"/>
              </a:rPr>
              <a:t>Tu turno, ¿qué pasa con fichas repetidas?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1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centrales tenemos?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qué hace read_csv con el archivo.</a:t>
            </a:r>
            <a:endParaRPr lang="en-US" sz="1400" dirty="0"/>
          </a:p>
        </p:txBody>
      </p:sp>
      <p:pic>
        <p:nvPicPr>
          <p:cNvPr id="6" name="Image 0" descr="../../repo/modulos/../../diag/lab01_paso1_csv.png">    </p:cNvPr>
          <p:cNvPicPr>
            <a:picLocks noChangeAspect="1"/>
          </p:cNvPicPr>
          <p:nvPr/>
        </p:nvPicPr>
        <p:blipFill>
          <a:blip r:embed="rId1"/>
          <a:stretch>
            <a:fillRect/>
          </a:stretch>
        </p:blipFill>
        <p:spPr>
          <a:xfrm>
            <a:off x="548640" y="1463040"/>
            <a:ext cx="11091672" cy="449060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4"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1 de 5</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centrales tenemos?</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La tabla se lee desde la carpeta de datos del repositorio del curso.</a:t>
            </a:r>
            <a:endParaRPr lang="en-US" sz="1400" dirty="0"/>
          </a:p>
        </p:txBody>
      </p:sp>
      <p:sp>
        <p:nvSpPr>
          <p:cNvPr id="7" name="Shape 4"/>
          <p:cNvSpPr/>
          <p:nvPr/>
        </p:nvSpPr>
        <p:spPr>
          <a:xfrm>
            <a:off x="548640" y="1481328"/>
            <a:ext cx="11091672" cy="2125980"/>
          </a:xfrm>
          <a:prstGeom prst="roundRect">
            <a:avLst>
              <a:gd name="adj" fmla="val 2581"/>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10085832" cy="194310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Paso 1</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La carpeta de datos del curso, en el repositorio.</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DATOS = </a:t>
            </a:r>
            <a:pPr indent="0" marL="0">
              <a:buNone/>
            </a:pPr>
            <a:r>
              <a:rPr lang="en-US" sz="1300" dirty="0">
                <a:solidFill>
                  <a:srgbClr val="A31515"/>
                </a:solidFill>
                <a:latin typeface="Courier New" pitchFamily="34" charset="0"/>
                <a:ea typeface="Courier New" pitchFamily="34" charset="-122"/>
                <a:cs typeface="Courier New" pitchFamily="34" charset="-120"/>
              </a:rPr>
              <a:t>"https://raw.githubusercontent.com/RodrigoMSB/curso-python-minergia/main/datos/"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import pandas as pd</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read_csv lee un archivo separado por comas y lo convierte en una tabla.</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centrales = pd.read_csv(DATOS + </a:t>
            </a:r>
            <a:pPr indent="0" marL="0">
              <a:buNone/>
            </a:pPr>
            <a:r>
              <a:rPr lang="en-US" sz="1300" dirty="0">
                <a:solidFill>
                  <a:srgbClr val="A31515"/>
                </a:solidFill>
                <a:latin typeface="Courier New" pitchFamily="34" charset="0"/>
                <a:ea typeface="Courier New" pitchFamily="34" charset="-122"/>
                <a:cs typeface="Courier New" pitchFamily="34" charset="-120"/>
              </a:rPr>
              <a:t>"centrales.csv"</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centrales</a:t>
            </a:r>
            <a:endParaRPr lang="en-US" sz="1300" dirty="0"/>
          </a:p>
        </p:txBody>
      </p:sp>
      <p:sp>
        <p:nvSpPr>
          <p:cNvPr id="11" name="Text 8"/>
          <p:cNvSpPr txBox="1"/>
          <p:nvPr/>
        </p:nvSpPr>
        <p:spPr>
          <a:xfrm>
            <a:off x="1325880" y="364388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2" name="Text 9"/>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3" name="Text 10"/>
          <p:cNvSpPr txBox="1"/>
          <p:nvPr/>
        </p:nvSpPr>
        <p:spPr>
          <a:xfrm>
            <a:off x="548640" y="6089904"/>
            <a:ext cx="7315200" cy="457200"/>
          </a:xfrm>
          <a:prstGeom prst="rect">
            <a:avLst/>
          </a:prstGeom>
          <a:noFill/>
          <a:ln/>
        </p:spPr>
        <p:txBody>
          <a:bodyPr wrap="square" lIns="0" tIns="0" rIns="0" bIns="0" rtlCol="0" anchor="ctr"/>
          <a:lstStyle/>
          <a:p>
            <a:pPr indent="0" marL="0">
              <a:buNone/>
            </a:pPr>
            <a:r>
              <a:rPr lang="en-US" sz="1300" i="1" dirty="0">
                <a:solidFill>
                  <a:srgbClr val="5F6368"/>
                </a:solidFill>
                <a:latin typeface="Calibri" pitchFamily="34" charset="0"/>
                <a:ea typeface="Calibri" pitchFamily="34" charset="-122"/>
                <a:cs typeface="Calibri" pitchFamily="34" charset="-120"/>
              </a:rPr>
              <a:t>Todavía nada. La memoria está vacía.</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1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centrales tenemos?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centrales = pd.read_csv(DATOS + </a:t>
            </a:r>
            <a:pPr indent="0" marL="0">
              <a:buNone/>
            </a:pPr>
            <a:r>
              <a:rPr lang="en-US" sz="1600" dirty="0">
                <a:solidFill>
                  <a:srgbClr val="A31515"/>
                </a:solidFill>
                <a:latin typeface="Courier New" pitchFamily="34" charset="0"/>
                <a:ea typeface="Courier New" pitchFamily="34" charset="-122"/>
                <a:cs typeface="Courier New" pitchFamily="34" charset="-120"/>
              </a:rPr>
              <a:t>"centrales.csv"</a:t>
            </a:r>
            <a:pPr indent="0" marL="0">
              <a:buNone/>
            </a:pPr>
            <a:r>
              <a:rPr lang="en-US" sz="1600" dirty="0">
                <a:solidFill>
                  <a:srgbClr val="202124"/>
                </a:solidFill>
                <a:latin typeface="Courier New" pitchFamily="34" charset="0"/>
                <a:ea typeface="Courier New" pitchFamily="34" charset="-122"/>
                <a:cs typeface="Courier New" pitchFamily="34" charset="-120"/>
              </a:rPr>
              <a:t>)</a:t>
            </a:r>
            <a:endParaRPr lang="en-US" sz="1600" dirty="0"/>
          </a:p>
        </p:txBody>
      </p:sp>
      <p:sp>
        <p:nvSpPr>
          <p:cNvPr id="8" name="Shape 6"/>
          <p:cNvSpPr/>
          <p:nvPr/>
        </p:nvSpPr>
        <p:spPr>
          <a:xfrm>
            <a:off x="548640" y="2507996"/>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50799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905256"/>
          </a:xfrm>
          <a:prstGeom prst="roundRect">
            <a:avLst>
              <a:gd name="adj" fmla="val 5051"/>
            </a:avLst>
          </a:prstGeom>
          <a:solidFill>
            <a:srgbClr val="DBE9FB"/>
          </a:solidFill>
          <a:ln w="12700">
            <a:solidFill>
              <a:srgbClr val="DBE9FB"/>
            </a:solidFill>
            <a:prstDash val="solid"/>
          </a:ln>
        </p:spPr>
      </p:sp>
      <p:sp>
        <p:nvSpPr>
          <p:cNvPr id="11" name="Text 9"/>
          <p:cNvSpPr txBox="1"/>
          <p:nvPr/>
        </p:nvSpPr>
        <p:spPr>
          <a:xfrm>
            <a:off x="1170432" y="2219960"/>
            <a:ext cx="4754880" cy="905256"/>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DATOS + "centrales.csv"</a:t>
            </a:r>
            <a:endParaRPr lang="en-US" sz="1400" dirty="0"/>
          </a:p>
        </p:txBody>
      </p:sp>
      <p:sp>
        <p:nvSpPr>
          <p:cNvPr id="12" name="Text 10"/>
          <p:cNvSpPr txBox="1"/>
          <p:nvPr/>
        </p:nvSpPr>
        <p:spPr>
          <a:xfrm>
            <a:off x="6263640" y="2219960"/>
            <a:ext cx="5376672" cy="905256"/>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El signo más junta dos textos. La dirección de la carpeta más el nombre del archivo forma la dirección completa.</a:t>
            </a:r>
            <a:endParaRPr lang="en-US" sz="1600" dirty="0"/>
          </a:p>
        </p:txBody>
      </p:sp>
      <p:sp>
        <p:nvSpPr>
          <p:cNvPr id="13" name="Shape 11"/>
          <p:cNvSpPr/>
          <p:nvPr/>
        </p:nvSpPr>
        <p:spPr>
          <a:xfrm>
            <a:off x="548640" y="3372104"/>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337210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3216656"/>
            <a:ext cx="4937760" cy="640080"/>
          </a:xfrm>
          <a:prstGeom prst="roundRect">
            <a:avLst>
              <a:gd name="adj" fmla="val 7143"/>
            </a:avLst>
          </a:prstGeom>
          <a:solidFill>
            <a:srgbClr val="DCEFE0"/>
          </a:solidFill>
          <a:ln w="12700">
            <a:solidFill>
              <a:srgbClr val="DCEFE0"/>
            </a:solidFill>
            <a:prstDash val="solid"/>
          </a:ln>
        </p:spPr>
      </p:sp>
      <p:sp>
        <p:nvSpPr>
          <p:cNvPr id="16" name="Text 14"/>
          <p:cNvSpPr txBox="1"/>
          <p:nvPr/>
        </p:nvSpPr>
        <p:spPr>
          <a:xfrm>
            <a:off x="1170432" y="3216656"/>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pd.read_csv( ... )</a:t>
            </a:r>
            <a:endParaRPr lang="en-US" sz="1400" dirty="0"/>
          </a:p>
        </p:txBody>
      </p:sp>
      <p:sp>
        <p:nvSpPr>
          <p:cNvPr id="17" name="Text 15"/>
          <p:cNvSpPr txBox="1"/>
          <p:nvPr/>
        </p:nvSpPr>
        <p:spPr>
          <a:xfrm>
            <a:off x="6263640" y="3216656"/>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pd es pandas. read_csv lee el archivo y lo convierte en tabla.</a:t>
            </a:r>
            <a:endParaRPr lang="en-US" sz="1600" dirty="0"/>
          </a:p>
        </p:txBody>
      </p:sp>
      <p:sp>
        <p:nvSpPr>
          <p:cNvPr id="18" name="Shape 16"/>
          <p:cNvSpPr/>
          <p:nvPr/>
        </p:nvSpPr>
        <p:spPr>
          <a:xfrm>
            <a:off x="548640" y="4048760"/>
            <a:ext cx="329184" cy="329184"/>
          </a:xfrm>
          <a:prstGeom prst="ellipse">
            <a:avLst/>
          </a:prstGeom>
          <a:solidFill>
            <a:srgbClr val="B07D00"/>
          </a:solidFill>
          <a:ln w="12700">
            <a:solidFill>
              <a:srgbClr val="B07D00"/>
            </a:solidFill>
            <a:prstDash val="solid"/>
          </a:ln>
        </p:spPr>
      </p:sp>
      <p:sp>
        <p:nvSpPr>
          <p:cNvPr id="19" name="Text 17"/>
          <p:cNvSpPr txBox="1"/>
          <p:nvPr/>
        </p:nvSpPr>
        <p:spPr>
          <a:xfrm>
            <a:off x="548640" y="404876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948176"/>
            <a:ext cx="4937760" cy="530352"/>
          </a:xfrm>
          <a:prstGeom prst="roundRect">
            <a:avLst>
              <a:gd name="adj" fmla="val 8621"/>
            </a:avLst>
          </a:prstGeom>
          <a:solidFill>
            <a:srgbClr val="FDF0C8"/>
          </a:solidFill>
          <a:ln w="12700">
            <a:solidFill>
              <a:srgbClr val="FDF0C8"/>
            </a:solidFill>
            <a:prstDash val="solid"/>
          </a:ln>
        </p:spPr>
      </p:sp>
      <p:sp>
        <p:nvSpPr>
          <p:cNvPr id="21" name="Text 19"/>
          <p:cNvSpPr txBox="1"/>
          <p:nvPr/>
        </p:nvSpPr>
        <p:spPr>
          <a:xfrm>
            <a:off x="1170432" y="3948176"/>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centrales =</a:t>
            </a:r>
            <a:endParaRPr lang="en-US" sz="1400" dirty="0"/>
          </a:p>
        </p:txBody>
      </p:sp>
      <p:sp>
        <p:nvSpPr>
          <p:cNvPr id="22" name="Text 20"/>
          <p:cNvSpPr txBox="1"/>
          <p:nvPr/>
        </p:nvSpPr>
        <p:spPr>
          <a:xfrm>
            <a:off x="6263640" y="3948176"/>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Guarda la tabla con el nombre centrales.</a:t>
            </a:r>
            <a:endParaRPr lang="en-US" sz="1600" dirty="0"/>
          </a:p>
        </p:txBody>
      </p:sp>
      <p:sp>
        <p:nvSpPr>
          <p:cNvPr id="23" name="Shape 21"/>
          <p:cNvSpPr/>
          <p:nvPr/>
        </p:nvSpPr>
        <p:spPr>
          <a:xfrm>
            <a:off x="548640" y="5989320"/>
            <a:ext cx="73152" cy="548640"/>
          </a:xfrm>
          <a:prstGeom prst="rect">
            <a:avLst/>
          </a:prstGeom>
          <a:solidFill>
            <a:srgbClr val="0B3D62"/>
          </a:solidFill>
          <a:ln w="12700">
            <a:solidFill>
              <a:srgbClr val="0B3D62"/>
            </a:solidFill>
            <a:prstDash val="solid"/>
          </a:ln>
        </p:spPr>
      </p:sp>
      <p:sp>
        <p:nvSpPr>
          <p:cNvPr id="24" name="Text 22"/>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lee el archivo centrales.csv de la carpeta del curso y guárdalo como la tabla centrales.</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1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centrales tenemos?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La tabla se lee desde la carpeta de datos del repositorio del curso.</a:t>
            </a:r>
            <a:endParaRPr lang="en-US" sz="1400" dirty="0"/>
          </a:p>
        </p:txBody>
      </p:sp>
      <p:sp>
        <p:nvSpPr>
          <p:cNvPr id="6" name="Shape 4"/>
          <p:cNvSpPr/>
          <p:nvPr/>
        </p:nvSpPr>
        <p:spPr>
          <a:xfrm>
            <a:off x="548640" y="1481328"/>
            <a:ext cx="11091672" cy="1961388"/>
          </a:xfrm>
          <a:prstGeom prst="roundRect">
            <a:avLst>
              <a:gd name="adj" fmla="val 2797"/>
            </a:avLst>
          </a:prstGeom>
          <a:solidFill>
            <a:srgbClr val="F8F9FA"/>
          </a:solidFill>
          <a:ln w="12700">
            <a:solidFill>
              <a:srgbClr val="DADCE0"/>
            </a:solidFill>
            <a:prstDash val="solid"/>
          </a:ln>
        </p:spPr>
      </p:sp>
      <p:sp>
        <p:nvSpPr>
          <p:cNvPr id="7" name="Shape 5"/>
          <p:cNvSpPr/>
          <p:nvPr/>
        </p:nvSpPr>
        <p:spPr>
          <a:xfrm>
            <a:off x="713232" y="1600200"/>
            <a:ext cx="420624" cy="420624"/>
          </a:xfrm>
          <a:prstGeom prst="ellipse">
            <a:avLst/>
          </a:prstGeom>
          <a:solidFill>
            <a:srgbClr val="E8EAED"/>
          </a:solidFill>
          <a:ln w="12700">
            <a:solidFill>
              <a:srgbClr val="E8EAED"/>
            </a:solidFill>
            <a:prstDash val="solid"/>
          </a:ln>
        </p:spPr>
      </p:sp>
      <p:sp>
        <p:nvSpPr>
          <p:cNvPr id="8" name="Shape 6"/>
          <p:cNvSpPr/>
          <p:nvPr/>
        </p:nvSpPr>
        <p:spPr>
          <a:xfrm rot="5400000">
            <a:off x="850392" y="1719072"/>
            <a:ext cx="182880" cy="182880"/>
          </a:xfrm>
          <a:prstGeom prst="triangle">
            <a:avLst/>
          </a:prstGeom>
          <a:solidFill>
            <a:srgbClr val="5F6368"/>
          </a:solidFill>
          <a:ln w="12700">
            <a:solidFill>
              <a:srgbClr val="5F6368"/>
            </a:solidFill>
            <a:prstDash val="solid"/>
          </a:ln>
        </p:spPr>
      </p:sp>
      <p:sp>
        <p:nvSpPr>
          <p:cNvPr id="9" name="Text 7"/>
          <p:cNvSpPr txBox="1"/>
          <p:nvPr/>
        </p:nvSpPr>
        <p:spPr>
          <a:xfrm>
            <a:off x="1325880" y="1600200"/>
            <a:ext cx="10085832" cy="1778508"/>
          </a:xfrm>
          <a:prstGeom prst="rect">
            <a:avLst/>
          </a:prstGeom>
          <a:noFill/>
          <a:ln/>
        </p:spPr>
        <p:txBody>
          <a:bodyPr wrap="square" lIns="0" tIns="0" rIns="0" bIns="0" rtlCol="0" anchor="t"/>
          <a:lstStyle/>
          <a:p>
            <a:pPr indent="0" marL="0">
              <a:buNone/>
            </a:pPr>
            <a:r>
              <a:rPr lang="en-US" sz="1200" i="1" dirty="0">
                <a:solidFill>
                  <a:srgbClr val="188038"/>
                </a:solidFill>
                <a:latin typeface="Courier New" pitchFamily="34" charset="0"/>
                <a:ea typeface="Courier New" pitchFamily="34" charset="-122"/>
                <a:cs typeface="Courier New" pitchFamily="34" charset="-120"/>
              </a:rPr>
              <a:t># Paso 1</a:t>
            </a:r>
            <a:endParaRPr lang="en-US" sz="1200" dirty="0"/>
          </a:p>
          <a:p>
            <a:pPr indent="0" marL="0">
              <a:buNone/>
            </a:pPr>
            <a:r>
              <a:rPr lang="en-US" sz="1200" i="1" dirty="0">
                <a:solidFill>
                  <a:srgbClr val="188038"/>
                </a:solidFill>
                <a:latin typeface="Courier New" pitchFamily="34" charset="0"/>
                <a:ea typeface="Courier New" pitchFamily="34" charset="-122"/>
                <a:cs typeface="Courier New" pitchFamily="34" charset="-120"/>
              </a:rPr>
              <a:t># La carpeta de datos del curso, en el repositorio.</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DATOS = </a:t>
            </a:r>
            <a:pPr indent="0" marL="0">
              <a:buNone/>
            </a:pPr>
            <a:r>
              <a:rPr lang="en-US" sz="1200" dirty="0">
                <a:solidFill>
                  <a:srgbClr val="A31515"/>
                </a:solidFill>
                <a:latin typeface="Courier New" pitchFamily="34" charset="0"/>
                <a:ea typeface="Courier New" pitchFamily="34" charset="-122"/>
                <a:cs typeface="Courier New" pitchFamily="34" charset="-120"/>
              </a:rPr>
              <a:t>"https://raw.githubusercontent.com/RodrigoMSB/curso-python-minergia/main/datos/"</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import pandas as pd</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a:t>
            </a:r>
            <a:endParaRPr lang="en-US" sz="1200" dirty="0"/>
          </a:p>
          <a:p>
            <a:pPr indent="0" marL="0">
              <a:buNone/>
            </a:pPr>
            <a:r>
              <a:rPr lang="en-US" sz="1200" i="1" dirty="0">
                <a:solidFill>
                  <a:srgbClr val="188038"/>
                </a:solidFill>
                <a:latin typeface="Courier New" pitchFamily="34" charset="0"/>
                <a:ea typeface="Courier New" pitchFamily="34" charset="-122"/>
                <a:cs typeface="Courier New" pitchFamily="34" charset="-120"/>
              </a:rPr>
              <a:t># read_csv lee un archivo separado por comas y lo convierte en una tabla.</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centrales = pd.read_csv(DATOS + </a:t>
            </a:r>
            <a:pPr indent="0" marL="0">
              <a:buNone/>
            </a:pPr>
            <a:r>
              <a:rPr lang="en-US" sz="1200" dirty="0">
                <a:solidFill>
                  <a:srgbClr val="A31515"/>
                </a:solidFill>
                <a:latin typeface="Courier New" pitchFamily="34" charset="0"/>
                <a:ea typeface="Courier New" pitchFamily="34" charset="-122"/>
                <a:cs typeface="Courier New" pitchFamily="34" charset="-120"/>
              </a:rPr>
              <a:t>"centrales.csv"</a:t>
            </a:r>
            <a:pPr indent="0" marL="0">
              <a:buNone/>
            </a:pPr>
            <a:r>
              <a:rPr lang="en-US" sz="1200" dirty="0">
                <a:solidFill>
                  <a:srgbClr val="202124"/>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centrales</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1325880" y="3552444"/>
          <a:ext cx="9144000" cy="914400"/>
        </p:xfrm>
        <a:graphic>
          <a:graphicData uri="http://schemas.openxmlformats.org/drawingml/2006/table">
            <a:tbl>
              <a:tblPr/>
              <a:tblGrid>
                <a:gridCol w="365760"/>
                <a:gridCol w="2377440"/>
                <a:gridCol w="1188720"/>
                <a:gridCol w="1280160"/>
                <a:gridCol w="1280160"/>
                <a:gridCol w="1280160"/>
              </a:tblGrid>
              <a:tr h="237744">
                <a:tc>
                  <a:txBody>
                    <a:bodyPr/>
                    <a:lstStyle/>
                    <a:p>
                      <a:pPr indent="0" marL="0">
                        <a:buNone/>
                      </a:pP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central</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tecnologia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region</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potencia_mw</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anio_inicio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Central Río Manso Alto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hidro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Biobío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420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2004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Central Salto Verde</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hidro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Los Lagos</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310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1998</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Central Aguas Claras</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hidro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Biobío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180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2011</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3</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Central Vega Azul</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hidro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Los Lagos</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95</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2016</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Central Tres Saltos</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hidro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Biobío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260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1995</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5</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Parque Solar Pampa Alta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solar</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Antofagasta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230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2019</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bl>
          </a:graphicData>
        </a:graphic>
      </p:graphicFrame>
      <p:sp>
        <p:nvSpPr>
          <p:cNvPr id="11" name="Text 8"/>
          <p:cNvSpPr txBox="1"/>
          <p:nvPr/>
        </p:nvSpPr>
        <p:spPr>
          <a:xfrm>
            <a:off x="1325880" y="5253228"/>
            <a:ext cx="7315200" cy="256032"/>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 y 14 filas más, 20 en total. En Colab se ven todas.</a:t>
            </a:r>
            <a:endParaRPr lang="en-US" sz="1200" dirty="0"/>
          </a:p>
        </p:txBody>
      </p:sp>
      <p:sp>
        <p:nvSpPr>
          <p:cNvPr id="13" name="Text 9"/>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4" name="Shape 10"/>
          <p:cNvSpPr/>
          <p:nvPr/>
        </p:nvSpPr>
        <p:spPr>
          <a:xfrm>
            <a:off x="548640" y="6062472"/>
            <a:ext cx="2770632" cy="566928"/>
          </a:xfrm>
          <a:prstGeom prst="roundRect">
            <a:avLst>
              <a:gd name="adj" fmla="val 11290"/>
            </a:avLst>
          </a:prstGeom>
          <a:solidFill>
            <a:srgbClr val="FEF3D6"/>
          </a:solidFill>
          <a:ln w="25400">
            <a:solidFill>
              <a:srgbClr val="F9AB00"/>
            </a:solidFill>
            <a:prstDash val="solid"/>
          </a:ln>
        </p:spPr>
      </p:sp>
      <p:sp>
        <p:nvSpPr>
          <p:cNvPr id="15" name="Text 11"/>
          <p:cNvSpPr txBox="1"/>
          <p:nvPr/>
        </p:nvSpPr>
        <p:spPr>
          <a:xfrm>
            <a:off x="640080"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
        <p:nvSpPr>
          <p:cNvPr id="16" name="Shape 12"/>
          <p:cNvSpPr/>
          <p:nvPr/>
        </p:nvSpPr>
        <p:spPr>
          <a:xfrm>
            <a:off x="3456432" y="6062472"/>
            <a:ext cx="1143000" cy="566928"/>
          </a:xfrm>
          <a:prstGeom prst="roundRect">
            <a:avLst>
              <a:gd name="adj" fmla="val 11290"/>
            </a:avLst>
          </a:prstGeom>
          <a:solidFill>
            <a:srgbClr val="FEF3D6"/>
          </a:solidFill>
          <a:ln w="25400">
            <a:solidFill>
              <a:srgbClr val="F9AB00"/>
            </a:solidFill>
            <a:prstDash val="solid"/>
          </a:ln>
        </p:spPr>
      </p:sp>
      <p:sp>
        <p:nvSpPr>
          <p:cNvPr id="17" name="Text 13"/>
          <p:cNvSpPr txBox="1"/>
          <p:nvPr/>
        </p:nvSpPr>
        <p:spPr>
          <a:xfrm>
            <a:off x="3547872"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8" name="Shape 14"/>
          <p:cNvSpPr/>
          <p:nvPr/>
        </p:nvSpPr>
        <p:spPr>
          <a:xfrm>
            <a:off x="4736592" y="6062472"/>
            <a:ext cx="1426464" cy="566928"/>
          </a:xfrm>
          <a:prstGeom prst="roundRect">
            <a:avLst>
              <a:gd name="adj" fmla="val 11290"/>
            </a:avLst>
          </a:prstGeom>
          <a:solidFill>
            <a:srgbClr val="FEF3D6"/>
          </a:solidFill>
          <a:ln w="25400">
            <a:solidFill>
              <a:srgbClr val="F9AB00"/>
            </a:solidFill>
            <a:prstDash val="solid"/>
          </a:ln>
        </p:spPr>
      </p:sp>
      <p:sp>
        <p:nvSpPr>
          <p:cNvPr id="19" name="Text 15"/>
          <p:cNvSpPr txBox="1"/>
          <p:nvPr/>
        </p:nvSpPr>
        <p:spPr>
          <a:xfrm>
            <a:off x="4828032"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centrales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20 × 5</a:t>
            </a:r>
            <a:endParaRPr lang="en-US" sz="1200" dirty="0"/>
          </a:p>
        </p:txBody>
      </p:sp>
      <p:sp>
        <p:nvSpPr>
          <p:cNvPr id="20" name="Text 16"/>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La tabla quedó guardada con el nombre centrales. Son las mismas 20 centrales de la bienvenida.</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1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centrales tenemos?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hay que llevarse de este paso.</a:t>
            </a:r>
            <a:endParaRPr lang="en-US" sz="1400" dirty="0"/>
          </a:p>
        </p:txBody>
      </p:sp>
      <p:sp>
        <p:nvSpPr>
          <p:cNvPr id="7" name="Shape 4"/>
          <p:cNvSpPr/>
          <p:nvPr/>
        </p:nvSpPr>
        <p:spPr>
          <a:xfrm>
            <a:off x="548640" y="1828800"/>
            <a:ext cx="11091672" cy="2377440"/>
          </a:xfrm>
          <a:prstGeom prst="roundRect">
            <a:avLst>
              <a:gd name="adj" fmla="val 3846"/>
            </a:avLst>
          </a:prstGeom>
          <a:solidFill>
            <a:srgbClr val="FFF8D6"/>
          </a:solidFill>
          <a:ln w="12700">
            <a:solidFill>
              <a:srgbClr val="FFF8D6"/>
            </a:solidFill>
            <a:prstDash val="solid"/>
          </a:ln>
        </p:spPr>
      </p:sp>
      <p:sp>
        <p:nvSpPr>
          <p:cNvPr id="8" name="Text 5"/>
          <p:cNvSpPr txBox="1"/>
          <p:nvPr/>
        </p:nvSpPr>
        <p:spPr>
          <a:xfrm>
            <a:off x="1005840" y="2057400"/>
            <a:ext cx="10177272" cy="1005840"/>
          </a:xfrm>
          <a:prstGeom prst="rect">
            <a:avLst/>
          </a:prstGeom>
          <a:noFill/>
          <a:ln/>
        </p:spPr>
        <p:txBody>
          <a:bodyPr wrap="square" lIns="0" tIns="0" rIns="0" bIns="0" rtlCol="0" anchor="t"/>
          <a:lstStyle/>
          <a:p>
            <a:pPr indent="0" marL="0">
              <a:buNone/>
            </a:pPr>
            <a:r>
              <a:rPr lang="en-US" sz="2800" b="1" dirty="0">
                <a:solidFill>
                  <a:srgbClr val="8A6D00"/>
                </a:solidFill>
                <a:latin typeface="Calibri" pitchFamily="34" charset="0"/>
                <a:ea typeface="Calibri" pitchFamily="34" charset="-122"/>
                <a:cs typeface="Calibri" pitchFamily="34" charset="-120"/>
              </a:rPr>
              <a:t>Un CSV es solo texto.</a:t>
            </a:r>
            <a:endParaRPr lang="en-US" sz="2800" dirty="0"/>
          </a:p>
        </p:txBody>
      </p:sp>
      <p:sp>
        <p:nvSpPr>
          <p:cNvPr id="9" name="Text 6"/>
          <p:cNvSpPr txBox="1"/>
          <p:nvPr/>
        </p:nvSpPr>
        <p:spPr>
          <a:xfrm>
            <a:off x="1005840" y="3154680"/>
            <a:ext cx="10177272" cy="914400"/>
          </a:xfrm>
          <a:prstGeom prst="rect">
            <a:avLst/>
          </a:prstGeom>
          <a:noFill/>
          <a:ln/>
        </p:spPr>
        <p:txBody>
          <a:bodyPr wrap="square" lIns="0" tIns="0" rIns="0" bIns="0" rtlCol="0" anchor="t"/>
          <a:lstStyle/>
          <a:p>
            <a:pPr indent="0" marL="0">
              <a:buNone/>
            </a:pPr>
            <a:r>
              <a:rPr lang="en-US" sz="2200" dirty="0">
                <a:solidFill>
                  <a:srgbClr val="202124"/>
                </a:solidFill>
                <a:latin typeface="Calibri" pitchFamily="34" charset="0"/>
                <a:ea typeface="Calibri" pitchFamily="34" charset="-122"/>
                <a:cs typeface="Calibri" pitchFamily="34" charset="-120"/>
              </a:rPr>
              <a:t>read_csv lo convierte en una tabla con nombre, filas, columnas e índice.</a:t>
            </a:r>
            <a:endParaRPr lang="en-US" sz="2200" dirty="0"/>
          </a:p>
        </p:txBody>
      </p:sp>
      <p:sp>
        <p:nvSpPr>
          <p:cNvPr id="10"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1" name="Shape 8"/>
          <p:cNvSpPr/>
          <p:nvPr/>
        </p:nvSpPr>
        <p:spPr>
          <a:xfrm>
            <a:off x="548640" y="6062472"/>
            <a:ext cx="2770632" cy="566928"/>
          </a:xfrm>
          <a:prstGeom prst="roundRect">
            <a:avLst>
              <a:gd name="adj" fmla="val 11290"/>
            </a:avLst>
          </a:prstGeom>
          <a:solidFill>
            <a:srgbClr val="FEF3D6"/>
          </a:solidFill>
          <a:ln w="25400">
            <a:solidFill>
              <a:srgbClr val="F9AB00"/>
            </a:solidFill>
            <a:prstDash val="solid"/>
          </a:ln>
        </p:spPr>
      </p:sp>
      <p:sp>
        <p:nvSpPr>
          <p:cNvPr id="12" name="Text 9"/>
          <p:cNvSpPr txBox="1"/>
          <p:nvPr/>
        </p:nvSpPr>
        <p:spPr>
          <a:xfrm>
            <a:off x="640080"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
        <p:nvSpPr>
          <p:cNvPr id="13" name="Shape 10"/>
          <p:cNvSpPr/>
          <p:nvPr/>
        </p:nvSpPr>
        <p:spPr>
          <a:xfrm>
            <a:off x="3456432" y="6062472"/>
            <a:ext cx="1143000" cy="566928"/>
          </a:xfrm>
          <a:prstGeom prst="roundRect">
            <a:avLst>
              <a:gd name="adj" fmla="val 11290"/>
            </a:avLst>
          </a:prstGeom>
          <a:solidFill>
            <a:srgbClr val="FEF3D6"/>
          </a:solidFill>
          <a:ln w="25400">
            <a:solidFill>
              <a:srgbClr val="F9AB00"/>
            </a:solidFill>
            <a:prstDash val="solid"/>
          </a:ln>
        </p:spPr>
      </p:sp>
      <p:sp>
        <p:nvSpPr>
          <p:cNvPr id="14" name="Text 11"/>
          <p:cNvSpPr txBox="1"/>
          <p:nvPr/>
        </p:nvSpPr>
        <p:spPr>
          <a:xfrm>
            <a:off x="3547872"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5" name="Shape 12"/>
          <p:cNvSpPr/>
          <p:nvPr/>
        </p:nvSpPr>
        <p:spPr>
          <a:xfrm>
            <a:off x="4736592" y="6062472"/>
            <a:ext cx="1426464" cy="566928"/>
          </a:xfrm>
          <a:prstGeom prst="roundRect">
            <a:avLst>
              <a:gd name="adj" fmla="val 11290"/>
            </a:avLst>
          </a:prstGeom>
          <a:solidFill>
            <a:srgbClr val="FEF3D6"/>
          </a:solidFill>
          <a:ln w="25400">
            <a:solidFill>
              <a:srgbClr val="F9AB00"/>
            </a:solidFill>
            <a:prstDash val="solid"/>
          </a:ln>
        </p:spPr>
      </p:sp>
      <p:sp>
        <p:nvSpPr>
          <p:cNvPr id="16" name="Text 13"/>
          <p:cNvSpPr txBox="1"/>
          <p:nvPr/>
        </p:nvSpPr>
        <p:spPr>
          <a:xfrm>
            <a:off x="4828032"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centrales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20 × 5</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2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filtra por tecnología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cómo decide el filtro qué filas pasan.</a:t>
            </a:r>
            <a:endParaRPr lang="en-US" sz="1400" dirty="0"/>
          </a:p>
        </p:txBody>
      </p:sp>
      <p:pic>
        <p:nvPicPr>
          <p:cNvPr id="6" name="Image 0" descr="../../repo/modulos/../../diag/lab01_paso2_filtro.png">    </p:cNvPr>
          <p:cNvPicPr>
            <a:picLocks noChangeAspect="1"/>
          </p:cNvPicPr>
          <p:nvPr/>
        </p:nvPicPr>
        <p:blipFill>
          <a:blip r:embed="rId1"/>
          <a:stretch>
            <a:fillRect/>
          </a:stretch>
        </p:blipFill>
        <p:spPr>
          <a:xfrm>
            <a:off x="592512" y="1463040"/>
            <a:ext cx="11003929" cy="461772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4"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2 de 5</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filtra por tecnología</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Elige una tecnología en la lista y vuelve a correr la celda.</a:t>
            </a:r>
            <a:endParaRPr lang="en-US" sz="1400" dirty="0"/>
          </a:p>
        </p:txBody>
      </p:sp>
      <p:sp>
        <p:nvSpPr>
          <p:cNvPr id="7" name="Shape 4"/>
          <p:cNvSpPr/>
          <p:nvPr/>
        </p:nvSpPr>
        <p:spPr>
          <a:xfrm>
            <a:off x="548640" y="1481328"/>
            <a:ext cx="11091672" cy="1920240"/>
          </a:xfrm>
          <a:prstGeom prst="roundRect">
            <a:avLst>
              <a:gd name="adj" fmla="val 2857"/>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7360920" cy="173736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Paso 2</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La tabla deja solo las centrales de la tecnología elegida.</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tecnologia = </a:t>
            </a:r>
            <a:pPr indent="0" marL="0">
              <a:buNone/>
            </a:pPr>
            <a:r>
              <a:rPr lang="en-US" sz="1300" dirty="0">
                <a:solidFill>
                  <a:srgbClr val="A31515"/>
                </a:solidFill>
                <a:latin typeface="Courier New" pitchFamily="34" charset="0"/>
                <a:ea typeface="Courier New" pitchFamily="34" charset="-122"/>
                <a:cs typeface="Courier New" pitchFamily="34" charset="-120"/>
              </a:rPr>
              <a:t>"hidro"</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80868B"/>
                </a:solidFill>
                <a:latin typeface="Courier New" pitchFamily="34" charset="0"/>
                <a:ea typeface="Courier New" pitchFamily="34" charset="-122"/>
                <a:cs typeface="Courier New" pitchFamily="34" charset="-120"/>
              </a:rPr>
              <a:t>#@param ["hidro", "solar", "eolica", "gas", "carbon", "diesel"]</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filtradas = centrales[centrales[</a:t>
            </a:r>
            <a:pPr indent="0" marL="0">
              <a:buNone/>
            </a:pPr>
            <a:r>
              <a:rPr lang="en-US" sz="1300" dirty="0">
                <a:solidFill>
                  <a:srgbClr val="A31515"/>
                </a:solidFill>
                <a:latin typeface="Courier New" pitchFamily="34" charset="0"/>
                <a:ea typeface="Courier New" pitchFamily="34" charset="-122"/>
                <a:cs typeface="Courier New" pitchFamily="34" charset="-120"/>
              </a:rPr>
              <a:t>"tecnologia"</a:t>
            </a:r>
            <a:pPr indent="0" marL="0">
              <a:buNone/>
            </a:pPr>
            <a:r>
              <a:rPr lang="en-US" sz="1300" dirty="0">
                <a:solidFill>
                  <a:srgbClr val="202124"/>
                </a:solidFill>
                <a:latin typeface="Courier New" pitchFamily="34" charset="0"/>
                <a:ea typeface="Courier New" pitchFamily="34" charset="-122"/>
                <a:cs typeface="Courier New" pitchFamily="34" charset="-120"/>
              </a:rPr>
              <a:t>] == tecnologia]</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print(f</a:t>
            </a:r>
            <a:pPr indent="0" marL="0">
              <a:buNone/>
            </a:pPr>
            <a:r>
              <a:rPr lang="en-US" sz="1300" dirty="0">
                <a:solidFill>
                  <a:srgbClr val="A31515"/>
                </a:solidFill>
                <a:latin typeface="Courier New" pitchFamily="34" charset="0"/>
                <a:ea typeface="Courier New" pitchFamily="34" charset="-122"/>
                <a:cs typeface="Courier New" pitchFamily="34" charset="-120"/>
              </a:rPr>
              <a:t>"✓ Hay {len(filtradas)} centrales de {tecnologia}"</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filtradas</a:t>
            </a:r>
            <a:endParaRPr lang="en-US" sz="1300" dirty="0"/>
          </a:p>
        </p:txBody>
      </p:sp>
      <p:sp>
        <p:nvSpPr>
          <p:cNvPr id="11" name="Text 8"/>
          <p:cNvSpPr txBox="1"/>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tecnologia</a:t>
            </a:r>
            <a:endParaRPr lang="en-US" sz="1100" dirty="0"/>
          </a:p>
        </p:txBody>
      </p:sp>
      <p:sp>
        <p:nvSpPr>
          <p:cNvPr id="12" name="Shape 9"/>
          <p:cNvSpPr/>
          <p:nvPr/>
        </p:nvSpPr>
        <p:spPr>
          <a:xfrm>
            <a:off x="8823960" y="1874520"/>
            <a:ext cx="2651760" cy="347472"/>
          </a:xfrm>
          <a:prstGeom prst="rect">
            <a:avLst/>
          </a:prstGeom>
          <a:solidFill>
            <a:srgbClr val="FFFFFF"/>
          </a:solidFill>
          <a:ln w="12700">
            <a:solidFill>
              <a:srgbClr val="9AA0A6"/>
            </a:solidFill>
            <a:prstDash val="solid"/>
          </a:ln>
        </p:spPr>
      </p:sp>
      <p:sp>
        <p:nvSpPr>
          <p:cNvPr id="13" name="Text 10"/>
          <p:cNvSpPr txBox="1"/>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hidro</a:t>
            </a:r>
            <a:endParaRPr lang="en-US" sz="1200" dirty="0"/>
          </a:p>
        </p:txBody>
      </p:sp>
      <p:sp>
        <p:nvSpPr>
          <p:cNvPr id="14"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5" name="Text 12"/>
          <p:cNvSpPr txBox="1"/>
          <p:nvPr/>
        </p:nvSpPr>
        <p:spPr>
          <a:xfrm>
            <a:off x="1325880" y="343814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6" name="Text 13"/>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7" name="Shape 14"/>
          <p:cNvSpPr/>
          <p:nvPr/>
        </p:nvSpPr>
        <p:spPr>
          <a:xfrm>
            <a:off x="548640" y="6062472"/>
            <a:ext cx="1426464"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640080"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centrales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20 × 5</a:t>
            </a:r>
            <a:endParaRPr lang="en-US" sz="1200" dirty="0"/>
          </a:p>
        </p:txBody>
      </p:sp>
      <p:sp>
        <p:nvSpPr>
          <p:cNvPr id="19" name="Shape 16"/>
          <p:cNvSpPr/>
          <p:nvPr/>
        </p:nvSpPr>
        <p:spPr>
          <a:xfrm>
            <a:off x="2112264" y="6062472"/>
            <a:ext cx="1143000"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2203704"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21" name="Shape 18"/>
          <p:cNvSpPr/>
          <p:nvPr/>
        </p:nvSpPr>
        <p:spPr>
          <a:xfrm>
            <a:off x="3392424" y="6062472"/>
            <a:ext cx="2770632" cy="566928"/>
          </a:xfrm>
          <a:prstGeom prst="roundRect">
            <a:avLst>
              <a:gd name="adj" fmla="val 11290"/>
            </a:avLst>
          </a:prstGeom>
          <a:solidFill>
            <a:srgbClr val="F1F3F4"/>
          </a:solidFill>
          <a:ln w="12700">
            <a:solidFill>
              <a:srgbClr val="DADCE0"/>
            </a:solidFill>
            <a:prstDash val="solid"/>
          </a:ln>
        </p:spPr>
      </p:sp>
      <p:sp>
        <p:nvSpPr>
          <p:cNvPr id="22" name="Text 19"/>
          <p:cNvSpPr txBox="1"/>
          <p:nvPr/>
        </p:nvSpPr>
        <p:spPr>
          <a:xfrm>
            <a:off x="3483864"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2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filtra por tecnología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filtradas = centrales[centrales[</a:t>
            </a:r>
            <a:pPr indent="0" marL="0">
              <a:buNone/>
            </a:pPr>
            <a:r>
              <a:rPr lang="en-US" sz="1600" dirty="0">
                <a:solidFill>
                  <a:srgbClr val="A31515"/>
                </a:solidFill>
                <a:latin typeface="Courier New" pitchFamily="34" charset="0"/>
                <a:ea typeface="Courier New" pitchFamily="34" charset="-122"/>
                <a:cs typeface="Courier New" pitchFamily="34" charset="-120"/>
              </a:rPr>
              <a:t>"tecnologia"</a:t>
            </a:r>
            <a:pPr indent="0" marL="0">
              <a:buNone/>
            </a:pPr>
            <a:r>
              <a:rPr lang="en-US" sz="1600" dirty="0">
                <a:solidFill>
                  <a:srgbClr val="202124"/>
                </a:solidFill>
                <a:latin typeface="Courier New" pitchFamily="34" charset="0"/>
                <a:ea typeface="Courier New" pitchFamily="34" charset="-122"/>
                <a:cs typeface="Courier New" pitchFamily="34" charset="-120"/>
              </a:rPr>
              <a:t>] == tecnologia]</a:t>
            </a:r>
            <a:endParaRPr lang="en-US" sz="1600" dirty="0"/>
          </a:p>
        </p:txBody>
      </p:sp>
      <p:sp>
        <p:nvSpPr>
          <p:cNvPr id="8" name="Shape 6"/>
          <p:cNvSpPr/>
          <p:nvPr/>
        </p:nvSpPr>
        <p:spPr>
          <a:xfrm>
            <a:off x="548640" y="2320544"/>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2054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530352"/>
          </a:xfrm>
          <a:prstGeom prst="roundRect">
            <a:avLst>
              <a:gd name="adj" fmla="val 8621"/>
            </a:avLst>
          </a:prstGeom>
          <a:solidFill>
            <a:srgbClr val="DBE9FB"/>
          </a:solidFill>
          <a:ln w="12700">
            <a:solidFill>
              <a:srgbClr val="DBE9FB"/>
            </a:solidFill>
            <a:prstDash val="solid"/>
          </a:ln>
        </p:spPr>
      </p:sp>
      <p:sp>
        <p:nvSpPr>
          <p:cNvPr id="11" name="Text 9"/>
          <p:cNvSpPr txBox="1"/>
          <p:nvPr/>
        </p:nvSpPr>
        <p:spPr>
          <a:xfrm>
            <a:off x="1170432" y="221996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centrales["tecnologia"]</a:t>
            </a:r>
            <a:endParaRPr lang="en-US" sz="1400" dirty="0"/>
          </a:p>
        </p:txBody>
      </p:sp>
      <p:sp>
        <p:nvSpPr>
          <p:cNvPr id="12" name="Text 10"/>
          <p:cNvSpPr txBox="1"/>
          <p:nvPr/>
        </p:nvSpPr>
        <p:spPr>
          <a:xfrm>
            <a:off x="6263640" y="221996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La columna tecnología, las 20 filas.</a:t>
            </a:r>
            <a:endParaRPr lang="en-US" sz="1600" dirty="0"/>
          </a:p>
        </p:txBody>
      </p:sp>
      <p:sp>
        <p:nvSpPr>
          <p:cNvPr id="13" name="Shape 11"/>
          <p:cNvSpPr/>
          <p:nvPr/>
        </p:nvSpPr>
        <p:spPr>
          <a:xfrm>
            <a:off x="548640" y="2997200"/>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29972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841752"/>
            <a:ext cx="4937760" cy="640080"/>
          </a:xfrm>
          <a:prstGeom prst="roundRect">
            <a:avLst>
              <a:gd name="adj" fmla="val 7143"/>
            </a:avLst>
          </a:prstGeom>
          <a:solidFill>
            <a:srgbClr val="DCEFE0"/>
          </a:solidFill>
          <a:ln w="12700">
            <a:solidFill>
              <a:srgbClr val="DCEFE0"/>
            </a:solidFill>
            <a:prstDash val="solid"/>
          </a:ln>
        </p:spPr>
      </p:sp>
      <p:sp>
        <p:nvSpPr>
          <p:cNvPr id="16" name="Text 14"/>
          <p:cNvSpPr txBox="1"/>
          <p:nvPr/>
        </p:nvSpPr>
        <p:spPr>
          <a:xfrm>
            <a:off x="1170432" y="2841752"/>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 tecnologia</a:t>
            </a:r>
            <a:endParaRPr lang="en-US" sz="1400" dirty="0"/>
          </a:p>
        </p:txBody>
      </p:sp>
      <p:sp>
        <p:nvSpPr>
          <p:cNvPr id="17" name="Text 15"/>
          <p:cNvSpPr txBox="1"/>
          <p:nvPr/>
        </p:nvSpPr>
        <p:spPr>
          <a:xfrm>
            <a:off x="6263640" y="2841752"/>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Compara cada fila con lo elegido en la lista. Da verdadero o falso en cada una.</a:t>
            </a:r>
            <a:endParaRPr lang="en-US" sz="1600" dirty="0"/>
          </a:p>
        </p:txBody>
      </p:sp>
      <p:sp>
        <p:nvSpPr>
          <p:cNvPr id="18" name="Shape 16"/>
          <p:cNvSpPr/>
          <p:nvPr/>
        </p:nvSpPr>
        <p:spPr>
          <a:xfrm>
            <a:off x="548640" y="3728720"/>
            <a:ext cx="329184" cy="329184"/>
          </a:xfrm>
          <a:prstGeom prst="ellipse">
            <a:avLst/>
          </a:prstGeom>
          <a:solidFill>
            <a:srgbClr val="B07D00"/>
          </a:solidFill>
          <a:ln w="12700">
            <a:solidFill>
              <a:srgbClr val="B07D00"/>
            </a:solidFill>
            <a:prstDash val="solid"/>
          </a:ln>
        </p:spPr>
      </p:sp>
      <p:sp>
        <p:nvSpPr>
          <p:cNvPr id="19" name="Text 17"/>
          <p:cNvSpPr txBox="1"/>
          <p:nvPr/>
        </p:nvSpPr>
        <p:spPr>
          <a:xfrm>
            <a:off x="548640" y="372872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573272"/>
            <a:ext cx="4937760" cy="640080"/>
          </a:xfrm>
          <a:prstGeom prst="roundRect">
            <a:avLst>
              <a:gd name="adj" fmla="val 7143"/>
            </a:avLst>
          </a:prstGeom>
          <a:solidFill>
            <a:srgbClr val="FDF0C8"/>
          </a:solidFill>
          <a:ln w="12700">
            <a:solidFill>
              <a:srgbClr val="FDF0C8"/>
            </a:solidFill>
            <a:prstDash val="solid"/>
          </a:ln>
        </p:spPr>
      </p:sp>
      <p:sp>
        <p:nvSpPr>
          <p:cNvPr id="21" name="Text 19"/>
          <p:cNvSpPr txBox="1"/>
          <p:nvPr/>
        </p:nvSpPr>
        <p:spPr>
          <a:xfrm>
            <a:off x="1170432" y="3573272"/>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centrales[ ... ]</a:t>
            </a:r>
            <a:endParaRPr lang="en-US" sz="1400" dirty="0"/>
          </a:p>
        </p:txBody>
      </p:sp>
      <p:sp>
        <p:nvSpPr>
          <p:cNvPr id="22" name="Text 20"/>
          <p:cNvSpPr txBox="1"/>
          <p:nvPr/>
        </p:nvSpPr>
        <p:spPr>
          <a:xfrm>
            <a:off x="6263640" y="3573272"/>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Con una lista de verdaderos y falsos adentro, la tabla deja pasar solo las filas con verdadero.</a:t>
            </a:r>
            <a:endParaRPr lang="en-US" sz="1600" dirty="0"/>
          </a:p>
        </p:txBody>
      </p:sp>
      <p:sp>
        <p:nvSpPr>
          <p:cNvPr id="23" name="Shape 21"/>
          <p:cNvSpPr/>
          <p:nvPr/>
        </p:nvSpPr>
        <p:spPr>
          <a:xfrm>
            <a:off x="548640" y="4405376"/>
            <a:ext cx="329184" cy="329184"/>
          </a:xfrm>
          <a:prstGeom prst="ellipse">
            <a:avLst/>
          </a:prstGeom>
          <a:solidFill>
            <a:srgbClr val="7B4FC9"/>
          </a:solidFill>
          <a:ln w="12700">
            <a:solidFill>
              <a:srgbClr val="7B4FC9"/>
            </a:solidFill>
            <a:prstDash val="solid"/>
          </a:ln>
        </p:spPr>
      </p:sp>
      <p:sp>
        <p:nvSpPr>
          <p:cNvPr id="24" name="Text 22"/>
          <p:cNvSpPr txBox="1"/>
          <p:nvPr/>
        </p:nvSpPr>
        <p:spPr>
          <a:xfrm>
            <a:off x="548640" y="440537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Shape 23"/>
          <p:cNvSpPr/>
          <p:nvPr/>
        </p:nvSpPr>
        <p:spPr>
          <a:xfrm>
            <a:off x="1051560" y="4304792"/>
            <a:ext cx="4937760" cy="530352"/>
          </a:xfrm>
          <a:prstGeom prst="roundRect">
            <a:avLst>
              <a:gd name="adj" fmla="val 8621"/>
            </a:avLst>
          </a:prstGeom>
          <a:solidFill>
            <a:srgbClr val="ECE2FA"/>
          </a:solidFill>
          <a:ln w="12700">
            <a:solidFill>
              <a:srgbClr val="ECE2FA"/>
            </a:solidFill>
            <a:prstDash val="solid"/>
          </a:ln>
        </p:spPr>
      </p:sp>
      <p:sp>
        <p:nvSpPr>
          <p:cNvPr id="26" name="Text 24"/>
          <p:cNvSpPr txBox="1"/>
          <p:nvPr/>
        </p:nvSpPr>
        <p:spPr>
          <a:xfrm>
            <a:off x="1170432" y="4304792"/>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filtradas =</a:t>
            </a:r>
            <a:endParaRPr lang="en-US" sz="1400" dirty="0"/>
          </a:p>
        </p:txBody>
      </p:sp>
      <p:sp>
        <p:nvSpPr>
          <p:cNvPr id="27" name="Text 25"/>
          <p:cNvSpPr txBox="1"/>
          <p:nvPr/>
        </p:nvSpPr>
        <p:spPr>
          <a:xfrm>
            <a:off x="6263640" y="4304792"/>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Guarda esas filas con el nombre filtradas.</a:t>
            </a:r>
            <a:endParaRPr lang="en-US" sz="1600" dirty="0"/>
          </a:p>
        </p:txBody>
      </p:sp>
      <p:sp>
        <p:nvSpPr>
          <p:cNvPr id="28" name="Shape 26"/>
          <p:cNvSpPr/>
          <p:nvPr/>
        </p:nvSpPr>
        <p:spPr>
          <a:xfrm>
            <a:off x="548640" y="5989320"/>
            <a:ext cx="73152" cy="548640"/>
          </a:xfrm>
          <a:prstGeom prst="rect">
            <a:avLst/>
          </a:prstGeom>
          <a:solidFill>
            <a:srgbClr val="0B3D62"/>
          </a:solidFill>
          <a:ln w="12700">
            <a:solidFill>
              <a:srgbClr val="0B3D62"/>
            </a:solidFill>
            <a:prstDash val="solid"/>
          </a:ln>
        </p:spPr>
      </p:sp>
      <p:sp>
        <p:nvSpPr>
          <p:cNvPr id="29" name="Text 27"/>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filtradas son las filas de centrales cuya tecnología es la elegida.</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2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filtra por tecnología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Elige una tecnología en la lista y vuelve a correr la celda.</a:t>
            </a:r>
            <a:endParaRPr lang="en-US" sz="1400" dirty="0"/>
          </a:p>
        </p:txBody>
      </p:sp>
      <p:sp>
        <p:nvSpPr>
          <p:cNvPr id="6" name="Shape 4"/>
          <p:cNvSpPr/>
          <p:nvPr/>
        </p:nvSpPr>
        <p:spPr>
          <a:xfrm>
            <a:off x="548640" y="1481328"/>
            <a:ext cx="11091672" cy="1920240"/>
          </a:xfrm>
          <a:prstGeom prst="roundRect">
            <a:avLst>
              <a:gd name="adj" fmla="val 2857"/>
            </a:avLst>
          </a:prstGeom>
          <a:solidFill>
            <a:srgbClr val="F8F9FA"/>
          </a:solidFill>
          <a:ln w="12700">
            <a:solidFill>
              <a:srgbClr val="DADCE0"/>
            </a:solidFill>
            <a:prstDash val="solid"/>
          </a:ln>
        </p:spPr>
      </p:sp>
      <p:sp>
        <p:nvSpPr>
          <p:cNvPr id="7" name="Shape 5"/>
          <p:cNvSpPr/>
          <p:nvPr/>
        </p:nvSpPr>
        <p:spPr>
          <a:xfrm>
            <a:off x="713232" y="1600200"/>
            <a:ext cx="420624" cy="420624"/>
          </a:xfrm>
          <a:prstGeom prst="ellipse">
            <a:avLst/>
          </a:prstGeom>
          <a:solidFill>
            <a:srgbClr val="E8EAED"/>
          </a:solidFill>
          <a:ln w="12700">
            <a:solidFill>
              <a:srgbClr val="E8EAED"/>
            </a:solidFill>
            <a:prstDash val="solid"/>
          </a:ln>
        </p:spPr>
      </p:sp>
      <p:sp>
        <p:nvSpPr>
          <p:cNvPr id="8" name="Shape 6"/>
          <p:cNvSpPr/>
          <p:nvPr/>
        </p:nvSpPr>
        <p:spPr>
          <a:xfrm rot="5400000">
            <a:off x="850392" y="1719072"/>
            <a:ext cx="182880" cy="182880"/>
          </a:xfrm>
          <a:prstGeom prst="triangle">
            <a:avLst/>
          </a:prstGeom>
          <a:solidFill>
            <a:srgbClr val="5F6368"/>
          </a:solidFill>
          <a:ln w="12700">
            <a:solidFill>
              <a:srgbClr val="5F6368"/>
            </a:solidFill>
            <a:prstDash val="solid"/>
          </a:ln>
        </p:spPr>
      </p:sp>
      <p:sp>
        <p:nvSpPr>
          <p:cNvPr id="9" name="Text 7"/>
          <p:cNvSpPr txBox="1"/>
          <p:nvPr/>
        </p:nvSpPr>
        <p:spPr>
          <a:xfrm>
            <a:off x="1325880" y="1600200"/>
            <a:ext cx="7360920" cy="173736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Paso 2</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La tabla deja solo las centrales de la tecnología elegida.</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tecnologia = </a:t>
            </a:r>
            <a:pPr indent="0" marL="0">
              <a:buNone/>
            </a:pPr>
            <a:r>
              <a:rPr lang="en-US" sz="1300" dirty="0">
                <a:solidFill>
                  <a:srgbClr val="A31515"/>
                </a:solidFill>
                <a:latin typeface="Courier New" pitchFamily="34" charset="0"/>
                <a:ea typeface="Courier New" pitchFamily="34" charset="-122"/>
                <a:cs typeface="Courier New" pitchFamily="34" charset="-120"/>
              </a:rPr>
              <a:t>"hidro"</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80868B"/>
                </a:solidFill>
                <a:latin typeface="Courier New" pitchFamily="34" charset="0"/>
                <a:ea typeface="Courier New" pitchFamily="34" charset="-122"/>
                <a:cs typeface="Courier New" pitchFamily="34" charset="-120"/>
              </a:rPr>
              <a:t>#@param ["hidro", "solar", "eolica", "gas", "carbon", "diesel"]</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filtradas = centrales[centrales[</a:t>
            </a:r>
            <a:pPr indent="0" marL="0">
              <a:buNone/>
            </a:pPr>
            <a:r>
              <a:rPr lang="en-US" sz="1300" dirty="0">
                <a:solidFill>
                  <a:srgbClr val="A31515"/>
                </a:solidFill>
                <a:latin typeface="Courier New" pitchFamily="34" charset="0"/>
                <a:ea typeface="Courier New" pitchFamily="34" charset="-122"/>
                <a:cs typeface="Courier New" pitchFamily="34" charset="-120"/>
              </a:rPr>
              <a:t>"tecnologia"</a:t>
            </a:r>
            <a:pPr indent="0" marL="0">
              <a:buNone/>
            </a:pPr>
            <a:r>
              <a:rPr lang="en-US" sz="1300" dirty="0">
                <a:solidFill>
                  <a:srgbClr val="202124"/>
                </a:solidFill>
                <a:latin typeface="Courier New" pitchFamily="34" charset="0"/>
                <a:ea typeface="Courier New" pitchFamily="34" charset="-122"/>
                <a:cs typeface="Courier New" pitchFamily="34" charset="-120"/>
              </a:rPr>
              <a:t>] == tecnologia]</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print(f</a:t>
            </a:r>
            <a:pPr indent="0" marL="0">
              <a:buNone/>
            </a:pPr>
            <a:r>
              <a:rPr lang="en-US" sz="1300" dirty="0">
                <a:solidFill>
                  <a:srgbClr val="A31515"/>
                </a:solidFill>
                <a:latin typeface="Courier New" pitchFamily="34" charset="0"/>
                <a:ea typeface="Courier New" pitchFamily="34" charset="-122"/>
                <a:cs typeface="Courier New" pitchFamily="34" charset="-120"/>
              </a:rPr>
              <a:t>"✓ Hay {len(filtradas)} centrales de {tecnologia}"</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filtradas</a:t>
            </a:r>
            <a:endParaRPr lang="en-US" sz="1300" dirty="0"/>
          </a:p>
        </p:txBody>
      </p:sp>
      <p:sp>
        <p:nvSpPr>
          <p:cNvPr id="10" name="Text 8"/>
          <p:cNvSpPr txBox="1"/>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tecnologia</a:t>
            </a:r>
            <a:endParaRPr lang="en-US" sz="1100" dirty="0"/>
          </a:p>
        </p:txBody>
      </p:sp>
      <p:sp>
        <p:nvSpPr>
          <p:cNvPr id="11" name="Shape 9"/>
          <p:cNvSpPr/>
          <p:nvPr/>
        </p:nvSpPr>
        <p:spPr>
          <a:xfrm>
            <a:off x="8823960" y="1874520"/>
            <a:ext cx="2651760" cy="347472"/>
          </a:xfrm>
          <a:prstGeom prst="rect">
            <a:avLst/>
          </a:prstGeom>
          <a:solidFill>
            <a:srgbClr val="FFFFFF"/>
          </a:solidFill>
          <a:ln w="12700">
            <a:solidFill>
              <a:srgbClr val="9AA0A6"/>
            </a:solidFill>
            <a:prstDash val="solid"/>
          </a:ln>
        </p:spPr>
      </p:sp>
      <p:sp>
        <p:nvSpPr>
          <p:cNvPr id="12" name="Text 10"/>
          <p:cNvSpPr txBox="1"/>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hidro</a:t>
            </a:r>
            <a:endParaRPr lang="en-US" sz="1200" dirty="0"/>
          </a:p>
        </p:txBody>
      </p:sp>
      <p:sp>
        <p:nvSpPr>
          <p:cNvPr id="13"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4" name="Shape 12"/>
          <p:cNvSpPr/>
          <p:nvPr/>
        </p:nvSpPr>
        <p:spPr>
          <a:xfrm>
            <a:off x="1325880" y="3511296"/>
            <a:ext cx="10314432" cy="384048"/>
          </a:xfrm>
          <a:prstGeom prst="rect">
            <a:avLst/>
          </a:prstGeom>
          <a:solidFill>
            <a:srgbClr val="FFFFFF"/>
          </a:solidFill>
          <a:ln w="12700">
            <a:solidFill>
              <a:srgbClr val="DADCE0"/>
            </a:solidFill>
            <a:prstDash val="solid"/>
          </a:ln>
        </p:spPr>
      </p:sp>
      <p:sp>
        <p:nvSpPr>
          <p:cNvPr id="15" name="Text 13"/>
          <p:cNvSpPr txBox="1"/>
          <p:nvPr/>
        </p:nvSpPr>
        <p:spPr>
          <a:xfrm>
            <a:off x="1463040" y="3584448"/>
            <a:ext cx="10085832" cy="256032"/>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 Hay 5 centrales de hidro</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1325880" y="3986784"/>
          <a:ext cx="9144000" cy="914400"/>
        </p:xfrm>
        <a:graphic>
          <a:graphicData uri="http://schemas.openxmlformats.org/drawingml/2006/table">
            <a:tbl>
              <a:tblPr/>
              <a:tblGrid>
                <a:gridCol w="365760"/>
                <a:gridCol w="2286000"/>
                <a:gridCol w="1188720"/>
                <a:gridCol w="1097280"/>
                <a:gridCol w="1280160"/>
                <a:gridCol w="1280160"/>
              </a:tblGrid>
              <a:tr h="237744">
                <a:tc>
                  <a:txBody>
                    <a:bodyPr/>
                    <a:lstStyle/>
                    <a:p>
                      <a:pPr indent="0" marL="0">
                        <a:buNone/>
                      </a:pP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central</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tecnologia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region</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potencia_mw</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anio_inicio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Central Río Manso Alto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hidro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Biobío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420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2004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Central Salto Verde</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hidro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Los Lagos</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310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1998</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Central Aguas Claras</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hidro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Biobío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180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2011</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3</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Central Vega Azul</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hidro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Los Lagos</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95</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2016</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Central Tres Saltos</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hidro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Biobío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260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1995</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bl>
          </a:graphicData>
        </a:graphic>
      </p:graphicFrame>
      <p:sp>
        <p:nvSpPr>
          <p:cNvPr id="18" name="Text 14"/>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9" name="Shape 15"/>
          <p:cNvSpPr/>
          <p:nvPr/>
        </p:nvSpPr>
        <p:spPr>
          <a:xfrm>
            <a:off x="548640" y="6062472"/>
            <a:ext cx="1426464" cy="566928"/>
          </a:xfrm>
          <a:prstGeom prst="roundRect">
            <a:avLst>
              <a:gd name="adj" fmla="val 11290"/>
            </a:avLst>
          </a:prstGeom>
          <a:solidFill>
            <a:srgbClr val="E8F0FE"/>
          </a:solidFill>
          <a:ln w="28575">
            <a:solidFill>
              <a:srgbClr val="1A73E8"/>
            </a:solidFill>
            <a:prstDash val="solid"/>
          </a:ln>
        </p:spPr>
      </p:sp>
      <p:sp>
        <p:nvSpPr>
          <p:cNvPr id="20" name="Text 16"/>
          <p:cNvSpPr txBox="1"/>
          <p:nvPr/>
        </p:nvSpPr>
        <p:spPr>
          <a:xfrm>
            <a:off x="640080"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centrales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20 × 5</a:t>
            </a:r>
            <a:endParaRPr lang="en-US" sz="1200" dirty="0"/>
          </a:p>
        </p:txBody>
      </p:sp>
      <p:sp>
        <p:nvSpPr>
          <p:cNvPr id="21" name="Shape 17"/>
          <p:cNvSpPr/>
          <p:nvPr/>
        </p:nvSpPr>
        <p:spPr>
          <a:xfrm>
            <a:off x="2112264" y="6062472"/>
            <a:ext cx="1234440" cy="566928"/>
          </a:xfrm>
          <a:prstGeom prst="roundRect">
            <a:avLst>
              <a:gd name="adj" fmla="val 11290"/>
            </a:avLst>
          </a:prstGeom>
          <a:solidFill>
            <a:srgbClr val="FEF3D6"/>
          </a:solidFill>
          <a:ln w="25400">
            <a:solidFill>
              <a:srgbClr val="F9AB00"/>
            </a:solidFill>
            <a:prstDash val="solid"/>
          </a:ln>
        </p:spPr>
      </p:sp>
      <p:sp>
        <p:nvSpPr>
          <p:cNvPr id="22" name="Text 18"/>
          <p:cNvSpPr txBox="1"/>
          <p:nvPr/>
        </p:nvSpPr>
        <p:spPr>
          <a:xfrm>
            <a:off x="2203704" y="6071616"/>
            <a:ext cx="109728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tecnologia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"hidro"</a:t>
            </a:r>
            <a:endParaRPr lang="en-US" sz="1200" dirty="0"/>
          </a:p>
        </p:txBody>
      </p:sp>
      <p:sp>
        <p:nvSpPr>
          <p:cNvPr id="23" name="Shape 19"/>
          <p:cNvSpPr/>
          <p:nvPr/>
        </p:nvSpPr>
        <p:spPr>
          <a:xfrm>
            <a:off x="3483864" y="6062472"/>
            <a:ext cx="1330452" cy="566928"/>
          </a:xfrm>
          <a:prstGeom prst="roundRect">
            <a:avLst>
              <a:gd name="adj" fmla="val 11290"/>
            </a:avLst>
          </a:prstGeom>
          <a:solidFill>
            <a:srgbClr val="FEF3D6"/>
          </a:solidFill>
          <a:ln w="25400">
            <a:solidFill>
              <a:srgbClr val="F9AB00"/>
            </a:solidFill>
            <a:prstDash val="solid"/>
          </a:ln>
        </p:spPr>
      </p:sp>
      <p:sp>
        <p:nvSpPr>
          <p:cNvPr id="24" name="Text 20"/>
          <p:cNvSpPr txBox="1"/>
          <p:nvPr/>
        </p:nvSpPr>
        <p:spPr>
          <a:xfrm>
            <a:off x="3575304"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filtradas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5 × 5</a:t>
            </a:r>
            <a:endParaRPr lang="en-US" sz="1200" dirty="0"/>
          </a:p>
        </p:txBody>
      </p:sp>
      <p:sp>
        <p:nvSpPr>
          <p:cNvPr id="25" name="Shape 21"/>
          <p:cNvSpPr/>
          <p:nvPr/>
        </p:nvSpPr>
        <p:spPr>
          <a:xfrm>
            <a:off x="4951476" y="6062472"/>
            <a:ext cx="1143000" cy="566928"/>
          </a:xfrm>
          <a:prstGeom prst="roundRect">
            <a:avLst>
              <a:gd name="adj" fmla="val 11290"/>
            </a:avLst>
          </a:prstGeom>
          <a:solidFill>
            <a:srgbClr val="F1F3F4"/>
          </a:solidFill>
          <a:ln w="12700">
            <a:solidFill>
              <a:srgbClr val="DADCE0"/>
            </a:solidFill>
            <a:prstDash val="solid"/>
          </a:ln>
        </p:spPr>
      </p:sp>
      <p:sp>
        <p:nvSpPr>
          <p:cNvPr id="26" name="Text 22"/>
          <p:cNvSpPr txBox="1"/>
          <p:nvPr/>
        </p:nvSpPr>
        <p:spPr>
          <a:xfrm>
            <a:off x="5042916"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27" name="Shape 23"/>
          <p:cNvSpPr/>
          <p:nvPr/>
        </p:nvSpPr>
        <p:spPr>
          <a:xfrm>
            <a:off x="6231636" y="6062472"/>
            <a:ext cx="2770632" cy="566928"/>
          </a:xfrm>
          <a:prstGeom prst="roundRect">
            <a:avLst>
              <a:gd name="adj" fmla="val 11290"/>
            </a:avLst>
          </a:prstGeom>
          <a:solidFill>
            <a:srgbClr val="F1F3F4"/>
          </a:solidFill>
          <a:ln w="12700">
            <a:solidFill>
              <a:srgbClr val="DADCE0"/>
            </a:solidFill>
            <a:prstDash val="solid"/>
          </a:ln>
        </p:spPr>
      </p:sp>
      <p:sp>
        <p:nvSpPr>
          <p:cNvPr id="28" name="Text 24"/>
          <p:cNvSpPr txBox="1"/>
          <p:nvPr/>
        </p:nvSpPr>
        <p:spPr>
          <a:xfrm>
            <a:off x="6323076"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
        <p:nvSpPr>
          <p:cNvPr id="29" name="Text 25"/>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Un filtro deja pasar solo las filas que cumplen la condición.</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4"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2 de 5</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filtra por tecnología</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elige solar en la lista y se vuelve a correr la celda.</a:t>
            </a:r>
            <a:endParaRPr lang="en-US" sz="1400" dirty="0"/>
          </a:p>
        </p:txBody>
      </p:sp>
      <p:sp>
        <p:nvSpPr>
          <p:cNvPr id="7" name="Shape 4"/>
          <p:cNvSpPr/>
          <p:nvPr/>
        </p:nvSpPr>
        <p:spPr>
          <a:xfrm>
            <a:off x="548640" y="1481328"/>
            <a:ext cx="11091672" cy="1920240"/>
          </a:xfrm>
          <a:prstGeom prst="roundRect">
            <a:avLst>
              <a:gd name="adj" fmla="val 2857"/>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7360920" cy="173736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Paso 2</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La tabla deja solo las centrales de la tecnología elegida.</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tecnologia = </a:t>
            </a:r>
            <a:pPr indent="0" marL="0">
              <a:buNone/>
            </a:pPr>
            <a:r>
              <a:rPr lang="en-US" sz="1300" dirty="0">
                <a:solidFill>
                  <a:srgbClr val="A31515"/>
                </a:solidFill>
                <a:latin typeface="Courier New" pitchFamily="34" charset="0"/>
                <a:ea typeface="Courier New" pitchFamily="34" charset="-122"/>
                <a:cs typeface="Courier New" pitchFamily="34" charset="-120"/>
              </a:rPr>
              <a:t>"solar"</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80868B"/>
                </a:solidFill>
                <a:latin typeface="Courier New" pitchFamily="34" charset="0"/>
                <a:ea typeface="Courier New" pitchFamily="34" charset="-122"/>
                <a:cs typeface="Courier New" pitchFamily="34" charset="-120"/>
              </a:rPr>
              <a:t>#@param ["hidro", "solar", "eolica", "gas", "carbon", "diesel"]</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filtradas = centrales[centrales[</a:t>
            </a:r>
            <a:pPr indent="0" marL="0">
              <a:buNone/>
            </a:pPr>
            <a:r>
              <a:rPr lang="en-US" sz="1300" dirty="0">
                <a:solidFill>
                  <a:srgbClr val="A31515"/>
                </a:solidFill>
                <a:latin typeface="Courier New" pitchFamily="34" charset="0"/>
                <a:ea typeface="Courier New" pitchFamily="34" charset="-122"/>
                <a:cs typeface="Courier New" pitchFamily="34" charset="-120"/>
              </a:rPr>
              <a:t>"tecnologia"</a:t>
            </a:r>
            <a:pPr indent="0" marL="0">
              <a:buNone/>
            </a:pPr>
            <a:r>
              <a:rPr lang="en-US" sz="1300" dirty="0">
                <a:solidFill>
                  <a:srgbClr val="202124"/>
                </a:solidFill>
                <a:latin typeface="Courier New" pitchFamily="34" charset="0"/>
                <a:ea typeface="Courier New" pitchFamily="34" charset="-122"/>
                <a:cs typeface="Courier New" pitchFamily="34" charset="-120"/>
              </a:rPr>
              <a:t>] == tecnologia]</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print(f</a:t>
            </a:r>
            <a:pPr indent="0" marL="0">
              <a:buNone/>
            </a:pPr>
            <a:r>
              <a:rPr lang="en-US" sz="1300" dirty="0">
                <a:solidFill>
                  <a:srgbClr val="A31515"/>
                </a:solidFill>
                <a:latin typeface="Courier New" pitchFamily="34" charset="0"/>
                <a:ea typeface="Courier New" pitchFamily="34" charset="-122"/>
                <a:cs typeface="Courier New" pitchFamily="34" charset="-120"/>
              </a:rPr>
              <a:t>"✓ Hay {len(filtradas)} centrales de {tecnologia}"</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filtradas</a:t>
            </a:r>
            <a:endParaRPr lang="en-US" sz="1300" dirty="0"/>
          </a:p>
        </p:txBody>
      </p:sp>
      <p:sp>
        <p:nvSpPr>
          <p:cNvPr id="11" name="Text 8"/>
          <p:cNvSpPr txBox="1"/>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tecnologia</a:t>
            </a:r>
            <a:endParaRPr lang="en-US" sz="1100" dirty="0"/>
          </a:p>
        </p:txBody>
      </p:sp>
      <p:sp>
        <p:nvSpPr>
          <p:cNvPr id="12" name="Shape 9"/>
          <p:cNvSpPr/>
          <p:nvPr/>
        </p:nvSpPr>
        <p:spPr>
          <a:xfrm>
            <a:off x="8823960" y="1874520"/>
            <a:ext cx="2651760" cy="347472"/>
          </a:xfrm>
          <a:prstGeom prst="rect">
            <a:avLst/>
          </a:prstGeom>
          <a:solidFill>
            <a:srgbClr val="FFFFFF"/>
          </a:solidFill>
          <a:ln w="25400">
            <a:solidFill>
              <a:srgbClr val="1A73E8"/>
            </a:solidFill>
            <a:prstDash val="solid"/>
          </a:ln>
        </p:spPr>
      </p:sp>
      <p:sp>
        <p:nvSpPr>
          <p:cNvPr id="13" name="Text 10"/>
          <p:cNvSpPr txBox="1"/>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solar</a:t>
            </a:r>
            <a:endParaRPr lang="en-US" sz="1200" dirty="0"/>
          </a:p>
        </p:txBody>
      </p:sp>
      <p:sp>
        <p:nvSpPr>
          <p:cNvPr id="14"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5" name="Text 12"/>
          <p:cNvSpPr txBox="1"/>
          <p:nvPr/>
        </p:nvSpPr>
        <p:spPr>
          <a:xfrm>
            <a:off x="1325880" y="343814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6" name="Text 13"/>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7" name="Shape 14"/>
          <p:cNvSpPr/>
          <p:nvPr/>
        </p:nvSpPr>
        <p:spPr>
          <a:xfrm>
            <a:off x="548640" y="6062472"/>
            <a:ext cx="1330452"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640080"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filtradas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5 × 5</a:t>
            </a:r>
            <a:endParaRPr lang="en-US" sz="1200" dirty="0"/>
          </a:p>
        </p:txBody>
      </p:sp>
      <p:sp>
        <p:nvSpPr>
          <p:cNvPr id="19" name="Shape 16"/>
          <p:cNvSpPr/>
          <p:nvPr/>
        </p:nvSpPr>
        <p:spPr>
          <a:xfrm>
            <a:off x="2016252" y="6062472"/>
            <a:ext cx="1234440"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2107692" y="6071616"/>
            <a:ext cx="109728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tecnologia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"hidro"</a:t>
            </a:r>
            <a:endParaRPr lang="en-US" sz="1200" dirty="0"/>
          </a:p>
        </p:txBody>
      </p:sp>
      <p:sp>
        <p:nvSpPr>
          <p:cNvPr id="21" name="Shape 18"/>
          <p:cNvSpPr/>
          <p:nvPr/>
        </p:nvSpPr>
        <p:spPr>
          <a:xfrm>
            <a:off x="3387852" y="6062472"/>
            <a:ext cx="1426464" cy="566928"/>
          </a:xfrm>
          <a:prstGeom prst="roundRect">
            <a:avLst>
              <a:gd name="adj" fmla="val 11290"/>
            </a:avLst>
          </a:prstGeom>
          <a:solidFill>
            <a:srgbClr val="F1F3F4"/>
          </a:solidFill>
          <a:ln w="12700">
            <a:solidFill>
              <a:srgbClr val="DADCE0"/>
            </a:solidFill>
            <a:prstDash val="solid"/>
          </a:ln>
        </p:spPr>
      </p:sp>
      <p:sp>
        <p:nvSpPr>
          <p:cNvPr id="22" name="Text 19"/>
          <p:cNvSpPr txBox="1"/>
          <p:nvPr/>
        </p:nvSpPr>
        <p:spPr>
          <a:xfrm>
            <a:off x="3479292"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centrales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20 × 5</a:t>
            </a:r>
            <a:endParaRPr lang="en-US" sz="1200" dirty="0"/>
          </a:p>
        </p:txBody>
      </p:sp>
      <p:sp>
        <p:nvSpPr>
          <p:cNvPr id="23" name="Shape 20"/>
          <p:cNvSpPr/>
          <p:nvPr/>
        </p:nvSpPr>
        <p:spPr>
          <a:xfrm>
            <a:off x="4951476" y="6062472"/>
            <a:ext cx="1143000" cy="566928"/>
          </a:xfrm>
          <a:prstGeom prst="roundRect">
            <a:avLst>
              <a:gd name="adj" fmla="val 11290"/>
            </a:avLst>
          </a:prstGeom>
          <a:solidFill>
            <a:srgbClr val="F1F3F4"/>
          </a:solidFill>
          <a:ln w="12700">
            <a:solidFill>
              <a:srgbClr val="DADCE0"/>
            </a:solidFill>
            <a:prstDash val="solid"/>
          </a:ln>
        </p:spPr>
      </p:sp>
      <p:sp>
        <p:nvSpPr>
          <p:cNvPr id="24" name="Text 21"/>
          <p:cNvSpPr txBox="1"/>
          <p:nvPr/>
        </p:nvSpPr>
        <p:spPr>
          <a:xfrm>
            <a:off x="5042916"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25" name="Shape 22"/>
          <p:cNvSpPr/>
          <p:nvPr/>
        </p:nvSpPr>
        <p:spPr>
          <a:xfrm>
            <a:off x="6231636" y="6062472"/>
            <a:ext cx="2770632" cy="566928"/>
          </a:xfrm>
          <a:prstGeom prst="roundRect">
            <a:avLst>
              <a:gd name="adj" fmla="val 11290"/>
            </a:avLst>
          </a:prstGeom>
          <a:solidFill>
            <a:srgbClr val="F1F3F4"/>
          </a:solidFill>
          <a:ln w="12700">
            <a:solidFill>
              <a:srgbClr val="DADCE0"/>
            </a:solidFill>
            <a:prstDash val="solid"/>
          </a:ln>
        </p:spPr>
      </p:sp>
      <p:sp>
        <p:nvSpPr>
          <p:cNvPr id="26" name="Text 23"/>
          <p:cNvSpPr txBox="1"/>
          <p:nvPr/>
        </p:nvSpPr>
        <p:spPr>
          <a:xfrm>
            <a:off x="6323076"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
        <p:nvSpPr>
          <p:cNvPr id="27" name="Text 24"/>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Mientras no se corra la celda, Python sigue recordando los valores anteriores.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2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filtra por tecnología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elige solar en la lista y se vuelve a correr la celda.</a:t>
            </a:r>
            <a:endParaRPr lang="en-US" sz="1400" dirty="0"/>
          </a:p>
        </p:txBody>
      </p:sp>
      <p:sp>
        <p:nvSpPr>
          <p:cNvPr id="6" name="Shape 4"/>
          <p:cNvSpPr/>
          <p:nvPr/>
        </p:nvSpPr>
        <p:spPr>
          <a:xfrm>
            <a:off x="548640" y="1481328"/>
            <a:ext cx="11091672" cy="1920240"/>
          </a:xfrm>
          <a:prstGeom prst="roundRect">
            <a:avLst>
              <a:gd name="adj" fmla="val 2857"/>
            </a:avLst>
          </a:prstGeom>
          <a:solidFill>
            <a:srgbClr val="F8F9FA"/>
          </a:solidFill>
          <a:ln w="12700">
            <a:solidFill>
              <a:srgbClr val="DADCE0"/>
            </a:solidFill>
            <a:prstDash val="solid"/>
          </a:ln>
        </p:spPr>
      </p:sp>
      <p:sp>
        <p:nvSpPr>
          <p:cNvPr id="7" name="Shape 5"/>
          <p:cNvSpPr/>
          <p:nvPr/>
        </p:nvSpPr>
        <p:spPr>
          <a:xfrm>
            <a:off x="713232" y="1600200"/>
            <a:ext cx="420624" cy="420624"/>
          </a:xfrm>
          <a:prstGeom prst="ellipse">
            <a:avLst/>
          </a:prstGeom>
          <a:solidFill>
            <a:srgbClr val="E8EAED"/>
          </a:solidFill>
          <a:ln w="12700">
            <a:solidFill>
              <a:srgbClr val="E8EAED"/>
            </a:solidFill>
            <a:prstDash val="solid"/>
          </a:ln>
        </p:spPr>
      </p:sp>
      <p:sp>
        <p:nvSpPr>
          <p:cNvPr id="8" name="Shape 6"/>
          <p:cNvSpPr/>
          <p:nvPr/>
        </p:nvSpPr>
        <p:spPr>
          <a:xfrm rot="5400000">
            <a:off x="850392" y="1719072"/>
            <a:ext cx="182880" cy="182880"/>
          </a:xfrm>
          <a:prstGeom prst="triangle">
            <a:avLst/>
          </a:prstGeom>
          <a:solidFill>
            <a:srgbClr val="5F6368"/>
          </a:solidFill>
          <a:ln w="12700">
            <a:solidFill>
              <a:srgbClr val="5F6368"/>
            </a:solidFill>
            <a:prstDash val="solid"/>
          </a:ln>
        </p:spPr>
      </p:sp>
      <p:sp>
        <p:nvSpPr>
          <p:cNvPr id="9" name="Text 7"/>
          <p:cNvSpPr txBox="1"/>
          <p:nvPr/>
        </p:nvSpPr>
        <p:spPr>
          <a:xfrm>
            <a:off x="1325880" y="1600200"/>
            <a:ext cx="7360920" cy="173736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Paso 2</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La tabla deja solo las centrales de la tecnología elegida.</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tecnologia = </a:t>
            </a:r>
            <a:pPr indent="0" marL="0">
              <a:buNone/>
            </a:pPr>
            <a:r>
              <a:rPr lang="en-US" sz="1300" dirty="0">
                <a:solidFill>
                  <a:srgbClr val="A31515"/>
                </a:solidFill>
                <a:latin typeface="Courier New" pitchFamily="34" charset="0"/>
                <a:ea typeface="Courier New" pitchFamily="34" charset="-122"/>
                <a:cs typeface="Courier New" pitchFamily="34" charset="-120"/>
              </a:rPr>
              <a:t>"solar"</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80868B"/>
                </a:solidFill>
                <a:latin typeface="Courier New" pitchFamily="34" charset="0"/>
                <a:ea typeface="Courier New" pitchFamily="34" charset="-122"/>
                <a:cs typeface="Courier New" pitchFamily="34" charset="-120"/>
              </a:rPr>
              <a:t>#@param ["hidro", "solar", "eolica", "gas", "carbon", "diesel"]</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filtradas = centrales[centrales[</a:t>
            </a:r>
            <a:pPr indent="0" marL="0">
              <a:buNone/>
            </a:pPr>
            <a:r>
              <a:rPr lang="en-US" sz="1300" dirty="0">
                <a:solidFill>
                  <a:srgbClr val="A31515"/>
                </a:solidFill>
                <a:latin typeface="Courier New" pitchFamily="34" charset="0"/>
                <a:ea typeface="Courier New" pitchFamily="34" charset="-122"/>
                <a:cs typeface="Courier New" pitchFamily="34" charset="-120"/>
              </a:rPr>
              <a:t>"tecnologia"</a:t>
            </a:r>
            <a:pPr indent="0" marL="0">
              <a:buNone/>
            </a:pPr>
            <a:r>
              <a:rPr lang="en-US" sz="1300" dirty="0">
                <a:solidFill>
                  <a:srgbClr val="202124"/>
                </a:solidFill>
                <a:latin typeface="Courier New" pitchFamily="34" charset="0"/>
                <a:ea typeface="Courier New" pitchFamily="34" charset="-122"/>
                <a:cs typeface="Courier New" pitchFamily="34" charset="-120"/>
              </a:rPr>
              <a:t>] == tecnologia]</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print(f</a:t>
            </a:r>
            <a:pPr indent="0" marL="0">
              <a:buNone/>
            </a:pPr>
            <a:r>
              <a:rPr lang="en-US" sz="1300" dirty="0">
                <a:solidFill>
                  <a:srgbClr val="A31515"/>
                </a:solidFill>
                <a:latin typeface="Courier New" pitchFamily="34" charset="0"/>
                <a:ea typeface="Courier New" pitchFamily="34" charset="-122"/>
                <a:cs typeface="Courier New" pitchFamily="34" charset="-120"/>
              </a:rPr>
              <a:t>"✓ Hay {len(filtradas)} centrales de {tecnologia}"</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filtradas</a:t>
            </a:r>
            <a:endParaRPr lang="en-US" sz="1300" dirty="0"/>
          </a:p>
        </p:txBody>
      </p:sp>
      <p:sp>
        <p:nvSpPr>
          <p:cNvPr id="10" name="Text 8"/>
          <p:cNvSpPr txBox="1"/>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tecnologia</a:t>
            </a:r>
            <a:endParaRPr lang="en-US" sz="1100" dirty="0"/>
          </a:p>
        </p:txBody>
      </p:sp>
      <p:sp>
        <p:nvSpPr>
          <p:cNvPr id="11" name="Shape 9"/>
          <p:cNvSpPr/>
          <p:nvPr/>
        </p:nvSpPr>
        <p:spPr>
          <a:xfrm>
            <a:off x="8823960" y="1874520"/>
            <a:ext cx="2651760" cy="347472"/>
          </a:xfrm>
          <a:prstGeom prst="rect">
            <a:avLst/>
          </a:prstGeom>
          <a:solidFill>
            <a:srgbClr val="FFFFFF"/>
          </a:solidFill>
          <a:ln w="12700">
            <a:solidFill>
              <a:srgbClr val="9AA0A6"/>
            </a:solidFill>
            <a:prstDash val="solid"/>
          </a:ln>
        </p:spPr>
      </p:sp>
      <p:sp>
        <p:nvSpPr>
          <p:cNvPr id="12" name="Text 10"/>
          <p:cNvSpPr txBox="1"/>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solar</a:t>
            </a:r>
            <a:endParaRPr lang="en-US" sz="1200" dirty="0"/>
          </a:p>
        </p:txBody>
      </p:sp>
      <p:sp>
        <p:nvSpPr>
          <p:cNvPr id="13"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4" name="Shape 12"/>
          <p:cNvSpPr/>
          <p:nvPr/>
        </p:nvSpPr>
        <p:spPr>
          <a:xfrm>
            <a:off x="1325880" y="3511296"/>
            <a:ext cx="10314432" cy="384048"/>
          </a:xfrm>
          <a:prstGeom prst="rect">
            <a:avLst/>
          </a:prstGeom>
          <a:solidFill>
            <a:srgbClr val="FFFFFF"/>
          </a:solidFill>
          <a:ln w="12700">
            <a:solidFill>
              <a:srgbClr val="DADCE0"/>
            </a:solidFill>
            <a:prstDash val="solid"/>
          </a:ln>
        </p:spPr>
      </p:sp>
      <p:sp>
        <p:nvSpPr>
          <p:cNvPr id="15" name="Text 13"/>
          <p:cNvSpPr txBox="1"/>
          <p:nvPr/>
        </p:nvSpPr>
        <p:spPr>
          <a:xfrm>
            <a:off x="1463040" y="3584448"/>
            <a:ext cx="10085832" cy="256032"/>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 Hay 5 centrales de solar</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1325880" y="3986784"/>
          <a:ext cx="9144000" cy="914400"/>
        </p:xfrm>
        <a:graphic>
          <a:graphicData uri="http://schemas.openxmlformats.org/drawingml/2006/table">
            <a:tbl>
              <a:tblPr/>
              <a:tblGrid>
                <a:gridCol w="365760"/>
                <a:gridCol w="2743200"/>
                <a:gridCol w="1188720"/>
                <a:gridCol w="1280160"/>
                <a:gridCol w="1280160"/>
                <a:gridCol w="1280160"/>
              </a:tblGrid>
              <a:tr h="237744">
                <a:tc>
                  <a:txBody>
                    <a:bodyPr/>
                    <a:lstStyle/>
                    <a:p>
                      <a:pPr indent="0" marL="0">
                        <a:buNone/>
                      </a:pP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central</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tecnologia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region</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potencia_mw</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anio_inicio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5</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Parque Solar Pampa Alta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solar</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Antofagasta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230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2019</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6</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Parque Solar Llano Seco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solar</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Atacama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180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2020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7</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Parque Solar Sol Naciente</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solar</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Antofagasta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145</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2021</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8</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Parque Solar Quebrada Honda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solar</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Atacama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95</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2022</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9</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Parque Solar Altiplano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solar</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Antofagasta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310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2023</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bl>
          </a:graphicData>
        </a:graphic>
      </p:graphicFrame>
      <p:sp>
        <p:nvSpPr>
          <p:cNvPr id="18" name="Text 14"/>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9" name="Shape 15"/>
          <p:cNvSpPr/>
          <p:nvPr/>
        </p:nvSpPr>
        <p:spPr>
          <a:xfrm>
            <a:off x="548640" y="6062472"/>
            <a:ext cx="1426464" cy="566928"/>
          </a:xfrm>
          <a:prstGeom prst="roundRect">
            <a:avLst>
              <a:gd name="adj" fmla="val 11290"/>
            </a:avLst>
          </a:prstGeom>
          <a:solidFill>
            <a:srgbClr val="E8F0FE"/>
          </a:solidFill>
          <a:ln w="28575">
            <a:solidFill>
              <a:srgbClr val="1A73E8"/>
            </a:solidFill>
            <a:prstDash val="solid"/>
          </a:ln>
        </p:spPr>
      </p:sp>
      <p:sp>
        <p:nvSpPr>
          <p:cNvPr id="20" name="Text 16"/>
          <p:cNvSpPr txBox="1"/>
          <p:nvPr/>
        </p:nvSpPr>
        <p:spPr>
          <a:xfrm>
            <a:off x="640080"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centrales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20 × 5</a:t>
            </a:r>
            <a:endParaRPr lang="en-US" sz="1200" dirty="0"/>
          </a:p>
        </p:txBody>
      </p:sp>
      <p:sp>
        <p:nvSpPr>
          <p:cNvPr id="21" name="Shape 17"/>
          <p:cNvSpPr/>
          <p:nvPr/>
        </p:nvSpPr>
        <p:spPr>
          <a:xfrm>
            <a:off x="2112264" y="6062472"/>
            <a:ext cx="1234440" cy="566928"/>
          </a:xfrm>
          <a:prstGeom prst="roundRect">
            <a:avLst>
              <a:gd name="adj" fmla="val 11290"/>
            </a:avLst>
          </a:prstGeom>
          <a:solidFill>
            <a:srgbClr val="FEF3D6"/>
          </a:solidFill>
          <a:ln w="25400">
            <a:solidFill>
              <a:srgbClr val="F9AB00"/>
            </a:solidFill>
            <a:prstDash val="solid"/>
          </a:ln>
        </p:spPr>
      </p:sp>
      <p:sp>
        <p:nvSpPr>
          <p:cNvPr id="22" name="Text 18"/>
          <p:cNvSpPr txBox="1"/>
          <p:nvPr/>
        </p:nvSpPr>
        <p:spPr>
          <a:xfrm>
            <a:off x="2203704" y="6071616"/>
            <a:ext cx="109728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tecnologia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"solar"</a:t>
            </a:r>
            <a:endParaRPr lang="en-US" sz="1200" dirty="0"/>
          </a:p>
        </p:txBody>
      </p:sp>
      <p:sp>
        <p:nvSpPr>
          <p:cNvPr id="23" name="Shape 19"/>
          <p:cNvSpPr/>
          <p:nvPr/>
        </p:nvSpPr>
        <p:spPr>
          <a:xfrm>
            <a:off x="3483864" y="6062472"/>
            <a:ext cx="1330452" cy="566928"/>
          </a:xfrm>
          <a:prstGeom prst="roundRect">
            <a:avLst>
              <a:gd name="adj" fmla="val 11290"/>
            </a:avLst>
          </a:prstGeom>
          <a:solidFill>
            <a:srgbClr val="E8F0FE"/>
          </a:solidFill>
          <a:ln w="28575">
            <a:solidFill>
              <a:srgbClr val="1A73E8"/>
            </a:solidFill>
            <a:prstDash val="solid"/>
          </a:ln>
        </p:spPr>
      </p:sp>
      <p:sp>
        <p:nvSpPr>
          <p:cNvPr id="24" name="Text 20"/>
          <p:cNvSpPr txBox="1"/>
          <p:nvPr/>
        </p:nvSpPr>
        <p:spPr>
          <a:xfrm>
            <a:off x="3575304"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filtradas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5 × 5</a:t>
            </a:r>
            <a:endParaRPr lang="en-US" sz="1200" dirty="0"/>
          </a:p>
        </p:txBody>
      </p:sp>
      <p:sp>
        <p:nvSpPr>
          <p:cNvPr id="25" name="Shape 21"/>
          <p:cNvSpPr/>
          <p:nvPr/>
        </p:nvSpPr>
        <p:spPr>
          <a:xfrm>
            <a:off x="4951476" y="6062472"/>
            <a:ext cx="1143000" cy="566928"/>
          </a:xfrm>
          <a:prstGeom prst="roundRect">
            <a:avLst>
              <a:gd name="adj" fmla="val 11290"/>
            </a:avLst>
          </a:prstGeom>
          <a:solidFill>
            <a:srgbClr val="F1F3F4"/>
          </a:solidFill>
          <a:ln w="12700">
            <a:solidFill>
              <a:srgbClr val="DADCE0"/>
            </a:solidFill>
            <a:prstDash val="solid"/>
          </a:ln>
        </p:spPr>
      </p:sp>
      <p:sp>
        <p:nvSpPr>
          <p:cNvPr id="26" name="Text 22"/>
          <p:cNvSpPr txBox="1"/>
          <p:nvPr/>
        </p:nvSpPr>
        <p:spPr>
          <a:xfrm>
            <a:off x="5042916"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27" name="Shape 23"/>
          <p:cNvSpPr/>
          <p:nvPr/>
        </p:nvSpPr>
        <p:spPr>
          <a:xfrm>
            <a:off x="6231636" y="6062472"/>
            <a:ext cx="2770632" cy="566928"/>
          </a:xfrm>
          <a:prstGeom prst="roundRect">
            <a:avLst>
              <a:gd name="adj" fmla="val 11290"/>
            </a:avLst>
          </a:prstGeom>
          <a:solidFill>
            <a:srgbClr val="F1F3F4"/>
          </a:solidFill>
          <a:ln w="12700">
            <a:solidFill>
              <a:srgbClr val="DADCE0"/>
            </a:solidFill>
            <a:prstDash val="solid"/>
          </a:ln>
        </p:spPr>
      </p:sp>
      <p:sp>
        <p:nvSpPr>
          <p:cNvPr id="28" name="Text 24"/>
          <p:cNvSpPr txBox="1"/>
          <p:nvPr/>
        </p:nvSpPr>
        <p:spPr>
          <a:xfrm>
            <a:off x="6323076"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
        <p:nvSpPr>
          <p:cNvPr id="29" name="Text 25"/>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Misma celda, otra pregunta. Hay 5 centrales solares.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2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filtra por tecnología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hay que llevarse de este paso.</a:t>
            </a:r>
            <a:endParaRPr lang="en-US" sz="1400" dirty="0"/>
          </a:p>
        </p:txBody>
      </p:sp>
      <p:sp>
        <p:nvSpPr>
          <p:cNvPr id="7" name="Shape 4"/>
          <p:cNvSpPr/>
          <p:nvPr/>
        </p:nvSpPr>
        <p:spPr>
          <a:xfrm>
            <a:off x="548640" y="1828800"/>
            <a:ext cx="11091672" cy="2377440"/>
          </a:xfrm>
          <a:prstGeom prst="roundRect">
            <a:avLst>
              <a:gd name="adj" fmla="val 3846"/>
            </a:avLst>
          </a:prstGeom>
          <a:solidFill>
            <a:srgbClr val="FFF8D6"/>
          </a:solidFill>
          <a:ln w="12700">
            <a:solidFill>
              <a:srgbClr val="FFF8D6"/>
            </a:solidFill>
            <a:prstDash val="solid"/>
          </a:ln>
        </p:spPr>
      </p:sp>
      <p:sp>
        <p:nvSpPr>
          <p:cNvPr id="8" name="Text 5"/>
          <p:cNvSpPr txBox="1"/>
          <p:nvPr/>
        </p:nvSpPr>
        <p:spPr>
          <a:xfrm>
            <a:off x="1005840" y="2057400"/>
            <a:ext cx="10177272" cy="1005840"/>
          </a:xfrm>
          <a:prstGeom prst="rect">
            <a:avLst/>
          </a:prstGeom>
          <a:noFill/>
          <a:ln/>
        </p:spPr>
        <p:txBody>
          <a:bodyPr wrap="square" lIns="0" tIns="0" rIns="0" bIns="0" rtlCol="0" anchor="t"/>
          <a:lstStyle/>
          <a:p>
            <a:pPr indent="0" marL="0">
              <a:buNone/>
            </a:pPr>
            <a:r>
              <a:rPr lang="en-US" sz="2800" b="1" dirty="0">
                <a:solidFill>
                  <a:srgbClr val="8A6D00"/>
                </a:solidFill>
                <a:latin typeface="Calibri" pitchFamily="34" charset="0"/>
                <a:ea typeface="Calibri" pitchFamily="34" charset="-122"/>
                <a:cs typeface="Calibri" pitchFamily="34" charset="-120"/>
              </a:rPr>
              <a:t>Un filtro es una pregunta de verdadero o falso.</a:t>
            </a:r>
            <a:endParaRPr lang="en-US" sz="2800" dirty="0"/>
          </a:p>
        </p:txBody>
      </p:sp>
      <p:sp>
        <p:nvSpPr>
          <p:cNvPr id="9" name="Text 6"/>
          <p:cNvSpPr txBox="1"/>
          <p:nvPr/>
        </p:nvSpPr>
        <p:spPr>
          <a:xfrm>
            <a:off x="1005840" y="3154680"/>
            <a:ext cx="10177272" cy="914400"/>
          </a:xfrm>
          <a:prstGeom prst="rect">
            <a:avLst/>
          </a:prstGeom>
          <a:noFill/>
          <a:ln/>
        </p:spPr>
        <p:txBody>
          <a:bodyPr wrap="square" lIns="0" tIns="0" rIns="0" bIns="0" rtlCol="0" anchor="t"/>
          <a:lstStyle/>
          <a:p>
            <a:pPr indent="0" marL="0">
              <a:buNone/>
            </a:pPr>
            <a:r>
              <a:rPr lang="en-US" sz="2200" dirty="0">
                <a:solidFill>
                  <a:srgbClr val="202124"/>
                </a:solidFill>
                <a:latin typeface="Calibri" pitchFamily="34" charset="0"/>
                <a:ea typeface="Calibri" pitchFamily="34" charset="-122"/>
                <a:cs typeface="Calibri" pitchFamily="34" charset="-120"/>
              </a:rPr>
              <a:t>Las filas que responden True pasan y las que responden False quedan afuera.</a:t>
            </a:r>
            <a:endParaRPr lang="en-US" sz="2200" dirty="0"/>
          </a:p>
        </p:txBody>
      </p:sp>
      <p:sp>
        <p:nvSpPr>
          <p:cNvPr id="10"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1" name="Shape 8"/>
          <p:cNvSpPr/>
          <p:nvPr/>
        </p:nvSpPr>
        <p:spPr>
          <a:xfrm>
            <a:off x="548640" y="6062472"/>
            <a:ext cx="1426464" cy="566928"/>
          </a:xfrm>
          <a:prstGeom prst="roundRect">
            <a:avLst>
              <a:gd name="adj" fmla="val 11290"/>
            </a:avLst>
          </a:prstGeom>
          <a:solidFill>
            <a:srgbClr val="E8F0FE"/>
          </a:solidFill>
          <a:ln w="28575">
            <a:solidFill>
              <a:srgbClr val="1A73E8"/>
            </a:solidFill>
            <a:prstDash val="solid"/>
          </a:ln>
        </p:spPr>
      </p:sp>
      <p:sp>
        <p:nvSpPr>
          <p:cNvPr id="12" name="Text 9"/>
          <p:cNvSpPr txBox="1"/>
          <p:nvPr/>
        </p:nvSpPr>
        <p:spPr>
          <a:xfrm>
            <a:off x="640080"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centrales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20 × 5</a:t>
            </a:r>
            <a:endParaRPr lang="en-US" sz="1200" dirty="0"/>
          </a:p>
        </p:txBody>
      </p:sp>
      <p:sp>
        <p:nvSpPr>
          <p:cNvPr id="13" name="Shape 10"/>
          <p:cNvSpPr/>
          <p:nvPr/>
        </p:nvSpPr>
        <p:spPr>
          <a:xfrm>
            <a:off x="2112264" y="6062472"/>
            <a:ext cx="1234440" cy="566928"/>
          </a:xfrm>
          <a:prstGeom prst="roundRect">
            <a:avLst>
              <a:gd name="adj" fmla="val 11290"/>
            </a:avLst>
          </a:prstGeom>
          <a:solidFill>
            <a:srgbClr val="FEF3D6"/>
          </a:solidFill>
          <a:ln w="25400">
            <a:solidFill>
              <a:srgbClr val="F9AB00"/>
            </a:solidFill>
            <a:prstDash val="solid"/>
          </a:ln>
        </p:spPr>
      </p:sp>
      <p:sp>
        <p:nvSpPr>
          <p:cNvPr id="14" name="Text 11"/>
          <p:cNvSpPr txBox="1"/>
          <p:nvPr/>
        </p:nvSpPr>
        <p:spPr>
          <a:xfrm>
            <a:off x="2203704" y="6071616"/>
            <a:ext cx="109728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tecnologia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"solar"</a:t>
            </a:r>
            <a:endParaRPr lang="en-US" sz="1200" dirty="0"/>
          </a:p>
        </p:txBody>
      </p:sp>
      <p:sp>
        <p:nvSpPr>
          <p:cNvPr id="15" name="Shape 12"/>
          <p:cNvSpPr/>
          <p:nvPr/>
        </p:nvSpPr>
        <p:spPr>
          <a:xfrm>
            <a:off x="3483864" y="6062472"/>
            <a:ext cx="1330452" cy="566928"/>
          </a:xfrm>
          <a:prstGeom prst="roundRect">
            <a:avLst>
              <a:gd name="adj" fmla="val 11290"/>
            </a:avLst>
          </a:prstGeom>
          <a:solidFill>
            <a:srgbClr val="E8F0FE"/>
          </a:solidFill>
          <a:ln w="28575">
            <a:solidFill>
              <a:srgbClr val="1A73E8"/>
            </a:solidFill>
            <a:prstDash val="solid"/>
          </a:ln>
        </p:spPr>
      </p:sp>
      <p:sp>
        <p:nvSpPr>
          <p:cNvPr id="16" name="Text 13"/>
          <p:cNvSpPr txBox="1"/>
          <p:nvPr/>
        </p:nvSpPr>
        <p:spPr>
          <a:xfrm>
            <a:off x="3575304"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filtradas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5 × 5</a:t>
            </a:r>
            <a:endParaRPr lang="en-US" sz="1200" dirty="0"/>
          </a:p>
        </p:txBody>
      </p:sp>
      <p:sp>
        <p:nvSpPr>
          <p:cNvPr id="17" name="Shape 14"/>
          <p:cNvSpPr/>
          <p:nvPr/>
        </p:nvSpPr>
        <p:spPr>
          <a:xfrm>
            <a:off x="4951476" y="6062472"/>
            <a:ext cx="1143000"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5042916"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9" name="Shape 16"/>
          <p:cNvSpPr/>
          <p:nvPr/>
        </p:nvSpPr>
        <p:spPr>
          <a:xfrm>
            <a:off x="6231636" y="6062472"/>
            <a:ext cx="2770632"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6323076"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3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¿Cómo llega la generación de cada hora?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cuántas filas debería tener la tabla y por qué.</a:t>
            </a:r>
            <a:endParaRPr lang="en-US" sz="1400" dirty="0"/>
          </a:p>
        </p:txBody>
      </p:sp>
      <p:pic>
        <p:nvPicPr>
          <p:cNvPr id="6" name="Image 0" descr="../../repo/modulos/../../diag/lab01_paso3_filas.png">    </p:cNvPr>
          <p:cNvPicPr>
            <a:picLocks noChangeAspect="1"/>
          </p:cNvPicPr>
          <p:nvPr/>
        </p:nvPicPr>
        <p:blipFill>
          <a:blip r:embed="rId1"/>
          <a:stretch>
            <a:fillRect/>
          </a:stretch>
        </p:blipFill>
        <p:spPr>
          <a:xfrm>
            <a:off x="548640" y="1463040"/>
            <a:ext cx="11091672" cy="409782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4"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3 de 5</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¿Cómo llega la generación de cada hora?</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El archivo es grande y puede demorar unos segundos.</a:t>
            </a:r>
            <a:endParaRPr lang="en-US" sz="1400" dirty="0"/>
          </a:p>
        </p:txBody>
      </p:sp>
      <p:sp>
        <p:nvSpPr>
          <p:cNvPr id="7" name="Shape 4"/>
          <p:cNvSpPr/>
          <p:nvPr/>
        </p:nvSpPr>
        <p:spPr>
          <a:xfrm>
            <a:off x="548640" y="1481328"/>
            <a:ext cx="11091672" cy="1920240"/>
          </a:xfrm>
          <a:prstGeom prst="roundRect">
            <a:avLst>
              <a:gd name="adj" fmla="val 2857"/>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10085832" cy="173736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Paso 3</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parse_dates avisa que la columna fecha trae fechas y no texto.</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generacion = pd.read_csv(DATOS + </a:t>
            </a:r>
            <a:pPr indent="0" marL="0">
              <a:buNone/>
            </a:pPr>
            <a:r>
              <a:rPr lang="en-US" sz="1300" dirty="0">
                <a:solidFill>
                  <a:srgbClr val="A31515"/>
                </a:solidFill>
                <a:latin typeface="Courier New" pitchFamily="34" charset="0"/>
                <a:ea typeface="Courier New" pitchFamily="34" charset="-122"/>
                <a:cs typeface="Courier New" pitchFamily="34" charset="-120"/>
              </a:rPr>
              <a:t>"generacion.csv"</a:t>
            </a:r>
            <a:pPr indent="0" marL="0">
              <a:buNone/>
            </a:pPr>
            <a:r>
              <a:rPr lang="en-US" sz="1300" dirty="0">
                <a:solidFill>
                  <a:srgbClr val="202124"/>
                </a:solidFill>
                <a:latin typeface="Courier New" pitchFamily="34" charset="0"/>
                <a:ea typeface="Courier New" pitchFamily="34" charset="-122"/>
                <a:cs typeface="Courier New" pitchFamily="34" charset="-120"/>
              </a:rPr>
              <a:t>, parse_dates=[</a:t>
            </a:r>
            <a:pPr indent="0" marL="0">
              <a:buNone/>
            </a:pPr>
            <a:r>
              <a:rPr lang="en-US" sz="1300" dirty="0">
                <a:solidFill>
                  <a:srgbClr val="A31515"/>
                </a:solidFill>
                <a:latin typeface="Courier New" pitchFamily="34" charset="0"/>
                <a:ea typeface="Courier New" pitchFamily="34" charset="-122"/>
                <a:cs typeface="Courier New" pitchFamily="34" charset="-120"/>
              </a:rPr>
              <a:t>"fecha"</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"Filas y columnas"</a:t>
            </a:r>
            <a:pPr indent="0" marL="0">
              <a:buNone/>
            </a:pPr>
            <a:r>
              <a:rPr lang="en-US" sz="1300" dirty="0">
                <a:solidFill>
                  <a:srgbClr val="202124"/>
                </a:solidFill>
                <a:latin typeface="Courier New" pitchFamily="34" charset="0"/>
                <a:ea typeface="Courier New" pitchFamily="34" charset="-122"/>
                <a:cs typeface="Courier New" pitchFamily="34" charset="-120"/>
              </a:rPr>
              <a:t>, generacion.shape)</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"Primer día      "</a:t>
            </a:r>
            <a:pPr indent="0" marL="0">
              <a:buNone/>
            </a:pPr>
            <a:r>
              <a:rPr lang="en-US" sz="1300" dirty="0">
                <a:solidFill>
                  <a:srgbClr val="202124"/>
                </a:solidFill>
                <a:latin typeface="Courier New" pitchFamily="34" charset="0"/>
                <a:ea typeface="Courier New" pitchFamily="34" charset="-122"/>
                <a:cs typeface="Courier New" pitchFamily="34" charset="-120"/>
              </a:rPr>
              <a:t>, generacion[</a:t>
            </a:r>
            <a:pPr indent="0" marL="0">
              <a:buNone/>
            </a:pPr>
            <a:r>
              <a:rPr lang="en-US" sz="1300" dirty="0">
                <a:solidFill>
                  <a:srgbClr val="A31515"/>
                </a:solidFill>
                <a:latin typeface="Courier New" pitchFamily="34" charset="0"/>
                <a:ea typeface="Courier New" pitchFamily="34" charset="-122"/>
                <a:cs typeface="Courier New" pitchFamily="34" charset="-120"/>
              </a:rPr>
              <a:t>"fecha"</a:t>
            </a:r>
            <a:pPr indent="0" marL="0">
              <a:buNone/>
            </a:pPr>
            <a:r>
              <a:rPr lang="en-US" sz="1300" dirty="0">
                <a:solidFill>
                  <a:srgbClr val="202124"/>
                </a:solidFill>
                <a:latin typeface="Courier New" pitchFamily="34" charset="0"/>
                <a:ea typeface="Courier New" pitchFamily="34" charset="-122"/>
                <a:cs typeface="Courier New" pitchFamily="34" charset="-120"/>
              </a:rPr>
              <a:t>].min().date())</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"Último día      "</a:t>
            </a:r>
            <a:pPr indent="0" marL="0">
              <a:buNone/>
            </a:pPr>
            <a:r>
              <a:rPr lang="en-US" sz="1300" dirty="0">
                <a:solidFill>
                  <a:srgbClr val="202124"/>
                </a:solidFill>
                <a:latin typeface="Courier New" pitchFamily="34" charset="0"/>
                <a:ea typeface="Courier New" pitchFamily="34" charset="-122"/>
                <a:cs typeface="Courier New" pitchFamily="34" charset="-120"/>
              </a:rPr>
              <a:t>, generacion[</a:t>
            </a:r>
            <a:pPr indent="0" marL="0">
              <a:buNone/>
            </a:pPr>
            <a:r>
              <a:rPr lang="en-US" sz="1300" dirty="0">
                <a:solidFill>
                  <a:srgbClr val="A31515"/>
                </a:solidFill>
                <a:latin typeface="Courier New" pitchFamily="34" charset="0"/>
                <a:ea typeface="Courier New" pitchFamily="34" charset="-122"/>
                <a:cs typeface="Courier New" pitchFamily="34" charset="-120"/>
              </a:rPr>
              <a:t>"fecha"</a:t>
            </a:r>
            <a:pPr indent="0" marL="0">
              <a:buNone/>
            </a:pPr>
            <a:r>
              <a:rPr lang="en-US" sz="1300" dirty="0">
                <a:solidFill>
                  <a:srgbClr val="202124"/>
                </a:solidFill>
                <a:latin typeface="Courier New" pitchFamily="34" charset="0"/>
                <a:ea typeface="Courier New" pitchFamily="34" charset="-122"/>
                <a:cs typeface="Courier New" pitchFamily="34" charset="-120"/>
              </a:rPr>
              <a:t>].max().date())</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generacion.head()</a:t>
            </a:r>
            <a:endParaRPr lang="en-US" sz="1300" dirty="0"/>
          </a:p>
        </p:txBody>
      </p:sp>
      <p:sp>
        <p:nvSpPr>
          <p:cNvPr id="11" name="Text 8"/>
          <p:cNvSpPr txBox="1"/>
          <p:nvPr/>
        </p:nvSpPr>
        <p:spPr>
          <a:xfrm>
            <a:off x="1325880" y="343814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2" name="Text 9"/>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3" name="Shape 10"/>
          <p:cNvSpPr/>
          <p:nvPr/>
        </p:nvSpPr>
        <p:spPr>
          <a:xfrm>
            <a:off x="548640" y="6062472"/>
            <a:ext cx="1330452" cy="566928"/>
          </a:xfrm>
          <a:prstGeom prst="roundRect">
            <a:avLst>
              <a:gd name="adj" fmla="val 11290"/>
            </a:avLst>
          </a:prstGeom>
          <a:solidFill>
            <a:srgbClr val="F1F3F4"/>
          </a:solidFill>
          <a:ln w="12700">
            <a:solidFill>
              <a:srgbClr val="DADCE0"/>
            </a:solidFill>
            <a:prstDash val="solid"/>
          </a:ln>
        </p:spPr>
      </p:sp>
      <p:sp>
        <p:nvSpPr>
          <p:cNvPr id="14" name="Text 11"/>
          <p:cNvSpPr txBox="1"/>
          <p:nvPr/>
        </p:nvSpPr>
        <p:spPr>
          <a:xfrm>
            <a:off x="640080"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filtradas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5 × 5</a:t>
            </a:r>
            <a:endParaRPr lang="en-US" sz="1200" dirty="0"/>
          </a:p>
        </p:txBody>
      </p:sp>
      <p:sp>
        <p:nvSpPr>
          <p:cNvPr id="15" name="Shape 12"/>
          <p:cNvSpPr/>
          <p:nvPr/>
        </p:nvSpPr>
        <p:spPr>
          <a:xfrm>
            <a:off x="2016252" y="6062472"/>
            <a:ext cx="1234440" cy="566928"/>
          </a:xfrm>
          <a:prstGeom prst="roundRect">
            <a:avLst>
              <a:gd name="adj" fmla="val 11290"/>
            </a:avLst>
          </a:prstGeom>
          <a:solidFill>
            <a:srgbClr val="F1F3F4"/>
          </a:solidFill>
          <a:ln w="12700">
            <a:solidFill>
              <a:srgbClr val="DADCE0"/>
            </a:solidFill>
            <a:prstDash val="solid"/>
          </a:ln>
        </p:spPr>
      </p:sp>
      <p:sp>
        <p:nvSpPr>
          <p:cNvPr id="16" name="Text 13"/>
          <p:cNvSpPr txBox="1"/>
          <p:nvPr/>
        </p:nvSpPr>
        <p:spPr>
          <a:xfrm>
            <a:off x="2107692" y="6071616"/>
            <a:ext cx="109728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tecnologia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"solar"</a:t>
            </a:r>
            <a:endParaRPr lang="en-US" sz="1200" dirty="0"/>
          </a:p>
        </p:txBody>
      </p:sp>
      <p:sp>
        <p:nvSpPr>
          <p:cNvPr id="17" name="Shape 14"/>
          <p:cNvSpPr/>
          <p:nvPr/>
        </p:nvSpPr>
        <p:spPr>
          <a:xfrm>
            <a:off x="3387852" y="6062472"/>
            <a:ext cx="1426464"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3479292"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centrales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20 × 5</a:t>
            </a:r>
            <a:endParaRPr lang="en-US" sz="1200" dirty="0"/>
          </a:p>
        </p:txBody>
      </p:sp>
      <p:sp>
        <p:nvSpPr>
          <p:cNvPr id="19" name="Shape 16"/>
          <p:cNvSpPr/>
          <p:nvPr/>
        </p:nvSpPr>
        <p:spPr>
          <a:xfrm>
            <a:off x="4951476" y="6062472"/>
            <a:ext cx="1143000"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5042916"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21" name="Shape 18"/>
          <p:cNvSpPr/>
          <p:nvPr/>
        </p:nvSpPr>
        <p:spPr>
          <a:xfrm>
            <a:off x="6231636" y="6062472"/>
            <a:ext cx="2770632" cy="566928"/>
          </a:xfrm>
          <a:prstGeom prst="roundRect">
            <a:avLst>
              <a:gd name="adj" fmla="val 11290"/>
            </a:avLst>
          </a:prstGeom>
          <a:solidFill>
            <a:srgbClr val="F1F3F4"/>
          </a:solidFill>
          <a:ln w="12700">
            <a:solidFill>
              <a:srgbClr val="DADCE0"/>
            </a:solidFill>
            <a:prstDash val="solid"/>
          </a:ln>
        </p:spPr>
      </p:sp>
      <p:sp>
        <p:nvSpPr>
          <p:cNvPr id="22" name="Text 19"/>
          <p:cNvSpPr txBox="1"/>
          <p:nvPr/>
        </p:nvSpPr>
        <p:spPr>
          <a:xfrm>
            <a:off x="6323076"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3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¿Cómo llega la generación de cada hora?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generacion = pd.read_csv(DATOS + </a:t>
            </a:r>
            <a:pPr indent="0" marL="0">
              <a:buNone/>
            </a:pPr>
            <a:r>
              <a:rPr lang="en-US" sz="1600" dirty="0">
                <a:solidFill>
                  <a:srgbClr val="A31515"/>
                </a:solidFill>
                <a:latin typeface="Courier New" pitchFamily="34" charset="0"/>
                <a:ea typeface="Courier New" pitchFamily="34" charset="-122"/>
                <a:cs typeface="Courier New" pitchFamily="34" charset="-120"/>
              </a:rPr>
              <a:t>"generacion.csv"</a:t>
            </a:r>
            <a:pPr indent="0" marL="0">
              <a:buNone/>
            </a:pPr>
            <a:r>
              <a:rPr lang="en-US" sz="1600" dirty="0">
                <a:solidFill>
                  <a:srgbClr val="202124"/>
                </a:solidFill>
                <a:latin typeface="Courier New" pitchFamily="34" charset="0"/>
                <a:ea typeface="Courier New" pitchFamily="34" charset="-122"/>
                <a:cs typeface="Courier New" pitchFamily="34" charset="-120"/>
              </a:rPr>
              <a:t>, parse_dates=[</a:t>
            </a:r>
            <a:pPr indent="0" marL="0">
              <a:buNone/>
            </a:pPr>
            <a:r>
              <a:rPr lang="en-US" sz="1600" dirty="0">
                <a:solidFill>
                  <a:srgbClr val="A31515"/>
                </a:solidFill>
                <a:latin typeface="Courier New" pitchFamily="34" charset="0"/>
                <a:ea typeface="Courier New" pitchFamily="34" charset="-122"/>
                <a:cs typeface="Courier New" pitchFamily="34" charset="-120"/>
              </a:rPr>
              <a:t>"fecha"</a:t>
            </a:r>
            <a:pPr indent="0" marL="0">
              <a:buNone/>
            </a:pPr>
            <a:r>
              <a:rPr lang="en-US" sz="1600" dirty="0">
                <a:solidFill>
                  <a:srgbClr val="202124"/>
                </a:solidFill>
                <a:latin typeface="Courier New" pitchFamily="34" charset="0"/>
                <a:ea typeface="Courier New" pitchFamily="34" charset="-122"/>
                <a:cs typeface="Courier New" pitchFamily="34" charset="-120"/>
              </a:rPr>
              <a:t>])</a:t>
            </a:r>
            <a:endParaRPr lang="en-US" sz="1600" dirty="0"/>
          </a:p>
        </p:txBody>
      </p:sp>
      <p:sp>
        <p:nvSpPr>
          <p:cNvPr id="8" name="Shape 6"/>
          <p:cNvSpPr/>
          <p:nvPr/>
        </p:nvSpPr>
        <p:spPr>
          <a:xfrm>
            <a:off x="548640" y="2375408"/>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7540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640080"/>
          </a:xfrm>
          <a:prstGeom prst="roundRect">
            <a:avLst>
              <a:gd name="adj" fmla="val 7143"/>
            </a:avLst>
          </a:prstGeom>
          <a:solidFill>
            <a:srgbClr val="DBE9FB"/>
          </a:solidFill>
          <a:ln w="12700">
            <a:solidFill>
              <a:srgbClr val="DBE9FB"/>
            </a:solidFill>
            <a:prstDash val="solid"/>
          </a:ln>
        </p:spPr>
      </p:sp>
      <p:sp>
        <p:nvSpPr>
          <p:cNvPr id="11" name="Text 9"/>
          <p:cNvSpPr txBox="1"/>
          <p:nvPr/>
        </p:nvSpPr>
        <p:spPr>
          <a:xfrm>
            <a:off x="1170432" y="2219960"/>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pd.read_csv( ... , ... )</a:t>
            </a:r>
            <a:endParaRPr lang="en-US" sz="1400" dirty="0"/>
          </a:p>
        </p:txBody>
      </p:sp>
      <p:sp>
        <p:nvSpPr>
          <p:cNvPr id="12" name="Text 10"/>
          <p:cNvSpPr txBox="1"/>
          <p:nvPr/>
        </p:nvSpPr>
        <p:spPr>
          <a:xfrm>
            <a:off x="6263640" y="2219960"/>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Dentro de los paréntesis van varias cosas separadas por coma.</a:t>
            </a:r>
            <a:endParaRPr lang="en-US" sz="1600" dirty="0"/>
          </a:p>
        </p:txBody>
      </p:sp>
      <p:sp>
        <p:nvSpPr>
          <p:cNvPr id="13" name="Shape 11"/>
          <p:cNvSpPr/>
          <p:nvPr/>
        </p:nvSpPr>
        <p:spPr>
          <a:xfrm>
            <a:off x="548640" y="3239516"/>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323951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951480"/>
            <a:ext cx="4937760" cy="905256"/>
          </a:xfrm>
          <a:prstGeom prst="roundRect">
            <a:avLst>
              <a:gd name="adj" fmla="val 5051"/>
            </a:avLst>
          </a:prstGeom>
          <a:solidFill>
            <a:srgbClr val="DCEFE0"/>
          </a:solidFill>
          <a:ln w="12700">
            <a:solidFill>
              <a:srgbClr val="DCEFE0"/>
            </a:solidFill>
            <a:prstDash val="solid"/>
          </a:ln>
        </p:spPr>
      </p:sp>
      <p:sp>
        <p:nvSpPr>
          <p:cNvPr id="16" name="Text 14"/>
          <p:cNvSpPr txBox="1"/>
          <p:nvPr/>
        </p:nvSpPr>
        <p:spPr>
          <a:xfrm>
            <a:off x="1170432" y="2951480"/>
            <a:ext cx="4754880" cy="905256"/>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parse_dates=["fecha"]</a:t>
            </a:r>
            <a:endParaRPr lang="en-US" sz="1400" dirty="0"/>
          </a:p>
        </p:txBody>
      </p:sp>
      <p:sp>
        <p:nvSpPr>
          <p:cNvPr id="17" name="Text 15"/>
          <p:cNvSpPr txBox="1"/>
          <p:nvPr/>
        </p:nvSpPr>
        <p:spPr>
          <a:xfrm>
            <a:off x="6263640" y="2951480"/>
            <a:ext cx="5376672" cy="905256"/>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Un ajuste con nombre. Avisa que la columna fecha trae fechas. Va entre corchetes porque podrían ser varias columnas.</a:t>
            </a:r>
            <a:endParaRPr lang="en-US" sz="1600" dirty="0"/>
          </a:p>
        </p:txBody>
      </p:sp>
      <p:sp>
        <p:nvSpPr>
          <p:cNvPr id="18" name="Shape 16"/>
          <p:cNvSpPr/>
          <p:nvPr/>
        </p:nvSpPr>
        <p:spPr>
          <a:xfrm>
            <a:off x="548640" y="5989320"/>
            <a:ext cx="73152" cy="548640"/>
          </a:xfrm>
          <a:prstGeom prst="rect">
            <a:avLst/>
          </a:prstGeom>
          <a:solidFill>
            <a:srgbClr val="0B3D62"/>
          </a:solidFill>
          <a:ln w="12700">
            <a:solidFill>
              <a:srgbClr val="0B3D62"/>
            </a:solidFill>
            <a:prstDash val="solid"/>
          </a:ln>
        </p:spPr>
      </p:sp>
      <p:sp>
        <p:nvSpPr>
          <p:cNvPr id="19" name="Text 17"/>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lee generacion.csv y convierte la columna fecha en fecha.</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3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¿Cómo llega la generación de cada hora?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generacion[</a:t>
            </a:r>
            <a:pPr indent="0" marL="0">
              <a:buNone/>
            </a:pPr>
            <a:r>
              <a:rPr lang="en-US" sz="1600" dirty="0">
                <a:solidFill>
                  <a:srgbClr val="A31515"/>
                </a:solidFill>
                <a:latin typeface="Courier New" pitchFamily="34" charset="0"/>
                <a:ea typeface="Courier New" pitchFamily="34" charset="-122"/>
                <a:cs typeface="Courier New" pitchFamily="34" charset="-120"/>
              </a:rPr>
              <a:t>"fecha"</a:t>
            </a:r>
            <a:pPr indent="0" marL="0">
              <a:buNone/>
            </a:pPr>
            <a:r>
              <a:rPr lang="en-US" sz="1600" dirty="0">
                <a:solidFill>
                  <a:srgbClr val="202124"/>
                </a:solidFill>
                <a:latin typeface="Courier New" pitchFamily="34" charset="0"/>
                <a:ea typeface="Courier New" pitchFamily="34" charset="-122"/>
                <a:cs typeface="Courier New" pitchFamily="34" charset="-120"/>
              </a:rPr>
              <a:t>].min().date()</a:t>
            </a:r>
            <a:endParaRPr lang="en-US" sz="1600" dirty="0"/>
          </a:p>
        </p:txBody>
      </p:sp>
      <p:sp>
        <p:nvSpPr>
          <p:cNvPr id="8" name="Shape 6"/>
          <p:cNvSpPr/>
          <p:nvPr/>
        </p:nvSpPr>
        <p:spPr>
          <a:xfrm>
            <a:off x="548640" y="2320544"/>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2054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530352"/>
          </a:xfrm>
          <a:prstGeom prst="roundRect">
            <a:avLst>
              <a:gd name="adj" fmla="val 8621"/>
            </a:avLst>
          </a:prstGeom>
          <a:solidFill>
            <a:srgbClr val="DBE9FB"/>
          </a:solidFill>
          <a:ln w="12700">
            <a:solidFill>
              <a:srgbClr val="DBE9FB"/>
            </a:solidFill>
            <a:prstDash val="solid"/>
          </a:ln>
        </p:spPr>
      </p:sp>
      <p:sp>
        <p:nvSpPr>
          <p:cNvPr id="11" name="Text 9"/>
          <p:cNvSpPr txBox="1"/>
          <p:nvPr/>
        </p:nvSpPr>
        <p:spPr>
          <a:xfrm>
            <a:off x="1170432" y="221996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generacion["fecha"]</a:t>
            </a:r>
            <a:endParaRPr lang="en-US" sz="1400" dirty="0"/>
          </a:p>
        </p:txBody>
      </p:sp>
      <p:sp>
        <p:nvSpPr>
          <p:cNvPr id="12" name="Text 10"/>
          <p:cNvSpPr txBox="1"/>
          <p:nvPr/>
        </p:nvSpPr>
        <p:spPr>
          <a:xfrm>
            <a:off x="6263640" y="221996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La columna de fechas.</a:t>
            </a:r>
            <a:endParaRPr lang="en-US" sz="1600" dirty="0"/>
          </a:p>
        </p:txBody>
      </p:sp>
      <p:sp>
        <p:nvSpPr>
          <p:cNvPr id="13" name="Shape 11"/>
          <p:cNvSpPr/>
          <p:nvPr/>
        </p:nvSpPr>
        <p:spPr>
          <a:xfrm>
            <a:off x="548640" y="2942336"/>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294233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841752"/>
            <a:ext cx="4937760" cy="530352"/>
          </a:xfrm>
          <a:prstGeom prst="roundRect">
            <a:avLst>
              <a:gd name="adj" fmla="val 8621"/>
            </a:avLst>
          </a:prstGeom>
          <a:solidFill>
            <a:srgbClr val="DCEFE0"/>
          </a:solidFill>
          <a:ln w="12700">
            <a:solidFill>
              <a:srgbClr val="DCEFE0"/>
            </a:solidFill>
            <a:prstDash val="solid"/>
          </a:ln>
        </p:spPr>
      </p:sp>
      <p:sp>
        <p:nvSpPr>
          <p:cNvPr id="16" name="Text 14"/>
          <p:cNvSpPr txBox="1"/>
          <p:nvPr/>
        </p:nvSpPr>
        <p:spPr>
          <a:xfrm>
            <a:off x="1170432" y="2841752"/>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.min()</a:t>
            </a:r>
            <a:endParaRPr lang="en-US" sz="1400" dirty="0"/>
          </a:p>
        </p:txBody>
      </p:sp>
      <p:sp>
        <p:nvSpPr>
          <p:cNvPr id="17" name="Text 15"/>
          <p:cNvSpPr txBox="1"/>
          <p:nvPr/>
        </p:nvSpPr>
        <p:spPr>
          <a:xfrm>
            <a:off x="6263640" y="2841752"/>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La fecha más antigua.</a:t>
            </a:r>
            <a:endParaRPr lang="en-US" sz="1600" dirty="0"/>
          </a:p>
        </p:txBody>
      </p:sp>
      <p:sp>
        <p:nvSpPr>
          <p:cNvPr id="18" name="Shape 16"/>
          <p:cNvSpPr/>
          <p:nvPr/>
        </p:nvSpPr>
        <p:spPr>
          <a:xfrm>
            <a:off x="548640" y="3564128"/>
            <a:ext cx="329184" cy="329184"/>
          </a:xfrm>
          <a:prstGeom prst="ellipse">
            <a:avLst/>
          </a:prstGeom>
          <a:solidFill>
            <a:srgbClr val="B07D00"/>
          </a:solidFill>
          <a:ln w="12700">
            <a:solidFill>
              <a:srgbClr val="B07D00"/>
            </a:solidFill>
            <a:prstDash val="solid"/>
          </a:ln>
        </p:spPr>
      </p:sp>
      <p:sp>
        <p:nvSpPr>
          <p:cNvPr id="19" name="Text 17"/>
          <p:cNvSpPr txBox="1"/>
          <p:nvPr/>
        </p:nvSpPr>
        <p:spPr>
          <a:xfrm>
            <a:off x="548640" y="35641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463544"/>
            <a:ext cx="4937760" cy="530352"/>
          </a:xfrm>
          <a:prstGeom prst="roundRect">
            <a:avLst>
              <a:gd name="adj" fmla="val 8621"/>
            </a:avLst>
          </a:prstGeom>
          <a:solidFill>
            <a:srgbClr val="FDF0C8"/>
          </a:solidFill>
          <a:ln w="12700">
            <a:solidFill>
              <a:srgbClr val="FDF0C8"/>
            </a:solidFill>
            <a:prstDash val="solid"/>
          </a:ln>
        </p:spPr>
      </p:sp>
      <p:sp>
        <p:nvSpPr>
          <p:cNvPr id="21" name="Text 19"/>
          <p:cNvSpPr txBox="1"/>
          <p:nvPr/>
        </p:nvSpPr>
        <p:spPr>
          <a:xfrm>
            <a:off x="1170432" y="3463544"/>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.date()</a:t>
            </a:r>
            <a:endParaRPr lang="en-US" sz="1400" dirty="0"/>
          </a:p>
        </p:txBody>
      </p:sp>
      <p:sp>
        <p:nvSpPr>
          <p:cNvPr id="22" name="Text 20"/>
          <p:cNvSpPr txBox="1"/>
          <p:nvPr/>
        </p:nvSpPr>
        <p:spPr>
          <a:xfrm>
            <a:off x="6263640" y="3463544"/>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Muestra solo el día, sin la hora.</a:t>
            </a:r>
            <a:endParaRPr lang="en-US" sz="1600" dirty="0"/>
          </a:p>
        </p:txBody>
      </p:sp>
      <p:sp>
        <p:nvSpPr>
          <p:cNvPr id="23" name="Shape 21"/>
          <p:cNvSpPr/>
          <p:nvPr/>
        </p:nvSpPr>
        <p:spPr>
          <a:xfrm>
            <a:off x="548640" y="5989320"/>
            <a:ext cx="73152" cy="548640"/>
          </a:xfrm>
          <a:prstGeom prst="rect">
            <a:avLst/>
          </a:prstGeom>
          <a:solidFill>
            <a:srgbClr val="0B3D62"/>
          </a:solidFill>
          <a:ln w="12700">
            <a:solidFill>
              <a:srgbClr val="0B3D62"/>
            </a:solidFill>
            <a:prstDash val="solid"/>
          </a:ln>
        </p:spPr>
      </p:sp>
      <p:sp>
        <p:nvSpPr>
          <p:cNvPr id="24" name="Text 22"/>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el primer día de la columna fecha.</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3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¿Cómo llega la generación de cada hora?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El archivo es grande y puede demorar unos segundos.</a:t>
            </a:r>
            <a:endParaRPr lang="en-US" sz="1400" dirty="0"/>
          </a:p>
        </p:txBody>
      </p:sp>
      <p:sp>
        <p:nvSpPr>
          <p:cNvPr id="6" name="Shape 4"/>
          <p:cNvSpPr/>
          <p:nvPr/>
        </p:nvSpPr>
        <p:spPr>
          <a:xfrm>
            <a:off x="548640" y="1481328"/>
            <a:ext cx="11091672" cy="1664208"/>
          </a:xfrm>
          <a:prstGeom prst="roundRect">
            <a:avLst>
              <a:gd name="adj" fmla="val 3297"/>
            </a:avLst>
          </a:prstGeom>
          <a:solidFill>
            <a:srgbClr val="F8F9FA"/>
          </a:solidFill>
          <a:ln w="12700">
            <a:solidFill>
              <a:srgbClr val="DADCE0"/>
            </a:solidFill>
            <a:prstDash val="solid"/>
          </a:ln>
        </p:spPr>
      </p:sp>
      <p:sp>
        <p:nvSpPr>
          <p:cNvPr id="7" name="Shape 5"/>
          <p:cNvSpPr/>
          <p:nvPr/>
        </p:nvSpPr>
        <p:spPr>
          <a:xfrm>
            <a:off x="713232" y="1600200"/>
            <a:ext cx="420624" cy="420624"/>
          </a:xfrm>
          <a:prstGeom prst="ellipse">
            <a:avLst/>
          </a:prstGeom>
          <a:solidFill>
            <a:srgbClr val="E8EAED"/>
          </a:solidFill>
          <a:ln w="12700">
            <a:solidFill>
              <a:srgbClr val="E8EAED"/>
            </a:solidFill>
            <a:prstDash val="solid"/>
          </a:ln>
        </p:spPr>
      </p:sp>
      <p:sp>
        <p:nvSpPr>
          <p:cNvPr id="8" name="Shape 6"/>
          <p:cNvSpPr/>
          <p:nvPr/>
        </p:nvSpPr>
        <p:spPr>
          <a:xfrm rot="5400000">
            <a:off x="850392" y="1719072"/>
            <a:ext cx="182880" cy="182880"/>
          </a:xfrm>
          <a:prstGeom prst="triangle">
            <a:avLst/>
          </a:prstGeom>
          <a:solidFill>
            <a:srgbClr val="5F6368"/>
          </a:solidFill>
          <a:ln w="12700">
            <a:solidFill>
              <a:srgbClr val="5F6368"/>
            </a:solidFill>
            <a:prstDash val="solid"/>
          </a:ln>
        </p:spPr>
      </p:sp>
      <p:sp>
        <p:nvSpPr>
          <p:cNvPr id="9" name="Text 7"/>
          <p:cNvSpPr txBox="1"/>
          <p:nvPr/>
        </p:nvSpPr>
        <p:spPr>
          <a:xfrm>
            <a:off x="1325880" y="1600200"/>
            <a:ext cx="10085832" cy="1481328"/>
          </a:xfrm>
          <a:prstGeom prst="rect">
            <a:avLst/>
          </a:prstGeom>
          <a:noFill/>
          <a:ln/>
        </p:spPr>
        <p:txBody>
          <a:bodyPr wrap="square" lIns="0" tIns="0" rIns="0" bIns="0" rtlCol="0" anchor="t"/>
          <a:lstStyle/>
          <a:p>
            <a:pPr indent="0" marL="0">
              <a:buNone/>
            </a:pPr>
            <a:r>
              <a:rPr lang="en-US" sz="1100" i="1" dirty="0">
                <a:solidFill>
                  <a:srgbClr val="188038"/>
                </a:solidFill>
                <a:latin typeface="Courier New" pitchFamily="34" charset="0"/>
                <a:ea typeface="Courier New" pitchFamily="34" charset="-122"/>
                <a:cs typeface="Courier New" pitchFamily="34" charset="-120"/>
              </a:rPr>
              <a:t># Paso 3</a:t>
            </a:r>
            <a:endParaRPr lang="en-US" sz="1100" dirty="0"/>
          </a:p>
          <a:p>
            <a:pPr indent="0" marL="0">
              <a:buNone/>
            </a:pPr>
            <a:r>
              <a:rPr lang="en-US" sz="1100" i="1" dirty="0">
                <a:solidFill>
                  <a:srgbClr val="188038"/>
                </a:solidFill>
                <a:latin typeface="Courier New" pitchFamily="34" charset="0"/>
                <a:ea typeface="Courier New" pitchFamily="34" charset="-122"/>
                <a:cs typeface="Courier New" pitchFamily="34" charset="-120"/>
              </a:rPr>
              <a:t># parse_dates avisa que la columna fecha trae fechas y no texto.</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generacion = pd.read_csv(DATOS + </a:t>
            </a:r>
            <a:pPr indent="0" marL="0">
              <a:buNone/>
            </a:pPr>
            <a:r>
              <a:rPr lang="en-US" sz="1100" dirty="0">
                <a:solidFill>
                  <a:srgbClr val="A31515"/>
                </a:solidFill>
                <a:latin typeface="Courier New" pitchFamily="34" charset="0"/>
                <a:ea typeface="Courier New" pitchFamily="34" charset="-122"/>
                <a:cs typeface="Courier New" pitchFamily="34" charset="-120"/>
              </a:rPr>
              <a:t>"generacion.csv"</a:t>
            </a:r>
            <a:pPr indent="0" marL="0">
              <a:buNone/>
            </a:pPr>
            <a:r>
              <a:rPr lang="en-US" sz="1100" dirty="0">
                <a:solidFill>
                  <a:srgbClr val="202124"/>
                </a:solidFill>
                <a:latin typeface="Courier New" pitchFamily="34" charset="0"/>
                <a:ea typeface="Courier New" pitchFamily="34" charset="-122"/>
                <a:cs typeface="Courier New" pitchFamily="34" charset="-120"/>
              </a:rPr>
              <a:t>, parse_dates=[</a:t>
            </a:r>
            <a:pPr indent="0" marL="0">
              <a:buNone/>
            </a:pPr>
            <a:r>
              <a:rPr lang="en-US" sz="1100" dirty="0">
                <a:solidFill>
                  <a:srgbClr val="A31515"/>
                </a:solidFill>
                <a:latin typeface="Courier New" pitchFamily="34" charset="0"/>
                <a:ea typeface="Courier New" pitchFamily="34" charset="-122"/>
                <a:cs typeface="Courier New" pitchFamily="34" charset="-120"/>
              </a:rPr>
              <a:t>"fecha"</a:t>
            </a:r>
            <a:pPr indent="0" marL="0">
              <a:buNone/>
            </a:pPr>
            <a:r>
              <a:rPr lang="en-US" sz="1100" dirty="0">
                <a:solidFill>
                  <a:srgbClr val="202124"/>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print(</a:t>
            </a:r>
            <a:pPr indent="0" marL="0">
              <a:buNone/>
            </a:pPr>
            <a:r>
              <a:rPr lang="en-US" sz="1100" dirty="0">
                <a:solidFill>
                  <a:srgbClr val="A31515"/>
                </a:solidFill>
                <a:latin typeface="Courier New" pitchFamily="34" charset="0"/>
                <a:ea typeface="Courier New" pitchFamily="34" charset="-122"/>
                <a:cs typeface="Courier New" pitchFamily="34" charset="-120"/>
              </a:rPr>
              <a:t>"Filas y columnas"</a:t>
            </a:r>
            <a:pPr indent="0" marL="0">
              <a:buNone/>
            </a:pPr>
            <a:r>
              <a:rPr lang="en-US" sz="1100" dirty="0">
                <a:solidFill>
                  <a:srgbClr val="202124"/>
                </a:solidFill>
                <a:latin typeface="Courier New" pitchFamily="34" charset="0"/>
                <a:ea typeface="Courier New" pitchFamily="34" charset="-122"/>
                <a:cs typeface="Courier New" pitchFamily="34" charset="-120"/>
              </a:rPr>
              <a:t>, generacion.shape)</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print(</a:t>
            </a:r>
            <a:pPr indent="0" marL="0">
              <a:buNone/>
            </a:pPr>
            <a:r>
              <a:rPr lang="en-US" sz="1100" dirty="0">
                <a:solidFill>
                  <a:srgbClr val="A31515"/>
                </a:solidFill>
                <a:latin typeface="Courier New" pitchFamily="34" charset="0"/>
                <a:ea typeface="Courier New" pitchFamily="34" charset="-122"/>
                <a:cs typeface="Courier New" pitchFamily="34" charset="-120"/>
              </a:rPr>
              <a:t>"Primer día      "</a:t>
            </a:r>
            <a:pPr indent="0" marL="0">
              <a:buNone/>
            </a:pPr>
            <a:r>
              <a:rPr lang="en-US" sz="1100" dirty="0">
                <a:solidFill>
                  <a:srgbClr val="202124"/>
                </a:solidFill>
                <a:latin typeface="Courier New" pitchFamily="34" charset="0"/>
                <a:ea typeface="Courier New" pitchFamily="34" charset="-122"/>
                <a:cs typeface="Courier New" pitchFamily="34" charset="-120"/>
              </a:rPr>
              <a:t>, generacion[</a:t>
            </a:r>
            <a:pPr indent="0" marL="0">
              <a:buNone/>
            </a:pPr>
            <a:r>
              <a:rPr lang="en-US" sz="1100" dirty="0">
                <a:solidFill>
                  <a:srgbClr val="A31515"/>
                </a:solidFill>
                <a:latin typeface="Courier New" pitchFamily="34" charset="0"/>
                <a:ea typeface="Courier New" pitchFamily="34" charset="-122"/>
                <a:cs typeface="Courier New" pitchFamily="34" charset="-120"/>
              </a:rPr>
              <a:t>"fecha"</a:t>
            </a:r>
            <a:pPr indent="0" marL="0">
              <a:buNone/>
            </a:pPr>
            <a:r>
              <a:rPr lang="en-US" sz="1100" dirty="0">
                <a:solidFill>
                  <a:srgbClr val="202124"/>
                </a:solidFill>
                <a:latin typeface="Courier New" pitchFamily="34" charset="0"/>
                <a:ea typeface="Courier New" pitchFamily="34" charset="-122"/>
                <a:cs typeface="Courier New" pitchFamily="34" charset="-120"/>
              </a:rPr>
              <a:t>].min().date())</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print(</a:t>
            </a:r>
            <a:pPr indent="0" marL="0">
              <a:buNone/>
            </a:pPr>
            <a:r>
              <a:rPr lang="en-US" sz="1100" dirty="0">
                <a:solidFill>
                  <a:srgbClr val="A31515"/>
                </a:solidFill>
                <a:latin typeface="Courier New" pitchFamily="34" charset="0"/>
                <a:ea typeface="Courier New" pitchFamily="34" charset="-122"/>
                <a:cs typeface="Courier New" pitchFamily="34" charset="-120"/>
              </a:rPr>
              <a:t>"Último día      "</a:t>
            </a:r>
            <a:pPr indent="0" marL="0">
              <a:buNone/>
            </a:pPr>
            <a:r>
              <a:rPr lang="en-US" sz="1100" dirty="0">
                <a:solidFill>
                  <a:srgbClr val="202124"/>
                </a:solidFill>
                <a:latin typeface="Courier New" pitchFamily="34" charset="0"/>
                <a:ea typeface="Courier New" pitchFamily="34" charset="-122"/>
                <a:cs typeface="Courier New" pitchFamily="34" charset="-120"/>
              </a:rPr>
              <a:t>, generacion[</a:t>
            </a:r>
            <a:pPr indent="0" marL="0">
              <a:buNone/>
            </a:pPr>
            <a:r>
              <a:rPr lang="en-US" sz="1100" dirty="0">
                <a:solidFill>
                  <a:srgbClr val="A31515"/>
                </a:solidFill>
                <a:latin typeface="Courier New" pitchFamily="34" charset="0"/>
                <a:ea typeface="Courier New" pitchFamily="34" charset="-122"/>
                <a:cs typeface="Courier New" pitchFamily="34" charset="-120"/>
              </a:rPr>
              <a:t>"fecha"</a:t>
            </a:r>
            <a:pPr indent="0" marL="0">
              <a:buNone/>
            </a:pPr>
            <a:r>
              <a:rPr lang="en-US" sz="1100" dirty="0">
                <a:solidFill>
                  <a:srgbClr val="202124"/>
                </a:solidFill>
                <a:latin typeface="Courier New" pitchFamily="34" charset="0"/>
                <a:ea typeface="Courier New" pitchFamily="34" charset="-122"/>
                <a:cs typeface="Courier New" pitchFamily="34" charset="-120"/>
              </a:rPr>
              <a:t>].max().date())</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generacion.head()</a:t>
            </a:r>
            <a:endParaRPr lang="en-US" sz="1100" dirty="0"/>
          </a:p>
        </p:txBody>
      </p:sp>
      <p:sp>
        <p:nvSpPr>
          <p:cNvPr id="10" name="Shape 8"/>
          <p:cNvSpPr/>
          <p:nvPr/>
        </p:nvSpPr>
        <p:spPr>
          <a:xfrm>
            <a:off x="1325880" y="3255264"/>
            <a:ext cx="10314432" cy="786384"/>
          </a:xfrm>
          <a:prstGeom prst="rect">
            <a:avLst/>
          </a:prstGeom>
          <a:solidFill>
            <a:srgbClr val="FFFFFF"/>
          </a:solidFill>
          <a:ln w="12700">
            <a:solidFill>
              <a:srgbClr val="DADCE0"/>
            </a:solidFill>
            <a:prstDash val="solid"/>
          </a:ln>
        </p:spPr>
      </p:sp>
      <p:sp>
        <p:nvSpPr>
          <p:cNvPr id="11" name="Text 9"/>
          <p:cNvSpPr txBox="1"/>
          <p:nvPr/>
        </p:nvSpPr>
        <p:spPr>
          <a:xfrm>
            <a:off x="1463040" y="3328416"/>
            <a:ext cx="10085832" cy="658368"/>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Filas y columnas (175680, 4)</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Primer día       2024-01-01</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Último día       2024-12-31</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1325880" y="4133088"/>
          <a:ext cx="9144000" cy="914400"/>
        </p:xfrm>
        <a:graphic>
          <a:graphicData uri="http://schemas.openxmlformats.org/drawingml/2006/table">
            <a:tbl>
              <a:tblPr/>
              <a:tblGrid>
                <a:gridCol w="365760"/>
                <a:gridCol w="2011680"/>
                <a:gridCol w="822960"/>
                <a:gridCol w="2286000"/>
                <a:gridCol w="822960"/>
              </a:tblGrid>
              <a:tr h="237744">
                <a:tc>
                  <a:txBody>
                    <a:bodyPr/>
                    <a:lstStyle/>
                    <a:p>
                      <a:pPr indent="0" marL="0">
                        <a:buNone/>
                      </a:pP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fecha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hora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central</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mwh</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2024-01-01 00:00:00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Central Río Manso Alto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163.69</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2024-01-01 00:00:00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Central Río Manso Alto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179.81</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2024-01-01 00:00:00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Central Río Manso Alto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173.77</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3</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2024-01-01 00:00:00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3</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Central Río Manso Alto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170.39</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2024-01-01 00:00:00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Central Río Manso Alto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169.84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bl>
          </a:graphicData>
        </a:graphic>
      </p:graphicFrame>
      <p:sp>
        <p:nvSpPr>
          <p:cNvPr id="14" name="Text 10"/>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5" name="Shape 11"/>
          <p:cNvSpPr/>
          <p:nvPr/>
        </p:nvSpPr>
        <p:spPr>
          <a:xfrm>
            <a:off x="548640" y="6062472"/>
            <a:ext cx="2770632" cy="566928"/>
          </a:xfrm>
          <a:prstGeom prst="roundRect">
            <a:avLst>
              <a:gd name="adj" fmla="val 11290"/>
            </a:avLst>
          </a:prstGeom>
          <a:solidFill>
            <a:srgbClr val="E8F0FE"/>
          </a:solidFill>
          <a:ln w="28575">
            <a:solidFill>
              <a:srgbClr val="1A73E8"/>
            </a:solidFill>
            <a:prstDash val="solid"/>
          </a:ln>
        </p:spPr>
      </p:sp>
      <p:sp>
        <p:nvSpPr>
          <p:cNvPr id="16" name="Text 12"/>
          <p:cNvSpPr txBox="1"/>
          <p:nvPr/>
        </p:nvSpPr>
        <p:spPr>
          <a:xfrm>
            <a:off x="640080"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
        <p:nvSpPr>
          <p:cNvPr id="17" name="Shape 13"/>
          <p:cNvSpPr/>
          <p:nvPr/>
        </p:nvSpPr>
        <p:spPr>
          <a:xfrm>
            <a:off x="3456432" y="6062472"/>
            <a:ext cx="1143000" cy="566928"/>
          </a:xfrm>
          <a:prstGeom prst="roundRect">
            <a:avLst>
              <a:gd name="adj" fmla="val 11290"/>
            </a:avLst>
          </a:prstGeom>
          <a:solidFill>
            <a:srgbClr val="E8F0FE"/>
          </a:solidFill>
          <a:ln w="28575">
            <a:solidFill>
              <a:srgbClr val="1A73E8"/>
            </a:solidFill>
            <a:prstDash val="solid"/>
          </a:ln>
        </p:spPr>
      </p:sp>
      <p:sp>
        <p:nvSpPr>
          <p:cNvPr id="18" name="Text 14"/>
          <p:cNvSpPr txBox="1"/>
          <p:nvPr/>
        </p:nvSpPr>
        <p:spPr>
          <a:xfrm>
            <a:off x="3547872"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9" name="Shape 15"/>
          <p:cNvSpPr/>
          <p:nvPr/>
        </p:nvSpPr>
        <p:spPr>
          <a:xfrm>
            <a:off x="4736592" y="6062472"/>
            <a:ext cx="1810512" cy="566928"/>
          </a:xfrm>
          <a:prstGeom prst="roundRect">
            <a:avLst>
              <a:gd name="adj" fmla="val 11290"/>
            </a:avLst>
          </a:prstGeom>
          <a:solidFill>
            <a:srgbClr val="FEF3D6"/>
          </a:solidFill>
          <a:ln w="25400">
            <a:solidFill>
              <a:srgbClr val="F9AB00"/>
            </a:solidFill>
            <a:prstDash val="solid"/>
          </a:ln>
        </p:spPr>
      </p:sp>
      <p:sp>
        <p:nvSpPr>
          <p:cNvPr id="20" name="Text 16"/>
          <p:cNvSpPr txBox="1"/>
          <p:nvPr/>
        </p:nvSpPr>
        <p:spPr>
          <a:xfrm>
            <a:off x="4828032"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generacion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175680 × 4</a:t>
            </a:r>
            <a:endParaRPr lang="en-US" sz="1200" dirty="0"/>
          </a:p>
        </p:txBody>
      </p:sp>
      <p:sp>
        <p:nvSpPr>
          <p:cNvPr id="21" name="Shape 17"/>
          <p:cNvSpPr/>
          <p:nvPr/>
        </p:nvSpPr>
        <p:spPr>
          <a:xfrm>
            <a:off x="6684264" y="6062472"/>
            <a:ext cx="1330452" cy="566928"/>
          </a:xfrm>
          <a:prstGeom prst="roundRect">
            <a:avLst>
              <a:gd name="adj" fmla="val 11290"/>
            </a:avLst>
          </a:prstGeom>
          <a:solidFill>
            <a:srgbClr val="F1F3F4"/>
          </a:solidFill>
          <a:ln w="12700">
            <a:solidFill>
              <a:srgbClr val="DADCE0"/>
            </a:solidFill>
            <a:prstDash val="solid"/>
          </a:ln>
        </p:spPr>
      </p:sp>
      <p:sp>
        <p:nvSpPr>
          <p:cNvPr id="22" name="Text 18"/>
          <p:cNvSpPr txBox="1"/>
          <p:nvPr/>
        </p:nvSpPr>
        <p:spPr>
          <a:xfrm>
            <a:off x="6775704"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filtradas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5 × 5</a:t>
            </a:r>
            <a:endParaRPr lang="en-US" sz="1200" dirty="0"/>
          </a:p>
        </p:txBody>
      </p:sp>
      <p:sp>
        <p:nvSpPr>
          <p:cNvPr id="23" name="Shape 19"/>
          <p:cNvSpPr/>
          <p:nvPr/>
        </p:nvSpPr>
        <p:spPr>
          <a:xfrm>
            <a:off x="8151876" y="6062472"/>
            <a:ext cx="1234440" cy="566928"/>
          </a:xfrm>
          <a:prstGeom prst="roundRect">
            <a:avLst>
              <a:gd name="adj" fmla="val 11290"/>
            </a:avLst>
          </a:prstGeom>
          <a:solidFill>
            <a:srgbClr val="F1F3F4"/>
          </a:solidFill>
          <a:ln w="12700">
            <a:solidFill>
              <a:srgbClr val="DADCE0"/>
            </a:solidFill>
            <a:prstDash val="solid"/>
          </a:ln>
        </p:spPr>
      </p:sp>
      <p:sp>
        <p:nvSpPr>
          <p:cNvPr id="24" name="Text 20"/>
          <p:cNvSpPr txBox="1"/>
          <p:nvPr/>
        </p:nvSpPr>
        <p:spPr>
          <a:xfrm>
            <a:off x="8243316" y="6071616"/>
            <a:ext cx="109728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tecnologia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"solar"</a:t>
            </a:r>
            <a:endParaRPr lang="en-US" sz="1200" dirty="0"/>
          </a:p>
        </p:txBody>
      </p:sp>
      <p:sp>
        <p:nvSpPr>
          <p:cNvPr id="25" name="Text 21"/>
          <p:cNvSpPr txBox="1"/>
          <p:nvPr/>
        </p:nvSpPr>
        <p:spPr>
          <a:xfrm>
            <a:off x="9523476"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 más</a:t>
            </a:r>
            <a:endParaRPr lang="en-US" sz="1200" dirty="0"/>
          </a:p>
        </p:txBody>
      </p:sp>
      <p:sp>
        <p:nvSpPr>
          <p:cNvPr id="26" name="Text 22"/>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Son 175.680 filas, una por central y por hora de 2024.</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3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¿Cómo llega la generación de cada hora?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hay que llevarse de este paso.</a:t>
            </a:r>
            <a:endParaRPr lang="en-US" sz="1400" dirty="0"/>
          </a:p>
        </p:txBody>
      </p:sp>
      <p:sp>
        <p:nvSpPr>
          <p:cNvPr id="7" name="Shape 4"/>
          <p:cNvSpPr/>
          <p:nvPr/>
        </p:nvSpPr>
        <p:spPr>
          <a:xfrm>
            <a:off x="548640" y="1828800"/>
            <a:ext cx="11091672" cy="2377440"/>
          </a:xfrm>
          <a:prstGeom prst="roundRect">
            <a:avLst>
              <a:gd name="adj" fmla="val 3846"/>
            </a:avLst>
          </a:prstGeom>
          <a:solidFill>
            <a:srgbClr val="FFF8D6"/>
          </a:solidFill>
          <a:ln w="12700">
            <a:solidFill>
              <a:srgbClr val="FFF8D6"/>
            </a:solidFill>
            <a:prstDash val="solid"/>
          </a:ln>
        </p:spPr>
      </p:sp>
      <p:sp>
        <p:nvSpPr>
          <p:cNvPr id="8" name="Text 5"/>
          <p:cNvSpPr txBox="1"/>
          <p:nvPr/>
        </p:nvSpPr>
        <p:spPr>
          <a:xfrm>
            <a:off x="1005840" y="2057400"/>
            <a:ext cx="10177272" cy="1005840"/>
          </a:xfrm>
          <a:prstGeom prst="rect">
            <a:avLst/>
          </a:prstGeom>
          <a:noFill/>
          <a:ln/>
        </p:spPr>
        <p:txBody>
          <a:bodyPr wrap="square" lIns="0" tIns="0" rIns="0" bIns="0" rtlCol="0" anchor="t"/>
          <a:lstStyle/>
          <a:p>
            <a:pPr indent="0" marL="0">
              <a:buNone/>
            </a:pPr>
            <a:r>
              <a:rPr lang="en-US" sz="2800" b="1" dirty="0">
                <a:solidFill>
                  <a:srgbClr val="8A6D00"/>
                </a:solidFill>
                <a:latin typeface="Calibri" pitchFamily="34" charset="0"/>
                <a:ea typeface="Calibri" pitchFamily="34" charset="-122"/>
                <a:cs typeface="Calibri" pitchFamily="34" charset="-120"/>
              </a:rPr>
              <a:t>Antes de calcular, se mira cuántas filas hay y qué fechas cubre.</a:t>
            </a:r>
            <a:endParaRPr lang="en-US" sz="2800" dirty="0"/>
          </a:p>
        </p:txBody>
      </p:sp>
      <p:sp>
        <p:nvSpPr>
          <p:cNvPr id="9" name="Text 6"/>
          <p:cNvSpPr txBox="1"/>
          <p:nvPr/>
        </p:nvSpPr>
        <p:spPr>
          <a:xfrm>
            <a:off x="1005840" y="3154680"/>
            <a:ext cx="10177272" cy="914400"/>
          </a:xfrm>
          <a:prstGeom prst="rect">
            <a:avLst/>
          </a:prstGeom>
          <a:noFill/>
          <a:ln/>
        </p:spPr>
        <p:txBody>
          <a:bodyPr wrap="square" lIns="0" tIns="0" rIns="0" bIns="0" rtlCol="0" anchor="t"/>
          <a:lstStyle/>
          <a:p>
            <a:pPr indent="0" marL="0">
              <a:buNone/>
            </a:pPr>
            <a:r>
              <a:rPr lang="en-US" sz="2200" dirty="0">
                <a:solidFill>
                  <a:srgbClr val="202124"/>
                </a:solidFill>
                <a:latin typeface="Calibri" pitchFamily="34" charset="0"/>
                <a:ea typeface="Calibri" pitchFamily="34" charset="-122"/>
                <a:cs typeface="Calibri" pitchFamily="34" charset="-120"/>
              </a:rPr>
              <a:t>20 centrales por 24 horas por 366 días dan 175.680. Si no calza, faltan o sobran datos.</a:t>
            </a:r>
            <a:endParaRPr lang="en-US" sz="2200" dirty="0"/>
          </a:p>
        </p:txBody>
      </p:sp>
      <p:sp>
        <p:nvSpPr>
          <p:cNvPr id="10"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1" name="Shape 8"/>
          <p:cNvSpPr/>
          <p:nvPr/>
        </p:nvSpPr>
        <p:spPr>
          <a:xfrm>
            <a:off x="548640" y="6062472"/>
            <a:ext cx="2770632" cy="566928"/>
          </a:xfrm>
          <a:prstGeom prst="roundRect">
            <a:avLst>
              <a:gd name="adj" fmla="val 11290"/>
            </a:avLst>
          </a:prstGeom>
          <a:solidFill>
            <a:srgbClr val="E8F0FE"/>
          </a:solidFill>
          <a:ln w="28575">
            <a:solidFill>
              <a:srgbClr val="1A73E8"/>
            </a:solidFill>
            <a:prstDash val="solid"/>
          </a:ln>
        </p:spPr>
      </p:sp>
      <p:sp>
        <p:nvSpPr>
          <p:cNvPr id="12" name="Text 9"/>
          <p:cNvSpPr txBox="1"/>
          <p:nvPr/>
        </p:nvSpPr>
        <p:spPr>
          <a:xfrm>
            <a:off x="640080"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
        <p:nvSpPr>
          <p:cNvPr id="13" name="Shape 10"/>
          <p:cNvSpPr/>
          <p:nvPr/>
        </p:nvSpPr>
        <p:spPr>
          <a:xfrm>
            <a:off x="3456432" y="6062472"/>
            <a:ext cx="1143000" cy="566928"/>
          </a:xfrm>
          <a:prstGeom prst="roundRect">
            <a:avLst>
              <a:gd name="adj" fmla="val 11290"/>
            </a:avLst>
          </a:prstGeom>
          <a:solidFill>
            <a:srgbClr val="E8F0FE"/>
          </a:solidFill>
          <a:ln w="28575">
            <a:solidFill>
              <a:srgbClr val="1A73E8"/>
            </a:solidFill>
            <a:prstDash val="solid"/>
          </a:ln>
        </p:spPr>
      </p:sp>
      <p:sp>
        <p:nvSpPr>
          <p:cNvPr id="14" name="Text 11"/>
          <p:cNvSpPr txBox="1"/>
          <p:nvPr/>
        </p:nvSpPr>
        <p:spPr>
          <a:xfrm>
            <a:off x="3547872"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5" name="Shape 12"/>
          <p:cNvSpPr/>
          <p:nvPr/>
        </p:nvSpPr>
        <p:spPr>
          <a:xfrm>
            <a:off x="4736592" y="6062472"/>
            <a:ext cx="1810512" cy="566928"/>
          </a:xfrm>
          <a:prstGeom prst="roundRect">
            <a:avLst>
              <a:gd name="adj" fmla="val 11290"/>
            </a:avLst>
          </a:prstGeom>
          <a:solidFill>
            <a:srgbClr val="FEF3D6"/>
          </a:solidFill>
          <a:ln w="25400">
            <a:solidFill>
              <a:srgbClr val="F9AB00"/>
            </a:solidFill>
            <a:prstDash val="solid"/>
          </a:ln>
        </p:spPr>
      </p:sp>
      <p:sp>
        <p:nvSpPr>
          <p:cNvPr id="16" name="Text 13"/>
          <p:cNvSpPr txBox="1"/>
          <p:nvPr/>
        </p:nvSpPr>
        <p:spPr>
          <a:xfrm>
            <a:off x="4828032"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generacion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175680 × 4</a:t>
            </a:r>
            <a:endParaRPr lang="en-US" sz="1200" dirty="0"/>
          </a:p>
        </p:txBody>
      </p:sp>
      <p:sp>
        <p:nvSpPr>
          <p:cNvPr id="17" name="Shape 14"/>
          <p:cNvSpPr/>
          <p:nvPr/>
        </p:nvSpPr>
        <p:spPr>
          <a:xfrm>
            <a:off x="6684264" y="6062472"/>
            <a:ext cx="1330452"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6775704"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filtradas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5 × 5</a:t>
            </a:r>
            <a:endParaRPr lang="en-US" sz="1200" dirty="0"/>
          </a:p>
        </p:txBody>
      </p:sp>
      <p:sp>
        <p:nvSpPr>
          <p:cNvPr id="19" name="Shape 16"/>
          <p:cNvSpPr/>
          <p:nvPr/>
        </p:nvSpPr>
        <p:spPr>
          <a:xfrm>
            <a:off x="8151876" y="6062472"/>
            <a:ext cx="1234440"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8243316" y="6071616"/>
            <a:ext cx="109728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tecnologia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"solar"</a:t>
            </a:r>
            <a:endParaRPr lang="en-US" sz="1200" dirty="0"/>
          </a:p>
        </p:txBody>
      </p:sp>
      <p:sp>
        <p:nvSpPr>
          <p:cNvPr id="21" name="Text 18"/>
          <p:cNvSpPr txBox="1"/>
          <p:nvPr/>
        </p:nvSpPr>
        <p:spPr>
          <a:xfrm>
            <a:off x="9523476"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 más</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4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une generación con fichas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qué le pasa a cada central al unir.</a:t>
            </a:r>
            <a:endParaRPr lang="en-US" sz="1400" dirty="0"/>
          </a:p>
        </p:txBody>
      </p:sp>
      <p:pic>
        <p:nvPicPr>
          <p:cNvPr id="6" name="Image 0" descr="../../repo/modulos/modulo01/img/lab01_paso9_join.png">    </p:cNvPr>
          <p:cNvPicPr>
            <a:picLocks noChangeAspect="1"/>
          </p:cNvPicPr>
          <p:nvPr/>
        </p:nvPicPr>
        <p:blipFill>
          <a:blip r:embed="rId1"/>
          <a:stretch>
            <a:fillRect/>
          </a:stretch>
        </p:blipFill>
        <p:spPr>
          <a:xfrm>
            <a:off x="1988872" y="1463040"/>
            <a:ext cx="8211209" cy="46177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4"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4 de 5</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une generación con fichas</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Elige cómo unir en la lista y vuelve a correr la celda. Compara la generación real con la unida.</a:t>
            </a:r>
            <a:endParaRPr lang="en-US" sz="1400" dirty="0"/>
          </a:p>
        </p:txBody>
      </p:sp>
      <p:sp>
        <p:nvSpPr>
          <p:cNvPr id="7" name="Shape 4"/>
          <p:cNvSpPr/>
          <p:nvPr/>
        </p:nvSpPr>
        <p:spPr>
          <a:xfrm>
            <a:off x="548640" y="1481328"/>
            <a:ext cx="11091672" cy="3575304"/>
          </a:xfrm>
          <a:prstGeom prst="roundRect">
            <a:avLst>
              <a:gd name="adj" fmla="val 1535"/>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7360920" cy="3392424"/>
          </a:xfrm>
          <a:prstGeom prst="rect">
            <a:avLst/>
          </a:prstGeom>
          <a:noFill/>
          <a:ln/>
        </p:spPr>
        <p:txBody>
          <a:bodyPr wrap="square" lIns="0" tIns="0" rIns="0" bIns="0" rtlCol="0" anchor="t"/>
          <a:lstStyle/>
          <a:p>
            <a:pPr indent="0" marL="0">
              <a:buNone/>
            </a:pPr>
            <a:r>
              <a:rPr lang="en-US" sz="1100" i="1" dirty="0">
                <a:solidFill>
                  <a:srgbClr val="188038"/>
                </a:solidFill>
                <a:latin typeface="Courier New" pitchFamily="34" charset="0"/>
                <a:ea typeface="Courier New" pitchFamily="34" charset="-122"/>
                <a:cs typeface="Courier New" pitchFamily="34" charset="-120"/>
              </a:rPr>
              <a:t># Paso 4</a:t>
            </a:r>
            <a:endParaRPr lang="en-US" sz="1100" dirty="0"/>
          </a:p>
          <a:p>
            <a:pPr indent="0" marL="0">
              <a:buNone/>
            </a:pPr>
            <a:r>
              <a:rPr lang="en-US" sz="1100" i="1" dirty="0">
                <a:solidFill>
                  <a:srgbClr val="188038"/>
                </a:solidFill>
                <a:latin typeface="Courier New" pitchFamily="34" charset="0"/>
                <a:ea typeface="Courier New" pitchFamily="34" charset="-122"/>
                <a:cs typeface="Courier New" pitchFamily="34" charset="-120"/>
              </a:rPr>
              <a:t># inner deja solo lo que está en las dos tablas.</a:t>
            </a:r>
            <a:endParaRPr lang="en-US" sz="1100" dirty="0"/>
          </a:p>
          <a:p>
            <a:pPr indent="0" marL="0">
              <a:buNone/>
            </a:pPr>
            <a:r>
              <a:rPr lang="en-US" sz="1100" i="1" dirty="0">
                <a:solidFill>
                  <a:srgbClr val="188038"/>
                </a:solidFill>
                <a:latin typeface="Courier New" pitchFamily="34" charset="0"/>
                <a:ea typeface="Courier New" pitchFamily="34" charset="-122"/>
                <a:cs typeface="Courier New" pitchFamily="34" charset="-120"/>
              </a:rPr>
              <a:t># left conserva toda la generación.</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como_unir = </a:t>
            </a:r>
            <a:pPr indent="0" marL="0">
              <a:buNone/>
            </a:pPr>
            <a:r>
              <a:rPr lang="en-US" sz="1100" dirty="0">
                <a:solidFill>
                  <a:srgbClr val="A31515"/>
                </a:solidFill>
                <a:latin typeface="Courier New" pitchFamily="34" charset="0"/>
                <a:ea typeface="Courier New" pitchFamily="34" charset="-122"/>
                <a:cs typeface="Courier New" pitchFamily="34" charset="-120"/>
              </a:rPr>
              <a:t>"inner"</a:t>
            </a:r>
            <a:pPr indent="0" marL="0">
              <a:buNone/>
            </a:pPr>
            <a:r>
              <a:rPr lang="en-US" sz="1100" dirty="0">
                <a:solidFill>
                  <a:srgbClr val="202124"/>
                </a:solidFill>
                <a:latin typeface="Courier New" pitchFamily="34" charset="0"/>
                <a:ea typeface="Courier New" pitchFamily="34" charset="-122"/>
                <a:cs typeface="Courier New" pitchFamily="34" charset="-120"/>
              </a:rPr>
              <a:t> </a:t>
            </a:r>
            <a:pPr indent="0" marL="0">
              <a:buNone/>
            </a:pPr>
            <a:r>
              <a:rPr lang="en-US" sz="1100" dirty="0">
                <a:solidFill>
                  <a:srgbClr val="80868B"/>
                </a:solidFill>
                <a:latin typeface="Courier New" pitchFamily="34" charset="0"/>
                <a:ea typeface="Courier New" pitchFamily="34" charset="-122"/>
                <a:cs typeface="Courier New" pitchFamily="34" charset="-120"/>
              </a:rPr>
              <a:t>#@param ["inner", "left"]</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 </a:t>
            </a:r>
            <a:endParaRPr lang="en-US" sz="1100" dirty="0"/>
          </a:p>
          <a:p>
            <a:pPr indent="0" marL="0">
              <a:buNone/>
            </a:pPr>
            <a:r>
              <a:rPr lang="en-US" sz="1100" i="1" dirty="0">
                <a:solidFill>
                  <a:srgbClr val="188038"/>
                </a:solidFill>
                <a:latin typeface="Courier New" pitchFamily="34" charset="0"/>
                <a:ea typeface="Courier New" pitchFamily="34" charset="-122"/>
                <a:cs typeface="Courier New" pitchFamily="34" charset="-120"/>
              </a:rPr>
              <a:t># Un día de generación y una tabla de fichas a la que le faltan</a:t>
            </a:r>
            <a:endParaRPr lang="en-US" sz="1100" dirty="0"/>
          </a:p>
          <a:p>
            <a:pPr indent="0" marL="0">
              <a:buNone/>
            </a:pPr>
            <a:r>
              <a:rPr lang="en-US" sz="1100" i="1" dirty="0">
                <a:solidFill>
                  <a:srgbClr val="188038"/>
                </a:solidFill>
                <a:latin typeface="Courier New" pitchFamily="34" charset="0"/>
                <a:ea typeface="Courier New" pitchFamily="34" charset="-122"/>
                <a:cs typeface="Courier New" pitchFamily="34" charset="-120"/>
              </a:rPr>
              <a:t># tres centrales.</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un_dia = generacion[generacion[</a:t>
            </a:r>
            <a:pPr indent="0" marL="0">
              <a:buNone/>
            </a:pPr>
            <a:r>
              <a:rPr lang="en-US" sz="1100" dirty="0">
                <a:solidFill>
                  <a:srgbClr val="A31515"/>
                </a:solidFill>
                <a:latin typeface="Courier New" pitchFamily="34" charset="0"/>
                <a:ea typeface="Courier New" pitchFamily="34" charset="-122"/>
                <a:cs typeface="Courier New" pitchFamily="34" charset="-120"/>
              </a:rPr>
              <a:t>"fecha"</a:t>
            </a:r>
            <a:pPr indent="0" marL="0">
              <a:buNone/>
            </a:pPr>
            <a:r>
              <a:rPr lang="en-US" sz="1100" dirty="0">
                <a:solidFill>
                  <a:srgbClr val="202124"/>
                </a:solidFill>
                <a:latin typeface="Courier New" pitchFamily="34" charset="0"/>
                <a:ea typeface="Courier New" pitchFamily="34" charset="-122"/>
                <a:cs typeface="Courier New" pitchFamily="34" charset="-120"/>
              </a:rPr>
              <a:t>] == </a:t>
            </a:r>
            <a:pPr indent="0" marL="0">
              <a:buNone/>
            </a:pPr>
            <a:r>
              <a:rPr lang="en-US" sz="1100" dirty="0">
                <a:solidFill>
                  <a:srgbClr val="A31515"/>
                </a:solidFill>
                <a:latin typeface="Courier New" pitchFamily="34" charset="0"/>
                <a:ea typeface="Courier New" pitchFamily="34" charset="-122"/>
                <a:cs typeface="Courier New" pitchFamily="34" charset="-120"/>
              </a:rPr>
              <a:t>"2024-06-15"</a:t>
            </a:r>
            <a:pPr indent="0" marL="0">
              <a:buNone/>
            </a:pPr>
            <a:r>
              <a:rPr lang="en-US" sz="1100" dirty="0">
                <a:solidFill>
                  <a:srgbClr val="202124"/>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sin_ficha = [</a:t>
            </a:r>
            <a:pPr indent="0" marL="0">
              <a:buNone/>
            </a:pPr>
            <a:r>
              <a:rPr lang="en-US" sz="1100" dirty="0">
                <a:solidFill>
                  <a:srgbClr val="A31515"/>
                </a:solidFill>
                <a:latin typeface="Courier New" pitchFamily="34" charset="0"/>
                <a:ea typeface="Courier New" pitchFamily="34" charset="-122"/>
                <a:cs typeface="Courier New" pitchFamily="34" charset="-120"/>
              </a:rPr>
              <a:t>"Eólica Loma Fría"</a:t>
            </a:r>
            <a:pPr indent="0" marL="0">
              <a:buNone/>
            </a:pPr>
            <a:r>
              <a:rPr lang="en-US" sz="1100" dirty="0">
                <a:solidFill>
                  <a:srgbClr val="202124"/>
                </a:solidFill>
                <a:latin typeface="Courier New" pitchFamily="34" charset="0"/>
                <a:ea typeface="Courier New" pitchFamily="34" charset="-122"/>
                <a:cs typeface="Courier New" pitchFamily="34" charset="-120"/>
              </a:rPr>
              <a:t>, </a:t>
            </a:r>
            <a:pPr indent="0" marL="0">
              <a:buNone/>
            </a:pPr>
            <a:r>
              <a:rPr lang="en-US" sz="1100" dirty="0">
                <a:solidFill>
                  <a:srgbClr val="A31515"/>
                </a:solidFill>
                <a:latin typeface="Courier New" pitchFamily="34" charset="0"/>
                <a:ea typeface="Courier New" pitchFamily="34" charset="-122"/>
                <a:cs typeface="Courier New" pitchFamily="34" charset="-120"/>
              </a:rPr>
              <a:t>"Central Vega Azul"</a:t>
            </a:r>
            <a:pPr indent="0" marL="0">
              <a:buNone/>
            </a:pPr>
            <a:r>
              <a:rPr lang="en-US" sz="1100" dirty="0">
                <a:solidFill>
                  <a:srgbClr val="202124"/>
                </a:solidFill>
                <a:latin typeface="Courier New" pitchFamily="34" charset="0"/>
                <a:ea typeface="Courier New" pitchFamily="34" charset="-122"/>
                <a:cs typeface="Courier New" pitchFamily="34" charset="-120"/>
              </a:rPr>
              <a:t>, </a:t>
            </a:r>
            <a:pPr indent="0" marL="0">
              <a:buNone/>
            </a:pPr>
            <a:r>
              <a:rPr lang="en-US" sz="1100" dirty="0">
                <a:solidFill>
                  <a:srgbClr val="A31515"/>
                </a:solidFill>
                <a:latin typeface="Courier New" pitchFamily="34" charset="0"/>
                <a:ea typeface="Courier New" pitchFamily="34" charset="-122"/>
                <a:cs typeface="Courier New" pitchFamily="34" charset="-120"/>
              </a:rPr>
              <a:t>"Diésel Respaldo Cordillera"</a:t>
            </a:r>
            <a:pPr indent="0" marL="0">
              <a:buNone/>
            </a:pPr>
            <a:r>
              <a:rPr lang="en-US" sz="1100" dirty="0">
                <a:solidFill>
                  <a:srgbClr val="202124"/>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fichas = centrales[~centrales[</a:t>
            </a:r>
            <a:pPr indent="0" marL="0">
              <a:buNone/>
            </a:pPr>
            <a:r>
              <a:rPr lang="en-US" sz="1100" dirty="0">
                <a:solidFill>
                  <a:srgbClr val="A31515"/>
                </a:solidFill>
                <a:latin typeface="Courier New" pitchFamily="34" charset="0"/>
                <a:ea typeface="Courier New" pitchFamily="34" charset="-122"/>
                <a:cs typeface="Courier New" pitchFamily="34" charset="-120"/>
              </a:rPr>
              <a:t>"central"</a:t>
            </a:r>
            <a:pPr indent="0" marL="0">
              <a:buNone/>
            </a:pPr>
            <a:r>
              <a:rPr lang="en-US" sz="1100" dirty="0">
                <a:solidFill>
                  <a:srgbClr val="202124"/>
                </a:solidFill>
                <a:latin typeface="Courier New" pitchFamily="34" charset="0"/>
                <a:ea typeface="Courier New" pitchFamily="34" charset="-122"/>
                <a:cs typeface="Courier New" pitchFamily="34" charset="-120"/>
              </a:rPr>
              <a:t>].isin(sin_ficha)]</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unido = pd.merge(un_dia, fichas, on=</a:t>
            </a:r>
            <a:pPr indent="0" marL="0">
              <a:buNone/>
            </a:pPr>
            <a:r>
              <a:rPr lang="en-US" sz="1100" dirty="0">
                <a:solidFill>
                  <a:srgbClr val="A31515"/>
                </a:solidFill>
                <a:latin typeface="Courier New" pitchFamily="34" charset="0"/>
                <a:ea typeface="Courier New" pitchFamily="34" charset="-122"/>
                <a:cs typeface="Courier New" pitchFamily="34" charset="-120"/>
              </a:rPr>
              <a:t>"central"</a:t>
            </a:r>
            <a:pPr indent="0" marL="0">
              <a:buNone/>
            </a:pPr>
            <a:r>
              <a:rPr lang="en-US" sz="1100" dirty="0">
                <a:solidFill>
                  <a:srgbClr val="202124"/>
                </a:solidFill>
                <a:latin typeface="Courier New" pitchFamily="34" charset="0"/>
                <a:ea typeface="Courier New" pitchFamily="34" charset="-122"/>
                <a:cs typeface="Courier New" pitchFamily="34" charset="-120"/>
              </a:rPr>
              <a:t>, how=como_unir)</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print(</a:t>
            </a:r>
            <a:pPr indent="0" marL="0">
              <a:buNone/>
            </a:pPr>
            <a:r>
              <a:rPr lang="en-US" sz="1100" dirty="0">
                <a:solidFill>
                  <a:srgbClr val="A31515"/>
                </a:solidFill>
                <a:latin typeface="Courier New" pitchFamily="34" charset="0"/>
                <a:ea typeface="Courier New" pitchFamily="34" charset="-122"/>
                <a:cs typeface="Courier New" pitchFamily="34" charset="-120"/>
              </a:rPr>
              <a:t>"Generación real del día"</a:t>
            </a:r>
            <a:pPr indent="0" marL="0">
              <a:buNone/>
            </a:pPr>
            <a:r>
              <a:rPr lang="en-US" sz="1100" dirty="0">
                <a:solidFill>
                  <a:srgbClr val="202124"/>
                </a:solidFill>
                <a:latin typeface="Courier New" pitchFamily="34" charset="0"/>
                <a:ea typeface="Courier New" pitchFamily="34" charset="-122"/>
                <a:cs typeface="Courier New" pitchFamily="34" charset="-120"/>
              </a:rPr>
              <a:t>, round(un_dia[</a:t>
            </a:r>
            <a:pPr indent="0" marL="0">
              <a:buNone/>
            </a:pPr>
            <a:r>
              <a:rPr lang="en-US" sz="1100" dirty="0">
                <a:solidFill>
                  <a:srgbClr val="A31515"/>
                </a:solidFill>
                <a:latin typeface="Courier New" pitchFamily="34" charset="0"/>
                <a:ea typeface="Courier New" pitchFamily="34" charset="-122"/>
                <a:cs typeface="Courier New" pitchFamily="34" charset="-120"/>
              </a:rPr>
              <a:t>"mwh"</a:t>
            </a:r>
            <a:pPr indent="0" marL="0">
              <a:buNone/>
            </a:pPr>
            <a:r>
              <a:rPr lang="en-US" sz="1100" dirty="0">
                <a:solidFill>
                  <a:srgbClr val="202124"/>
                </a:solidFill>
                <a:latin typeface="Courier New" pitchFamily="34" charset="0"/>
                <a:ea typeface="Courier New" pitchFamily="34" charset="-122"/>
                <a:cs typeface="Courier New" pitchFamily="34" charset="-120"/>
              </a:rPr>
              <a:t>].sum(), 1), </a:t>
            </a:r>
            <a:pPr indent="0" marL="0">
              <a:buNone/>
            </a:pPr>
            <a:r>
              <a:rPr lang="en-US" sz="1100" dirty="0">
                <a:solidFill>
                  <a:srgbClr val="A31515"/>
                </a:solidFill>
                <a:latin typeface="Courier New" pitchFamily="34" charset="0"/>
                <a:ea typeface="Courier New" pitchFamily="34" charset="-122"/>
                <a:cs typeface="Courier New" pitchFamily="34" charset="-120"/>
              </a:rPr>
              <a:t>"MWh"</a:t>
            </a:r>
            <a:pPr indent="0" marL="0">
              <a:buNone/>
            </a:pPr>
            <a:r>
              <a:rPr lang="en-US" sz="1100" dirty="0">
                <a:solidFill>
                  <a:srgbClr val="202124"/>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print(</a:t>
            </a:r>
            <a:pPr indent="0" marL="0">
              <a:buNone/>
            </a:pPr>
            <a:r>
              <a:rPr lang="en-US" sz="1100" dirty="0">
                <a:solidFill>
                  <a:srgbClr val="A31515"/>
                </a:solidFill>
                <a:latin typeface="Courier New" pitchFamily="34" charset="0"/>
                <a:ea typeface="Courier New" pitchFamily="34" charset="-122"/>
                <a:cs typeface="Courier New" pitchFamily="34" charset="-120"/>
              </a:rPr>
              <a:t>"Generación unida       "</a:t>
            </a:r>
            <a:pPr indent="0" marL="0">
              <a:buNone/>
            </a:pPr>
            <a:r>
              <a:rPr lang="en-US" sz="1100" dirty="0">
                <a:solidFill>
                  <a:srgbClr val="202124"/>
                </a:solidFill>
                <a:latin typeface="Courier New" pitchFamily="34" charset="0"/>
                <a:ea typeface="Courier New" pitchFamily="34" charset="-122"/>
                <a:cs typeface="Courier New" pitchFamily="34" charset="-120"/>
              </a:rPr>
              <a:t>, round(unido[</a:t>
            </a:r>
            <a:pPr indent="0" marL="0">
              <a:buNone/>
            </a:pPr>
            <a:r>
              <a:rPr lang="en-US" sz="1100" dirty="0">
                <a:solidFill>
                  <a:srgbClr val="A31515"/>
                </a:solidFill>
                <a:latin typeface="Courier New" pitchFamily="34" charset="0"/>
                <a:ea typeface="Courier New" pitchFamily="34" charset="-122"/>
                <a:cs typeface="Courier New" pitchFamily="34" charset="-120"/>
              </a:rPr>
              <a:t>"mwh"</a:t>
            </a:r>
            <a:pPr indent="0" marL="0">
              <a:buNone/>
            </a:pPr>
            <a:r>
              <a:rPr lang="en-US" sz="1100" dirty="0">
                <a:solidFill>
                  <a:srgbClr val="202124"/>
                </a:solidFill>
                <a:latin typeface="Courier New" pitchFamily="34" charset="0"/>
                <a:ea typeface="Courier New" pitchFamily="34" charset="-122"/>
                <a:cs typeface="Courier New" pitchFamily="34" charset="-120"/>
              </a:rPr>
              <a:t>].sum(), 1), </a:t>
            </a:r>
            <a:pPr indent="0" marL="0">
              <a:buNone/>
            </a:pPr>
            <a:r>
              <a:rPr lang="en-US" sz="1100" dirty="0">
                <a:solidFill>
                  <a:srgbClr val="A31515"/>
                </a:solidFill>
                <a:latin typeface="Courier New" pitchFamily="34" charset="0"/>
                <a:ea typeface="Courier New" pitchFamily="34" charset="-122"/>
                <a:cs typeface="Courier New" pitchFamily="34" charset="-120"/>
              </a:rPr>
              <a:t>"MWh"</a:t>
            </a:r>
            <a:pPr indent="0" marL="0">
              <a:buNone/>
            </a:pPr>
            <a:r>
              <a:rPr lang="en-US" sz="1100" dirty="0">
                <a:solidFill>
                  <a:srgbClr val="202124"/>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print()</a:t>
            </a:r>
            <a:endParaRPr lang="en-US" sz="1100" dirty="0"/>
          </a:p>
          <a:p>
            <a:pPr indent="0" marL="0">
              <a:buNone/>
            </a:pPr>
            <a:r>
              <a:rPr lang="en-US" sz="1100" i="1" dirty="0">
                <a:solidFill>
                  <a:srgbClr val="188038"/>
                </a:solidFill>
                <a:latin typeface="Courier New" pitchFamily="34" charset="0"/>
                <a:ea typeface="Courier New" pitchFamily="34" charset="-122"/>
                <a:cs typeface="Courier New" pitchFamily="34" charset="-120"/>
              </a:rPr>
              <a:t># Las centrales sin ficha quedan agrupadas como "sin ficha".</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unido_con_ficha = unido.fillna({</a:t>
            </a:r>
            <a:pPr indent="0" marL="0">
              <a:buNone/>
            </a:pPr>
            <a:r>
              <a:rPr lang="en-US" sz="1100" dirty="0">
                <a:solidFill>
                  <a:srgbClr val="A31515"/>
                </a:solidFill>
                <a:latin typeface="Courier New" pitchFamily="34" charset="0"/>
                <a:ea typeface="Courier New" pitchFamily="34" charset="-122"/>
                <a:cs typeface="Courier New" pitchFamily="34" charset="-120"/>
              </a:rPr>
              <a:t>"tecnologia"</a:t>
            </a:r>
            <a:pPr indent="0" marL="0">
              <a:buNone/>
            </a:pPr>
            <a:r>
              <a:rPr lang="en-US" sz="1100" dirty="0">
                <a:solidFill>
                  <a:srgbClr val="202124"/>
                </a:solidFill>
                <a:latin typeface="Courier New" pitchFamily="34" charset="0"/>
                <a:ea typeface="Courier New" pitchFamily="34" charset="-122"/>
                <a:cs typeface="Courier New" pitchFamily="34" charset="-120"/>
              </a:rPr>
              <a:t>: </a:t>
            </a:r>
            <a:pPr indent="0" marL="0">
              <a:buNone/>
            </a:pPr>
            <a:r>
              <a:rPr lang="en-US" sz="1100" dirty="0">
                <a:solidFill>
                  <a:srgbClr val="A31515"/>
                </a:solidFill>
                <a:latin typeface="Courier New" pitchFamily="34" charset="0"/>
                <a:ea typeface="Courier New" pitchFamily="34" charset="-122"/>
                <a:cs typeface="Courier New" pitchFamily="34" charset="-120"/>
              </a:rPr>
              <a:t>"sin ficha"</a:t>
            </a:r>
            <a:pPr indent="0" marL="0">
              <a:buNone/>
            </a:pPr>
            <a:r>
              <a:rPr lang="en-US" sz="1100" dirty="0">
                <a:solidFill>
                  <a:srgbClr val="202124"/>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por_tecnologia = unido_con_ficha.groupby(</a:t>
            </a:r>
            <a:pPr indent="0" marL="0">
              <a:buNone/>
            </a:pPr>
            <a:r>
              <a:rPr lang="en-US" sz="1100" dirty="0">
                <a:solidFill>
                  <a:srgbClr val="A31515"/>
                </a:solidFill>
                <a:latin typeface="Courier New" pitchFamily="34" charset="0"/>
                <a:ea typeface="Courier New" pitchFamily="34" charset="-122"/>
                <a:cs typeface="Courier New" pitchFamily="34" charset="-120"/>
              </a:rPr>
              <a:t>"tecnologia"</a:t>
            </a:r>
            <a:pPr indent="0" marL="0">
              <a:buNone/>
            </a:pPr>
            <a:r>
              <a:rPr lang="en-US" sz="1100" dirty="0">
                <a:solidFill>
                  <a:srgbClr val="202124"/>
                </a:solidFill>
                <a:latin typeface="Courier New" pitchFamily="34" charset="0"/>
                <a:ea typeface="Courier New" pitchFamily="34" charset="-122"/>
                <a:cs typeface="Courier New" pitchFamily="34" charset="-120"/>
              </a:rPr>
              <a:t>)[</a:t>
            </a:r>
            <a:pPr indent="0" marL="0">
              <a:buNone/>
            </a:pPr>
            <a:r>
              <a:rPr lang="en-US" sz="1100" dirty="0">
                <a:solidFill>
                  <a:srgbClr val="A31515"/>
                </a:solidFill>
                <a:latin typeface="Courier New" pitchFamily="34" charset="0"/>
                <a:ea typeface="Courier New" pitchFamily="34" charset="-122"/>
                <a:cs typeface="Courier New" pitchFamily="34" charset="-120"/>
              </a:rPr>
              <a:t>"mwh"</a:t>
            </a:r>
            <a:pPr indent="0" marL="0">
              <a:buNone/>
            </a:pPr>
            <a:r>
              <a:rPr lang="en-US" sz="1100" dirty="0">
                <a:solidFill>
                  <a:srgbClr val="202124"/>
                </a:solidFill>
                <a:latin typeface="Courier New" pitchFamily="34" charset="0"/>
                <a:ea typeface="Courier New" pitchFamily="34" charset="-122"/>
                <a:cs typeface="Courier New" pitchFamily="34" charset="-120"/>
              </a:rPr>
              <a:t>].sum().round(1)</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print(por_tecnologia.sort_values(ascending=False))</a:t>
            </a:r>
            <a:endParaRPr lang="en-US" sz="1100" dirty="0"/>
          </a:p>
        </p:txBody>
      </p:sp>
      <p:sp>
        <p:nvSpPr>
          <p:cNvPr id="11" name="Text 8"/>
          <p:cNvSpPr txBox="1"/>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como_unir</a:t>
            </a:r>
            <a:endParaRPr lang="en-US" sz="1100" dirty="0"/>
          </a:p>
        </p:txBody>
      </p:sp>
      <p:sp>
        <p:nvSpPr>
          <p:cNvPr id="12" name="Shape 9"/>
          <p:cNvSpPr/>
          <p:nvPr/>
        </p:nvSpPr>
        <p:spPr>
          <a:xfrm>
            <a:off x="8823960" y="1874520"/>
            <a:ext cx="2651760" cy="347472"/>
          </a:xfrm>
          <a:prstGeom prst="rect">
            <a:avLst/>
          </a:prstGeom>
          <a:solidFill>
            <a:srgbClr val="FFFFFF"/>
          </a:solidFill>
          <a:ln w="12700">
            <a:solidFill>
              <a:srgbClr val="9AA0A6"/>
            </a:solidFill>
            <a:prstDash val="solid"/>
          </a:ln>
        </p:spPr>
      </p:sp>
      <p:sp>
        <p:nvSpPr>
          <p:cNvPr id="13" name="Text 10"/>
          <p:cNvSpPr txBox="1"/>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inner</a:t>
            </a:r>
            <a:endParaRPr lang="en-US" sz="1200" dirty="0"/>
          </a:p>
        </p:txBody>
      </p:sp>
      <p:sp>
        <p:nvSpPr>
          <p:cNvPr id="14"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5" name="Text 12"/>
          <p:cNvSpPr txBox="1"/>
          <p:nvPr/>
        </p:nvSpPr>
        <p:spPr>
          <a:xfrm>
            <a:off x="1325880" y="5093208"/>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6" name="Text 13"/>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7" name="Shape 14"/>
          <p:cNvSpPr/>
          <p:nvPr/>
        </p:nvSpPr>
        <p:spPr>
          <a:xfrm>
            <a:off x="548640" y="6062472"/>
            <a:ext cx="1810512"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640080"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generacion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175680 × 4</a:t>
            </a:r>
            <a:endParaRPr lang="en-US" sz="1200" dirty="0"/>
          </a:p>
        </p:txBody>
      </p:sp>
      <p:sp>
        <p:nvSpPr>
          <p:cNvPr id="19" name="Shape 16"/>
          <p:cNvSpPr/>
          <p:nvPr/>
        </p:nvSpPr>
        <p:spPr>
          <a:xfrm>
            <a:off x="2496312" y="6062472"/>
            <a:ext cx="1330452"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2587752"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filtradas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5 × 5</a:t>
            </a:r>
            <a:endParaRPr lang="en-US" sz="1200" dirty="0"/>
          </a:p>
        </p:txBody>
      </p:sp>
      <p:sp>
        <p:nvSpPr>
          <p:cNvPr id="21" name="Shape 18"/>
          <p:cNvSpPr/>
          <p:nvPr/>
        </p:nvSpPr>
        <p:spPr>
          <a:xfrm>
            <a:off x="3963924" y="6062472"/>
            <a:ext cx="1234440" cy="566928"/>
          </a:xfrm>
          <a:prstGeom prst="roundRect">
            <a:avLst>
              <a:gd name="adj" fmla="val 11290"/>
            </a:avLst>
          </a:prstGeom>
          <a:solidFill>
            <a:srgbClr val="F1F3F4"/>
          </a:solidFill>
          <a:ln w="12700">
            <a:solidFill>
              <a:srgbClr val="DADCE0"/>
            </a:solidFill>
            <a:prstDash val="solid"/>
          </a:ln>
        </p:spPr>
      </p:sp>
      <p:sp>
        <p:nvSpPr>
          <p:cNvPr id="22" name="Text 19"/>
          <p:cNvSpPr txBox="1"/>
          <p:nvPr/>
        </p:nvSpPr>
        <p:spPr>
          <a:xfrm>
            <a:off x="4055364" y="6071616"/>
            <a:ext cx="109728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tecnologia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"solar"</a:t>
            </a:r>
            <a:endParaRPr lang="en-US" sz="1200" dirty="0"/>
          </a:p>
        </p:txBody>
      </p:sp>
      <p:sp>
        <p:nvSpPr>
          <p:cNvPr id="23" name="Shape 20"/>
          <p:cNvSpPr/>
          <p:nvPr/>
        </p:nvSpPr>
        <p:spPr>
          <a:xfrm>
            <a:off x="5335524" y="6062472"/>
            <a:ext cx="1426464" cy="566928"/>
          </a:xfrm>
          <a:prstGeom prst="roundRect">
            <a:avLst>
              <a:gd name="adj" fmla="val 11290"/>
            </a:avLst>
          </a:prstGeom>
          <a:solidFill>
            <a:srgbClr val="F1F3F4"/>
          </a:solidFill>
          <a:ln w="12700">
            <a:solidFill>
              <a:srgbClr val="DADCE0"/>
            </a:solidFill>
            <a:prstDash val="solid"/>
          </a:ln>
        </p:spPr>
      </p:sp>
      <p:sp>
        <p:nvSpPr>
          <p:cNvPr id="24" name="Text 21"/>
          <p:cNvSpPr txBox="1"/>
          <p:nvPr/>
        </p:nvSpPr>
        <p:spPr>
          <a:xfrm>
            <a:off x="5426964"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centrales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20 × 5</a:t>
            </a:r>
            <a:endParaRPr lang="en-US" sz="1200" dirty="0"/>
          </a:p>
        </p:txBody>
      </p:sp>
      <p:sp>
        <p:nvSpPr>
          <p:cNvPr id="25" name="Shape 22"/>
          <p:cNvSpPr/>
          <p:nvPr/>
        </p:nvSpPr>
        <p:spPr>
          <a:xfrm>
            <a:off x="6899148" y="6062472"/>
            <a:ext cx="1143000" cy="566928"/>
          </a:xfrm>
          <a:prstGeom prst="roundRect">
            <a:avLst>
              <a:gd name="adj" fmla="val 11290"/>
            </a:avLst>
          </a:prstGeom>
          <a:solidFill>
            <a:srgbClr val="F1F3F4"/>
          </a:solidFill>
          <a:ln w="12700">
            <a:solidFill>
              <a:srgbClr val="DADCE0"/>
            </a:solidFill>
            <a:prstDash val="solid"/>
          </a:ln>
        </p:spPr>
      </p:sp>
      <p:sp>
        <p:nvSpPr>
          <p:cNvPr id="26" name="Text 23"/>
          <p:cNvSpPr txBox="1"/>
          <p:nvPr/>
        </p:nvSpPr>
        <p:spPr>
          <a:xfrm>
            <a:off x="6990588"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27" name="Text 24"/>
          <p:cNvSpPr txBox="1"/>
          <p:nvPr/>
        </p:nvSpPr>
        <p:spPr>
          <a:xfrm>
            <a:off x="8179308"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 más</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4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une generación con fichas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fichas = centrales[~centrales[</a:t>
            </a:r>
            <a:pPr indent="0" marL="0">
              <a:buNone/>
            </a:pPr>
            <a:r>
              <a:rPr lang="en-US" sz="1600" dirty="0">
                <a:solidFill>
                  <a:srgbClr val="A31515"/>
                </a:solidFill>
                <a:latin typeface="Courier New" pitchFamily="34" charset="0"/>
                <a:ea typeface="Courier New" pitchFamily="34" charset="-122"/>
                <a:cs typeface="Courier New" pitchFamily="34" charset="-120"/>
              </a:rPr>
              <a:t>"central"</a:t>
            </a:r>
            <a:pPr indent="0" marL="0">
              <a:buNone/>
            </a:pPr>
            <a:r>
              <a:rPr lang="en-US" sz="1600" dirty="0">
                <a:solidFill>
                  <a:srgbClr val="202124"/>
                </a:solidFill>
                <a:latin typeface="Courier New" pitchFamily="34" charset="0"/>
                <a:ea typeface="Courier New" pitchFamily="34" charset="-122"/>
                <a:cs typeface="Courier New" pitchFamily="34" charset="-120"/>
              </a:rPr>
              <a:t>].isin(sin_ficha)]</a:t>
            </a:r>
            <a:endParaRPr lang="en-US" sz="1600" dirty="0"/>
          </a:p>
        </p:txBody>
      </p:sp>
      <p:sp>
        <p:nvSpPr>
          <p:cNvPr id="8" name="Shape 6"/>
          <p:cNvSpPr/>
          <p:nvPr/>
        </p:nvSpPr>
        <p:spPr>
          <a:xfrm>
            <a:off x="548640" y="2375408"/>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7540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640080"/>
          </a:xfrm>
          <a:prstGeom prst="roundRect">
            <a:avLst>
              <a:gd name="adj" fmla="val 7143"/>
            </a:avLst>
          </a:prstGeom>
          <a:solidFill>
            <a:srgbClr val="DBE9FB"/>
          </a:solidFill>
          <a:ln w="12700">
            <a:solidFill>
              <a:srgbClr val="DBE9FB"/>
            </a:solidFill>
            <a:prstDash val="solid"/>
          </a:ln>
        </p:spPr>
      </p:sp>
      <p:sp>
        <p:nvSpPr>
          <p:cNvPr id="11" name="Text 9"/>
          <p:cNvSpPr txBox="1"/>
          <p:nvPr/>
        </p:nvSpPr>
        <p:spPr>
          <a:xfrm>
            <a:off x="1170432" y="2219960"/>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centrales["central"].isin(sin_ficha)</a:t>
            </a:r>
            <a:endParaRPr lang="en-US" sz="1400" dirty="0"/>
          </a:p>
        </p:txBody>
      </p:sp>
      <p:sp>
        <p:nvSpPr>
          <p:cNvPr id="12" name="Text 10"/>
          <p:cNvSpPr txBox="1"/>
          <p:nvPr/>
        </p:nvSpPr>
        <p:spPr>
          <a:xfrm>
            <a:off x="6263640" y="2219960"/>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Pregunta, fila por fila, si la central está en la lista sin_ficha. Verdadero o falso.</a:t>
            </a:r>
            <a:endParaRPr lang="en-US" sz="1600" dirty="0"/>
          </a:p>
        </p:txBody>
      </p:sp>
      <p:sp>
        <p:nvSpPr>
          <p:cNvPr id="13" name="Shape 11"/>
          <p:cNvSpPr/>
          <p:nvPr/>
        </p:nvSpPr>
        <p:spPr>
          <a:xfrm>
            <a:off x="548640" y="3106928"/>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31069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951480"/>
            <a:ext cx="4937760" cy="640080"/>
          </a:xfrm>
          <a:prstGeom prst="roundRect">
            <a:avLst>
              <a:gd name="adj" fmla="val 7143"/>
            </a:avLst>
          </a:prstGeom>
          <a:solidFill>
            <a:srgbClr val="DCEFE0"/>
          </a:solidFill>
          <a:ln w="12700">
            <a:solidFill>
              <a:srgbClr val="DCEFE0"/>
            </a:solidFill>
            <a:prstDash val="solid"/>
          </a:ln>
        </p:spPr>
      </p:sp>
      <p:sp>
        <p:nvSpPr>
          <p:cNvPr id="16" name="Text 14"/>
          <p:cNvSpPr txBox="1"/>
          <p:nvPr/>
        </p:nvSpPr>
        <p:spPr>
          <a:xfrm>
            <a:off x="1170432" y="2951480"/>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a:t>
            </a:r>
            <a:endParaRPr lang="en-US" sz="1400" dirty="0"/>
          </a:p>
        </p:txBody>
      </p:sp>
      <p:sp>
        <p:nvSpPr>
          <p:cNvPr id="17" name="Text 15"/>
          <p:cNvSpPr txBox="1"/>
          <p:nvPr/>
        </p:nvSpPr>
        <p:spPr>
          <a:xfrm>
            <a:off x="6263640" y="2951480"/>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La virgulilla invierte. Lo verdadero pasa a falso y al revés.</a:t>
            </a:r>
            <a:endParaRPr lang="en-US" sz="1600" dirty="0"/>
          </a:p>
        </p:txBody>
      </p:sp>
      <p:sp>
        <p:nvSpPr>
          <p:cNvPr id="18" name="Shape 16"/>
          <p:cNvSpPr/>
          <p:nvPr/>
        </p:nvSpPr>
        <p:spPr>
          <a:xfrm>
            <a:off x="548640" y="3838448"/>
            <a:ext cx="329184" cy="329184"/>
          </a:xfrm>
          <a:prstGeom prst="ellipse">
            <a:avLst/>
          </a:prstGeom>
          <a:solidFill>
            <a:srgbClr val="B07D00"/>
          </a:solidFill>
          <a:ln w="12700">
            <a:solidFill>
              <a:srgbClr val="B07D00"/>
            </a:solidFill>
            <a:prstDash val="solid"/>
          </a:ln>
        </p:spPr>
      </p:sp>
      <p:sp>
        <p:nvSpPr>
          <p:cNvPr id="19" name="Text 17"/>
          <p:cNvSpPr txBox="1"/>
          <p:nvPr/>
        </p:nvSpPr>
        <p:spPr>
          <a:xfrm>
            <a:off x="548640" y="383844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683000"/>
            <a:ext cx="4937760" cy="640080"/>
          </a:xfrm>
          <a:prstGeom prst="roundRect">
            <a:avLst>
              <a:gd name="adj" fmla="val 7143"/>
            </a:avLst>
          </a:prstGeom>
          <a:solidFill>
            <a:srgbClr val="FDF0C8"/>
          </a:solidFill>
          <a:ln w="12700">
            <a:solidFill>
              <a:srgbClr val="FDF0C8"/>
            </a:solidFill>
            <a:prstDash val="solid"/>
          </a:ln>
        </p:spPr>
      </p:sp>
      <p:sp>
        <p:nvSpPr>
          <p:cNvPr id="21" name="Text 19"/>
          <p:cNvSpPr txBox="1"/>
          <p:nvPr/>
        </p:nvSpPr>
        <p:spPr>
          <a:xfrm>
            <a:off x="1170432" y="3683000"/>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centrales[ ... ]</a:t>
            </a:r>
            <a:endParaRPr lang="en-US" sz="1400" dirty="0"/>
          </a:p>
        </p:txBody>
      </p:sp>
      <p:sp>
        <p:nvSpPr>
          <p:cNvPr id="22" name="Text 20"/>
          <p:cNvSpPr txBox="1"/>
          <p:nvPr/>
        </p:nvSpPr>
        <p:spPr>
          <a:xfrm>
            <a:off x="6263640" y="3683000"/>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Deja pasar las filas con verdadero, o sea las que no están en la lista.</a:t>
            </a:r>
            <a:endParaRPr lang="en-US" sz="1600" dirty="0"/>
          </a:p>
        </p:txBody>
      </p:sp>
      <p:sp>
        <p:nvSpPr>
          <p:cNvPr id="23" name="Shape 21"/>
          <p:cNvSpPr/>
          <p:nvPr/>
        </p:nvSpPr>
        <p:spPr>
          <a:xfrm>
            <a:off x="548640" y="5989320"/>
            <a:ext cx="73152" cy="548640"/>
          </a:xfrm>
          <a:prstGeom prst="rect">
            <a:avLst/>
          </a:prstGeom>
          <a:solidFill>
            <a:srgbClr val="0B3D62"/>
          </a:solidFill>
          <a:ln w="12700">
            <a:solidFill>
              <a:srgbClr val="0B3D62"/>
            </a:solidFill>
            <a:prstDash val="solid"/>
          </a:ln>
        </p:spPr>
      </p:sp>
      <p:sp>
        <p:nvSpPr>
          <p:cNvPr id="24" name="Text 22"/>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fichas son las centrales que no están en la lista sin_ficha.</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4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une generación con fichas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unido = pd.merge(un_dia, fichas, on=</a:t>
            </a:r>
            <a:pPr indent="0" marL="0">
              <a:buNone/>
            </a:pPr>
            <a:r>
              <a:rPr lang="en-US" sz="1600" dirty="0">
                <a:solidFill>
                  <a:srgbClr val="A31515"/>
                </a:solidFill>
                <a:latin typeface="Courier New" pitchFamily="34" charset="0"/>
                <a:ea typeface="Courier New" pitchFamily="34" charset="-122"/>
                <a:cs typeface="Courier New" pitchFamily="34" charset="-120"/>
              </a:rPr>
              <a:t>"central"</a:t>
            </a:r>
            <a:pPr indent="0" marL="0">
              <a:buNone/>
            </a:pPr>
            <a:r>
              <a:rPr lang="en-US" sz="1600" dirty="0">
                <a:solidFill>
                  <a:srgbClr val="202124"/>
                </a:solidFill>
                <a:latin typeface="Courier New" pitchFamily="34" charset="0"/>
                <a:ea typeface="Courier New" pitchFamily="34" charset="-122"/>
                <a:cs typeface="Courier New" pitchFamily="34" charset="-120"/>
              </a:rPr>
              <a:t>, how=como_unir)</a:t>
            </a:r>
            <a:endParaRPr lang="en-US" sz="1600" dirty="0"/>
          </a:p>
        </p:txBody>
      </p:sp>
      <p:sp>
        <p:nvSpPr>
          <p:cNvPr id="8" name="Shape 6"/>
          <p:cNvSpPr/>
          <p:nvPr/>
        </p:nvSpPr>
        <p:spPr>
          <a:xfrm>
            <a:off x="548640" y="2375408"/>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7540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640080"/>
          </a:xfrm>
          <a:prstGeom prst="roundRect">
            <a:avLst>
              <a:gd name="adj" fmla="val 7143"/>
            </a:avLst>
          </a:prstGeom>
          <a:solidFill>
            <a:srgbClr val="DBE9FB"/>
          </a:solidFill>
          <a:ln w="12700">
            <a:solidFill>
              <a:srgbClr val="DBE9FB"/>
            </a:solidFill>
            <a:prstDash val="solid"/>
          </a:ln>
        </p:spPr>
      </p:sp>
      <p:sp>
        <p:nvSpPr>
          <p:cNvPr id="11" name="Text 9"/>
          <p:cNvSpPr txBox="1"/>
          <p:nvPr/>
        </p:nvSpPr>
        <p:spPr>
          <a:xfrm>
            <a:off x="1170432" y="2219960"/>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pd.merge(un_dia, fichas, ...)</a:t>
            </a:r>
            <a:endParaRPr lang="en-US" sz="1400" dirty="0"/>
          </a:p>
        </p:txBody>
      </p:sp>
      <p:sp>
        <p:nvSpPr>
          <p:cNvPr id="12" name="Text 10"/>
          <p:cNvSpPr txBox="1"/>
          <p:nvPr/>
        </p:nvSpPr>
        <p:spPr>
          <a:xfrm>
            <a:off x="6263640" y="2219960"/>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Une dos tablas, la de la izquierda y la de la derecha.</a:t>
            </a:r>
            <a:endParaRPr lang="en-US" sz="1600" dirty="0"/>
          </a:p>
        </p:txBody>
      </p:sp>
      <p:sp>
        <p:nvSpPr>
          <p:cNvPr id="13" name="Shape 11"/>
          <p:cNvSpPr/>
          <p:nvPr/>
        </p:nvSpPr>
        <p:spPr>
          <a:xfrm>
            <a:off x="548640" y="3106928"/>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31069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951480"/>
            <a:ext cx="4937760" cy="640080"/>
          </a:xfrm>
          <a:prstGeom prst="roundRect">
            <a:avLst>
              <a:gd name="adj" fmla="val 7143"/>
            </a:avLst>
          </a:prstGeom>
          <a:solidFill>
            <a:srgbClr val="DCEFE0"/>
          </a:solidFill>
          <a:ln w="12700">
            <a:solidFill>
              <a:srgbClr val="DCEFE0"/>
            </a:solidFill>
            <a:prstDash val="solid"/>
          </a:ln>
        </p:spPr>
      </p:sp>
      <p:sp>
        <p:nvSpPr>
          <p:cNvPr id="16" name="Text 14"/>
          <p:cNvSpPr txBox="1"/>
          <p:nvPr/>
        </p:nvSpPr>
        <p:spPr>
          <a:xfrm>
            <a:off x="1170432" y="2951480"/>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on="central"</a:t>
            </a:r>
            <a:endParaRPr lang="en-US" sz="1400" dirty="0"/>
          </a:p>
        </p:txBody>
      </p:sp>
      <p:sp>
        <p:nvSpPr>
          <p:cNvPr id="17" name="Text 15"/>
          <p:cNvSpPr txBox="1"/>
          <p:nvPr/>
        </p:nvSpPr>
        <p:spPr>
          <a:xfrm>
            <a:off x="6263640" y="2951480"/>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La columna que tienen en común y que se usa para buscar la pareja. Como el BUSCARV.</a:t>
            </a:r>
            <a:endParaRPr lang="en-US" sz="1600" dirty="0"/>
          </a:p>
        </p:txBody>
      </p:sp>
      <p:sp>
        <p:nvSpPr>
          <p:cNvPr id="18" name="Shape 16"/>
          <p:cNvSpPr/>
          <p:nvPr/>
        </p:nvSpPr>
        <p:spPr>
          <a:xfrm>
            <a:off x="548640" y="3838448"/>
            <a:ext cx="329184" cy="329184"/>
          </a:xfrm>
          <a:prstGeom prst="ellipse">
            <a:avLst/>
          </a:prstGeom>
          <a:solidFill>
            <a:srgbClr val="B07D00"/>
          </a:solidFill>
          <a:ln w="12700">
            <a:solidFill>
              <a:srgbClr val="B07D00"/>
            </a:solidFill>
            <a:prstDash val="solid"/>
          </a:ln>
        </p:spPr>
      </p:sp>
      <p:sp>
        <p:nvSpPr>
          <p:cNvPr id="19" name="Text 17"/>
          <p:cNvSpPr txBox="1"/>
          <p:nvPr/>
        </p:nvSpPr>
        <p:spPr>
          <a:xfrm>
            <a:off x="548640" y="383844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683000"/>
            <a:ext cx="4937760" cy="640080"/>
          </a:xfrm>
          <a:prstGeom prst="roundRect">
            <a:avLst>
              <a:gd name="adj" fmla="val 7143"/>
            </a:avLst>
          </a:prstGeom>
          <a:solidFill>
            <a:srgbClr val="FDF0C8"/>
          </a:solidFill>
          <a:ln w="12700">
            <a:solidFill>
              <a:srgbClr val="FDF0C8"/>
            </a:solidFill>
            <a:prstDash val="solid"/>
          </a:ln>
        </p:spPr>
      </p:sp>
      <p:sp>
        <p:nvSpPr>
          <p:cNvPr id="21" name="Text 19"/>
          <p:cNvSpPr txBox="1"/>
          <p:nvPr/>
        </p:nvSpPr>
        <p:spPr>
          <a:xfrm>
            <a:off x="1170432" y="3683000"/>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how=como_unir</a:t>
            </a:r>
            <a:endParaRPr lang="en-US" sz="1400" dirty="0"/>
          </a:p>
        </p:txBody>
      </p:sp>
      <p:sp>
        <p:nvSpPr>
          <p:cNvPr id="22" name="Text 20"/>
          <p:cNvSpPr txBox="1"/>
          <p:nvPr/>
        </p:nvSpPr>
        <p:spPr>
          <a:xfrm>
            <a:off x="6263640" y="3683000"/>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Qué hacer con las filas sin pareja. inner las bota, left conserva todas las de la izquierda.</a:t>
            </a:r>
            <a:endParaRPr lang="en-US" sz="1600" dirty="0"/>
          </a:p>
        </p:txBody>
      </p:sp>
      <p:sp>
        <p:nvSpPr>
          <p:cNvPr id="23" name="Shape 21"/>
          <p:cNvSpPr/>
          <p:nvPr/>
        </p:nvSpPr>
        <p:spPr>
          <a:xfrm>
            <a:off x="548640" y="5989320"/>
            <a:ext cx="73152" cy="548640"/>
          </a:xfrm>
          <a:prstGeom prst="rect">
            <a:avLst/>
          </a:prstGeom>
          <a:solidFill>
            <a:srgbClr val="0B3D62"/>
          </a:solidFill>
          <a:ln w="12700">
            <a:solidFill>
              <a:srgbClr val="0B3D62"/>
            </a:solidFill>
            <a:prstDash val="solid"/>
          </a:ln>
        </p:spPr>
      </p:sp>
      <p:sp>
        <p:nvSpPr>
          <p:cNvPr id="24" name="Text 22"/>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une la generación del día con las fichas usando la central, de la forma elegida.</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4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une generación con fichas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Elige cómo unir en la lista y vuelve a correr la celda. Compara la generación real con la unida.</a:t>
            </a:r>
            <a:endParaRPr lang="en-US" sz="1400" dirty="0"/>
          </a:p>
        </p:txBody>
      </p:sp>
      <p:sp>
        <p:nvSpPr>
          <p:cNvPr id="6" name="Text 4"/>
          <p:cNvSpPr txBox="1"/>
          <p:nvPr/>
        </p:nvSpPr>
        <p:spPr>
          <a:xfrm>
            <a:off x="548640" y="1481328"/>
            <a:ext cx="5486400" cy="274320"/>
          </a:xfrm>
          <a:prstGeom prst="rect">
            <a:avLst/>
          </a:prstGeom>
          <a:noFill/>
          <a:ln/>
        </p:spPr>
        <p:txBody>
          <a:bodyPr wrap="square" lIns="0" tIns="0" rIns="0" bIns="0" rtlCol="0" anchor="ctr"/>
          <a:lstStyle/>
          <a:p>
            <a:pPr indent="0" marL="0">
              <a:buNone/>
            </a:pPr>
            <a:r>
              <a:rPr lang="en-US" sz="1300" b="1" dirty="0">
                <a:solidFill>
                  <a:srgbClr val="5F6368"/>
                </a:solidFill>
                <a:latin typeface="Calibri" pitchFamily="34" charset="0"/>
                <a:ea typeface="Calibri" pitchFamily="34" charset="-122"/>
                <a:cs typeface="Calibri" pitchFamily="34" charset="-120"/>
              </a:rPr>
              <a:t>Respuesta de la celda</a:t>
            </a:r>
            <a:endParaRPr lang="en-US" sz="1300" dirty="0"/>
          </a:p>
        </p:txBody>
      </p:sp>
      <p:sp>
        <p:nvSpPr>
          <p:cNvPr id="7" name="Shape 5"/>
          <p:cNvSpPr/>
          <p:nvPr/>
        </p:nvSpPr>
        <p:spPr>
          <a:xfrm>
            <a:off x="1325880" y="1828800"/>
            <a:ext cx="10314432" cy="2194560"/>
          </a:xfrm>
          <a:prstGeom prst="rect">
            <a:avLst/>
          </a:prstGeom>
          <a:solidFill>
            <a:srgbClr val="FFFFFF"/>
          </a:solidFill>
          <a:ln w="12700">
            <a:solidFill>
              <a:srgbClr val="DADCE0"/>
            </a:solidFill>
            <a:prstDash val="solid"/>
          </a:ln>
        </p:spPr>
      </p:sp>
      <p:sp>
        <p:nvSpPr>
          <p:cNvPr id="8" name="Text 6"/>
          <p:cNvSpPr txBox="1"/>
          <p:nvPr/>
        </p:nvSpPr>
        <p:spPr>
          <a:xfrm>
            <a:off x="1463040" y="1901952"/>
            <a:ext cx="10085832" cy="2066544"/>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Generación real del día 52650.0 MWh</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Generación unida        50395.9 MWh</a:t>
            </a:r>
            <a:endParaRPr lang="en-US" sz="1200" dirty="0"/>
          </a:p>
          <a:p>
            <a:pPr indent="0" marL="0">
              <a:buNone/>
            </a:pP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tecnologia</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hidro     18782.7</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gas       13999.4</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carbon    12746.9</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eolica     3476.7</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solar      1390.1</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Name: mwh, dtype: float64</a:t>
            </a:r>
            <a:endParaRPr lang="en-US" sz="1200" dirty="0"/>
          </a:p>
        </p:txBody>
      </p:sp>
      <p:sp>
        <p:nvSpPr>
          <p:cNvPr id="10"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1" name="Shape 8"/>
          <p:cNvSpPr/>
          <p:nvPr/>
        </p:nvSpPr>
        <p:spPr>
          <a:xfrm>
            <a:off x="548640" y="6062472"/>
            <a:ext cx="1143000" cy="566928"/>
          </a:xfrm>
          <a:prstGeom prst="roundRect">
            <a:avLst>
              <a:gd name="adj" fmla="val 11290"/>
            </a:avLst>
          </a:prstGeom>
          <a:solidFill>
            <a:srgbClr val="E8F0FE"/>
          </a:solidFill>
          <a:ln w="28575">
            <a:solidFill>
              <a:srgbClr val="1A73E8"/>
            </a:solidFill>
            <a:prstDash val="solid"/>
          </a:ln>
        </p:spPr>
      </p:sp>
      <p:sp>
        <p:nvSpPr>
          <p:cNvPr id="12" name="Text 9"/>
          <p:cNvSpPr txBox="1"/>
          <p:nvPr/>
        </p:nvSpPr>
        <p:spPr>
          <a:xfrm>
            <a:off x="64008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3" name="Shape 10"/>
          <p:cNvSpPr/>
          <p:nvPr/>
        </p:nvSpPr>
        <p:spPr>
          <a:xfrm>
            <a:off x="1828800" y="6062472"/>
            <a:ext cx="1426464" cy="566928"/>
          </a:xfrm>
          <a:prstGeom prst="roundRect">
            <a:avLst>
              <a:gd name="adj" fmla="val 11290"/>
            </a:avLst>
          </a:prstGeom>
          <a:solidFill>
            <a:srgbClr val="E8F0FE"/>
          </a:solidFill>
          <a:ln w="28575">
            <a:solidFill>
              <a:srgbClr val="1A73E8"/>
            </a:solidFill>
            <a:prstDash val="solid"/>
          </a:ln>
        </p:spPr>
      </p:sp>
      <p:sp>
        <p:nvSpPr>
          <p:cNvPr id="14" name="Text 11"/>
          <p:cNvSpPr txBox="1"/>
          <p:nvPr/>
        </p:nvSpPr>
        <p:spPr>
          <a:xfrm>
            <a:off x="1920240"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centrales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20 × 5</a:t>
            </a:r>
            <a:endParaRPr lang="en-US" sz="1200" dirty="0"/>
          </a:p>
        </p:txBody>
      </p:sp>
      <p:sp>
        <p:nvSpPr>
          <p:cNvPr id="15" name="Shape 12"/>
          <p:cNvSpPr/>
          <p:nvPr/>
        </p:nvSpPr>
        <p:spPr>
          <a:xfrm>
            <a:off x="3392424" y="6062472"/>
            <a:ext cx="1810512" cy="566928"/>
          </a:xfrm>
          <a:prstGeom prst="roundRect">
            <a:avLst>
              <a:gd name="adj" fmla="val 11290"/>
            </a:avLst>
          </a:prstGeom>
          <a:solidFill>
            <a:srgbClr val="E8F0FE"/>
          </a:solidFill>
          <a:ln w="28575">
            <a:solidFill>
              <a:srgbClr val="1A73E8"/>
            </a:solidFill>
            <a:prstDash val="solid"/>
          </a:ln>
        </p:spPr>
      </p:sp>
      <p:sp>
        <p:nvSpPr>
          <p:cNvPr id="16" name="Text 13"/>
          <p:cNvSpPr txBox="1"/>
          <p:nvPr/>
        </p:nvSpPr>
        <p:spPr>
          <a:xfrm>
            <a:off x="3483864"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generacion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175680 × 4</a:t>
            </a:r>
            <a:endParaRPr lang="en-US" sz="1200" dirty="0"/>
          </a:p>
        </p:txBody>
      </p:sp>
      <p:sp>
        <p:nvSpPr>
          <p:cNvPr id="17" name="Shape 14"/>
          <p:cNvSpPr/>
          <p:nvPr/>
        </p:nvSpPr>
        <p:spPr>
          <a:xfrm>
            <a:off x="5340096" y="6062472"/>
            <a:ext cx="1143000" cy="566928"/>
          </a:xfrm>
          <a:prstGeom prst="roundRect">
            <a:avLst>
              <a:gd name="adj" fmla="val 11290"/>
            </a:avLst>
          </a:prstGeom>
          <a:solidFill>
            <a:srgbClr val="FEF3D6"/>
          </a:solidFill>
          <a:ln w="25400">
            <a:solidFill>
              <a:srgbClr val="F9AB00"/>
            </a:solidFill>
            <a:prstDash val="solid"/>
          </a:ln>
        </p:spPr>
      </p:sp>
      <p:sp>
        <p:nvSpPr>
          <p:cNvPr id="18" name="Text 15"/>
          <p:cNvSpPr txBox="1"/>
          <p:nvPr/>
        </p:nvSpPr>
        <p:spPr>
          <a:xfrm>
            <a:off x="5431536"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como_unir</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"inner"</a:t>
            </a:r>
            <a:endParaRPr lang="en-US" sz="1200" dirty="0"/>
          </a:p>
        </p:txBody>
      </p:sp>
      <p:sp>
        <p:nvSpPr>
          <p:cNvPr id="19" name="Shape 16"/>
          <p:cNvSpPr/>
          <p:nvPr/>
        </p:nvSpPr>
        <p:spPr>
          <a:xfrm>
            <a:off x="6620256" y="6062472"/>
            <a:ext cx="1522476" cy="566928"/>
          </a:xfrm>
          <a:prstGeom prst="roundRect">
            <a:avLst>
              <a:gd name="adj" fmla="val 11290"/>
            </a:avLst>
          </a:prstGeom>
          <a:solidFill>
            <a:srgbClr val="FEF3D6"/>
          </a:solidFill>
          <a:ln w="25400">
            <a:solidFill>
              <a:srgbClr val="F9AB00"/>
            </a:solidFill>
            <a:prstDash val="solid"/>
          </a:ln>
        </p:spPr>
      </p:sp>
      <p:sp>
        <p:nvSpPr>
          <p:cNvPr id="20" name="Text 17"/>
          <p:cNvSpPr txBox="1"/>
          <p:nvPr/>
        </p:nvSpPr>
        <p:spPr>
          <a:xfrm>
            <a:off x="6711696"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un_dia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480 × 4</a:t>
            </a:r>
            <a:endParaRPr lang="en-US" sz="1200" dirty="0"/>
          </a:p>
        </p:txBody>
      </p:sp>
      <p:sp>
        <p:nvSpPr>
          <p:cNvPr id="21" name="Text 18"/>
          <p:cNvSpPr txBox="1"/>
          <p:nvPr/>
        </p:nvSpPr>
        <p:spPr>
          <a:xfrm>
            <a:off x="8279892"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8 más</a:t>
            </a:r>
            <a:endParaRPr lang="en-US" sz="1200" dirty="0"/>
          </a:p>
        </p:txBody>
      </p:sp>
      <p:sp>
        <p:nvSpPr>
          <p:cNvPr id="22" name="Text 19"/>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Con inner se perdieron 2.254 MWh sin ningún aviso.</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4"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4 de 5</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une generación con fichas</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elige left en la lista y se vuelve a correr la celda.</a:t>
            </a:r>
            <a:endParaRPr lang="en-US" sz="1400" dirty="0"/>
          </a:p>
        </p:txBody>
      </p:sp>
      <p:sp>
        <p:nvSpPr>
          <p:cNvPr id="7" name="Shape 4"/>
          <p:cNvSpPr/>
          <p:nvPr/>
        </p:nvSpPr>
        <p:spPr>
          <a:xfrm>
            <a:off x="548640" y="1481328"/>
            <a:ext cx="11091672" cy="3575304"/>
          </a:xfrm>
          <a:prstGeom prst="roundRect">
            <a:avLst>
              <a:gd name="adj" fmla="val 1535"/>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7360920" cy="3392424"/>
          </a:xfrm>
          <a:prstGeom prst="rect">
            <a:avLst/>
          </a:prstGeom>
          <a:noFill/>
          <a:ln/>
        </p:spPr>
        <p:txBody>
          <a:bodyPr wrap="square" lIns="0" tIns="0" rIns="0" bIns="0" rtlCol="0" anchor="t"/>
          <a:lstStyle/>
          <a:p>
            <a:pPr indent="0" marL="0">
              <a:buNone/>
            </a:pPr>
            <a:r>
              <a:rPr lang="en-US" sz="1100" i="1" dirty="0">
                <a:solidFill>
                  <a:srgbClr val="188038"/>
                </a:solidFill>
                <a:latin typeface="Courier New" pitchFamily="34" charset="0"/>
                <a:ea typeface="Courier New" pitchFamily="34" charset="-122"/>
                <a:cs typeface="Courier New" pitchFamily="34" charset="-120"/>
              </a:rPr>
              <a:t># Paso 4</a:t>
            </a:r>
            <a:endParaRPr lang="en-US" sz="1100" dirty="0"/>
          </a:p>
          <a:p>
            <a:pPr indent="0" marL="0">
              <a:buNone/>
            </a:pPr>
            <a:r>
              <a:rPr lang="en-US" sz="1100" i="1" dirty="0">
                <a:solidFill>
                  <a:srgbClr val="188038"/>
                </a:solidFill>
                <a:latin typeface="Courier New" pitchFamily="34" charset="0"/>
                <a:ea typeface="Courier New" pitchFamily="34" charset="-122"/>
                <a:cs typeface="Courier New" pitchFamily="34" charset="-120"/>
              </a:rPr>
              <a:t># inner deja solo lo que está en las dos tablas.</a:t>
            </a:r>
            <a:endParaRPr lang="en-US" sz="1100" dirty="0"/>
          </a:p>
          <a:p>
            <a:pPr indent="0" marL="0">
              <a:buNone/>
            </a:pPr>
            <a:r>
              <a:rPr lang="en-US" sz="1100" i="1" dirty="0">
                <a:solidFill>
                  <a:srgbClr val="188038"/>
                </a:solidFill>
                <a:latin typeface="Courier New" pitchFamily="34" charset="0"/>
                <a:ea typeface="Courier New" pitchFamily="34" charset="-122"/>
                <a:cs typeface="Courier New" pitchFamily="34" charset="-120"/>
              </a:rPr>
              <a:t># left conserva toda la generación.</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como_unir = </a:t>
            </a:r>
            <a:pPr indent="0" marL="0">
              <a:buNone/>
            </a:pPr>
            <a:r>
              <a:rPr lang="en-US" sz="1100" dirty="0">
                <a:solidFill>
                  <a:srgbClr val="A31515"/>
                </a:solidFill>
                <a:latin typeface="Courier New" pitchFamily="34" charset="0"/>
                <a:ea typeface="Courier New" pitchFamily="34" charset="-122"/>
                <a:cs typeface="Courier New" pitchFamily="34" charset="-120"/>
              </a:rPr>
              <a:t>"left"</a:t>
            </a:r>
            <a:pPr indent="0" marL="0">
              <a:buNone/>
            </a:pPr>
            <a:r>
              <a:rPr lang="en-US" sz="1100" dirty="0">
                <a:solidFill>
                  <a:srgbClr val="202124"/>
                </a:solidFill>
                <a:latin typeface="Courier New" pitchFamily="34" charset="0"/>
                <a:ea typeface="Courier New" pitchFamily="34" charset="-122"/>
                <a:cs typeface="Courier New" pitchFamily="34" charset="-120"/>
              </a:rPr>
              <a:t> </a:t>
            </a:r>
            <a:pPr indent="0" marL="0">
              <a:buNone/>
            </a:pPr>
            <a:r>
              <a:rPr lang="en-US" sz="1100" dirty="0">
                <a:solidFill>
                  <a:srgbClr val="80868B"/>
                </a:solidFill>
                <a:latin typeface="Courier New" pitchFamily="34" charset="0"/>
                <a:ea typeface="Courier New" pitchFamily="34" charset="-122"/>
                <a:cs typeface="Courier New" pitchFamily="34" charset="-120"/>
              </a:rPr>
              <a:t>#@param ["inner", "left"]</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 </a:t>
            </a:r>
            <a:endParaRPr lang="en-US" sz="1100" dirty="0"/>
          </a:p>
          <a:p>
            <a:pPr indent="0" marL="0">
              <a:buNone/>
            </a:pPr>
            <a:r>
              <a:rPr lang="en-US" sz="1100" i="1" dirty="0">
                <a:solidFill>
                  <a:srgbClr val="188038"/>
                </a:solidFill>
                <a:latin typeface="Courier New" pitchFamily="34" charset="0"/>
                <a:ea typeface="Courier New" pitchFamily="34" charset="-122"/>
                <a:cs typeface="Courier New" pitchFamily="34" charset="-120"/>
              </a:rPr>
              <a:t># Un día de generación y una tabla de fichas a la que le faltan</a:t>
            </a:r>
            <a:endParaRPr lang="en-US" sz="1100" dirty="0"/>
          </a:p>
          <a:p>
            <a:pPr indent="0" marL="0">
              <a:buNone/>
            </a:pPr>
            <a:r>
              <a:rPr lang="en-US" sz="1100" i="1" dirty="0">
                <a:solidFill>
                  <a:srgbClr val="188038"/>
                </a:solidFill>
                <a:latin typeface="Courier New" pitchFamily="34" charset="0"/>
                <a:ea typeface="Courier New" pitchFamily="34" charset="-122"/>
                <a:cs typeface="Courier New" pitchFamily="34" charset="-120"/>
              </a:rPr>
              <a:t># tres centrales.</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un_dia = generacion[generacion[</a:t>
            </a:r>
            <a:pPr indent="0" marL="0">
              <a:buNone/>
            </a:pPr>
            <a:r>
              <a:rPr lang="en-US" sz="1100" dirty="0">
                <a:solidFill>
                  <a:srgbClr val="A31515"/>
                </a:solidFill>
                <a:latin typeface="Courier New" pitchFamily="34" charset="0"/>
                <a:ea typeface="Courier New" pitchFamily="34" charset="-122"/>
                <a:cs typeface="Courier New" pitchFamily="34" charset="-120"/>
              </a:rPr>
              <a:t>"fecha"</a:t>
            </a:r>
            <a:pPr indent="0" marL="0">
              <a:buNone/>
            </a:pPr>
            <a:r>
              <a:rPr lang="en-US" sz="1100" dirty="0">
                <a:solidFill>
                  <a:srgbClr val="202124"/>
                </a:solidFill>
                <a:latin typeface="Courier New" pitchFamily="34" charset="0"/>
                <a:ea typeface="Courier New" pitchFamily="34" charset="-122"/>
                <a:cs typeface="Courier New" pitchFamily="34" charset="-120"/>
              </a:rPr>
              <a:t>] == </a:t>
            </a:r>
            <a:pPr indent="0" marL="0">
              <a:buNone/>
            </a:pPr>
            <a:r>
              <a:rPr lang="en-US" sz="1100" dirty="0">
                <a:solidFill>
                  <a:srgbClr val="A31515"/>
                </a:solidFill>
                <a:latin typeface="Courier New" pitchFamily="34" charset="0"/>
                <a:ea typeface="Courier New" pitchFamily="34" charset="-122"/>
                <a:cs typeface="Courier New" pitchFamily="34" charset="-120"/>
              </a:rPr>
              <a:t>"2024-06-15"</a:t>
            </a:r>
            <a:pPr indent="0" marL="0">
              <a:buNone/>
            </a:pPr>
            <a:r>
              <a:rPr lang="en-US" sz="1100" dirty="0">
                <a:solidFill>
                  <a:srgbClr val="202124"/>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sin_ficha = [</a:t>
            </a:r>
            <a:pPr indent="0" marL="0">
              <a:buNone/>
            </a:pPr>
            <a:r>
              <a:rPr lang="en-US" sz="1100" dirty="0">
                <a:solidFill>
                  <a:srgbClr val="A31515"/>
                </a:solidFill>
                <a:latin typeface="Courier New" pitchFamily="34" charset="0"/>
                <a:ea typeface="Courier New" pitchFamily="34" charset="-122"/>
                <a:cs typeface="Courier New" pitchFamily="34" charset="-120"/>
              </a:rPr>
              <a:t>"Eólica Loma Fría"</a:t>
            </a:r>
            <a:pPr indent="0" marL="0">
              <a:buNone/>
            </a:pPr>
            <a:r>
              <a:rPr lang="en-US" sz="1100" dirty="0">
                <a:solidFill>
                  <a:srgbClr val="202124"/>
                </a:solidFill>
                <a:latin typeface="Courier New" pitchFamily="34" charset="0"/>
                <a:ea typeface="Courier New" pitchFamily="34" charset="-122"/>
                <a:cs typeface="Courier New" pitchFamily="34" charset="-120"/>
              </a:rPr>
              <a:t>, </a:t>
            </a:r>
            <a:pPr indent="0" marL="0">
              <a:buNone/>
            </a:pPr>
            <a:r>
              <a:rPr lang="en-US" sz="1100" dirty="0">
                <a:solidFill>
                  <a:srgbClr val="A31515"/>
                </a:solidFill>
                <a:latin typeface="Courier New" pitchFamily="34" charset="0"/>
                <a:ea typeface="Courier New" pitchFamily="34" charset="-122"/>
                <a:cs typeface="Courier New" pitchFamily="34" charset="-120"/>
              </a:rPr>
              <a:t>"Central Vega Azul"</a:t>
            </a:r>
            <a:pPr indent="0" marL="0">
              <a:buNone/>
            </a:pPr>
            <a:r>
              <a:rPr lang="en-US" sz="1100" dirty="0">
                <a:solidFill>
                  <a:srgbClr val="202124"/>
                </a:solidFill>
                <a:latin typeface="Courier New" pitchFamily="34" charset="0"/>
                <a:ea typeface="Courier New" pitchFamily="34" charset="-122"/>
                <a:cs typeface="Courier New" pitchFamily="34" charset="-120"/>
              </a:rPr>
              <a:t>, </a:t>
            </a:r>
            <a:pPr indent="0" marL="0">
              <a:buNone/>
            </a:pPr>
            <a:r>
              <a:rPr lang="en-US" sz="1100" dirty="0">
                <a:solidFill>
                  <a:srgbClr val="A31515"/>
                </a:solidFill>
                <a:latin typeface="Courier New" pitchFamily="34" charset="0"/>
                <a:ea typeface="Courier New" pitchFamily="34" charset="-122"/>
                <a:cs typeface="Courier New" pitchFamily="34" charset="-120"/>
              </a:rPr>
              <a:t>"Diésel Respaldo Cordillera"</a:t>
            </a:r>
            <a:pPr indent="0" marL="0">
              <a:buNone/>
            </a:pPr>
            <a:r>
              <a:rPr lang="en-US" sz="1100" dirty="0">
                <a:solidFill>
                  <a:srgbClr val="202124"/>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fichas = centrales[~centrales[</a:t>
            </a:r>
            <a:pPr indent="0" marL="0">
              <a:buNone/>
            </a:pPr>
            <a:r>
              <a:rPr lang="en-US" sz="1100" dirty="0">
                <a:solidFill>
                  <a:srgbClr val="A31515"/>
                </a:solidFill>
                <a:latin typeface="Courier New" pitchFamily="34" charset="0"/>
                <a:ea typeface="Courier New" pitchFamily="34" charset="-122"/>
                <a:cs typeface="Courier New" pitchFamily="34" charset="-120"/>
              </a:rPr>
              <a:t>"central"</a:t>
            </a:r>
            <a:pPr indent="0" marL="0">
              <a:buNone/>
            </a:pPr>
            <a:r>
              <a:rPr lang="en-US" sz="1100" dirty="0">
                <a:solidFill>
                  <a:srgbClr val="202124"/>
                </a:solidFill>
                <a:latin typeface="Courier New" pitchFamily="34" charset="0"/>
                <a:ea typeface="Courier New" pitchFamily="34" charset="-122"/>
                <a:cs typeface="Courier New" pitchFamily="34" charset="-120"/>
              </a:rPr>
              <a:t>].isin(sin_ficha)]</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unido = pd.merge(un_dia, fichas, on=</a:t>
            </a:r>
            <a:pPr indent="0" marL="0">
              <a:buNone/>
            </a:pPr>
            <a:r>
              <a:rPr lang="en-US" sz="1100" dirty="0">
                <a:solidFill>
                  <a:srgbClr val="A31515"/>
                </a:solidFill>
                <a:latin typeface="Courier New" pitchFamily="34" charset="0"/>
                <a:ea typeface="Courier New" pitchFamily="34" charset="-122"/>
                <a:cs typeface="Courier New" pitchFamily="34" charset="-120"/>
              </a:rPr>
              <a:t>"central"</a:t>
            </a:r>
            <a:pPr indent="0" marL="0">
              <a:buNone/>
            </a:pPr>
            <a:r>
              <a:rPr lang="en-US" sz="1100" dirty="0">
                <a:solidFill>
                  <a:srgbClr val="202124"/>
                </a:solidFill>
                <a:latin typeface="Courier New" pitchFamily="34" charset="0"/>
                <a:ea typeface="Courier New" pitchFamily="34" charset="-122"/>
                <a:cs typeface="Courier New" pitchFamily="34" charset="-120"/>
              </a:rPr>
              <a:t>, how=como_unir)</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print(</a:t>
            </a:r>
            <a:pPr indent="0" marL="0">
              <a:buNone/>
            </a:pPr>
            <a:r>
              <a:rPr lang="en-US" sz="1100" dirty="0">
                <a:solidFill>
                  <a:srgbClr val="A31515"/>
                </a:solidFill>
                <a:latin typeface="Courier New" pitchFamily="34" charset="0"/>
                <a:ea typeface="Courier New" pitchFamily="34" charset="-122"/>
                <a:cs typeface="Courier New" pitchFamily="34" charset="-120"/>
              </a:rPr>
              <a:t>"Generación real del día"</a:t>
            </a:r>
            <a:pPr indent="0" marL="0">
              <a:buNone/>
            </a:pPr>
            <a:r>
              <a:rPr lang="en-US" sz="1100" dirty="0">
                <a:solidFill>
                  <a:srgbClr val="202124"/>
                </a:solidFill>
                <a:latin typeface="Courier New" pitchFamily="34" charset="0"/>
                <a:ea typeface="Courier New" pitchFamily="34" charset="-122"/>
                <a:cs typeface="Courier New" pitchFamily="34" charset="-120"/>
              </a:rPr>
              <a:t>, round(un_dia[</a:t>
            </a:r>
            <a:pPr indent="0" marL="0">
              <a:buNone/>
            </a:pPr>
            <a:r>
              <a:rPr lang="en-US" sz="1100" dirty="0">
                <a:solidFill>
                  <a:srgbClr val="A31515"/>
                </a:solidFill>
                <a:latin typeface="Courier New" pitchFamily="34" charset="0"/>
                <a:ea typeface="Courier New" pitchFamily="34" charset="-122"/>
                <a:cs typeface="Courier New" pitchFamily="34" charset="-120"/>
              </a:rPr>
              <a:t>"mwh"</a:t>
            </a:r>
            <a:pPr indent="0" marL="0">
              <a:buNone/>
            </a:pPr>
            <a:r>
              <a:rPr lang="en-US" sz="1100" dirty="0">
                <a:solidFill>
                  <a:srgbClr val="202124"/>
                </a:solidFill>
                <a:latin typeface="Courier New" pitchFamily="34" charset="0"/>
                <a:ea typeface="Courier New" pitchFamily="34" charset="-122"/>
                <a:cs typeface="Courier New" pitchFamily="34" charset="-120"/>
              </a:rPr>
              <a:t>].sum(), 1), </a:t>
            </a:r>
            <a:pPr indent="0" marL="0">
              <a:buNone/>
            </a:pPr>
            <a:r>
              <a:rPr lang="en-US" sz="1100" dirty="0">
                <a:solidFill>
                  <a:srgbClr val="A31515"/>
                </a:solidFill>
                <a:latin typeface="Courier New" pitchFamily="34" charset="0"/>
                <a:ea typeface="Courier New" pitchFamily="34" charset="-122"/>
                <a:cs typeface="Courier New" pitchFamily="34" charset="-120"/>
              </a:rPr>
              <a:t>"MWh"</a:t>
            </a:r>
            <a:pPr indent="0" marL="0">
              <a:buNone/>
            </a:pPr>
            <a:r>
              <a:rPr lang="en-US" sz="1100" dirty="0">
                <a:solidFill>
                  <a:srgbClr val="202124"/>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print(</a:t>
            </a:r>
            <a:pPr indent="0" marL="0">
              <a:buNone/>
            </a:pPr>
            <a:r>
              <a:rPr lang="en-US" sz="1100" dirty="0">
                <a:solidFill>
                  <a:srgbClr val="A31515"/>
                </a:solidFill>
                <a:latin typeface="Courier New" pitchFamily="34" charset="0"/>
                <a:ea typeface="Courier New" pitchFamily="34" charset="-122"/>
                <a:cs typeface="Courier New" pitchFamily="34" charset="-120"/>
              </a:rPr>
              <a:t>"Generación unida       "</a:t>
            </a:r>
            <a:pPr indent="0" marL="0">
              <a:buNone/>
            </a:pPr>
            <a:r>
              <a:rPr lang="en-US" sz="1100" dirty="0">
                <a:solidFill>
                  <a:srgbClr val="202124"/>
                </a:solidFill>
                <a:latin typeface="Courier New" pitchFamily="34" charset="0"/>
                <a:ea typeface="Courier New" pitchFamily="34" charset="-122"/>
                <a:cs typeface="Courier New" pitchFamily="34" charset="-120"/>
              </a:rPr>
              <a:t>, round(unido[</a:t>
            </a:r>
            <a:pPr indent="0" marL="0">
              <a:buNone/>
            </a:pPr>
            <a:r>
              <a:rPr lang="en-US" sz="1100" dirty="0">
                <a:solidFill>
                  <a:srgbClr val="A31515"/>
                </a:solidFill>
                <a:latin typeface="Courier New" pitchFamily="34" charset="0"/>
                <a:ea typeface="Courier New" pitchFamily="34" charset="-122"/>
                <a:cs typeface="Courier New" pitchFamily="34" charset="-120"/>
              </a:rPr>
              <a:t>"mwh"</a:t>
            </a:r>
            <a:pPr indent="0" marL="0">
              <a:buNone/>
            </a:pPr>
            <a:r>
              <a:rPr lang="en-US" sz="1100" dirty="0">
                <a:solidFill>
                  <a:srgbClr val="202124"/>
                </a:solidFill>
                <a:latin typeface="Courier New" pitchFamily="34" charset="0"/>
                <a:ea typeface="Courier New" pitchFamily="34" charset="-122"/>
                <a:cs typeface="Courier New" pitchFamily="34" charset="-120"/>
              </a:rPr>
              <a:t>].sum(), 1), </a:t>
            </a:r>
            <a:pPr indent="0" marL="0">
              <a:buNone/>
            </a:pPr>
            <a:r>
              <a:rPr lang="en-US" sz="1100" dirty="0">
                <a:solidFill>
                  <a:srgbClr val="A31515"/>
                </a:solidFill>
                <a:latin typeface="Courier New" pitchFamily="34" charset="0"/>
                <a:ea typeface="Courier New" pitchFamily="34" charset="-122"/>
                <a:cs typeface="Courier New" pitchFamily="34" charset="-120"/>
              </a:rPr>
              <a:t>"MWh"</a:t>
            </a:r>
            <a:pPr indent="0" marL="0">
              <a:buNone/>
            </a:pPr>
            <a:r>
              <a:rPr lang="en-US" sz="1100" dirty="0">
                <a:solidFill>
                  <a:srgbClr val="202124"/>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print()</a:t>
            </a:r>
            <a:endParaRPr lang="en-US" sz="1100" dirty="0"/>
          </a:p>
          <a:p>
            <a:pPr indent="0" marL="0">
              <a:buNone/>
            </a:pPr>
            <a:r>
              <a:rPr lang="en-US" sz="1100" i="1" dirty="0">
                <a:solidFill>
                  <a:srgbClr val="188038"/>
                </a:solidFill>
                <a:latin typeface="Courier New" pitchFamily="34" charset="0"/>
                <a:ea typeface="Courier New" pitchFamily="34" charset="-122"/>
                <a:cs typeface="Courier New" pitchFamily="34" charset="-120"/>
              </a:rPr>
              <a:t># Las centrales sin ficha quedan agrupadas como "sin ficha".</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unido_con_ficha = unido.fillna({</a:t>
            </a:r>
            <a:pPr indent="0" marL="0">
              <a:buNone/>
            </a:pPr>
            <a:r>
              <a:rPr lang="en-US" sz="1100" dirty="0">
                <a:solidFill>
                  <a:srgbClr val="A31515"/>
                </a:solidFill>
                <a:latin typeface="Courier New" pitchFamily="34" charset="0"/>
                <a:ea typeface="Courier New" pitchFamily="34" charset="-122"/>
                <a:cs typeface="Courier New" pitchFamily="34" charset="-120"/>
              </a:rPr>
              <a:t>"tecnologia"</a:t>
            </a:r>
            <a:pPr indent="0" marL="0">
              <a:buNone/>
            </a:pPr>
            <a:r>
              <a:rPr lang="en-US" sz="1100" dirty="0">
                <a:solidFill>
                  <a:srgbClr val="202124"/>
                </a:solidFill>
                <a:latin typeface="Courier New" pitchFamily="34" charset="0"/>
                <a:ea typeface="Courier New" pitchFamily="34" charset="-122"/>
                <a:cs typeface="Courier New" pitchFamily="34" charset="-120"/>
              </a:rPr>
              <a:t>: </a:t>
            </a:r>
            <a:pPr indent="0" marL="0">
              <a:buNone/>
            </a:pPr>
            <a:r>
              <a:rPr lang="en-US" sz="1100" dirty="0">
                <a:solidFill>
                  <a:srgbClr val="A31515"/>
                </a:solidFill>
                <a:latin typeface="Courier New" pitchFamily="34" charset="0"/>
                <a:ea typeface="Courier New" pitchFamily="34" charset="-122"/>
                <a:cs typeface="Courier New" pitchFamily="34" charset="-120"/>
              </a:rPr>
              <a:t>"sin ficha"</a:t>
            </a:r>
            <a:pPr indent="0" marL="0">
              <a:buNone/>
            </a:pPr>
            <a:r>
              <a:rPr lang="en-US" sz="1100" dirty="0">
                <a:solidFill>
                  <a:srgbClr val="202124"/>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por_tecnologia = unido_con_ficha.groupby(</a:t>
            </a:r>
            <a:pPr indent="0" marL="0">
              <a:buNone/>
            </a:pPr>
            <a:r>
              <a:rPr lang="en-US" sz="1100" dirty="0">
                <a:solidFill>
                  <a:srgbClr val="A31515"/>
                </a:solidFill>
                <a:latin typeface="Courier New" pitchFamily="34" charset="0"/>
                <a:ea typeface="Courier New" pitchFamily="34" charset="-122"/>
                <a:cs typeface="Courier New" pitchFamily="34" charset="-120"/>
              </a:rPr>
              <a:t>"tecnologia"</a:t>
            </a:r>
            <a:pPr indent="0" marL="0">
              <a:buNone/>
            </a:pPr>
            <a:r>
              <a:rPr lang="en-US" sz="1100" dirty="0">
                <a:solidFill>
                  <a:srgbClr val="202124"/>
                </a:solidFill>
                <a:latin typeface="Courier New" pitchFamily="34" charset="0"/>
                <a:ea typeface="Courier New" pitchFamily="34" charset="-122"/>
                <a:cs typeface="Courier New" pitchFamily="34" charset="-120"/>
              </a:rPr>
              <a:t>)[</a:t>
            </a:r>
            <a:pPr indent="0" marL="0">
              <a:buNone/>
            </a:pPr>
            <a:r>
              <a:rPr lang="en-US" sz="1100" dirty="0">
                <a:solidFill>
                  <a:srgbClr val="A31515"/>
                </a:solidFill>
                <a:latin typeface="Courier New" pitchFamily="34" charset="0"/>
                <a:ea typeface="Courier New" pitchFamily="34" charset="-122"/>
                <a:cs typeface="Courier New" pitchFamily="34" charset="-120"/>
              </a:rPr>
              <a:t>"mwh"</a:t>
            </a:r>
            <a:pPr indent="0" marL="0">
              <a:buNone/>
            </a:pPr>
            <a:r>
              <a:rPr lang="en-US" sz="1100" dirty="0">
                <a:solidFill>
                  <a:srgbClr val="202124"/>
                </a:solidFill>
                <a:latin typeface="Courier New" pitchFamily="34" charset="0"/>
                <a:ea typeface="Courier New" pitchFamily="34" charset="-122"/>
                <a:cs typeface="Courier New" pitchFamily="34" charset="-120"/>
              </a:rPr>
              <a:t>].sum().round(1)</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print(por_tecnologia.sort_values(ascending=False))</a:t>
            </a:r>
            <a:endParaRPr lang="en-US" sz="1100" dirty="0"/>
          </a:p>
        </p:txBody>
      </p:sp>
      <p:sp>
        <p:nvSpPr>
          <p:cNvPr id="11" name="Text 8"/>
          <p:cNvSpPr txBox="1"/>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como_unir</a:t>
            </a:r>
            <a:endParaRPr lang="en-US" sz="1100" dirty="0"/>
          </a:p>
        </p:txBody>
      </p:sp>
      <p:sp>
        <p:nvSpPr>
          <p:cNvPr id="12" name="Shape 9"/>
          <p:cNvSpPr/>
          <p:nvPr/>
        </p:nvSpPr>
        <p:spPr>
          <a:xfrm>
            <a:off x="8823960" y="1874520"/>
            <a:ext cx="2651760" cy="347472"/>
          </a:xfrm>
          <a:prstGeom prst="rect">
            <a:avLst/>
          </a:prstGeom>
          <a:solidFill>
            <a:srgbClr val="FFFFFF"/>
          </a:solidFill>
          <a:ln w="25400">
            <a:solidFill>
              <a:srgbClr val="1A73E8"/>
            </a:solidFill>
            <a:prstDash val="solid"/>
          </a:ln>
        </p:spPr>
      </p:sp>
      <p:sp>
        <p:nvSpPr>
          <p:cNvPr id="13" name="Text 10"/>
          <p:cNvSpPr txBox="1"/>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left</a:t>
            </a:r>
            <a:endParaRPr lang="en-US" sz="1200" dirty="0"/>
          </a:p>
        </p:txBody>
      </p:sp>
      <p:sp>
        <p:nvSpPr>
          <p:cNvPr id="14"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5" name="Text 12"/>
          <p:cNvSpPr txBox="1"/>
          <p:nvPr/>
        </p:nvSpPr>
        <p:spPr>
          <a:xfrm>
            <a:off x="1325880" y="5093208"/>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6" name="Text 13"/>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7" name="Shape 14"/>
          <p:cNvSpPr/>
          <p:nvPr/>
        </p:nvSpPr>
        <p:spPr>
          <a:xfrm>
            <a:off x="548640" y="6062472"/>
            <a:ext cx="2002536"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640080"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por_tecnologia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5 valores</a:t>
            </a:r>
            <a:endParaRPr lang="en-US" sz="1200" dirty="0"/>
          </a:p>
        </p:txBody>
      </p:sp>
      <p:sp>
        <p:nvSpPr>
          <p:cNvPr id="19" name="Shape 16"/>
          <p:cNvSpPr/>
          <p:nvPr/>
        </p:nvSpPr>
        <p:spPr>
          <a:xfrm>
            <a:off x="2688336" y="6062472"/>
            <a:ext cx="1714500"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2779776"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unido_con_ficha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408 × 8</a:t>
            </a:r>
            <a:endParaRPr lang="en-US" sz="1200" dirty="0"/>
          </a:p>
        </p:txBody>
      </p:sp>
      <p:sp>
        <p:nvSpPr>
          <p:cNvPr id="21" name="Shape 18"/>
          <p:cNvSpPr/>
          <p:nvPr/>
        </p:nvSpPr>
        <p:spPr>
          <a:xfrm>
            <a:off x="4539996" y="6062472"/>
            <a:ext cx="1522476" cy="566928"/>
          </a:xfrm>
          <a:prstGeom prst="roundRect">
            <a:avLst>
              <a:gd name="adj" fmla="val 11290"/>
            </a:avLst>
          </a:prstGeom>
          <a:solidFill>
            <a:srgbClr val="F1F3F4"/>
          </a:solidFill>
          <a:ln w="12700">
            <a:solidFill>
              <a:srgbClr val="DADCE0"/>
            </a:solidFill>
            <a:prstDash val="solid"/>
          </a:ln>
        </p:spPr>
      </p:sp>
      <p:sp>
        <p:nvSpPr>
          <p:cNvPr id="22" name="Text 19"/>
          <p:cNvSpPr txBox="1"/>
          <p:nvPr/>
        </p:nvSpPr>
        <p:spPr>
          <a:xfrm>
            <a:off x="4631436"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unido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408 × 8</a:t>
            </a:r>
            <a:endParaRPr lang="en-US" sz="1200" dirty="0"/>
          </a:p>
        </p:txBody>
      </p:sp>
      <p:sp>
        <p:nvSpPr>
          <p:cNvPr id="23" name="Shape 20"/>
          <p:cNvSpPr/>
          <p:nvPr/>
        </p:nvSpPr>
        <p:spPr>
          <a:xfrm>
            <a:off x="6199632" y="6062472"/>
            <a:ext cx="1426464" cy="566928"/>
          </a:xfrm>
          <a:prstGeom prst="roundRect">
            <a:avLst>
              <a:gd name="adj" fmla="val 11290"/>
            </a:avLst>
          </a:prstGeom>
          <a:solidFill>
            <a:srgbClr val="F1F3F4"/>
          </a:solidFill>
          <a:ln w="12700">
            <a:solidFill>
              <a:srgbClr val="DADCE0"/>
            </a:solidFill>
            <a:prstDash val="solid"/>
          </a:ln>
        </p:spPr>
      </p:sp>
      <p:sp>
        <p:nvSpPr>
          <p:cNvPr id="24" name="Text 21"/>
          <p:cNvSpPr txBox="1"/>
          <p:nvPr/>
        </p:nvSpPr>
        <p:spPr>
          <a:xfrm>
            <a:off x="6291072"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fichas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17 × 5</a:t>
            </a:r>
            <a:endParaRPr lang="en-US" sz="1200" dirty="0"/>
          </a:p>
        </p:txBody>
      </p:sp>
      <p:sp>
        <p:nvSpPr>
          <p:cNvPr id="25" name="Shape 22"/>
          <p:cNvSpPr/>
          <p:nvPr/>
        </p:nvSpPr>
        <p:spPr>
          <a:xfrm>
            <a:off x="7763256" y="6062472"/>
            <a:ext cx="2770632" cy="566928"/>
          </a:xfrm>
          <a:prstGeom prst="roundRect">
            <a:avLst>
              <a:gd name="adj" fmla="val 11290"/>
            </a:avLst>
          </a:prstGeom>
          <a:solidFill>
            <a:srgbClr val="F1F3F4"/>
          </a:solidFill>
          <a:ln w="12700">
            <a:solidFill>
              <a:srgbClr val="DADCE0"/>
            </a:solidFill>
            <a:prstDash val="solid"/>
          </a:ln>
        </p:spPr>
      </p:sp>
      <p:sp>
        <p:nvSpPr>
          <p:cNvPr id="26" name="Text 23"/>
          <p:cNvSpPr txBox="1"/>
          <p:nvPr/>
        </p:nvSpPr>
        <p:spPr>
          <a:xfrm>
            <a:off x="7854696"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sin_ficha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['Eólica Loma Fría', 'Cen…</a:t>
            </a:r>
            <a:endParaRPr lang="en-US" sz="1200" dirty="0"/>
          </a:p>
        </p:txBody>
      </p:sp>
      <p:sp>
        <p:nvSpPr>
          <p:cNvPr id="27" name="Text 24"/>
          <p:cNvSpPr txBox="1"/>
          <p:nvPr/>
        </p:nvSpPr>
        <p:spPr>
          <a:xfrm>
            <a:off x="10671048"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8 más</a:t>
            </a:r>
            <a:endParaRPr lang="en-US" sz="1200" dirty="0"/>
          </a:p>
        </p:txBody>
      </p:sp>
      <p:sp>
        <p:nvSpPr>
          <p:cNvPr id="28" name="Text 25"/>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Mientras no se corra la celda, Python sigue recordando los valores anteriores.</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4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une generación con fichas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elige left en la lista y se vuelve a correr la celda.</a:t>
            </a:r>
            <a:endParaRPr lang="en-US" sz="1400" dirty="0"/>
          </a:p>
        </p:txBody>
      </p:sp>
      <p:sp>
        <p:nvSpPr>
          <p:cNvPr id="6" name="Text 4"/>
          <p:cNvSpPr txBox="1"/>
          <p:nvPr/>
        </p:nvSpPr>
        <p:spPr>
          <a:xfrm>
            <a:off x="548640" y="1481328"/>
            <a:ext cx="5486400" cy="274320"/>
          </a:xfrm>
          <a:prstGeom prst="rect">
            <a:avLst/>
          </a:prstGeom>
          <a:noFill/>
          <a:ln/>
        </p:spPr>
        <p:txBody>
          <a:bodyPr wrap="square" lIns="0" tIns="0" rIns="0" bIns="0" rtlCol="0" anchor="ctr"/>
          <a:lstStyle/>
          <a:p>
            <a:pPr indent="0" marL="0">
              <a:buNone/>
            </a:pPr>
            <a:r>
              <a:rPr lang="en-US" sz="1300" b="1" dirty="0">
                <a:solidFill>
                  <a:srgbClr val="5F6368"/>
                </a:solidFill>
                <a:latin typeface="Calibri" pitchFamily="34" charset="0"/>
                <a:ea typeface="Calibri" pitchFamily="34" charset="-122"/>
                <a:cs typeface="Calibri" pitchFamily="34" charset="-120"/>
              </a:rPr>
              <a:t>Respuesta de la celda</a:t>
            </a:r>
            <a:endParaRPr lang="en-US" sz="1300" dirty="0"/>
          </a:p>
        </p:txBody>
      </p:sp>
      <p:sp>
        <p:nvSpPr>
          <p:cNvPr id="7" name="Shape 5"/>
          <p:cNvSpPr/>
          <p:nvPr/>
        </p:nvSpPr>
        <p:spPr>
          <a:xfrm>
            <a:off x="1325880" y="1828800"/>
            <a:ext cx="10314432" cy="2395728"/>
          </a:xfrm>
          <a:prstGeom prst="rect">
            <a:avLst/>
          </a:prstGeom>
          <a:solidFill>
            <a:srgbClr val="FFFFFF"/>
          </a:solidFill>
          <a:ln w="12700">
            <a:solidFill>
              <a:srgbClr val="DADCE0"/>
            </a:solidFill>
            <a:prstDash val="solid"/>
          </a:ln>
        </p:spPr>
      </p:sp>
      <p:sp>
        <p:nvSpPr>
          <p:cNvPr id="8" name="Text 6"/>
          <p:cNvSpPr txBox="1"/>
          <p:nvPr/>
        </p:nvSpPr>
        <p:spPr>
          <a:xfrm>
            <a:off x="1463040" y="1901952"/>
            <a:ext cx="10085832" cy="2267712"/>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Generación real del día 52650.0 MWh</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Generación unida        52650.0 MWh</a:t>
            </a:r>
            <a:endParaRPr lang="en-US" sz="1200" dirty="0"/>
          </a:p>
          <a:p>
            <a:pPr indent="0" marL="0">
              <a:buNone/>
            </a:pP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tecnologia</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hidro        18782.7</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gas          13999.4</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carbon       12746.9</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eolica        3476.7</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sin ficha     2254.0</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solar         1390.1</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Name: mwh, dtype: float64</a:t>
            </a:r>
            <a:endParaRPr lang="en-US" sz="1200" dirty="0"/>
          </a:p>
        </p:txBody>
      </p:sp>
      <p:sp>
        <p:nvSpPr>
          <p:cNvPr id="10"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1" name="Shape 8"/>
          <p:cNvSpPr/>
          <p:nvPr/>
        </p:nvSpPr>
        <p:spPr>
          <a:xfrm>
            <a:off x="548640" y="6062472"/>
            <a:ext cx="1143000" cy="566928"/>
          </a:xfrm>
          <a:prstGeom prst="roundRect">
            <a:avLst>
              <a:gd name="adj" fmla="val 11290"/>
            </a:avLst>
          </a:prstGeom>
          <a:solidFill>
            <a:srgbClr val="E8F0FE"/>
          </a:solidFill>
          <a:ln w="28575">
            <a:solidFill>
              <a:srgbClr val="1A73E8"/>
            </a:solidFill>
            <a:prstDash val="solid"/>
          </a:ln>
        </p:spPr>
      </p:sp>
      <p:sp>
        <p:nvSpPr>
          <p:cNvPr id="12" name="Text 9"/>
          <p:cNvSpPr txBox="1"/>
          <p:nvPr/>
        </p:nvSpPr>
        <p:spPr>
          <a:xfrm>
            <a:off x="64008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3" name="Shape 10"/>
          <p:cNvSpPr/>
          <p:nvPr/>
        </p:nvSpPr>
        <p:spPr>
          <a:xfrm>
            <a:off x="1828800" y="6062472"/>
            <a:ext cx="1426464" cy="566928"/>
          </a:xfrm>
          <a:prstGeom prst="roundRect">
            <a:avLst>
              <a:gd name="adj" fmla="val 11290"/>
            </a:avLst>
          </a:prstGeom>
          <a:solidFill>
            <a:srgbClr val="E8F0FE"/>
          </a:solidFill>
          <a:ln w="28575">
            <a:solidFill>
              <a:srgbClr val="1A73E8"/>
            </a:solidFill>
            <a:prstDash val="solid"/>
          </a:ln>
        </p:spPr>
      </p:sp>
      <p:sp>
        <p:nvSpPr>
          <p:cNvPr id="14" name="Text 11"/>
          <p:cNvSpPr txBox="1"/>
          <p:nvPr/>
        </p:nvSpPr>
        <p:spPr>
          <a:xfrm>
            <a:off x="1920240"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centrales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20 × 5</a:t>
            </a:r>
            <a:endParaRPr lang="en-US" sz="1200" dirty="0"/>
          </a:p>
        </p:txBody>
      </p:sp>
      <p:sp>
        <p:nvSpPr>
          <p:cNvPr id="15" name="Shape 12"/>
          <p:cNvSpPr/>
          <p:nvPr/>
        </p:nvSpPr>
        <p:spPr>
          <a:xfrm>
            <a:off x="3392424" y="6062472"/>
            <a:ext cx="1810512" cy="566928"/>
          </a:xfrm>
          <a:prstGeom prst="roundRect">
            <a:avLst>
              <a:gd name="adj" fmla="val 11290"/>
            </a:avLst>
          </a:prstGeom>
          <a:solidFill>
            <a:srgbClr val="E8F0FE"/>
          </a:solidFill>
          <a:ln w="28575">
            <a:solidFill>
              <a:srgbClr val="1A73E8"/>
            </a:solidFill>
            <a:prstDash val="solid"/>
          </a:ln>
        </p:spPr>
      </p:sp>
      <p:sp>
        <p:nvSpPr>
          <p:cNvPr id="16" name="Text 13"/>
          <p:cNvSpPr txBox="1"/>
          <p:nvPr/>
        </p:nvSpPr>
        <p:spPr>
          <a:xfrm>
            <a:off x="3483864"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generacion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175680 × 4</a:t>
            </a:r>
            <a:endParaRPr lang="en-US" sz="1200" dirty="0"/>
          </a:p>
        </p:txBody>
      </p:sp>
      <p:sp>
        <p:nvSpPr>
          <p:cNvPr id="17" name="Shape 14"/>
          <p:cNvSpPr/>
          <p:nvPr/>
        </p:nvSpPr>
        <p:spPr>
          <a:xfrm>
            <a:off x="5340096" y="6062472"/>
            <a:ext cx="1143000" cy="566928"/>
          </a:xfrm>
          <a:prstGeom prst="roundRect">
            <a:avLst>
              <a:gd name="adj" fmla="val 11290"/>
            </a:avLst>
          </a:prstGeom>
          <a:solidFill>
            <a:srgbClr val="FEF3D6"/>
          </a:solidFill>
          <a:ln w="25400">
            <a:solidFill>
              <a:srgbClr val="F9AB00"/>
            </a:solidFill>
            <a:prstDash val="solid"/>
          </a:ln>
        </p:spPr>
      </p:sp>
      <p:sp>
        <p:nvSpPr>
          <p:cNvPr id="18" name="Text 15"/>
          <p:cNvSpPr txBox="1"/>
          <p:nvPr/>
        </p:nvSpPr>
        <p:spPr>
          <a:xfrm>
            <a:off x="5431536"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como_unir</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"left"</a:t>
            </a:r>
            <a:endParaRPr lang="en-US" sz="1200" dirty="0"/>
          </a:p>
        </p:txBody>
      </p:sp>
      <p:sp>
        <p:nvSpPr>
          <p:cNvPr id="19" name="Shape 16"/>
          <p:cNvSpPr/>
          <p:nvPr/>
        </p:nvSpPr>
        <p:spPr>
          <a:xfrm>
            <a:off x="6620256" y="6062472"/>
            <a:ext cx="1522476" cy="566928"/>
          </a:xfrm>
          <a:prstGeom prst="roundRect">
            <a:avLst>
              <a:gd name="adj" fmla="val 11290"/>
            </a:avLst>
          </a:prstGeom>
          <a:solidFill>
            <a:srgbClr val="E8F0FE"/>
          </a:solidFill>
          <a:ln w="28575">
            <a:solidFill>
              <a:srgbClr val="1A73E8"/>
            </a:solidFill>
            <a:prstDash val="solid"/>
          </a:ln>
        </p:spPr>
      </p:sp>
      <p:sp>
        <p:nvSpPr>
          <p:cNvPr id="20" name="Text 17"/>
          <p:cNvSpPr txBox="1"/>
          <p:nvPr/>
        </p:nvSpPr>
        <p:spPr>
          <a:xfrm>
            <a:off x="6711696"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un_dia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480 × 4</a:t>
            </a:r>
            <a:endParaRPr lang="en-US" sz="1200" dirty="0"/>
          </a:p>
        </p:txBody>
      </p:sp>
      <p:sp>
        <p:nvSpPr>
          <p:cNvPr id="21" name="Text 18"/>
          <p:cNvSpPr txBox="1"/>
          <p:nvPr/>
        </p:nvSpPr>
        <p:spPr>
          <a:xfrm>
            <a:off x="8279892"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8 más</a:t>
            </a:r>
            <a:endParaRPr lang="en-US" sz="1200" dirty="0"/>
          </a:p>
        </p:txBody>
      </p:sp>
      <p:sp>
        <p:nvSpPr>
          <p:cNvPr id="22" name="Text 19"/>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Con left no se pierde nada. Lo que no tiene ficha queda como sin ficha.</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4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une generación con fichas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hay que llevarse de este paso.</a:t>
            </a:r>
            <a:endParaRPr lang="en-US" sz="1400" dirty="0"/>
          </a:p>
        </p:txBody>
      </p:sp>
      <p:sp>
        <p:nvSpPr>
          <p:cNvPr id="7" name="Shape 4"/>
          <p:cNvSpPr/>
          <p:nvPr/>
        </p:nvSpPr>
        <p:spPr>
          <a:xfrm>
            <a:off x="548640" y="1828800"/>
            <a:ext cx="11091672" cy="2377440"/>
          </a:xfrm>
          <a:prstGeom prst="roundRect">
            <a:avLst>
              <a:gd name="adj" fmla="val 3846"/>
            </a:avLst>
          </a:prstGeom>
          <a:solidFill>
            <a:srgbClr val="FFF8D6"/>
          </a:solidFill>
          <a:ln w="12700">
            <a:solidFill>
              <a:srgbClr val="FFF8D6"/>
            </a:solidFill>
            <a:prstDash val="solid"/>
          </a:ln>
        </p:spPr>
      </p:sp>
      <p:sp>
        <p:nvSpPr>
          <p:cNvPr id="8" name="Text 5"/>
          <p:cNvSpPr txBox="1"/>
          <p:nvPr/>
        </p:nvSpPr>
        <p:spPr>
          <a:xfrm>
            <a:off x="1005840" y="2057400"/>
            <a:ext cx="10177272" cy="1005840"/>
          </a:xfrm>
          <a:prstGeom prst="rect">
            <a:avLst/>
          </a:prstGeom>
          <a:noFill/>
          <a:ln/>
        </p:spPr>
        <p:txBody>
          <a:bodyPr wrap="square" lIns="0" tIns="0" rIns="0" bIns="0" rtlCol="0" anchor="t"/>
          <a:lstStyle/>
          <a:p>
            <a:pPr indent="0" marL="0">
              <a:buNone/>
            </a:pPr>
            <a:r>
              <a:rPr lang="en-US" sz="2800" b="1" dirty="0">
                <a:solidFill>
                  <a:srgbClr val="8A6D00"/>
                </a:solidFill>
                <a:latin typeface="Calibri" pitchFamily="34" charset="0"/>
                <a:ea typeface="Calibri" pitchFamily="34" charset="-122"/>
                <a:cs typeface="Calibri" pitchFamily="34" charset="-120"/>
              </a:rPr>
              <a:t>Antes y después de unir, se cuentan las filas y se compara el total.</a:t>
            </a:r>
            <a:endParaRPr lang="en-US" sz="2800" dirty="0"/>
          </a:p>
        </p:txBody>
      </p:sp>
      <p:sp>
        <p:nvSpPr>
          <p:cNvPr id="9" name="Text 6"/>
          <p:cNvSpPr txBox="1"/>
          <p:nvPr/>
        </p:nvSpPr>
        <p:spPr>
          <a:xfrm>
            <a:off x="1005840" y="3154680"/>
            <a:ext cx="10177272" cy="914400"/>
          </a:xfrm>
          <a:prstGeom prst="rect">
            <a:avLst/>
          </a:prstGeom>
          <a:noFill/>
          <a:ln/>
        </p:spPr>
        <p:txBody>
          <a:bodyPr wrap="square" lIns="0" tIns="0" rIns="0" bIns="0" rtlCol="0" anchor="t"/>
          <a:lstStyle/>
          <a:p>
            <a:pPr indent="0" marL="0">
              <a:buNone/>
            </a:pPr>
            <a:r>
              <a:rPr lang="en-US" sz="2200" dirty="0">
                <a:solidFill>
                  <a:srgbClr val="202124"/>
                </a:solidFill>
                <a:latin typeface="Calibri" pitchFamily="34" charset="0"/>
                <a:ea typeface="Calibri" pitchFamily="34" charset="-122"/>
                <a:cs typeface="Calibri" pitchFamily="34" charset="-120"/>
              </a:rPr>
              <a:t>Si el total cambió, algo se perdió o se duplicó en la unión.</a:t>
            </a:r>
            <a:endParaRPr lang="en-US" sz="2200" dirty="0"/>
          </a:p>
        </p:txBody>
      </p:sp>
      <p:sp>
        <p:nvSpPr>
          <p:cNvPr id="10"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1" name="Shape 8"/>
          <p:cNvSpPr/>
          <p:nvPr/>
        </p:nvSpPr>
        <p:spPr>
          <a:xfrm>
            <a:off x="548640" y="6062472"/>
            <a:ext cx="1143000" cy="566928"/>
          </a:xfrm>
          <a:prstGeom prst="roundRect">
            <a:avLst>
              <a:gd name="adj" fmla="val 11290"/>
            </a:avLst>
          </a:prstGeom>
          <a:solidFill>
            <a:srgbClr val="E8F0FE"/>
          </a:solidFill>
          <a:ln w="28575">
            <a:solidFill>
              <a:srgbClr val="1A73E8"/>
            </a:solidFill>
            <a:prstDash val="solid"/>
          </a:ln>
        </p:spPr>
      </p:sp>
      <p:sp>
        <p:nvSpPr>
          <p:cNvPr id="12" name="Text 9"/>
          <p:cNvSpPr txBox="1"/>
          <p:nvPr/>
        </p:nvSpPr>
        <p:spPr>
          <a:xfrm>
            <a:off x="64008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3" name="Shape 10"/>
          <p:cNvSpPr/>
          <p:nvPr/>
        </p:nvSpPr>
        <p:spPr>
          <a:xfrm>
            <a:off x="1828800" y="6062472"/>
            <a:ext cx="1426464" cy="566928"/>
          </a:xfrm>
          <a:prstGeom prst="roundRect">
            <a:avLst>
              <a:gd name="adj" fmla="val 11290"/>
            </a:avLst>
          </a:prstGeom>
          <a:solidFill>
            <a:srgbClr val="E8F0FE"/>
          </a:solidFill>
          <a:ln w="28575">
            <a:solidFill>
              <a:srgbClr val="1A73E8"/>
            </a:solidFill>
            <a:prstDash val="solid"/>
          </a:ln>
        </p:spPr>
      </p:sp>
      <p:sp>
        <p:nvSpPr>
          <p:cNvPr id="14" name="Text 11"/>
          <p:cNvSpPr txBox="1"/>
          <p:nvPr/>
        </p:nvSpPr>
        <p:spPr>
          <a:xfrm>
            <a:off x="1920240"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centrales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20 × 5</a:t>
            </a:r>
            <a:endParaRPr lang="en-US" sz="1200" dirty="0"/>
          </a:p>
        </p:txBody>
      </p:sp>
      <p:sp>
        <p:nvSpPr>
          <p:cNvPr id="15" name="Shape 12"/>
          <p:cNvSpPr/>
          <p:nvPr/>
        </p:nvSpPr>
        <p:spPr>
          <a:xfrm>
            <a:off x="3392424" y="6062472"/>
            <a:ext cx="1810512" cy="566928"/>
          </a:xfrm>
          <a:prstGeom prst="roundRect">
            <a:avLst>
              <a:gd name="adj" fmla="val 11290"/>
            </a:avLst>
          </a:prstGeom>
          <a:solidFill>
            <a:srgbClr val="E8F0FE"/>
          </a:solidFill>
          <a:ln w="28575">
            <a:solidFill>
              <a:srgbClr val="1A73E8"/>
            </a:solidFill>
            <a:prstDash val="solid"/>
          </a:ln>
        </p:spPr>
      </p:sp>
      <p:sp>
        <p:nvSpPr>
          <p:cNvPr id="16" name="Text 13"/>
          <p:cNvSpPr txBox="1"/>
          <p:nvPr/>
        </p:nvSpPr>
        <p:spPr>
          <a:xfrm>
            <a:off x="3483864"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generacion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175680 × 4</a:t>
            </a:r>
            <a:endParaRPr lang="en-US" sz="1200" dirty="0"/>
          </a:p>
        </p:txBody>
      </p:sp>
      <p:sp>
        <p:nvSpPr>
          <p:cNvPr id="17" name="Shape 14"/>
          <p:cNvSpPr/>
          <p:nvPr/>
        </p:nvSpPr>
        <p:spPr>
          <a:xfrm>
            <a:off x="5340096" y="6062472"/>
            <a:ext cx="1143000" cy="566928"/>
          </a:xfrm>
          <a:prstGeom prst="roundRect">
            <a:avLst>
              <a:gd name="adj" fmla="val 11290"/>
            </a:avLst>
          </a:prstGeom>
          <a:solidFill>
            <a:srgbClr val="FEF3D6"/>
          </a:solidFill>
          <a:ln w="25400">
            <a:solidFill>
              <a:srgbClr val="F9AB00"/>
            </a:solidFill>
            <a:prstDash val="solid"/>
          </a:ln>
        </p:spPr>
      </p:sp>
      <p:sp>
        <p:nvSpPr>
          <p:cNvPr id="18" name="Text 15"/>
          <p:cNvSpPr txBox="1"/>
          <p:nvPr/>
        </p:nvSpPr>
        <p:spPr>
          <a:xfrm>
            <a:off x="5431536"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como_unir</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"left"</a:t>
            </a:r>
            <a:endParaRPr lang="en-US" sz="1200" dirty="0"/>
          </a:p>
        </p:txBody>
      </p:sp>
      <p:sp>
        <p:nvSpPr>
          <p:cNvPr id="19" name="Shape 16"/>
          <p:cNvSpPr/>
          <p:nvPr/>
        </p:nvSpPr>
        <p:spPr>
          <a:xfrm>
            <a:off x="6620256" y="6062472"/>
            <a:ext cx="1522476" cy="566928"/>
          </a:xfrm>
          <a:prstGeom prst="roundRect">
            <a:avLst>
              <a:gd name="adj" fmla="val 11290"/>
            </a:avLst>
          </a:prstGeom>
          <a:solidFill>
            <a:srgbClr val="E8F0FE"/>
          </a:solidFill>
          <a:ln w="28575">
            <a:solidFill>
              <a:srgbClr val="1A73E8"/>
            </a:solidFill>
            <a:prstDash val="solid"/>
          </a:ln>
        </p:spPr>
      </p:sp>
      <p:sp>
        <p:nvSpPr>
          <p:cNvPr id="20" name="Text 17"/>
          <p:cNvSpPr txBox="1"/>
          <p:nvPr/>
        </p:nvSpPr>
        <p:spPr>
          <a:xfrm>
            <a:off x="6711696"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un_dia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480 × 4</a:t>
            </a:r>
            <a:endParaRPr lang="en-US" sz="1200" dirty="0"/>
          </a:p>
        </p:txBody>
      </p:sp>
      <p:sp>
        <p:nvSpPr>
          <p:cNvPr id="21" name="Text 18"/>
          <p:cNvSpPr txBox="1"/>
          <p:nvPr/>
        </p:nvSpPr>
        <p:spPr>
          <a:xfrm>
            <a:off x="8279892"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8 más</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¿qué pasa con fichas repetidas?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qué pasa si una ficha viene dos veces.</a:t>
            </a:r>
            <a:endParaRPr lang="en-US" sz="1400" dirty="0"/>
          </a:p>
        </p:txBody>
      </p:sp>
      <p:pic>
        <p:nvPicPr>
          <p:cNvPr id="6" name="Image 0" descr="../../repo/modulos/modulo01/img/lab01_paso10_repetidas.png">    </p:cNvPr>
          <p:cNvPicPr>
            <a:picLocks noChangeAspect="1"/>
          </p:cNvPicPr>
          <p:nvPr/>
        </p:nvPicPr>
        <p:blipFill>
          <a:blip r:embed="rId1"/>
          <a:stretch>
            <a:fillRect/>
          </a:stretch>
        </p:blipFill>
        <p:spPr>
          <a:xfrm>
            <a:off x="613468" y="1463040"/>
            <a:ext cx="10962015" cy="461772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4"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5</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¿qué pasa con fichas repetidas?</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con la casilla sin marcar y mira el total. Después márcala y vuelve a correrla.</a:t>
            </a:r>
            <a:endParaRPr lang="en-US" sz="1400" dirty="0"/>
          </a:p>
        </p:txBody>
      </p:sp>
      <p:sp>
        <p:nvSpPr>
          <p:cNvPr id="7" name="Shape 4"/>
          <p:cNvSpPr/>
          <p:nvPr/>
        </p:nvSpPr>
        <p:spPr>
          <a:xfrm>
            <a:off x="548640" y="1481328"/>
            <a:ext cx="11091672" cy="3771900"/>
          </a:xfrm>
          <a:prstGeom prst="roundRect">
            <a:avLst>
              <a:gd name="adj" fmla="val 1455"/>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7360920" cy="358902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Paso 5</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Marca la casilla para dejar una sola ficha por central.</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quitar_repetidas = False </a:t>
            </a:r>
            <a:pPr indent="0" marL="0">
              <a:buNone/>
            </a:pPr>
            <a:r>
              <a:rPr lang="en-US" sz="1300" dirty="0">
                <a:solidFill>
                  <a:srgbClr val="80868B"/>
                </a:solidFill>
                <a:latin typeface="Courier New" pitchFamily="34" charset="0"/>
                <a:ea typeface="Courier New" pitchFamily="34" charset="-122"/>
                <a:cs typeface="Courier New" pitchFamily="34" charset="-120"/>
              </a:rPr>
              <a:t>#@param {type:"boolean"}</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Una tabla de fichas como llega en la práctica, con dos</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centrales repetidas.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fichas_repetidas = pd.concat([fichas, fichas.head(2)], ignore_index=True)</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if quitar_repetidas: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fichas_repetidas = fichas_repetidas.drop_duplicates(subset=</a:t>
            </a:r>
            <a:pPr indent="0" marL="0">
              <a:buNone/>
            </a:pPr>
            <a:r>
              <a:rPr lang="en-US" sz="1300" dirty="0">
                <a:solidFill>
                  <a:srgbClr val="A31515"/>
                </a:solidFill>
                <a:latin typeface="Courier New" pitchFamily="34" charset="0"/>
                <a:ea typeface="Courier New" pitchFamily="34" charset="-122"/>
                <a:cs typeface="Courier New" pitchFamily="34" charset="-120"/>
              </a:rPr>
              <a:t>"central"</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unido = pd.merge(un_dia, fichas_repetidas, on=</a:t>
            </a:r>
            <a:pPr indent="0" marL="0">
              <a:buNone/>
            </a:pPr>
            <a:r>
              <a:rPr lang="en-US" sz="1300" dirty="0">
                <a:solidFill>
                  <a:srgbClr val="A31515"/>
                </a:solidFill>
                <a:latin typeface="Courier New" pitchFamily="34" charset="0"/>
                <a:ea typeface="Courier New" pitchFamily="34" charset="-122"/>
                <a:cs typeface="Courier New" pitchFamily="34" charset="-120"/>
              </a:rPr>
              <a:t>"central"</a:t>
            </a:r>
            <a:pPr indent="0" marL="0">
              <a:buNone/>
            </a:pPr>
            <a:r>
              <a:rPr lang="en-US" sz="1300" dirty="0">
                <a:solidFill>
                  <a:srgbClr val="202124"/>
                </a:solidFill>
                <a:latin typeface="Courier New" pitchFamily="34" charset="0"/>
                <a:ea typeface="Courier New" pitchFamily="34" charset="-122"/>
                <a:cs typeface="Courier New" pitchFamily="34" charset="-120"/>
              </a:rPr>
              <a:t>, how=</a:t>
            </a:r>
            <a:pPr indent="0" marL="0">
              <a:buNone/>
            </a:pPr>
            <a:r>
              <a:rPr lang="en-US" sz="1300" dirty="0">
                <a:solidFill>
                  <a:srgbClr val="A31515"/>
                </a:solidFill>
                <a:latin typeface="Courier New" pitchFamily="34" charset="0"/>
                <a:ea typeface="Courier New" pitchFamily="34" charset="-122"/>
                <a:cs typeface="Courier New" pitchFamily="34" charset="-120"/>
              </a:rPr>
              <a:t>"left"</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real = round(un_dia[</a:t>
            </a:r>
            <a:pPr indent="0" marL="0">
              <a:buNone/>
            </a:pPr>
            <a:r>
              <a:rPr lang="en-US" sz="1300" dirty="0">
                <a:solidFill>
                  <a:srgbClr val="A31515"/>
                </a:solidFill>
                <a:latin typeface="Courier New" pitchFamily="34" charset="0"/>
                <a:ea typeface="Courier New" pitchFamily="34" charset="-122"/>
                <a:cs typeface="Courier New" pitchFamily="34" charset="-120"/>
              </a:rPr>
              <a:t>"mwh"</a:t>
            </a:r>
            <a:pPr indent="0" marL="0">
              <a:buNone/>
            </a:pPr>
            <a:r>
              <a:rPr lang="en-US" sz="1300" dirty="0">
                <a:solidFill>
                  <a:srgbClr val="202124"/>
                </a:solidFill>
                <a:latin typeface="Courier New" pitchFamily="34" charset="0"/>
                <a:ea typeface="Courier New" pitchFamily="34" charset="-122"/>
                <a:cs typeface="Courier New" pitchFamily="34" charset="-120"/>
              </a:rPr>
              <a:t>].sum(), 1)</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unida = round(unido[</a:t>
            </a:r>
            <a:pPr indent="0" marL="0">
              <a:buNone/>
            </a:pPr>
            <a:r>
              <a:rPr lang="en-US" sz="1300" dirty="0">
                <a:solidFill>
                  <a:srgbClr val="A31515"/>
                </a:solidFill>
                <a:latin typeface="Courier New" pitchFamily="34" charset="0"/>
                <a:ea typeface="Courier New" pitchFamily="34" charset="-122"/>
                <a:cs typeface="Courier New" pitchFamily="34" charset="-120"/>
              </a:rPr>
              <a:t>"mwh"</a:t>
            </a:r>
            <a:pPr indent="0" marL="0">
              <a:buNone/>
            </a:pPr>
            <a:r>
              <a:rPr lang="en-US" sz="1300" dirty="0">
                <a:solidFill>
                  <a:srgbClr val="202124"/>
                </a:solidFill>
                <a:latin typeface="Courier New" pitchFamily="34" charset="0"/>
                <a:ea typeface="Courier New" pitchFamily="34" charset="-122"/>
                <a:cs typeface="Courier New" pitchFamily="34" charset="-120"/>
              </a:rPr>
              <a:t>].sum(), 1)</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"Filas antes de unir"</a:t>
            </a:r>
            <a:pPr indent="0" marL="0">
              <a:buNone/>
            </a:pPr>
            <a:r>
              <a:rPr lang="en-US" sz="1300" dirty="0">
                <a:solidFill>
                  <a:srgbClr val="202124"/>
                </a:solidFill>
                <a:latin typeface="Courier New" pitchFamily="34" charset="0"/>
                <a:ea typeface="Courier New" pitchFamily="34" charset="-122"/>
                <a:cs typeface="Courier New" pitchFamily="34" charset="-120"/>
              </a:rPr>
              <a:t>, un_dia.shape[0], </a:t>
            </a:r>
            <a:pPr indent="0" marL="0">
              <a:buNone/>
            </a:pPr>
            <a:r>
              <a:rPr lang="en-US" sz="1300" dirty="0">
                <a:solidFill>
                  <a:srgbClr val="A31515"/>
                </a:solidFill>
                <a:latin typeface="Courier New" pitchFamily="34" charset="0"/>
                <a:ea typeface="Courier New" pitchFamily="34" charset="-122"/>
                <a:cs typeface="Courier New" pitchFamily="34" charset="-120"/>
              </a:rPr>
              <a:t>"y después"</a:t>
            </a:r>
            <a:pPr indent="0" marL="0">
              <a:buNone/>
            </a:pPr>
            <a:r>
              <a:rPr lang="en-US" sz="1300" dirty="0">
                <a:solidFill>
                  <a:srgbClr val="202124"/>
                </a:solidFill>
                <a:latin typeface="Courier New" pitchFamily="34" charset="0"/>
                <a:ea typeface="Courier New" pitchFamily="34" charset="-122"/>
                <a:cs typeface="Courier New" pitchFamily="34" charset="-120"/>
              </a:rPr>
              <a:t>, unido.shape[0])</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"Generación real"</a:t>
            </a:r>
            <a:pPr indent="0" marL="0">
              <a:buNone/>
            </a:pPr>
            <a:r>
              <a:rPr lang="en-US" sz="1300" dirty="0">
                <a:solidFill>
                  <a:srgbClr val="202124"/>
                </a:solidFill>
                <a:latin typeface="Courier New" pitchFamily="34" charset="0"/>
                <a:ea typeface="Courier New" pitchFamily="34" charset="-122"/>
                <a:cs typeface="Courier New" pitchFamily="34" charset="-120"/>
              </a:rPr>
              <a:t>, real, </a:t>
            </a:r>
            <a:pPr indent="0" marL="0">
              <a:buNone/>
            </a:pPr>
            <a:r>
              <a:rPr lang="en-US" sz="1300" dirty="0">
                <a:solidFill>
                  <a:srgbClr val="A31515"/>
                </a:solidFill>
                <a:latin typeface="Courier New" pitchFamily="34" charset="0"/>
                <a:ea typeface="Courier New" pitchFamily="34" charset="-122"/>
                <a:cs typeface="Courier New" pitchFamily="34" charset="-120"/>
              </a:rPr>
              <a:t>"MWh y generación unida"</a:t>
            </a:r>
            <a:pPr indent="0" marL="0">
              <a:buNone/>
            </a:pPr>
            <a:r>
              <a:rPr lang="en-US" sz="1300" dirty="0">
                <a:solidFill>
                  <a:srgbClr val="202124"/>
                </a:solidFill>
                <a:latin typeface="Courier New" pitchFamily="34" charset="0"/>
                <a:ea typeface="Courier New" pitchFamily="34" charset="-122"/>
                <a:cs typeface="Courier New" pitchFamily="34" charset="-120"/>
              </a:rPr>
              <a:t>, unida, </a:t>
            </a:r>
            <a:pPr indent="0" marL="0">
              <a:buNone/>
            </a:pPr>
            <a:r>
              <a:rPr lang="en-US" sz="1300" dirty="0">
                <a:solidFill>
                  <a:srgbClr val="A31515"/>
                </a:solidFill>
                <a:latin typeface="Courier New" pitchFamily="34" charset="0"/>
                <a:ea typeface="Courier New" pitchFamily="34" charset="-122"/>
                <a:cs typeface="Courier New" pitchFamily="34" charset="-120"/>
              </a:rPr>
              <a:t>"MWh"</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if unida == real:</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print(</a:t>
            </a:r>
            <a:pPr indent="0" marL="0">
              <a:buNone/>
            </a:pPr>
            <a:r>
              <a:rPr lang="en-US" sz="1300" dirty="0">
                <a:solidFill>
                  <a:srgbClr val="A31515"/>
                </a:solidFill>
                <a:latin typeface="Courier New" pitchFamily="34" charset="0"/>
                <a:ea typeface="Courier New" pitchFamily="34" charset="-122"/>
                <a:cs typeface="Courier New" pitchFamily="34" charset="-120"/>
              </a:rPr>
              <a:t>"✓ La generación unida calza con la real"</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p:txBody>
      </p:sp>
      <p:sp>
        <p:nvSpPr>
          <p:cNvPr id="11" name="Text 8"/>
          <p:cNvSpPr txBox="1"/>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quitar_repetidas</a:t>
            </a:r>
            <a:endParaRPr lang="en-US" sz="1100" dirty="0"/>
          </a:p>
        </p:txBody>
      </p:sp>
      <p:sp>
        <p:nvSpPr>
          <p:cNvPr id="12" name="Shape 9"/>
          <p:cNvSpPr/>
          <p:nvPr/>
        </p:nvSpPr>
        <p:spPr>
          <a:xfrm>
            <a:off x="8823960" y="1892808"/>
            <a:ext cx="274320" cy="274320"/>
          </a:xfrm>
          <a:prstGeom prst="rect">
            <a:avLst/>
          </a:prstGeom>
          <a:solidFill>
            <a:srgbClr val="FFFFFF"/>
          </a:solidFill>
          <a:ln w="15875">
            <a:solidFill>
              <a:srgbClr val="9AA0A6"/>
            </a:solidFill>
            <a:prstDash val="solid"/>
          </a:ln>
        </p:spPr>
      </p:sp>
      <p:sp>
        <p:nvSpPr>
          <p:cNvPr id="13" name="Text 10"/>
          <p:cNvSpPr txBox="1"/>
          <p:nvPr/>
        </p:nvSpPr>
        <p:spPr>
          <a:xfrm>
            <a:off x="9208008" y="1892808"/>
            <a:ext cx="1828800" cy="274320"/>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sin marcar</a:t>
            </a:r>
            <a:endParaRPr lang="en-US" sz="1200" dirty="0"/>
          </a:p>
        </p:txBody>
      </p:sp>
      <p:sp>
        <p:nvSpPr>
          <p:cNvPr id="14" name="Text 11"/>
          <p:cNvSpPr txBox="1"/>
          <p:nvPr/>
        </p:nvSpPr>
        <p:spPr>
          <a:xfrm>
            <a:off x="1325880" y="528980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5" name="Text 12"/>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6" name="Shape 13"/>
          <p:cNvSpPr/>
          <p:nvPr/>
        </p:nvSpPr>
        <p:spPr>
          <a:xfrm>
            <a:off x="548640" y="6062472"/>
            <a:ext cx="2002536" cy="566928"/>
          </a:xfrm>
          <a:prstGeom prst="roundRect">
            <a:avLst>
              <a:gd name="adj" fmla="val 11290"/>
            </a:avLst>
          </a:prstGeom>
          <a:solidFill>
            <a:srgbClr val="F1F3F4"/>
          </a:solidFill>
          <a:ln w="12700">
            <a:solidFill>
              <a:srgbClr val="DADCE0"/>
            </a:solidFill>
            <a:prstDash val="solid"/>
          </a:ln>
        </p:spPr>
      </p:sp>
      <p:sp>
        <p:nvSpPr>
          <p:cNvPr id="17" name="Text 14"/>
          <p:cNvSpPr txBox="1"/>
          <p:nvPr/>
        </p:nvSpPr>
        <p:spPr>
          <a:xfrm>
            <a:off x="640080"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por_tecnologia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 valores</a:t>
            </a:r>
            <a:endParaRPr lang="en-US" sz="1200" dirty="0"/>
          </a:p>
        </p:txBody>
      </p:sp>
      <p:sp>
        <p:nvSpPr>
          <p:cNvPr id="18" name="Shape 15"/>
          <p:cNvSpPr/>
          <p:nvPr/>
        </p:nvSpPr>
        <p:spPr>
          <a:xfrm>
            <a:off x="2688336" y="6062472"/>
            <a:ext cx="1714500" cy="566928"/>
          </a:xfrm>
          <a:prstGeom prst="roundRect">
            <a:avLst>
              <a:gd name="adj" fmla="val 11290"/>
            </a:avLst>
          </a:prstGeom>
          <a:solidFill>
            <a:srgbClr val="F1F3F4"/>
          </a:solidFill>
          <a:ln w="12700">
            <a:solidFill>
              <a:srgbClr val="DADCE0"/>
            </a:solidFill>
            <a:prstDash val="solid"/>
          </a:ln>
        </p:spPr>
      </p:sp>
      <p:sp>
        <p:nvSpPr>
          <p:cNvPr id="19" name="Text 16"/>
          <p:cNvSpPr txBox="1"/>
          <p:nvPr/>
        </p:nvSpPr>
        <p:spPr>
          <a:xfrm>
            <a:off x="2779776" y="6071616"/>
            <a:ext cx="15773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unido_con_ficha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480 × 8</a:t>
            </a:r>
            <a:endParaRPr lang="en-US" sz="1200" dirty="0"/>
          </a:p>
        </p:txBody>
      </p:sp>
      <p:sp>
        <p:nvSpPr>
          <p:cNvPr id="20" name="Shape 17"/>
          <p:cNvSpPr/>
          <p:nvPr/>
        </p:nvSpPr>
        <p:spPr>
          <a:xfrm>
            <a:off x="4539996" y="6062472"/>
            <a:ext cx="1522476" cy="566928"/>
          </a:xfrm>
          <a:prstGeom prst="roundRect">
            <a:avLst>
              <a:gd name="adj" fmla="val 11290"/>
            </a:avLst>
          </a:prstGeom>
          <a:solidFill>
            <a:srgbClr val="F1F3F4"/>
          </a:solidFill>
          <a:ln w="12700">
            <a:solidFill>
              <a:srgbClr val="DADCE0"/>
            </a:solidFill>
            <a:prstDash val="solid"/>
          </a:ln>
        </p:spPr>
      </p:sp>
      <p:sp>
        <p:nvSpPr>
          <p:cNvPr id="21" name="Text 18"/>
          <p:cNvSpPr txBox="1"/>
          <p:nvPr/>
        </p:nvSpPr>
        <p:spPr>
          <a:xfrm>
            <a:off x="4631436"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unido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480 × 8</a:t>
            </a:r>
            <a:endParaRPr lang="en-US" sz="1200" dirty="0"/>
          </a:p>
        </p:txBody>
      </p:sp>
      <p:sp>
        <p:nvSpPr>
          <p:cNvPr id="22" name="Shape 19"/>
          <p:cNvSpPr/>
          <p:nvPr/>
        </p:nvSpPr>
        <p:spPr>
          <a:xfrm>
            <a:off x="6199632" y="6062472"/>
            <a:ext cx="1426464" cy="566928"/>
          </a:xfrm>
          <a:prstGeom prst="roundRect">
            <a:avLst>
              <a:gd name="adj" fmla="val 11290"/>
            </a:avLst>
          </a:prstGeom>
          <a:solidFill>
            <a:srgbClr val="F1F3F4"/>
          </a:solidFill>
          <a:ln w="12700">
            <a:solidFill>
              <a:srgbClr val="DADCE0"/>
            </a:solidFill>
            <a:prstDash val="solid"/>
          </a:ln>
        </p:spPr>
      </p:sp>
      <p:sp>
        <p:nvSpPr>
          <p:cNvPr id="23" name="Text 20"/>
          <p:cNvSpPr txBox="1"/>
          <p:nvPr/>
        </p:nvSpPr>
        <p:spPr>
          <a:xfrm>
            <a:off x="6291072"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fichas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17 × 5</a:t>
            </a:r>
            <a:endParaRPr lang="en-US" sz="1200" dirty="0"/>
          </a:p>
        </p:txBody>
      </p:sp>
      <p:sp>
        <p:nvSpPr>
          <p:cNvPr id="24" name="Shape 21"/>
          <p:cNvSpPr/>
          <p:nvPr/>
        </p:nvSpPr>
        <p:spPr>
          <a:xfrm>
            <a:off x="7763256" y="6062472"/>
            <a:ext cx="2770632" cy="566928"/>
          </a:xfrm>
          <a:prstGeom prst="roundRect">
            <a:avLst>
              <a:gd name="adj" fmla="val 11290"/>
            </a:avLst>
          </a:prstGeom>
          <a:solidFill>
            <a:srgbClr val="F1F3F4"/>
          </a:solidFill>
          <a:ln w="12700">
            <a:solidFill>
              <a:srgbClr val="DADCE0"/>
            </a:solidFill>
            <a:prstDash val="solid"/>
          </a:ln>
        </p:spPr>
      </p:sp>
      <p:sp>
        <p:nvSpPr>
          <p:cNvPr id="25" name="Text 22"/>
          <p:cNvSpPr txBox="1"/>
          <p:nvPr/>
        </p:nvSpPr>
        <p:spPr>
          <a:xfrm>
            <a:off x="7854696"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sin_ficha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['Eólica Loma Fría', 'Cen…</a:t>
            </a:r>
            <a:endParaRPr lang="en-US" sz="1200" dirty="0"/>
          </a:p>
        </p:txBody>
      </p:sp>
      <p:sp>
        <p:nvSpPr>
          <p:cNvPr id="26" name="Text 23"/>
          <p:cNvSpPr txBox="1"/>
          <p:nvPr/>
        </p:nvSpPr>
        <p:spPr>
          <a:xfrm>
            <a:off x="10671048"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8 más</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¿qué pasa con fichas repetidas?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fichas_repetidas = pd.concat([fichas, fichas.head(2)], ignore_index=True)</a:t>
            </a:r>
            <a:endParaRPr lang="en-US" sz="1600" dirty="0"/>
          </a:p>
        </p:txBody>
      </p:sp>
      <p:sp>
        <p:nvSpPr>
          <p:cNvPr id="8" name="Shape 6"/>
          <p:cNvSpPr/>
          <p:nvPr/>
        </p:nvSpPr>
        <p:spPr>
          <a:xfrm>
            <a:off x="548640" y="2320544"/>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2054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530352"/>
          </a:xfrm>
          <a:prstGeom prst="roundRect">
            <a:avLst>
              <a:gd name="adj" fmla="val 8621"/>
            </a:avLst>
          </a:prstGeom>
          <a:solidFill>
            <a:srgbClr val="DBE9FB"/>
          </a:solidFill>
          <a:ln w="12700">
            <a:solidFill>
              <a:srgbClr val="DBE9FB"/>
            </a:solidFill>
            <a:prstDash val="solid"/>
          </a:ln>
        </p:spPr>
      </p:sp>
      <p:sp>
        <p:nvSpPr>
          <p:cNvPr id="11" name="Text 9"/>
          <p:cNvSpPr txBox="1"/>
          <p:nvPr/>
        </p:nvSpPr>
        <p:spPr>
          <a:xfrm>
            <a:off x="1170432" y="221996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fichas.head(2)</a:t>
            </a:r>
            <a:endParaRPr lang="en-US" sz="1400" dirty="0"/>
          </a:p>
        </p:txBody>
      </p:sp>
      <p:sp>
        <p:nvSpPr>
          <p:cNvPr id="12" name="Text 10"/>
          <p:cNvSpPr txBox="1"/>
          <p:nvPr/>
        </p:nvSpPr>
        <p:spPr>
          <a:xfrm>
            <a:off x="6263640" y="221996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Las dos primeras fichas.</a:t>
            </a:r>
            <a:endParaRPr lang="en-US" sz="1600" dirty="0"/>
          </a:p>
        </p:txBody>
      </p:sp>
      <p:sp>
        <p:nvSpPr>
          <p:cNvPr id="13" name="Shape 11"/>
          <p:cNvSpPr/>
          <p:nvPr/>
        </p:nvSpPr>
        <p:spPr>
          <a:xfrm>
            <a:off x="548640" y="2942336"/>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294233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841752"/>
            <a:ext cx="4937760" cy="530352"/>
          </a:xfrm>
          <a:prstGeom prst="roundRect">
            <a:avLst>
              <a:gd name="adj" fmla="val 8621"/>
            </a:avLst>
          </a:prstGeom>
          <a:solidFill>
            <a:srgbClr val="DCEFE0"/>
          </a:solidFill>
          <a:ln w="12700">
            <a:solidFill>
              <a:srgbClr val="DCEFE0"/>
            </a:solidFill>
            <a:prstDash val="solid"/>
          </a:ln>
        </p:spPr>
      </p:sp>
      <p:sp>
        <p:nvSpPr>
          <p:cNvPr id="16" name="Text 14"/>
          <p:cNvSpPr txBox="1"/>
          <p:nvPr/>
        </p:nvSpPr>
        <p:spPr>
          <a:xfrm>
            <a:off x="1170432" y="2841752"/>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[fichas, fichas.head(2)]</a:t>
            </a:r>
            <a:endParaRPr lang="en-US" sz="1400" dirty="0"/>
          </a:p>
        </p:txBody>
      </p:sp>
      <p:sp>
        <p:nvSpPr>
          <p:cNvPr id="17" name="Text 15"/>
          <p:cNvSpPr txBox="1"/>
          <p:nvPr/>
        </p:nvSpPr>
        <p:spPr>
          <a:xfrm>
            <a:off x="6263640" y="2841752"/>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Una lista con dos tablas.</a:t>
            </a:r>
            <a:endParaRPr lang="en-US" sz="1600" dirty="0"/>
          </a:p>
        </p:txBody>
      </p:sp>
      <p:sp>
        <p:nvSpPr>
          <p:cNvPr id="18" name="Shape 16"/>
          <p:cNvSpPr/>
          <p:nvPr/>
        </p:nvSpPr>
        <p:spPr>
          <a:xfrm>
            <a:off x="548640" y="3564128"/>
            <a:ext cx="329184" cy="329184"/>
          </a:xfrm>
          <a:prstGeom prst="ellipse">
            <a:avLst/>
          </a:prstGeom>
          <a:solidFill>
            <a:srgbClr val="B07D00"/>
          </a:solidFill>
          <a:ln w="12700">
            <a:solidFill>
              <a:srgbClr val="B07D00"/>
            </a:solidFill>
            <a:prstDash val="solid"/>
          </a:ln>
        </p:spPr>
      </p:sp>
      <p:sp>
        <p:nvSpPr>
          <p:cNvPr id="19" name="Text 17"/>
          <p:cNvSpPr txBox="1"/>
          <p:nvPr/>
        </p:nvSpPr>
        <p:spPr>
          <a:xfrm>
            <a:off x="548640" y="35641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463544"/>
            <a:ext cx="4937760" cy="530352"/>
          </a:xfrm>
          <a:prstGeom prst="roundRect">
            <a:avLst>
              <a:gd name="adj" fmla="val 8621"/>
            </a:avLst>
          </a:prstGeom>
          <a:solidFill>
            <a:srgbClr val="FDF0C8"/>
          </a:solidFill>
          <a:ln w="12700">
            <a:solidFill>
              <a:srgbClr val="FDF0C8"/>
            </a:solidFill>
            <a:prstDash val="solid"/>
          </a:ln>
        </p:spPr>
      </p:sp>
      <p:sp>
        <p:nvSpPr>
          <p:cNvPr id="21" name="Text 19"/>
          <p:cNvSpPr txBox="1"/>
          <p:nvPr/>
        </p:nvSpPr>
        <p:spPr>
          <a:xfrm>
            <a:off x="1170432" y="3463544"/>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pd.concat( ... )</a:t>
            </a:r>
            <a:endParaRPr lang="en-US" sz="1400" dirty="0"/>
          </a:p>
        </p:txBody>
      </p:sp>
      <p:sp>
        <p:nvSpPr>
          <p:cNvPr id="22" name="Text 20"/>
          <p:cNvSpPr txBox="1"/>
          <p:nvPr/>
        </p:nvSpPr>
        <p:spPr>
          <a:xfrm>
            <a:off x="6263640" y="3463544"/>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Pega las tablas una debajo de la otra.</a:t>
            </a:r>
            <a:endParaRPr lang="en-US" sz="1600" dirty="0"/>
          </a:p>
        </p:txBody>
      </p:sp>
      <p:sp>
        <p:nvSpPr>
          <p:cNvPr id="23" name="Shape 21"/>
          <p:cNvSpPr/>
          <p:nvPr/>
        </p:nvSpPr>
        <p:spPr>
          <a:xfrm>
            <a:off x="548640" y="4185920"/>
            <a:ext cx="329184" cy="329184"/>
          </a:xfrm>
          <a:prstGeom prst="ellipse">
            <a:avLst/>
          </a:prstGeom>
          <a:solidFill>
            <a:srgbClr val="7B4FC9"/>
          </a:solidFill>
          <a:ln w="12700">
            <a:solidFill>
              <a:srgbClr val="7B4FC9"/>
            </a:solidFill>
            <a:prstDash val="solid"/>
          </a:ln>
        </p:spPr>
      </p:sp>
      <p:sp>
        <p:nvSpPr>
          <p:cNvPr id="24" name="Text 22"/>
          <p:cNvSpPr txBox="1"/>
          <p:nvPr/>
        </p:nvSpPr>
        <p:spPr>
          <a:xfrm>
            <a:off x="548640" y="418592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Shape 23"/>
          <p:cNvSpPr/>
          <p:nvPr/>
        </p:nvSpPr>
        <p:spPr>
          <a:xfrm>
            <a:off x="1051560" y="4085336"/>
            <a:ext cx="4937760" cy="530352"/>
          </a:xfrm>
          <a:prstGeom prst="roundRect">
            <a:avLst>
              <a:gd name="adj" fmla="val 8621"/>
            </a:avLst>
          </a:prstGeom>
          <a:solidFill>
            <a:srgbClr val="ECE2FA"/>
          </a:solidFill>
          <a:ln w="12700">
            <a:solidFill>
              <a:srgbClr val="ECE2FA"/>
            </a:solidFill>
            <a:prstDash val="solid"/>
          </a:ln>
        </p:spPr>
      </p:sp>
      <p:sp>
        <p:nvSpPr>
          <p:cNvPr id="26" name="Text 24"/>
          <p:cNvSpPr txBox="1"/>
          <p:nvPr/>
        </p:nvSpPr>
        <p:spPr>
          <a:xfrm>
            <a:off x="1170432" y="4085336"/>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ignore_index=True</a:t>
            </a:r>
            <a:endParaRPr lang="en-US" sz="1400" dirty="0"/>
          </a:p>
        </p:txBody>
      </p:sp>
      <p:sp>
        <p:nvSpPr>
          <p:cNvPr id="27" name="Text 25"/>
          <p:cNvSpPr txBox="1"/>
          <p:nvPr/>
        </p:nvSpPr>
        <p:spPr>
          <a:xfrm>
            <a:off x="6263640" y="4085336"/>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Vuelve a numerar las filas desde cero.</a:t>
            </a:r>
            <a:endParaRPr lang="en-US" sz="1600" dirty="0"/>
          </a:p>
        </p:txBody>
      </p:sp>
      <p:sp>
        <p:nvSpPr>
          <p:cNvPr id="28" name="Shape 26"/>
          <p:cNvSpPr/>
          <p:nvPr/>
        </p:nvSpPr>
        <p:spPr>
          <a:xfrm>
            <a:off x="548640" y="5989320"/>
            <a:ext cx="73152" cy="548640"/>
          </a:xfrm>
          <a:prstGeom prst="rect">
            <a:avLst/>
          </a:prstGeom>
          <a:solidFill>
            <a:srgbClr val="0B3D62"/>
          </a:solidFill>
          <a:ln w="12700">
            <a:solidFill>
              <a:srgbClr val="0B3D62"/>
            </a:solidFill>
            <a:prstDash val="solid"/>
          </a:ln>
        </p:spPr>
      </p:sp>
      <p:sp>
        <p:nvSpPr>
          <p:cNvPr id="29" name="Text 27"/>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pega al final de fichas sus dos primeras filas otra vez.</a:t>
            </a:r>
            <a:endParaRPr lang="en-US" sz="15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¿qué pasa con fichas repetidas?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con la casilla sin marcar y mira el total. Después márcala y vuelve a correrla.</a:t>
            </a:r>
            <a:endParaRPr lang="en-US" sz="1400" dirty="0"/>
          </a:p>
        </p:txBody>
      </p:sp>
      <p:sp>
        <p:nvSpPr>
          <p:cNvPr id="6" name="Shape 4"/>
          <p:cNvSpPr/>
          <p:nvPr/>
        </p:nvSpPr>
        <p:spPr>
          <a:xfrm>
            <a:off x="548640" y="1481328"/>
            <a:ext cx="11091672" cy="3227832"/>
          </a:xfrm>
          <a:prstGeom prst="roundRect">
            <a:avLst>
              <a:gd name="adj" fmla="val 1700"/>
            </a:avLst>
          </a:prstGeom>
          <a:solidFill>
            <a:srgbClr val="F8F9FA"/>
          </a:solidFill>
          <a:ln w="12700">
            <a:solidFill>
              <a:srgbClr val="DADCE0"/>
            </a:solidFill>
            <a:prstDash val="solid"/>
          </a:ln>
        </p:spPr>
      </p:sp>
      <p:sp>
        <p:nvSpPr>
          <p:cNvPr id="7" name="Shape 5"/>
          <p:cNvSpPr/>
          <p:nvPr/>
        </p:nvSpPr>
        <p:spPr>
          <a:xfrm>
            <a:off x="713232" y="1600200"/>
            <a:ext cx="420624" cy="420624"/>
          </a:xfrm>
          <a:prstGeom prst="ellipse">
            <a:avLst/>
          </a:prstGeom>
          <a:solidFill>
            <a:srgbClr val="E8EAED"/>
          </a:solidFill>
          <a:ln w="12700">
            <a:solidFill>
              <a:srgbClr val="E8EAED"/>
            </a:solidFill>
            <a:prstDash val="solid"/>
          </a:ln>
        </p:spPr>
      </p:sp>
      <p:sp>
        <p:nvSpPr>
          <p:cNvPr id="8" name="Shape 6"/>
          <p:cNvSpPr/>
          <p:nvPr/>
        </p:nvSpPr>
        <p:spPr>
          <a:xfrm rot="5400000">
            <a:off x="850392" y="1719072"/>
            <a:ext cx="182880" cy="182880"/>
          </a:xfrm>
          <a:prstGeom prst="triangle">
            <a:avLst/>
          </a:prstGeom>
          <a:solidFill>
            <a:srgbClr val="5F6368"/>
          </a:solidFill>
          <a:ln w="12700">
            <a:solidFill>
              <a:srgbClr val="5F6368"/>
            </a:solidFill>
            <a:prstDash val="solid"/>
          </a:ln>
        </p:spPr>
      </p:sp>
      <p:sp>
        <p:nvSpPr>
          <p:cNvPr id="9" name="Text 7"/>
          <p:cNvSpPr txBox="1"/>
          <p:nvPr/>
        </p:nvSpPr>
        <p:spPr>
          <a:xfrm>
            <a:off x="1325880" y="1600200"/>
            <a:ext cx="7360920" cy="3044952"/>
          </a:xfrm>
          <a:prstGeom prst="rect">
            <a:avLst/>
          </a:prstGeom>
          <a:noFill/>
          <a:ln/>
        </p:spPr>
        <p:txBody>
          <a:bodyPr wrap="square" lIns="0" tIns="0" rIns="0" bIns="0" rtlCol="0" anchor="t"/>
          <a:lstStyle/>
          <a:p>
            <a:pPr indent="0" marL="0">
              <a:buNone/>
            </a:pPr>
            <a:r>
              <a:rPr lang="en-US" sz="1100" i="1" dirty="0">
                <a:solidFill>
                  <a:srgbClr val="188038"/>
                </a:solidFill>
                <a:latin typeface="Courier New" pitchFamily="34" charset="0"/>
                <a:ea typeface="Courier New" pitchFamily="34" charset="-122"/>
                <a:cs typeface="Courier New" pitchFamily="34" charset="-120"/>
              </a:rPr>
              <a:t># Paso 5</a:t>
            </a:r>
            <a:endParaRPr lang="en-US" sz="1100" dirty="0"/>
          </a:p>
          <a:p>
            <a:pPr indent="0" marL="0">
              <a:buNone/>
            </a:pPr>
            <a:r>
              <a:rPr lang="en-US" sz="1100" i="1" dirty="0">
                <a:solidFill>
                  <a:srgbClr val="188038"/>
                </a:solidFill>
                <a:latin typeface="Courier New" pitchFamily="34" charset="0"/>
                <a:ea typeface="Courier New" pitchFamily="34" charset="-122"/>
                <a:cs typeface="Courier New" pitchFamily="34" charset="-120"/>
              </a:rPr>
              <a:t># Marca la casilla para dejar una sola ficha por central.</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quitar_repetidas = False </a:t>
            </a:r>
            <a:pPr indent="0" marL="0">
              <a:buNone/>
            </a:pPr>
            <a:r>
              <a:rPr lang="en-US" sz="1100" dirty="0">
                <a:solidFill>
                  <a:srgbClr val="80868B"/>
                </a:solidFill>
                <a:latin typeface="Courier New" pitchFamily="34" charset="0"/>
                <a:ea typeface="Courier New" pitchFamily="34" charset="-122"/>
                <a:cs typeface="Courier New" pitchFamily="34" charset="-120"/>
              </a:rPr>
              <a:t>#@param {type:"boolean"}</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 </a:t>
            </a:r>
            <a:endParaRPr lang="en-US" sz="1100" dirty="0"/>
          </a:p>
          <a:p>
            <a:pPr indent="0" marL="0">
              <a:buNone/>
            </a:pPr>
            <a:r>
              <a:rPr lang="en-US" sz="1100" i="1" dirty="0">
                <a:solidFill>
                  <a:srgbClr val="188038"/>
                </a:solidFill>
                <a:latin typeface="Courier New" pitchFamily="34" charset="0"/>
                <a:ea typeface="Courier New" pitchFamily="34" charset="-122"/>
                <a:cs typeface="Courier New" pitchFamily="34" charset="-120"/>
              </a:rPr>
              <a:t># Una tabla de fichas como llega en la práctica, con dos</a:t>
            </a:r>
            <a:endParaRPr lang="en-US" sz="1100" dirty="0"/>
          </a:p>
          <a:p>
            <a:pPr indent="0" marL="0">
              <a:buNone/>
            </a:pPr>
            <a:r>
              <a:rPr lang="en-US" sz="1100" i="1" dirty="0">
                <a:solidFill>
                  <a:srgbClr val="188038"/>
                </a:solidFill>
                <a:latin typeface="Courier New" pitchFamily="34" charset="0"/>
                <a:ea typeface="Courier New" pitchFamily="34" charset="-122"/>
                <a:cs typeface="Courier New" pitchFamily="34" charset="-120"/>
              </a:rPr>
              <a:t># centrales repetidas.</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fichas_repetidas = pd.concat([fichas, fichas.head(2)], ignore_index=True)</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if quitar_repetidas:</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    fichas_repetidas = fichas_repetidas.drop_duplicates(subset=</a:t>
            </a:r>
            <a:pPr indent="0" marL="0">
              <a:buNone/>
            </a:pPr>
            <a:r>
              <a:rPr lang="en-US" sz="1100" dirty="0">
                <a:solidFill>
                  <a:srgbClr val="A31515"/>
                </a:solidFill>
                <a:latin typeface="Courier New" pitchFamily="34" charset="0"/>
                <a:ea typeface="Courier New" pitchFamily="34" charset="-122"/>
                <a:cs typeface="Courier New" pitchFamily="34" charset="-120"/>
              </a:rPr>
              <a:t>"central"</a:t>
            </a:r>
            <a:pPr indent="0" marL="0">
              <a:buNone/>
            </a:pPr>
            <a:r>
              <a:rPr lang="en-US" sz="1100" dirty="0">
                <a:solidFill>
                  <a:srgbClr val="202124"/>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unido = pd.merge(un_dia, fichas_repetidas, on=</a:t>
            </a:r>
            <a:pPr indent="0" marL="0">
              <a:buNone/>
            </a:pPr>
            <a:r>
              <a:rPr lang="en-US" sz="1100" dirty="0">
                <a:solidFill>
                  <a:srgbClr val="A31515"/>
                </a:solidFill>
                <a:latin typeface="Courier New" pitchFamily="34" charset="0"/>
                <a:ea typeface="Courier New" pitchFamily="34" charset="-122"/>
                <a:cs typeface="Courier New" pitchFamily="34" charset="-120"/>
              </a:rPr>
              <a:t>"central"</a:t>
            </a:r>
            <a:pPr indent="0" marL="0">
              <a:buNone/>
            </a:pPr>
            <a:r>
              <a:rPr lang="en-US" sz="1100" dirty="0">
                <a:solidFill>
                  <a:srgbClr val="202124"/>
                </a:solidFill>
                <a:latin typeface="Courier New" pitchFamily="34" charset="0"/>
                <a:ea typeface="Courier New" pitchFamily="34" charset="-122"/>
                <a:cs typeface="Courier New" pitchFamily="34" charset="-120"/>
              </a:rPr>
              <a:t>, how=</a:t>
            </a:r>
            <a:pPr indent="0" marL="0">
              <a:buNone/>
            </a:pPr>
            <a:r>
              <a:rPr lang="en-US" sz="1100" dirty="0">
                <a:solidFill>
                  <a:srgbClr val="A31515"/>
                </a:solidFill>
                <a:latin typeface="Courier New" pitchFamily="34" charset="0"/>
                <a:ea typeface="Courier New" pitchFamily="34" charset="-122"/>
                <a:cs typeface="Courier New" pitchFamily="34" charset="-120"/>
              </a:rPr>
              <a:t>"left"</a:t>
            </a:r>
            <a:pPr indent="0" marL="0">
              <a:buNone/>
            </a:pPr>
            <a:r>
              <a:rPr lang="en-US" sz="1100" dirty="0">
                <a:solidFill>
                  <a:srgbClr val="202124"/>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real = round(un_dia[</a:t>
            </a:r>
            <a:pPr indent="0" marL="0">
              <a:buNone/>
            </a:pPr>
            <a:r>
              <a:rPr lang="en-US" sz="1100" dirty="0">
                <a:solidFill>
                  <a:srgbClr val="A31515"/>
                </a:solidFill>
                <a:latin typeface="Courier New" pitchFamily="34" charset="0"/>
                <a:ea typeface="Courier New" pitchFamily="34" charset="-122"/>
                <a:cs typeface="Courier New" pitchFamily="34" charset="-120"/>
              </a:rPr>
              <a:t>"mwh"</a:t>
            </a:r>
            <a:pPr indent="0" marL="0">
              <a:buNone/>
            </a:pPr>
            <a:r>
              <a:rPr lang="en-US" sz="1100" dirty="0">
                <a:solidFill>
                  <a:srgbClr val="202124"/>
                </a:solidFill>
                <a:latin typeface="Courier New" pitchFamily="34" charset="0"/>
                <a:ea typeface="Courier New" pitchFamily="34" charset="-122"/>
                <a:cs typeface="Courier New" pitchFamily="34" charset="-120"/>
              </a:rPr>
              <a:t>].sum(), 1)</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unida = round(unido[</a:t>
            </a:r>
            <a:pPr indent="0" marL="0">
              <a:buNone/>
            </a:pPr>
            <a:r>
              <a:rPr lang="en-US" sz="1100" dirty="0">
                <a:solidFill>
                  <a:srgbClr val="A31515"/>
                </a:solidFill>
                <a:latin typeface="Courier New" pitchFamily="34" charset="0"/>
                <a:ea typeface="Courier New" pitchFamily="34" charset="-122"/>
                <a:cs typeface="Courier New" pitchFamily="34" charset="-120"/>
              </a:rPr>
              <a:t>"mwh"</a:t>
            </a:r>
            <a:pPr indent="0" marL="0">
              <a:buNone/>
            </a:pPr>
            <a:r>
              <a:rPr lang="en-US" sz="1100" dirty="0">
                <a:solidFill>
                  <a:srgbClr val="202124"/>
                </a:solidFill>
                <a:latin typeface="Courier New" pitchFamily="34" charset="0"/>
                <a:ea typeface="Courier New" pitchFamily="34" charset="-122"/>
                <a:cs typeface="Courier New" pitchFamily="34" charset="-120"/>
              </a:rPr>
              <a:t>].sum(), 1)</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print(</a:t>
            </a:r>
            <a:pPr indent="0" marL="0">
              <a:buNone/>
            </a:pPr>
            <a:r>
              <a:rPr lang="en-US" sz="1100" dirty="0">
                <a:solidFill>
                  <a:srgbClr val="A31515"/>
                </a:solidFill>
                <a:latin typeface="Courier New" pitchFamily="34" charset="0"/>
                <a:ea typeface="Courier New" pitchFamily="34" charset="-122"/>
                <a:cs typeface="Courier New" pitchFamily="34" charset="-120"/>
              </a:rPr>
              <a:t>"Filas antes de unir"</a:t>
            </a:r>
            <a:pPr indent="0" marL="0">
              <a:buNone/>
            </a:pPr>
            <a:r>
              <a:rPr lang="en-US" sz="1100" dirty="0">
                <a:solidFill>
                  <a:srgbClr val="202124"/>
                </a:solidFill>
                <a:latin typeface="Courier New" pitchFamily="34" charset="0"/>
                <a:ea typeface="Courier New" pitchFamily="34" charset="-122"/>
                <a:cs typeface="Courier New" pitchFamily="34" charset="-120"/>
              </a:rPr>
              <a:t>, un_dia.shape[0], </a:t>
            </a:r>
            <a:pPr indent="0" marL="0">
              <a:buNone/>
            </a:pPr>
            <a:r>
              <a:rPr lang="en-US" sz="1100" dirty="0">
                <a:solidFill>
                  <a:srgbClr val="A31515"/>
                </a:solidFill>
                <a:latin typeface="Courier New" pitchFamily="34" charset="0"/>
                <a:ea typeface="Courier New" pitchFamily="34" charset="-122"/>
                <a:cs typeface="Courier New" pitchFamily="34" charset="-120"/>
              </a:rPr>
              <a:t>"y después"</a:t>
            </a:r>
            <a:pPr indent="0" marL="0">
              <a:buNone/>
            </a:pPr>
            <a:r>
              <a:rPr lang="en-US" sz="1100" dirty="0">
                <a:solidFill>
                  <a:srgbClr val="202124"/>
                </a:solidFill>
                <a:latin typeface="Courier New" pitchFamily="34" charset="0"/>
                <a:ea typeface="Courier New" pitchFamily="34" charset="-122"/>
                <a:cs typeface="Courier New" pitchFamily="34" charset="-120"/>
              </a:rPr>
              <a:t>, unido.shape[0])</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print(</a:t>
            </a:r>
            <a:pPr indent="0" marL="0">
              <a:buNone/>
            </a:pPr>
            <a:r>
              <a:rPr lang="en-US" sz="1100" dirty="0">
                <a:solidFill>
                  <a:srgbClr val="A31515"/>
                </a:solidFill>
                <a:latin typeface="Courier New" pitchFamily="34" charset="0"/>
                <a:ea typeface="Courier New" pitchFamily="34" charset="-122"/>
                <a:cs typeface="Courier New" pitchFamily="34" charset="-120"/>
              </a:rPr>
              <a:t>"Generación real"</a:t>
            </a:r>
            <a:pPr indent="0" marL="0">
              <a:buNone/>
            </a:pPr>
            <a:r>
              <a:rPr lang="en-US" sz="1100" dirty="0">
                <a:solidFill>
                  <a:srgbClr val="202124"/>
                </a:solidFill>
                <a:latin typeface="Courier New" pitchFamily="34" charset="0"/>
                <a:ea typeface="Courier New" pitchFamily="34" charset="-122"/>
                <a:cs typeface="Courier New" pitchFamily="34" charset="-120"/>
              </a:rPr>
              <a:t>, real, </a:t>
            </a:r>
            <a:pPr indent="0" marL="0">
              <a:buNone/>
            </a:pPr>
            <a:r>
              <a:rPr lang="en-US" sz="1100" dirty="0">
                <a:solidFill>
                  <a:srgbClr val="A31515"/>
                </a:solidFill>
                <a:latin typeface="Courier New" pitchFamily="34" charset="0"/>
                <a:ea typeface="Courier New" pitchFamily="34" charset="-122"/>
                <a:cs typeface="Courier New" pitchFamily="34" charset="-120"/>
              </a:rPr>
              <a:t>"MWh y generación unida"</a:t>
            </a:r>
            <a:pPr indent="0" marL="0">
              <a:buNone/>
            </a:pPr>
            <a:r>
              <a:rPr lang="en-US" sz="1100" dirty="0">
                <a:solidFill>
                  <a:srgbClr val="202124"/>
                </a:solidFill>
                <a:latin typeface="Courier New" pitchFamily="34" charset="0"/>
                <a:ea typeface="Courier New" pitchFamily="34" charset="-122"/>
                <a:cs typeface="Courier New" pitchFamily="34" charset="-120"/>
              </a:rPr>
              <a:t>, unida, </a:t>
            </a:r>
            <a:pPr indent="0" marL="0">
              <a:buNone/>
            </a:pPr>
            <a:r>
              <a:rPr lang="en-US" sz="1100" dirty="0">
                <a:solidFill>
                  <a:srgbClr val="A31515"/>
                </a:solidFill>
                <a:latin typeface="Courier New" pitchFamily="34" charset="0"/>
                <a:ea typeface="Courier New" pitchFamily="34" charset="-122"/>
                <a:cs typeface="Courier New" pitchFamily="34" charset="-120"/>
              </a:rPr>
              <a:t>"MWh"</a:t>
            </a:r>
            <a:pPr indent="0" marL="0">
              <a:buNone/>
            </a:pPr>
            <a:r>
              <a:rPr lang="en-US" sz="1100" dirty="0">
                <a:solidFill>
                  <a:srgbClr val="202124"/>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if unida == real:</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    print(</a:t>
            </a:r>
            <a:pPr indent="0" marL="0">
              <a:buNone/>
            </a:pPr>
            <a:r>
              <a:rPr lang="en-US" sz="1100" dirty="0">
                <a:solidFill>
                  <a:srgbClr val="A31515"/>
                </a:solidFill>
                <a:latin typeface="Courier New" pitchFamily="34" charset="0"/>
                <a:ea typeface="Courier New" pitchFamily="34" charset="-122"/>
                <a:cs typeface="Courier New" pitchFamily="34" charset="-120"/>
              </a:rPr>
              <a:t>"✓ La generación unida calza con la real"</a:t>
            </a:r>
            <a:pPr indent="0" marL="0">
              <a:buNone/>
            </a:pPr>
            <a:r>
              <a:rPr lang="en-US" sz="1100" dirty="0">
                <a:solidFill>
                  <a:srgbClr val="202124"/>
                </a:solidFill>
                <a:latin typeface="Courier New" pitchFamily="34" charset="0"/>
                <a:ea typeface="Courier New" pitchFamily="34" charset="-122"/>
                <a:cs typeface="Courier New" pitchFamily="34" charset="-120"/>
              </a:rPr>
              <a:t>)</a:t>
            </a:r>
            <a:endParaRPr lang="en-US" sz="1100" dirty="0"/>
          </a:p>
        </p:txBody>
      </p:sp>
      <p:sp>
        <p:nvSpPr>
          <p:cNvPr id="10" name="Text 8"/>
          <p:cNvSpPr txBox="1"/>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quitar_repetidas</a:t>
            </a:r>
            <a:endParaRPr lang="en-US" sz="1100" dirty="0"/>
          </a:p>
        </p:txBody>
      </p:sp>
      <p:sp>
        <p:nvSpPr>
          <p:cNvPr id="11" name="Shape 9"/>
          <p:cNvSpPr/>
          <p:nvPr/>
        </p:nvSpPr>
        <p:spPr>
          <a:xfrm>
            <a:off x="8823960" y="1892808"/>
            <a:ext cx="274320" cy="274320"/>
          </a:xfrm>
          <a:prstGeom prst="rect">
            <a:avLst/>
          </a:prstGeom>
          <a:solidFill>
            <a:srgbClr val="FFFFFF"/>
          </a:solidFill>
          <a:ln w="15875">
            <a:solidFill>
              <a:srgbClr val="9AA0A6"/>
            </a:solidFill>
            <a:prstDash val="solid"/>
          </a:ln>
        </p:spPr>
      </p:sp>
      <p:sp>
        <p:nvSpPr>
          <p:cNvPr id="12" name="Text 10"/>
          <p:cNvSpPr txBox="1"/>
          <p:nvPr/>
        </p:nvSpPr>
        <p:spPr>
          <a:xfrm>
            <a:off x="9208008" y="1892808"/>
            <a:ext cx="1828800" cy="274320"/>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sin marcar</a:t>
            </a:r>
            <a:endParaRPr lang="en-US" sz="1200" dirty="0"/>
          </a:p>
        </p:txBody>
      </p:sp>
      <p:sp>
        <p:nvSpPr>
          <p:cNvPr id="13" name="Shape 11"/>
          <p:cNvSpPr/>
          <p:nvPr/>
        </p:nvSpPr>
        <p:spPr>
          <a:xfrm>
            <a:off x="1325880" y="4818888"/>
            <a:ext cx="10314432" cy="585216"/>
          </a:xfrm>
          <a:prstGeom prst="rect">
            <a:avLst/>
          </a:prstGeom>
          <a:solidFill>
            <a:srgbClr val="FFFFFF"/>
          </a:solidFill>
          <a:ln w="12700">
            <a:solidFill>
              <a:srgbClr val="DADCE0"/>
            </a:solidFill>
            <a:prstDash val="solid"/>
          </a:ln>
        </p:spPr>
      </p:sp>
      <p:sp>
        <p:nvSpPr>
          <p:cNvPr id="14" name="Text 12"/>
          <p:cNvSpPr txBox="1"/>
          <p:nvPr/>
        </p:nvSpPr>
        <p:spPr>
          <a:xfrm>
            <a:off x="1463040" y="4892040"/>
            <a:ext cx="10085832" cy="457200"/>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Filas antes de unir 480 y después 528</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Generación real 52650.0 MWh y generación unida 64298.7 MWh</a:t>
            </a:r>
            <a:endParaRPr lang="en-US" sz="1200" dirty="0"/>
          </a:p>
        </p:txBody>
      </p:sp>
      <p:sp>
        <p:nvSpPr>
          <p:cNvPr id="16" name="Text 13"/>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7" name="Shape 14"/>
          <p:cNvSpPr/>
          <p:nvPr/>
        </p:nvSpPr>
        <p:spPr>
          <a:xfrm>
            <a:off x="548640" y="6062472"/>
            <a:ext cx="1143000" cy="566928"/>
          </a:xfrm>
          <a:prstGeom prst="roundRect">
            <a:avLst>
              <a:gd name="adj" fmla="val 11290"/>
            </a:avLst>
          </a:prstGeom>
          <a:solidFill>
            <a:srgbClr val="E8F0FE"/>
          </a:solidFill>
          <a:ln w="28575">
            <a:solidFill>
              <a:srgbClr val="1A73E8"/>
            </a:solidFill>
            <a:prstDash val="solid"/>
          </a:ln>
        </p:spPr>
      </p:sp>
      <p:sp>
        <p:nvSpPr>
          <p:cNvPr id="18" name="Text 15"/>
          <p:cNvSpPr txBox="1"/>
          <p:nvPr/>
        </p:nvSpPr>
        <p:spPr>
          <a:xfrm>
            <a:off x="64008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9" name="Shape 16"/>
          <p:cNvSpPr/>
          <p:nvPr/>
        </p:nvSpPr>
        <p:spPr>
          <a:xfrm>
            <a:off x="1828800" y="6062472"/>
            <a:ext cx="1522476" cy="566928"/>
          </a:xfrm>
          <a:prstGeom prst="roundRect">
            <a:avLst>
              <a:gd name="adj" fmla="val 11290"/>
            </a:avLst>
          </a:prstGeom>
          <a:solidFill>
            <a:srgbClr val="E8F0FE"/>
          </a:solidFill>
          <a:ln w="28575">
            <a:solidFill>
              <a:srgbClr val="1A73E8"/>
            </a:solidFill>
            <a:prstDash val="solid"/>
          </a:ln>
        </p:spPr>
      </p:sp>
      <p:sp>
        <p:nvSpPr>
          <p:cNvPr id="20" name="Text 17"/>
          <p:cNvSpPr txBox="1"/>
          <p:nvPr/>
        </p:nvSpPr>
        <p:spPr>
          <a:xfrm>
            <a:off x="1920240"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un_dia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480 × 4</a:t>
            </a:r>
            <a:endParaRPr lang="en-US" sz="1200" dirty="0"/>
          </a:p>
        </p:txBody>
      </p:sp>
      <p:sp>
        <p:nvSpPr>
          <p:cNvPr id="21" name="Shape 18"/>
          <p:cNvSpPr/>
          <p:nvPr/>
        </p:nvSpPr>
        <p:spPr>
          <a:xfrm>
            <a:off x="3488436" y="6062472"/>
            <a:ext cx="1426464" cy="566928"/>
          </a:xfrm>
          <a:prstGeom prst="roundRect">
            <a:avLst>
              <a:gd name="adj" fmla="val 11290"/>
            </a:avLst>
          </a:prstGeom>
          <a:solidFill>
            <a:srgbClr val="E8F0FE"/>
          </a:solidFill>
          <a:ln w="28575">
            <a:solidFill>
              <a:srgbClr val="1A73E8"/>
            </a:solidFill>
            <a:prstDash val="solid"/>
          </a:ln>
        </p:spPr>
      </p:sp>
      <p:sp>
        <p:nvSpPr>
          <p:cNvPr id="22" name="Text 19"/>
          <p:cNvSpPr txBox="1"/>
          <p:nvPr/>
        </p:nvSpPr>
        <p:spPr>
          <a:xfrm>
            <a:off x="3579876"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fichas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17 × 5</a:t>
            </a:r>
            <a:endParaRPr lang="en-US" sz="1200" dirty="0"/>
          </a:p>
        </p:txBody>
      </p:sp>
      <p:sp>
        <p:nvSpPr>
          <p:cNvPr id="23" name="Shape 20"/>
          <p:cNvSpPr/>
          <p:nvPr/>
        </p:nvSpPr>
        <p:spPr>
          <a:xfrm>
            <a:off x="5052060" y="6062472"/>
            <a:ext cx="1522476" cy="566928"/>
          </a:xfrm>
          <a:prstGeom prst="roundRect">
            <a:avLst>
              <a:gd name="adj" fmla="val 11290"/>
            </a:avLst>
          </a:prstGeom>
          <a:solidFill>
            <a:srgbClr val="FEF3D6"/>
          </a:solidFill>
          <a:ln w="25400">
            <a:solidFill>
              <a:srgbClr val="F9AB00"/>
            </a:solidFill>
            <a:prstDash val="solid"/>
          </a:ln>
        </p:spPr>
      </p:sp>
      <p:sp>
        <p:nvSpPr>
          <p:cNvPr id="24" name="Text 21"/>
          <p:cNvSpPr txBox="1"/>
          <p:nvPr/>
        </p:nvSpPr>
        <p:spPr>
          <a:xfrm>
            <a:off x="5143500"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unido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528 × 8</a:t>
            </a:r>
            <a:endParaRPr lang="en-US" sz="1200" dirty="0"/>
          </a:p>
        </p:txBody>
      </p:sp>
      <p:sp>
        <p:nvSpPr>
          <p:cNvPr id="25" name="Shape 22"/>
          <p:cNvSpPr/>
          <p:nvPr/>
        </p:nvSpPr>
        <p:spPr>
          <a:xfrm>
            <a:off x="6711696" y="6062472"/>
            <a:ext cx="1810512" cy="566928"/>
          </a:xfrm>
          <a:prstGeom prst="roundRect">
            <a:avLst>
              <a:gd name="adj" fmla="val 11290"/>
            </a:avLst>
          </a:prstGeom>
          <a:solidFill>
            <a:srgbClr val="FEF3D6"/>
          </a:solidFill>
          <a:ln w="25400">
            <a:solidFill>
              <a:srgbClr val="F9AB00"/>
            </a:solidFill>
            <a:prstDash val="solid"/>
          </a:ln>
        </p:spPr>
      </p:sp>
      <p:sp>
        <p:nvSpPr>
          <p:cNvPr id="26" name="Text 23"/>
          <p:cNvSpPr txBox="1"/>
          <p:nvPr/>
        </p:nvSpPr>
        <p:spPr>
          <a:xfrm>
            <a:off x="6803136"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quitar_repetidas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False</a:t>
            </a:r>
            <a:endParaRPr lang="en-US" sz="1200" dirty="0"/>
          </a:p>
        </p:txBody>
      </p:sp>
      <p:sp>
        <p:nvSpPr>
          <p:cNvPr id="27" name="Shape 24"/>
          <p:cNvSpPr/>
          <p:nvPr/>
        </p:nvSpPr>
        <p:spPr>
          <a:xfrm>
            <a:off x="8659368" y="6062472"/>
            <a:ext cx="1810512" cy="566928"/>
          </a:xfrm>
          <a:prstGeom prst="roundRect">
            <a:avLst>
              <a:gd name="adj" fmla="val 11290"/>
            </a:avLst>
          </a:prstGeom>
          <a:solidFill>
            <a:srgbClr val="FEF3D6"/>
          </a:solidFill>
          <a:ln w="25400">
            <a:solidFill>
              <a:srgbClr val="F9AB00"/>
            </a:solidFill>
            <a:prstDash val="solid"/>
          </a:ln>
        </p:spPr>
      </p:sp>
      <p:sp>
        <p:nvSpPr>
          <p:cNvPr id="28" name="Text 25"/>
          <p:cNvSpPr txBox="1"/>
          <p:nvPr/>
        </p:nvSpPr>
        <p:spPr>
          <a:xfrm>
            <a:off x="8750808"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fichas_repetidas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19 × 5</a:t>
            </a:r>
            <a:endParaRPr lang="en-US" sz="1200" dirty="0"/>
          </a:p>
        </p:txBody>
      </p:sp>
      <p:sp>
        <p:nvSpPr>
          <p:cNvPr id="29" name="Text 26"/>
          <p:cNvSpPr txBox="1"/>
          <p:nvPr/>
        </p:nvSpPr>
        <p:spPr>
          <a:xfrm>
            <a:off x="10607040"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11 más</a:t>
            </a:r>
            <a:endParaRPr lang="en-US" sz="1200" dirty="0"/>
          </a:p>
        </p:txBody>
      </p:sp>
      <p:sp>
        <p:nvSpPr>
          <p:cNvPr id="30" name="Text 27"/>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Con fichas repetidas, la generación unida sube a 64.298,7 MWh. Se infló.</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4"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5</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¿qué pasa con fichas repetidas?</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marca la casilla y se vuelve a correr la celda.</a:t>
            </a:r>
            <a:endParaRPr lang="en-US" sz="1400" dirty="0"/>
          </a:p>
        </p:txBody>
      </p:sp>
      <p:sp>
        <p:nvSpPr>
          <p:cNvPr id="7" name="Shape 4"/>
          <p:cNvSpPr/>
          <p:nvPr/>
        </p:nvSpPr>
        <p:spPr>
          <a:xfrm>
            <a:off x="548640" y="1481328"/>
            <a:ext cx="11091672" cy="3771900"/>
          </a:xfrm>
          <a:prstGeom prst="roundRect">
            <a:avLst>
              <a:gd name="adj" fmla="val 1455"/>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7360920" cy="358902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Paso 5</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Marca la casilla para dejar una sola ficha por central.</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quitar_repetidas = True </a:t>
            </a:r>
            <a:pPr indent="0" marL="0">
              <a:buNone/>
            </a:pPr>
            <a:r>
              <a:rPr lang="en-US" sz="1300" dirty="0">
                <a:solidFill>
                  <a:srgbClr val="80868B"/>
                </a:solidFill>
                <a:latin typeface="Courier New" pitchFamily="34" charset="0"/>
                <a:ea typeface="Courier New" pitchFamily="34" charset="-122"/>
                <a:cs typeface="Courier New" pitchFamily="34" charset="-120"/>
              </a:rPr>
              <a:t>#@param {type:"boolean"}</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Una tabla de fichas como llega en la práctica, con dos</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centrales repetidas.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fichas_repetidas = pd.concat([fichas, fichas.head(2)], ignore_index=True)</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if quitar_repetidas: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fichas_repetidas = fichas_repetidas.drop_duplicates(subset=</a:t>
            </a:r>
            <a:pPr indent="0" marL="0">
              <a:buNone/>
            </a:pPr>
            <a:r>
              <a:rPr lang="en-US" sz="1300" dirty="0">
                <a:solidFill>
                  <a:srgbClr val="A31515"/>
                </a:solidFill>
                <a:latin typeface="Courier New" pitchFamily="34" charset="0"/>
                <a:ea typeface="Courier New" pitchFamily="34" charset="-122"/>
                <a:cs typeface="Courier New" pitchFamily="34" charset="-120"/>
              </a:rPr>
              <a:t>"central"</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unido = pd.merge(un_dia, fichas_repetidas, on=</a:t>
            </a:r>
            <a:pPr indent="0" marL="0">
              <a:buNone/>
            </a:pPr>
            <a:r>
              <a:rPr lang="en-US" sz="1300" dirty="0">
                <a:solidFill>
                  <a:srgbClr val="A31515"/>
                </a:solidFill>
                <a:latin typeface="Courier New" pitchFamily="34" charset="0"/>
                <a:ea typeface="Courier New" pitchFamily="34" charset="-122"/>
                <a:cs typeface="Courier New" pitchFamily="34" charset="-120"/>
              </a:rPr>
              <a:t>"central"</a:t>
            </a:r>
            <a:pPr indent="0" marL="0">
              <a:buNone/>
            </a:pPr>
            <a:r>
              <a:rPr lang="en-US" sz="1300" dirty="0">
                <a:solidFill>
                  <a:srgbClr val="202124"/>
                </a:solidFill>
                <a:latin typeface="Courier New" pitchFamily="34" charset="0"/>
                <a:ea typeface="Courier New" pitchFamily="34" charset="-122"/>
                <a:cs typeface="Courier New" pitchFamily="34" charset="-120"/>
              </a:rPr>
              <a:t>, how=</a:t>
            </a:r>
            <a:pPr indent="0" marL="0">
              <a:buNone/>
            </a:pPr>
            <a:r>
              <a:rPr lang="en-US" sz="1300" dirty="0">
                <a:solidFill>
                  <a:srgbClr val="A31515"/>
                </a:solidFill>
                <a:latin typeface="Courier New" pitchFamily="34" charset="0"/>
                <a:ea typeface="Courier New" pitchFamily="34" charset="-122"/>
                <a:cs typeface="Courier New" pitchFamily="34" charset="-120"/>
              </a:rPr>
              <a:t>"left"</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real = round(un_dia[</a:t>
            </a:r>
            <a:pPr indent="0" marL="0">
              <a:buNone/>
            </a:pPr>
            <a:r>
              <a:rPr lang="en-US" sz="1300" dirty="0">
                <a:solidFill>
                  <a:srgbClr val="A31515"/>
                </a:solidFill>
                <a:latin typeface="Courier New" pitchFamily="34" charset="0"/>
                <a:ea typeface="Courier New" pitchFamily="34" charset="-122"/>
                <a:cs typeface="Courier New" pitchFamily="34" charset="-120"/>
              </a:rPr>
              <a:t>"mwh"</a:t>
            </a:r>
            <a:pPr indent="0" marL="0">
              <a:buNone/>
            </a:pPr>
            <a:r>
              <a:rPr lang="en-US" sz="1300" dirty="0">
                <a:solidFill>
                  <a:srgbClr val="202124"/>
                </a:solidFill>
                <a:latin typeface="Courier New" pitchFamily="34" charset="0"/>
                <a:ea typeface="Courier New" pitchFamily="34" charset="-122"/>
                <a:cs typeface="Courier New" pitchFamily="34" charset="-120"/>
              </a:rPr>
              <a:t>].sum(), 1)</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unida = round(unido[</a:t>
            </a:r>
            <a:pPr indent="0" marL="0">
              <a:buNone/>
            </a:pPr>
            <a:r>
              <a:rPr lang="en-US" sz="1300" dirty="0">
                <a:solidFill>
                  <a:srgbClr val="A31515"/>
                </a:solidFill>
                <a:latin typeface="Courier New" pitchFamily="34" charset="0"/>
                <a:ea typeface="Courier New" pitchFamily="34" charset="-122"/>
                <a:cs typeface="Courier New" pitchFamily="34" charset="-120"/>
              </a:rPr>
              <a:t>"mwh"</a:t>
            </a:r>
            <a:pPr indent="0" marL="0">
              <a:buNone/>
            </a:pPr>
            <a:r>
              <a:rPr lang="en-US" sz="1300" dirty="0">
                <a:solidFill>
                  <a:srgbClr val="202124"/>
                </a:solidFill>
                <a:latin typeface="Courier New" pitchFamily="34" charset="0"/>
                <a:ea typeface="Courier New" pitchFamily="34" charset="-122"/>
                <a:cs typeface="Courier New" pitchFamily="34" charset="-120"/>
              </a:rPr>
              <a:t>].sum(), 1)</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"Filas antes de unir"</a:t>
            </a:r>
            <a:pPr indent="0" marL="0">
              <a:buNone/>
            </a:pPr>
            <a:r>
              <a:rPr lang="en-US" sz="1300" dirty="0">
                <a:solidFill>
                  <a:srgbClr val="202124"/>
                </a:solidFill>
                <a:latin typeface="Courier New" pitchFamily="34" charset="0"/>
                <a:ea typeface="Courier New" pitchFamily="34" charset="-122"/>
                <a:cs typeface="Courier New" pitchFamily="34" charset="-120"/>
              </a:rPr>
              <a:t>, un_dia.shape[0], </a:t>
            </a:r>
            <a:pPr indent="0" marL="0">
              <a:buNone/>
            </a:pPr>
            <a:r>
              <a:rPr lang="en-US" sz="1300" dirty="0">
                <a:solidFill>
                  <a:srgbClr val="A31515"/>
                </a:solidFill>
                <a:latin typeface="Courier New" pitchFamily="34" charset="0"/>
                <a:ea typeface="Courier New" pitchFamily="34" charset="-122"/>
                <a:cs typeface="Courier New" pitchFamily="34" charset="-120"/>
              </a:rPr>
              <a:t>"y después"</a:t>
            </a:r>
            <a:pPr indent="0" marL="0">
              <a:buNone/>
            </a:pPr>
            <a:r>
              <a:rPr lang="en-US" sz="1300" dirty="0">
                <a:solidFill>
                  <a:srgbClr val="202124"/>
                </a:solidFill>
                <a:latin typeface="Courier New" pitchFamily="34" charset="0"/>
                <a:ea typeface="Courier New" pitchFamily="34" charset="-122"/>
                <a:cs typeface="Courier New" pitchFamily="34" charset="-120"/>
              </a:rPr>
              <a:t>, unido.shape[0])</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"Generación real"</a:t>
            </a:r>
            <a:pPr indent="0" marL="0">
              <a:buNone/>
            </a:pPr>
            <a:r>
              <a:rPr lang="en-US" sz="1300" dirty="0">
                <a:solidFill>
                  <a:srgbClr val="202124"/>
                </a:solidFill>
                <a:latin typeface="Courier New" pitchFamily="34" charset="0"/>
                <a:ea typeface="Courier New" pitchFamily="34" charset="-122"/>
                <a:cs typeface="Courier New" pitchFamily="34" charset="-120"/>
              </a:rPr>
              <a:t>, real, </a:t>
            </a:r>
            <a:pPr indent="0" marL="0">
              <a:buNone/>
            </a:pPr>
            <a:r>
              <a:rPr lang="en-US" sz="1300" dirty="0">
                <a:solidFill>
                  <a:srgbClr val="A31515"/>
                </a:solidFill>
                <a:latin typeface="Courier New" pitchFamily="34" charset="0"/>
                <a:ea typeface="Courier New" pitchFamily="34" charset="-122"/>
                <a:cs typeface="Courier New" pitchFamily="34" charset="-120"/>
              </a:rPr>
              <a:t>"MWh y generación unida"</a:t>
            </a:r>
            <a:pPr indent="0" marL="0">
              <a:buNone/>
            </a:pPr>
            <a:r>
              <a:rPr lang="en-US" sz="1300" dirty="0">
                <a:solidFill>
                  <a:srgbClr val="202124"/>
                </a:solidFill>
                <a:latin typeface="Courier New" pitchFamily="34" charset="0"/>
                <a:ea typeface="Courier New" pitchFamily="34" charset="-122"/>
                <a:cs typeface="Courier New" pitchFamily="34" charset="-120"/>
              </a:rPr>
              <a:t>, unida, </a:t>
            </a:r>
            <a:pPr indent="0" marL="0">
              <a:buNone/>
            </a:pPr>
            <a:r>
              <a:rPr lang="en-US" sz="1300" dirty="0">
                <a:solidFill>
                  <a:srgbClr val="A31515"/>
                </a:solidFill>
                <a:latin typeface="Courier New" pitchFamily="34" charset="0"/>
                <a:ea typeface="Courier New" pitchFamily="34" charset="-122"/>
                <a:cs typeface="Courier New" pitchFamily="34" charset="-120"/>
              </a:rPr>
              <a:t>"MWh"</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if unida == real:</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print(</a:t>
            </a:r>
            <a:pPr indent="0" marL="0">
              <a:buNone/>
            </a:pPr>
            <a:r>
              <a:rPr lang="en-US" sz="1300" dirty="0">
                <a:solidFill>
                  <a:srgbClr val="A31515"/>
                </a:solidFill>
                <a:latin typeface="Courier New" pitchFamily="34" charset="0"/>
                <a:ea typeface="Courier New" pitchFamily="34" charset="-122"/>
                <a:cs typeface="Courier New" pitchFamily="34" charset="-120"/>
              </a:rPr>
              <a:t>"✓ La generación unida calza con la real"</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p:txBody>
      </p:sp>
      <p:sp>
        <p:nvSpPr>
          <p:cNvPr id="11" name="Text 8"/>
          <p:cNvSpPr txBox="1"/>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quitar_repetidas</a:t>
            </a:r>
            <a:endParaRPr lang="en-US" sz="1100" dirty="0"/>
          </a:p>
        </p:txBody>
      </p:sp>
      <p:sp>
        <p:nvSpPr>
          <p:cNvPr id="12" name="Shape 9"/>
          <p:cNvSpPr/>
          <p:nvPr/>
        </p:nvSpPr>
        <p:spPr>
          <a:xfrm>
            <a:off x="8823960" y="1892808"/>
            <a:ext cx="274320" cy="274320"/>
          </a:xfrm>
          <a:prstGeom prst="rect">
            <a:avLst/>
          </a:prstGeom>
          <a:solidFill>
            <a:srgbClr val="1A73E8"/>
          </a:solidFill>
          <a:ln w="25400">
            <a:solidFill>
              <a:srgbClr val="F9AB00"/>
            </a:solidFill>
            <a:prstDash val="solid"/>
          </a:ln>
        </p:spPr>
      </p:sp>
      <p:sp>
        <p:nvSpPr>
          <p:cNvPr id="13" name="Text 10"/>
          <p:cNvSpPr txBox="1"/>
          <p:nvPr/>
        </p:nvSpPr>
        <p:spPr>
          <a:xfrm>
            <a:off x="8823960" y="1892808"/>
            <a:ext cx="274320"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4" name="Text 11"/>
          <p:cNvSpPr txBox="1"/>
          <p:nvPr/>
        </p:nvSpPr>
        <p:spPr>
          <a:xfrm>
            <a:off x="9208008" y="1892808"/>
            <a:ext cx="1828800" cy="274320"/>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marcada</a:t>
            </a:r>
            <a:endParaRPr lang="en-US" sz="1200" dirty="0"/>
          </a:p>
        </p:txBody>
      </p:sp>
      <p:sp>
        <p:nvSpPr>
          <p:cNvPr id="15" name="Text 12"/>
          <p:cNvSpPr txBox="1"/>
          <p:nvPr/>
        </p:nvSpPr>
        <p:spPr>
          <a:xfrm>
            <a:off x="1325880" y="528980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6" name="Text 13"/>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7" name="Shape 14"/>
          <p:cNvSpPr/>
          <p:nvPr/>
        </p:nvSpPr>
        <p:spPr>
          <a:xfrm>
            <a:off x="548640" y="6062472"/>
            <a:ext cx="1143000"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64008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unida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64298.7</a:t>
            </a:r>
            <a:endParaRPr lang="en-US" sz="1200" dirty="0"/>
          </a:p>
        </p:txBody>
      </p:sp>
      <p:sp>
        <p:nvSpPr>
          <p:cNvPr id="19" name="Shape 16"/>
          <p:cNvSpPr/>
          <p:nvPr/>
        </p:nvSpPr>
        <p:spPr>
          <a:xfrm>
            <a:off x="1828800" y="6062472"/>
            <a:ext cx="1143000"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192024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52650.0</a:t>
            </a:r>
            <a:endParaRPr lang="en-US" sz="1200" dirty="0"/>
          </a:p>
        </p:txBody>
      </p:sp>
      <p:sp>
        <p:nvSpPr>
          <p:cNvPr id="21" name="Shape 18"/>
          <p:cNvSpPr/>
          <p:nvPr/>
        </p:nvSpPr>
        <p:spPr>
          <a:xfrm>
            <a:off x="3108960" y="6062472"/>
            <a:ext cx="1810512" cy="566928"/>
          </a:xfrm>
          <a:prstGeom prst="roundRect">
            <a:avLst>
              <a:gd name="adj" fmla="val 11290"/>
            </a:avLst>
          </a:prstGeom>
          <a:solidFill>
            <a:srgbClr val="F1F3F4"/>
          </a:solidFill>
          <a:ln w="12700">
            <a:solidFill>
              <a:srgbClr val="DADCE0"/>
            </a:solidFill>
            <a:prstDash val="solid"/>
          </a:ln>
        </p:spPr>
      </p:sp>
      <p:sp>
        <p:nvSpPr>
          <p:cNvPr id="22" name="Text 19"/>
          <p:cNvSpPr txBox="1"/>
          <p:nvPr/>
        </p:nvSpPr>
        <p:spPr>
          <a:xfrm>
            <a:off x="3200400"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fichas_repetidas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19 × 5</a:t>
            </a:r>
            <a:endParaRPr lang="en-US" sz="1200" dirty="0"/>
          </a:p>
        </p:txBody>
      </p:sp>
      <p:sp>
        <p:nvSpPr>
          <p:cNvPr id="23" name="Shape 20"/>
          <p:cNvSpPr/>
          <p:nvPr/>
        </p:nvSpPr>
        <p:spPr>
          <a:xfrm>
            <a:off x="5056632" y="6062472"/>
            <a:ext cx="1810512" cy="566928"/>
          </a:xfrm>
          <a:prstGeom prst="roundRect">
            <a:avLst>
              <a:gd name="adj" fmla="val 11290"/>
            </a:avLst>
          </a:prstGeom>
          <a:solidFill>
            <a:srgbClr val="F1F3F4"/>
          </a:solidFill>
          <a:ln w="12700">
            <a:solidFill>
              <a:srgbClr val="DADCE0"/>
            </a:solidFill>
            <a:prstDash val="solid"/>
          </a:ln>
        </p:spPr>
      </p:sp>
      <p:sp>
        <p:nvSpPr>
          <p:cNvPr id="24" name="Text 21"/>
          <p:cNvSpPr txBox="1"/>
          <p:nvPr/>
        </p:nvSpPr>
        <p:spPr>
          <a:xfrm>
            <a:off x="5148072"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quitar_repetidas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False</a:t>
            </a:r>
            <a:endParaRPr lang="en-US" sz="1200" dirty="0"/>
          </a:p>
        </p:txBody>
      </p:sp>
      <p:sp>
        <p:nvSpPr>
          <p:cNvPr id="25" name="Shape 22"/>
          <p:cNvSpPr/>
          <p:nvPr/>
        </p:nvSpPr>
        <p:spPr>
          <a:xfrm>
            <a:off x="7004304" y="6062472"/>
            <a:ext cx="2002536" cy="566928"/>
          </a:xfrm>
          <a:prstGeom prst="roundRect">
            <a:avLst>
              <a:gd name="adj" fmla="val 11290"/>
            </a:avLst>
          </a:prstGeom>
          <a:solidFill>
            <a:srgbClr val="F1F3F4"/>
          </a:solidFill>
          <a:ln w="12700">
            <a:solidFill>
              <a:srgbClr val="DADCE0"/>
            </a:solidFill>
            <a:prstDash val="solid"/>
          </a:ln>
        </p:spPr>
      </p:sp>
      <p:sp>
        <p:nvSpPr>
          <p:cNvPr id="26" name="Text 23"/>
          <p:cNvSpPr txBox="1"/>
          <p:nvPr/>
        </p:nvSpPr>
        <p:spPr>
          <a:xfrm>
            <a:off x="7095744"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por_tecnologia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 valores</a:t>
            </a:r>
            <a:endParaRPr lang="en-US" sz="1200" dirty="0"/>
          </a:p>
        </p:txBody>
      </p:sp>
      <p:sp>
        <p:nvSpPr>
          <p:cNvPr id="27" name="Text 24"/>
          <p:cNvSpPr txBox="1"/>
          <p:nvPr/>
        </p:nvSpPr>
        <p:spPr>
          <a:xfrm>
            <a:off x="9144000"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12 más</a:t>
            </a:r>
            <a:endParaRPr lang="en-US" sz="1200" dirty="0"/>
          </a:p>
        </p:txBody>
      </p:sp>
      <p:sp>
        <p:nvSpPr>
          <p:cNvPr id="28" name="Text 25"/>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Mientras no se corra la celda, Python sigue recordando los valores anteriores.</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¿qué pasa con fichas repetidas?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marca la casilla y se vuelve a correr la celda.</a:t>
            </a:r>
            <a:endParaRPr lang="en-US" sz="1400" dirty="0"/>
          </a:p>
        </p:txBody>
      </p:sp>
      <p:sp>
        <p:nvSpPr>
          <p:cNvPr id="6" name="Shape 4"/>
          <p:cNvSpPr/>
          <p:nvPr/>
        </p:nvSpPr>
        <p:spPr>
          <a:xfrm>
            <a:off x="548640" y="1481328"/>
            <a:ext cx="11091672" cy="3227832"/>
          </a:xfrm>
          <a:prstGeom prst="roundRect">
            <a:avLst>
              <a:gd name="adj" fmla="val 1700"/>
            </a:avLst>
          </a:prstGeom>
          <a:solidFill>
            <a:srgbClr val="F8F9FA"/>
          </a:solidFill>
          <a:ln w="12700">
            <a:solidFill>
              <a:srgbClr val="DADCE0"/>
            </a:solidFill>
            <a:prstDash val="solid"/>
          </a:ln>
        </p:spPr>
      </p:sp>
      <p:sp>
        <p:nvSpPr>
          <p:cNvPr id="7" name="Shape 5"/>
          <p:cNvSpPr/>
          <p:nvPr/>
        </p:nvSpPr>
        <p:spPr>
          <a:xfrm>
            <a:off x="713232" y="1600200"/>
            <a:ext cx="420624" cy="420624"/>
          </a:xfrm>
          <a:prstGeom prst="ellipse">
            <a:avLst/>
          </a:prstGeom>
          <a:solidFill>
            <a:srgbClr val="E8EAED"/>
          </a:solidFill>
          <a:ln w="12700">
            <a:solidFill>
              <a:srgbClr val="E8EAED"/>
            </a:solidFill>
            <a:prstDash val="solid"/>
          </a:ln>
        </p:spPr>
      </p:sp>
      <p:sp>
        <p:nvSpPr>
          <p:cNvPr id="8" name="Shape 6"/>
          <p:cNvSpPr/>
          <p:nvPr/>
        </p:nvSpPr>
        <p:spPr>
          <a:xfrm rot="5400000">
            <a:off x="850392" y="1719072"/>
            <a:ext cx="182880" cy="182880"/>
          </a:xfrm>
          <a:prstGeom prst="triangle">
            <a:avLst/>
          </a:prstGeom>
          <a:solidFill>
            <a:srgbClr val="5F6368"/>
          </a:solidFill>
          <a:ln w="12700">
            <a:solidFill>
              <a:srgbClr val="5F6368"/>
            </a:solidFill>
            <a:prstDash val="solid"/>
          </a:ln>
        </p:spPr>
      </p:sp>
      <p:sp>
        <p:nvSpPr>
          <p:cNvPr id="9" name="Text 7"/>
          <p:cNvSpPr txBox="1"/>
          <p:nvPr/>
        </p:nvSpPr>
        <p:spPr>
          <a:xfrm>
            <a:off x="1325880" y="1600200"/>
            <a:ext cx="7360920" cy="3044952"/>
          </a:xfrm>
          <a:prstGeom prst="rect">
            <a:avLst/>
          </a:prstGeom>
          <a:noFill/>
          <a:ln/>
        </p:spPr>
        <p:txBody>
          <a:bodyPr wrap="square" lIns="0" tIns="0" rIns="0" bIns="0" rtlCol="0" anchor="t"/>
          <a:lstStyle/>
          <a:p>
            <a:pPr indent="0" marL="0">
              <a:buNone/>
            </a:pPr>
            <a:r>
              <a:rPr lang="en-US" sz="1100" i="1" dirty="0">
                <a:solidFill>
                  <a:srgbClr val="188038"/>
                </a:solidFill>
                <a:latin typeface="Courier New" pitchFamily="34" charset="0"/>
                <a:ea typeface="Courier New" pitchFamily="34" charset="-122"/>
                <a:cs typeface="Courier New" pitchFamily="34" charset="-120"/>
              </a:rPr>
              <a:t># Paso 5</a:t>
            </a:r>
            <a:endParaRPr lang="en-US" sz="1100" dirty="0"/>
          </a:p>
          <a:p>
            <a:pPr indent="0" marL="0">
              <a:buNone/>
            </a:pPr>
            <a:r>
              <a:rPr lang="en-US" sz="1100" i="1" dirty="0">
                <a:solidFill>
                  <a:srgbClr val="188038"/>
                </a:solidFill>
                <a:latin typeface="Courier New" pitchFamily="34" charset="0"/>
                <a:ea typeface="Courier New" pitchFamily="34" charset="-122"/>
                <a:cs typeface="Courier New" pitchFamily="34" charset="-120"/>
              </a:rPr>
              <a:t># Marca la casilla para dejar una sola ficha por central.</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quitar_repetidas = True </a:t>
            </a:r>
            <a:pPr indent="0" marL="0">
              <a:buNone/>
            </a:pPr>
            <a:r>
              <a:rPr lang="en-US" sz="1100" dirty="0">
                <a:solidFill>
                  <a:srgbClr val="80868B"/>
                </a:solidFill>
                <a:latin typeface="Courier New" pitchFamily="34" charset="0"/>
                <a:ea typeface="Courier New" pitchFamily="34" charset="-122"/>
                <a:cs typeface="Courier New" pitchFamily="34" charset="-120"/>
              </a:rPr>
              <a:t>#@param {type:"boolean"}</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 </a:t>
            </a:r>
            <a:endParaRPr lang="en-US" sz="1100" dirty="0"/>
          </a:p>
          <a:p>
            <a:pPr indent="0" marL="0">
              <a:buNone/>
            </a:pPr>
            <a:r>
              <a:rPr lang="en-US" sz="1100" i="1" dirty="0">
                <a:solidFill>
                  <a:srgbClr val="188038"/>
                </a:solidFill>
                <a:latin typeface="Courier New" pitchFamily="34" charset="0"/>
                <a:ea typeface="Courier New" pitchFamily="34" charset="-122"/>
                <a:cs typeface="Courier New" pitchFamily="34" charset="-120"/>
              </a:rPr>
              <a:t># Una tabla de fichas como llega en la práctica, con dos</a:t>
            </a:r>
            <a:endParaRPr lang="en-US" sz="1100" dirty="0"/>
          </a:p>
          <a:p>
            <a:pPr indent="0" marL="0">
              <a:buNone/>
            </a:pPr>
            <a:r>
              <a:rPr lang="en-US" sz="1100" i="1" dirty="0">
                <a:solidFill>
                  <a:srgbClr val="188038"/>
                </a:solidFill>
                <a:latin typeface="Courier New" pitchFamily="34" charset="0"/>
                <a:ea typeface="Courier New" pitchFamily="34" charset="-122"/>
                <a:cs typeface="Courier New" pitchFamily="34" charset="-120"/>
              </a:rPr>
              <a:t># centrales repetidas.</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fichas_repetidas = pd.concat([fichas, fichas.head(2)], ignore_index=True)</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if quitar_repetidas:</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    fichas_repetidas = fichas_repetidas.drop_duplicates(subset=</a:t>
            </a:r>
            <a:pPr indent="0" marL="0">
              <a:buNone/>
            </a:pPr>
            <a:r>
              <a:rPr lang="en-US" sz="1100" dirty="0">
                <a:solidFill>
                  <a:srgbClr val="A31515"/>
                </a:solidFill>
                <a:latin typeface="Courier New" pitchFamily="34" charset="0"/>
                <a:ea typeface="Courier New" pitchFamily="34" charset="-122"/>
                <a:cs typeface="Courier New" pitchFamily="34" charset="-120"/>
              </a:rPr>
              <a:t>"central"</a:t>
            </a:r>
            <a:pPr indent="0" marL="0">
              <a:buNone/>
            </a:pPr>
            <a:r>
              <a:rPr lang="en-US" sz="1100" dirty="0">
                <a:solidFill>
                  <a:srgbClr val="202124"/>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 </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unido = pd.merge(un_dia, fichas_repetidas, on=</a:t>
            </a:r>
            <a:pPr indent="0" marL="0">
              <a:buNone/>
            </a:pPr>
            <a:r>
              <a:rPr lang="en-US" sz="1100" dirty="0">
                <a:solidFill>
                  <a:srgbClr val="A31515"/>
                </a:solidFill>
                <a:latin typeface="Courier New" pitchFamily="34" charset="0"/>
                <a:ea typeface="Courier New" pitchFamily="34" charset="-122"/>
                <a:cs typeface="Courier New" pitchFamily="34" charset="-120"/>
              </a:rPr>
              <a:t>"central"</a:t>
            </a:r>
            <a:pPr indent="0" marL="0">
              <a:buNone/>
            </a:pPr>
            <a:r>
              <a:rPr lang="en-US" sz="1100" dirty="0">
                <a:solidFill>
                  <a:srgbClr val="202124"/>
                </a:solidFill>
                <a:latin typeface="Courier New" pitchFamily="34" charset="0"/>
                <a:ea typeface="Courier New" pitchFamily="34" charset="-122"/>
                <a:cs typeface="Courier New" pitchFamily="34" charset="-120"/>
              </a:rPr>
              <a:t>, how=</a:t>
            </a:r>
            <a:pPr indent="0" marL="0">
              <a:buNone/>
            </a:pPr>
            <a:r>
              <a:rPr lang="en-US" sz="1100" dirty="0">
                <a:solidFill>
                  <a:srgbClr val="A31515"/>
                </a:solidFill>
                <a:latin typeface="Courier New" pitchFamily="34" charset="0"/>
                <a:ea typeface="Courier New" pitchFamily="34" charset="-122"/>
                <a:cs typeface="Courier New" pitchFamily="34" charset="-120"/>
              </a:rPr>
              <a:t>"left"</a:t>
            </a:r>
            <a:pPr indent="0" marL="0">
              <a:buNone/>
            </a:pPr>
            <a:r>
              <a:rPr lang="en-US" sz="1100" dirty="0">
                <a:solidFill>
                  <a:srgbClr val="202124"/>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real = round(un_dia[</a:t>
            </a:r>
            <a:pPr indent="0" marL="0">
              <a:buNone/>
            </a:pPr>
            <a:r>
              <a:rPr lang="en-US" sz="1100" dirty="0">
                <a:solidFill>
                  <a:srgbClr val="A31515"/>
                </a:solidFill>
                <a:latin typeface="Courier New" pitchFamily="34" charset="0"/>
                <a:ea typeface="Courier New" pitchFamily="34" charset="-122"/>
                <a:cs typeface="Courier New" pitchFamily="34" charset="-120"/>
              </a:rPr>
              <a:t>"mwh"</a:t>
            </a:r>
            <a:pPr indent="0" marL="0">
              <a:buNone/>
            </a:pPr>
            <a:r>
              <a:rPr lang="en-US" sz="1100" dirty="0">
                <a:solidFill>
                  <a:srgbClr val="202124"/>
                </a:solidFill>
                <a:latin typeface="Courier New" pitchFamily="34" charset="0"/>
                <a:ea typeface="Courier New" pitchFamily="34" charset="-122"/>
                <a:cs typeface="Courier New" pitchFamily="34" charset="-120"/>
              </a:rPr>
              <a:t>].sum(), 1)</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unida = round(unido[</a:t>
            </a:r>
            <a:pPr indent="0" marL="0">
              <a:buNone/>
            </a:pPr>
            <a:r>
              <a:rPr lang="en-US" sz="1100" dirty="0">
                <a:solidFill>
                  <a:srgbClr val="A31515"/>
                </a:solidFill>
                <a:latin typeface="Courier New" pitchFamily="34" charset="0"/>
                <a:ea typeface="Courier New" pitchFamily="34" charset="-122"/>
                <a:cs typeface="Courier New" pitchFamily="34" charset="-120"/>
              </a:rPr>
              <a:t>"mwh"</a:t>
            </a:r>
            <a:pPr indent="0" marL="0">
              <a:buNone/>
            </a:pPr>
            <a:r>
              <a:rPr lang="en-US" sz="1100" dirty="0">
                <a:solidFill>
                  <a:srgbClr val="202124"/>
                </a:solidFill>
                <a:latin typeface="Courier New" pitchFamily="34" charset="0"/>
                <a:ea typeface="Courier New" pitchFamily="34" charset="-122"/>
                <a:cs typeface="Courier New" pitchFamily="34" charset="-120"/>
              </a:rPr>
              <a:t>].sum(), 1)</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print(</a:t>
            </a:r>
            <a:pPr indent="0" marL="0">
              <a:buNone/>
            </a:pPr>
            <a:r>
              <a:rPr lang="en-US" sz="1100" dirty="0">
                <a:solidFill>
                  <a:srgbClr val="A31515"/>
                </a:solidFill>
                <a:latin typeface="Courier New" pitchFamily="34" charset="0"/>
                <a:ea typeface="Courier New" pitchFamily="34" charset="-122"/>
                <a:cs typeface="Courier New" pitchFamily="34" charset="-120"/>
              </a:rPr>
              <a:t>"Filas antes de unir"</a:t>
            </a:r>
            <a:pPr indent="0" marL="0">
              <a:buNone/>
            </a:pPr>
            <a:r>
              <a:rPr lang="en-US" sz="1100" dirty="0">
                <a:solidFill>
                  <a:srgbClr val="202124"/>
                </a:solidFill>
                <a:latin typeface="Courier New" pitchFamily="34" charset="0"/>
                <a:ea typeface="Courier New" pitchFamily="34" charset="-122"/>
                <a:cs typeface="Courier New" pitchFamily="34" charset="-120"/>
              </a:rPr>
              <a:t>, un_dia.shape[0], </a:t>
            </a:r>
            <a:pPr indent="0" marL="0">
              <a:buNone/>
            </a:pPr>
            <a:r>
              <a:rPr lang="en-US" sz="1100" dirty="0">
                <a:solidFill>
                  <a:srgbClr val="A31515"/>
                </a:solidFill>
                <a:latin typeface="Courier New" pitchFamily="34" charset="0"/>
                <a:ea typeface="Courier New" pitchFamily="34" charset="-122"/>
                <a:cs typeface="Courier New" pitchFamily="34" charset="-120"/>
              </a:rPr>
              <a:t>"y después"</a:t>
            </a:r>
            <a:pPr indent="0" marL="0">
              <a:buNone/>
            </a:pPr>
            <a:r>
              <a:rPr lang="en-US" sz="1100" dirty="0">
                <a:solidFill>
                  <a:srgbClr val="202124"/>
                </a:solidFill>
                <a:latin typeface="Courier New" pitchFamily="34" charset="0"/>
                <a:ea typeface="Courier New" pitchFamily="34" charset="-122"/>
                <a:cs typeface="Courier New" pitchFamily="34" charset="-120"/>
              </a:rPr>
              <a:t>, unido.shape[0])</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print(</a:t>
            </a:r>
            <a:pPr indent="0" marL="0">
              <a:buNone/>
            </a:pPr>
            <a:r>
              <a:rPr lang="en-US" sz="1100" dirty="0">
                <a:solidFill>
                  <a:srgbClr val="A31515"/>
                </a:solidFill>
                <a:latin typeface="Courier New" pitchFamily="34" charset="0"/>
                <a:ea typeface="Courier New" pitchFamily="34" charset="-122"/>
                <a:cs typeface="Courier New" pitchFamily="34" charset="-120"/>
              </a:rPr>
              <a:t>"Generación real"</a:t>
            </a:r>
            <a:pPr indent="0" marL="0">
              <a:buNone/>
            </a:pPr>
            <a:r>
              <a:rPr lang="en-US" sz="1100" dirty="0">
                <a:solidFill>
                  <a:srgbClr val="202124"/>
                </a:solidFill>
                <a:latin typeface="Courier New" pitchFamily="34" charset="0"/>
                <a:ea typeface="Courier New" pitchFamily="34" charset="-122"/>
                <a:cs typeface="Courier New" pitchFamily="34" charset="-120"/>
              </a:rPr>
              <a:t>, real, </a:t>
            </a:r>
            <a:pPr indent="0" marL="0">
              <a:buNone/>
            </a:pPr>
            <a:r>
              <a:rPr lang="en-US" sz="1100" dirty="0">
                <a:solidFill>
                  <a:srgbClr val="A31515"/>
                </a:solidFill>
                <a:latin typeface="Courier New" pitchFamily="34" charset="0"/>
                <a:ea typeface="Courier New" pitchFamily="34" charset="-122"/>
                <a:cs typeface="Courier New" pitchFamily="34" charset="-120"/>
              </a:rPr>
              <a:t>"MWh y generación unida"</a:t>
            </a:r>
            <a:pPr indent="0" marL="0">
              <a:buNone/>
            </a:pPr>
            <a:r>
              <a:rPr lang="en-US" sz="1100" dirty="0">
                <a:solidFill>
                  <a:srgbClr val="202124"/>
                </a:solidFill>
                <a:latin typeface="Courier New" pitchFamily="34" charset="0"/>
                <a:ea typeface="Courier New" pitchFamily="34" charset="-122"/>
                <a:cs typeface="Courier New" pitchFamily="34" charset="-120"/>
              </a:rPr>
              <a:t>, unida, </a:t>
            </a:r>
            <a:pPr indent="0" marL="0">
              <a:buNone/>
            </a:pPr>
            <a:r>
              <a:rPr lang="en-US" sz="1100" dirty="0">
                <a:solidFill>
                  <a:srgbClr val="A31515"/>
                </a:solidFill>
                <a:latin typeface="Courier New" pitchFamily="34" charset="0"/>
                <a:ea typeface="Courier New" pitchFamily="34" charset="-122"/>
                <a:cs typeface="Courier New" pitchFamily="34" charset="-120"/>
              </a:rPr>
              <a:t>"MWh"</a:t>
            </a:r>
            <a:pPr indent="0" marL="0">
              <a:buNone/>
            </a:pPr>
            <a:r>
              <a:rPr lang="en-US" sz="1100" dirty="0">
                <a:solidFill>
                  <a:srgbClr val="202124"/>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if unida == real:</a:t>
            </a:r>
            <a:endParaRPr lang="en-US" sz="1100" dirty="0"/>
          </a:p>
          <a:p>
            <a:pPr indent="0" marL="0">
              <a:buNone/>
            </a:pPr>
            <a:r>
              <a:rPr lang="en-US" sz="1100" dirty="0">
                <a:solidFill>
                  <a:srgbClr val="202124"/>
                </a:solidFill>
                <a:latin typeface="Courier New" pitchFamily="34" charset="0"/>
                <a:ea typeface="Courier New" pitchFamily="34" charset="-122"/>
                <a:cs typeface="Courier New" pitchFamily="34" charset="-120"/>
              </a:rPr>
              <a:t>    print(</a:t>
            </a:r>
            <a:pPr indent="0" marL="0">
              <a:buNone/>
            </a:pPr>
            <a:r>
              <a:rPr lang="en-US" sz="1100" dirty="0">
                <a:solidFill>
                  <a:srgbClr val="A31515"/>
                </a:solidFill>
                <a:latin typeface="Courier New" pitchFamily="34" charset="0"/>
                <a:ea typeface="Courier New" pitchFamily="34" charset="-122"/>
                <a:cs typeface="Courier New" pitchFamily="34" charset="-120"/>
              </a:rPr>
              <a:t>"✓ La generación unida calza con la real"</a:t>
            </a:r>
            <a:pPr indent="0" marL="0">
              <a:buNone/>
            </a:pPr>
            <a:r>
              <a:rPr lang="en-US" sz="1100" dirty="0">
                <a:solidFill>
                  <a:srgbClr val="202124"/>
                </a:solidFill>
                <a:latin typeface="Courier New" pitchFamily="34" charset="0"/>
                <a:ea typeface="Courier New" pitchFamily="34" charset="-122"/>
                <a:cs typeface="Courier New" pitchFamily="34" charset="-120"/>
              </a:rPr>
              <a:t>)</a:t>
            </a:r>
            <a:endParaRPr lang="en-US" sz="1100" dirty="0"/>
          </a:p>
        </p:txBody>
      </p:sp>
      <p:sp>
        <p:nvSpPr>
          <p:cNvPr id="10" name="Text 8"/>
          <p:cNvSpPr txBox="1"/>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quitar_repetidas</a:t>
            </a:r>
            <a:endParaRPr lang="en-US" sz="1100" dirty="0"/>
          </a:p>
        </p:txBody>
      </p:sp>
      <p:sp>
        <p:nvSpPr>
          <p:cNvPr id="11" name="Shape 9"/>
          <p:cNvSpPr/>
          <p:nvPr/>
        </p:nvSpPr>
        <p:spPr>
          <a:xfrm>
            <a:off x="8823960" y="1892808"/>
            <a:ext cx="274320" cy="274320"/>
          </a:xfrm>
          <a:prstGeom prst="rect">
            <a:avLst/>
          </a:prstGeom>
          <a:solidFill>
            <a:srgbClr val="1A73E8"/>
          </a:solidFill>
          <a:ln w="15875">
            <a:solidFill>
              <a:srgbClr val="1A73E8"/>
            </a:solidFill>
            <a:prstDash val="solid"/>
          </a:ln>
        </p:spPr>
      </p:sp>
      <p:sp>
        <p:nvSpPr>
          <p:cNvPr id="12" name="Text 10"/>
          <p:cNvSpPr txBox="1"/>
          <p:nvPr/>
        </p:nvSpPr>
        <p:spPr>
          <a:xfrm>
            <a:off x="8823960" y="1892808"/>
            <a:ext cx="274320"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9208008" y="1892808"/>
            <a:ext cx="1828800" cy="274320"/>
          </a:xfrm>
          <a:prstGeom prst="rect">
            <a:avLst/>
          </a:prstGeom>
          <a:noFill/>
          <a:ln/>
        </p:spPr>
        <p:txBody>
          <a:bodyPr wrap="square" lIns="0" tIns="0" rIns="0" bIns="0" rtlCol="0" anchor="ctr"/>
          <a:lstStyle/>
          <a:p>
            <a:pPr indent="0" marL="0">
              <a:buNone/>
            </a:pPr>
            <a:r>
              <a:rPr lang="en-US" sz="1200" dirty="0">
                <a:solidFill>
                  <a:srgbClr val="5F6368"/>
                </a:solidFill>
                <a:latin typeface="Calibri" pitchFamily="34" charset="0"/>
                <a:ea typeface="Calibri" pitchFamily="34" charset="-122"/>
                <a:cs typeface="Calibri" pitchFamily="34" charset="-120"/>
              </a:rPr>
              <a:t>marcada</a:t>
            </a:r>
            <a:endParaRPr lang="en-US" sz="1200" dirty="0"/>
          </a:p>
        </p:txBody>
      </p:sp>
      <p:sp>
        <p:nvSpPr>
          <p:cNvPr id="14" name="Shape 12"/>
          <p:cNvSpPr/>
          <p:nvPr/>
        </p:nvSpPr>
        <p:spPr>
          <a:xfrm>
            <a:off x="1325880" y="4818888"/>
            <a:ext cx="10314432" cy="786384"/>
          </a:xfrm>
          <a:prstGeom prst="rect">
            <a:avLst/>
          </a:prstGeom>
          <a:solidFill>
            <a:srgbClr val="FFFFFF"/>
          </a:solidFill>
          <a:ln w="12700">
            <a:solidFill>
              <a:srgbClr val="DADCE0"/>
            </a:solidFill>
            <a:prstDash val="solid"/>
          </a:ln>
        </p:spPr>
      </p:sp>
      <p:sp>
        <p:nvSpPr>
          <p:cNvPr id="15" name="Text 13"/>
          <p:cNvSpPr txBox="1"/>
          <p:nvPr/>
        </p:nvSpPr>
        <p:spPr>
          <a:xfrm>
            <a:off x="1463040" y="4892040"/>
            <a:ext cx="10085832" cy="658368"/>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Filas antes de unir 480 y después 480</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Generación real 52650.0 MWh y generación unida 52650.0 MWh</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La generación unida calza con la real</a:t>
            </a:r>
            <a:endParaRPr lang="en-US" sz="1200" dirty="0"/>
          </a:p>
        </p:txBody>
      </p:sp>
      <p:sp>
        <p:nvSpPr>
          <p:cNvPr id="17" name="Text 14"/>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8" name="Shape 15"/>
          <p:cNvSpPr/>
          <p:nvPr/>
        </p:nvSpPr>
        <p:spPr>
          <a:xfrm>
            <a:off x="548640" y="6062472"/>
            <a:ext cx="1143000" cy="566928"/>
          </a:xfrm>
          <a:prstGeom prst="roundRect">
            <a:avLst>
              <a:gd name="adj" fmla="val 11290"/>
            </a:avLst>
          </a:prstGeom>
          <a:solidFill>
            <a:srgbClr val="E8F0FE"/>
          </a:solidFill>
          <a:ln w="28575">
            <a:solidFill>
              <a:srgbClr val="1A73E8"/>
            </a:solidFill>
            <a:prstDash val="solid"/>
          </a:ln>
        </p:spPr>
      </p:sp>
      <p:sp>
        <p:nvSpPr>
          <p:cNvPr id="19" name="Text 16"/>
          <p:cNvSpPr txBox="1"/>
          <p:nvPr/>
        </p:nvSpPr>
        <p:spPr>
          <a:xfrm>
            <a:off x="64008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20" name="Shape 17"/>
          <p:cNvSpPr/>
          <p:nvPr/>
        </p:nvSpPr>
        <p:spPr>
          <a:xfrm>
            <a:off x="1828800" y="6062472"/>
            <a:ext cx="1522476" cy="566928"/>
          </a:xfrm>
          <a:prstGeom prst="roundRect">
            <a:avLst>
              <a:gd name="adj" fmla="val 11290"/>
            </a:avLst>
          </a:prstGeom>
          <a:solidFill>
            <a:srgbClr val="E8F0FE"/>
          </a:solidFill>
          <a:ln w="28575">
            <a:solidFill>
              <a:srgbClr val="1A73E8"/>
            </a:solidFill>
            <a:prstDash val="solid"/>
          </a:ln>
        </p:spPr>
      </p:sp>
      <p:sp>
        <p:nvSpPr>
          <p:cNvPr id="21" name="Text 18"/>
          <p:cNvSpPr txBox="1"/>
          <p:nvPr/>
        </p:nvSpPr>
        <p:spPr>
          <a:xfrm>
            <a:off x="1920240"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un_dia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480 × 4</a:t>
            </a:r>
            <a:endParaRPr lang="en-US" sz="1200" dirty="0"/>
          </a:p>
        </p:txBody>
      </p:sp>
      <p:sp>
        <p:nvSpPr>
          <p:cNvPr id="22" name="Shape 19"/>
          <p:cNvSpPr/>
          <p:nvPr/>
        </p:nvSpPr>
        <p:spPr>
          <a:xfrm>
            <a:off x="3488436" y="6062472"/>
            <a:ext cx="1426464" cy="566928"/>
          </a:xfrm>
          <a:prstGeom prst="roundRect">
            <a:avLst>
              <a:gd name="adj" fmla="val 11290"/>
            </a:avLst>
          </a:prstGeom>
          <a:solidFill>
            <a:srgbClr val="E8F0FE"/>
          </a:solidFill>
          <a:ln w="28575">
            <a:solidFill>
              <a:srgbClr val="1A73E8"/>
            </a:solidFill>
            <a:prstDash val="solid"/>
          </a:ln>
        </p:spPr>
      </p:sp>
      <p:sp>
        <p:nvSpPr>
          <p:cNvPr id="23" name="Text 20"/>
          <p:cNvSpPr txBox="1"/>
          <p:nvPr/>
        </p:nvSpPr>
        <p:spPr>
          <a:xfrm>
            <a:off x="3579876"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fichas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17 × 5</a:t>
            </a:r>
            <a:endParaRPr lang="en-US" sz="1200" dirty="0"/>
          </a:p>
        </p:txBody>
      </p:sp>
      <p:sp>
        <p:nvSpPr>
          <p:cNvPr id="24" name="Shape 21"/>
          <p:cNvSpPr/>
          <p:nvPr/>
        </p:nvSpPr>
        <p:spPr>
          <a:xfrm>
            <a:off x="5052060" y="6062472"/>
            <a:ext cx="1522476" cy="566928"/>
          </a:xfrm>
          <a:prstGeom prst="roundRect">
            <a:avLst>
              <a:gd name="adj" fmla="val 11290"/>
            </a:avLst>
          </a:prstGeom>
          <a:solidFill>
            <a:srgbClr val="FEF3D6"/>
          </a:solidFill>
          <a:ln w="25400">
            <a:solidFill>
              <a:srgbClr val="F9AB00"/>
            </a:solidFill>
            <a:prstDash val="solid"/>
          </a:ln>
        </p:spPr>
      </p:sp>
      <p:sp>
        <p:nvSpPr>
          <p:cNvPr id="25" name="Text 22"/>
          <p:cNvSpPr txBox="1"/>
          <p:nvPr/>
        </p:nvSpPr>
        <p:spPr>
          <a:xfrm>
            <a:off x="5143500"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unido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480 × 8</a:t>
            </a:r>
            <a:endParaRPr lang="en-US" sz="1200" dirty="0"/>
          </a:p>
        </p:txBody>
      </p:sp>
      <p:sp>
        <p:nvSpPr>
          <p:cNvPr id="26" name="Shape 23"/>
          <p:cNvSpPr/>
          <p:nvPr/>
        </p:nvSpPr>
        <p:spPr>
          <a:xfrm>
            <a:off x="6711696" y="6062472"/>
            <a:ext cx="1810512" cy="566928"/>
          </a:xfrm>
          <a:prstGeom prst="roundRect">
            <a:avLst>
              <a:gd name="adj" fmla="val 11290"/>
            </a:avLst>
          </a:prstGeom>
          <a:solidFill>
            <a:srgbClr val="FEF3D6"/>
          </a:solidFill>
          <a:ln w="25400">
            <a:solidFill>
              <a:srgbClr val="F9AB00"/>
            </a:solidFill>
            <a:prstDash val="solid"/>
          </a:ln>
        </p:spPr>
      </p:sp>
      <p:sp>
        <p:nvSpPr>
          <p:cNvPr id="27" name="Text 24"/>
          <p:cNvSpPr txBox="1"/>
          <p:nvPr/>
        </p:nvSpPr>
        <p:spPr>
          <a:xfrm>
            <a:off x="6803136"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quitar_repetidas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True</a:t>
            </a:r>
            <a:endParaRPr lang="en-US" sz="1200" dirty="0"/>
          </a:p>
        </p:txBody>
      </p:sp>
      <p:sp>
        <p:nvSpPr>
          <p:cNvPr id="28" name="Shape 25"/>
          <p:cNvSpPr/>
          <p:nvPr/>
        </p:nvSpPr>
        <p:spPr>
          <a:xfrm>
            <a:off x="8659368" y="6062472"/>
            <a:ext cx="1810512" cy="566928"/>
          </a:xfrm>
          <a:prstGeom prst="roundRect">
            <a:avLst>
              <a:gd name="adj" fmla="val 11290"/>
            </a:avLst>
          </a:prstGeom>
          <a:solidFill>
            <a:srgbClr val="FEF3D6"/>
          </a:solidFill>
          <a:ln w="25400">
            <a:solidFill>
              <a:srgbClr val="F9AB00"/>
            </a:solidFill>
            <a:prstDash val="solid"/>
          </a:ln>
        </p:spPr>
      </p:sp>
      <p:sp>
        <p:nvSpPr>
          <p:cNvPr id="29" name="Text 26"/>
          <p:cNvSpPr txBox="1"/>
          <p:nvPr/>
        </p:nvSpPr>
        <p:spPr>
          <a:xfrm>
            <a:off x="8750808"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fichas_repetidas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17 × 5</a:t>
            </a:r>
            <a:endParaRPr lang="en-US" sz="1200" dirty="0"/>
          </a:p>
        </p:txBody>
      </p:sp>
      <p:sp>
        <p:nvSpPr>
          <p:cNvPr id="30" name="Text 27"/>
          <p:cNvSpPr txBox="1"/>
          <p:nvPr/>
        </p:nvSpPr>
        <p:spPr>
          <a:xfrm>
            <a:off x="10607040"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11 más</a:t>
            </a:r>
            <a:endParaRPr lang="en-US" sz="1200" dirty="0"/>
          </a:p>
        </p:txBody>
      </p:sp>
      <p:sp>
        <p:nvSpPr>
          <p:cNvPr id="31" name="Text 28"/>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Sin repetidas, la generación unida calza con la real.</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2651760" cy="329184"/>
          </a:xfrm>
          <a:prstGeom prst="roundRect">
            <a:avLst>
              <a:gd name="adj" fmla="val 22222"/>
            </a:avLst>
          </a:prstGeom>
          <a:solidFill>
            <a:srgbClr val="1A73E8"/>
          </a:solidFill>
          <a:ln w="12700">
            <a:solidFill>
              <a:srgbClr val="1A73E8"/>
            </a:solidFill>
            <a:prstDash val="solid"/>
          </a:ln>
        </p:spPr>
      </p:sp>
      <p:sp>
        <p:nvSpPr>
          <p:cNvPr id="3" name="Text 1"/>
          <p:cNvSpPr txBox="1"/>
          <p:nvPr/>
        </p:nvSpPr>
        <p:spPr>
          <a:xfrm>
            <a:off x="548640" y="109728"/>
            <a:ext cx="2651760"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EN CLASE · Paso 5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¿qué pasa con fichas repetidas?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hay que llevarse de este paso.</a:t>
            </a:r>
            <a:endParaRPr lang="en-US" sz="1400" dirty="0"/>
          </a:p>
        </p:txBody>
      </p:sp>
      <p:sp>
        <p:nvSpPr>
          <p:cNvPr id="7" name="Shape 4"/>
          <p:cNvSpPr/>
          <p:nvPr/>
        </p:nvSpPr>
        <p:spPr>
          <a:xfrm>
            <a:off x="548640" y="1828800"/>
            <a:ext cx="11091672" cy="2377440"/>
          </a:xfrm>
          <a:prstGeom prst="roundRect">
            <a:avLst>
              <a:gd name="adj" fmla="val 3846"/>
            </a:avLst>
          </a:prstGeom>
          <a:solidFill>
            <a:srgbClr val="FFF8D6"/>
          </a:solidFill>
          <a:ln w="12700">
            <a:solidFill>
              <a:srgbClr val="FFF8D6"/>
            </a:solidFill>
            <a:prstDash val="solid"/>
          </a:ln>
        </p:spPr>
      </p:sp>
      <p:sp>
        <p:nvSpPr>
          <p:cNvPr id="8" name="Text 5"/>
          <p:cNvSpPr txBox="1"/>
          <p:nvPr/>
        </p:nvSpPr>
        <p:spPr>
          <a:xfrm>
            <a:off x="1005840" y="2057400"/>
            <a:ext cx="10177272" cy="1005840"/>
          </a:xfrm>
          <a:prstGeom prst="rect">
            <a:avLst/>
          </a:prstGeom>
          <a:noFill/>
          <a:ln/>
        </p:spPr>
        <p:txBody>
          <a:bodyPr wrap="square" lIns="0" tIns="0" rIns="0" bIns="0" rtlCol="0" anchor="t"/>
          <a:lstStyle/>
          <a:p>
            <a:pPr indent="0" marL="0">
              <a:buNone/>
            </a:pPr>
            <a:r>
              <a:rPr lang="en-US" sz="2800" b="1" dirty="0">
                <a:solidFill>
                  <a:srgbClr val="8A6D00"/>
                </a:solidFill>
                <a:latin typeface="Calibri" pitchFamily="34" charset="0"/>
                <a:ea typeface="Calibri" pitchFamily="34" charset="-122"/>
                <a:cs typeface="Calibri" pitchFamily="34" charset="-120"/>
              </a:rPr>
              <a:t>Una ficha repetida no da error, infla el total.</a:t>
            </a:r>
            <a:endParaRPr lang="en-US" sz="2800" dirty="0"/>
          </a:p>
        </p:txBody>
      </p:sp>
      <p:sp>
        <p:nvSpPr>
          <p:cNvPr id="9" name="Text 6"/>
          <p:cNvSpPr txBox="1"/>
          <p:nvPr/>
        </p:nvSpPr>
        <p:spPr>
          <a:xfrm>
            <a:off x="1005840" y="3154680"/>
            <a:ext cx="10177272" cy="914400"/>
          </a:xfrm>
          <a:prstGeom prst="rect">
            <a:avLst/>
          </a:prstGeom>
          <a:noFill/>
          <a:ln/>
        </p:spPr>
        <p:txBody>
          <a:bodyPr wrap="square" lIns="0" tIns="0" rIns="0" bIns="0" rtlCol="0" anchor="t"/>
          <a:lstStyle/>
          <a:p>
            <a:pPr indent="0" marL="0">
              <a:buNone/>
            </a:pPr>
            <a:r>
              <a:rPr lang="en-US" sz="2200" dirty="0">
                <a:solidFill>
                  <a:srgbClr val="202124"/>
                </a:solidFill>
                <a:latin typeface="Calibri" pitchFamily="34" charset="0"/>
                <a:ea typeface="Calibri" pitchFamily="34" charset="-122"/>
                <a:cs typeface="Calibri" pitchFamily="34" charset="-120"/>
              </a:rPr>
              <a:t>Por eso se revisa que la columna con que se une no tenga valores repetidos.</a:t>
            </a:r>
            <a:endParaRPr lang="en-US" sz="2200" dirty="0"/>
          </a:p>
        </p:txBody>
      </p:sp>
      <p:sp>
        <p:nvSpPr>
          <p:cNvPr id="10"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1" name="Shape 8"/>
          <p:cNvSpPr/>
          <p:nvPr/>
        </p:nvSpPr>
        <p:spPr>
          <a:xfrm>
            <a:off x="548640" y="6062472"/>
            <a:ext cx="1143000" cy="566928"/>
          </a:xfrm>
          <a:prstGeom prst="roundRect">
            <a:avLst>
              <a:gd name="adj" fmla="val 11290"/>
            </a:avLst>
          </a:prstGeom>
          <a:solidFill>
            <a:srgbClr val="E8F0FE"/>
          </a:solidFill>
          <a:ln w="28575">
            <a:solidFill>
              <a:srgbClr val="1A73E8"/>
            </a:solidFill>
            <a:prstDash val="solid"/>
          </a:ln>
        </p:spPr>
      </p:sp>
      <p:sp>
        <p:nvSpPr>
          <p:cNvPr id="12" name="Text 9"/>
          <p:cNvSpPr txBox="1"/>
          <p:nvPr/>
        </p:nvSpPr>
        <p:spPr>
          <a:xfrm>
            <a:off x="64008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3" name="Shape 10"/>
          <p:cNvSpPr/>
          <p:nvPr/>
        </p:nvSpPr>
        <p:spPr>
          <a:xfrm>
            <a:off x="1828800" y="6062472"/>
            <a:ext cx="1522476" cy="566928"/>
          </a:xfrm>
          <a:prstGeom prst="roundRect">
            <a:avLst>
              <a:gd name="adj" fmla="val 11290"/>
            </a:avLst>
          </a:prstGeom>
          <a:solidFill>
            <a:srgbClr val="E8F0FE"/>
          </a:solidFill>
          <a:ln w="28575">
            <a:solidFill>
              <a:srgbClr val="1A73E8"/>
            </a:solidFill>
            <a:prstDash val="solid"/>
          </a:ln>
        </p:spPr>
      </p:sp>
      <p:sp>
        <p:nvSpPr>
          <p:cNvPr id="14" name="Text 11"/>
          <p:cNvSpPr txBox="1"/>
          <p:nvPr/>
        </p:nvSpPr>
        <p:spPr>
          <a:xfrm>
            <a:off x="1920240"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un_dia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480 × 4</a:t>
            </a:r>
            <a:endParaRPr lang="en-US" sz="1200" dirty="0"/>
          </a:p>
        </p:txBody>
      </p:sp>
      <p:sp>
        <p:nvSpPr>
          <p:cNvPr id="15" name="Shape 12"/>
          <p:cNvSpPr/>
          <p:nvPr/>
        </p:nvSpPr>
        <p:spPr>
          <a:xfrm>
            <a:off x="3488436" y="6062472"/>
            <a:ext cx="1426464" cy="566928"/>
          </a:xfrm>
          <a:prstGeom prst="roundRect">
            <a:avLst>
              <a:gd name="adj" fmla="val 11290"/>
            </a:avLst>
          </a:prstGeom>
          <a:solidFill>
            <a:srgbClr val="E8F0FE"/>
          </a:solidFill>
          <a:ln w="28575">
            <a:solidFill>
              <a:srgbClr val="1A73E8"/>
            </a:solidFill>
            <a:prstDash val="solid"/>
          </a:ln>
        </p:spPr>
      </p:sp>
      <p:sp>
        <p:nvSpPr>
          <p:cNvPr id="16" name="Text 13"/>
          <p:cNvSpPr txBox="1"/>
          <p:nvPr/>
        </p:nvSpPr>
        <p:spPr>
          <a:xfrm>
            <a:off x="3579876"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fichas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17 × 5</a:t>
            </a:r>
            <a:endParaRPr lang="en-US" sz="1200" dirty="0"/>
          </a:p>
        </p:txBody>
      </p:sp>
      <p:sp>
        <p:nvSpPr>
          <p:cNvPr id="17" name="Shape 14"/>
          <p:cNvSpPr/>
          <p:nvPr/>
        </p:nvSpPr>
        <p:spPr>
          <a:xfrm>
            <a:off x="5052060" y="6062472"/>
            <a:ext cx="1522476" cy="566928"/>
          </a:xfrm>
          <a:prstGeom prst="roundRect">
            <a:avLst>
              <a:gd name="adj" fmla="val 11290"/>
            </a:avLst>
          </a:prstGeom>
          <a:solidFill>
            <a:srgbClr val="FEF3D6"/>
          </a:solidFill>
          <a:ln w="25400">
            <a:solidFill>
              <a:srgbClr val="F9AB00"/>
            </a:solidFill>
            <a:prstDash val="solid"/>
          </a:ln>
        </p:spPr>
      </p:sp>
      <p:sp>
        <p:nvSpPr>
          <p:cNvPr id="18" name="Text 15"/>
          <p:cNvSpPr txBox="1"/>
          <p:nvPr/>
        </p:nvSpPr>
        <p:spPr>
          <a:xfrm>
            <a:off x="5143500" y="6071616"/>
            <a:ext cx="138531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unido</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480 × 8</a:t>
            </a:r>
            <a:endParaRPr lang="en-US" sz="1200" dirty="0"/>
          </a:p>
        </p:txBody>
      </p:sp>
      <p:sp>
        <p:nvSpPr>
          <p:cNvPr id="19" name="Shape 16"/>
          <p:cNvSpPr/>
          <p:nvPr/>
        </p:nvSpPr>
        <p:spPr>
          <a:xfrm>
            <a:off x="6711696" y="6062472"/>
            <a:ext cx="1810512" cy="566928"/>
          </a:xfrm>
          <a:prstGeom prst="roundRect">
            <a:avLst>
              <a:gd name="adj" fmla="val 11290"/>
            </a:avLst>
          </a:prstGeom>
          <a:solidFill>
            <a:srgbClr val="FEF3D6"/>
          </a:solidFill>
          <a:ln w="25400">
            <a:solidFill>
              <a:srgbClr val="F9AB00"/>
            </a:solidFill>
            <a:prstDash val="solid"/>
          </a:ln>
        </p:spPr>
      </p:sp>
      <p:sp>
        <p:nvSpPr>
          <p:cNvPr id="20" name="Text 17"/>
          <p:cNvSpPr txBox="1"/>
          <p:nvPr/>
        </p:nvSpPr>
        <p:spPr>
          <a:xfrm>
            <a:off x="6803136"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quitar_repetidas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True</a:t>
            </a:r>
            <a:endParaRPr lang="en-US" sz="1200" dirty="0"/>
          </a:p>
        </p:txBody>
      </p:sp>
      <p:sp>
        <p:nvSpPr>
          <p:cNvPr id="21" name="Shape 18"/>
          <p:cNvSpPr/>
          <p:nvPr/>
        </p:nvSpPr>
        <p:spPr>
          <a:xfrm>
            <a:off x="8659368" y="6062472"/>
            <a:ext cx="1810512" cy="566928"/>
          </a:xfrm>
          <a:prstGeom prst="roundRect">
            <a:avLst>
              <a:gd name="adj" fmla="val 11290"/>
            </a:avLst>
          </a:prstGeom>
          <a:solidFill>
            <a:srgbClr val="FEF3D6"/>
          </a:solidFill>
          <a:ln w="25400">
            <a:solidFill>
              <a:srgbClr val="F9AB00"/>
            </a:solidFill>
            <a:prstDash val="solid"/>
          </a:ln>
        </p:spPr>
      </p:sp>
      <p:sp>
        <p:nvSpPr>
          <p:cNvPr id="22" name="Text 19"/>
          <p:cNvSpPr txBox="1"/>
          <p:nvPr/>
        </p:nvSpPr>
        <p:spPr>
          <a:xfrm>
            <a:off x="8750808"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fichas_repetidas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17 × 5</a:t>
            </a:r>
            <a:endParaRPr lang="en-US" sz="1200" dirty="0"/>
          </a:p>
        </p:txBody>
      </p:sp>
      <p:sp>
        <p:nvSpPr>
          <p:cNvPr id="23" name="Text 20"/>
          <p:cNvSpPr txBox="1"/>
          <p:nvPr/>
        </p:nvSpPr>
        <p:spPr>
          <a:xfrm>
            <a:off x="10607040"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11 más</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9AB00"/>
        </a:solidFill>
      </p:bgPr>
    </p:bg>
    <p:spTree>
      <p:nvGrpSpPr>
        <p:cNvPr id="1" name=""/>
        <p:cNvGrpSpPr/>
        <p:nvPr/>
      </p:nvGrpSpPr>
      <p:grpSpPr>
        <a:xfrm>
          <a:off x="0" y="0"/>
          <a:ext cx="0" cy="0"/>
          <a:chOff x="0" y="0"/>
          <a:chExt cx="0" cy="0"/>
        </a:xfrm>
      </p:grpSpPr>
      <p:sp>
        <p:nvSpPr>
          <p:cNvPr id="2" name="Text 0"/>
          <p:cNvSpPr txBox="1"/>
          <p:nvPr/>
        </p:nvSpPr>
        <p:spPr>
          <a:xfrm>
            <a:off x="731520" y="548640"/>
            <a:ext cx="10698480" cy="822960"/>
          </a:xfrm>
          <a:prstGeom prst="rect">
            <a:avLst/>
          </a:prstGeom>
          <a:noFill/>
          <a:ln/>
        </p:spPr>
        <p:txBody>
          <a:bodyPr wrap="square" lIns="0" tIns="0" rIns="0" bIns="0" rtlCol="0" anchor="ctr"/>
          <a:lstStyle/>
          <a:p>
            <a:pPr indent="0" marL="0">
              <a:buNone/>
            </a:pPr>
            <a:r>
              <a:rPr lang="en-US" sz="4400" b="1" dirty="0">
                <a:solidFill>
                  <a:srgbClr val="0B3D62"/>
                </a:solidFill>
                <a:latin typeface="Calibri" pitchFamily="34" charset="0"/>
                <a:ea typeface="Calibri" pitchFamily="34" charset="-122"/>
                <a:cs typeface="Calibri" pitchFamily="34" charset="-120"/>
              </a:rPr>
              <a:t>PARTE 2 · PARA LA CASA</a:t>
            </a:r>
            <a:endParaRPr lang="en-US" sz="4400" dirty="0"/>
          </a:p>
        </p:txBody>
      </p:sp>
      <p:sp>
        <p:nvSpPr>
          <p:cNvPr id="3" name="Text 1"/>
          <p:cNvSpPr txBox="1"/>
          <p:nvPr/>
        </p:nvSpPr>
        <p:spPr>
          <a:xfrm>
            <a:off x="731520" y="1371600"/>
            <a:ext cx="10698480" cy="457200"/>
          </a:xfrm>
          <a:prstGeom prst="rect">
            <a:avLst/>
          </a:prstGeom>
          <a:noFill/>
          <a:ln/>
        </p:spPr>
        <p:txBody>
          <a:bodyPr wrap="square" lIns="0" tIns="0" rIns="0" bIns="0" rtlCol="0" anchor="ctr"/>
          <a:lstStyle/>
          <a:p>
            <a:pPr indent="0" marL="0">
              <a:buNone/>
            </a:pPr>
            <a:r>
              <a:rPr lang="en-US" sz="2000" dirty="0">
                <a:solidFill>
                  <a:srgbClr val="0B3D62"/>
                </a:solidFill>
                <a:latin typeface="Calibri" pitchFamily="34" charset="0"/>
                <a:ea typeface="Calibri" pitchFamily="34" charset="-122"/>
                <a:cs typeface="Calibri" pitchFamily="34" charset="-120"/>
              </a:rPr>
              <a:t>No se ve en clase. Cada estudio viene explicado en las láminas que siguen, con la guía como apoyo.</a:t>
            </a:r>
            <a:endParaRPr lang="en-US" sz="2000" dirty="0"/>
          </a:p>
        </p:txBody>
      </p:sp>
      <p:sp>
        <p:nvSpPr>
          <p:cNvPr id="4" name="Shape 2"/>
          <p:cNvSpPr/>
          <p:nvPr/>
        </p:nvSpPr>
        <p:spPr>
          <a:xfrm>
            <a:off x="731520" y="2240280"/>
            <a:ext cx="548640" cy="548640"/>
          </a:xfrm>
          <a:prstGeom prst="ellipse">
            <a:avLst/>
          </a:prstGeom>
          <a:solidFill>
            <a:srgbClr val="0B3D62"/>
          </a:solidFill>
          <a:ln w="12700">
            <a:solidFill>
              <a:srgbClr val="0B3D62"/>
            </a:solidFill>
            <a:prstDash val="solid"/>
          </a:ln>
        </p:spPr>
      </p:sp>
      <p:sp>
        <p:nvSpPr>
          <p:cNvPr id="5" name="Text 3"/>
          <p:cNvSpPr txBox="1"/>
          <p:nvPr/>
        </p:nvSpPr>
        <p:spPr>
          <a:xfrm>
            <a:off x="731520" y="22402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Text 4"/>
          <p:cNvSpPr txBox="1"/>
          <p:nvPr/>
        </p:nvSpPr>
        <p:spPr>
          <a:xfrm>
            <a:off x="1508760" y="2240280"/>
            <a:ext cx="9966960" cy="548640"/>
          </a:xfrm>
          <a:prstGeom prst="rect">
            <a:avLst/>
          </a:prstGeom>
          <a:noFill/>
          <a:ln/>
        </p:spPr>
        <p:txBody>
          <a:bodyPr wrap="square" lIns="0" tIns="0" rIns="0" bIns="0" rtlCol="0" anchor="ctr"/>
          <a:lstStyle/>
          <a:p>
            <a:pPr indent="0" marL="0">
              <a:buNone/>
            </a:pPr>
            <a:r>
              <a:rPr lang="en-US" sz="2400" b="1" dirty="0">
                <a:solidFill>
                  <a:srgbClr val="0B3D62"/>
                </a:solidFill>
                <a:latin typeface="Calibri" pitchFamily="34" charset="0"/>
                <a:ea typeface="Calibri" pitchFamily="34" charset="-122"/>
                <a:cs typeface="Calibri" pitchFamily="34" charset="-120"/>
              </a:rPr>
              <a:t>Estudio 1   </a:t>
            </a:r>
            <a:pPr indent="0" marL="0">
              <a:buNone/>
            </a:pPr>
            <a:r>
              <a:rPr lang="en-US" sz="2400" dirty="0">
                <a:solidFill>
                  <a:srgbClr val="0B3D62"/>
                </a:solidFill>
                <a:latin typeface="Calibri" pitchFamily="34" charset="0"/>
                <a:ea typeface="Calibri" pitchFamily="34" charset="-122"/>
                <a:cs typeface="Calibri" pitchFamily="34" charset="-120"/>
              </a:rPr>
              <a:t>¿Qué tamaño tiene la tabla?</a:t>
            </a:r>
            <a:endParaRPr lang="en-US" sz="2400" dirty="0"/>
          </a:p>
        </p:txBody>
      </p:sp>
      <p:sp>
        <p:nvSpPr>
          <p:cNvPr id="7" name="Shape 5"/>
          <p:cNvSpPr/>
          <p:nvPr/>
        </p:nvSpPr>
        <p:spPr>
          <a:xfrm>
            <a:off x="731520" y="3017520"/>
            <a:ext cx="548640" cy="548640"/>
          </a:xfrm>
          <a:prstGeom prst="ellipse">
            <a:avLst/>
          </a:prstGeom>
          <a:solidFill>
            <a:srgbClr val="0B3D62"/>
          </a:solidFill>
          <a:ln w="12700">
            <a:solidFill>
              <a:srgbClr val="0B3D62"/>
            </a:solidFill>
            <a:prstDash val="solid"/>
          </a:ln>
        </p:spPr>
      </p:sp>
      <p:sp>
        <p:nvSpPr>
          <p:cNvPr id="8" name="Text 6"/>
          <p:cNvSpPr txBox="1"/>
          <p:nvPr/>
        </p:nvSpPr>
        <p:spPr>
          <a:xfrm>
            <a:off x="731520" y="301752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9" name="Text 7"/>
          <p:cNvSpPr txBox="1"/>
          <p:nvPr/>
        </p:nvSpPr>
        <p:spPr>
          <a:xfrm>
            <a:off x="1508760" y="3017520"/>
            <a:ext cx="9966960" cy="548640"/>
          </a:xfrm>
          <a:prstGeom prst="rect">
            <a:avLst/>
          </a:prstGeom>
          <a:noFill/>
          <a:ln/>
        </p:spPr>
        <p:txBody>
          <a:bodyPr wrap="square" lIns="0" tIns="0" rIns="0" bIns="0" rtlCol="0" anchor="ctr"/>
          <a:lstStyle/>
          <a:p>
            <a:pPr indent="0" marL="0">
              <a:buNone/>
            </a:pPr>
            <a:r>
              <a:rPr lang="en-US" sz="2400" b="1" dirty="0">
                <a:solidFill>
                  <a:srgbClr val="0B3D62"/>
                </a:solidFill>
                <a:latin typeface="Calibri" pitchFamily="34" charset="0"/>
                <a:ea typeface="Calibri" pitchFamily="34" charset="-122"/>
                <a:cs typeface="Calibri" pitchFamily="34" charset="-120"/>
              </a:rPr>
              <a:t>Estudio 2   </a:t>
            </a:r>
            <a:pPr indent="0" marL="0">
              <a:buNone/>
            </a:pPr>
            <a:r>
              <a:rPr lang="en-US" sz="2400" dirty="0">
                <a:solidFill>
                  <a:srgbClr val="0B3D62"/>
                </a:solidFill>
                <a:latin typeface="Calibri" pitchFamily="34" charset="0"/>
                <a:ea typeface="Calibri" pitchFamily="34" charset="-122"/>
                <a:cs typeface="Calibri" pitchFamily="34" charset="-120"/>
              </a:rPr>
              <a:t>Tu turno, resume la potencia</a:t>
            </a:r>
            <a:endParaRPr lang="en-US" sz="2400" dirty="0"/>
          </a:p>
        </p:txBody>
      </p:sp>
      <p:sp>
        <p:nvSpPr>
          <p:cNvPr id="10" name="Shape 8"/>
          <p:cNvSpPr/>
          <p:nvPr/>
        </p:nvSpPr>
        <p:spPr>
          <a:xfrm>
            <a:off x="731520" y="3794760"/>
            <a:ext cx="548640" cy="548640"/>
          </a:xfrm>
          <a:prstGeom prst="ellipse">
            <a:avLst/>
          </a:prstGeom>
          <a:solidFill>
            <a:srgbClr val="0B3D62"/>
          </a:solidFill>
          <a:ln w="12700">
            <a:solidFill>
              <a:srgbClr val="0B3D62"/>
            </a:solidFill>
            <a:prstDash val="solid"/>
          </a:ln>
        </p:spPr>
      </p:sp>
      <p:sp>
        <p:nvSpPr>
          <p:cNvPr id="11" name="Text 9"/>
          <p:cNvSpPr txBox="1"/>
          <p:nvPr/>
        </p:nvSpPr>
        <p:spPr>
          <a:xfrm>
            <a:off x="731520" y="37947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Text 10"/>
          <p:cNvSpPr txBox="1"/>
          <p:nvPr/>
        </p:nvSpPr>
        <p:spPr>
          <a:xfrm>
            <a:off x="1508760" y="3794760"/>
            <a:ext cx="9966960" cy="548640"/>
          </a:xfrm>
          <a:prstGeom prst="rect">
            <a:avLst/>
          </a:prstGeom>
          <a:noFill/>
          <a:ln/>
        </p:spPr>
        <p:txBody>
          <a:bodyPr wrap="square" lIns="0" tIns="0" rIns="0" bIns="0" rtlCol="0" anchor="ctr"/>
          <a:lstStyle/>
          <a:p>
            <a:pPr indent="0" marL="0">
              <a:buNone/>
            </a:pPr>
            <a:r>
              <a:rPr lang="en-US" sz="2400" b="1" dirty="0">
                <a:solidFill>
                  <a:srgbClr val="0B3D62"/>
                </a:solidFill>
                <a:latin typeface="Calibri" pitchFamily="34" charset="0"/>
                <a:ea typeface="Calibri" pitchFamily="34" charset="-122"/>
                <a:cs typeface="Calibri" pitchFamily="34" charset="-120"/>
              </a:rPr>
              <a:t>Estudio 3   </a:t>
            </a:r>
            <a:pPr indent="0" marL="0">
              <a:buNone/>
            </a:pPr>
            <a:r>
              <a:rPr lang="en-US" sz="2400" dirty="0">
                <a:solidFill>
                  <a:srgbClr val="0B3D62"/>
                </a:solidFill>
                <a:latin typeface="Calibri" pitchFamily="34" charset="0"/>
                <a:ea typeface="Calibri" pitchFamily="34" charset="-122"/>
                <a:cs typeface="Calibri" pitchFamily="34" charset="-120"/>
              </a:rPr>
              <a:t>¿Y si los datos vienen en Excel?</a:t>
            </a:r>
            <a:endParaRPr lang="en-US" sz="2400" dirty="0"/>
          </a:p>
        </p:txBody>
      </p:sp>
      <p:sp>
        <p:nvSpPr>
          <p:cNvPr id="13" name="Shape 11"/>
          <p:cNvSpPr/>
          <p:nvPr/>
        </p:nvSpPr>
        <p:spPr>
          <a:xfrm>
            <a:off x="731520" y="4572000"/>
            <a:ext cx="548640" cy="548640"/>
          </a:xfrm>
          <a:prstGeom prst="ellipse">
            <a:avLst/>
          </a:prstGeom>
          <a:solidFill>
            <a:srgbClr val="0B3D62"/>
          </a:solidFill>
          <a:ln w="12700">
            <a:solidFill>
              <a:srgbClr val="0B3D62"/>
            </a:solidFill>
            <a:prstDash val="solid"/>
          </a:ln>
        </p:spPr>
      </p:sp>
      <p:sp>
        <p:nvSpPr>
          <p:cNvPr id="14" name="Text 12"/>
          <p:cNvSpPr txBox="1"/>
          <p:nvPr/>
        </p:nvSpPr>
        <p:spPr>
          <a:xfrm>
            <a:off x="731520" y="457200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5" name="Text 13"/>
          <p:cNvSpPr txBox="1"/>
          <p:nvPr/>
        </p:nvSpPr>
        <p:spPr>
          <a:xfrm>
            <a:off x="1508760" y="4572000"/>
            <a:ext cx="9966960" cy="548640"/>
          </a:xfrm>
          <a:prstGeom prst="rect">
            <a:avLst/>
          </a:prstGeom>
          <a:noFill/>
          <a:ln/>
        </p:spPr>
        <p:txBody>
          <a:bodyPr wrap="square" lIns="0" tIns="0" rIns="0" bIns="0" rtlCol="0" anchor="ctr"/>
          <a:lstStyle/>
          <a:p>
            <a:pPr indent="0" marL="0">
              <a:buNone/>
            </a:pPr>
            <a:r>
              <a:rPr lang="en-US" sz="2400" b="1" dirty="0">
                <a:solidFill>
                  <a:srgbClr val="0B3D62"/>
                </a:solidFill>
                <a:latin typeface="Calibri" pitchFamily="34" charset="0"/>
                <a:ea typeface="Calibri" pitchFamily="34" charset="-122"/>
                <a:cs typeface="Calibri" pitchFamily="34" charset="-120"/>
              </a:rPr>
              <a:t>Estudio 4   </a:t>
            </a:r>
            <a:pPr indent="0" marL="0">
              <a:buNone/>
            </a:pPr>
            <a:r>
              <a:rPr lang="en-US" sz="2400" dirty="0">
                <a:solidFill>
                  <a:srgbClr val="0B3D62"/>
                </a:solidFill>
                <a:latin typeface="Calibri" pitchFamily="34" charset="0"/>
                <a:ea typeface="Calibri" pitchFamily="34" charset="-122"/>
                <a:cs typeface="Calibri" pitchFamily="34" charset="-120"/>
              </a:rPr>
              <a:t>¿Y si vienen de un servicio web?</a:t>
            </a:r>
            <a:endParaRPr lang="en-US" sz="2400" dirty="0"/>
          </a:p>
        </p:txBody>
      </p:sp>
      <p:sp>
        <p:nvSpPr>
          <p:cNvPr id="16" name="Shape 14"/>
          <p:cNvSpPr/>
          <p:nvPr/>
        </p:nvSpPr>
        <p:spPr>
          <a:xfrm>
            <a:off x="731520" y="5349240"/>
            <a:ext cx="548640" cy="548640"/>
          </a:xfrm>
          <a:prstGeom prst="ellipse">
            <a:avLst/>
          </a:prstGeom>
          <a:solidFill>
            <a:srgbClr val="0B3D62"/>
          </a:solidFill>
          <a:ln w="12700">
            <a:solidFill>
              <a:srgbClr val="0B3D62"/>
            </a:solidFill>
            <a:prstDash val="solid"/>
          </a:ln>
        </p:spPr>
      </p:sp>
      <p:sp>
        <p:nvSpPr>
          <p:cNvPr id="17" name="Text 15"/>
          <p:cNvSpPr txBox="1"/>
          <p:nvPr/>
        </p:nvSpPr>
        <p:spPr>
          <a:xfrm>
            <a:off x="731520" y="53492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18" name="Text 16"/>
          <p:cNvSpPr txBox="1"/>
          <p:nvPr/>
        </p:nvSpPr>
        <p:spPr>
          <a:xfrm>
            <a:off x="1508760" y="5349240"/>
            <a:ext cx="9966960" cy="548640"/>
          </a:xfrm>
          <a:prstGeom prst="rect">
            <a:avLst/>
          </a:prstGeom>
          <a:noFill/>
          <a:ln/>
        </p:spPr>
        <p:txBody>
          <a:bodyPr wrap="square" lIns="0" tIns="0" rIns="0" bIns="0" rtlCol="0" anchor="ctr"/>
          <a:lstStyle/>
          <a:p>
            <a:pPr indent="0" marL="0">
              <a:buNone/>
            </a:pPr>
            <a:r>
              <a:rPr lang="en-US" sz="2400" b="1" dirty="0">
                <a:solidFill>
                  <a:srgbClr val="0B3D62"/>
                </a:solidFill>
                <a:latin typeface="Calibri" pitchFamily="34" charset="0"/>
                <a:ea typeface="Calibri" pitchFamily="34" charset="-122"/>
                <a:cs typeface="Calibri" pitchFamily="34" charset="-120"/>
              </a:rPr>
              <a:t>Estudio 5   </a:t>
            </a:r>
            <a:pPr indent="0" marL="0">
              <a:buNone/>
            </a:pPr>
            <a:r>
              <a:rPr lang="en-US" sz="2400" dirty="0">
                <a:solidFill>
                  <a:srgbClr val="0B3D62"/>
                </a:solidFill>
                <a:latin typeface="Calibri" pitchFamily="34" charset="0"/>
                <a:ea typeface="Calibri" pitchFamily="34" charset="-122"/>
                <a:cs typeface="Calibri" pitchFamily="34" charset="-120"/>
              </a:rPr>
              <a:t>¿Y si vienen de una base de datos?</a:t>
            </a:r>
            <a:endParaRPr lang="en-US" sz="2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1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tamaño tiene la tabla?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las tres preguntas que se le hacen a una tabla.</a:t>
            </a:r>
            <a:endParaRPr lang="en-US" sz="1400" dirty="0"/>
          </a:p>
        </p:txBody>
      </p:sp>
      <p:pic>
        <p:nvPicPr>
          <p:cNvPr id="6" name="Image 0" descr="../../repo/modulos/../../diag/lab01_estudio1_tamano.png">    </p:cNvPr>
          <p:cNvPicPr>
            <a:picLocks noChangeAspect="1"/>
          </p:cNvPicPr>
          <p:nvPr/>
        </p:nvPicPr>
        <p:blipFill>
          <a:blip r:embed="rId1"/>
          <a:stretch>
            <a:fillRect/>
          </a:stretch>
        </p:blipFill>
        <p:spPr>
          <a:xfrm>
            <a:off x="548640" y="1463040"/>
            <a:ext cx="11091672" cy="4108231"/>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4"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1 de 5</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tamaño tiene la tabla?</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a:t>
            </a:r>
            <a:endParaRPr lang="en-US" sz="1400" dirty="0"/>
          </a:p>
        </p:txBody>
      </p:sp>
      <p:sp>
        <p:nvSpPr>
          <p:cNvPr id="7" name="Shape 4"/>
          <p:cNvSpPr/>
          <p:nvPr/>
        </p:nvSpPr>
        <p:spPr>
          <a:xfrm>
            <a:off x="548640" y="1481328"/>
            <a:ext cx="11091672" cy="1303020"/>
          </a:xfrm>
          <a:prstGeom prst="roundRect">
            <a:avLst>
              <a:gd name="adj" fmla="val 4211"/>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10085832" cy="112014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Estudio 1</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Tres preguntas que uno le hace a cualquier tabla apenas la abre.</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"Filas y columnas"</a:t>
            </a:r>
            <a:pPr indent="0" marL="0">
              <a:buNone/>
            </a:pPr>
            <a:r>
              <a:rPr lang="en-US" sz="1300" dirty="0">
                <a:solidFill>
                  <a:srgbClr val="202124"/>
                </a:solidFill>
                <a:latin typeface="Courier New" pitchFamily="34" charset="0"/>
                <a:ea typeface="Courier New" pitchFamily="34" charset="-122"/>
                <a:cs typeface="Courier New" pitchFamily="34" charset="-120"/>
              </a:rPr>
              <a:t>, centrales.shape)</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"Columnas        "</a:t>
            </a:r>
            <a:pPr indent="0" marL="0">
              <a:buNone/>
            </a:pPr>
            <a:r>
              <a:rPr lang="en-US" sz="1300" dirty="0">
                <a:solidFill>
                  <a:srgbClr val="202124"/>
                </a:solidFill>
                <a:latin typeface="Courier New" pitchFamily="34" charset="0"/>
                <a:ea typeface="Courier New" pitchFamily="34" charset="-122"/>
                <a:cs typeface="Courier New" pitchFamily="34" charset="-120"/>
              </a:rPr>
              <a:t>, list(centrales.columns))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"Potencia total  "</a:t>
            </a:r>
            <a:pPr indent="0" marL="0">
              <a:buNone/>
            </a:pPr>
            <a:r>
              <a:rPr lang="en-US" sz="1300" dirty="0">
                <a:solidFill>
                  <a:srgbClr val="202124"/>
                </a:solidFill>
                <a:latin typeface="Courier New" pitchFamily="34" charset="0"/>
                <a:ea typeface="Courier New" pitchFamily="34" charset="-122"/>
                <a:cs typeface="Courier New" pitchFamily="34" charset="-120"/>
              </a:rPr>
              <a:t>, centrales[</a:t>
            </a:r>
            <a:pPr indent="0" marL="0">
              <a:buNone/>
            </a:pPr>
            <a:r>
              <a:rPr lang="en-US" sz="1300" dirty="0">
                <a:solidFill>
                  <a:srgbClr val="A31515"/>
                </a:solidFill>
                <a:latin typeface="Courier New" pitchFamily="34" charset="0"/>
                <a:ea typeface="Courier New" pitchFamily="34" charset="-122"/>
                <a:cs typeface="Courier New" pitchFamily="34" charset="-120"/>
              </a:rPr>
              <a:t>"potencia_mw"</a:t>
            </a:r>
            <a:pPr indent="0" marL="0">
              <a:buNone/>
            </a:pPr>
            <a:r>
              <a:rPr lang="en-US" sz="1300" dirty="0">
                <a:solidFill>
                  <a:srgbClr val="202124"/>
                </a:solidFill>
                <a:latin typeface="Courier New" pitchFamily="34" charset="0"/>
                <a:ea typeface="Courier New" pitchFamily="34" charset="-122"/>
                <a:cs typeface="Courier New" pitchFamily="34" charset="-120"/>
              </a:rPr>
              <a:t>].sum(), </a:t>
            </a:r>
            <a:pPr indent="0" marL="0">
              <a:buNone/>
            </a:pPr>
            <a:r>
              <a:rPr lang="en-US" sz="1300" dirty="0">
                <a:solidFill>
                  <a:srgbClr val="A31515"/>
                </a:solidFill>
                <a:latin typeface="Courier New" pitchFamily="34" charset="0"/>
                <a:ea typeface="Courier New" pitchFamily="34" charset="-122"/>
                <a:cs typeface="Courier New" pitchFamily="34" charset="-120"/>
              </a:rPr>
              <a:t>"MW"</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p:txBody>
      </p:sp>
      <p:sp>
        <p:nvSpPr>
          <p:cNvPr id="11" name="Text 8"/>
          <p:cNvSpPr txBox="1"/>
          <p:nvPr/>
        </p:nvSpPr>
        <p:spPr>
          <a:xfrm>
            <a:off x="1325880" y="282092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2" name="Text 9"/>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3" name="Shape 10"/>
          <p:cNvSpPr/>
          <p:nvPr/>
        </p:nvSpPr>
        <p:spPr>
          <a:xfrm>
            <a:off x="548640" y="6062472"/>
            <a:ext cx="1143000" cy="566928"/>
          </a:xfrm>
          <a:prstGeom prst="roundRect">
            <a:avLst>
              <a:gd name="adj" fmla="val 11290"/>
            </a:avLst>
          </a:prstGeom>
          <a:solidFill>
            <a:srgbClr val="F1F3F4"/>
          </a:solidFill>
          <a:ln w="12700">
            <a:solidFill>
              <a:srgbClr val="DADCE0"/>
            </a:solidFill>
            <a:prstDash val="solid"/>
          </a:ln>
        </p:spPr>
      </p:sp>
      <p:sp>
        <p:nvSpPr>
          <p:cNvPr id="14" name="Text 11"/>
          <p:cNvSpPr txBox="1"/>
          <p:nvPr/>
        </p:nvSpPr>
        <p:spPr>
          <a:xfrm>
            <a:off x="64008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unida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52650.0</a:t>
            </a:r>
            <a:endParaRPr lang="en-US" sz="1200" dirty="0"/>
          </a:p>
        </p:txBody>
      </p:sp>
      <p:sp>
        <p:nvSpPr>
          <p:cNvPr id="15" name="Shape 12"/>
          <p:cNvSpPr/>
          <p:nvPr/>
        </p:nvSpPr>
        <p:spPr>
          <a:xfrm>
            <a:off x="1828800" y="6062472"/>
            <a:ext cx="1143000" cy="566928"/>
          </a:xfrm>
          <a:prstGeom prst="roundRect">
            <a:avLst>
              <a:gd name="adj" fmla="val 11290"/>
            </a:avLst>
          </a:prstGeom>
          <a:solidFill>
            <a:srgbClr val="F1F3F4"/>
          </a:solidFill>
          <a:ln w="12700">
            <a:solidFill>
              <a:srgbClr val="DADCE0"/>
            </a:solidFill>
            <a:prstDash val="solid"/>
          </a:ln>
        </p:spPr>
      </p:sp>
      <p:sp>
        <p:nvSpPr>
          <p:cNvPr id="16" name="Text 13"/>
          <p:cNvSpPr txBox="1"/>
          <p:nvPr/>
        </p:nvSpPr>
        <p:spPr>
          <a:xfrm>
            <a:off x="192024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52650.0</a:t>
            </a:r>
            <a:endParaRPr lang="en-US" sz="1200" dirty="0"/>
          </a:p>
        </p:txBody>
      </p:sp>
      <p:sp>
        <p:nvSpPr>
          <p:cNvPr id="17" name="Shape 14"/>
          <p:cNvSpPr/>
          <p:nvPr/>
        </p:nvSpPr>
        <p:spPr>
          <a:xfrm>
            <a:off x="3108960" y="6062472"/>
            <a:ext cx="1810512"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3200400"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fichas_repetidas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17 × 5</a:t>
            </a:r>
            <a:endParaRPr lang="en-US" sz="1200" dirty="0"/>
          </a:p>
        </p:txBody>
      </p:sp>
      <p:sp>
        <p:nvSpPr>
          <p:cNvPr id="19" name="Shape 16"/>
          <p:cNvSpPr/>
          <p:nvPr/>
        </p:nvSpPr>
        <p:spPr>
          <a:xfrm>
            <a:off x="5056632" y="6062472"/>
            <a:ext cx="1810512"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5148072"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quitar_repetidas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True</a:t>
            </a:r>
            <a:endParaRPr lang="en-US" sz="1200" dirty="0"/>
          </a:p>
        </p:txBody>
      </p:sp>
      <p:sp>
        <p:nvSpPr>
          <p:cNvPr id="21" name="Shape 18"/>
          <p:cNvSpPr/>
          <p:nvPr/>
        </p:nvSpPr>
        <p:spPr>
          <a:xfrm>
            <a:off x="7004304" y="6062472"/>
            <a:ext cx="2002536" cy="566928"/>
          </a:xfrm>
          <a:prstGeom prst="roundRect">
            <a:avLst>
              <a:gd name="adj" fmla="val 11290"/>
            </a:avLst>
          </a:prstGeom>
          <a:solidFill>
            <a:srgbClr val="F1F3F4"/>
          </a:solidFill>
          <a:ln w="12700">
            <a:solidFill>
              <a:srgbClr val="DADCE0"/>
            </a:solidFill>
            <a:prstDash val="solid"/>
          </a:ln>
        </p:spPr>
      </p:sp>
      <p:sp>
        <p:nvSpPr>
          <p:cNvPr id="22" name="Text 19"/>
          <p:cNvSpPr txBox="1"/>
          <p:nvPr/>
        </p:nvSpPr>
        <p:spPr>
          <a:xfrm>
            <a:off x="7095744"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por_tecnologia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 valores</a:t>
            </a:r>
            <a:endParaRPr lang="en-US" sz="1200" dirty="0"/>
          </a:p>
        </p:txBody>
      </p:sp>
      <p:sp>
        <p:nvSpPr>
          <p:cNvPr id="23" name="Text 20"/>
          <p:cNvSpPr txBox="1"/>
          <p:nvPr/>
        </p:nvSpPr>
        <p:spPr>
          <a:xfrm>
            <a:off x="9144000"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12 más</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1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tamaño tiene la tabla?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centrales.shape</a:t>
            </a:r>
            <a:endParaRPr lang="en-US" sz="1600" dirty="0"/>
          </a:p>
        </p:txBody>
      </p:sp>
      <p:sp>
        <p:nvSpPr>
          <p:cNvPr id="8" name="Shape 6"/>
          <p:cNvSpPr/>
          <p:nvPr/>
        </p:nvSpPr>
        <p:spPr>
          <a:xfrm>
            <a:off x="548640" y="2320544"/>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2054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530352"/>
          </a:xfrm>
          <a:prstGeom prst="roundRect">
            <a:avLst>
              <a:gd name="adj" fmla="val 8621"/>
            </a:avLst>
          </a:prstGeom>
          <a:solidFill>
            <a:srgbClr val="DBE9FB"/>
          </a:solidFill>
          <a:ln w="12700">
            <a:solidFill>
              <a:srgbClr val="DBE9FB"/>
            </a:solidFill>
            <a:prstDash val="solid"/>
          </a:ln>
        </p:spPr>
      </p:sp>
      <p:sp>
        <p:nvSpPr>
          <p:cNvPr id="11" name="Text 9"/>
          <p:cNvSpPr txBox="1"/>
          <p:nvPr/>
        </p:nvSpPr>
        <p:spPr>
          <a:xfrm>
            <a:off x="1170432" y="221996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centrales</a:t>
            </a:r>
            <a:endParaRPr lang="en-US" sz="1400" dirty="0"/>
          </a:p>
        </p:txBody>
      </p:sp>
      <p:sp>
        <p:nvSpPr>
          <p:cNvPr id="12" name="Text 10"/>
          <p:cNvSpPr txBox="1"/>
          <p:nvPr/>
        </p:nvSpPr>
        <p:spPr>
          <a:xfrm>
            <a:off x="6263640" y="221996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La tabla que se quiere medir.</a:t>
            </a:r>
            <a:endParaRPr lang="en-US" sz="1600" dirty="0"/>
          </a:p>
        </p:txBody>
      </p:sp>
      <p:sp>
        <p:nvSpPr>
          <p:cNvPr id="13" name="Shape 11"/>
          <p:cNvSpPr/>
          <p:nvPr/>
        </p:nvSpPr>
        <p:spPr>
          <a:xfrm>
            <a:off x="548640" y="2997200"/>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29972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841752"/>
            <a:ext cx="4937760" cy="640080"/>
          </a:xfrm>
          <a:prstGeom prst="roundRect">
            <a:avLst>
              <a:gd name="adj" fmla="val 7143"/>
            </a:avLst>
          </a:prstGeom>
          <a:solidFill>
            <a:srgbClr val="DCEFE0"/>
          </a:solidFill>
          <a:ln w="12700">
            <a:solidFill>
              <a:srgbClr val="DCEFE0"/>
            </a:solidFill>
            <a:prstDash val="solid"/>
          </a:ln>
        </p:spPr>
      </p:sp>
      <p:sp>
        <p:nvSpPr>
          <p:cNvPr id="16" name="Text 14"/>
          <p:cNvSpPr txBox="1"/>
          <p:nvPr/>
        </p:nvSpPr>
        <p:spPr>
          <a:xfrm>
            <a:off x="1170432" y="2841752"/>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.shape</a:t>
            </a:r>
            <a:endParaRPr lang="en-US" sz="1400" dirty="0"/>
          </a:p>
        </p:txBody>
      </p:sp>
      <p:sp>
        <p:nvSpPr>
          <p:cNvPr id="17" name="Text 15"/>
          <p:cNvSpPr txBox="1"/>
          <p:nvPr/>
        </p:nvSpPr>
        <p:spPr>
          <a:xfrm>
            <a:off x="6263640" y="2841752"/>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El tamaño de la tabla. Va sin paréntesis porque es un dato que la tabla ya tiene, no una acción.</a:t>
            </a:r>
            <a:endParaRPr lang="en-US" sz="1600" dirty="0"/>
          </a:p>
        </p:txBody>
      </p:sp>
      <p:sp>
        <p:nvSpPr>
          <p:cNvPr id="18" name="Shape 16"/>
          <p:cNvSpPr/>
          <p:nvPr/>
        </p:nvSpPr>
        <p:spPr>
          <a:xfrm>
            <a:off x="548640" y="5989320"/>
            <a:ext cx="73152" cy="548640"/>
          </a:xfrm>
          <a:prstGeom prst="rect">
            <a:avLst/>
          </a:prstGeom>
          <a:solidFill>
            <a:srgbClr val="0B3D62"/>
          </a:solidFill>
          <a:ln w="12700">
            <a:solidFill>
              <a:srgbClr val="0B3D62"/>
            </a:solidFill>
            <a:prstDash val="solid"/>
          </a:ln>
        </p:spPr>
      </p:sp>
      <p:sp>
        <p:nvSpPr>
          <p:cNvPr id="19" name="Text 17"/>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cuántas filas y cuántas columnas tiene centrales.</a:t>
            </a:r>
            <a:endParaRPr lang="en-US" sz="15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1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tamaño tiene la tabla?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centrales[</a:t>
            </a:r>
            <a:pPr indent="0" marL="0">
              <a:buNone/>
            </a:pPr>
            <a:r>
              <a:rPr lang="en-US" sz="1600" dirty="0">
                <a:solidFill>
                  <a:srgbClr val="A31515"/>
                </a:solidFill>
                <a:latin typeface="Courier New" pitchFamily="34" charset="0"/>
                <a:ea typeface="Courier New" pitchFamily="34" charset="-122"/>
                <a:cs typeface="Courier New" pitchFamily="34" charset="-120"/>
              </a:rPr>
              <a:t>"potencia_mw"</a:t>
            </a:r>
            <a:pPr indent="0" marL="0">
              <a:buNone/>
            </a:pPr>
            <a:r>
              <a:rPr lang="en-US" sz="1600" dirty="0">
                <a:solidFill>
                  <a:srgbClr val="202124"/>
                </a:solidFill>
                <a:latin typeface="Courier New" pitchFamily="34" charset="0"/>
                <a:ea typeface="Courier New" pitchFamily="34" charset="-122"/>
                <a:cs typeface="Courier New" pitchFamily="34" charset="-120"/>
              </a:rPr>
              <a:t>].sum()</a:t>
            </a:r>
            <a:endParaRPr lang="en-US" sz="1600" dirty="0"/>
          </a:p>
        </p:txBody>
      </p:sp>
      <p:sp>
        <p:nvSpPr>
          <p:cNvPr id="8" name="Shape 6"/>
          <p:cNvSpPr/>
          <p:nvPr/>
        </p:nvSpPr>
        <p:spPr>
          <a:xfrm>
            <a:off x="548640" y="2375408"/>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7540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640080"/>
          </a:xfrm>
          <a:prstGeom prst="roundRect">
            <a:avLst>
              <a:gd name="adj" fmla="val 7143"/>
            </a:avLst>
          </a:prstGeom>
          <a:solidFill>
            <a:srgbClr val="DBE9FB"/>
          </a:solidFill>
          <a:ln w="12700">
            <a:solidFill>
              <a:srgbClr val="DBE9FB"/>
            </a:solidFill>
            <a:prstDash val="solid"/>
          </a:ln>
        </p:spPr>
      </p:sp>
      <p:sp>
        <p:nvSpPr>
          <p:cNvPr id="11" name="Text 9"/>
          <p:cNvSpPr txBox="1"/>
          <p:nvPr/>
        </p:nvSpPr>
        <p:spPr>
          <a:xfrm>
            <a:off x="1170432" y="2219960"/>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centrales["potencia_mw"]</a:t>
            </a:r>
            <a:endParaRPr lang="en-US" sz="1400" dirty="0"/>
          </a:p>
        </p:txBody>
      </p:sp>
      <p:sp>
        <p:nvSpPr>
          <p:cNvPr id="12" name="Text 10"/>
          <p:cNvSpPr txBox="1"/>
          <p:nvPr/>
        </p:nvSpPr>
        <p:spPr>
          <a:xfrm>
            <a:off x="6263640" y="2219960"/>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Corchetes con un nombre entre comillas eligen una columna de la tabla.</a:t>
            </a:r>
            <a:endParaRPr lang="en-US" sz="1600" dirty="0"/>
          </a:p>
        </p:txBody>
      </p:sp>
      <p:sp>
        <p:nvSpPr>
          <p:cNvPr id="13" name="Shape 11"/>
          <p:cNvSpPr/>
          <p:nvPr/>
        </p:nvSpPr>
        <p:spPr>
          <a:xfrm>
            <a:off x="548640" y="3106928"/>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31069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951480"/>
            <a:ext cx="4937760" cy="640080"/>
          </a:xfrm>
          <a:prstGeom prst="roundRect">
            <a:avLst>
              <a:gd name="adj" fmla="val 7143"/>
            </a:avLst>
          </a:prstGeom>
          <a:solidFill>
            <a:srgbClr val="DCEFE0"/>
          </a:solidFill>
          <a:ln w="12700">
            <a:solidFill>
              <a:srgbClr val="DCEFE0"/>
            </a:solidFill>
            <a:prstDash val="solid"/>
          </a:ln>
        </p:spPr>
      </p:sp>
      <p:sp>
        <p:nvSpPr>
          <p:cNvPr id="16" name="Text 14"/>
          <p:cNvSpPr txBox="1"/>
          <p:nvPr/>
        </p:nvSpPr>
        <p:spPr>
          <a:xfrm>
            <a:off x="1170432" y="2951480"/>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.sum()</a:t>
            </a:r>
            <a:endParaRPr lang="en-US" sz="1400" dirty="0"/>
          </a:p>
        </p:txBody>
      </p:sp>
      <p:sp>
        <p:nvSpPr>
          <p:cNvPr id="17" name="Text 15"/>
          <p:cNvSpPr txBox="1"/>
          <p:nvPr/>
        </p:nvSpPr>
        <p:spPr>
          <a:xfrm>
            <a:off x="6263640" y="2951480"/>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El punto aplica una acción a lo que está a la izquierda. sum suma la columna.</a:t>
            </a:r>
            <a:endParaRPr lang="en-US" sz="1600" dirty="0"/>
          </a:p>
        </p:txBody>
      </p:sp>
      <p:sp>
        <p:nvSpPr>
          <p:cNvPr id="18" name="Shape 16"/>
          <p:cNvSpPr/>
          <p:nvPr/>
        </p:nvSpPr>
        <p:spPr>
          <a:xfrm>
            <a:off x="548640" y="5989320"/>
            <a:ext cx="73152" cy="548640"/>
          </a:xfrm>
          <a:prstGeom prst="rect">
            <a:avLst/>
          </a:prstGeom>
          <a:solidFill>
            <a:srgbClr val="0B3D62"/>
          </a:solidFill>
          <a:ln w="12700">
            <a:solidFill>
              <a:srgbClr val="0B3D62"/>
            </a:solidFill>
            <a:prstDash val="solid"/>
          </a:ln>
        </p:spPr>
      </p:sp>
      <p:sp>
        <p:nvSpPr>
          <p:cNvPr id="19" name="Text 17"/>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suma la columna potencia_mw de la tabla centrales.</a:t>
            </a:r>
            <a:endParaRPr lang="en-US" sz="15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1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¿Qué tamaño tiene la tabla?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a:t>
            </a:r>
            <a:endParaRPr lang="en-US" sz="1400" dirty="0"/>
          </a:p>
        </p:txBody>
      </p:sp>
      <p:sp>
        <p:nvSpPr>
          <p:cNvPr id="6" name="Shape 4"/>
          <p:cNvSpPr/>
          <p:nvPr/>
        </p:nvSpPr>
        <p:spPr>
          <a:xfrm>
            <a:off x="548640" y="1481328"/>
            <a:ext cx="11091672" cy="1303020"/>
          </a:xfrm>
          <a:prstGeom prst="roundRect">
            <a:avLst>
              <a:gd name="adj" fmla="val 4211"/>
            </a:avLst>
          </a:prstGeom>
          <a:solidFill>
            <a:srgbClr val="F8F9FA"/>
          </a:solidFill>
          <a:ln w="12700">
            <a:solidFill>
              <a:srgbClr val="DADCE0"/>
            </a:solidFill>
            <a:prstDash val="solid"/>
          </a:ln>
        </p:spPr>
      </p:sp>
      <p:sp>
        <p:nvSpPr>
          <p:cNvPr id="7" name="Shape 5"/>
          <p:cNvSpPr/>
          <p:nvPr/>
        </p:nvSpPr>
        <p:spPr>
          <a:xfrm>
            <a:off x="713232" y="1600200"/>
            <a:ext cx="420624" cy="420624"/>
          </a:xfrm>
          <a:prstGeom prst="ellipse">
            <a:avLst/>
          </a:prstGeom>
          <a:solidFill>
            <a:srgbClr val="E8EAED"/>
          </a:solidFill>
          <a:ln w="12700">
            <a:solidFill>
              <a:srgbClr val="E8EAED"/>
            </a:solidFill>
            <a:prstDash val="solid"/>
          </a:ln>
        </p:spPr>
      </p:sp>
      <p:sp>
        <p:nvSpPr>
          <p:cNvPr id="8" name="Shape 6"/>
          <p:cNvSpPr/>
          <p:nvPr/>
        </p:nvSpPr>
        <p:spPr>
          <a:xfrm rot="5400000">
            <a:off x="850392" y="1719072"/>
            <a:ext cx="182880" cy="182880"/>
          </a:xfrm>
          <a:prstGeom prst="triangle">
            <a:avLst/>
          </a:prstGeom>
          <a:solidFill>
            <a:srgbClr val="5F6368"/>
          </a:solidFill>
          <a:ln w="12700">
            <a:solidFill>
              <a:srgbClr val="5F6368"/>
            </a:solidFill>
            <a:prstDash val="solid"/>
          </a:ln>
        </p:spPr>
      </p:sp>
      <p:sp>
        <p:nvSpPr>
          <p:cNvPr id="9" name="Text 7"/>
          <p:cNvSpPr txBox="1"/>
          <p:nvPr/>
        </p:nvSpPr>
        <p:spPr>
          <a:xfrm>
            <a:off x="1325880" y="1600200"/>
            <a:ext cx="10085832" cy="112014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Estudio 1</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Tres preguntas que uno le hace a cualquier tabla apenas la abre.</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"Filas y columnas"</a:t>
            </a:r>
            <a:pPr indent="0" marL="0">
              <a:buNone/>
            </a:pPr>
            <a:r>
              <a:rPr lang="en-US" sz="1300" dirty="0">
                <a:solidFill>
                  <a:srgbClr val="202124"/>
                </a:solidFill>
                <a:latin typeface="Courier New" pitchFamily="34" charset="0"/>
                <a:ea typeface="Courier New" pitchFamily="34" charset="-122"/>
                <a:cs typeface="Courier New" pitchFamily="34" charset="-120"/>
              </a:rPr>
              <a:t>, centrales.shape)</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"Columnas        "</a:t>
            </a:r>
            <a:pPr indent="0" marL="0">
              <a:buNone/>
            </a:pPr>
            <a:r>
              <a:rPr lang="en-US" sz="1300" dirty="0">
                <a:solidFill>
                  <a:srgbClr val="202124"/>
                </a:solidFill>
                <a:latin typeface="Courier New" pitchFamily="34" charset="0"/>
                <a:ea typeface="Courier New" pitchFamily="34" charset="-122"/>
                <a:cs typeface="Courier New" pitchFamily="34" charset="-120"/>
              </a:rPr>
              <a:t>, list(centrales.columns))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"Potencia total  "</a:t>
            </a:r>
            <a:pPr indent="0" marL="0">
              <a:buNone/>
            </a:pPr>
            <a:r>
              <a:rPr lang="en-US" sz="1300" dirty="0">
                <a:solidFill>
                  <a:srgbClr val="202124"/>
                </a:solidFill>
                <a:latin typeface="Courier New" pitchFamily="34" charset="0"/>
                <a:ea typeface="Courier New" pitchFamily="34" charset="-122"/>
                <a:cs typeface="Courier New" pitchFamily="34" charset="-120"/>
              </a:rPr>
              <a:t>, centrales[</a:t>
            </a:r>
            <a:pPr indent="0" marL="0">
              <a:buNone/>
            </a:pPr>
            <a:r>
              <a:rPr lang="en-US" sz="1300" dirty="0">
                <a:solidFill>
                  <a:srgbClr val="A31515"/>
                </a:solidFill>
                <a:latin typeface="Courier New" pitchFamily="34" charset="0"/>
                <a:ea typeface="Courier New" pitchFamily="34" charset="-122"/>
                <a:cs typeface="Courier New" pitchFamily="34" charset="-120"/>
              </a:rPr>
              <a:t>"potencia_mw"</a:t>
            </a:r>
            <a:pPr indent="0" marL="0">
              <a:buNone/>
            </a:pPr>
            <a:r>
              <a:rPr lang="en-US" sz="1300" dirty="0">
                <a:solidFill>
                  <a:srgbClr val="202124"/>
                </a:solidFill>
                <a:latin typeface="Courier New" pitchFamily="34" charset="0"/>
                <a:ea typeface="Courier New" pitchFamily="34" charset="-122"/>
                <a:cs typeface="Courier New" pitchFamily="34" charset="-120"/>
              </a:rPr>
              <a:t>].sum(), </a:t>
            </a:r>
            <a:pPr indent="0" marL="0">
              <a:buNone/>
            </a:pPr>
            <a:r>
              <a:rPr lang="en-US" sz="1300" dirty="0">
                <a:solidFill>
                  <a:srgbClr val="A31515"/>
                </a:solidFill>
                <a:latin typeface="Courier New" pitchFamily="34" charset="0"/>
                <a:ea typeface="Courier New" pitchFamily="34" charset="-122"/>
                <a:cs typeface="Courier New" pitchFamily="34" charset="-120"/>
              </a:rPr>
              <a:t>"MW"</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p:txBody>
      </p:sp>
      <p:sp>
        <p:nvSpPr>
          <p:cNvPr id="10" name="Shape 8"/>
          <p:cNvSpPr/>
          <p:nvPr/>
        </p:nvSpPr>
        <p:spPr>
          <a:xfrm>
            <a:off x="1325880" y="2894076"/>
            <a:ext cx="10314432" cy="786384"/>
          </a:xfrm>
          <a:prstGeom prst="rect">
            <a:avLst/>
          </a:prstGeom>
          <a:solidFill>
            <a:srgbClr val="FFFFFF"/>
          </a:solidFill>
          <a:ln w="12700">
            <a:solidFill>
              <a:srgbClr val="DADCE0"/>
            </a:solidFill>
            <a:prstDash val="solid"/>
          </a:ln>
        </p:spPr>
      </p:sp>
      <p:sp>
        <p:nvSpPr>
          <p:cNvPr id="11" name="Text 9"/>
          <p:cNvSpPr txBox="1"/>
          <p:nvPr/>
        </p:nvSpPr>
        <p:spPr>
          <a:xfrm>
            <a:off x="1463040" y="2967228"/>
            <a:ext cx="10085832" cy="658368"/>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Filas y columnas (20, 5)</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Columnas         ['central', 'tecnologia', 'region', 'potencia_mw', 'anio_inicio']</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Potencia total   4540 MW</a:t>
            </a:r>
            <a:endParaRPr lang="en-US" sz="1200" dirty="0"/>
          </a:p>
        </p:txBody>
      </p:sp>
      <p:sp>
        <p:nvSpPr>
          <p:cNvPr id="12" name="Shape 10"/>
          <p:cNvSpPr/>
          <p:nvPr/>
        </p:nvSpPr>
        <p:spPr>
          <a:xfrm>
            <a:off x="1325880" y="3817620"/>
            <a:ext cx="10314432" cy="566928"/>
          </a:xfrm>
          <a:prstGeom prst="roundRect">
            <a:avLst>
              <a:gd name="adj" fmla="val 9677"/>
            </a:avLst>
          </a:prstGeom>
          <a:solidFill>
            <a:srgbClr val="FFF8D6"/>
          </a:solidFill>
          <a:ln w="12700">
            <a:solidFill>
              <a:srgbClr val="FFF8D6"/>
            </a:solidFill>
            <a:prstDash val="solid"/>
          </a:ln>
        </p:spPr>
      </p:sp>
      <p:sp>
        <p:nvSpPr>
          <p:cNvPr id="13" name="Text 11"/>
          <p:cNvSpPr txBox="1"/>
          <p:nvPr/>
        </p:nvSpPr>
        <p:spPr>
          <a:xfrm>
            <a:off x="1508760" y="3817620"/>
            <a:ext cx="9948672" cy="566928"/>
          </a:xfrm>
          <a:prstGeom prst="rect">
            <a:avLst/>
          </a:prstGeom>
          <a:noFill/>
          <a:ln/>
        </p:spPr>
        <p:txBody>
          <a:bodyPr wrap="square" lIns="0" tIns="0" rIns="0" bIns="0" rtlCol="0" anchor="ctr"/>
          <a:lstStyle/>
          <a:p>
            <a:pPr indent="0" marL="0">
              <a:buNone/>
            </a:pPr>
            <a:r>
              <a:rPr lang="en-US" sz="1400" b="1" dirty="0">
                <a:solidFill>
                  <a:srgbClr val="8A6D00"/>
                </a:solidFill>
                <a:latin typeface="Calibri" pitchFamily="34" charset="0"/>
                <a:ea typeface="Calibri" pitchFamily="34" charset="-122"/>
                <a:cs typeface="Calibri" pitchFamily="34" charset="-120"/>
              </a:rPr>
              <a:t>Anotar el total al comienzo sirve de control.  </a:t>
            </a:r>
            <a:pPr indent="0" marL="0">
              <a:buNone/>
            </a:pPr>
            <a:r>
              <a:rPr lang="en-US" sz="1400" dirty="0">
                <a:solidFill>
                  <a:srgbClr val="202124"/>
                </a:solidFill>
                <a:latin typeface="Calibri" pitchFamily="34" charset="0"/>
                <a:ea typeface="Calibri" pitchFamily="34" charset="-122"/>
                <a:cs typeface="Calibri" pitchFamily="34" charset="-120"/>
              </a:rPr>
              <a:t>Si más adelante cambia sin razón, algo se perdió o se duplicó en el camino.</a:t>
            </a:r>
            <a:endParaRPr lang="en-US" sz="1400" dirty="0"/>
          </a:p>
        </p:txBody>
      </p:sp>
      <p:sp>
        <p:nvSpPr>
          <p:cNvPr id="15" name="Text 12"/>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6" name="Shape 13"/>
          <p:cNvSpPr/>
          <p:nvPr/>
        </p:nvSpPr>
        <p:spPr>
          <a:xfrm>
            <a:off x="548640" y="6062472"/>
            <a:ext cx="1426464" cy="566928"/>
          </a:xfrm>
          <a:prstGeom prst="roundRect">
            <a:avLst>
              <a:gd name="adj" fmla="val 11290"/>
            </a:avLst>
          </a:prstGeom>
          <a:solidFill>
            <a:srgbClr val="E8F0FE"/>
          </a:solidFill>
          <a:ln w="28575">
            <a:solidFill>
              <a:srgbClr val="1A73E8"/>
            </a:solidFill>
            <a:prstDash val="solid"/>
          </a:ln>
        </p:spPr>
      </p:sp>
      <p:sp>
        <p:nvSpPr>
          <p:cNvPr id="17" name="Text 14"/>
          <p:cNvSpPr txBox="1"/>
          <p:nvPr/>
        </p:nvSpPr>
        <p:spPr>
          <a:xfrm>
            <a:off x="640080"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centrales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20 × 5</a:t>
            </a:r>
            <a:endParaRPr lang="en-US" sz="1200" dirty="0"/>
          </a:p>
        </p:txBody>
      </p:sp>
      <p:sp>
        <p:nvSpPr>
          <p:cNvPr id="18" name="Shape 15"/>
          <p:cNvSpPr/>
          <p:nvPr/>
        </p:nvSpPr>
        <p:spPr>
          <a:xfrm>
            <a:off x="2112264" y="6062472"/>
            <a:ext cx="1143000" cy="566928"/>
          </a:xfrm>
          <a:prstGeom prst="roundRect">
            <a:avLst>
              <a:gd name="adj" fmla="val 11290"/>
            </a:avLst>
          </a:prstGeom>
          <a:solidFill>
            <a:srgbClr val="F1F3F4"/>
          </a:solidFill>
          <a:ln w="12700">
            <a:solidFill>
              <a:srgbClr val="DADCE0"/>
            </a:solidFill>
            <a:prstDash val="solid"/>
          </a:ln>
        </p:spPr>
      </p:sp>
      <p:sp>
        <p:nvSpPr>
          <p:cNvPr id="19" name="Text 16"/>
          <p:cNvSpPr txBox="1"/>
          <p:nvPr/>
        </p:nvSpPr>
        <p:spPr>
          <a:xfrm>
            <a:off x="2203704"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unida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52650.0</a:t>
            </a:r>
            <a:endParaRPr lang="en-US" sz="1200" dirty="0"/>
          </a:p>
        </p:txBody>
      </p:sp>
      <p:sp>
        <p:nvSpPr>
          <p:cNvPr id="20" name="Shape 17"/>
          <p:cNvSpPr/>
          <p:nvPr/>
        </p:nvSpPr>
        <p:spPr>
          <a:xfrm>
            <a:off x="3392424" y="6062472"/>
            <a:ext cx="1143000" cy="566928"/>
          </a:xfrm>
          <a:prstGeom prst="roundRect">
            <a:avLst>
              <a:gd name="adj" fmla="val 11290"/>
            </a:avLst>
          </a:prstGeom>
          <a:solidFill>
            <a:srgbClr val="F1F3F4"/>
          </a:solidFill>
          <a:ln w="12700">
            <a:solidFill>
              <a:srgbClr val="DADCE0"/>
            </a:solidFill>
            <a:prstDash val="solid"/>
          </a:ln>
        </p:spPr>
      </p:sp>
      <p:sp>
        <p:nvSpPr>
          <p:cNvPr id="21" name="Text 18"/>
          <p:cNvSpPr txBox="1"/>
          <p:nvPr/>
        </p:nvSpPr>
        <p:spPr>
          <a:xfrm>
            <a:off x="3483864"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52650.0</a:t>
            </a:r>
            <a:endParaRPr lang="en-US" sz="1200" dirty="0"/>
          </a:p>
        </p:txBody>
      </p:sp>
      <p:sp>
        <p:nvSpPr>
          <p:cNvPr id="22" name="Shape 19"/>
          <p:cNvSpPr/>
          <p:nvPr/>
        </p:nvSpPr>
        <p:spPr>
          <a:xfrm>
            <a:off x="4672584" y="6062472"/>
            <a:ext cx="1810512" cy="566928"/>
          </a:xfrm>
          <a:prstGeom prst="roundRect">
            <a:avLst>
              <a:gd name="adj" fmla="val 11290"/>
            </a:avLst>
          </a:prstGeom>
          <a:solidFill>
            <a:srgbClr val="F1F3F4"/>
          </a:solidFill>
          <a:ln w="12700">
            <a:solidFill>
              <a:srgbClr val="DADCE0"/>
            </a:solidFill>
            <a:prstDash val="solid"/>
          </a:ln>
        </p:spPr>
      </p:sp>
      <p:sp>
        <p:nvSpPr>
          <p:cNvPr id="23" name="Text 20"/>
          <p:cNvSpPr txBox="1"/>
          <p:nvPr/>
        </p:nvSpPr>
        <p:spPr>
          <a:xfrm>
            <a:off x="4764024"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fichas_repetidas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17 × 5</a:t>
            </a:r>
            <a:endParaRPr lang="en-US" sz="1200" dirty="0"/>
          </a:p>
        </p:txBody>
      </p:sp>
      <p:sp>
        <p:nvSpPr>
          <p:cNvPr id="24" name="Shape 21"/>
          <p:cNvSpPr/>
          <p:nvPr/>
        </p:nvSpPr>
        <p:spPr>
          <a:xfrm>
            <a:off x="6620256" y="6062472"/>
            <a:ext cx="1810512" cy="566928"/>
          </a:xfrm>
          <a:prstGeom prst="roundRect">
            <a:avLst>
              <a:gd name="adj" fmla="val 11290"/>
            </a:avLst>
          </a:prstGeom>
          <a:solidFill>
            <a:srgbClr val="F1F3F4"/>
          </a:solidFill>
          <a:ln w="12700">
            <a:solidFill>
              <a:srgbClr val="DADCE0"/>
            </a:solidFill>
            <a:prstDash val="solid"/>
          </a:ln>
        </p:spPr>
      </p:sp>
      <p:sp>
        <p:nvSpPr>
          <p:cNvPr id="25" name="Text 22"/>
          <p:cNvSpPr txBox="1"/>
          <p:nvPr/>
        </p:nvSpPr>
        <p:spPr>
          <a:xfrm>
            <a:off x="6711696"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quitar_repetidas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True</a:t>
            </a:r>
            <a:endParaRPr lang="en-US" sz="1200" dirty="0"/>
          </a:p>
        </p:txBody>
      </p:sp>
      <p:sp>
        <p:nvSpPr>
          <p:cNvPr id="26" name="Text 23"/>
          <p:cNvSpPr txBox="1"/>
          <p:nvPr/>
        </p:nvSpPr>
        <p:spPr>
          <a:xfrm>
            <a:off x="8567928"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12 más</a:t>
            </a:r>
            <a:endParaRPr lang="en-US" sz="1200" dirty="0"/>
          </a:p>
        </p:txBody>
      </p:sp>
      <p:sp>
        <p:nvSpPr>
          <p:cNvPr id="27" name="Text 24"/>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Antes de calcular nada, se mira el tamaño, las columnas y un total.</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2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resume la potencia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qué hace groupby con las 20 centrales.</a:t>
            </a:r>
            <a:endParaRPr lang="en-US" sz="1400" dirty="0"/>
          </a:p>
        </p:txBody>
      </p:sp>
      <p:pic>
        <p:nvPicPr>
          <p:cNvPr id="6" name="Image 0" descr="../../repo/modulos/../../diag/lab01_estudio2_groupby.png">    </p:cNvPr>
          <p:cNvPicPr>
            <a:picLocks noChangeAspect="1"/>
          </p:cNvPicPr>
          <p:nvPr/>
        </p:nvPicPr>
        <p:blipFill>
          <a:blip r:embed="rId1"/>
          <a:stretch>
            <a:fillRect/>
          </a:stretch>
        </p:blipFill>
        <p:spPr>
          <a:xfrm>
            <a:off x="2186280" y="1463040"/>
            <a:ext cx="7816393" cy="461772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4"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2 de 5</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resume la potencia</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Elige cómo agrupar en la lista y vuelve a correr la celda.</a:t>
            </a:r>
            <a:endParaRPr lang="en-US" sz="1400" dirty="0"/>
          </a:p>
        </p:txBody>
      </p:sp>
      <p:sp>
        <p:nvSpPr>
          <p:cNvPr id="7" name="Shape 4"/>
          <p:cNvSpPr/>
          <p:nvPr/>
        </p:nvSpPr>
        <p:spPr>
          <a:xfrm>
            <a:off x="548640" y="1481328"/>
            <a:ext cx="11091672" cy="2948940"/>
          </a:xfrm>
          <a:prstGeom prst="roundRect">
            <a:avLst>
              <a:gd name="adj" fmla="val 1860"/>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7360920" cy="276606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Estudio 2</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Suma la potencia de las centrales que comparten el valor elegido.</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agrupar_por = </a:t>
            </a:r>
            <a:pPr indent="0" marL="0">
              <a:buNone/>
            </a:pPr>
            <a:r>
              <a:rPr lang="en-US" sz="1300" dirty="0">
                <a:solidFill>
                  <a:srgbClr val="A31515"/>
                </a:solidFill>
                <a:latin typeface="Courier New" pitchFamily="34" charset="0"/>
                <a:ea typeface="Courier New" pitchFamily="34" charset="-122"/>
                <a:cs typeface="Courier New" pitchFamily="34" charset="-120"/>
              </a:rPr>
              <a:t>"tecnologia"</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80868B"/>
                </a:solidFill>
                <a:latin typeface="Courier New" pitchFamily="34" charset="0"/>
                <a:ea typeface="Courier New" pitchFamily="34" charset="-122"/>
                <a:cs typeface="Courier New" pitchFamily="34" charset="-120"/>
              </a:rPr>
              <a:t>#@param ["tecnologia", "region"]</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import matplotlib.pyplot as plt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resumen = centrales.groupby(agrupar_por)[</a:t>
            </a:r>
            <a:pPr indent="0" marL="0">
              <a:buNone/>
            </a:pPr>
            <a:r>
              <a:rPr lang="en-US" sz="1300" dirty="0">
                <a:solidFill>
                  <a:srgbClr val="A31515"/>
                </a:solidFill>
                <a:latin typeface="Courier New" pitchFamily="34" charset="0"/>
                <a:ea typeface="Courier New" pitchFamily="34" charset="-122"/>
                <a:cs typeface="Courier New" pitchFamily="34" charset="-120"/>
              </a:rPr>
              <a:t>"potencia_mw"</a:t>
            </a:r>
            <a:pPr indent="0" marL="0">
              <a:buNone/>
            </a:pPr>
            <a:r>
              <a:rPr lang="en-US" sz="1300" dirty="0">
                <a:solidFill>
                  <a:srgbClr val="202124"/>
                </a:solidFill>
                <a:latin typeface="Courier New" pitchFamily="34" charset="0"/>
                <a:ea typeface="Courier New" pitchFamily="34" charset="-122"/>
                <a:cs typeface="Courier New" pitchFamily="34" charset="-120"/>
              </a:rPr>
              <a:t>].sum().sort_values()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fig, ax = plt.subplots(figsize=(8, 3.5))</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ax.barh(resumen.index, resumen.values, color=</a:t>
            </a:r>
            <a:pPr indent="0" marL="0">
              <a:buNone/>
            </a:pPr>
            <a:r>
              <a:rPr lang="en-US" sz="1300" dirty="0">
                <a:solidFill>
                  <a:srgbClr val="A31515"/>
                </a:solidFill>
                <a:latin typeface="Courier New" pitchFamily="34" charset="0"/>
                <a:ea typeface="Courier New" pitchFamily="34" charset="-122"/>
                <a:cs typeface="Courier New" pitchFamily="34" charset="-120"/>
              </a:rPr>
              <a:t>"#4C78A8"</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ax.set_title(f</a:t>
            </a:r>
            <a:pPr indent="0" marL="0">
              <a:buNone/>
            </a:pPr>
            <a:r>
              <a:rPr lang="en-US" sz="1300" dirty="0">
                <a:solidFill>
                  <a:srgbClr val="A31515"/>
                </a:solidFill>
                <a:latin typeface="Courier New" pitchFamily="34" charset="0"/>
                <a:ea typeface="Courier New" pitchFamily="34" charset="-122"/>
                <a:cs typeface="Courier New" pitchFamily="34" charset="-120"/>
              </a:rPr>
              <a:t>"Potencia instalada por {agrupar_por}"</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ax.set_xlabel(</a:t>
            </a:r>
            <a:pPr indent="0" marL="0">
              <a:buNone/>
            </a:pPr>
            <a:r>
              <a:rPr lang="en-US" sz="1300" dirty="0">
                <a:solidFill>
                  <a:srgbClr val="A31515"/>
                </a:solidFill>
                <a:latin typeface="Courier New" pitchFamily="34" charset="0"/>
                <a:ea typeface="Courier New" pitchFamily="34" charset="-122"/>
                <a:cs typeface="Courier New" pitchFamily="34" charset="-120"/>
              </a:rPr>
              <a:t>"Potencia instalada (MW)"</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plt.show()</a:t>
            </a:r>
            <a:endParaRPr lang="en-US" sz="1300" dirty="0"/>
          </a:p>
        </p:txBody>
      </p:sp>
      <p:sp>
        <p:nvSpPr>
          <p:cNvPr id="11" name="Text 8"/>
          <p:cNvSpPr txBox="1"/>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agrupar_por</a:t>
            </a:r>
            <a:endParaRPr lang="en-US" sz="1100" dirty="0"/>
          </a:p>
        </p:txBody>
      </p:sp>
      <p:sp>
        <p:nvSpPr>
          <p:cNvPr id="12" name="Shape 9"/>
          <p:cNvSpPr/>
          <p:nvPr/>
        </p:nvSpPr>
        <p:spPr>
          <a:xfrm>
            <a:off x="8823960" y="1874520"/>
            <a:ext cx="2651760" cy="347472"/>
          </a:xfrm>
          <a:prstGeom prst="rect">
            <a:avLst/>
          </a:prstGeom>
          <a:solidFill>
            <a:srgbClr val="FFFFFF"/>
          </a:solidFill>
          <a:ln w="12700">
            <a:solidFill>
              <a:srgbClr val="9AA0A6"/>
            </a:solidFill>
            <a:prstDash val="solid"/>
          </a:ln>
        </p:spPr>
      </p:sp>
      <p:sp>
        <p:nvSpPr>
          <p:cNvPr id="13" name="Text 10"/>
          <p:cNvSpPr txBox="1"/>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tecnologia</a:t>
            </a:r>
            <a:endParaRPr lang="en-US" sz="1200" dirty="0"/>
          </a:p>
        </p:txBody>
      </p:sp>
      <p:sp>
        <p:nvSpPr>
          <p:cNvPr id="14"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5" name="Text 12"/>
          <p:cNvSpPr txBox="1"/>
          <p:nvPr/>
        </p:nvSpPr>
        <p:spPr>
          <a:xfrm>
            <a:off x="1325880" y="446684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6" name="Text 13"/>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7" name="Shape 14"/>
          <p:cNvSpPr/>
          <p:nvPr/>
        </p:nvSpPr>
        <p:spPr>
          <a:xfrm>
            <a:off x="548640" y="6062472"/>
            <a:ext cx="1143000"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64008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unida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52650.0</a:t>
            </a:r>
            <a:endParaRPr lang="en-US" sz="1200" dirty="0"/>
          </a:p>
        </p:txBody>
      </p:sp>
      <p:sp>
        <p:nvSpPr>
          <p:cNvPr id="19" name="Shape 16"/>
          <p:cNvSpPr/>
          <p:nvPr/>
        </p:nvSpPr>
        <p:spPr>
          <a:xfrm>
            <a:off x="1828800" y="6062472"/>
            <a:ext cx="1143000"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192024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52650.0</a:t>
            </a:r>
            <a:endParaRPr lang="en-US" sz="1200" dirty="0"/>
          </a:p>
        </p:txBody>
      </p:sp>
      <p:sp>
        <p:nvSpPr>
          <p:cNvPr id="21" name="Shape 18"/>
          <p:cNvSpPr/>
          <p:nvPr/>
        </p:nvSpPr>
        <p:spPr>
          <a:xfrm>
            <a:off x="3108960" y="6062472"/>
            <a:ext cx="1810512" cy="566928"/>
          </a:xfrm>
          <a:prstGeom prst="roundRect">
            <a:avLst>
              <a:gd name="adj" fmla="val 11290"/>
            </a:avLst>
          </a:prstGeom>
          <a:solidFill>
            <a:srgbClr val="F1F3F4"/>
          </a:solidFill>
          <a:ln w="12700">
            <a:solidFill>
              <a:srgbClr val="DADCE0"/>
            </a:solidFill>
            <a:prstDash val="solid"/>
          </a:ln>
        </p:spPr>
      </p:sp>
      <p:sp>
        <p:nvSpPr>
          <p:cNvPr id="22" name="Text 19"/>
          <p:cNvSpPr txBox="1"/>
          <p:nvPr/>
        </p:nvSpPr>
        <p:spPr>
          <a:xfrm>
            <a:off x="3200400"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fichas_repetidas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17 × 5</a:t>
            </a:r>
            <a:endParaRPr lang="en-US" sz="1200" dirty="0"/>
          </a:p>
        </p:txBody>
      </p:sp>
      <p:sp>
        <p:nvSpPr>
          <p:cNvPr id="23" name="Shape 20"/>
          <p:cNvSpPr/>
          <p:nvPr/>
        </p:nvSpPr>
        <p:spPr>
          <a:xfrm>
            <a:off x="5056632" y="6062472"/>
            <a:ext cx="1810512" cy="566928"/>
          </a:xfrm>
          <a:prstGeom prst="roundRect">
            <a:avLst>
              <a:gd name="adj" fmla="val 11290"/>
            </a:avLst>
          </a:prstGeom>
          <a:solidFill>
            <a:srgbClr val="F1F3F4"/>
          </a:solidFill>
          <a:ln w="12700">
            <a:solidFill>
              <a:srgbClr val="DADCE0"/>
            </a:solidFill>
            <a:prstDash val="solid"/>
          </a:ln>
        </p:spPr>
      </p:sp>
      <p:sp>
        <p:nvSpPr>
          <p:cNvPr id="24" name="Text 21"/>
          <p:cNvSpPr txBox="1"/>
          <p:nvPr/>
        </p:nvSpPr>
        <p:spPr>
          <a:xfrm>
            <a:off x="5148072"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quitar_repetidas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True</a:t>
            </a:r>
            <a:endParaRPr lang="en-US" sz="1200" dirty="0"/>
          </a:p>
        </p:txBody>
      </p:sp>
      <p:sp>
        <p:nvSpPr>
          <p:cNvPr id="25" name="Shape 22"/>
          <p:cNvSpPr/>
          <p:nvPr/>
        </p:nvSpPr>
        <p:spPr>
          <a:xfrm>
            <a:off x="7004304" y="6062472"/>
            <a:ext cx="2002536" cy="566928"/>
          </a:xfrm>
          <a:prstGeom prst="roundRect">
            <a:avLst>
              <a:gd name="adj" fmla="val 11290"/>
            </a:avLst>
          </a:prstGeom>
          <a:solidFill>
            <a:srgbClr val="F1F3F4"/>
          </a:solidFill>
          <a:ln w="12700">
            <a:solidFill>
              <a:srgbClr val="DADCE0"/>
            </a:solidFill>
            <a:prstDash val="solid"/>
          </a:ln>
        </p:spPr>
      </p:sp>
      <p:sp>
        <p:nvSpPr>
          <p:cNvPr id="26" name="Text 23"/>
          <p:cNvSpPr txBox="1"/>
          <p:nvPr/>
        </p:nvSpPr>
        <p:spPr>
          <a:xfrm>
            <a:off x="7095744"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por_tecnologia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 valores</a:t>
            </a:r>
            <a:endParaRPr lang="en-US" sz="1200" dirty="0"/>
          </a:p>
        </p:txBody>
      </p:sp>
      <p:sp>
        <p:nvSpPr>
          <p:cNvPr id="27" name="Text 24"/>
          <p:cNvSpPr txBox="1"/>
          <p:nvPr/>
        </p:nvSpPr>
        <p:spPr>
          <a:xfrm>
            <a:off x="9144000"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12 más</a:t>
            </a:r>
            <a:endParaRPr lang="en-US" sz="12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2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resume la potencia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resumen = centrales.groupby(agrupar_por)[</a:t>
            </a:r>
            <a:pPr indent="0" marL="0">
              <a:buNone/>
            </a:pPr>
            <a:r>
              <a:rPr lang="en-US" sz="1600" dirty="0">
                <a:solidFill>
                  <a:srgbClr val="A31515"/>
                </a:solidFill>
                <a:latin typeface="Courier New" pitchFamily="34" charset="0"/>
                <a:ea typeface="Courier New" pitchFamily="34" charset="-122"/>
                <a:cs typeface="Courier New" pitchFamily="34" charset="-120"/>
              </a:rPr>
              <a:t>"potencia_mw"</a:t>
            </a:r>
            <a:pPr indent="0" marL="0">
              <a:buNone/>
            </a:pPr>
            <a:r>
              <a:rPr lang="en-US" sz="1600" dirty="0">
                <a:solidFill>
                  <a:srgbClr val="202124"/>
                </a:solidFill>
                <a:latin typeface="Courier New" pitchFamily="34" charset="0"/>
                <a:ea typeface="Courier New" pitchFamily="34" charset="-122"/>
                <a:cs typeface="Courier New" pitchFamily="34" charset="-120"/>
              </a:rPr>
              <a:t>].sum().sort_values()</a:t>
            </a:r>
            <a:endParaRPr lang="en-US" sz="1600" dirty="0"/>
          </a:p>
        </p:txBody>
      </p:sp>
      <p:sp>
        <p:nvSpPr>
          <p:cNvPr id="8" name="Shape 6"/>
          <p:cNvSpPr/>
          <p:nvPr/>
        </p:nvSpPr>
        <p:spPr>
          <a:xfrm>
            <a:off x="548640" y="2375408"/>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7540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640080"/>
          </a:xfrm>
          <a:prstGeom prst="roundRect">
            <a:avLst>
              <a:gd name="adj" fmla="val 7143"/>
            </a:avLst>
          </a:prstGeom>
          <a:solidFill>
            <a:srgbClr val="DBE9FB"/>
          </a:solidFill>
          <a:ln w="12700">
            <a:solidFill>
              <a:srgbClr val="DBE9FB"/>
            </a:solidFill>
            <a:prstDash val="solid"/>
          </a:ln>
        </p:spPr>
      </p:sp>
      <p:sp>
        <p:nvSpPr>
          <p:cNvPr id="11" name="Text 9"/>
          <p:cNvSpPr txBox="1"/>
          <p:nvPr/>
        </p:nvSpPr>
        <p:spPr>
          <a:xfrm>
            <a:off x="1170432" y="2219960"/>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centrales.groupby(agrupar_por)</a:t>
            </a:r>
            <a:endParaRPr lang="en-US" sz="1400" dirty="0"/>
          </a:p>
        </p:txBody>
      </p:sp>
      <p:sp>
        <p:nvSpPr>
          <p:cNvPr id="12" name="Text 10"/>
          <p:cNvSpPr txBox="1"/>
          <p:nvPr/>
        </p:nvSpPr>
        <p:spPr>
          <a:xfrm>
            <a:off x="6263640" y="2219960"/>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Separa las filas en grupos según la columna elegida, tecnología o región.</a:t>
            </a:r>
            <a:endParaRPr lang="en-US" sz="1600" dirty="0"/>
          </a:p>
        </p:txBody>
      </p:sp>
      <p:sp>
        <p:nvSpPr>
          <p:cNvPr id="13" name="Shape 11"/>
          <p:cNvSpPr/>
          <p:nvPr/>
        </p:nvSpPr>
        <p:spPr>
          <a:xfrm>
            <a:off x="548640" y="3052064"/>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305206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951480"/>
            <a:ext cx="4937760" cy="530352"/>
          </a:xfrm>
          <a:prstGeom prst="roundRect">
            <a:avLst>
              <a:gd name="adj" fmla="val 8621"/>
            </a:avLst>
          </a:prstGeom>
          <a:solidFill>
            <a:srgbClr val="DCEFE0"/>
          </a:solidFill>
          <a:ln w="12700">
            <a:solidFill>
              <a:srgbClr val="DCEFE0"/>
            </a:solidFill>
            <a:prstDash val="solid"/>
          </a:ln>
        </p:spPr>
      </p:sp>
      <p:sp>
        <p:nvSpPr>
          <p:cNvPr id="16" name="Text 14"/>
          <p:cNvSpPr txBox="1"/>
          <p:nvPr/>
        </p:nvSpPr>
        <p:spPr>
          <a:xfrm>
            <a:off x="1170432" y="295148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["potencia_mw"]</a:t>
            </a:r>
            <a:endParaRPr lang="en-US" sz="1400" dirty="0"/>
          </a:p>
        </p:txBody>
      </p:sp>
      <p:sp>
        <p:nvSpPr>
          <p:cNvPr id="17" name="Text 15"/>
          <p:cNvSpPr txBox="1"/>
          <p:nvPr/>
        </p:nvSpPr>
        <p:spPr>
          <a:xfrm>
            <a:off x="6263640" y="295148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De cada grupo, toma la columna potencia.</a:t>
            </a:r>
            <a:endParaRPr lang="en-US" sz="1600" dirty="0"/>
          </a:p>
        </p:txBody>
      </p:sp>
      <p:sp>
        <p:nvSpPr>
          <p:cNvPr id="18" name="Shape 16"/>
          <p:cNvSpPr/>
          <p:nvPr/>
        </p:nvSpPr>
        <p:spPr>
          <a:xfrm>
            <a:off x="548640" y="3728720"/>
            <a:ext cx="329184" cy="329184"/>
          </a:xfrm>
          <a:prstGeom prst="ellipse">
            <a:avLst/>
          </a:prstGeom>
          <a:solidFill>
            <a:srgbClr val="B07D00"/>
          </a:solidFill>
          <a:ln w="12700">
            <a:solidFill>
              <a:srgbClr val="B07D00"/>
            </a:solidFill>
            <a:prstDash val="solid"/>
          </a:ln>
        </p:spPr>
      </p:sp>
      <p:sp>
        <p:nvSpPr>
          <p:cNvPr id="19" name="Text 17"/>
          <p:cNvSpPr txBox="1"/>
          <p:nvPr/>
        </p:nvSpPr>
        <p:spPr>
          <a:xfrm>
            <a:off x="548640" y="372872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573272"/>
            <a:ext cx="4937760" cy="640080"/>
          </a:xfrm>
          <a:prstGeom prst="roundRect">
            <a:avLst>
              <a:gd name="adj" fmla="val 7143"/>
            </a:avLst>
          </a:prstGeom>
          <a:solidFill>
            <a:srgbClr val="FDF0C8"/>
          </a:solidFill>
          <a:ln w="12700">
            <a:solidFill>
              <a:srgbClr val="FDF0C8"/>
            </a:solidFill>
            <a:prstDash val="solid"/>
          </a:ln>
        </p:spPr>
      </p:sp>
      <p:sp>
        <p:nvSpPr>
          <p:cNvPr id="21" name="Text 19"/>
          <p:cNvSpPr txBox="1"/>
          <p:nvPr/>
        </p:nvSpPr>
        <p:spPr>
          <a:xfrm>
            <a:off x="1170432" y="3573272"/>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.sum()</a:t>
            </a:r>
            <a:endParaRPr lang="en-US" sz="1400" dirty="0"/>
          </a:p>
        </p:txBody>
      </p:sp>
      <p:sp>
        <p:nvSpPr>
          <p:cNvPr id="22" name="Text 20"/>
          <p:cNvSpPr txBox="1"/>
          <p:nvPr/>
        </p:nvSpPr>
        <p:spPr>
          <a:xfrm>
            <a:off x="6263640" y="3573272"/>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Suma la potencia de cada grupo. Queda un número por grupo.</a:t>
            </a:r>
            <a:endParaRPr lang="en-US" sz="1600" dirty="0"/>
          </a:p>
        </p:txBody>
      </p:sp>
      <p:sp>
        <p:nvSpPr>
          <p:cNvPr id="23" name="Shape 21"/>
          <p:cNvSpPr/>
          <p:nvPr/>
        </p:nvSpPr>
        <p:spPr>
          <a:xfrm>
            <a:off x="548640" y="4405376"/>
            <a:ext cx="329184" cy="329184"/>
          </a:xfrm>
          <a:prstGeom prst="ellipse">
            <a:avLst/>
          </a:prstGeom>
          <a:solidFill>
            <a:srgbClr val="7B4FC9"/>
          </a:solidFill>
          <a:ln w="12700">
            <a:solidFill>
              <a:srgbClr val="7B4FC9"/>
            </a:solidFill>
            <a:prstDash val="solid"/>
          </a:ln>
        </p:spPr>
      </p:sp>
      <p:sp>
        <p:nvSpPr>
          <p:cNvPr id="24" name="Text 22"/>
          <p:cNvSpPr txBox="1"/>
          <p:nvPr/>
        </p:nvSpPr>
        <p:spPr>
          <a:xfrm>
            <a:off x="548640" y="440537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Shape 23"/>
          <p:cNvSpPr/>
          <p:nvPr/>
        </p:nvSpPr>
        <p:spPr>
          <a:xfrm>
            <a:off x="1051560" y="4304792"/>
            <a:ext cx="4937760" cy="530352"/>
          </a:xfrm>
          <a:prstGeom prst="roundRect">
            <a:avLst>
              <a:gd name="adj" fmla="val 8621"/>
            </a:avLst>
          </a:prstGeom>
          <a:solidFill>
            <a:srgbClr val="ECE2FA"/>
          </a:solidFill>
          <a:ln w="12700">
            <a:solidFill>
              <a:srgbClr val="ECE2FA"/>
            </a:solidFill>
            <a:prstDash val="solid"/>
          </a:ln>
        </p:spPr>
      </p:sp>
      <p:sp>
        <p:nvSpPr>
          <p:cNvPr id="26" name="Text 24"/>
          <p:cNvSpPr txBox="1"/>
          <p:nvPr/>
        </p:nvSpPr>
        <p:spPr>
          <a:xfrm>
            <a:off x="1170432" y="4304792"/>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.sort_values()</a:t>
            </a:r>
            <a:endParaRPr lang="en-US" sz="1400" dirty="0"/>
          </a:p>
        </p:txBody>
      </p:sp>
      <p:sp>
        <p:nvSpPr>
          <p:cNvPr id="27" name="Text 25"/>
          <p:cNvSpPr txBox="1"/>
          <p:nvPr/>
        </p:nvSpPr>
        <p:spPr>
          <a:xfrm>
            <a:off x="6263640" y="4304792"/>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Ordena de menor a mayor.</a:t>
            </a:r>
            <a:endParaRPr lang="en-US" sz="1600" dirty="0"/>
          </a:p>
        </p:txBody>
      </p:sp>
      <p:sp>
        <p:nvSpPr>
          <p:cNvPr id="28" name="Shape 26"/>
          <p:cNvSpPr/>
          <p:nvPr/>
        </p:nvSpPr>
        <p:spPr>
          <a:xfrm>
            <a:off x="548640" y="5027168"/>
            <a:ext cx="329184" cy="329184"/>
          </a:xfrm>
          <a:prstGeom prst="ellipse">
            <a:avLst/>
          </a:prstGeom>
          <a:solidFill>
            <a:srgbClr val="C5221F"/>
          </a:solidFill>
          <a:ln w="12700">
            <a:solidFill>
              <a:srgbClr val="C5221F"/>
            </a:solidFill>
            <a:prstDash val="solid"/>
          </a:ln>
        </p:spPr>
      </p:sp>
      <p:sp>
        <p:nvSpPr>
          <p:cNvPr id="29" name="Text 27"/>
          <p:cNvSpPr txBox="1"/>
          <p:nvPr/>
        </p:nvSpPr>
        <p:spPr>
          <a:xfrm>
            <a:off x="548640" y="502716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0" name="Shape 28"/>
          <p:cNvSpPr/>
          <p:nvPr/>
        </p:nvSpPr>
        <p:spPr>
          <a:xfrm>
            <a:off x="1051560" y="4926584"/>
            <a:ext cx="4937760" cy="530352"/>
          </a:xfrm>
          <a:prstGeom prst="roundRect">
            <a:avLst>
              <a:gd name="adj" fmla="val 8621"/>
            </a:avLst>
          </a:prstGeom>
          <a:solidFill>
            <a:srgbClr val="FCE8E6"/>
          </a:solidFill>
          <a:ln w="12700">
            <a:solidFill>
              <a:srgbClr val="FCE8E6"/>
            </a:solidFill>
            <a:prstDash val="solid"/>
          </a:ln>
        </p:spPr>
      </p:sp>
      <p:sp>
        <p:nvSpPr>
          <p:cNvPr id="31" name="Text 29"/>
          <p:cNvSpPr txBox="1"/>
          <p:nvPr/>
        </p:nvSpPr>
        <p:spPr>
          <a:xfrm>
            <a:off x="1170432" y="4926584"/>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resumen =</a:t>
            </a:r>
            <a:endParaRPr lang="en-US" sz="1400" dirty="0"/>
          </a:p>
        </p:txBody>
      </p:sp>
      <p:sp>
        <p:nvSpPr>
          <p:cNvPr id="32" name="Text 30"/>
          <p:cNvSpPr txBox="1"/>
          <p:nvPr/>
        </p:nvSpPr>
        <p:spPr>
          <a:xfrm>
            <a:off x="6263640" y="4926584"/>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Guarda el resultado.</a:t>
            </a:r>
            <a:endParaRPr lang="en-US" sz="1600" dirty="0"/>
          </a:p>
        </p:txBody>
      </p:sp>
      <p:sp>
        <p:nvSpPr>
          <p:cNvPr id="33" name="Shape 31"/>
          <p:cNvSpPr/>
          <p:nvPr/>
        </p:nvSpPr>
        <p:spPr>
          <a:xfrm>
            <a:off x="548640" y="5989320"/>
            <a:ext cx="73152" cy="548640"/>
          </a:xfrm>
          <a:prstGeom prst="rect">
            <a:avLst/>
          </a:prstGeom>
          <a:solidFill>
            <a:srgbClr val="0B3D62"/>
          </a:solidFill>
          <a:ln w="12700">
            <a:solidFill>
              <a:srgbClr val="0B3D62"/>
            </a:solidFill>
            <a:prstDash val="solid"/>
          </a:ln>
        </p:spPr>
      </p:sp>
      <p:sp>
        <p:nvSpPr>
          <p:cNvPr id="34" name="Text 32"/>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agrupa las centrales, suma la potencia de cada grupo, ordena y guarda como resumen.</a:t>
            </a:r>
            <a:endParaRPr lang="en-US" sz="15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2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resume la potencia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Elige cómo agrupar en la lista y vuelve a correr la celda.</a:t>
            </a:r>
            <a:endParaRPr lang="en-US" sz="1400" dirty="0"/>
          </a:p>
        </p:txBody>
      </p:sp>
      <p:sp>
        <p:nvSpPr>
          <p:cNvPr id="6" name="Text 4"/>
          <p:cNvSpPr txBox="1"/>
          <p:nvPr/>
        </p:nvSpPr>
        <p:spPr>
          <a:xfrm>
            <a:off x="548640" y="1481328"/>
            <a:ext cx="5486400" cy="274320"/>
          </a:xfrm>
          <a:prstGeom prst="rect">
            <a:avLst/>
          </a:prstGeom>
          <a:noFill/>
          <a:ln/>
        </p:spPr>
        <p:txBody>
          <a:bodyPr wrap="square" lIns="0" tIns="0" rIns="0" bIns="0" rtlCol="0" anchor="ctr"/>
          <a:lstStyle/>
          <a:p>
            <a:pPr indent="0" marL="0">
              <a:buNone/>
            </a:pPr>
            <a:r>
              <a:rPr lang="en-US" sz="1300" b="1" dirty="0">
                <a:solidFill>
                  <a:srgbClr val="5F6368"/>
                </a:solidFill>
                <a:latin typeface="Calibri" pitchFamily="34" charset="0"/>
                <a:ea typeface="Calibri" pitchFamily="34" charset="-122"/>
                <a:cs typeface="Calibri" pitchFamily="34" charset="-120"/>
              </a:rPr>
              <a:t>Respuesta de la celda</a:t>
            </a:r>
            <a:endParaRPr lang="en-US" sz="1300" dirty="0"/>
          </a:p>
        </p:txBody>
      </p:sp>
      <p:pic>
        <p:nvPicPr>
          <p:cNvPr id="7" name="Image 0" descr="/tmp/claude-0/-home-claude/53fc5af0-c828-58c7-8b29-cc4adc4b42a1/scratchpad/sim/v4/lab01_img/fig1.png">    </p:cNvPr>
          <p:cNvPicPr>
            <a:picLocks noChangeAspect="1"/>
          </p:cNvPicPr>
          <p:nvPr/>
        </p:nvPicPr>
        <p:blipFill>
          <a:blip r:embed="rId1"/>
          <a:stretch>
            <a:fillRect/>
          </a:stretch>
        </p:blipFill>
        <p:spPr>
          <a:xfrm>
            <a:off x="1325880" y="1828800"/>
            <a:ext cx="4807131" cy="2103120"/>
          </a:xfrm>
          <a:prstGeom prst="rect">
            <a:avLst/>
          </a:prstGeom>
        </p:spPr>
      </p:pic>
      <p:sp>
        <p:nvSpPr>
          <p:cNvPr id="9" name="Text 5"/>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0" name="Shape 6"/>
          <p:cNvSpPr/>
          <p:nvPr/>
        </p:nvSpPr>
        <p:spPr>
          <a:xfrm>
            <a:off x="548640" y="6062472"/>
            <a:ext cx="1426464" cy="566928"/>
          </a:xfrm>
          <a:prstGeom prst="roundRect">
            <a:avLst>
              <a:gd name="adj" fmla="val 11290"/>
            </a:avLst>
          </a:prstGeom>
          <a:solidFill>
            <a:srgbClr val="E8F0FE"/>
          </a:solidFill>
          <a:ln w="28575">
            <a:solidFill>
              <a:srgbClr val="1A73E8"/>
            </a:solidFill>
            <a:prstDash val="solid"/>
          </a:ln>
        </p:spPr>
      </p:sp>
      <p:sp>
        <p:nvSpPr>
          <p:cNvPr id="11" name="Text 7"/>
          <p:cNvSpPr txBox="1"/>
          <p:nvPr/>
        </p:nvSpPr>
        <p:spPr>
          <a:xfrm>
            <a:off x="640080"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centrales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20 × 5</a:t>
            </a:r>
            <a:endParaRPr lang="en-US" sz="1200" dirty="0"/>
          </a:p>
        </p:txBody>
      </p:sp>
      <p:sp>
        <p:nvSpPr>
          <p:cNvPr id="12" name="Shape 8"/>
          <p:cNvSpPr/>
          <p:nvPr/>
        </p:nvSpPr>
        <p:spPr>
          <a:xfrm>
            <a:off x="2112264" y="6062472"/>
            <a:ext cx="1426464" cy="566928"/>
          </a:xfrm>
          <a:prstGeom prst="roundRect">
            <a:avLst>
              <a:gd name="adj" fmla="val 11290"/>
            </a:avLst>
          </a:prstGeom>
          <a:solidFill>
            <a:srgbClr val="FEF3D6"/>
          </a:solidFill>
          <a:ln w="25400">
            <a:solidFill>
              <a:srgbClr val="F9AB00"/>
            </a:solidFill>
            <a:prstDash val="solid"/>
          </a:ln>
        </p:spPr>
      </p:sp>
      <p:sp>
        <p:nvSpPr>
          <p:cNvPr id="13" name="Text 9"/>
          <p:cNvSpPr txBox="1"/>
          <p:nvPr/>
        </p:nvSpPr>
        <p:spPr>
          <a:xfrm>
            <a:off x="2203704"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agrupar_por</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"tecnologia"</a:t>
            </a:r>
            <a:endParaRPr lang="en-US" sz="1200" dirty="0"/>
          </a:p>
        </p:txBody>
      </p:sp>
      <p:sp>
        <p:nvSpPr>
          <p:cNvPr id="14" name="Shape 10"/>
          <p:cNvSpPr/>
          <p:nvPr/>
        </p:nvSpPr>
        <p:spPr>
          <a:xfrm>
            <a:off x="3675888" y="6062472"/>
            <a:ext cx="2002536" cy="566928"/>
          </a:xfrm>
          <a:prstGeom prst="roundRect">
            <a:avLst>
              <a:gd name="adj" fmla="val 11290"/>
            </a:avLst>
          </a:prstGeom>
          <a:solidFill>
            <a:srgbClr val="FEF3D6"/>
          </a:solidFill>
          <a:ln w="25400">
            <a:solidFill>
              <a:srgbClr val="F9AB00"/>
            </a:solidFill>
            <a:prstDash val="solid"/>
          </a:ln>
        </p:spPr>
      </p:sp>
      <p:sp>
        <p:nvSpPr>
          <p:cNvPr id="15" name="Text 11"/>
          <p:cNvSpPr txBox="1"/>
          <p:nvPr/>
        </p:nvSpPr>
        <p:spPr>
          <a:xfrm>
            <a:off x="3767328"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resumen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 valores</a:t>
            </a:r>
            <a:endParaRPr lang="en-US" sz="1200" dirty="0"/>
          </a:p>
        </p:txBody>
      </p:sp>
      <p:sp>
        <p:nvSpPr>
          <p:cNvPr id="16" name="Shape 12"/>
          <p:cNvSpPr/>
          <p:nvPr/>
        </p:nvSpPr>
        <p:spPr>
          <a:xfrm>
            <a:off x="5815584" y="6062472"/>
            <a:ext cx="1143000" cy="566928"/>
          </a:xfrm>
          <a:prstGeom prst="roundRect">
            <a:avLst>
              <a:gd name="adj" fmla="val 11290"/>
            </a:avLst>
          </a:prstGeom>
          <a:solidFill>
            <a:srgbClr val="F1F3F4"/>
          </a:solidFill>
          <a:ln w="12700">
            <a:solidFill>
              <a:srgbClr val="DADCE0"/>
            </a:solidFill>
            <a:prstDash val="solid"/>
          </a:ln>
        </p:spPr>
      </p:sp>
      <p:sp>
        <p:nvSpPr>
          <p:cNvPr id="17" name="Text 13"/>
          <p:cNvSpPr txBox="1"/>
          <p:nvPr/>
        </p:nvSpPr>
        <p:spPr>
          <a:xfrm>
            <a:off x="5907024"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unida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52650.0</a:t>
            </a:r>
            <a:endParaRPr lang="en-US" sz="1200" dirty="0"/>
          </a:p>
        </p:txBody>
      </p:sp>
      <p:sp>
        <p:nvSpPr>
          <p:cNvPr id="18" name="Shape 14"/>
          <p:cNvSpPr/>
          <p:nvPr/>
        </p:nvSpPr>
        <p:spPr>
          <a:xfrm>
            <a:off x="7095744" y="6062472"/>
            <a:ext cx="1143000" cy="566928"/>
          </a:xfrm>
          <a:prstGeom prst="roundRect">
            <a:avLst>
              <a:gd name="adj" fmla="val 11290"/>
            </a:avLst>
          </a:prstGeom>
          <a:solidFill>
            <a:srgbClr val="F1F3F4"/>
          </a:solidFill>
          <a:ln w="12700">
            <a:solidFill>
              <a:srgbClr val="DADCE0"/>
            </a:solidFill>
            <a:prstDash val="solid"/>
          </a:ln>
        </p:spPr>
      </p:sp>
      <p:sp>
        <p:nvSpPr>
          <p:cNvPr id="19" name="Text 15"/>
          <p:cNvSpPr txBox="1"/>
          <p:nvPr/>
        </p:nvSpPr>
        <p:spPr>
          <a:xfrm>
            <a:off x="7187184"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52650.0</a:t>
            </a:r>
            <a:endParaRPr lang="en-US" sz="1200" dirty="0"/>
          </a:p>
        </p:txBody>
      </p:sp>
      <p:sp>
        <p:nvSpPr>
          <p:cNvPr id="20" name="Shape 16"/>
          <p:cNvSpPr/>
          <p:nvPr/>
        </p:nvSpPr>
        <p:spPr>
          <a:xfrm>
            <a:off x="8375904" y="6062472"/>
            <a:ext cx="1810512" cy="566928"/>
          </a:xfrm>
          <a:prstGeom prst="roundRect">
            <a:avLst>
              <a:gd name="adj" fmla="val 11290"/>
            </a:avLst>
          </a:prstGeom>
          <a:solidFill>
            <a:srgbClr val="F1F3F4"/>
          </a:solidFill>
          <a:ln w="12700">
            <a:solidFill>
              <a:srgbClr val="DADCE0"/>
            </a:solidFill>
            <a:prstDash val="solid"/>
          </a:ln>
        </p:spPr>
      </p:sp>
      <p:sp>
        <p:nvSpPr>
          <p:cNvPr id="21" name="Text 17"/>
          <p:cNvSpPr txBox="1"/>
          <p:nvPr/>
        </p:nvSpPr>
        <p:spPr>
          <a:xfrm>
            <a:off x="8467344"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fichas_repetidas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17 × 5</a:t>
            </a:r>
            <a:endParaRPr lang="en-US" sz="1200" dirty="0"/>
          </a:p>
        </p:txBody>
      </p:sp>
      <p:sp>
        <p:nvSpPr>
          <p:cNvPr id="22" name="Text 18"/>
          <p:cNvSpPr txBox="1"/>
          <p:nvPr/>
        </p:nvSpPr>
        <p:spPr>
          <a:xfrm>
            <a:off x="10323576"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13 más</a:t>
            </a:r>
            <a:endParaRPr lang="en-US" sz="1200" dirty="0"/>
          </a:p>
        </p:txBody>
      </p:sp>
      <p:sp>
        <p:nvSpPr>
          <p:cNvPr id="23" name="Text 19"/>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La celda suma la potencia por grupo y la dibuja.</a:t>
            </a:r>
            <a:endParaRPr lang="en-US" sz="13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4"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2 de 5</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resume la potencia</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elige region en la lista y se vuelve a correr la celda.</a:t>
            </a:r>
            <a:endParaRPr lang="en-US" sz="1400" dirty="0"/>
          </a:p>
        </p:txBody>
      </p:sp>
      <p:sp>
        <p:nvSpPr>
          <p:cNvPr id="7" name="Shape 4"/>
          <p:cNvSpPr/>
          <p:nvPr/>
        </p:nvSpPr>
        <p:spPr>
          <a:xfrm>
            <a:off x="548640" y="1481328"/>
            <a:ext cx="11091672" cy="2948940"/>
          </a:xfrm>
          <a:prstGeom prst="roundRect">
            <a:avLst>
              <a:gd name="adj" fmla="val 1860"/>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7360920" cy="276606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Estudio 2</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Suma la potencia de las centrales que comparten el valor elegido.</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agrupar_por = </a:t>
            </a:r>
            <a:pPr indent="0" marL="0">
              <a:buNone/>
            </a:pPr>
            <a:r>
              <a:rPr lang="en-US" sz="1300" dirty="0">
                <a:solidFill>
                  <a:srgbClr val="A31515"/>
                </a:solidFill>
                <a:latin typeface="Courier New" pitchFamily="34" charset="0"/>
                <a:ea typeface="Courier New" pitchFamily="34" charset="-122"/>
                <a:cs typeface="Courier New" pitchFamily="34" charset="-120"/>
              </a:rPr>
              <a:t>"region"</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80868B"/>
                </a:solidFill>
                <a:latin typeface="Courier New" pitchFamily="34" charset="0"/>
                <a:ea typeface="Courier New" pitchFamily="34" charset="-122"/>
                <a:cs typeface="Courier New" pitchFamily="34" charset="-120"/>
              </a:rPr>
              <a:t>#@param ["tecnologia", "region"]</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import matplotlib.pyplot as plt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resumen = centrales.groupby(agrupar_por)[</a:t>
            </a:r>
            <a:pPr indent="0" marL="0">
              <a:buNone/>
            </a:pPr>
            <a:r>
              <a:rPr lang="en-US" sz="1300" dirty="0">
                <a:solidFill>
                  <a:srgbClr val="A31515"/>
                </a:solidFill>
                <a:latin typeface="Courier New" pitchFamily="34" charset="0"/>
                <a:ea typeface="Courier New" pitchFamily="34" charset="-122"/>
                <a:cs typeface="Courier New" pitchFamily="34" charset="-120"/>
              </a:rPr>
              <a:t>"potencia_mw"</a:t>
            </a:r>
            <a:pPr indent="0" marL="0">
              <a:buNone/>
            </a:pPr>
            <a:r>
              <a:rPr lang="en-US" sz="1300" dirty="0">
                <a:solidFill>
                  <a:srgbClr val="202124"/>
                </a:solidFill>
                <a:latin typeface="Courier New" pitchFamily="34" charset="0"/>
                <a:ea typeface="Courier New" pitchFamily="34" charset="-122"/>
                <a:cs typeface="Courier New" pitchFamily="34" charset="-120"/>
              </a:rPr>
              <a:t>].sum().sort_values()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fig, ax = plt.subplots(figsize=(8, 3.5))</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ax.barh(resumen.index, resumen.values, color=</a:t>
            </a:r>
            <a:pPr indent="0" marL="0">
              <a:buNone/>
            </a:pPr>
            <a:r>
              <a:rPr lang="en-US" sz="1300" dirty="0">
                <a:solidFill>
                  <a:srgbClr val="A31515"/>
                </a:solidFill>
                <a:latin typeface="Courier New" pitchFamily="34" charset="0"/>
                <a:ea typeface="Courier New" pitchFamily="34" charset="-122"/>
                <a:cs typeface="Courier New" pitchFamily="34" charset="-120"/>
              </a:rPr>
              <a:t>"#4C78A8"</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ax.set_title(f</a:t>
            </a:r>
            <a:pPr indent="0" marL="0">
              <a:buNone/>
            </a:pPr>
            <a:r>
              <a:rPr lang="en-US" sz="1300" dirty="0">
                <a:solidFill>
                  <a:srgbClr val="A31515"/>
                </a:solidFill>
                <a:latin typeface="Courier New" pitchFamily="34" charset="0"/>
                <a:ea typeface="Courier New" pitchFamily="34" charset="-122"/>
                <a:cs typeface="Courier New" pitchFamily="34" charset="-120"/>
              </a:rPr>
              <a:t>"Potencia instalada por {agrupar_por}"</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ax.set_xlabel(</a:t>
            </a:r>
            <a:pPr indent="0" marL="0">
              <a:buNone/>
            </a:pPr>
            <a:r>
              <a:rPr lang="en-US" sz="1300" dirty="0">
                <a:solidFill>
                  <a:srgbClr val="A31515"/>
                </a:solidFill>
                <a:latin typeface="Courier New" pitchFamily="34" charset="0"/>
                <a:ea typeface="Courier New" pitchFamily="34" charset="-122"/>
                <a:cs typeface="Courier New" pitchFamily="34" charset="-120"/>
              </a:rPr>
              <a:t>"Potencia instalada (MW)"</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plt.show()</a:t>
            </a:r>
            <a:endParaRPr lang="en-US" sz="1300" dirty="0"/>
          </a:p>
        </p:txBody>
      </p:sp>
      <p:sp>
        <p:nvSpPr>
          <p:cNvPr id="11" name="Text 8"/>
          <p:cNvSpPr txBox="1"/>
          <p:nvPr/>
        </p:nvSpPr>
        <p:spPr>
          <a:xfrm>
            <a:off x="8823960" y="1618488"/>
            <a:ext cx="2651760" cy="228600"/>
          </a:xfrm>
          <a:prstGeom prst="rect">
            <a:avLst/>
          </a:prstGeom>
          <a:noFill/>
          <a:ln/>
        </p:spPr>
        <p:txBody>
          <a:bodyPr wrap="square" lIns="0" tIns="0" rIns="0" bIns="0" rtlCol="0" anchor="ctr"/>
          <a:lstStyle/>
          <a:p>
            <a:pPr indent="0" marL="0">
              <a:buNone/>
            </a:pPr>
            <a:r>
              <a:rPr lang="en-US" sz="1100" b="1" dirty="0">
                <a:solidFill>
                  <a:srgbClr val="202124"/>
                </a:solidFill>
                <a:latin typeface="Calibri" pitchFamily="34" charset="0"/>
                <a:ea typeface="Calibri" pitchFamily="34" charset="-122"/>
                <a:cs typeface="Calibri" pitchFamily="34" charset="-120"/>
              </a:rPr>
              <a:t>agrupar_por</a:t>
            </a:r>
            <a:endParaRPr lang="en-US" sz="1100" dirty="0"/>
          </a:p>
        </p:txBody>
      </p:sp>
      <p:sp>
        <p:nvSpPr>
          <p:cNvPr id="12" name="Shape 9"/>
          <p:cNvSpPr/>
          <p:nvPr/>
        </p:nvSpPr>
        <p:spPr>
          <a:xfrm>
            <a:off x="8823960" y="1874520"/>
            <a:ext cx="2651760" cy="347472"/>
          </a:xfrm>
          <a:prstGeom prst="rect">
            <a:avLst/>
          </a:prstGeom>
          <a:solidFill>
            <a:srgbClr val="FFFFFF"/>
          </a:solidFill>
          <a:ln w="25400">
            <a:solidFill>
              <a:srgbClr val="1A73E8"/>
            </a:solidFill>
            <a:prstDash val="solid"/>
          </a:ln>
        </p:spPr>
      </p:sp>
      <p:sp>
        <p:nvSpPr>
          <p:cNvPr id="13" name="Text 10"/>
          <p:cNvSpPr txBox="1"/>
          <p:nvPr/>
        </p:nvSpPr>
        <p:spPr>
          <a:xfrm>
            <a:off x="8915400" y="1874520"/>
            <a:ext cx="2240280" cy="347472"/>
          </a:xfrm>
          <a:prstGeom prst="rect">
            <a:avLst/>
          </a:prstGeom>
          <a:noFill/>
          <a:ln/>
        </p:spPr>
        <p:txBody>
          <a:bodyPr wrap="square" lIns="0" tIns="0" rIns="0" bIns="0" rtlCol="0" anchor="ctr"/>
          <a:lstStyle/>
          <a:p>
            <a:pPr indent="0" marL="0">
              <a:buNone/>
            </a:pPr>
            <a:r>
              <a:rPr lang="en-US" sz="1200" dirty="0">
                <a:solidFill>
                  <a:srgbClr val="202124"/>
                </a:solidFill>
                <a:latin typeface="Calibri" pitchFamily="34" charset="0"/>
                <a:ea typeface="Calibri" pitchFamily="34" charset="-122"/>
                <a:cs typeface="Calibri" pitchFamily="34" charset="-120"/>
              </a:rPr>
              <a:t>region</a:t>
            </a:r>
            <a:endParaRPr lang="en-US" sz="1200" dirty="0"/>
          </a:p>
        </p:txBody>
      </p:sp>
      <p:sp>
        <p:nvSpPr>
          <p:cNvPr id="14" name="Shape 11"/>
          <p:cNvSpPr/>
          <p:nvPr/>
        </p:nvSpPr>
        <p:spPr>
          <a:xfrm rot="10800000">
            <a:off x="11201400" y="2011680"/>
            <a:ext cx="128016" cy="82296"/>
          </a:xfrm>
          <a:prstGeom prst="triangle">
            <a:avLst/>
          </a:prstGeom>
          <a:solidFill>
            <a:srgbClr val="5F6368"/>
          </a:solidFill>
          <a:ln w="12700">
            <a:solidFill>
              <a:srgbClr val="5F6368"/>
            </a:solidFill>
            <a:prstDash val="solid"/>
          </a:ln>
        </p:spPr>
      </p:sp>
      <p:sp>
        <p:nvSpPr>
          <p:cNvPr id="15" name="Text 12"/>
          <p:cNvSpPr txBox="1"/>
          <p:nvPr/>
        </p:nvSpPr>
        <p:spPr>
          <a:xfrm>
            <a:off x="1325880" y="446684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6" name="Text 13"/>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7" name="Shape 14"/>
          <p:cNvSpPr/>
          <p:nvPr/>
        </p:nvSpPr>
        <p:spPr>
          <a:xfrm>
            <a:off x="548640" y="6062472"/>
            <a:ext cx="2002536"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640080"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resumen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6 valores</a:t>
            </a:r>
            <a:endParaRPr lang="en-US" sz="1200" dirty="0"/>
          </a:p>
        </p:txBody>
      </p:sp>
      <p:sp>
        <p:nvSpPr>
          <p:cNvPr id="19" name="Shape 16"/>
          <p:cNvSpPr/>
          <p:nvPr/>
        </p:nvSpPr>
        <p:spPr>
          <a:xfrm>
            <a:off x="2688336" y="6062472"/>
            <a:ext cx="1426464"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2779776"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agrupar_por</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"tecnologia"</a:t>
            </a:r>
            <a:endParaRPr lang="en-US" sz="1200" dirty="0"/>
          </a:p>
        </p:txBody>
      </p:sp>
      <p:sp>
        <p:nvSpPr>
          <p:cNvPr id="21" name="Shape 18"/>
          <p:cNvSpPr/>
          <p:nvPr/>
        </p:nvSpPr>
        <p:spPr>
          <a:xfrm>
            <a:off x="4251960" y="6062472"/>
            <a:ext cx="1143000" cy="566928"/>
          </a:xfrm>
          <a:prstGeom prst="roundRect">
            <a:avLst>
              <a:gd name="adj" fmla="val 11290"/>
            </a:avLst>
          </a:prstGeom>
          <a:solidFill>
            <a:srgbClr val="F1F3F4"/>
          </a:solidFill>
          <a:ln w="12700">
            <a:solidFill>
              <a:srgbClr val="DADCE0"/>
            </a:solidFill>
            <a:prstDash val="solid"/>
          </a:ln>
        </p:spPr>
      </p:sp>
      <p:sp>
        <p:nvSpPr>
          <p:cNvPr id="22" name="Text 19"/>
          <p:cNvSpPr txBox="1"/>
          <p:nvPr/>
        </p:nvSpPr>
        <p:spPr>
          <a:xfrm>
            <a:off x="434340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unida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52650.0</a:t>
            </a:r>
            <a:endParaRPr lang="en-US" sz="1200" dirty="0"/>
          </a:p>
        </p:txBody>
      </p:sp>
      <p:sp>
        <p:nvSpPr>
          <p:cNvPr id="23" name="Shape 20"/>
          <p:cNvSpPr/>
          <p:nvPr/>
        </p:nvSpPr>
        <p:spPr>
          <a:xfrm>
            <a:off x="5532120" y="6062472"/>
            <a:ext cx="1143000" cy="566928"/>
          </a:xfrm>
          <a:prstGeom prst="roundRect">
            <a:avLst>
              <a:gd name="adj" fmla="val 11290"/>
            </a:avLst>
          </a:prstGeom>
          <a:solidFill>
            <a:srgbClr val="F1F3F4"/>
          </a:solidFill>
          <a:ln w="12700">
            <a:solidFill>
              <a:srgbClr val="DADCE0"/>
            </a:solidFill>
            <a:prstDash val="solid"/>
          </a:ln>
        </p:spPr>
      </p:sp>
      <p:sp>
        <p:nvSpPr>
          <p:cNvPr id="24" name="Text 21"/>
          <p:cNvSpPr txBox="1"/>
          <p:nvPr/>
        </p:nvSpPr>
        <p:spPr>
          <a:xfrm>
            <a:off x="562356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52650.0</a:t>
            </a:r>
            <a:endParaRPr lang="en-US" sz="1200" dirty="0"/>
          </a:p>
        </p:txBody>
      </p:sp>
      <p:sp>
        <p:nvSpPr>
          <p:cNvPr id="25" name="Shape 22"/>
          <p:cNvSpPr/>
          <p:nvPr/>
        </p:nvSpPr>
        <p:spPr>
          <a:xfrm>
            <a:off x="6812280" y="6062472"/>
            <a:ext cx="1810512" cy="566928"/>
          </a:xfrm>
          <a:prstGeom prst="roundRect">
            <a:avLst>
              <a:gd name="adj" fmla="val 11290"/>
            </a:avLst>
          </a:prstGeom>
          <a:solidFill>
            <a:srgbClr val="F1F3F4"/>
          </a:solidFill>
          <a:ln w="12700">
            <a:solidFill>
              <a:srgbClr val="DADCE0"/>
            </a:solidFill>
            <a:prstDash val="solid"/>
          </a:ln>
        </p:spPr>
      </p:sp>
      <p:sp>
        <p:nvSpPr>
          <p:cNvPr id="26" name="Text 23"/>
          <p:cNvSpPr txBox="1"/>
          <p:nvPr/>
        </p:nvSpPr>
        <p:spPr>
          <a:xfrm>
            <a:off x="6903720"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fichas_repetidas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17 × 5</a:t>
            </a:r>
            <a:endParaRPr lang="en-US" sz="1200" dirty="0"/>
          </a:p>
        </p:txBody>
      </p:sp>
      <p:sp>
        <p:nvSpPr>
          <p:cNvPr id="27" name="Text 24"/>
          <p:cNvSpPr txBox="1"/>
          <p:nvPr/>
        </p:nvSpPr>
        <p:spPr>
          <a:xfrm>
            <a:off x="8759952"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14 más</a:t>
            </a:r>
            <a:endParaRPr lang="en-US" sz="1200" dirty="0"/>
          </a:p>
        </p:txBody>
      </p:sp>
      <p:sp>
        <p:nvSpPr>
          <p:cNvPr id="28" name="Text 25"/>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Mientras no se corra la celda, Python sigue recordando los valores anteriores.</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2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resume la potencia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Se elige region en la lista y se vuelve a correr la celda.</a:t>
            </a:r>
            <a:endParaRPr lang="en-US" sz="1400" dirty="0"/>
          </a:p>
        </p:txBody>
      </p:sp>
      <p:sp>
        <p:nvSpPr>
          <p:cNvPr id="6" name="Text 4"/>
          <p:cNvSpPr txBox="1"/>
          <p:nvPr/>
        </p:nvSpPr>
        <p:spPr>
          <a:xfrm>
            <a:off x="548640" y="1481328"/>
            <a:ext cx="5486400" cy="274320"/>
          </a:xfrm>
          <a:prstGeom prst="rect">
            <a:avLst/>
          </a:prstGeom>
          <a:noFill/>
          <a:ln/>
        </p:spPr>
        <p:txBody>
          <a:bodyPr wrap="square" lIns="0" tIns="0" rIns="0" bIns="0" rtlCol="0" anchor="ctr"/>
          <a:lstStyle/>
          <a:p>
            <a:pPr indent="0" marL="0">
              <a:buNone/>
            </a:pPr>
            <a:r>
              <a:rPr lang="en-US" sz="1300" b="1" dirty="0">
                <a:solidFill>
                  <a:srgbClr val="5F6368"/>
                </a:solidFill>
                <a:latin typeface="Calibri" pitchFamily="34" charset="0"/>
                <a:ea typeface="Calibri" pitchFamily="34" charset="-122"/>
                <a:cs typeface="Calibri" pitchFamily="34" charset="-120"/>
              </a:rPr>
              <a:t>Respuesta de la celda</a:t>
            </a:r>
            <a:endParaRPr lang="en-US" sz="1300" dirty="0"/>
          </a:p>
        </p:txBody>
      </p:sp>
      <p:pic>
        <p:nvPicPr>
          <p:cNvPr id="7" name="Image 0" descr="/tmp/claude-0/-home-claude/53fc5af0-c828-58c7-8b29-cc4adc4b42a1/scratchpad/sim/v4/lab01_img/fig2.png">    </p:cNvPr>
          <p:cNvPicPr>
            <a:picLocks noChangeAspect="1"/>
          </p:cNvPicPr>
          <p:nvPr/>
        </p:nvPicPr>
        <p:blipFill>
          <a:blip r:embed="rId1"/>
          <a:stretch>
            <a:fillRect/>
          </a:stretch>
        </p:blipFill>
        <p:spPr>
          <a:xfrm>
            <a:off x="1325880" y="1828800"/>
            <a:ext cx="4807131" cy="2103120"/>
          </a:xfrm>
          <a:prstGeom prst="rect">
            <a:avLst/>
          </a:prstGeom>
        </p:spPr>
      </p:pic>
      <p:sp>
        <p:nvSpPr>
          <p:cNvPr id="9" name="Text 5"/>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0" name="Shape 6"/>
          <p:cNvSpPr/>
          <p:nvPr/>
        </p:nvSpPr>
        <p:spPr>
          <a:xfrm>
            <a:off x="548640" y="6062472"/>
            <a:ext cx="1426464" cy="566928"/>
          </a:xfrm>
          <a:prstGeom prst="roundRect">
            <a:avLst>
              <a:gd name="adj" fmla="val 11290"/>
            </a:avLst>
          </a:prstGeom>
          <a:solidFill>
            <a:srgbClr val="E8F0FE"/>
          </a:solidFill>
          <a:ln w="28575">
            <a:solidFill>
              <a:srgbClr val="1A73E8"/>
            </a:solidFill>
            <a:prstDash val="solid"/>
          </a:ln>
        </p:spPr>
      </p:sp>
      <p:sp>
        <p:nvSpPr>
          <p:cNvPr id="11" name="Text 7"/>
          <p:cNvSpPr txBox="1"/>
          <p:nvPr/>
        </p:nvSpPr>
        <p:spPr>
          <a:xfrm>
            <a:off x="640080"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centrales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20 × 5</a:t>
            </a:r>
            <a:endParaRPr lang="en-US" sz="1200" dirty="0"/>
          </a:p>
        </p:txBody>
      </p:sp>
      <p:sp>
        <p:nvSpPr>
          <p:cNvPr id="12" name="Shape 8"/>
          <p:cNvSpPr/>
          <p:nvPr/>
        </p:nvSpPr>
        <p:spPr>
          <a:xfrm>
            <a:off x="2112264" y="6062472"/>
            <a:ext cx="1330452" cy="566928"/>
          </a:xfrm>
          <a:prstGeom prst="roundRect">
            <a:avLst>
              <a:gd name="adj" fmla="val 11290"/>
            </a:avLst>
          </a:prstGeom>
          <a:solidFill>
            <a:srgbClr val="FEF3D6"/>
          </a:solidFill>
          <a:ln w="25400">
            <a:solidFill>
              <a:srgbClr val="F9AB00"/>
            </a:solidFill>
            <a:prstDash val="solid"/>
          </a:ln>
        </p:spPr>
      </p:sp>
      <p:sp>
        <p:nvSpPr>
          <p:cNvPr id="13" name="Text 9"/>
          <p:cNvSpPr txBox="1"/>
          <p:nvPr/>
        </p:nvSpPr>
        <p:spPr>
          <a:xfrm>
            <a:off x="2203704"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agrupar_por</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"region"</a:t>
            </a:r>
            <a:endParaRPr lang="en-US" sz="1200" dirty="0"/>
          </a:p>
        </p:txBody>
      </p:sp>
      <p:sp>
        <p:nvSpPr>
          <p:cNvPr id="14" name="Shape 10"/>
          <p:cNvSpPr/>
          <p:nvPr/>
        </p:nvSpPr>
        <p:spPr>
          <a:xfrm>
            <a:off x="3579876" y="6062472"/>
            <a:ext cx="2002536" cy="566928"/>
          </a:xfrm>
          <a:prstGeom prst="roundRect">
            <a:avLst>
              <a:gd name="adj" fmla="val 11290"/>
            </a:avLst>
          </a:prstGeom>
          <a:solidFill>
            <a:srgbClr val="FEF3D6"/>
          </a:solidFill>
          <a:ln w="25400">
            <a:solidFill>
              <a:srgbClr val="F9AB00"/>
            </a:solidFill>
            <a:prstDash val="solid"/>
          </a:ln>
        </p:spPr>
      </p:sp>
      <p:sp>
        <p:nvSpPr>
          <p:cNvPr id="15" name="Text 11"/>
          <p:cNvSpPr txBox="1"/>
          <p:nvPr/>
        </p:nvSpPr>
        <p:spPr>
          <a:xfrm>
            <a:off x="3671316"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resumen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7 valores</a:t>
            </a:r>
            <a:endParaRPr lang="en-US" sz="1200" dirty="0"/>
          </a:p>
        </p:txBody>
      </p:sp>
      <p:sp>
        <p:nvSpPr>
          <p:cNvPr id="16" name="Shape 12"/>
          <p:cNvSpPr/>
          <p:nvPr/>
        </p:nvSpPr>
        <p:spPr>
          <a:xfrm>
            <a:off x="5719572" y="6062472"/>
            <a:ext cx="1143000" cy="566928"/>
          </a:xfrm>
          <a:prstGeom prst="roundRect">
            <a:avLst>
              <a:gd name="adj" fmla="val 11290"/>
            </a:avLst>
          </a:prstGeom>
          <a:solidFill>
            <a:srgbClr val="F1F3F4"/>
          </a:solidFill>
          <a:ln w="12700">
            <a:solidFill>
              <a:srgbClr val="DADCE0"/>
            </a:solidFill>
            <a:prstDash val="solid"/>
          </a:ln>
        </p:spPr>
      </p:sp>
      <p:sp>
        <p:nvSpPr>
          <p:cNvPr id="17" name="Text 13"/>
          <p:cNvSpPr txBox="1"/>
          <p:nvPr/>
        </p:nvSpPr>
        <p:spPr>
          <a:xfrm>
            <a:off x="5811012"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unida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52650.0</a:t>
            </a:r>
            <a:endParaRPr lang="en-US" sz="1200" dirty="0"/>
          </a:p>
        </p:txBody>
      </p:sp>
      <p:sp>
        <p:nvSpPr>
          <p:cNvPr id="18" name="Shape 14"/>
          <p:cNvSpPr/>
          <p:nvPr/>
        </p:nvSpPr>
        <p:spPr>
          <a:xfrm>
            <a:off x="6999732" y="6062472"/>
            <a:ext cx="1143000" cy="566928"/>
          </a:xfrm>
          <a:prstGeom prst="roundRect">
            <a:avLst>
              <a:gd name="adj" fmla="val 11290"/>
            </a:avLst>
          </a:prstGeom>
          <a:solidFill>
            <a:srgbClr val="F1F3F4"/>
          </a:solidFill>
          <a:ln w="12700">
            <a:solidFill>
              <a:srgbClr val="DADCE0"/>
            </a:solidFill>
            <a:prstDash val="solid"/>
          </a:ln>
        </p:spPr>
      </p:sp>
      <p:sp>
        <p:nvSpPr>
          <p:cNvPr id="19" name="Text 15"/>
          <p:cNvSpPr txBox="1"/>
          <p:nvPr/>
        </p:nvSpPr>
        <p:spPr>
          <a:xfrm>
            <a:off x="7091172"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52650.0</a:t>
            </a:r>
            <a:endParaRPr lang="en-US" sz="1200" dirty="0"/>
          </a:p>
        </p:txBody>
      </p:sp>
      <p:sp>
        <p:nvSpPr>
          <p:cNvPr id="20" name="Shape 16"/>
          <p:cNvSpPr/>
          <p:nvPr/>
        </p:nvSpPr>
        <p:spPr>
          <a:xfrm>
            <a:off x="8279892" y="6062472"/>
            <a:ext cx="1810512" cy="566928"/>
          </a:xfrm>
          <a:prstGeom prst="roundRect">
            <a:avLst>
              <a:gd name="adj" fmla="val 11290"/>
            </a:avLst>
          </a:prstGeom>
          <a:solidFill>
            <a:srgbClr val="F1F3F4"/>
          </a:solidFill>
          <a:ln w="12700">
            <a:solidFill>
              <a:srgbClr val="DADCE0"/>
            </a:solidFill>
            <a:prstDash val="solid"/>
          </a:ln>
        </p:spPr>
      </p:sp>
      <p:sp>
        <p:nvSpPr>
          <p:cNvPr id="21" name="Text 17"/>
          <p:cNvSpPr txBox="1"/>
          <p:nvPr/>
        </p:nvSpPr>
        <p:spPr>
          <a:xfrm>
            <a:off x="8371332"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fichas_repetidas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17 × 5</a:t>
            </a:r>
            <a:endParaRPr lang="en-US" sz="1200" dirty="0"/>
          </a:p>
        </p:txBody>
      </p:sp>
      <p:sp>
        <p:nvSpPr>
          <p:cNvPr id="22" name="Text 18"/>
          <p:cNvSpPr txBox="1"/>
          <p:nvPr/>
        </p:nvSpPr>
        <p:spPr>
          <a:xfrm>
            <a:off x="10227564"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13 más</a:t>
            </a:r>
            <a:endParaRPr lang="en-US" sz="1200" dirty="0"/>
          </a:p>
        </p:txBody>
      </p:sp>
      <p:sp>
        <p:nvSpPr>
          <p:cNvPr id="23" name="Text 19"/>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El mismo resumen, ahora por región.</a:t>
            </a:r>
            <a:endParaRPr lang="en-US" sz="13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2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Tu turno, resume la potencia</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hay que llevarse de este paso.</a:t>
            </a:r>
            <a:endParaRPr lang="en-US" sz="1400" dirty="0"/>
          </a:p>
        </p:txBody>
      </p:sp>
      <p:sp>
        <p:nvSpPr>
          <p:cNvPr id="7" name="Shape 4"/>
          <p:cNvSpPr/>
          <p:nvPr/>
        </p:nvSpPr>
        <p:spPr>
          <a:xfrm>
            <a:off x="548640" y="1828800"/>
            <a:ext cx="11091672" cy="2377440"/>
          </a:xfrm>
          <a:prstGeom prst="roundRect">
            <a:avLst>
              <a:gd name="adj" fmla="val 3846"/>
            </a:avLst>
          </a:prstGeom>
          <a:solidFill>
            <a:srgbClr val="FFF8D6"/>
          </a:solidFill>
          <a:ln w="12700">
            <a:solidFill>
              <a:srgbClr val="FFF8D6"/>
            </a:solidFill>
            <a:prstDash val="solid"/>
          </a:ln>
        </p:spPr>
      </p:sp>
      <p:sp>
        <p:nvSpPr>
          <p:cNvPr id="8" name="Text 5"/>
          <p:cNvSpPr txBox="1"/>
          <p:nvPr/>
        </p:nvSpPr>
        <p:spPr>
          <a:xfrm>
            <a:off x="1005840" y="2057400"/>
            <a:ext cx="10177272" cy="1005840"/>
          </a:xfrm>
          <a:prstGeom prst="rect">
            <a:avLst/>
          </a:prstGeom>
          <a:noFill/>
          <a:ln/>
        </p:spPr>
        <p:txBody>
          <a:bodyPr wrap="square" lIns="0" tIns="0" rIns="0" bIns="0" rtlCol="0" anchor="t"/>
          <a:lstStyle/>
          <a:p>
            <a:pPr indent="0" marL="0">
              <a:buNone/>
            </a:pPr>
            <a:r>
              <a:rPr lang="en-US" sz="2800" b="1" dirty="0">
                <a:solidFill>
                  <a:srgbClr val="8A6D00"/>
                </a:solidFill>
                <a:latin typeface="Calibri" pitchFamily="34" charset="0"/>
                <a:ea typeface="Calibri" pitchFamily="34" charset="-122"/>
                <a:cs typeface="Calibri" pitchFamily="34" charset="-120"/>
              </a:rPr>
              <a:t>Potencia instalada no es energía generada.</a:t>
            </a:r>
            <a:endParaRPr lang="en-US" sz="2800" dirty="0"/>
          </a:p>
        </p:txBody>
      </p:sp>
      <p:sp>
        <p:nvSpPr>
          <p:cNvPr id="9" name="Text 6"/>
          <p:cNvSpPr txBox="1"/>
          <p:nvPr/>
        </p:nvSpPr>
        <p:spPr>
          <a:xfrm>
            <a:off x="1005840" y="3154680"/>
            <a:ext cx="10177272" cy="914400"/>
          </a:xfrm>
          <a:prstGeom prst="rect">
            <a:avLst/>
          </a:prstGeom>
          <a:noFill/>
          <a:ln/>
        </p:spPr>
        <p:txBody>
          <a:bodyPr wrap="square" lIns="0" tIns="0" rIns="0" bIns="0" rtlCol="0" anchor="t"/>
          <a:lstStyle/>
          <a:p>
            <a:pPr indent="0" marL="0">
              <a:buNone/>
            </a:pPr>
            <a:r>
              <a:rPr lang="en-US" sz="2200" dirty="0">
                <a:solidFill>
                  <a:srgbClr val="202124"/>
                </a:solidFill>
                <a:latin typeface="Calibri" pitchFamily="34" charset="0"/>
                <a:ea typeface="Calibri" pitchFamily="34" charset="-122"/>
                <a:cs typeface="Calibri" pitchFamily="34" charset="-120"/>
              </a:rPr>
              <a:t>En este parque inventado la solar es segunda en potencia y quinta en energía, porque de noche no genera.</a:t>
            </a:r>
            <a:endParaRPr lang="en-US" sz="2200" dirty="0"/>
          </a:p>
        </p:txBody>
      </p:sp>
      <p:sp>
        <p:nvSpPr>
          <p:cNvPr id="10"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1" name="Shape 8"/>
          <p:cNvSpPr/>
          <p:nvPr/>
        </p:nvSpPr>
        <p:spPr>
          <a:xfrm>
            <a:off x="548640" y="6062472"/>
            <a:ext cx="1426464" cy="566928"/>
          </a:xfrm>
          <a:prstGeom prst="roundRect">
            <a:avLst>
              <a:gd name="adj" fmla="val 11290"/>
            </a:avLst>
          </a:prstGeom>
          <a:solidFill>
            <a:srgbClr val="E8F0FE"/>
          </a:solidFill>
          <a:ln w="28575">
            <a:solidFill>
              <a:srgbClr val="1A73E8"/>
            </a:solidFill>
            <a:prstDash val="solid"/>
          </a:ln>
        </p:spPr>
      </p:sp>
      <p:sp>
        <p:nvSpPr>
          <p:cNvPr id="12" name="Text 9"/>
          <p:cNvSpPr txBox="1"/>
          <p:nvPr/>
        </p:nvSpPr>
        <p:spPr>
          <a:xfrm>
            <a:off x="640080" y="6071616"/>
            <a:ext cx="1289304"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centrales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20 × 5</a:t>
            </a:r>
            <a:endParaRPr lang="en-US" sz="1200" dirty="0"/>
          </a:p>
        </p:txBody>
      </p:sp>
      <p:sp>
        <p:nvSpPr>
          <p:cNvPr id="13" name="Shape 10"/>
          <p:cNvSpPr/>
          <p:nvPr/>
        </p:nvSpPr>
        <p:spPr>
          <a:xfrm>
            <a:off x="2112264" y="6062472"/>
            <a:ext cx="1330452" cy="566928"/>
          </a:xfrm>
          <a:prstGeom prst="roundRect">
            <a:avLst>
              <a:gd name="adj" fmla="val 11290"/>
            </a:avLst>
          </a:prstGeom>
          <a:solidFill>
            <a:srgbClr val="FEF3D6"/>
          </a:solidFill>
          <a:ln w="25400">
            <a:solidFill>
              <a:srgbClr val="F9AB00"/>
            </a:solidFill>
            <a:prstDash val="solid"/>
          </a:ln>
        </p:spPr>
      </p:sp>
      <p:sp>
        <p:nvSpPr>
          <p:cNvPr id="14" name="Text 11"/>
          <p:cNvSpPr txBox="1"/>
          <p:nvPr/>
        </p:nvSpPr>
        <p:spPr>
          <a:xfrm>
            <a:off x="2203704"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agrupar_por</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"region"</a:t>
            </a:r>
            <a:endParaRPr lang="en-US" sz="1200" dirty="0"/>
          </a:p>
        </p:txBody>
      </p:sp>
      <p:sp>
        <p:nvSpPr>
          <p:cNvPr id="15" name="Shape 12"/>
          <p:cNvSpPr/>
          <p:nvPr/>
        </p:nvSpPr>
        <p:spPr>
          <a:xfrm>
            <a:off x="3579876" y="6062472"/>
            <a:ext cx="2002536" cy="566928"/>
          </a:xfrm>
          <a:prstGeom prst="roundRect">
            <a:avLst>
              <a:gd name="adj" fmla="val 11290"/>
            </a:avLst>
          </a:prstGeom>
          <a:solidFill>
            <a:srgbClr val="FEF3D6"/>
          </a:solidFill>
          <a:ln w="25400">
            <a:solidFill>
              <a:srgbClr val="F9AB00"/>
            </a:solidFill>
            <a:prstDash val="solid"/>
          </a:ln>
        </p:spPr>
      </p:sp>
      <p:sp>
        <p:nvSpPr>
          <p:cNvPr id="16" name="Text 13"/>
          <p:cNvSpPr txBox="1"/>
          <p:nvPr/>
        </p:nvSpPr>
        <p:spPr>
          <a:xfrm>
            <a:off x="3671316"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resumen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7 valores</a:t>
            </a:r>
            <a:endParaRPr lang="en-US" sz="1200" dirty="0"/>
          </a:p>
        </p:txBody>
      </p:sp>
      <p:sp>
        <p:nvSpPr>
          <p:cNvPr id="17" name="Shape 14"/>
          <p:cNvSpPr/>
          <p:nvPr/>
        </p:nvSpPr>
        <p:spPr>
          <a:xfrm>
            <a:off x="5719572" y="6062472"/>
            <a:ext cx="1143000"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5811012"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unida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52650.0</a:t>
            </a:r>
            <a:endParaRPr lang="en-US" sz="1200" dirty="0"/>
          </a:p>
        </p:txBody>
      </p:sp>
      <p:sp>
        <p:nvSpPr>
          <p:cNvPr id="19" name="Shape 16"/>
          <p:cNvSpPr/>
          <p:nvPr/>
        </p:nvSpPr>
        <p:spPr>
          <a:xfrm>
            <a:off x="6999732" y="6062472"/>
            <a:ext cx="1143000"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7091172"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52650.0</a:t>
            </a:r>
            <a:endParaRPr lang="en-US" sz="1200" dirty="0"/>
          </a:p>
        </p:txBody>
      </p:sp>
      <p:sp>
        <p:nvSpPr>
          <p:cNvPr id="21" name="Shape 18"/>
          <p:cNvSpPr/>
          <p:nvPr/>
        </p:nvSpPr>
        <p:spPr>
          <a:xfrm>
            <a:off x="8279892" y="6062472"/>
            <a:ext cx="1810512" cy="566928"/>
          </a:xfrm>
          <a:prstGeom prst="roundRect">
            <a:avLst>
              <a:gd name="adj" fmla="val 11290"/>
            </a:avLst>
          </a:prstGeom>
          <a:solidFill>
            <a:srgbClr val="F1F3F4"/>
          </a:solidFill>
          <a:ln w="12700">
            <a:solidFill>
              <a:srgbClr val="DADCE0"/>
            </a:solidFill>
            <a:prstDash val="solid"/>
          </a:ln>
        </p:spPr>
      </p:sp>
      <p:sp>
        <p:nvSpPr>
          <p:cNvPr id="22" name="Text 19"/>
          <p:cNvSpPr txBox="1"/>
          <p:nvPr/>
        </p:nvSpPr>
        <p:spPr>
          <a:xfrm>
            <a:off x="8371332"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fichas_repetidas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17 × 5</a:t>
            </a:r>
            <a:endParaRPr lang="en-US" sz="1200" dirty="0"/>
          </a:p>
        </p:txBody>
      </p:sp>
      <p:sp>
        <p:nvSpPr>
          <p:cNvPr id="23" name="Text 20"/>
          <p:cNvSpPr txBox="1"/>
          <p:nvPr/>
        </p:nvSpPr>
        <p:spPr>
          <a:xfrm>
            <a:off x="10227564"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13 más</a:t>
            </a:r>
            <a:endParaRPr lang="en-US" sz="12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3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¿Y si los datos vienen en Excel?</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qué entrega read_excel cuando el archivo trae varias hojas.</a:t>
            </a:r>
            <a:endParaRPr lang="en-US" sz="1400" dirty="0"/>
          </a:p>
        </p:txBody>
      </p:sp>
      <p:pic>
        <p:nvPicPr>
          <p:cNvPr id="6" name="Image 0" descr="../../repo/modulos/../../diag/lab01_estudio3_excel.png">    </p:cNvPr>
          <p:cNvPicPr>
            <a:picLocks noChangeAspect="1"/>
          </p:cNvPicPr>
          <p:nvPr/>
        </p:nvPicPr>
        <p:blipFill>
          <a:blip r:embed="rId1"/>
          <a:stretch>
            <a:fillRect/>
          </a:stretch>
        </p:blipFill>
        <p:spPr>
          <a:xfrm>
            <a:off x="548640" y="1463040"/>
            <a:ext cx="11091672" cy="3828780"/>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4"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3 de 5</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¿Y si los datos vienen en Excel?</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y mira la hoja de notas.</a:t>
            </a:r>
            <a:endParaRPr lang="en-US" sz="1400" dirty="0"/>
          </a:p>
        </p:txBody>
      </p:sp>
      <p:sp>
        <p:nvSpPr>
          <p:cNvPr id="7" name="Shape 4"/>
          <p:cNvSpPr/>
          <p:nvPr/>
        </p:nvSpPr>
        <p:spPr>
          <a:xfrm>
            <a:off x="548640" y="1481328"/>
            <a:ext cx="11091672" cy="1508760"/>
          </a:xfrm>
          <a:prstGeom prst="roundRect">
            <a:avLst>
              <a:gd name="adj" fmla="val 3636"/>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10085832" cy="132588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Estudio 3</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Con sheet_name=None se traen todas las hojas del Excel de una vez.</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hojas = pd.read_excel(DATOS + </a:t>
            </a:r>
            <a:pPr indent="0" marL="0">
              <a:buNone/>
            </a:pPr>
            <a:r>
              <a:rPr lang="en-US" sz="1300" dirty="0">
                <a:solidFill>
                  <a:srgbClr val="A31515"/>
                </a:solidFill>
                <a:latin typeface="Courier New" pitchFamily="34" charset="0"/>
                <a:ea typeface="Courier New" pitchFamily="34" charset="-122"/>
                <a:cs typeface="Courier New" pitchFamily="34" charset="-120"/>
              </a:rPr>
              <a:t>"centrales.xlsx"</a:t>
            </a:r>
            <a:pPr indent="0" marL="0">
              <a:buNone/>
            </a:pPr>
            <a:r>
              <a:rPr lang="en-US" sz="1300" dirty="0">
                <a:solidFill>
                  <a:srgbClr val="202124"/>
                </a:solidFill>
                <a:latin typeface="Courier New" pitchFamily="34" charset="0"/>
                <a:ea typeface="Courier New" pitchFamily="34" charset="-122"/>
                <a:cs typeface="Courier New" pitchFamily="34" charset="-120"/>
              </a:rPr>
              <a:t>, sheet_name=None)</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"Hojas del archivo"</a:t>
            </a:r>
            <a:pPr indent="0" marL="0">
              <a:buNone/>
            </a:pPr>
            <a:r>
              <a:rPr lang="en-US" sz="1300" dirty="0">
                <a:solidFill>
                  <a:srgbClr val="202124"/>
                </a:solidFill>
                <a:latin typeface="Courier New" pitchFamily="34" charset="0"/>
                <a:ea typeface="Courier New" pitchFamily="34" charset="-122"/>
                <a:cs typeface="Courier New" pitchFamily="34" charset="-120"/>
              </a:rPr>
              <a:t>, list(hojas.keys()))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hojas[</a:t>
            </a:r>
            <a:pPr indent="0" marL="0">
              <a:buNone/>
            </a:pPr>
            <a:r>
              <a:rPr lang="en-US" sz="1300" dirty="0">
                <a:solidFill>
                  <a:srgbClr val="A31515"/>
                </a:solidFill>
                <a:latin typeface="Courier New" pitchFamily="34" charset="0"/>
                <a:ea typeface="Courier New" pitchFamily="34" charset="-122"/>
                <a:cs typeface="Courier New" pitchFamily="34" charset="-120"/>
              </a:rPr>
              <a:t>"notas"</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p:txBody>
      </p:sp>
      <p:sp>
        <p:nvSpPr>
          <p:cNvPr id="11" name="Text 8"/>
          <p:cNvSpPr txBox="1"/>
          <p:nvPr/>
        </p:nvSpPr>
        <p:spPr>
          <a:xfrm>
            <a:off x="1325880" y="302666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2" name="Text 9"/>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3" name="Shape 10"/>
          <p:cNvSpPr/>
          <p:nvPr/>
        </p:nvSpPr>
        <p:spPr>
          <a:xfrm>
            <a:off x="548640" y="6062472"/>
            <a:ext cx="2002536" cy="566928"/>
          </a:xfrm>
          <a:prstGeom prst="roundRect">
            <a:avLst>
              <a:gd name="adj" fmla="val 11290"/>
            </a:avLst>
          </a:prstGeom>
          <a:solidFill>
            <a:srgbClr val="F1F3F4"/>
          </a:solidFill>
          <a:ln w="12700">
            <a:solidFill>
              <a:srgbClr val="DADCE0"/>
            </a:solidFill>
            <a:prstDash val="solid"/>
          </a:ln>
        </p:spPr>
      </p:sp>
      <p:sp>
        <p:nvSpPr>
          <p:cNvPr id="14" name="Text 11"/>
          <p:cNvSpPr txBox="1"/>
          <p:nvPr/>
        </p:nvSpPr>
        <p:spPr>
          <a:xfrm>
            <a:off x="640080"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resumen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7 valores</a:t>
            </a:r>
            <a:endParaRPr lang="en-US" sz="1200" dirty="0"/>
          </a:p>
        </p:txBody>
      </p:sp>
      <p:sp>
        <p:nvSpPr>
          <p:cNvPr id="15" name="Shape 12"/>
          <p:cNvSpPr/>
          <p:nvPr/>
        </p:nvSpPr>
        <p:spPr>
          <a:xfrm>
            <a:off x="2688336" y="6062472"/>
            <a:ext cx="1330452" cy="566928"/>
          </a:xfrm>
          <a:prstGeom prst="roundRect">
            <a:avLst>
              <a:gd name="adj" fmla="val 11290"/>
            </a:avLst>
          </a:prstGeom>
          <a:solidFill>
            <a:srgbClr val="F1F3F4"/>
          </a:solidFill>
          <a:ln w="12700">
            <a:solidFill>
              <a:srgbClr val="DADCE0"/>
            </a:solidFill>
            <a:prstDash val="solid"/>
          </a:ln>
        </p:spPr>
      </p:sp>
      <p:sp>
        <p:nvSpPr>
          <p:cNvPr id="16" name="Text 13"/>
          <p:cNvSpPr txBox="1"/>
          <p:nvPr/>
        </p:nvSpPr>
        <p:spPr>
          <a:xfrm>
            <a:off x="2779776"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agrupar_por</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"region"</a:t>
            </a:r>
            <a:endParaRPr lang="en-US" sz="1200" dirty="0"/>
          </a:p>
        </p:txBody>
      </p:sp>
      <p:sp>
        <p:nvSpPr>
          <p:cNvPr id="17" name="Shape 14"/>
          <p:cNvSpPr/>
          <p:nvPr/>
        </p:nvSpPr>
        <p:spPr>
          <a:xfrm>
            <a:off x="4155948" y="6062472"/>
            <a:ext cx="1143000"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4247388"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unida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52650.0</a:t>
            </a:r>
            <a:endParaRPr lang="en-US" sz="1200" dirty="0"/>
          </a:p>
        </p:txBody>
      </p:sp>
      <p:sp>
        <p:nvSpPr>
          <p:cNvPr id="19" name="Shape 16"/>
          <p:cNvSpPr/>
          <p:nvPr/>
        </p:nvSpPr>
        <p:spPr>
          <a:xfrm>
            <a:off x="5436108" y="6062472"/>
            <a:ext cx="1143000"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5527548"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52650.0</a:t>
            </a:r>
            <a:endParaRPr lang="en-US" sz="1200" dirty="0"/>
          </a:p>
        </p:txBody>
      </p:sp>
      <p:sp>
        <p:nvSpPr>
          <p:cNvPr id="21" name="Shape 18"/>
          <p:cNvSpPr/>
          <p:nvPr/>
        </p:nvSpPr>
        <p:spPr>
          <a:xfrm>
            <a:off x="6716268" y="6062472"/>
            <a:ext cx="1810512" cy="566928"/>
          </a:xfrm>
          <a:prstGeom prst="roundRect">
            <a:avLst>
              <a:gd name="adj" fmla="val 11290"/>
            </a:avLst>
          </a:prstGeom>
          <a:solidFill>
            <a:srgbClr val="F1F3F4"/>
          </a:solidFill>
          <a:ln w="12700">
            <a:solidFill>
              <a:srgbClr val="DADCE0"/>
            </a:solidFill>
            <a:prstDash val="solid"/>
          </a:ln>
        </p:spPr>
      </p:sp>
      <p:sp>
        <p:nvSpPr>
          <p:cNvPr id="22" name="Text 19"/>
          <p:cNvSpPr txBox="1"/>
          <p:nvPr/>
        </p:nvSpPr>
        <p:spPr>
          <a:xfrm>
            <a:off x="6807708"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fichas_repetidas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17 × 5</a:t>
            </a:r>
            <a:endParaRPr lang="en-US" sz="1200" dirty="0"/>
          </a:p>
        </p:txBody>
      </p:sp>
      <p:sp>
        <p:nvSpPr>
          <p:cNvPr id="23" name="Shape 20"/>
          <p:cNvSpPr/>
          <p:nvPr/>
        </p:nvSpPr>
        <p:spPr>
          <a:xfrm>
            <a:off x="8663940" y="6062472"/>
            <a:ext cx="1810512" cy="566928"/>
          </a:xfrm>
          <a:prstGeom prst="roundRect">
            <a:avLst>
              <a:gd name="adj" fmla="val 11290"/>
            </a:avLst>
          </a:prstGeom>
          <a:solidFill>
            <a:srgbClr val="F1F3F4"/>
          </a:solidFill>
          <a:ln w="12700">
            <a:solidFill>
              <a:srgbClr val="DADCE0"/>
            </a:solidFill>
            <a:prstDash val="solid"/>
          </a:ln>
        </p:spPr>
      </p:sp>
      <p:sp>
        <p:nvSpPr>
          <p:cNvPr id="24" name="Text 21"/>
          <p:cNvSpPr txBox="1"/>
          <p:nvPr/>
        </p:nvSpPr>
        <p:spPr>
          <a:xfrm>
            <a:off x="8755380"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quitar_repetidas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True</a:t>
            </a:r>
            <a:endParaRPr lang="en-US" sz="1200" dirty="0"/>
          </a:p>
        </p:txBody>
      </p:sp>
      <p:sp>
        <p:nvSpPr>
          <p:cNvPr id="25" name="Text 22"/>
          <p:cNvSpPr txBox="1"/>
          <p:nvPr/>
        </p:nvSpPr>
        <p:spPr>
          <a:xfrm>
            <a:off x="10611612"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13 más</a:t>
            </a:r>
            <a:endParaRPr lang="en-US" sz="12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3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¿Y si los datos vienen en Excel?</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hojas = pd.read_excel(DATOS + </a:t>
            </a:r>
            <a:pPr indent="0" marL="0">
              <a:buNone/>
            </a:pPr>
            <a:r>
              <a:rPr lang="en-US" sz="1600" dirty="0">
                <a:solidFill>
                  <a:srgbClr val="A31515"/>
                </a:solidFill>
                <a:latin typeface="Courier New" pitchFamily="34" charset="0"/>
                <a:ea typeface="Courier New" pitchFamily="34" charset="-122"/>
                <a:cs typeface="Courier New" pitchFamily="34" charset="-120"/>
              </a:rPr>
              <a:t>"centrales.xlsx"</a:t>
            </a:r>
            <a:pPr indent="0" marL="0">
              <a:buNone/>
            </a:pPr>
            <a:r>
              <a:rPr lang="en-US" sz="1600" dirty="0">
                <a:solidFill>
                  <a:srgbClr val="202124"/>
                </a:solidFill>
                <a:latin typeface="Courier New" pitchFamily="34" charset="0"/>
                <a:ea typeface="Courier New" pitchFamily="34" charset="-122"/>
                <a:cs typeface="Courier New" pitchFamily="34" charset="-120"/>
              </a:rPr>
              <a:t>, sheet_name=None)</a:t>
            </a:r>
            <a:endParaRPr lang="en-US" sz="1600" dirty="0"/>
          </a:p>
        </p:txBody>
      </p:sp>
      <p:sp>
        <p:nvSpPr>
          <p:cNvPr id="8" name="Shape 6"/>
          <p:cNvSpPr/>
          <p:nvPr/>
        </p:nvSpPr>
        <p:spPr>
          <a:xfrm>
            <a:off x="548640" y="2320544"/>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2054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530352"/>
          </a:xfrm>
          <a:prstGeom prst="roundRect">
            <a:avLst>
              <a:gd name="adj" fmla="val 8621"/>
            </a:avLst>
          </a:prstGeom>
          <a:solidFill>
            <a:srgbClr val="DBE9FB"/>
          </a:solidFill>
          <a:ln w="12700">
            <a:solidFill>
              <a:srgbClr val="DBE9FB"/>
            </a:solidFill>
            <a:prstDash val="solid"/>
          </a:ln>
        </p:spPr>
      </p:sp>
      <p:sp>
        <p:nvSpPr>
          <p:cNvPr id="11" name="Text 9"/>
          <p:cNvSpPr txBox="1"/>
          <p:nvPr/>
        </p:nvSpPr>
        <p:spPr>
          <a:xfrm>
            <a:off x="1170432" y="221996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pd.read_excel( ... )</a:t>
            </a:r>
            <a:endParaRPr lang="en-US" sz="1400" dirty="0"/>
          </a:p>
        </p:txBody>
      </p:sp>
      <p:sp>
        <p:nvSpPr>
          <p:cNvPr id="12" name="Text 10"/>
          <p:cNvSpPr txBox="1"/>
          <p:nvPr/>
        </p:nvSpPr>
        <p:spPr>
          <a:xfrm>
            <a:off x="6263640" y="221996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Lee un archivo Excel, igual que read_csv lee un CSV.</a:t>
            </a:r>
            <a:endParaRPr lang="en-US" sz="1600" dirty="0"/>
          </a:p>
        </p:txBody>
      </p:sp>
      <p:sp>
        <p:nvSpPr>
          <p:cNvPr id="13" name="Shape 11"/>
          <p:cNvSpPr/>
          <p:nvPr/>
        </p:nvSpPr>
        <p:spPr>
          <a:xfrm>
            <a:off x="548640" y="2997200"/>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2997200"/>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841752"/>
            <a:ext cx="4937760" cy="640080"/>
          </a:xfrm>
          <a:prstGeom prst="roundRect">
            <a:avLst>
              <a:gd name="adj" fmla="val 7143"/>
            </a:avLst>
          </a:prstGeom>
          <a:solidFill>
            <a:srgbClr val="DCEFE0"/>
          </a:solidFill>
          <a:ln w="12700">
            <a:solidFill>
              <a:srgbClr val="DCEFE0"/>
            </a:solidFill>
            <a:prstDash val="solid"/>
          </a:ln>
        </p:spPr>
      </p:sp>
      <p:sp>
        <p:nvSpPr>
          <p:cNvPr id="16" name="Text 14"/>
          <p:cNvSpPr txBox="1"/>
          <p:nvPr/>
        </p:nvSpPr>
        <p:spPr>
          <a:xfrm>
            <a:off x="1170432" y="2841752"/>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sheet_name=None</a:t>
            </a:r>
            <a:endParaRPr lang="en-US" sz="1400" dirty="0"/>
          </a:p>
        </p:txBody>
      </p:sp>
      <p:sp>
        <p:nvSpPr>
          <p:cNvPr id="17" name="Text 15"/>
          <p:cNvSpPr txBox="1"/>
          <p:nvPr/>
        </p:nvSpPr>
        <p:spPr>
          <a:xfrm>
            <a:off x="6263640" y="2841752"/>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Trae todas las hojas. Sin esto se lee solo la primera.</a:t>
            </a:r>
            <a:endParaRPr lang="en-US" sz="1600" dirty="0"/>
          </a:p>
        </p:txBody>
      </p:sp>
      <p:sp>
        <p:nvSpPr>
          <p:cNvPr id="18" name="Shape 16"/>
          <p:cNvSpPr/>
          <p:nvPr/>
        </p:nvSpPr>
        <p:spPr>
          <a:xfrm>
            <a:off x="548640" y="3673856"/>
            <a:ext cx="329184" cy="329184"/>
          </a:xfrm>
          <a:prstGeom prst="ellipse">
            <a:avLst/>
          </a:prstGeom>
          <a:solidFill>
            <a:srgbClr val="B07D00"/>
          </a:solidFill>
          <a:ln w="12700">
            <a:solidFill>
              <a:srgbClr val="B07D00"/>
            </a:solidFill>
            <a:prstDash val="solid"/>
          </a:ln>
        </p:spPr>
      </p:sp>
      <p:sp>
        <p:nvSpPr>
          <p:cNvPr id="19" name="Text 17"/>
          <p:cNvSpPr txBox="1"/>
          <p:nvPr/>
        </p:nvSpPr>
        <p:spPr>
          <a:xfrm>
            <a:off x="548640" y="367385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573272"/>
            <a:ext cx="4937760" cy="530352"/>
          </a:xfrm>
          <a:prstGeom prst="roundRect">
            <a:avLst>
              <a:gd name="adj" fmla="val 8621"/>
            </a:avLst>
          </a:prstGeom>
          <a:solidFill>
            <a:srgbClr val="FDF0C8"/>
          </a:solidFill>
          <a:ln w="12700">
            <a:solidFill>
              <a:srgbClr val="FDF0C8"/>
            </a:solidFill>
            <a:prstDash val="solid"/>
          </a:ln>
        </p:spPr>
      </p:sp>
      <p:sp>
        <p:nvSpPr>
          <p:cNvPr id="21" name="Text 19"/>
          <p:cNvSpPr txBox="1"/>
          <p:nvPr/>
        </p:nvSpPr>
        <p:spPr>
          <a:xfrm>
            <a:off x="1170432" y="3573272"/>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hojas =</a:t>
            </a:r>
            <a:endParaRPr lang="en-US" sz="1400" dirty="0"/>
          </a:p>
        </p:txBody>
      </p:sp>
      <p:sp>
        <p:nvSpPr>
          <p:cNvPr id="22" name="Text 20"/>
          <p:cNvSpPr txBox="1"/>
          <p:nvPr/>
        </p:nvSpPr>
        <p:spPr>
          <a:xfrm>
            <a:off x="6263640" y="3573272"/>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Guarda las hojas juntas, cada una con su nombre.</a:t>
            </a:r>
            <a:endParaRPr lang="en-US" sz="1600" dirty="0"/>
          </a:p>
        </p:txBody>
      </p:sp>
      <p:sp>
        <p:nvSpPr>
          <p:cNvPr id="23" name="Shape 21"/>
          <p:cNvSpPr/>
          <p:nvPr/>
        </p:nvSpPr>
        <p:spPr>
          <a:xfrm>
            <a:off x="548640" y="5989320"/>
            <a:ext cx="73152" cy="548640"/>
          </a:xfrm>
          <a:prstGeom prst="rect">
            <a:avLst/>
          </a:prstGeom>
          <a:solidFill>
            <a:srgbClr val="0B3D62"/>
          </a:solidFill>
          <a:ln w="12700">
            <a:solidFill>
              <a:srgbClr val="0B3D62"/>
            </a:solidFill>
            <a:prstDash val="solid"/>
          </a:ln>
        </p:spPr>
      </p:sp>
      <p:sp>
        <p:nvSpPr>
          <p:cNvPr id="24" name="Text 22"/>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lee todas las hojas de centrales.xlsx y guárdalas en hojas, cada una por su nombre.</a:t>
            </a:r>
            <a:endParaRPr lang="en-US" sz="15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3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¿Y si los datos vienen en Excel?</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hojas[</a:t>
            </a:r>
            <a:pPr indent="0" marL="0">
              <a:buNone/>
            </a:pPr>
            <a:r>
              <a:rPr lang="en-US" sz="1600" dirty="0">
                <a:solidFill>
                  <a:srgbClr val="A31515"/>
                </a:solidFill>
                <a:latin typeface="Courier New" pitchFamily="34" charset="0"/>
                <a:ea typeface="Courier New" pitchFamily="34" charset="-122"/>
                <a:cs typeface="Courier New" pitchFamily="34" charset="-120"/>
              </a:rPr>
              <a:t>"notas"</a:t>
            </a:r>
            <a:pPr indent="0" marL="0">
              <a:buNone/>
            </a:pPr>
            <a:r>
              <a:rPr lang="en-US" sz="1600" dirty="0">
                <a:solidFill>
                  <a:srgbClr val="202124"/>
                </a:solidFill>
                <a:latin typeface="Courier New" pitchFamily="34" charset="0"/>
                <a:ea typeface="Courier New" pitchFamily="34" charset="-122"/>
                <a:cs typeface="Courier New" pitchFamily="34" charset="-120"/>
              </a:rPr>
              <a:t>]</a:t>
            </a:r>
            <a:endParaRPr lang="en-US" sz="1600" dirty="0"/>
          </a:p>
        </p:txBody>
      </p:sp>
      <p:sp>
        <p:nvSpPr>
          <p:cNvPr id="8" name="Shape 6"/>
          <p:cNvSpPr/>
          <p:nvPr/>
        </p:nvSpPr>
        <p:spPr>
          <a:xfrm>
            <a:off x="548640" y="2375408"/>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7540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640080"/>
          </a:xfrm>
          <a:prstGeom prst="roundRect">
            <a:avLst>
              <a:gd name="adj" fmla="val 7143"/>
            </a:avLst>
          </a:prstGeom>
          <a:solidFill>
            <a:srgbClr val="DBE9FB"/>
          </a:solidFill>
          <a:ln w="12700">
            <a:solidFill>
              <a:srgbClr val="DBE9FB"/>
            </a:solidFill>
            <a:prstDash val="solid"/>
          </a:ln>
        </p:spPr>
      </p:sp>
      <p:sp>
        <p:nvSpPr>
          <p:cNvPr id="11" name="Text 9"/>
          <p:cNvSpPr txBox="1"/>
          <p:nvPr/>
        </p:nvSpPr>
        <p:spPr>
          <a:xfrm>
            <a:off x="1170432" y="2219960"/>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hojas[ ... ]</a:t>
            </a:r>
            <a:endParaRPr lang="en-US" sz="1400" dirty="0"/>
          </a:p>
        </p:txBody>
      </p:sp>
      <p:sp>
        <p:nvSpPr>
          <p:cNvPr id="12" name="Text 10"/>
          <p:cNvSpPr txBox="1"/>
          <p:nvPr/>
        </p:nvSpPr>
        <p:spPr>
          <a:xfrm>
            <a:off x="6263640" y="2219960"/>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Pide una de las tablas por su nombre, como se pide una columna.</a:t>
            </a:r>
            <a:endParaRPr lang="en-US" sz="1600" dirty="0"/>
          </a:p>
        </p:txBody>
      </p:sp>
      <p:sp>
        <p:nvSpPr>
          <p:cNvPr id="13" name="Shape 11"/>
          <p:cNvSpPr/>
          <p:nvPr/>
        </p:nvSpPr>
        <p:spPr>
          <a:xfrm>
            <a:off x="548640" y="3106928"/>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31069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951480"/>
            <a:ext cx="4937760" cy="640080"/>
          </a:xfrm>
          <a:prstGeom prst="roundRect">
            <a:avLst>
              <a:gd name="adj" fmla="val 7143"/>
            </a:avLst>
          </a:prstGeom>
          <a:solidFill>
            <a:srgbClr val="DCEFE0"/>
          </a:solidFill>
          <a:ln w="12700">
            <a:solidFill>
              <a:srgbClr val="DCEFE0"/>
            </a:solidFill>
            <a:prstDash val="solid"/>
          </a:ln>
        </p:spPr>
      </p:sp>
      <p:sp>
        <p:nvSpPr>
          <p:cNvPr id="16" name="Text 14"/>
          <p:cNvSpPr txBox="1"/>
          <p:nvPr/>
        </p:nvSpPr>
        <p:spPr>
          <a:xfrm>
            <a:off x="1170432" y="2951480"/>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"notas"</a:t>
            </a:r>
            <a:endParaRPr lang="en-US" sz="1400" dirty="0"/>
          </a:p>
        </p:txBody>
      </p:sp>
      <p:sp>
        <p:nvSpPr>
          <p:cNvPr id="17" name="Text 15"/>
          <p:cNvSpPr txBox="1"/>
          <p:nvPr/>
        </p:nvSpPr>
        <p:spPr>
          <a:xfrm>
            <a:off x="6263640" y="2951480"/>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El nombre de la hoja, tal como aparece en la pestaña del Excel.</a:t>
            </a:r>
            <a:endParaRPr lang="en-US" sz="1600" dirty="0"/>
          </a:p>
        </p:txBody>
      </p:sp>
      <p:sp>
        <p:nvSpPr>
          <p:cNvPr id="18" name="Shape 16"/>
          <p:cNvSpPr/>
          <p:nvPr/>
        </p:nvSpPr>
        <p:spPr>
          <a:xfrm>
            <a:off x="548640" y="5989320"/>
            <a:ext cx="73152" cy="548640"/>
          </a:xfrm>
          <a:prstGeom prst="rect">
            <a:avLst/>
          </a:prstGeom>
          <a:solidFill>
            <a:srgbClr val="0B3D62"/>
          </a:solidFill>
          <a:ln w="12700">
            <a:solidFill>
              <a:srgbClr val="0B3D62"/>
            </a:solidFill>
            <a:prstDash val="solid"/>
          </a:ln>
        </p:spPr>
      </p:sp>
      <p:sp>
        <p:nvSpPr>
          <p:cNvPr id="19" name="Text 17"/>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muestra la tabla de la hoja notas.</a:t>
            </a:r>
            <a:endParaRPr lang="en-US" sz="15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3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¿Y si los datos vienen en Excel?</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 y mira la hoja de notas.</a:t>
            </a:r>
            <a:endParaRPr lang="en-US" sz="1400" dirty="0"/>
          </a:p>
        </p:txBody>
      </p:sp>
      <p:sp>
        <p:nvSpPr>
          <p:cNvPr id="6" name="Shape 4"/>
          <p:cNvSpPr/>
          <p:nvPr/>
        </p:nvSpPr>
        <p:spPr>
          <a:xfrm>
            <a:off x="548640" y="1481328"/>
            <a:ext cx="11091672" cy="1508760"/>
          </a:xfrm>
          <a:prstGeom prst="roundRect">
            <a:avLst>
              <a:gd name="adj" fmla="val 3636"/>
            </a:avLst>
          </a:prstGeom>
          <a:solidFill>
            <a:srgbClr val="F8F9FA"/>
          </a:solidFill>
          <a:ln w="12700">
            <a:solidFill>
              <a:srgbClr val="DADCE0"/>
            </a:solidFill>
            <a:prstDash val="solid"/>
          </a:ln>
        </p:spPr>
      </p:sp>
      <p:sp>
        <p:nvSpPr>
          <p:cNvPr id="7" name="Shape 5"/>
          <p:cNvSpPr/>
          <p:nvPr/>
        </p:nvSpPr>
        <p:spPr>
          <a:xfrm>
            <a:off x="713232" y="1600200"/>
            <a:ext cx="420624" cy="420624"/>
          </a:xfrm>
          <a:prstGeom prst="ellipse">
            <a:avLst/>
          </a:prstGeom>
          <a:solidFill>
            <a:srgbClr val="E8EAED"/>
          </a:solidFill>
          <a:ln w="12700">
            <a:solidFill>
              <a:srgbClr val="E8EAED"/>
            </a:solidFill>
            <a:prstDash val="solid"/>
          </a:ln>
        </p:spPr>
      </p:sp>
      <p:sp>
        <p:nvSpPr>
          <p:cNvPr id="8" name="Shape 6"/>
          <p:cNvSpPr/>
          <p:nvPr/>
        </p:nvSpPr>
        <p:spPr>
          <a:xfrm rot="5400000">
            <a:off x="850392" y="1719072"/>
            <a:ext cx="182880" cy="182880"/>
          </a:xfrm>
          <a:prstGeom prst="triangle">
            <a:avLst/>
          </a:prstGeom>
          <a:solidFill>
            <a:srgbClr val="5F6368"/>
          </a:solidFill>
          <a:ln w="12700">
            <a:solidFill>
              <a:srgbClr val="5F6368"/>
            </a:solidFill>
            <a:prstDash val="solid"/>
          </a:ln>
        </p:spPr>
      </p:sp>
      <p:sp>
        <p:nvSpPr>
          <p:cNvPr id="9" name="Text 7"/>
          <p:cNvSpPr txBox="1"/>
          <p:nvPr/>
        </p:nvSpPr>
        <p:spPr>
          <a:xfrm>
            <a:off x="1325880" y="1600200"/>
            <a:ext cx="10085832" cy="132588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Estudio 3</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Con sheet_name=None se traen todas las hojas del Excel de una vez.</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hojas = pd.read_excel(DATOS + </a:t>
            </a:r>
            <a:pPr indent="0" marL="0">
              <a:buNone/>
            </a:pPr>
            <a:r>
              <a:rPr lang="en-US" sz="1300" dirty="0">
                <a:solidFill>
                  <a:srgbClr val="A31515"/>
                </a:solidFill>
                <a:latin typeface="Courier New" pitchFamily="34" charset="0"/>
                <a:ea typeface="Courier New" pitchFamily="34" charset="-122"/>
                <a:cs typeface="Courier New" pitchFamily="34" charset="-120"/>
              </a:rPr>
              <a:t>"centrales.xlsx"</a:t>
            </a:r>
            <a:pPr indent="0" marL="0">
              <a:buNone/>
            </a:pPr>
            <a:r>
              <a:rPr lang="en-US" sz="1300" dirty="0">
                <a:solidFill>
                  <a:srgbClr val="202124"/>
                </a:solidFill>
                <a:latin typeface="Courier New" pitchFamily="34" charset="0"/>
                <a:ea typeface="Courier New" pitchFamily="34" charset="-122"/>
                <a:cs typeface="Courier New" pitchFamily="34" charset="-120"/>
              </a:rPr>
              <a:t>, sheet_name=None)</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"Hojas del archivo"</a:t>
            </a:r>
            <a:pPr indent="0" marL="0">
              <a:buNone/>
            </a:pPr>
            <a:r>
              <a:rPr lang="en-US" sz="1300" dirty="0">
                <a:solidFill>
                  <a:srgbClr val="202124"/>
                </a:solidFill>
                <a:latin typeface="Courier New" pitchFamily="34" charset="0"/>
                <a:ea typeface="Courier New" pitchFamily="34" charset="-122"/>
                <a:cs typeface="Courier New" pitchFamily="34" charset="-120"/>
              </a:rPr>
              <a:t>, list(hojas.keys()))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hojas[</a:t>
            </a:r>
            <a:pPr indent="0" marL="0">
              <a:buNone/>
            </a:pPr>
            <a:r>
              <a:rPr lang="en-US" sz="1300" dirty="0">
                <a:solidFill>
                  <a:srgbClr val="A31515"/>
                </a:solidFill>
                <a:latin typeface="Courier New" pitchFamily="34" charset="0"/>
                <a:ea typeface="Courier New" pitchFamily="34" charset="-122"/>
                <a:cs typeface="Courier New" pitchFamily="34" charset="-120"/>
              </a:rPr>
              <a:t>"notas"</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p:txBody>
      </p:sp>
      <p:sp>
        <p:nvSpPr>
          <p:cNvPr id="10" name="Shape 8"/>
          <p:cNvSpPr/>
          <p:nvPr/>
        </p:nvSpPr>
        <p:spPr>
          <a:xfrm>
            <a:off x="1325880" y="3099816"/>
            <a:ext cx="10314432" cy="384048"/>
          </a:xfrm>
          <a:prstGeom prst="rect">
            <a:avLst/>
          </a:prstGeom>
          <a:solidFill>
            <a:srgbClr val="FFFFFF"/>
          </a:solidFill>
          <a:ln w="12700">
            <a:solidFill>
              <a:srgbClr val="DADCE0"/>
            </a:solidFill>
            <a:prstDash val="solid"/>
          </a:ln>
        </p:spPr>
      </p:sp>
      <p:sp>
        <p:nvSpPr>
          <p:cNvPr id="11" name="Text 9"/>
          <p:cNvSpPr txBox="1"/>
          <p:nvPr/>
        </p:nvSpPr>
        <p:spPr>
          <a:xfrm>
            <a:off x="1463040" y="3172968"/>
            <a:ext cx="10085832" cy="256032"/>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Hojas del archivo ['centrales', 'notas']</a:t>
            </a:r>
            <a:endParaRPr lang="en-US" sz="12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325880" y="3575304"/>
          <a:ext cx="9144000" cy="914400"/>
        </p:xfrm>
        <a:graphic>
          <a:graphicData uri="http://schemas.openxmlformats.org/drawingml/2006/table">
            <a:tbl>
              <a:tblPr/>
              <a:tblGrid>
                <a:gridCol w="365760"/>
                <a:gridCol w="5577840"/>
              </a:tblGrid>
              <a:tr h="237744">
                <a:tc>
                  <a:txBody>
                    <a:bodyPr/>
                    <a:lstStyle/>
                    <a:p>
                      <a:pPr indent="0" marL="0">
                        <a:buNone/>
                      </a:pP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nota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Potencias declaradas al 31 de diciembre de 2024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Las centrales de pasada se informan con su potencia máxima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bl>
          </a:graphicData>
        </a:graphic>
      </p:graphicFrame>
      <p:sp>
        <p:nvSpPr>
          <p:cNvPr id="13" name="Shape 10"/>
          <p:cNvSpPr/>
          <p:nvPr/>
        </p:nvSpPr>
        <p:spPr>
          <a:xfrm>
            <a:off x="1325880" y="4443984"/>
            <a:ext cx="10314432" cy="566928"/>
          </a:xfrm>
          <a:prstGeom prst="roundRect">
            <a:avLst>
              <a:gd name="adj" fmla="val 9677"/>
            </a:avLst>
          </a:prstGeom>
          <a:solidFill>
            <a:srgbClr val="FFF8D6"/>
          </a:solidFill>
          <a:ln w="12700">
            <a:solidFill>
              <a:srgbClr val="FFF8D6"/>
            </a:solidFill>
            <a:prstDash val="solid"/>
          </a:ln>
        </p:spPr>
      </p:sp>
      <p:sp>
        <p:nvSpPr>
          <p:cNvPr id="14" name="Text 11"/>
          <p:cNvSpPr txBox="1"/>
          <p:nvPr/>
        </p:nvSpPr>
        <p:spPr>
          <a:xfrm>
            <a:off x="1508760" y="4443984"/>
            <a:ext cx="9948672" cy="566928"/>
          </a:xfrm>
          <a:prstGeom prst="rect">
            <a:avLst/>
          </a:prstGeom>
          <a:noFill/>
          <a:ln/>
        </p:spPr>
        <p:txBody>
          <a:bodyPr wrap="square" lIns="0" tIns="0" rIns="0" bIns="0" rtlCol="0" anchor="ctr"/>
          <a:lstStyle/>
          <a:p>
            <a:pPr indent="0" marL="0">
              <a:buNone/>
            </a:pPr>
            <a:r>
              <a:rPr lang="en-US" sz="1400" b="1" dirty="0">
                <a:solidFill>
                  <a:srgbClr val="8A6D00"/>
                </a:solidFill>
                <a:latin typeface="Calibri" pitchFamily="34" charset="0"/>
                <a:ea typeface="Calibri" pitchFamily="34" charset="-122"/>
                <a:cs typeface="Calibri" pitchFamily="34" charset="-120"/>
              </a:rPr>
              <a:t>Un Excel con varias hojas entrega varias tablas.  </a:t>
            </a:r>
            <a:pPr indent="0" marL="0">
              <a:buNone/>
            </a:pPr>
            <a:r>
              <a:rPr lang="en-US" sz="1400" dirty="0">
                <a:solidFill>
                  <a:srgbClr val="202124"/>
                </a:solidFill>
                <a:latin typeface="Calibri" pitchFamily="34" charset="0"/>
                <a:ea typeface="Calibri" pitchFamily="34" charset="-122"/>
                <a:cs typeface="Calibri" pitchFamily="34" charset="-120"/>
              </a:rPr>
              <a:t>Cada una se pide por el nombre de su hoja, y todas son tablas como las del CSV.</a:t>
            </a:r>
            <a:endParaRPr lang="en-US" sz="1400" dirty="0"/>
          </a:p>
        </p:txBody>
      </p:sp>
      <p:sp>
        <p:nvSpPr>
          <p:cNvPr id="16" name="Text 12"/>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7" name="Shape 13"/>
          <p:cNvSpPr/>
          <p:nvPr/>
        </p:nvSpPr>
        <p:spPr>
          <a:xfrm>
            <a:off x="548640" y="6062472"/>
            <a:ext cx="2770632" cy="566928"/>
          </a:xfrm>
          <a:prstGeom prst="roundRect">
            <a:avLst>
              <a:gd name="adj" fmla="val 11290"/>
            </a:avLst>
          </a:prstGeom>
          <a:solidFill>
            <a:srgbClr val="E8F0FE"/>
          </a:solidFill>
          <a:ln w="28575">
            <a:solidFill>
              <a:srgbClr val="1A73E8"/>
            </a:solidFill>
            <a:prstDash val="solid"/>
          </a:ln>
        </p:spPr>
      </p:sp>
      <p:sp>
        <p:nvSpPr>
          <p:cNvPr id="18" name="Text 14"/>
          <p:cNvSpPr txBox="1"/>
          <p:nvPr/>
        </p:nvSpPr>
        <p:spPr>
          <a:xfrm>
            <a:off x="640080"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
        <p:nvSpPr>
          <p:cNvPr id="19" name="Shape 15"/>
          <p:cNvSpPr/>
          <p:nvPr/>
        </p:nvSpPr>
        <p:spPr>
          <a:xfrm>
            <a:off x="3456432" y="6062472"/>
            <a:ext cx="1143000" cy="566928"/>
          </a:xfrm>
          <a:prstGeom prst="roundRect">
            <a:avLst>
              <a:gd name="adj" fmla="val 11290"/>
            </a:avLst>
          </a:prstGeom>
          <a:solidFill>
            <a:srgbClr val="E8F0FE"/>
          </a:solidFill>
          <a:ln w="28575">
            <a:solidFill>
              <a:srgbClr val="1A73E8"/>
            </a:solidFill>
            <a:prstDash val="solid"/>
          </a:ln>
        </p:spPr>
      </p:sp>
      <p:sp>
        <p:nvSpPr>
          <p:cNvPr id="20" name="Text 16"/>
          <p:cNvSpPr txBox="1"/>
          <p:nvPr/>
        </p:nvSpPr>
        <p:spPr>
          <a:xfrm>
            <a:off x="3547872"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21" name="Shape 17"/>
          <p:cNvSpPr/>
          <p:nvPr/>
        </p:nvSpPr>
        <p:spPr>
          <a:xfrm>
            <a:off x="4736592" y="6062472"/>
            <a:ext cx="1143000" cy="566928"/>
          </a:xfrm>
          <a:prstGeom prst="roundRect">
            <a:avLst>
              <a:gd name="adj" fmla="val 11290"/>
            </a:avLst>
          </a:prstGeom>
          <a:solidFill>
            <a:srgbClr val="FEF3D6"/>
          </a:solidFill>
          <a:ln w="25400">
            <a:solidFill>
              <a:srgbClr val="F9AB00"/>
            </a:solidFill>
            <a:prstDash val="solid"/>
          </a:ln>
        </p:spPr>
      </p:sp>
      <p:sp>
        <p:nvSpPr>
          <p:cNvPr id="22" name="Text 18"/>
          <p:cNvSpPr txBox="1"/>
          <p:nvPr/>
        </p:nvSpPr>
        <p:spPr>
          <a:xfrm>
            <a:off x="4828032"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hojas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2 tablas</a:t>
            </a:r>
            <a:endParaRPr lang="en-US" sz="1200" dirty="0"/>
          </a:p>
        </p:txBody>
      </p:sp>
      <p:sp>
        <p:nvSpPr>
          <p:cNvPr id="23" name="Shape 19"/>
          <p:cNvSpPr/>
          <p:nvPr/>
        </p:nvSpPr>
        <p:spPr>
          <a:xfrm>
            <a:off x="6016752" y="6062472"/>
            <a:ext cx="2002536" cy="566928"/>
          </a:xfrm>
          <a:prstGeom prst="roundRect">
            <a:avLst>
              <a:gd name="adj" fmla="val 11290"/>
            </a:avLst>
          </a:prstGeom>
          <a:solidFill>
            <a:srgbClr val="F1F3F4"/>
          </a:solidFill>
          <a:ln w="12700">
            <a:solidFill>
              <a:srgbClr val="DADCE0"/>
            </a:solidFill>
            <a:prstDash val="solid"/>
          </a:ln>
        </p:spPr>
      </p:sp>
      <p:sp>
        <p:nvSpPr>
          <p:cNvPr id="24" name="Text 20"/>
          <p:cNvSpPr txBox="1"/>
          <p:nvPr/>
        </p:nvSpPr>
        <p:spPr>
          <a:xfrm>
            <a:off x="6108192"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resumen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7 valores</a:t>
            </a:r>
            <a:endParaRPr lang="en-US" sz="1200" dirty="0"/>
          </a:p>
        </p:txBody>
      </p:sp>
      <p:sp>
        <p:nvSpPr>
          <p:cNvPr id="25" name="Shape 21"/>
          <p:cNvSpPr/>
          <p:nvPr/>
        </p:nvSpPr>
        <p:spPr>
          <a:xfrm>
            <a:off x="8156448" y="6062472"/>
            <a:ext cx="1330452" cy="566928"/>
          </a:xfrm>
          <a:prstGeom prst="roundRect">
            <a:avLst>
              <a:gd name="adj" fmla="val 11290"/>
            </a:avLst>
          </a:prstGeom>
          <a:solidFill>
            <a:srgbClr val="F1F3F4"/>
          </a:solidFill>
          <a:ln w="12700">
            <a:solidFill>
              <a:srgbClr val="DADCE0"/>
            </a:solidFill>
            <a:prstDash val="solid"/>
          </a:ln>
        </p:spPr>
      </p:sp>
      <p:sp>
        <p:nvSpPr>
          <p:cNvPr id="26" name="Text 22"/>
          <p:cNvSpPr txBox="1"/>
          <p:nvPr/>
        </p:nvSpPr>
        <p:spPr>
          <a:xfrm>
            <a:off x="8247888"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agrupar_por</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"region"</a:t>
            </a:r>
            <a:endParaRPr lang="en-US" sz="1200" dirty="0"/>
          </a:p>
        </p:txBody>
      </p:sp>
      <p:sp>
        <p:nvSpPr>
          <p:cNvPr id="27" name="Text 23"/>
          <p:cNvSpPr txBox="1"/>
          <p:nvPr/>
        </p:nvSpPr>
        <p:spPr>
          <a:xfrm>
            <a:off x="9624060"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15 más</a:t>
            </a:r>
            <a:endParaRPr lang="en-US" sz="1200" dirty="0"/>
          </a:p>
        </p:txBody>
      </p:sp>
      <p:sp>
        <p:nvSpPr>
          <p:cNvPr id="28" name="Text 24"/>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Un Excel puede traer varias hojas, y cada una se convierte en una tabla.</a:t>
            </a:r>
            <a:endParaRPr lang="en-US" sz="13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4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¿Y si vienen de un servicio web?</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qué forma tiene la respuesta del servicio web.</a:t>
            </a:r>
            <a:endParaRPr lang="en-US" sz="1400" dirty="0"/>
          </a:p>
        </p:txBody>
      </p:sp>
      <p:pic>
        <p:nvPicPr>
          <p:cNvPr id="6" name="Image 0" descr="../../repo/modulos/../../diag/lab01_estudio4_json.png">    </p:cNvPr>
          <p:cNvPicPr>
            <a:picLocks noChangeAspect="1"/>
          </p:cNvPicPr>
          <p:nvPr/>
        </p:nvPicPr>
        <p:blipFill>
          <a:blip r:embed="rId1"/>
          <a:stretch>
            <a:fillRect/>
          </a:stretch>
        </p:blipFill>
        <p:spPr>
          <a:xfrm>
            <a:off x="548640" y="1463040"/>
            <a:ext cx="11091672" cy="4097020"/>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4"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4 de 5</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¿Y si vienen de un servicio web?</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a:t>
            </a:r>
            <a:endParaRPr lang="en-US" sz="1400" dirty="0"/>
          </a:p>
        </p:txBody>
      </p:sp>
      <p:sp>
        <p:nvSpPr>
          <p:cNvPr id="7" name="Shape 4"/>
          <p:cNvSpPr/>
          <p:nvPr/>
        </p:nvSpPr>
        <p:spPr>
          <a:xfrm>
            <a:off x="548640" y="1481328"/>
            <a:ext cx="11091672" cy="2125980"/>
          </a:xfrm>
          <a:prstGeom prst="roundRect">
            <a:avLst>
              <a:gd name="adj" fmla="val 2581"/>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10085832" cy="194310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Estudio 4</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Así se lee un servicio web de verdad. Aquí la dirección apunta a un archivo del curso.</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import requests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respuesta = requests.get(DATOS + </a:t>
            </a:r>
            <a:pPr indent="0" marL="0">
              <a:buNone/>
            </a:pPr>
            <a:r>
              <a:rPr lang="en-US" sz="1300" dirty="0">
                <a:solidFill>
                  <a:srgbClr val="A31515"/>
                </a:solidFill>
                <a:latin typeface="Courier New" pitchFamily="34" charset="0"/>
                <a:ea typeface="Courier New" pitchFamily="34" charset="-122"/>
                <a:cs typeface="Courier New" pitchFamily="34" charset="-120"/>
              </a:rPr>
              <a:t>"precios_nudo.json"</a:t>
            </a:r>
            <a:pPr indent="0" marL="0">
              <a:buNone/>
            </a:pPr>
            <a:r>
              <a:rPr lang="en-US" sz="1300" dirty="0">
                <a:solidFill>
                  <a:srgbClr val="202124"/>
                </a:solidFill>
                <a:latin typeface="Courier New" pitchFamily="34" charset="0"/>
                <a:ea typeface="Courier New" pitchFamily="34" charset="-122"/>
                <a:cs typeface="Courier New" pitchFamily="34" charset="-120"/>
              </a:rPr>
              <a:t>).json()</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print(</a:t>
            </a:r>
            <a:pPr indent="0" marL="0">
              <a:buNone/>
            </a:pPr>
            <a:r>
              <a:rPr lang="en-US" sz="1300" dirty="0">
                <a:solidFill>
                  <a:srgbClr val="A31515"/>
                </a:solidFill>
                <a:latin typeface="Courier New" pitchFamily="34" charset="0"/>
                <a:ea typeface="Courier New" pitchFamily="34" charset="-122"/>
                <a:cs typeface="Courier New" pitchFamily="34" charset="-120"/>
              </a:rPr>
              <a:t>"Llaves de la respuesta"</a:t>
            </a:r>
            <a:pPr indent="0" marL="0">
              <a:buNone/>
            </a:pPr>
            <a:r>
              <a:rPr lang="en-US" sz="1300" dirty="0">
                <a:solidFill>
                  <a:srgbClr val="202124"/>
                </a:solidFill>
                <a:latin typeface="Courier New" pitchFamily="34" charset="0"/>
                <a:ea typeface="Courier New" pitchFamily="34" charset="-122"/>
                <a:cs typeface="Courier New" pitchFamily="34" charset="-120"/>
              </a:rPr>
              <a:t>, list(respuesta.keys()))</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json_normalize convierte la lista de registros en una tabla.</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pd.json_normalize(respuesta[</a:t>
            </a:r>
            <a:pPr indent="0" marL="0">
              <a:buNone/>
            </a:pPr>
            <a:r>
              <a:rPr lang="en-US" sz="1300" dirty="0">
                <a:solidFill>
                  <a:srgbClr val="A31515"/>
                </a:solidFill>
                <a:latin typeface="Courier New" pitchFamily="34" charset="0"/>
                <a:ea typeface="Courier New" pitchFamily="34" charset="-122"/>
                <a:cs typeface="Courier New" pitchFamily="34" charset="-120"/>
              </a:rPr>
              <a:t>"datos"</a:t>
            </a:r>
            <a:pPr indent="0" marL="0">
              <a:buNone/>
            </a:pPr>
            <a:r>
              <a:rPr lang="en-US" sz="1300" dirty="0">
                <a:solidFill>
                  <a:srgbClr val="202124"/>
                </a:solidFill>
                <a:latin typeface="Courier New" pitchFamily="34" charset="0"/>
                <a:ea typeface="Courier New" pitchFamily="34" charset="-122"/>
                <a:cs typeface="Courier New" pitchFamily="34" charset="-120"/>
              </a:rPr>
              <a:t>]).head()</a:t>
            </a:r>
            <a:endParaRPr lang="en-US" sz="1300" dirty="0"/>
          </a:p>
        </p:txBody>
      </p:sp>
      <p:sp>
        <p:nvSpPr>
          <p:cNvPr id="11" name="Text 8"/>
          <p:cNvSpPr txBox="1"/>
          <p:nvPr/>
        </p:nvSpPr>
        <p:spPr>
          <a:xfrm>
            <a:off x="1325880" y="364388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2" name="Text 9"/>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3" name="Shape 10"/>
          <p:cNvSpPr/>
          <p:nvPr/>
        </p:nvSpPr>
        <p:spPr>
          <a:xfrm>
            <a:off x="548640" y="6062472"/>
            <a:ext cx="1143000" cy="566928"/>
          </a:xfrm>
          <a:prstGeom prst="roundRect">
            <a:avLst>
              <a:gd name="adj" fmla="val 11290"/>
            </a:avLst>
          </a:prstGeom>
          <a:solidFill>
            <a:srgbClr val="F1F3F4"/>
          </a:solidFill>
          <a:ln w="12700">
            <a:solidFill>
              <a:srgbClr val="DADCE0"/>
            </a:solidFill>
            <a:prstDash val="solid"/>
          </a:ln>
        </p:spPr>
      </p:sp>
      <p:sp>
        <p:nvSpPr>
          <p:cNvPr id="14" name="Text 11"/>
          <p:cNvSpPr txBox="1"/>
          <p:nvPr/>
        </p:nvSpPr>
        <p:spPr>
          <a:xfrm>
            <a:off x="640080"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hojas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2 tablas</a:t>
            </a:r>
            <a:endParaRPr lang="en-US" sz="1200" dirty="0"/>
          </a:p>
        </p:txBody>
      </p:sp>
      <p:sp>
        <p:nvSpPr>
          <p:cNvPr id="15" name="Shape 12"/>
          <p:cNvSpPr/>
          <p:nvPr/>
        </p:nvSpPr>
        <p:spPr>
          <a:xfrm>
            <a:off x="1828800" y="6062472"/>
            <a:ext cx="2002536" cy="566928"/>
          </a:xfrm>
          <a:prstGeom prst="roundRect">
            <a:avLst>
              <a:gd name="adj" fmla="val 11290"/>
            </a:avLst>
          </a:prstGeom>
          <a:solidFill>
            <a:srgbClr val="F1F3F4"/>
          </a:solidFill>
          <a:ln w="12700">
            <a:solidFill>
              <a:srgbClr val="DADCE0"/>
            </a:solidFill>
            <a:prstDash val="solid"/>
          </a:ln>
        </p:spPr>
      </p:sp>
      <p:sp>
        <p:nvSpPr>
          <p:cNvPr id="16" name="Text 13"/>
          <p:cNvSpPr txBox="1"/>
          <p:nvPr/>
        </p:nvSpPr>
        <p:spPr>
          <a:xfrm>
            <a:off x="1920240"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resumen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7 valores</a:t>
            </a:r>
            <a:endParaRPr lang="en-US" sz="1200" dirty="0"/>
          </a:p>
        </p:txBody>
      </p:sp>
      <p:sp>
        <p:nvSpPr>
          <p:cNvPr id="17" name="Shape 14"/>
          <p:cNvSpPr/>
          <p:nvPr/>
        </p:nvSpPr>
        <p:spPr>
          <a:xfrm>
            <a:off x="3968496" y="6062472"/>
            <a:ext cx="1330452"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4059936"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agrupar_por</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"region"</a:t>
            </a:r>
            <a:endParaRPr lang="en-US" sz="1200" dirty="0"/>
          </a:p>
        </p:txBody>
      </p:sp>
      <p:sp>
        <p:nvSpPr>
          <p:cNvPr id="19" name="Shape 16"/>
          <p:cNvSpPr/>
          <p:nvPr/>
        </p:nvSpPr>
        <p:spPr>
          <a:xfrm>
            <a:off x="5436108" y="6062472"/>
            <a:ext cx="1143000"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5527548"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unida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52650.0</a:t>
            </a:r>
            <a:endParaRPr lang="en-US" sz="1200" dirty="0"/>
          </a:p>
        </p:txBody>
      </p:sp>
      <p:sp>
        <p:nvSpPr>
          <p:cNvPr id="21" name="Shape 18"/>
          <p:cNvSpPr/>
          <p:nvPr/>
        </p:nvSpPr>
        <p:spPr>
          <a:xfrm>
            <a:off x="6716268" y="6062472"/>
            <a:ext cx="1143000" cy="566928"/>
          </a:xfrm>
          <a:prstGeom prst="roundRect">
            <a:avLst>
              <a:gd name="adj" fmla="val 11290"/>
            </a:avLst>
          </a:prstGeom>
          <a:solidFill>
            <a:srgbClr val="F1F3F4"/>
          </a:solidFill>
          <a:ln w="12700">
            <a:solidFill>
              <a:srgbClr val="DADCE0"/>
            </a:solidFill>
            <a:prstDash val="solid"/>
          </a:ln>
        </p:spPr>
      </p:sp>
      <p:sp>
        <p:nvSpPr>
          <p:cNvPr id="22" name="Text 19"/>
          <p:cNvSpPr txBox="1"/>
          <p:nvPr/>
        </p:nvSpPr>
        <p:spPr>
          <a:xfrm>
            <a:off x="6807708"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52650.0</a:t>
            </a:r>
            <a:endParaRPr lang="en-US" sz="1200" dirty="0"/>
          </a:p>
        </p:txBody>
      </p:sp>
      <p:sp>
        <p:nvSpPr>
          <p:cNvPr id="23" name="Shape 20"/>
          <p:cNvSpPr/>
          <p:nvPr/>
        </p:nvSpPr>
        <p:spPr>
          <a:xfrm>
            <a:off x="7996428" y="6062472"/>
            <a:ext cx="1810512" cy="566928"/>
          </a:xfrm>
          <a:prstGeom prst="roundRect">
            <a:avLst>
              <a:gd name="adj" fmla="val 11290"/>
            </a:avLst>
          </a:prstGeom>
          <a:solidFill>
            <a:srgbClr val="F1F3F4"/>
          </a:solidFill>
          <a:ln w="12700">
            <a:solidFill>
              <a:srgbClr val="DADCE0"/>
            </a:solidFill>
            <a:prstDash val="solid"/>
          </a:ln>
        </p:spPr>
      </p:sp>
      <p:sp>
        <p:nvSpPr>
          <p:cNvPr id="24" name="Text 21"/>
          <p:cNvSpPr txBox="1"/>
          <p:nvPr/>
        </p:nvSpPr>
        <p:spPr>
          <a:xfrm>
            <a:off x="8087868" y="6071616"/>
            <a:ext cx="167335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fichas_repetidas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tabla 17 × 5</a:t>
            </a:r>
            <a:endParaRPr lang="en-US" sz="1200" dirty="0"/>
          </a:p>
        </p:txBody>
      </p:sp>
      <p:sp>
        <p:nvSpPr>
          <p:cNvPr id="25" name="Text 22"/>
          <p:cNvSpPr txBox="1"/>
          <p:nvPr/>
        </p:nvSpPr>
        <p:spPr>
          <a:xfrm>
            <a:off x="9944100"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14 más</a:t>
            </a:r>
            <a:endParaRPr lang="en-US" sz="12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4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¿Y si vienen de un servicio web?</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respuesta = requests.get(DATOS + </a:t>
            </a:r>
            <a:pPr indent="0" marL="0">
              <a:buNone/>
            </a:pPr>
            <a:r>
              <a:rPr lang="en-US" sz="1600" dirty="0">
                <a:solidFill>
                  <a:srgbClr val="A31515"/>
                </a:solidFill>
                <a:latin typeface="Courier New" pitchFamily="34" charset="0"/>
                <a:ea typeface="Courier New" pitchFamily="34" charset="-122"/>
                <a:cs typeface="Courier New" pitchFamily="34" charset="-120"/>
              </a:rPr>
              <a:t>"precios_nudo.json"</a:t>
            </a:r>
            <a:pPr indent="0" marL="0">
              <a:buNone/>
            </a:pPr>
            <a:r>
              <a:rPr lang="en-US" sz="1600" dirty="0">
                <a:solidFill>
                  <a:srgbClr val="202124"/>
                </a:solidFill>
                <a:latin typeface="Courier New" pitchFamily="34" charset="0"/>
                <a:ea typeface="Courier New" pitchFamily="34" charset="-122"/>
                <a:cs typeface="Courier New" pitchFamily="34" charset="-120"/>
              </a:rPr>
              <a:t>).json()</a:t>
            </a:r>
            <a:endParaRPr lang="en-US" sz="1600" dirty="0"/>
          </a:p>
        </p:txBody>
      </p:sp>
      <p:sp>
        <p:nvSpPr>
          <p:cNvPr id="8" name="Shape 6"/>
          <p:cNvSpPr/>
          <p:nvPr/>
        </p:nvSpPr>
        <p:spPr>
          <a:xfrm>
            <a:off x="548640" y="2375408"/>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7540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640080"/>
          </a:xfrm>
          <a:prstGeom prst="roundRect">
            <a:avLst>
              <a:gd name="adj" fmla="val 7143"/>
            </a:avLst>
          </a:prstGeom>
          <a:solidFill>
            <a:srgbClr val="DBE9FB"/>
          </a:solidFill>
          <a:ln w="12700">
            <a:solidFill>
              <a:srgbClr val="DBE9FB"/>
            </a:solidFill>
            <a:prstDash val="solid"/>
          </a:ln>
        </p:spPr>
      </p:sp>
      <p:sp>
        <p:nvSpPr>
          <p:cNvPr id="11" name="Text 9"/>
          <p:cNvSpPr txBox="1"/>
          <p:nvPr/>
        </p:nvSpPr>
        <p:spPr>
          <a:xfrm>
            <a:off x="1170432" y="2219960"/>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requests.get( ... )</a:t>
            </a:r>
            <a:endParaRPr lang="en-US" sz="1400" dirty="0"/>
          </a:p>
        </p:txBody>
      </p:sp>
      <p:sp>
        <p:nvSpPr>
          <p:cNvPr id="12" name="Text 10"/>
          <p:cNvSpPr txBox="1"/>
          <p:nvPr/>
        </p:nvSpPr>
        <p:spPr>
          <a:xfrm>
            <a:off x="6263640" y="2219960"/>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Pide la dirección a internet, como cuando se abre una página.</a:t>
            </a:r>
            <a:endParaRPr lang="en-US" sz="1600" dirty="0"/>
          </a:p>
        </p:txBody>
      </p:sp>
      <p:sp>
        <p:nvSpPr>
          <p:cNvPr id="13" name="Shape 11"/>
          <p:cNvSpPr/>
          <p:nvPr/>
        </p:nvSpPr>
        <p:spPr>
          <a:xfrm>
            <a:off x="548640" y="3106928"/>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310692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951480"/>
            <a:ext cx="4937760" cy="640080"/>
          </a:xfrm>
          <a:prstGeom prst="roundRect">
            <a:avLst>
              <a:gd name="adj" fmla="val 7143"/>
            </a:avLst>
          </a:prstGeom>
          <a:solidFill>
            <a:srgbClr val="DCEFE0"/>
          </a:solidFill>
          <a:ln w="12700">
            <a:solidFill>
              <a:srgbClr val="DCEFE0"/>
            </a:solidFill>
            <a:prstDash val="solid"/>
          </a:ln>
        </p:spPr>
      </p:sp>
      <p:sp>
        <p:nvSpPr>
          <p:cNvPr id="16" name="Text 14"/>
          <p:cNvSpPr txBox="1"/>
          <p:nvPr/>
        </p:nvSpPr>
        <p:spPr>
          <a:xfrm>
            <a:off x="1170432" y="2951480"/>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.json()</a:t>
            </a:r>
            <a:endParaRPr lang="en-US" sz="1400" dirty="0"/>
          </a:p>
        </p:txBody>
      </p:sp>
      <p:sp>
        <p:nvSpPr>
          <p:cNvPr id="17" name="Text 15"/>
          <p:cNvSpPr txBox="1"/>
          <p:nvPr/>
        </p:nvSpPr>
        <p:spPr>
          <a:xfrm>
            <a:off x="6263640" y="2951480"/>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Convierte la respuesta en datos que Python entiende, con llaves y listas.</a:t>
            </a:r>
            <a:endParaRPr lang="en-US" sz="1600" dirty="0"/>
          </a:p>
        </p:txBody>
      </p:sp>
      <p:sp>
        <p:nvSpPr>
          <p:cNvPr id="18" name="Shape 16"/>
          <p:cNvSpPr/>
          <p:nvPr/>
        </p:nvSpPr>
        <p:spPr>
          <a:xfrm>
            <a:off x="548640" y="3783584"/>
            <a:ext cx="329184" cy="329184"/>
          </a:xfrm>
          <a:prstGeom prst="ellipse">
            <a:avLst/>
          </a:prstGeom>
          <a:solidFill>
            <a:srgbClr val="B07D00"/>
          </a:solidFill>
          <a:ln w="12700">
            <a:solidFill>
              <a:srgbClr val="B07D00"/>
            </a:solidFill>
            <a:prstDash val="solid"/>
          </a:ln>
        </p:spPr>
      </p:sp>
      <p:sp>
        <p:nvSpPr>
          <p:cNvPr id="19" name="Text 17"/>
          <p:cNvSpPr txBox="1"/>
          <p:nvPr/>
        </p:nvSpPr>
        <p:spPr>
          <a:xfrm>
            <a:off x="548640" y="378358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683000"/>
            <a:ext cx="4937760" cy="530352"/>
          </a:xfrm>
          <a:prstGeom prst="roundRect">
            <a:avLst>
              <a:gd name="adj" fmla="val 8621"/>
            </a:avLst>
          </a:prstGeom>
          <a:solidFill>
            <a:srgbClr val="FDF0C8"/>
          </a:solidFill>
          <a:ln w="12700">
            <a:solidFill>
              <a:srgbClr val="FDF0C8"/>
            </a:solidFill>
            <a:prstDash val="solid"/>
          </a:ln>
        </p:spPr>
      </p:sp>
      <p:sp>
        <p:nvSpPr>
          <p:cNvPr id="21" name="Text 19"/>
          <p:cNvSpPr txBox="1"/>
          <p:nvPr/>
        </p:nvSpPr>
        <p:spPr>
          <a:xfrm>
            <a:off x="1170432" y="368300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respuesta =</a:t>
            </a:r>
            <a:endParaRPr lang="en-US" sz="1400" dirty="0"/>
          </a:p>
        </p:txBody>
      </p:sp>
      <p:sp>
        <p:nvSpPr>
          <p:cNvPr id="22" name="Text 20"/>
          <p:cNvSpPr txBox="1"/>
          <p:nvPr/>
        </p:nvSpPr>
        <p:spPr>
          <a:xfrm>
            <a:off x="6263640" y="368300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Guarda lo que llegó.</a:t>
            </a:r>
            <a:endParaRPr lang="en-US" sz="1600" dirty="0"/>
          </a:p>
        </p:txBody>
      </p:sp>
      <p:sp>
        <p:nvSpPr>
          <p:cNvPr id="23" name="Shape 21"/>
          <p:cNvSpPr/>
          <p:nvPr/>
        </p:nvSpPr>
        <p:spPr>
          <a:xfrm>
            <a:off x="548640" y="5989320"/>
            <a:ext cx="73152" cy="548640"/>
          </a:xfrm>
          <a:prstGeom prst="rect">
            <a:avLst/>
          </a:prstGeom>
          <a:solidFill>
            <a:srgbClr val="0B3D62"/>
          </a:solidFill>
          <a:ln w="12700">
            <a:solidFill>
              <a:srgbClr val="0B3D62"/>
            </a:solidFill>
            <a:prstDash val="solid"/>
          </a:ln>
        </p:spPr>
      </p:sp>
      <p:sp>
        <p:nvSpPr>
          <p:cNvPr id="24" name="Text 22"/>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pide los precios a la dirección y guarda la respuesta como datos.</a:t>
            </a:r>
            <a:endParaRPr lang="en-US" sz="15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4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¿Y si vienen de un servicio web?</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482600"/>
          </a:xfrm>
          <a:prstGeom prst="roundRect">
            <a:avLst>
              <a:gd name="adj" fmla="val 11368"/>
            </a:avLst>
          </a:prstGeom>
          <a:solidFill>
            <a:srgbClr val="F8F9FA"/>
          </a:solidFill>
          <a:ln w="12700">
            <a:solidFill>
              <a:srgbClr val="DADCE0"/>
            </a:solidFill>
            <a:prstDash val="solid"/>
          </a:ln>
        </p:spPr>
      </p:sp>
      <p:sp>
        <p:nvSpPr>
          <p:cNvPr id="7" name="Text 5"/>
          <p:cNvSpPr txBox="1"/>
          <p:nvPr/>
        </p:nvSpPr>
        <p:spPr>
          <a:xfrm>
            <a:off x="822960" y="1554480"/>
            <a:ext cx="10634472" cy="345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pd.json_normalize(respuesta[</a:t>
            </a:r>
            <a:pPr indent="0" marL="0">
              <a:buNone/>
            </a:pPr>
            <a:r>
              <a:rPr lang="en-US" sz="1600" dirty="0">
                <a:solidFill>
                  <a:srgbClr val="A31515"/>
                </a:solidFill>
                <a:latin typeface="Courier New" pitchFamily="34" charset="0"/>
                <a:ea typeface="Courier New" pitchFamily="34" charset="-122"/>
                <a:cs typeface="Courier New" pitchFamily="34" charset="-120"/>
              </a:rPr>
              <a:t>"datos"</a:t>
            </a:r>
            <a:pPr indent="0" marL="0">
              <a:buNone/>
            </a:pPr>
            <a:r>
              <a:rPr lang="en-US" sz="1600" dirty="0">
                <a:solidFill>
                  <a:srgbClr val="202124"/>
                </a:solidFill>
                <a:latin typeface="Courier New" pitchFamily="34" charset="0"/>
                <a:ea typeface="Courier New" pitchFamily="34" charset="-122"/>
                <a:cs typeface="Courier New" pitchFamily="34" charset="-120"/>
              </a:rPr>
              <a:t>]).head()</a:t>
            </a:r>
            <a:endParaRPr lang="en-US" sz="1600" dirty="0"/>
          </a:p>
        </p:txBody>
      </p:sp>
      <p:sp>
        <p:nvSpPr>
          <p:cNvPr id="8" name="Shape 6"/>
          <p:cNvSpPr/>
          <p:nvPr/>
        </p:nvSpPr>
        <p:spPr>
          <a:xfrm>
            <a:off x="548640" y="2375408"/>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237540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219960"/>
            <a:ext cx="4937760" cy="640080"/>
          </a:xfrm>
          <a:prstGeom prst="roundRect">
            <a:avLst>
              <a:gd name="adj" fmla="val 7143"/>
            </a:avLst>
          </a:prstGeom>
          <a:solidFill>
            <a:srgbClr val="DBE9FB"/>
          </a:solidFill>
          <a:ln w="12700">
            <a:solidFill>
              <a:srgbClr val="DBE9FB"/>
            </a:solidFill>
            <a:prstDash val="solid"/>
          </a:ln>
        </p:spPr>
      </p:sp>
      <p:sp>
        <p:nvSpPr>
          <p:cNvPr id="11" name="Text 9"/>
          <p:cNvSpPr txBox="1"/>
          <p:nvPr/>
        </p:nvSpPr>
        <p:spPr>
          <a:xfrm>
            <a:off x="1170432" y="2219960"/>
            <a:ext cx="4754880" cy="640080"/>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respuesta["datos"]</a:t>
            </a:r>
            <a:endParaRPr lang="en-US" sz="1400" dirty="0"/>
          </a:p>
        </p:txBody>
      </p:sp>
      <p:sp>
        <p:nvSpPr>
          <p:cNvPr id="12" name="Text 10"/>
          <p:cNvSpPr txBox="1"/>
          <p:nvPr/>
        </p:nvSpPr>
        <p:spPr>
          <a:xfrm>
            <a:off x="6263640" y="2219960"/>
            <a:ext cx="5376672" cy="640080"/>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La respuesta trae dos partes. Con corchetes se toma la parte datos, que es la lista de registros.</a:t>
            </a:r>
            <a:endParaRPr lang="en-US" sz="1600" dirty="0"/>
          </a:p>
        </p:txBody>
      </p:sp>
      <p:sp>
        <p:nvSpPr>
          <p:cNvPr id="13" name="Shape 11"/>
          <p:cNvSpPr/>
          <p:nvPr/>
        </p:nvSpPr>
        <p:spPr>
          <a:xfrm>
            <a:off x="548640" y="3052064"/>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305206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2951480"/>
            <a:ext cx="4937760" cy="530352"/>
          </a:xfrm>
          <a:prstGeom prst="roundRect">
            <a:avLst>
              <a:gd name="adj" fmla="val 8621"/>
            </a:avLst>
          </a:prstGeom>
          <a:solidFill>
            <a:srgbClr val="DCEFE0"/>
          </a:solidFill>
          <a:ln w="12700">
            <a:solidFill>
              <a:srgbClr val="DCEFE0"/>
            </a:solidFill>
            <a:prstDash val="solid"/>
          </a:ln>
        </p:spPr>
      </p:sp>
      <p:sp>
        <p:nvSpPr>
          <p:cNvPr id="16" name="Text 14"/>
          <p:cNvSpPr txBox="1"/>
          <p:nvPr/>
        </p:nvSpPr>
        <p:spPr>
          <a:xfrm>
            <a:off x="1170432" y="2951480"/>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pd.json_normalize( ... )</a:t>
            </a:r>
            <a:endParaRPr lang="en-US" sz="1400" dirty="0"/>
          </a:p>
        </p:txBody>
      </p:sp>
      <p:sp>
        <p:nvSpPr>
          <p:cNvPr id="17" name="Text 15"/>
          <p:cNvSpPr txBox="1"/>
          <p:nvPr/>
        </p:nvSpPr>
        <p:spPr>
          <a:xfrm>
            <a:off x="6263640" y="2951480"/>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Convierte la lista de registros en una tabla.</a:t>
            </a:r>
            <a:endParaRPr lang="en-US" sz="1600" dirty="0"/>
          </a:p>
        </p:txBody>
      </p:sp>
      <p:sp>
        <p:nvSpPr>
          <p:cNvPr id="18" name="Shape 16"/>
          <p:cNvSpPr/>
          <p:nvPr/>
        </p:nvSpPr>
        <p:spPr>
          <a:xfrm>
            <a:off x="548640" y="3673856"/>
            <a:ext cx="329184" cy="329184"/>
          </a:xfrm>
          <a:prstGeom prst="ellipse">
            <a:avLst/>
          </a:prstGeom>
          <a:solidFill>
            <a:srgbClr val="B07D00"/>
          </a:solidFill>
          <a:ln w="12700">
            <a:solidFill>
              <a:srgbClr val="B07D00"/>
            </a:solidFill>
            <a:prstDash val="solid"/>
          </a:ln>
        </p:spPr>
      </p:sp>
      <p:sp>
        <p:nvSpPr>
          <p:cNvPr id="19" name="Text 17"/>
          <p:cNvSpPr txBox="1"/>
          <p:nvPr/>
        </p:nvSpPr>
        <p:spPr>
          <a:xfrm>
            <a:off x="548640" y="367385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3573272"/>
            <a:ext cx="4937760" cy="530352"/>
          </a:xfrm>
          <a:prstGeom prst="roundRect">
            <a:avLst>
              <a:gd name="adj" fmla="val 8621"/>
            </a:avLst>
          </a:prstGeom>
          <a:solidFill>
            <a:srgbClr val="FDF0C8"/>
          </a:solidFill>
          <a:ln w="12700">
            <a:solidFill>
              <a:srgbClr val="FDF0C8"/>
            </a:solidFill>
            <a:prstDash val="solid"/>
          </a:ln>
        </p:spPr>
      </p:sp>
      <p:sp>
        <p:nvSpPr>
          <p:cNvPr id="21" name="Text 19"/>
          <p:cNvSpPr txBox="1"/>
          <p:nvPr/>
        </p:nvSpPr>
        <p:spPr>
          <a:xfrm>
            <a:off x="1170432" y="3573272"/>
            <a:ext cx="4754880" cy="530352"/>
          </a:xfrm>
          <a:prstGeom prst="rect">
            <a:avLst/>
          </a:prstGeom>
          <a:noFill/>
          <a:ln/>
        </p:spPr>
        <p:txBody>
          <a:bodyPr wrap="square" lIns="0" tIns="0" rIns="0" bIns="0" rtlCol="0" anchor="ctr"/>
          <a:lstStyle/>
          <a:p>
            <a:pPr indent="0" marL="0">
              <a:buNone/>
            </a:pPr>
            <a:r>
              <a:rPr lang="en-US" sz="1400" b="1" dirty="0">
                <a:solidFill>
                  <a:srgbClr val="202124"/>
                </a:solidFill>
                <a:latin typeface="Courier New" pitchFamily="34" charset="0"/>
                <a:ea typeface="Courier New" pitchFamily="34" charset="-122"/>
                <a:cs typeface="Courier New" pitchFamily="34" charset="-120"/>
              </a:rPr>
              <a:t>.head()</a:t>
            </a:r>
            <a:endParaRPr lang="en-US" sz="1400" dirty="0"/>
          </a:p>
        </p:txBody>
      </p:sp>
      <p:sp>
        <p:nvSpPr>
          <p:cNvPr id="22" name="Text 20"/>
          <p:cNvSpPr txBox="1"/>
          <p:nvPr/>
        </p:nvSpPr>
        <p:spPr>
          <a:xfrm>
            <a:off x="6263640" y="3573272"/>
            <a:ext cx="5376672" cy="530352"/>
          </a:xfrm>
          <a:prstGeom prst="rect">
            <a:avLst/>
          </a:prstGeom>
          <a:noFill/>
          <a:ln/>
        </p:spPr>
        <p:txBody>
          <a:bodyPr wrap="square" lIns="0" tIns="0" rIns="0" bIns="0" rtlCol="0" anchor="ctr"/>
          <a:lstStyle/>
          <a:p>
            <a:pPr indent="0" marL="0">
              <a:buNone/>
            </a:pPr>
            <a:r>
              <a:rPr lang="en-US" sz="1600" dirty="0">
                <a:solidFill>
                  <a:srgbClr val="202124"/>
                </a:solidFill>
                <a:latin typeface="Calibri" pitchFamily="34" charset="0"/>
                <a:ea typeface="Calibri" pitchFamily="34" charset="-122"/>
                <a:cs typeface="Calibri" pitchFamily="34" charset="-120"/>
              </a:rPr>
              <a:t>Muestra las primeras cinco filas.</a:t>
            </a:r>
            <a:endParaRPr lang="en-US" sz="1600" dirty="0"/>
          </a:p>
        </p:txBody>
      </p:sp>
      <p:sp>
        <p:nvSpPr>
          <p:cNvPr id="23" name="Shape 21"/>
          <p:cNvSpPr/>
          <p:nvPr/>
        </p:nvSpPr>
        <p:spPr>
          <a:xfrm>
            <a:off x="548640" y="5989320"/>
            <a:ext cx="73152" cy="548640"/>
          </a:xfrm>
          <a:prstGeom prst="rect">
            <a:avLst/>
          </a:prstGeom>
          <a:solidFill>
            <a:srgbClr val="0B3D62"/>
          </a:solidFill>
          <a:ln w="12700">
            <a:solidFill>
              <a:srgbClr val="0B3D62"/>
            </a:solidFill>
            <a:prstDash val="solid"/>
          </a:ln>
        </p:spPr>
      </p:sp>
      <p:sp>
        <p:nvSpPr>
          <p:cNvPr id="24" name="Text 22"/>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convierte los registros de la parte datos en una tabla y muestra el comienzo.</a:t>
            </a:r>
            <a:endParaRPr lang="en-US" sz="15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4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¿Y si vienen de un servicio web?</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a:t>
            </a:r>
            <a:endParaRPr lang="en-US" sz="1400" dirty="0"/>
          </a:p>
        </p:txBody>
      </p:sp>
      <p:sp>
        <p:nvSpPr>
          <p:cNvPr id="6" name="Shape 4"/>
          <p:cNvSpPr/>
          <p:nvPr/>
        </p:nvSpPr>
        <p:spPr>
          <a:xfrm>
            <a:off x="548640" y="1481328"/>
            <a:ext cx="11091672" cy="1961388"/>
          </a:xfrm>
          <a:prstGeom prst="roundRect">
            <a:avLst>
              <a:gd name="adj" fmla="val 2797"/>
            </a:avLst>
          </a:prstGeom>
          <a:solidFill>
            <a:srgbClr val="F8F9FA"/>
          </a:solidFill>
          <a:ln w="12700">
            <a:solidFill>
              <a:srgbClr val="DADCE0"/>
            </a:solidFill>
            <a:prstDash val="solid"/>
          </a:ln>
        </p:spPr>
      </p:sp>
      <p:sp>
        <p:nvSpPr>
          <p:cNvPr id="7" name="Shape 5"/>
          <p:cNvSpPr/>
          <p:nvPr/>
        </p:nvSpPr>
        <p:spPr>
          <a:xfrm>
            <a:off x="713232" y="1600200"/>
            <a:ext cx="420624" cy="420624"/>
          </a:xfrm>
          <a:prstGeom prst="ellipse">
            <a:avLst/>
          </a:prstGeom>
          <a:solidFill>
            <a:srgbClr val="E8EAED"/>
          </a:solidFill>
          <a:ln w="12700">
            <a:solidFill>
              <a:srgbClr val="E8EAED"/>
            </a:solidFill>
            <a:prstDash val="solid"/>
          </a:ln>
        </p:spPr>
      </p:sp>
      <p:sp>
        <p:nvSpPr>
          <p:cNvPr id="8" name="Shape 6"/>
          <p:cNvSpPr/>
          <p:nvPr/>
        </p:nvSpPr>
        <p:spPr>
          <a:xfrm rot="5400000">
            <a:off x="850392" y="1719072"/>
            <a:ext cx="182880" cy="182880"/>
          </a:xfrm>
          <a:prstGeom prst="triangle">
            <a:avLst/>
          </a:prstGeom>
          <a:solidFill>
            <a:srgbClr val="5F6368"/>
          </a:solidFill>
          <a:ln w="12700">
            <a:solidFill>
              <a:srgbClr val="5F6368"/>
            </a:solidFill>
            <a:prstDash val="solid"/>
          </a:ln>
        </p:spPr>
      </p:sp>
      <p:sp>
        <p:nvSpPr>
          <p:cNvPr id="9" name="Text 7"/>
          <p:cNvSpPr txBox="1"/>
          <p:nvPr/>
        </p:nvSpPr>
        <p:spPr>
          <a:xfrm>
            <a:off x="1325880" y="1600200"/>
            <a:ext cx="10085832" cy="1778508"/>
          </a:xfrm>
          <a:prstGeom prst="rect">
            <a:avLst/>
          </a:prstGeom>
          <a:noFill/>
          <a:ln/>
        </p:spPr>
        <p:txBody>
          <a:bodyPr wrap="square" lIns="0" tIns="0" rIns="0" bIns="0" rtlCol="0" anchor="t"/>
          <a:lstStyle/>
          <a:p>
            <a:pPr indent="0" marL="0">
              <a:buNone/>
            </a:pPr>
            <a:r>
              <a:rPr lang="en-US" sz="1200" i="1" dirty="0">
                <a:solidFill>
                  <a:srgbClr val="188038"/>
                </a:solidFill>
                <a:latin typeface="Courier New" pitchFamily="34" charset="0"/>
                <a:ea typeface="Courier New" pitchFamily="34" charset="-122"/>
                <a:cs typeface="Courier New" pitchFamily="34" charset="-120"/>
              </a:rPr>
              <a:t># Estudio 4</a:t>
            </a:r>
            <a:endParaRPr lang="en-US" sz="1200" dirty="0"/>
          </a:p>
          <a:p>
            <a:pPr indent="0" marL="0">
              <a:buNone/>
            </a:pPr>
            <a:r>
              <a:rPr lang="en-US" sz="1200" i="1" dirty="0">
                <a:solidFill>
                  <a:srgbClr val="188038"/>
                </a:solidFill>
                <a:latin typeface="Courier New" pitchFamily="34" charset="0"/>
                <a:ea typeface="Courier New" pitchFamily="34" charset="-122"/>
                <a:cs typeface="Courier New" pitchFamily="34" charset="-120"/>
              </a:rPr>
              <a:t># Así se lee un servicio web de verdad. Aquí la dirección apunta a un archivo del curso.</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import requests</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respuesta = requests.get(DATOS + </a:t>
            </a:r>
            <a:pPr indent="0" marL="0">
              <a:buNone/>
            </a:pPr>
            <a:r>
              <a:rPr lang="en-US" sz="1200" dirty="0">
                <a:solidFill>
                  <a:srgbClr val="A31515"/>
                </a:solidFill>
                <a:latin typeface="Courier New" pitchFamily="34" charset="0"/>
                <a:ea typeface="Courier New" pitchFamily="34" charset="-122"/>
                <a:cs typeface="Courier New" pitchFamily="34" charset="-120"/>
              </a:rPr>
              <a:t>"precios_nudo.json"</a:t>
            </a:r>
            <a:pPr indent="0" marL="0">
              <a:buNone/>
            </a:pPr>
            <a:r>
              <a:rPr lang="en-US" sz="1200" dirty="0">
                <a:solidFill>
                  <a:srgbClr val="202124"/>
                </a:solidFill>
                <a:latin typeface="Courier New" pitchFamily="34" charset="0"/>
                <a:ea typeface="Courier New" pitchFamily="34" charset="-122"/>
                <a:cs typeface="Courier New" pitchFamily="34" charset="-120"/>
              </a:rPr>
              <a:t>).json()</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print(</a:t>
            </a:r>
            <a:pPr indent="0" marL="0">
              <a:buNone/>
            </a:pPr>
            <a:r>
              <a:rPr lang="en-US" sz="1200" dirty="0">
                <a:solidFill>
                  <a:srgbClr val="A31515"/>
                </a:solidFill>
                <a:latin typeface="Courier New" pitchFamily="34" charset="0"/>
                <a:ea typeface="Courier New" pitchFamily="34" charset="-122"/>
                <a:cs typeface="Courier New" pitchFamily="34" charset="-120"/>
              </a:rPr>
              <a:t>"Llaves de la respuesta"</a:t>
            </a:r>
            <a:pPr indent="0" marL="0">
              <a:buNone/>
            </a:pPr>
            <a:r>
              <a:rPr lang="en-US" sz="1200" dirty="0">
                <a:solidFill>
                  <a:srgbClr val="202124"/>
                </a:solidFill>
                <a:latin typeface="Courier New" pitchFamily="34" charset="0"/>
                <a:ea typeface="Courier New" pitchFamily="34" charset="-122"/>
                <a:cs typeface="Courier New" pitchFamily="34" charset="-120"/>
              </a:rPr>
              <a:t>, list(respuesta.keys()))</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 </a:t>
            </a:r>
            <a:endParaRPr lang="en-US" sz="1200" dirty="0"/>
          </a:p>
          <a:p>
            <a:pPr indent="0" marL="0">
              <a:buNone/>
            </a:pPr>
            <a:r>
              <a:rPr lang="en-US" sz="1200" i="1" dirty="0">
                <a:solidFill>
                  <a:srgbClr val="188038"/>
                </a:solidFill>
                <a:latin typeface="Courier New" pitchFamily="34" charset="0"/>
                <a:ea typeface="Courier New" pitchFamily="34" charset="-122"/>
                <a:cs typeface="Courier New" pitchFamily="34" charset="-120"/>
              </a:rPr>
              <a:t># json_normalize convierte la lista de registros en una tabla.</a:t>
            </a:r>
            <a:endParaRPr lang="en-US" sz="1200" dirty="0"/>
          </a:p>
          <a:p>
            <a:pPr indent="0" marL="0">
              <a:buNone/>
            </a:pPr>
            <a:r>
              <a:rPr lang="en-US" sz="1200" dirty="0">
                <a:solidFill>
                  <a:srgbClr val="202124"/>
                </a:solidFill>
                <a:latin typeface="Courier New" pitchFamily="34" charset="0"/>
                <a:ea typeface="Courier New" pitchFamily="34" charset="-122"/>
                <a:cs typeface="Courier New" pitchFamily="34" charset="-120"/>
              </a:rPr>
              <a:t>pd.json_normalize(respuesta[</a:t>
            </a:r>
            <a:pPr indent="0" marL="0">
              <a:buNone/>
            </a:pPr>
            <a:r>
              <a:rPr lang="en-US" sz="1200" dirty="0">
                <a:solidFill>
                  <a:srgbClr val="A31515"/>
                </a:solidFill>
                <a:latin typeface="Courier New" pitchFamily="34" charset="0"/>
                <a:ea typeface="Courier New" pitchFamily="34" charset="-122"/>
                <a:cs typeface="Courier New" pitchFamily="34" charset="-120"/>
              </a:rPr>
              <a:t>"datos"</a:t>
            </a:r>
            <a:pPr indent="0" marL="0">
              <a:buNone/>
            </a:pPr>
            <a:r>
              <a:rPr lang="en-US" sz="1200" dirty="0">
                <a:solidFill>
                  <a:srgbClr val="202124"/>
                </a:solidFill>
                <a:latin typeface="Courier New" pitchFamily="34" charset="0"/>
                <a:ea typeface="Courier New" pitchFamily="34" charset="-122"/>
                <a:cs typeface="Courier New" pitchFamily="34" charset="-120"/>
              </a:rPr>
              <a:t>]).head()</a:t>
            </a:r>
            <a:endParaRPr lang="en-US" sz="1200" dirty="0"/>
          </a:p>
        </p:txBody>
      </p:sp>
      <p:sp>
        <p:nvSpPr>
          <p:cNvPr id="10" name="Shape 8"/>
          <p:cNvSpPr/>
          <p:nvPr/>
        </p:nvSpPr>
        <p:spPr>
          <a:xfrm>
            <a:off x="1325880" y="3552444"/>
            <a:ext cx="10314432" cy="384048"/>
          </a:xfrm>
          <a:prstGeom prst="rect">
            <a:avLst/>
          </a:prstGeom>
          <a:solidFill>
            <a:srgbClr val="FFFFFF"/>
          </a:solidFill>
          <a:ln w="12700">
            <a:solidFill>
              <a:srgbClr val="DADCE0"/>
            </a:solidFill>
            <a:prstDash val="solid"/>
          </a:ln>
        </p:spPr>
      </p:sp>
      <p:sp>
        <p:nvSpPr>
          <p:cNvPr id="11" name="Text 9"/>
          <p:cNvSpPr txBox="1"/>
          <p:nvPr/>
        </p:nvSpPr>
        <p:spPr>
          <a:xfrm>
            <a:off x="1463040" y="3625596"/>
            <a:ext cx="10085832" cy="256032"/>
          </a:xfrm>
          <a:prstGeom prst="rect">
            <a:avLst/>
          </a:prstGeom>
          <a:noFill/>
          <a:ln/>
        </p:spPr>
        <p:txBody>
          <a:bodyPr wrap="square" lIns="0" tIns="0" rIns="0" bIns="0" rtlCol="0" anchor="t"/>
          <a:lstStyle/>
          <a:p>
            <a:pPr indent="0" marL="0">
              <a:buNone/>
            </a:pPr>
            <a:r>
              <a:rPr lang="en-US" sz="1200" dirty="0">
                <a:solidFill>
                  <a:srgbClr val="202124"/>
                </a:solidFill>
                <a:latin typeface="Courier New" pitchFamily="34" charset="0"/>
                <a:ea typeface="Courier New" pitchFamily="34" charset="-122"/>
                <a:cs typeface="Courier New" pitchFamily="34" charset="-120"/>
              </a:rPr>
              <a:t>Llaves de la respuesta ['metadata', 'datos']</a:t>
            </a:r>
            <a:endParaRPr lang="en-US" sz="12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1325880" y="4027932"/>
          <a:ext cx="9144000" cy="914400"/>
        </p:xfrm>
        <a:graphic>
          <a:graphicData uri="http://schemas.openxmlformats.org/drawingml/2006/table">
            <a:tbl>
              <a:tblPr/>
              <a:tblGrid>
                <a:gridCol w="365760"/>
                <a:gridCol w="1188720"/>
                <a:gridCol w="822960"/>
                <a:gridCol w="1280160"/>
                <a:gridCol w="1554480"/>
              </a:tblGrid>
              <a:tr h="237744">
                <a:tc>
                  <a:txBody>
                    <a:bodyPr/>
                    <a:lstStyle/>
                    <a:p>
                      <a:pPr indent="0" marL="0">
                        <a:buNone/>
                      </a:pP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fecha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hora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region</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precio_usd_mwh</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2024-01-01</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Antofagasta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47.97</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2024-01-01</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Antofagasta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40.81</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2024-01-01</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Antofagasta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49.35</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3</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2024-01-01</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3</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Antofagasta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45.50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2024-01-01</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Antofagasta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40.00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bl>
          </a:graphicData>
        </a:graphic>
      </p:graphicFrame>
      <p:sp>
        <p:nvSpPr>
          <p:cNvPr id="14" name="Text 10"/>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5" name="Shape 11"/>
          <p:cNvSpPr/>
          <p:nvPr/>
        </p:nvSpPr>
        <p:spPr>
          <a:xfrm>
            <a:off x="548640" y="6062472"/>
            <a:ext cx="2770632" cy="566928"/>
          </a:xfrm>
          <a:prstGeom prst="roundRect">
            <a:avLst>
              <a:gd name="adj" fmla="val 11290"/>
            </a:avLst>
          </a:prstGeom>
          <a:solidFill>
            <a:srgbClr val="E8F0FE"/>
          </a:solidFill>
          <a:ln w="28575">
            <a:solidFill>
              <a:srgbClr val="1A73E8"/>
            </a:solidFill>
            <a:prstDash val="solid"/>
          </a:ln>
        </p:spPr>
      </p:sp>
      <p:sp>
        <p:nvSpPr>
          <p:cNvPr id="16" name="Text 12"/>
          <p:cNvSpPr txBox="1"/>
          <p:nvPr/>
        </p:nvSpPr>
        <p:spPr>
          <a:xfrm>
            <a:off x="640080"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
        <p:nvSpPr>
          <p:cNvPr id="17" name="Shape 13"/>
          <p:cNvSpPr/>
          <p:nvPr/>
        </p:nvSpPr>
        <p:spPr>
          <a:xfrm>
            <a:off x="3456432" y="6062472"/>
            <a:ext cx="1143000" cy="566928"/>
          </a:xfrm>
          <a:prstGeom prst="roundRect">
            <a:avLst>
              <a:gd name="adj" fmla="val 11290"/>
            </a:avLst>
          </a:prstGeom>
          <a:solidFill>
            <a:srgbClr val="E8F0FE"/>
          </a:solidFill>
          <a:ln w="28575">
            <a:solidFill>
              <a:srgbClr val="1A73E8"/>
            </a:solidFill>
            <a:prstDash val="solid"/>
          </a:ln>
        </p:spPr>
      </p:sp>
      <p:sp>
        <p:nvSpPr>
          <p:cNvPr id="18" name="Text 14"/>
          <p:cNvSpPr txBox="1"/>
          <p:nvPr/>
        </p:nvSpPr>
        <p:spPr>
          <a:xfrm>
            <a:off x="3547872"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9" name="Shape 15"/>
          <p:cNvSpPr/>
          <p:nvPr/>
        </p:nvSpPr>
        <p:spPr>
          <a:xfrm>
            <a:off x="4736592" y="6062472"/>
            <a:ext cx="2002536" cy="566928"/>
          </a:xfrm>
          <a:prstGeom prst="roundRect">
            <a:avLst>
              <a:gd name="adj" fmla="val 11290"/>
            </a:avLst>
          </a:prstGeom>
          <a:solidFill>
            <a:srgbClr val="FEF3D6"/>
          </a:solidFill>
          <a:ln w="25400">
            <a:solidFill>
              <a:srgbClr val="F9AB00"/>
            </a:solidFill>
            <a:prstDash val="solid"/>
          </a:ln>
        </p:spPr>
      </p:sp>
      <p:sp>
        <p:nvSpPr>
          <p:cNvPr id="20" name="Text 16"/>
          <p:cNvSpPr txBox="1"/>
          <p:nvPr/>
        </p:nvSpPr>
        <p:spPr>
          <a:xfrm>
            <a:off x="4828032"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respuesta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datos con 2 partes</a:t>
            </a:r>
            <a:endParaRPr lang="en-US" sz="1200" dirty="0"/>
          </a:p>
        </p:txBody>
      </p:sp>
      <p:sp>
        <p:nvSpPr>
          <p:cNvPr id="21" name="Shape 17"/>
          <p:cNvSpPr/>
          <p:nvPr/>
        </p:nvSpPr>
        <p:spPr>
          <a:xfrm>
            <a:off x="6876288" y="6062472"/>
            <a:ext cx="1143000" cy="566928"/>
          </a:xfrm>
          <a:prstGeom prst="roundRect">
            <a:avLst>
              <a:gd name="adj" fmla="val 11290"/>
            </a:avLst>
          </a:prstGeom>
          <a:solidFill>
            <a:srgbClr val="F1F3F4"/>
          </a:solidFill>
          <a:ln w="12700">
            <a:solidFill>
              <a:srgbClr val="DADCE0"/>
            </a:solidFill>
            <a:prstDash val="solid"/>
          </a:ln>
        </p:spPr>
      </p:sp>
      <p:sp>
        <p:nvSpPr>
          <p:cNvPr id="22" name="Text 18"/>
          <p:cNvSpPr txBox="1"/>
          <p:nvPr/>
        </p:nvSpPr>
        <p:spPr>
          <a:xfrm>
            <a:off x="6967728"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hojas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2 tablas</a:t>
            </a:r>
            <a:endParaRPr lang="en-US" sz="1200" dirty="0"/>
          </a:p>
        </p:txBody>
      </p:sp>
      <p:sp>
        <p:nvSpPr>
          <p:cNvPr id="23" name="Shape 19"/>
          <p:cNvSpPr/>
          <p:nvPr/>
        </p:nvSpPr>
        <p:spPr>
          <a:xfrm>
            <a:off x="8156448" y="6062472"/>
            <a:ext cx="2002536" cy="566928"/>
          </a:xfrm>
          <a:prstGeom prst="roundRect">
            <a:avLst>
              <a:gd name="adj" fmla="val 11290"/>
            </a:avLst>
          </a:prstGeom>
          <a:solidFill>
            <a:srgbClr val="F1F3F4"/>
          </a:solidFill>
          <a:ln w="12700">
            <a:solidFill>
              <a:srgbClr val="DADCE0"/>
            </a:solidFill>
            <a:prstDash val="solid"/>
          </a:ln>
        </p:spPr>
      </p:sp>
      <p:sp>
        <p:nvSpPr>
          <p:cNvPr id="24" name="Text 20"/>
          <p:cNvSpPr txBox="1"/>
          <p:nvPr/>
        </p:nvSpPr>
        <p:spPr>
          <a:xfrm>
            <a:off x="8247888"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resumen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7 valores</a:t>
            </a:r>
            <a:endParaRPr lang="en-US" sz="1200" dirty="0"/>
          </a:p>
        </p:txBody>
      </p:sp>
      <p:sp>
        <p:nvSpPr>
          <p:cNvPr id="25" name="Text 21"/>
          <p:cNvSpPr txBox="1"/>
          <p:nvPr/>
        </p:nvSpPr>
        <p:spPr>
          <a:xfrm>
            <a:off x="10296144"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16 más</a:t>
            </a:r>
            <a:endParaRPr lang="en-US" sz="1200" dirty="0"/>
          </a:p>
        </p:txBody>
      </p:sp>
      <p:sp>
        <p:nvSpPr>
          <p:cNvPr id="26" name="Text 22"/>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La respuesta de un servicio web se convierte en tabla.</a:t>
            </a:r>
            <a:endParaRPr lang="en-US" sz="13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4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¿Y si vienen de un servicio web?</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hay que llevarse de este paso.</a:t>
            </a:r>
            <a:endParaRPr lang="en-US" sz="1400" dirty="0"/>
          </a:p>
        </p:txBody>
      </p:sp>
      <p:sp>
        <p:nvSpPr>
          <p:cNvPr id="7" name="Shape 4"/>
          <p:cNvSpPr/>
          <p:nvPr/>
        </p:nvSpPr>
        <p:spPr>
          <a:xfrm>
            <a:off x="548640" y="1828800"/>
            <a:ext cx="11091672" cy="2377440"/>
          </a:xfrm>
          <a:prstGeom prst="roundRect">
            <a:avLst>
              <a:gd name="adj" fmla="val 3846"/>
            </a:avLst>
          </a:prstGeom>
          <a:solidFill>
            <a:srgbClr val="FFF8D6"/>
          </a:solidFill>
          <a:ln w="12700">
            <a:solidFill>
              <a:srgbClr val="FFF8D6"/>
            </a:solidFill>
            <a:prstDash val="solid"/>
          </a:ln>
        </p:spPr>
      </p:sp>
      <p:sp>
        <p:nvSpPr>
          <p:cNvPr id="8" name="Text 5"/>
          <p:cNvSpPr txBox="1"/>
          <p:nvPr/>
        </p:nvSpPr>
        <p:spPr>
          <a:xfrm>
            <a:off x="1005840" y="2057400"/>
            <a:ext cx="10177272" cy="1005840"/>
          </a:xfrm>
          <a:prstGeom prst="rect">
            <a:avLst/>
          </a:prstGeom>
          <a:noFill/>
          <a:ln/>
        </p:spPr>
        <p:txBody>
          <a:bodyPr wrap="square" lIns="0" tIns="0" rIns="0" bIns="0" rtlCol="0" anchor="t"/>
          <a:lstStyle/>
          <a:p>
            <a:pPr indent="0" marL="0">
              <a:buNone/>
            </a:pPr>
            <a:r>
              <a:rPr lang="en-US" sz="2800" b="1" dirty="0">
                <a:solidFill>
                  <a:srgbClr val="8A6D00"/>
                </a:solidFill>
                <a:latin typeface="Calibri" pitchFamily="34" charset="0"/>
                <a:ea typeface="Calibri" pitchFamily="34" charset="-122"/>
                <a:cs typeface="Calibri" pitchFamily="34" charset="-120"/>
              </a:rPr>
              <a:t>Un servicio web entrega datos, no una página.</a:t>
            </a:r>
            <a:endParaRPr lang="en-US" sz="2800" dirty="0"/>
          </a:p>
        </p:txBody>
      </p:sp>
      <p:sp>
        <p:nvSpPr>
          <p:cNvPr id="9" name="Text 6"/>
          <p:cNvSpPr txBox="1"/>
          <p:nvPr/>
        </p:nvSpPr>
        <p:spPr>
          <a:xfrm>
            <a:off x="1005840" y="3154680"/>
            <a:ext cx="10177272" cy="914400"/>
          </a:xfrm>
          <a:prstGeom prst="rect">
            <a:avLst/>
          </a:prstGeom>
          <a:noFill/>
          <a:ln/>
        </p:spPr>
        <p:txBody>
          <a:bodyPr wrap="square" lIns="0" tIns="0" rIns="0" bIns="0" rtlCol="0" anchor="t"/>
          <a:lstStyle/>
          <a:p>
            <a:pPr indent="0" marL="0">
              <a:buNone/>
            </a:pPr>
            <a:r>
              <a:rPr lang="en-US" sz="2200" dirty="0">
                <a:solidFill>
                  <a:srgbClr val="202124"/>
                </a:solidFill>
                <a:latin typeface="Calibri" pitchFamily="34" charset="0"/>
                <a:ea typeface="Calibri" pitchFamily="34" charset="-122"/>
                <a:cs typeface="Calibri" pitchFamily="34" charset="-120"/>
              </a:rPr>
              <a:t>Se toma la parte que trae los registros y se convierte en tabla.</a:t>
            </a:r>
            <a:endParaRPr lang="en-US" sz="2200" dirty="0"/>
          </a:p>
        </p:txBody>
      </p:sp>
      <p:sp>
        <p:nvSpPr>
          <p:cNvPr id="10"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1" name="Shape 8"/>
          <p:cNvSpPr/>
          <p:nvPr/>
        </p:nvSpPr>
        <p:spPr>
          <a:xfrm>
            <a:off x="548640" y="6062472"/>
            <a:ext cx="2770632" cy="566928"/>
          </a:xfrm>
          <a:prstGeom prst="roundRect">
            <a:avLst>
              <a:gd name="adj" fmla="val 11290"/>
            </a:avLst>
          </a:prstGeom>
          <a:solidFill>
            <a:srgbClr val="E8F0FE"/>
          </a:solidFill>
          <a:ln w="28575">
            <a:solidFill>
              <a:srgbClr val="1A73E8"/>
            </a:solidFill>
            <a:prstDash val="solid"/>
          </a:ln>
        </p:spPr>
      </p:sp>
      <p:sp>
        <p:nvSpPr>
          <p:cNvPr id="12" name="Text 9"/>
          <p:cNvSpPr txBox="1"/>
          <p:nvPr/>
        </p:nvSpPr>
        <p:spPr>
          <a:xfrm>
            <a:off x="640080"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
        <p:nvSpPr>
          <p:cNvPr id="13" name="Shape 10"/>
          <p:cNvSpPr/>
          <p:nvPr/>
        </p:nvSpPr>
        <p:spPr>
          <a:xfrm>
            <a:off x="3456432" y="6062472"/>
            <a:ext cx="1143000" cy="566928"/>
          </a:xfrm>
          <a:prstGeom prst="roundRect">
            <a:avLst>
              <a:gd name="adj" fmla="val 11290"/>
            </a:avLst>
          </a:prstGeom>
          <a:solidFill>
            <a:srgbClr val="E8F0FE"/>
          </a:solidFill>
          <a:ln w="28575">
            <a:solidFill>
              <a:srgbClr val="1A73E8"/>
            </a:solidFill>
            <a:prstDash val="solid"/>
          </a:ln>
        </p:spPr>
      </p:sp>
      <p:sp>
        <p:nvSpPr>
          <p:cNvPr id="14" name="Text 11"/>
          <p:cNvSpPr txBox="1"/>
          <p:nvPr/>
        </p:nvSpPr>
        <p:spPr>
          <a:xfrm>
            <a:off x="3547872"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5" name="Shape 12"/>
          <p:cNvSpPr/>
          <p:nvPr/>
        </p:nvSpPr>
        <p:spPr>
          <a:xfrm>
            <a:off x="4736592" y="6062472"/>
            <a:ext cx="2002536" cy="566928"/>
          </a:xfrm>
          <a:prstGeom prst="roundRect">
            <a:avLst>
              <a:gd name="adj" fmla="val 11290"/>
            </a:avLst>
          </a:prstGeom>
          <a:solidFill>
            <a:srgbClr val="FEF3D6"/>
          </a:solidFill>
          <a:ln w="25400">
            <a:solidFill>
              <a:srgbClr val="F9AB00"/>
            </a:solidFill>
            <a:prstDash val="solid"/>
          </a:ln>
        </p:spPr>
      </p:sp>
      <p:sp>
        <p:nvSpPr>
          <p:cNvPr id="16" name="Text 13"/>
          <p:cNvSpPr txBox="1"/>
          <p:nvPr/>
        </p:nvSpPr>
        <p:spPr>
          <a:xfrm>
            <a:off x="4828032"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respuesta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datos con 2 partes</a:t>
            </a:r>
            <a:endParaRPr lang="en-US" sz="1200" dirty="0"/>
          </a:p>
        </p:txBody>
      </p:sp>
      <p:sp>
        <p:nvSpPr>
          <p:cNvPr id="17" name="Shape 14"/>
          <p:cNvSpPr/>
          <p:nvPr/>
        </p:nvSpPr>
        <p:spPr>
          <a:xfrm>
            <a:off x="6876288" y="6062472"/>
            <a:ext cx="1143000"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6967728"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hojas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2 tablas</a:t>
            </a:r>
            <a:endParaRPr lang="en-US" sz="1200" dirty="0"/>
          </a:p>
        </p:txBody>
      </p:sp>
      <p:sp>
        <p:nvSpPr>
          <p:cNvPr id="19" name="Shape 16"/>
          <p:cNvSpPr/>
          <p:nvPr/>
        </p:nvSpPr>
        <p:spPr>
          <a:xfrm>
            <a:off x="8156448" y="6062472"/>
            <a:ext cx="2002536"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8247888"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resumen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7 valores</a:t>
            </a:r>
            <a:endParaRPr lang="en-US" sz="1200" dirty="0"/>
          </a:p>
        </p:txBody>
      </p:sp>
      <p:sp>
        <p:nvSpPr>
          <p:cNvPr id="21" name="Text 18"/>
          <p:cNvSpPr txBox="1"/>
          <p:nvPr/>
        </p:nvSpPr>
        <p:spPr>
          <a:xfrm>
            <a:off x="10296144"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16 más</a:t>
            </a:r>
            <a:endParaRPr lang="en-US" sz="12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5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¿Y si vienen de una base de datos?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Antes de correr la celda, cómo viaja la pregunta a la base y qué vuelve.</a:t>
            </a:r>
            <a:endParaRPr lang="en-US" sz="1400" dirty="0"/>
          </a:p>
        </p:txBody>
      </p:sp>
      <p:pic>
        <p:nvPicPr>
          <p:cNvPr id="6" name="Image 0" descr="../../repo/modulos/modulo01/img/lab01_paso8_sql.png">    </p:cNvPr>
          <p:cNvPicPr>
            <a:picLocks noChangeAspect="1"/>
          </p:cNvPicPr>
          <p:nvPr/>
        </p:nvPicPr>
        <p:blipFill>
          <a:blip r:embed="rId1"/>
          <a:stretch>
            <a:fillRect/>
          </a:stretch>
        </p:blipFill>
        <p:spPr>
          <a:xfrm>
            <a:off x="548640" y="1463040"/>
            <a:ext cx="11091672" cy="4332318"/>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3"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4"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5 de 5</a:t>
            </a:r>
            <a:endParaRPr lang="en-US" sz="1400" dirty="0"/>
          </a:p>
        </p:txBody>
      </p:sp>
      <p:sp>
        <p:nvSpPr>
          <p:cNvPr id="5"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¿Y si vienen de una base de datos?</a:t>
            </a:r>
            <a:endParaRPr lang="en-US" sz="2400" dirty="0"/>
          </a:p>
        </p:txBody>
      </p:sp>
      <p:sp>
        <p:nvSpPr>
          <p:cNvPr id="6"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a:t>
            </a:r>
            <a:endParaRPr lang="en-US" sz="1400" dirty="0"/>
          </a:p>
        </p:txBody>
      </p:sp>
      <p:sp>
        <p:nvSpPr>
          <p:cNvPr id="7" name="Shape 4"/>
          <p:cNvSpPr/>
          <p:nvPr/>
        </p:nvSpPr>
        <p:spPr>
          <a:xfrm>
            <a:off x="548640" y="1481328"/>
            <a:ext cx="11091672" cy="3154680"/>
          </a:xfrm>
          <a:prstGeom prst="roundRect">
            <a:avLst>
              <a:gd name="adj" fmla="val 1739"/>
            </a:avLst>
          </a:prstGeom>
          <a:solidFill>
            <a:srgbClr val="F8F9FA"/>
          </a:solidFill>
          <a:ln w="25400">
            <a:solidFill>
              <a:srgbClr val="F9AB00"/>
            </a:solidFill>
            <a:prstDash val="solid"/>
          </a:ln>
        </p:spPr>
      </p:sp>
      <p:sp>
        <p:nvSpPr>
          <p:cNvPr id="8" name="Shape 5"/>
          <p:cNvSpPr/>
          <p:nvPr/>
        </p:nvSpPr>
        <p:spPr>
          <a:xfrm>
            <a:off x="713232" y="1600200"/>
            <a:ext cx="420624" cy="420624"/>
          </a:xfrm>
          <a:prstGeom prst="ellipse">
            <a:avLst/>
          </a:prstGeom>
          <a:solidFill>
            <a:srgbClr val="F9AB00"/>
          </a:solidFill>
          <a:ln w="12700">
            <a:solidFill>
              <a:srgbClr val="F9AB00"/>
            </a:solidFill>
            <a:prstDash val="solid"/>
          </a:ln>
        </p:spPr>
      </p:sp>
      <p:sp>
        <p:nvSpPr>
          <p:cNvPr id="9" name="Shape 6"/>
          <p:cNvSpPr/>
          <p:nvPr/>
        </p:nvSpPr>
        <p:spPr>
          <a:xfrm rot="5400000">
            <a:off x="850392" y="1719072"/>
            <a:ext cx="182880" cy="182880"/>
          </a:xfrm>
          <a:prstGeom prst="triangle">
            <a:avLst/>
          </a:prstGeom>
          <a:solidFill>
            <a:srgbClr val="FFFFFF"/>
          </a:solidFill>
          <a:ln w="12700">
            <a:solidFill>
              <a:srgbClr val="FFFFFF"/>
            </a:solidFill>
            <a:prstDash val="solid"/>
          </a:ln>
        </p:spPr>
      </p:sp>
      <p:sp>
        <p:nvSpPr>
          <p:cNvPr id="10" name="Text 7"/>
          <p:cNvSpPr txBox="1"/>
          <p:nvPr/>
        </p:nvSpPr>
        <p:spPr>
          <a:xfrm>
            <a:off x="1325880" y="1600200"/>
            <a:ext cx="10085832" cy="2971800"/>
          </a:xfrm>
          <a:prstGeom prst="rect">
            <a:avLst/>
          </a:prstGeom>
          <a:noFill/>
          <a:ln/>
        </p:spPr>
        <p:txBody>
          <a:bodyPr wrap="square" lIns="0" tIns="0" rIns="0" bIns="0" rtlCol="0" anchor="t"/>
          <a:lstStyle/>
          <a:p>
            <a:pPr indent="0" marL="0">
              <a:buNone/>
            </a:pPr>
            <a:r>
              <a:rPr lang="en-US" sz="1300" i="1" dirty="0">
                <a:solidFill>
                  <a:srgbClr val="188038"/>
                </a:solidFill>
                <a:latin typeface="Courier New" pitchFamily="34" charset="0"/>
                <a:ea typeface="Courier New" pitchFamily="34" charset="-122"/>
                <a:cs typeface="Courier New" pitchFamily="34" charset="-120"/>
              </a:rPr>
              <a:t># Estudio 5</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Se baja el archivo de la base a Colab y se abre una conexión con él.</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import sqlite3, urllib.request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urllib.request.urlretrieve(DATOS + </a:t>
            </a:r>
            <a:pPr indent="0" marL="0">
              <a:buNone/>
            </a:pPr>
            <a:r>
              <a:rPr lang="en-US" sz="1300" dirty="0">
                <a:solidFill>
                  <a:srgbClr val="A31515"/>
                </a:solidFill>
                <a:latin typeface="Courier New" pitchFamily="34" charset="0"/>
                <a:ea typeface="Courier New" pitchFamily="34" charset="-122"/>
                <a:cs typeface="Courier New" pitchFamily="34" charset="-120"/>
              </a:rPr>
              <a:t>"demanda.db"</a:t>
            </a:r>
            <a:pPr indent="0" marL="0">
              <a:buNone/>
            </a:pPr>
            <a:r>
              <a:rPr lang="en-US" sz="1300" dirty="0">
                <a:solidFill>
                  <a:srgbClr val="202124"/>
                </a:solidFill>
                <a:latin typeface="Courier New" pitchFamily="34" charset="0"/>
                <a:ea typeface="Courier New" pitchFamily="34" charset="-122"/>
                <a:cs typeface="Courier New" pitchFamily="34" charset="-120"/>
              </a:rPr>
              <a:t>, </a:t>
            </a:r>
            <a:pPr indent="0" marL="0">
              <a:buNone/>
            </a:pPr>
            <a:r>
              <a:rPr lang="en-US" sz="1300" dirty="0">
                <a:solidFill>
                  <a:srgbClr val="A31515"/>
                </a:solidFill>
                <a:latin typeface="Courier New" pitchFamily="34" charset="0"/>
                <a:ea typeface="Courier New" pitchFamily="34" charset="-122"/>
                <a:cs typeface="Courier New" pitchFamily="34" charset="-120"/>
              </a:rPr>
              <a:t>"demanda.db"</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conexion = sqlite3.connect(</a:t>
            </a:r>
            <a:pPr indent="0" marL="0">
              <a:buNone/>
            </a:pPr>
            <a:r>
              <a:rPr lang="en-US" sz="1300" dirty="0">
                <a:solidFill>
                  <a:srgbClr val="A31515"/>
                </a:solidFill>
                <a:latin typeface="Courier New" pitchFamily="34" charset="0"/>
                <a:ea typeface="Courier New" pitchFamily="34" charset="-122"/>
                <a:cs typeface="Courier New" pitchFamily="34" charset="-120"/>
              </a:rPr>
              <a:t>"demanda.db"</a:t>
            </a:r>
            <a:pPr indent="0" marL="0">
              <a:buNone/>
            </a:pPr>
            <a:r>
              <a:rPr lang="en-US" sz="1300" dirty="0">
                <a:solidFill>
                  <a:srgbClr val="202124"/>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a:t>
            </a:r>
            <a:endParaRPr lang="en-US" sz="1300" dirty="0"/>
          </a:p>
          <a:p>
            <a:pPr indent="0" marL="0">
              <a:buNone/>
            </a:pPr>
            <a:r>
              <a:rPr lang="en-US" sz="1300" i="1" dirty="0">
                <a:solidFill>
                  <a:srgbClr val="188038"/>
                </a:solidFill>
                <a:latin typeface="Courier New" pitchFamily="34" charset="0"/>
                <a:ea typeface="Courier New" pitchFamily="34" charset="-122"/>
                <a:cs typeface="Courier New" pitchFamily="34" charset="-120"/>
              </a:rPr>
              <a:t># El filtro se escribe en SQL y lo resuelve la base, así viaja mucho menos dato.</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consulta = </a:t>
            </a:r>
            <a:pPr indent="0" marL="0">
              <a:buNone/>
            </a:pPr>
            <a:r>
              <a:rPr lang="en-US" sz="1300" dirty="0">
                <a:solidFill>
                  <a:srgbClr val="A31515"/>
                </a:solidFill>
                <a:latin typeface="Courier New" pitchFamily="34" charset="0"/>
                <a:ea typeface="Courier New" pitchFamily="34" charset="-122"/>
                <a:cs typeface="Courier New" pitchFamily="34" charset="-120"/>
              </a:rPr>
              <a:t>""</a:t>
            </a:r>
            <a:pPr indent="0" marL="0">
              <a:buNone/>
            </a:pPr>
            <a:r>
              <a:rPr lang="en-US" sz="1300" dirty="0">
                <a:solidFill>
                  <a:srgbClr val="A31515"/>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SELECT region, SUM(mwh) AS demanda_total</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FROM demanda</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GROUP BY region</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    ORDER BY demanda_total DESC</a:t>
            </a:r>
            <a:endParaRPr lang="en-US" sz="1300" dirty="0"/>
          </a:p>
          <a:p>
            <a:pPr indent="0" marL="0">
              <a:buNone/>
            </a:pPr>
            <a:r>
              <a:rPr lang="en-US" sz="1300" dirty="0">
                <a:solidFill>
                  <a:srgbClr val="A31515"/>
                </a:solidFill>
                <a:latin typeface="Courier New" pitchFamily="34" charset="0"/>
                <a:ea typeface="Courier New" pitchFamily="34" charset="-122"/>
                <a:cs typeface="Courier New" pitchFamily="34" charset="-120"/>
              </a:rPr>
              <a:t>""</a:t>
            </a:r>
            <a:pPr indent="0" marL="0">
              <a:buNone/>
            </a:pPr>
            <a:r>
              <a:rPr lang="en-US" sz="1300" dirty="0">
                <a:solidFill>
                  <a:srgbClr val="A31515"/>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202124"/>
                </a:solidFill>
                <a:latin typeface="Courier New" pitchFamily="34" charset="0"/>
                <a:ea typeface="Courier New" pitchFamily="34" charset="-122"/>
                <a:cs typeface="Courier New" pitchFamily="34" charset="-120"/>
              </a:rPr>
              <a:t>pd.read_sql(consulta, conexion)</a:t>
            </a:r>
            <a:endParaRPr lang="en-US" sz="1300" dirty="0"/>
          </a:p>
        </p:txBody>
      </p:sp>
      <p:sp>
        <p:nvSpPr>
          <p:cNvPr id="11" name="Text 8"/>
          <p:cNvSpPr txBox="1"/>
          <p:nvPr/>
        </p:nvSpPr>
        <p:spPr>
          <a:xfrm>
            <a:off x="1325880" y="4672584"/>
            <a:ext cx="5486400" cy="256032"/>
          </a:xfrm>
          <a:prstGeom prst="rect">
            <a:avLst/>
          </a:prstGeom>
          <a:noFill/>
          <a:ln/>
        </p:spPr>
        <p:txBody>
          <a:bodyPr wrap="square" lIns="0" tIns="0" rIns="0" bIns="0" rtlCol="0" anchor="ctr"/>
          <a:lstStyle/>
          <a:p>
            <a:pPr indent="0" marL="0">
              <a:buNone/>
            </a:pPr>
            <a:r>
              <a:rPr lang="en-US" sz="1200" b="1" dirty="0">
                <a:solidFill>
                  <a:srgbClr val="B06000"/>
                </a:solidFill>
                <a:latin typeface="Calibri" pitchFamily="34" charset="0"/>
                <a:ea typeface="Calibri" pitchFamily="34" charset="-122"/>
                <a:cs typeface="Calibri" pitchFamily="34" charset="-120"/>
              </a:rPr>
              <a:t>Clic en el botón de play para correr la celda</a:t>
            </a:r>
            <a:endParaRPr lang="en-US" sz="1200" dirty="0"/>
          </a:p>
        </p:txBody>
      </p:sp>
      <p:sp>
        <p:nvSpPr>
          <p:cNvPr id="12" name="Text 9"/>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3" name="Shape 10"/>
          <p:cNvSpPr/>
          <p:nvPr/>
        </p:nvSpPr>
        <p:spPr>
          <a:xfrm>
            <a:off x="548640" y="6062472"/>
            <a:ext cx="2002536" cy="566928"/>
          </a:xfrm>
          <a:prstGeom prst="roundRect">
            <a:avLst>
              <a:gd name="adj" fmla="val 11290"/>
            </a:avLst>
          </a:prstGeom>
          <a:solidFill>
            <a:srgbClr val="F1F3F4"/>
          </a:solidFill>
          <a:ln w="12700">
            <a:solidFill>
              <a:srgbClr val="DADCE0"/>
            </a:solidFill>
            <a:prstDash val="solid"/>
          </a:ln>
        </p:spPr>
      </p:sp>
      <p:sp>
        <p:nvSpPr>
          <p:cNvPr id="14" name="Text 11"/>
          <p:cNvSpPr txBox="1"/>
          <p:nvPr/>
        </p:nvSpPr>
        <p:spPr>
          <a:xfrm>
            <a:off x="640080"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respuesta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datos con 2 partes</a:t>
            </a:r>
            <a:endParaRPr lang="en-US" sz="1200" dirty="0"/>
          </a:p>
        </p:txBody>
      </p:sp>
      <p:sp>
        <p:nvSpPr>
          <p:cNvPr id="15" name="Shape 12"/>
          <p:cNvSpPr/>
          <p:nvPr/>
        </p:nvSpPr>
        <p:spPr>
          <a:xfrm>
            <a:off x="2688336" y="6062472"/>
            <a:ext cx="1143000" cy="566928"/>
          </a:xfrm>
          <a:prstGeom prst="roundRect">
            <a:avLst>
              <a:gd name="adj" fmla="val 11290"/>
            </a:avLst>
          </a:prstGeom>
          <a:solidFill>
            <a:srgbClr val="F1F3F4"/>
          </a:solidFill>
          <a:ln w="12700">
            <a:solidFill>
              <a:srgbClr val="DADCE0"/>
            </a:solidFill>
            <a:prstDash val="solid"/>
          </a:ln>
        </p:spPr>
      </p:sp>
      <p:sp>
        <p:nvSpPr>
          <p:cNvPr id="16" name="Text 13"/>
          <p:cNvSpPr txBox="1"/>
          <p:nvPr/>
        </p:nvSpPr>
        <p:spPr>
          <a:xfrm>
            <a:off x="2779776"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hojas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2 tablas</a:t>
            </a:r>
            <a:endParaRPr lang="en-US" sz="1200" dirty="0"/>
          </a:p>
        </p:txBody>
      </p:sp>
      <p:sp>
        <p:nvSpPr>
          <p:cNvPr id="17" name="Shape 14"/>
          <p:cNvSpPr/>
          <p:nvPr/>
        </p:nvSpPr>
        <p:spPr>
          <a:xfrm>
            <a:off x="3968496" y="6062472"/>
            <a:ext cx="2002536" cy="566928"/>
          </a:xfrm>
          <a:prstGeom prst="roundRect">
            <a:avLst>
              <a:gd name="adj" fmla="val 11290"/>
            </a:avLst>
          </a:prstGeom>
          <a:solidFill>
            <a:srgbClr val="F1F3F4"/>
          </a:solidFill>
          <a:ln w="12700">
            <a:solidFill>
              <a:srgbClr val="DADCE0"/>
            </a:solidFill>
            <a:prstDash val="solid"/>
          </a:ln>
        </p:spPr>
      </p:sp>
      <p:sp>
        <p:nvSpPr>
          <p:cNvPr id="18" name="Text 15"/>
          <p:cNvSpPr txBox="1"/>
          <p:nvPr/>
        </p:nvSpPr>
        <p:spPr>
          <a:xfrm>
            <a:off x="4059936"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resumen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serie de 7 valores</a:t>
            </a:r>
            <a:endParaRPr lang="en-US" sz="1200" dirty="0"/>
          </a:p>
        </p:txBody>
      </p:sp>
      <p:sp>
        <p:nvSpPr>
          <p:cNvPr id="19" name="Shape 16"/>
          <p:cNvSpPr/>
          <p:nvPr/>
        </p:nvSpPr>
        <p:spPr>
          <a:xfrm>
            <a:off x="6108192" y="6062472"/>
            <a:ext cx="1330452" cy="566928"/>
          </a:xfrm>
          <a:prstGeom prst="roundRect">
            <a:avLst>
              <a:gd name="adj" fmla="val 11290"/>
            </a:avLst>
          </a:prstGeom>
          <a:solidFill>
            <a:srgbClr val="F1F3F4"/>
          </a:solidFill>
          <a:ln w="12700">
            <a:solidFill>
              <a:srgbClr val="DADCE0"/>
            </a:solidFill>
            <a:prstDash val="solid"/>
          </a:ln>
        </p:spPr>
      </p:sp>
      <p:sp>
        <p:nvSpPr>
          <p:cNvPr id="20" name="Text 17"/>
          <p:cNvSpPr txBox="1"/>
          <p:nvPr/>
        </p:nvSpPr>
        <p:spPr>
          <a:xfrm>
            <a:off x="6199632" y="6071616"/>
            <a:ext cx="119329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agrupar_por</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"region"</a:t>
            </a:r>
            <a:endParaRPr lang="en-US" sz="1200" dirty="0"/>
          </a:p>
        </p:txBody>
      </p:sp>
      <p:sp>
        <p:nvSpPr>
          <p:cNvPr id="21" name="Shape 18"/>
          <p:cNvSpPr/>
          <p:nvPr/>
        </p:nvSpPr>
        <p:spPr>
          <a:xfrm>
            <a:off x="7575804" y="6062472"/>
            <a:ext cx="1143000" cy="566928"/>
          </a:xfrm>
          <a:prstGeom prst="roundRect">
            <a:avLst>
              <a:gd name="adj" fmla="val 11290"/>
            </a:avLst>
          </a:prstGeom>
          <a:solidFill>
            <a:srgbClr val="F1F3F4"/>
          </a:solidFill>
          <a:ln w="12700">
            <a:solidFill>
              <a:srgbClr val="DADCE0"/>
            </a:solidFill>
            <a:prstDash val="solid"/>
          </a:ln>
        </p:spPr>
      </p:sp>
      <p:sp>
        <p:nvSpPr>
          <p:cNvPr id="22" name="Text 19"/>
          <p:cNvSpPr txBox="1"/>
          <p:nvPr/>
        </p:nvSpPr>
        <p:spPr>
          <a:xfrm>
            <a:off x="7667244"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unida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52650.0</a:t>
            </a:r>
            <a:endParaRPr lang="en-US" sz="1200" dirty="0"/>
          </a:p>
        </p:txBody>
      </p:sp>
      <p:sp>
        <p:nvSpPr>
          <p:cNvPr id="23" name="Shape 20"/>
          <p:cNvSpPr/>
          <p:nvPr/>
        </p:nvSpPr>
        <p:spPr>
          <a:xfrm>
            <a:off x="8855964" y="6062472"/>
            <a:ext cx="1143000" cy="566928"/>
          </a:xfrm>
          <a:prstGeom prst="roundRect">
            <a:avLst>
              <a:gd name="adj" fmla="val 11290"/>
            </a:avLst>
          </a:prstGeom>
          <a:solidFill>
            <a:srgbClr val="F1F3F4"/>
          </a:solidFill>
          <a:ln w="12700">
            <a:solidFill>
              <a:srgbClr val="DADCE0"/>
            </a:solidFill>
            <a:prstDash val="solid"/>
          </a:ln>
        </p:spPr>
      </p:sp>
      <p:sp>
        <p:nvSpPr>
          <p:cNvPr id="24" name="Text 21"/>
          <p:cNvSpPr txBox="1"/>
          <p:nvPr/>
        </p:nvSpPr>
        <p:spPr>
          <a:xfrm>
            <a:off x="8947404"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real</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52650.0</a:t>
            </a:r>
            <a:endParaRPr lang="en-US" sz="1200" dirty="0"/>
          </a:p>
        </p:txBody>
      </p:sp>
      <p:sp>
        <p:nvSpPr>
          <p:cNvPr id="25" name="Text 22"/>
          <p:cNvSpPr txBox="1"/>
          <p:nvPr/>
        </p:nvSpPr>
        <p:spPr>
          <a:xfrm>
            <a:off x="10136124"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15 más</a:t>
            </a:r>
            <a:endParaRPr lang="en-US" sz="12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5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¿Y si vienen de una base de datos?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Cómo se lee esta línea, pieza por pieza</a:t>
            </a:r>
            <a:endParaRPr lang="en-US" sz="1400" dirty="0"/>
          </a:p>
        </p:txBody>
      </p:sp>
      <p:sp>
        <p:nvSpPr>
          <p:cNvPr id="6" name="Shape 4"/>
          <p:cNvSpPr/>
          <p:nvPr/>
        </p:nvSpPr>
        <p:spPr>
          <a:xfrm>
            <a:off x="548640" y="1463040"/>
            <a:ext cx="11091672" cy="1244600"/>
          </a:xfrm>
          <a:prstGeom prst="roundRect">
            <a:avLst>
              <a:gd name="adj" fmla="val 4408"/>
            </a:avLst>
          </a:prstGeom>
          <a:solidFill>
            <a:srgbClr val="F8F9FA"/>
          </a:solidFill>
          <a:ln w="12700">
            <a:solidFill>
              <a:srgbClr val="DADCE0"/>
            </a:solidFill>
            <a:prstDash val="solid"/>
          </a:ln>
        </p:spPr>
      </p:sp>
      <p:sp>
        <p:nvSpPr>
          <p:cNvPr id="7" name="Text 5"/>
          <p:cNvSpPr txBox="1"/>
          <p:nvPr/>
        </p:nvSpPr>
        <p:spPr>
          <a:xfrm>
            <a:off x="822960" y="1554480"/>
            <a:ext cx="10634472" cy="1107440"/>
          </a:xfrm>
          <a:prstGeom prst="rect">
            <a:avLst/>
          </a:prstGeom>
          <a:noFill/>
          <a:ln/>
        </p:spPr>
        <p:txBody>
          <a:bodyPr wrap="square" lIns="0" tIns="0" rIns="0" bIns="0" rtlCol="0" anchor="ctr"/>
          <a:lstStyle/>
          <a:p>
            <a:pPr indent="0" marL="0">
              <a:buNone/>
            </a:pPr>
            <a:r>
              <a:rPr lang="en-US" sz="1600" dirty="0">
                <a:solidFill>
                  <a:srgbClr val="202124"/>
                </a:solidFill>
                <a:latin typeface="Courier New" pitchFamily="34" charset="0"/>
                <a:ea typeface="Courier New" pitchFamily="34" charset="-122"/>
                <a:cs typeface="Courier New" pitchFamily="34" charset="-120"/>
              </a:rPr>
              <a:t>SELECT region, SUM(mwh) AS demanda_total</a:t>
            </a:r>
            <a:endParaRPr lang="en-US" sz="1600" dirty="0"/>
          </a:p>
          <a:p>
            <a:pPr indent="0" marL="0">
              <a:buNone/>
            </a:pPr>
            <a:r>
              <a:rPr lang="en-US" sz="1600" dirty="0">
                <a:solidFill>
                  <a:srgbClr val="202124"/>
                </a:solidFill>
                <a:latin typeface="Courier New" pitchFamily="34" charset="0"/>
                <a:ea typeface="Courier New" pitchFamily="34" charset="-122"/>
                <a:cs typeface="Courier New" pitchFamily="34" charset="-120"/>
              </a:rPr>
              <a:t>FROM demanda</a:t>
            </a:r>
            <a:endParaRPr lang="en-US" sz="1600" dirty="0"/>
          </a:p>
          <a:p>
            <a:pPr indent="0" marL="0">
              <a:buNone/>
            </a:pPr>
            <a:r>
              <a:rPr lang="en-US" sz="1600" dirty="0">
                <a:solidFill>
                  <a:srgbClr val="202124"/>
                </a:solidFill>
                <a:latin typeface="Courier New" pitchFamily="34" charset="0"/>
                <a:ea typeface="Courier New" pitchFamily="34" charset="-122"/>
                <a:cs typeface="Courier New" pitchFamily="34" charset="-120"/>
              </a:rPr>
              <a:t>GROUP BY region</a:t>
            </a:r>
            <a:endParaRPr lang="en-US" sz="1600" dirty="0"/>
          </a:p>
          <a:p>
            <a:pPr indent="0" marL="0">
              <a:buNone/>
            </a:pPr>
            <a:r>
              <a:rPr lang="en-US" sz="1600" dirty="0">
                <a:solidFill>
                  <a:srgbClr val="202124"/>
                </a:solidFill>
                <a:latin typeface="Courier New" pitchFamily="34" charset="0"/>
                <a:ea typeface="Courier New" pitchFamily="34" charset="-122"/>
                <a:cs typeface="Courier New" pitchFamily="34" charset="-120"/>
              </a:rPr>
              <a:t>ORDER BY demanda_total DESC</a:t>
            </a:r>
            <a:endParaRPr lang="en-US" sz="1600" dirty="0"/>
          </a:p>
        </p:txBody>
      </p:sp>
      <p:sp>
        <p:nvSpPr>
          <p:cNvPr id="8" name="Shape 6"/>
          <p:cNvSpPr/>
          <p:nvPr/>
        </p:nvSpPr>
        <p:spPr>
          <a:xfrm>
            <a:off x="548640" y="3066079"/>
            <a:ext cx="329184" cy="329184"/>
          </a:xfrm>
          <a:prstGeom prst="ellipse">
            <a:avLst/>
          </a:prstGeom>
          <a:solidFill>
            <a:srgbClr val="1A6FD4"/>
          </a:solidFill>
          <a:ln w="12700">
            <a:solidFill>
              <a:srgbClr val="1A6FD4"/>
            </a:solidFill>
            <a:prstDash val="solid"/>
          </a:ln>
        </p:spPr>
      </p:sp>
      <p:sp>
        <p:nvSpPr>
          <p:cNvPr id="9" name="Text 7"/>
          <p:cNvSpPr txBox="1"/>
          <p:nvPr/>
        </p:nvSpPr>
        <p:spPr>
          <a:xfrm>
            <a:off x="548640" y="3066079"/>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Shape 8"/>
          <p:cNvSpPr/>
          <p:nvPr/>
        </p:nvSpPr>
        <p:spPr>
          <a:xfrm>
            <a:off x="1051560" y="2981960"/>
            <a:ext cx="4937760" cy="497422"/>
          </a:xfrm>
          <a:prstGeom prst="roundRect">
            <a:avLst>
              <a:gd name="adj" fmla="val 9191"/>
            </a:avLst>
          </a:prstGeom>
          <a:solidFill>
            <a:srgbClr val="DBE9FB"/>
          </a:solidFill>
          <a:ln w="12700">
            <a:solidFill>
              <a:srgbClr val="DBE9FB"/>
            </a:solidFill>
            <a:prstDash val="solid"/>
          </a:ln>
        </p:spPr>
      </p:sp>
      <p:sp>
        <p:nvSpPr>
          <p:cNvPr id="11" name="Text 9"/>
          <p:cNvSpPr txBox="1"/>
          <p:nvPr/>
        </p:nvSpPr>
        <p:spPr>
          <a:xfrm>
            <a:off x="1170432" y="2981960"/>
            <a:ext cx="4754880" cy="497422"/>
          </a:xfrm>
          <a:prstGeom prst="rect">
            <a:avLst/>
          </a:prstGeom>
          <a:noFill/>
          <a:ln/>
        </p:spPr>
        <p:txBody>
          <a:bodyPr wrap="square" lIns="0" tIns="0" rIns="0" bIns="0" rtlCol="0" anchor="ctr"/>
          <a:lstStyle/>
          <a:p>
            <a:pPr indent="0" marL="0">
              <a:buNone/>
            </a:pPr>
            <a:r>
              <a:rPr lang="en-US" sz="1313" b="1" dirty="0">
                <a:solidFill>
                  <a:srgbClr val="202124"/>
                </a:solidFill>
                <a:latin typeface="Courier New" pitchFamily="34" charset="0"/>
                <a:ea typeface="Courier New" pitchFamily="34" charset="-122"/>
                <a:cs typeface="Courier New" pitchFamily="34" charset="-120"/>
              </a:rPr>
              <a:t>SELECT region, SUM(mwh)</a:t>
            </a:r>
            <a:endParaRPr lang="en-US" sz="1313" dirty="0"/>
          </a:p>
        </p:txBody>
      </p:sp>
      <p:sp>
        <p:nvSpPr>
          <p:cNvPr id="12" name="Text 10"/>
          <p:cNvSpPr txBox="1"/>
          <p:nvPr/>
        </p:nvSpPr>
        <p:spPr>
          <a:xfrm>
            <a:off x="6263640" y="2981960"/>
            <a:ext cx="5376672" cy="497422"/>
          </a:xfrm>
          <a:prstGeom prst="rect">
            <a:avLst/>
          </a:prstGeom>
          <a:noFill/>
          <a:ln/>
        </p:spPr>
        <p:txBody>
          <a:bodyPr wrap="square" lIns="0" tIns="0" rIns="0" bIns="0" rtlCol="0" anchor="ctr"/>
          <a:lstStyle/>
          <a:p>
            <a:pPr indent="0" marL="0">
              <a:buNone/>
            </a:pPr>
            <a:r>
              <a:rPr lang="en-US" sz="1501" dirty="0">
                <a:solidFill>
                  <a:srgbClr val="202124"/>
                </a:solidFill>
                <a:latin typeface="Calibri" pitchFamily="34" charset="0"/>
                <a:ea typeface="Calibri" pitchFamily="34" charset="-122"/>
                <a:cs typeface="Calibri" pitchFamily="34" charset="-120"/>
              </a:rPr>
              <a:t>Qué columnas traer. La región y la suma de mwh.</a:t>
            </a:r>
            <a:endParaRPr lang="en-US" sz="1501" dirty="0"/>
          </a:p>
        </p:txBody>
      </p:sp>
      <p:sp>
        <p:nvSpPr>
          <p:cNvPr id="13" name="Shape 11"/>
          <p:cNvSpPr/>
          <p:nvPr/>
        </p:nvSpPr>
        <p:spPr>
          <a:xfrm>
            <a:off x="548640" y="3649263"/>
            <a:ext cx="329184" cy="329184"/>
          </a:xfrm>
          <a:prstGeom prst="ellipse">
            <a:avLst/>
          </a:prstGeom>
          <a:solidFill>
            <a:srgbClr val="1E8E3E"/>
          </a:solidFill>
          <a:ln w="12700">
            <a:solidFill>
              <a:srgbClr val="1E8E3E"/>
            </a:solidFill>
            <a:prstDash val="solid"/>
          </a:ln>
        </p:spPr>
      </p:sp>
      <p:sp>
        <p:nvSpPr>
          <p:cNvPr id="14" name="Text 12"/>
          <p:cNvSpPr txBox="1"/>
          <p:nvPr/>
        </p:nvSpPr>
        <p:spPr>
          <a:xfrm>
            <a:off x="548640" y="3649263"/>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Shape 13"/>
          <p:cNvSpPr/>
          <p:nvPr/>
        </p:nvSpPr>
        <p:spPr>
          <a:xfrm>
            <a:off x="1051560" y="3565144"/>
            <a:ext cx="4937760" cy="497422"/>
          </a:xfrm>
          <a:prstGeom prst="roundRect">
            <a:avLst>
              <a:gd name="adj" fmla="val 9191"/>
            </a:avLst>
          </a:prstGeom>
          <a:solidFill>
            <a:srgbClr val="DCEFE0"/>
          </a:solidFill>
          <a:ln w="12700">
            <a:solidFill>
              <a:srgbClr val="DCEFE0"/>
            </a:solidFill>
            <a:prstDash val="solid"/>
          </a:ln>
        </p:spPr>
      </p:sp>
      <p:sp>
        <p:nvSpPr>
          <p:cNvPr id="16" name="Text 14"/>
          <p:cNvSpPr txBox="1"/>
          <p:nvPr/>
        </p:nvSpPr>
        <p:spPr>
          <a:xfrm>
            <a:off x="1170432" y="3565144"/>
            <a:ext cx="4754880" cy="497422"/>
          </a:xfrm>
          <a:prstGeom prst="rect">
            <a:avLst/>
          </a:prstGeom>
          <a:noFill/>
          <a:ln/>
        </p:spPr>
        <p:txBody>
          <a:bodyPr wrap="square" lIns="0" tIns="0" rIns="0" bIns="0" rtlCol="0" anchor="ctr"/>
          <a:lstStyle/>
          <a:p>
            <a:pPr indent="0" marL="0">
              <a:buNone/>
            </a:pPr>
            <a:r>
              <a:rPr lang="en-US" sz="1313" b="1" dirty="0">
                <a:solidFill>
                  <a:srgbClr val="202124"/>
                </a:solidFill>
                <a:latin typeface="Courier New" pitchFamily="34" charset="0"/>
                <a:ea typeface="Courier New" pitchFamily="34" charset="-122"/>
                <a:cs typeface="Courier New" pitchFamily="34" charset="-120"/>
              </a:rPr>
              <a:t>AS demanda_total</a:t>
            </a:r>
            <a:endParaRPr lang="en-US" sz="1313" dirty="0"/>
          </a:p>
        </p:txBody>
      </p:sp>
      <p:sp>
        <p:nvSpPr>
          <p:cNvPr id="17" name="Text 15"/>
          <p:cNvSpPr txBox="1"/>
          <p:nvPr/>
        </p:nvSpPr>
        <p:spPr>
          <a:xfrm>
            <a:off x="6263640" y="3565144"/>
            <a:ext cx="5376672" cy="497422"/>
          </a:xfrm>
          <a:prstGeom prst="rect">
            <a:avLst/>
          </a:prstGeom>
          <a:noFill/>
          <a:ln/>
        </p:spPr>
        <p:txBody>
          <a:bodyPr wrap="square" lIns="0" tIns="0" rIns="0" bIns="0" rtlCol="0" anchor="ctr"/>
          <a:lstStyle/>
          <a:p>
            <a:pPr indent="0" marL="0">
              <a:buNone/>
            </a:pPr>
            <a:r>
              <a:rPr lang="en-US" sz="1501" dirty="0">
                <a:solidFill>
                  <a:srgbClr val="202124"/>
                </a:solidFill>
                <a:latin typeface="Calibri" pitchFamily="34" charset="0"/>
                <a:ea typeface="Calibri" pitchFamily="34" charset="-122"/>
                <a:cs typeface="Calibri" pitchFamily="34" charset="-120"/>
              </a:rPr>
              <a:t>Le pone nombre a la suma.</a:t>
            </a:r>
            <a:endParaRPr lang="en-US" sz="1501" dirty="0"/>
          </a:p>
        </p:txBody>
      </p:sp>
      <p:sp>
        <p:nvSpPr>
          <p:cNvPr id="18" name="Shape 16"/>
          <p:cNvSpPr/>
          <p:nvPr/>
        </p:nvSpPr>
        <p:spPr>
          <a:xfrm>
            <a:off x="548640" y="4232447"/>
            <a:ext cx="329184" cy="329184"/>
          </a:xfrm>
          <a:prstGeom prst="ellipse">
            <a:avLst/>
          </a:prstGeom>
          <a:solidFill>
            <a:srgbClr val="B07D00"/>
          </a:solidFill>
          <a:ln w="12700">
            <a:solidFill>
              <a:srgbClr val="B07D00"/>
            </a:solidFill>
            <a:prstDash val="solid"/>
          </a:ln>
        </p:spPr>
      </p:sp>
      <p:sp>
        <p:nvSpPr>
          <p:cNvPr id="19" name="Text 17"/>
          <p:cNvSpPr txBox="1"/>
          <p:nvPr/>
        </p:nvSpPr>
        <p:spPr>
          <a:xfrm>
            <a:off x="548640" y="4232447"/>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0" name="Shape 18"/>
          <p:cNvSpPr/>
          <p:nvPr/>
        </p:nvSpPr>
        <p:spPr>
          <a:xfrm>
            <a:off x="1051560" y="4148328"/>
            <a:ext cx="4937760" cy="497422"/>
          </a:xfrm>
          <a:prstGeom prst="roundRect">
            <a:avLst>
              <a:gd name="adj" fmla="val 9191"/>
            </a:avLst>
          </a:prstGeom>
          <a:solidFill>
            <a:srgbClr val="FDF0C8"/>
          </a:solidFill>
          <a:ln w="12700">
            <a:solidFill>
              <a:srgbClr val="FDF0C8"/>
            </a:solidFill>
            <a:prstDash val="solid"/>
          </a:ln>
        </p:spPr>
      </p:sp>
      <p:sp>
        <p:nvSpPr>
          <p:cNvPr id="21" name="Text 19"/>
          <p:cNvSpPr txBox="1"/>
          <p:nvPr/>
        </p:nvSpPr>
        <p:spPr>
          <a:xfrm>
            <a:off x="1170432" y="4148328"/>
            <a:ext cx="4754880" cy="497422"/>
          </a:xfrm>
          <a:prstGeom prst="rect">
            <a:avLst/>
          </a:prstGeom>
          <a:noFill/>
          <a:ln/>
        </p:spPr>
        <p:txBody>
          <a:bodyPr wrap="square" lIns="0" tIns="0" rIns="0" bIns="0" rtlCol="0" anchor="ctr"/>
          <a:lstStyle/>
          <a:p>
            <a:pPr indent="0" marL="0">
              <a:buNone/>
            </a:pPr>
            <a:r>
              <a:rPr lang="en-US" sz="1313" b="1" dirty="0">
                <a:solidFill>
                  <a:srgbClr val="202124"/>
                </a:solidFill>
                <a:latin typeface="Courier New" pitchFamily="34" charset="0"/>
                <a:ea typeface="Courier New" pitchFamily="34" charset="-122"/>
                <a:cs typeface="Courier New" pitchFamily="34" charset="-120"/>
              </a:rPr>
              <a:t>FROM demanda</a:t>
            </a:r>
            <a:endParaRPr lang="en-US" sz="1313" dirty="0"/>
          </a:p>
        </p:txBody>
      </p:sp>
      <p:sp>
        <p:nvSpPr>
          <p:cNvPr id="22" name="Text 20"/>
          <p:cNvSpPr txBox="1"/>
          <p:nvPr/>
        </p:nvSpPr>
        <p:spPr>
          <a:xfrm>
            <a:off x="6263640" y="4148328"/>
            <a:ext cx="5376672" cy="497422"/>
          </a:xfrm>
          <a:prstGeom prst="rect">
            <a:avLst/>
          </a:prstGeom>
          <a:noFill/>
          <a:ln/>
        </p:spPr>
        <p:txBody>
          <a:bodyPr wrap="square" lIns="0" tIns="0" rIns="0" bIns="0" rtlCol="0" anchor="ctr"/>
          <a:lstStyle/>
          <a:p>
            <a:pPr indent="0" marL="0">
              <a:buNone/>
            </a:pPr>
            <a:r>
              <a:rPr lang="en-US" sz="1501" dirty="0">
                <a:solidFill>
                  <a:srgbClr val="202124"/>
                </a:solidFill>
                <a:latin typeface="Calibri" pitchFamily="34" charset="0"/>
                <a:ea typeface="Calibri" pitchFamily="34" charset="-122"/>
                <a:cs typeface="Calibri" pitchFamily="34" charset="-120"/>
              </a:rPr>
              <a:t>De qué tabla de la base.</a:t>
            </a:r>
            <a:endParaRPr lang="en-US" sz="1501" dirty="0"/>
          </a:p>
        </p:txBody>
      </p:sp>
      <p:sp>
        <p:nvSpPr>
          <p:cNvPr id="23" name="Shape 21"/>
          <p:cNvSpPr/>
          <p:nvPr/>
        </p:nvSpPr>
        <p:spPr>
          <a:xfrm>
            <a:off x="548640" y="4815631"/>
            <a:ext cx="329184" cy="329184"/>
          </a:xfrm>
          <a:prstGeom prst="ellipse">
            <a:avLst/>
          </a:prstGeom>
          <a:solidFill>
            <a:srgbClr val="7B4FC9"/>
          </a:solidFill>
          <a:ln w="12700">
            <a:solidFill>
              <a:srgbClr val="7B4FC9"/>
            </a:solidFill>
            <a:prstDash val="solid"/>
          </a:ln>
        </p:spPr>
      </p:sp>
      <p:sp>
        <p:nvSpPr>
          <p:cNvPr id="24" name="Text 22"/>
          <p:cNvSpPr txBox="1"/>
          <p:nvPr/>
        </p:nvSpPr>
        <p:spPr>
          <a:xfrm>
            <a:off x="548640" y="4815631"/>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25" name="Shape 23"/>
          <p:cNvSpPr/>
          <p:nvPr/>
        </p:nvSpPr>
        <p:spPr>
          <a:xfrm>
            <a:off x="1051560" y="4731512"/>
            <a:ext cx="4937760" cy="497422"/>
          </a:xfrm>
          <a:prstGeom prst="roundRect">
            <a:avLst>
              <a:gd name="adj" fmla="val 9191"/>
            </a:avLst>
          </a:prstGeom>
          <a:solidFill>
            <a:srgbClr val="ECE2FA"/>
          </a:solidFill>
          <a:ln w="12700">
            <a:solidFill>
              <a:srgbClr val="ECE2FA"/>
            </a:solidFill>
            <a:prstDash val="solid"/>
          </a:ln>
        </p:spPr>
      </p:sp>
      <p:sp>
        <p:nvSpPr>
          <p:cNvPr id="26" name="Text 24"/>
          <p:cNvSpPr txBox="1"/>
          <p:nvPr/>
        </p:nvSpPr>
        <p:spPr>
          <a:xfrm>
            <a:off x="1170432" y="4731512"/>
            <a:ext cx="4754880" cy="497422"/>
          </a:xfrm>
          <a:prstGeom prst="rect">
            <a:avLst/>
          </a:prstGeom>
          <a:noFill/>
          <a:ln/>
        </p:spPr>
        <p:txBody>
          <a:bodyPr wrap="square" lIns="0" tIns="0" rIns="0" bIns="0" rtlCol="0" anchor="ctr"/>
          <a:lstStyle/>
          <a:p>
            <a:pPr indent="0" marL="0">
              <a:buNone/>
            </a:pPr>
            <a:r>
              <a:rPr lang="en-US" sz="1313" b="1" dirty="0">
                <a:solidFill>
                  <a:srgbClr val="202124"/>
                </a:solidFill>
                <a:latin typeface="Courier New" pitchFamily="34" charset="0"/>
                <a:ea typeface="Courier New" pitchFamily="34" charset="-122"/>
                <a:cs typeface="Courier New" pitchFamily="34" charset="-120"/>
              </a:rPr>
              <a:t>GROUP BY region</a:t>
            </a:r>
            <a:endParaRPr lang="en-US" sz="1313" dirty="0"/>
          </a:p>
        </p:txBody>
      </p:sp>
      <p:sp>
        <p:nvSpPr>
          <p:cNvPr id="27" name="Text 25"/>
          <p:cNvSpPr txBox="1"/>
          <p:nvPr/>
        </p:nvSpPr>
        <p:spPr>
          <a:xfrm>
            <a:off x="6263640" y="4731512"/>
            <a:ext cx="5376672" cy="497422"/>
          </a:xfrm>
          <a:prstGeom prst="rect">
            <a:avLst/>
          </a:prstGeom>
          <a:noFill/>
          <a:ln/>
        </p:spPr>
        <p:txBody>
          <a:bodyPr wrap="square" lIns="0" tIns="0" rIns="0" bIns="0" rtlCol="0" anchor="ctr"/>
          <a:lstStyle/>
          <a:p>
            <a:pPr indent="0" marL="0">
              <a:buNone/>
            </a:pPr>
            <a:r>
              <a:rPr lang="en-US" sz="1501" dirty="0">
                <a:solidFill>
                  <a:srgbClr val="202124"/>
                </a:solidFill>
                <a:latin typeface="Calibri" pitchFamily="34" charset="0"/>
                <a:ea typeface="Calibri" pitchFamily="34" charset="-122"/>
                <a:cs typeface="Calibri" pitchFamily="34" charset="-120"/>
              </a:rPr>
              <a:t>Suma por región, igual que groupby en pandas.</a:t>
            </a:r>
            <a:endParaRPr lang="en-US" sz="1501" dirty="0"/>
          </a:p>
        </p:txBody>
      </p:sp>
      <p:sp>
        <p:nvSpPr>
          <p:cNvPr id="28" name="Shape 26"/>
          <p:cNvSpPr/>
          <p:nvPr/>
        </p:nvSpPr>
        <p:spPr>
          <a:xfrm>
            <a:off x="548640" y="5398815"/>
            <a:ext cx="329184" cy="329184"/>
          </a:xfrm>
          <a:prstGeom prst="ellipse">
            <a:avLst/>
          </a:prstGeom>
          <a:solidFill>
            <a:srgbClr val="C5221F"/>
          </a:solidFill>
          <a:ln w="12700">
            <a:solidFill>
              <a:srgbClr val="C5221F"/>
            </a:solidFill>
            <a:prstDash val="solid"/>
          </a:ln>
        </p:spPr>
      </p:sp>
      <p:sp>
        <p:nvSpPr>
          <p:cNvPr id="29" name="Text 27"/>
          <p:cNvSpPr txBox="1"/>
          <p:nvPr/>
        </p:nvSpPr>
        <p:spPr>
          <a:xfrm>
            <a:off x="548640" y="5398815"/>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30" name="Shape 28"/>
          <p:cNvSpPr/>
          <p:nvPr/>
        </p:nvSpPr>
        <p:spPr>
          <a:xfrm>
            <a:off x="1051560" y="5314696"/>
            <a:ext cx="4937760" cy="497422"/>
          </a:xfrm>
          <a:prstGeom prst="roundRect">
            <a:avLst>
              <a:gd name="adj" fmla="val 9191"/>
            </a:avLst>
          </a:prstGeom>
          <a:solidFill>
            <a:srgbClr val="FCE8E6"/>
          </a:solidFill>
          <a:ln w="12700">
            <a:solidFill>
              <a:srgbClr val="FCE8E6"/>
            </a:solidFill>
            <a:prstDash val="solid"/>
          </a:ln>
        </p:spPr>
      </p:sp>
      <p:sp>
        <p:nvSpPr>
          <p:cNvPr id="31" name="Text 29"/>
          <p:cNvSpPr txBox="1"/>
          <p:nvPr/>
        </p:nvSpPr>
        <p:spPr>
          <a:xfrm>
            <a:off x="1170432" y="5314696"/>
            <a:ext cx="4754880" cy="497422"/>
          </a:xfrm>
          <a:prstGeom prst="rect">
            <a:avLst/>
          </a:prstGeom>
          <a:noFill/>
          <a:ln/>
        </p:spPr>
        <p:txBody>
          <a:bodyPr wrap="square" lIns="0" tIns="0" rIns="0" bIns="0" rtlCol="0" anchor="ctr"/>
          <a:lstStyle/>
          <a:p>
            <a:pPr indent="0" marL="0">
              <a:buNone/>
            </a:pPr>
            <a:r>
              <a:rPr lang="en-US" sz="1313" b="1" dirty="0">
                <a:solidFill>
                  <a:srgbClr val="202124"/>
                </a:solidFill>
                <a:latin typeface="Courier New" pitchFamily="34" charset="0"/>
                <a:ea typeface="Courier New" pitchFamily="34" charset="-122"/>
                <a:cs typeface="Courier New" pitchFamily="34" charset="-120"/>
              </a:rPr>
              <a:t>ORDER BY ... DESC</a:t>
            </a:r>
            <a:endParaRPr lang="en-US" sz="1313" dirty="0"/>
          </a:p>
        </p:txBody>
      </p:sp>
      <p:sp>
        <p:nvSpPr>
          <p:cNvPr id="32" name="Text 30"/>
          <p:cNvSpPr txBox="1"/>
          <p:nvPr/>
        </p:nvSpPr>
        <p:spPr>
          <a:xfrm>
            <a:off x="6263640" y="5314696"/>
            <a:ext cx="5376672" cy="497422"/>
          </a:xfrm>
          <a:prstGeom prst="rect">
            <a:avLst/>
          </a:prstGeom>
          <a:noFill/>
          <a:ln/>
        </p:spPr>
        <p:txBody>
          <a:bodyPr wrap="square" lIns="0" tIns="0" rIns="0" bIns="0" rtlCol="0" anchor="ctr"/>
          <a:lstStyle/>
          <a:p>
            <a:pPr indent="0" marL="0">
              <a:buNone/>
            </a:pPr>
            <a:r>
              <a:rPr lang="en-US" sz="1501" dirty="0">
                <a:solidFill>
                  <a:srgbClr val="202124"/>
                </a:solidFill>
                <a:latin typeface="Calibri" pitchFamily="34" charset="0"/>
                <a:ea typeface="Calibri" pitchFamily="34" charset="-122"/>
                <a:cs typeface="Calibri" pitchFamily="34" charset="-120"/>
              </a:rPr>
              <a:t>Ordena de mayor a menor. DESC es descendente.</a:t>
            </a:r>
            <a:endParaRPr lang="en-US" sz="1501" dirty="0"/>
          </a:p>
        </p:txBody>
      </p:sp>
      <p:sp>
        <p:nvSpPr>
          <p:cNvPr id="33" name="Shape 31"/>
          <p:cNvSpPr/>
          <p:nvPr/>
        </p:nvSpPr>
        <p:spPr>
          <a:xfrm>
            <a:off x="548640" y="5989320"/>
            <a:ext cx="73152" cy="548640"/>
          </a:xfrm>
          <a:prstGeom prst="rect">
            <a:avLst/>
          </a:prstGeom>
          <a:solidFill>
            <a:srgbClr val="0B3D62"/>
          </a:solidFill>
          <a:ln w="12700">
            <a:solidFill>
              <a:srgbClr val="0B3D62"/>
            </a:solidFill>
            <a:prstDash val="solid"/>
          </a:ln>
        </p:spPr>
      </p:sp>
      <p:sp>
        <p:nvSpPr>
          <p:cNvPr id="34" name="Text 32"/>
          <p:cNvSpPr txBox="1"/>
          <p:nvPr/>
        </p:nvSpPr>
        <p:spPr>
          <a:xfrm>
            <a:off x="777240" y="5989320"/>
            <a:ext cx="10863072" cy="548640"/>
          </a:xfrm>
          <a:prstGeom prst="rect">
            <a:avLst/>
          </a:prstGeom>
          <a:noFill/>
          <a:ln/>
        </p:spPr>
        <p:txBody>
          <a:bodyPr wrap="square" lIns="0" tIns="0" rIns="0" bIns="0" rtlCol="0" anchor="ctr"/>
          <a:lstStyle/>
          <a:p>
            <a:pPr indent="0" marL="0">
              <a:buNone/>
            </a:pPr>
            <a:r>
              <a:rPr lang="en-US" sz="1500" b="1" dirty="0">
                <a:solidFill>
                  <a:srgbClr val="0B3D62"/>
                </a:solidFill>
                <a:latin typeface="Calibri" pitchFamily="34" charset="0"/>
                <a:ea typeface="Calibri" pitchFamily="34" charset="-122"/>
                <a:cs typeface="Calibri" pitchFamily="34" charset="-120"/>
              </a:rPr>
              <a:t>Se lee así  </a:t>
            </a:r>
            <a:pPr indent="0" marL="0">
              <a:buNone/>
            </a:pPr>
            <a:r>
              <a:rPr lang="en-US" sz="1500" dirty="0">
                <a:solidFill>
                  <a:srgbClr val="202124"/>
                </a:solidFill>
                <a:latin typeface="Calibri" pitchFamily="34" charset="0"/>
                <a:ea typeface="Calibri" pitchFamily="34" charset="-122"/>
                <a:cs typeface="Calibri" pitchFamily="34" charset="-120"/>
              </a:rPr>
              <a:t>trae la demanda total de cada región, de la mayor a la menor.</a:t>
            </a:r>
            <a:endParaRPr lang="en-US" sz="15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5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¿Y si vienen de una base de datos?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Corre la celda.</a:t>
            </a:r>
            <a:endParaRPr lang="en-US" sz="1400" dirty="0"/>
          </a:p>
        </p:txBody>
      </p:sp>
      <p:sp>
        <p:nvSpPr>
          <p:cNvPr id="6" name="Text 4"/>
          <p:cNvSpPr txBox="1"/>
          <p:nvPr/>
        </p:nvSpPr>
        <p:spPr>
          <a:xfrm>
            <a:off x="548640" y="1481328"/>
            <a:ext cx="5486400" cy="274320"/>
          </a:xfrm>
          <a:prstGeom prst="rect">
            <a:avLst/>
          </a:prstGeom>
          <a:noFill/>
          <a:ln/>
        </p:spPr>
        <p:txBody>
          <a:bodyPr wrap="square" lIns="0" tIns="0" rIns="0" bIns="0" rtlCol="0" anchor="ctr"/>
          <a:lstStyle/>
          <a:p>
            <a:pPr indent="0" marL="0">
              <a:buNone/>
            </a:pPr>
            <a:r>
              <a:rPr lang="en-US" sz="1300" b="1" dirty="0">
                <a:solidFill>
                  <a:srgbClr val="5F6368"/>
                </a:solidFill>
                <a:latin typeface="Calibri" pitchFamily="34" charset="0"/>
                <a:ea typeface="Calibri" pitchFamily="34" charset="-122"/>
                <a:cs typeface="Calibri" pitchFamily="34" charset="-120"/>
              </a:rPr>
              <a:t>Respuesta de la celda</a:t>
            </a:r>
            <a:endParaRPr lang="en-US" sz="1300" dirty="0"/>
          </a:p>
        </p:txBody>
      </p:sp>
      <p:graphicFrame>
        <p:nvGraphicFramePr>
          <p:cNvPr id="64" name="Table 0"/>
          <p:cNvGraphicFramePr>
            <a:graphicFrameLocks noGrp="1"/>
          </p:cNvGraphicFramePr>
          <p:nvPr>
            <p:extLst>
              <p:ext uri="{D42A27DB-BD31-4B8C-83A1-F6EECF244321}">
                <p14:modId xmlns:p14="http://schemas.microsoft.com/office/powerpoint/2010/main" val="1579011935"/>
              </p:ext>
            </p:extLst>
          </p:nvPr>
        </p:nvGraphicFramePr>
        <p:xfrm>
          <a:off x="1325880" y="1828800"/>
          <a:ext cx="9144000" cy="914400"/>
        </p:xfrm>
        <a:graphic>
          <a:graphicData uri="http://schemas.openxmlformats.org/drawingml/2006/table">
            <a:tbl>
              <a:tblPr/>
              <a:tblGrid>
                <a:gridCol w="365760"/>
                <a:gridCol w="1463040"/>
                <a:gridCol w="1463040"/>
              </a:tblGrid>
              <a:tr h="237744">
                <a:tc>
                  <a:txBody>
                    <a:bodyPr/>
                    <a:lstStyle/>
                    <a:p>
                      <a:pPr indent="0" marL="0">
                        <a:buNone/>
                      </a:pP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region</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c>
                  <a:txBody>
                    <a:bodyPr/>
                    <a:lstStyle/>
                    <a:p>
                      <a:pPr indent="0" marL="0">
                        <a:buNone/>
                      </a:pPr>
                      <a:r>
                        <a:rPr lang="en-US" sz="1100" b="1" dirty="0">
                          <a:solidFill>
                            <a:srgbClr val="202124"/>
                          </a:solidFill>
                          <a:latin typeface="Courier New" pitchFamily="34" charset="0"/>
                          <a:ea typeface="Courier New" pitchFamily="34" charset="-122"/>
                          <a:cs typeface="Courier New" pitchFamily="34" charset="-120"/>
                        </a:rPr>
                        <a:t>demanda_total</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solidFill>
                      <a:srgbClr val="F1F3F4"/>
                    </a:solidFill>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Metropolitana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7779657.53</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Valparaíso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1825770.20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2</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Biobío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1632753.33</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3</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Los Lagos</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864564.87</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4</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Coquimbo</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816624.13</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5</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Antofagasta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672440.52</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r h="237744">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6</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Atacama</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c>
                  <a:txBody>
                    <a:bodyPr/>
                    <a:lstStyle/>
                    <a:p>
                      <a:pPr indent="0" marL="0">
                        <a:buNone/>
                      </a:pPr>
                      <a:r>
                        <a:rPr lang="en-US" sz="1100" dirty="0">
                          <a:solidFill>
                            <a:srgbClr val="202124"/>
                          </a:solidFill>
                          <a:latin typeface="Courier New" pitchFamily="34" charset="0"/>
                          <a:ea typeface="Courier New" pitchFamily="34" charset="-122"/>
                          <a:cs typeface="Courier New" pitchFamily="34" charset="-120"/>
                        </a:rPr>
                        <a:t>307486.00</a:t>
                      </a:r>
                      <a:endParaRPr lang="en-US" sz="1100" dirty="0">
                        <a:latin typeface="Courier New" charset="0"/>
                        <a:ea typeface="Courier New" charset="0"/>
                        <a:cs typeface="Courier New" charset="0"/>
                      </a:endParaRPr>
                    </a:p>
                  </a:txBody>
                  <a:tcPr marL="54864" marR="54864" marT="18288" marB="18288">
                    <a:lnL w="6350" cap="flat" cmpd="sng" algn="ctr">
                      <a:solidFill>
                        <a:srgbClr val="DADCE0"/>
                      </a:solidFill>
                      <a:prstDash val="solid"/>
                      <a:round/>
                      <a:headEnd type="none" w="med" len="med"/>
                      <a:tailEnd type="none" w="med" len="med"/>
                    </a:lnL>
                    <a:lnR w="6350" cap="flat" cmpd="sng" algn="ctr">
                      <a:solidFill>
                        <a:srgbClr val="DADCE0"/>
                      </a:solidFill>
                      <a:prstDash val="solid"/>
                      <a:round/>
                      <a:headEnd type="none" w="med" len="med"/>
                      <a:tailEnd type="none" w="med" len="med"/>
                    </a:lnR>
                    <a:lnT w="6350" cap="flat" cmpd="sng" algn="ctr">
                      <a:solidFill>
                        <a:srgbClr val="DADCE0"/>
                      </a:solidFill>
                      <a:prstDash val="solid"/>
                      <a:round/>
                      <a:headEnd type="none" w="med" len="med"/>
                      <a:tailEnd type="none" w="med" len="med"/>
                    </a:lnT>
                    <a:lnB w="6350" cap="flat" cmpd="sng" algn="ctr">
                      <a:solidFill>
                        <a:srgbClr val="DADCE0"/>
                      </a:solidFill>
                      <a:prstDash val="solid"/>
                      <a:round/>
                      <a:headEnd type="none" w="med" len="med"/>
                      <a:tailEnd type="none" w="med" len="med"/>
                    </a:lnB>
                  </a:tcPr>
                </a:tc>
              </a:tr>
            </a:tbl>
          </a:graphicData>
        </a:graphic>
      </p:graphicFrame>
      <p:sp>
        <p:nvSpPr>
          <p:cNvPr id="9" name="Text 5"/>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0" name="Shape 6"/>
          <p:cNvSpPr/>
          <p:nvPr/>
        </p:nvSpPr>
        <p:spPr>
          <a:xfrm>
            <a:off x="548640" y="6062472"/>
            <a:ext cx="2770632" cy="566928"/>
          </a:xfrm>
          <a:prstGeom prst="roundRect">
            <a:avLst>
              <a:gd name="adj" fmla="val 11290"/>
            </a:avLst>
          </a:prstGeom>
          <a:solidFill>
            <a:srgbClr val="E8F0FE"/>
          </a:solidFill>
          <a:ln w="28575">
            <a:solidFill>
              <a:srgbClr val="1A73E8"/>
            </a:solidFill>
            <a:prstDash val="solid"/>
          </a:ln>
        </p:spPr>
      </p:sp>
      <p:sp>
        <p:nvSpPr>
          <p:cNvPr id="11" name="Text 7"/>
          <p:cNvSpPr txBox="1"/>
          <p:nvPr/>
        </p:nvSpPr>
        <p:spPr>
          <a:xfrm>
            <a:off x="640080"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
        <p:nvSpPr>
          <p:cNvPr id="12" name="Shape 8"/>
          <p:cNvSpPr/>
          <p:nvPr/>
        </p:nvSpPr>
        <p:spPr>
          <a:xfrm>
            <a:off x="3456432" y="6062472"/>
            <a:ext cx="1143000" cy="566928"/>
          </a:xfrm>
          <a:prstGeom prst="roundRect">
            <a:avLst>
              <a:gd name="adj" fmla="val 11290"/>
            </a:avLst>
          </a:prstGeom>
          <a:solidFill>
            <a:srgbClr val="E8F0FE"/>
          </a:solidFill>
          <a:ln w="28575">
            <a:solidFill>
              <a:srgbClr val="1A73E8"/>
            </a:solidFill>
            <a:prstDash val="solid"/>
          </a:ln>
        </p:spPr>
      </p:sp>
      <p:sp>
        <p:nvSpPr>
          <p:cNvPr id="13" name="Text 9"/>
          <p:cNvSpPr txBox="1"/>
          <p:nvPr/>
        </p:nvSpPr>
        <p:spPr>
          <a:xfrm>
            <a:off x="3547872"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4" name="Shape 10"/>
          <p:cNvSpPr/>
          <p:nvPr/>
        </p:nvSpPr>
        <p:spPr>
          <a:xfrm>
            <a:off x="4736592" y="6062472"/>
            <a:ext cx="2002536" cy="566928"/>
          </a:xfrm>
          <a:prstGeom prst="roundRect">
            <a:avLst>
              <a:gd name="adj" fmla="val 11290"/>
            </a:avLst>
          </a:prstGeom>
          <a:solidFill>
            <a:srgbClr val="FEF3D6"/>
          </a:solidFill>
          <a:ln w="25400">
            <a:solidFill>
              <a:srgbClr val="F9AB00"/>
            </a:solidFill>
            <a:prstDash val="solid"/>
          </a:ln>
        </p:spPr>
      </p:sp>
      <p:sp>
        <p:nvSpPr>
          <p:cNvPr id="15" name="Text 11"/>
          <p:cNvSpPr txBox="1"/>
          <p:nvPr/>
        </p:nvSpPr>
        <p:spPr>
          <a:xfrm>
            <a:off x="4828032"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conexion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conexión a la base</a:t>
            </a:r>
            <a:endParaRPr lang="en-US" sz="1200" dirty="0"/>
          </a:p>
        </p:txBody>
      </p:sp>
      <p:sp>
        <p:nvSpPr>
          <p:cNvPr id="16" name="Shape 12"/>
          <p:cNvSpPr/>
          <p:nvPr/>
        </p:nvSpPr>
        <p:spPr>
          <a:xfrm>
            <a:off x="6876288" y="6062472"/>
            <a:ext cx="2770632" cy="566928"/>
          </a:xfrm>
          <a:prstGeom prst="roundRect">
            <a:avLst>
              <a:gd name="adj" fmla="val 11290"/>
            </a:avLst>
          </a:prstGeom>
          <a:solidFill>
            <a:srgbClr val="FEF3D6"/>
          </a:solidFill>
          <a:ln w="25400">
            <a:solidFill>
              <a:srgbClr val="F9AB00"/>
            </a:solidFill>
            <a:prstDash val="solid"/>
          </a:ln>
        </p:spPr>
      </p:sp>
      <p:sp>
        <p:nvSpPr>
          <p:cNvPr id="17" name="Text 13"/>
          <p:cNvSpPr txBox="1"/>
          <p:nvPr/>
        </p:nvSpPr>
        <p:spPr>
          <a:xfrm>
            <a:off x="6967728"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consulta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"SELECT region, SUM(mwh) …</a:t>
            </a:r>
            <a:endParaRPr lang="en-US" sz="1200" dirty="0"/>
          </a:p>
        </p:txBody>
      </p:sp>
      <p:sp>
        <p:nvSpPr>
          <p:cNvPr id="18" name="Text 14"/>
          <p:cNvSpPr txBox="1"/>
          <p:nvPr/>
        </p:nvSpPr>
        <p:spPr>
          <a:xfrm>
            <a:off x="9784080"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19 más</a:t>
            </a:r>
            <a:endParaRPr lang="en-US" sz="1200" dirty="0"/>
          </a:p>
        </p:txBody>
      </p:sp>
      <p:sp>
        <p:nvSpPr>
          <p:cNvPr id="19" name="Text 15"/>
          <p:cNvSpPr txBox="1"/>
          <p:nvPr/>
        </p:nvSpPr>
        <p:spPr>
          <a:xfrm>
            <a:off x="548640" y="6638544"/>
            <a:ext cx="11091672" cy="237744"/>
          </a:xfrm>
          <a:prstGeom prst="rect">
            <a:avLst/>
          </a:prstGeom>
          <a:noFill/>
          <a:ln/>
        </p:spPr>
        <p:txBody>
          <a:bodyPr wrap="square" lIns="0" tIns="0" rIns="0" bIns="0" rtlCol="0" anchor="ctr"/>
          <a:lstStyle/>
          <a:p>
            <a:pPr indent="0" marL="0">
              <a:buNone/>
            </a:pPr>
            <a:r>
              <a:rPr lang="en-US" sz="1300" i="1" dirty="0">
                <a:solidFill>
                  <a:srgbClr val="0B3D62"/>
                </a:solidFill>
                <a:latin typeface="Calibri" pitchFamily="34" charset="0"/>
                <a:ea typeface="Calibri" pitchFamily="34" charset="-122"/>
                <a:cs typeface="Calibri" pitchFamily="34" charset="-120"/>
              </a:rPr>
              <a:t>La base de datos entrega el resumen ya calculado, y también termina en una tabla.</a:t>
            </a:r>
            <a:endParaRPr lang="en-US" sz="13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109728"/>
            <a:ext cx="3383280" cy="329184"/>
          </a:xfrm>
          <a:prstGeom prst="roundRect">
            <a:avLst>
              <a:gd name="adj" fmla="val 22222"/>
            </a:avLst>
          </a:prstGeom>
          <a:solidFill>
            <a:srgbClr val="F9AB00"/>
          </a:solidFill>
          <a:ln w="12700">
            <a:solidFill>
              <a:srgbClr val="F9AB00"/>
            </a:solidFill>
            <a:prstDash val="solid"/>
          </a:ln>
        </p:spPr>
      </p:sp>
      <p:sp>
        <p:nvSpPr>
          <p:cNvPr id="3" name="Text 1"/>
          <p:cNvSpPr txBox="1"/>
          <p:nvPr/>
        </p:nvSpPr>
        <p:spPr>
          <a:xfrm>
            <a:off x="548640" y="109728"/>
            <a:ext cx="3383280" cy="329184"/>
          </a:xfrm>
          <a:prstGeom prst="rect">
            <a:avLst/>
          </a:prstGeom>
          <a:noFill/>
          <a:ln/>
        </p:spPr>
        <p:txBody>
          <a:bodyPr wrap="square" lIns="0" tIns="0" rIns="0" bIns="0" rtlCol="0" anchor="ctr"/>
          <a:lstStyle/>
          <a:p>
            <a:pPr algn="ctr" indent="0" marL="0">
              <a:buNone/>
            </a:pPr>
            <a:r>
              <a:rPr lang="en-US" sz="1400" b="1" dirty="0">
                <a:solidFill>
                  <a:srgbClr val="0B3D62"/>
                </a:solidFill>
                <a:latin typeface="Calibri" pitchFamily="34" charset="0"/>
                <a:ea typeface="Calibri" pitchFamily="34" charset="-122"/>
                <a:cs typeface="Calibri" pitchFamily="34" charset="-120"/>
              </a:rPr>
              <a:t>PARA LA CASA · Estudio 5 de 5</a:t>
            </a:r>
            <a:endParaRPr lang="en-US" sz="1400" dirty="0"/>
          </a:p>
        </p:txBody>
      </p:sp>
      <p:sp>
        <p:nvSpPr>
          <p:cNvPr id="4" name="Text 2"/>
          <p:cNvSpPr txBox="1"/>
          <p:nvPr/>
        </p:nvSpPr>
        <p:spPr>
          <a:xfrm>
            <a:off x="548640" y="502920"/>
            <a:ext cx="11091672" cy="457200"/>
          </a:xfrm>
          <a:prstGeom prst="rect">
            <a:avLst/>
          </a:prstGeom>
          <a:noFill/>
          <a:ln/>
        </p:spPr>
        <p:txBody>
          <a:bodyPr wrap="square" lIns="0" tIns="0" rIns="0" bIns="0" rtlCol="0" anchor="ctr"/>
          <a:lstStyle/>
          <a:p>
            <a:pPr indent="0" marL="0">
              <a:buNone/>
            </a:pPr>
            <a:r>
              <a:rPr lang="en-US" sz="2400" b="1" dirty="0">
                <a:solidFill>
                  <a:srgbClr val="202124"/>
                </a:solidFill>
                <a:latin typeface="Calibri" pitchFamily="34" charset="0"/>
                <a:ea typeface="Calibri" pitchFamily="34" charset="-122"/>
                <a:cs typeface="Calibri" pitchFamily="34" charset="-120"/>
              </a:rPr>
              <a:t>¿Y si vienen de una base de datos?</a:t>
            </a:r>
            <a:endParaRPr lang="en-US" sz="2400" dirty="0"/>
          </a:p>
        </p:txBody>
      </p:sp>
      <p:sp>
        <p:nvSpPr>
          <p:cNvPr id="5" name="Text 3"/>
          <p:cNvSpPr txBox="1"/>
          <p:nvPr/>
        </p:nvSpPr>
        <p:spPr>
          <a:xfrm>
            <a:off x="548640" y="978408"/>
            <a:ext cx="11091672" cy="411480"/>
          </a:xfrm>
          <a:prstGeom prst="rect">
            <a:avLst/>
          </a:prstGeom>
          <a:noFill/>
          <a:ln/>
        </p:spPr>
        <p:txBody>
          <a:bodyPr wrap="square" lIns="0" tIns="0" rIns="0" bIns="0" rtlCol="0" anchor="t"/>
          <a:lstStyle/>
          <a:p>
            <a:pPr indent="0" marL="0">
              <a:buNone/>
            </a:pPr>
            <a:r>
              <a:rPr lang="en-US" sz="1400" dirty="0">
                <a:solidFill>
                  <a:srgbClr val="5F6368"/>
                </a:solidFill>
                <a:latin typeface="Calibri" pitchFamily="34" charset="0"/>
                <a:ea typeface="Calibri" pitchFamily="34" charset="-122"/>
                <a:cs typeface="Calibri" pitchFamily="34" charset="-120"/>
              </a:rPr>
              <a:t>Lo que hay que llevarse de este paso.</a:t>
            </a:r>
            <a:endParaRPr lang="en-US" sz="1400" dirty="0"/>
          </a:p>
        </p:txBody>
      </p:sp>
      <p:sp>
        <p:nvSpPr>
          <p:cNvPr id="7" name="Shape 4"/>
          <p:cNvSpPr/>
          <p:nvPr/>
        </p:nvSpPr>
        <p:spPr>
          <a:xfrm>
            <a:off x="548640" y="1828800"/>
            <a:ext cx="11091672" cy="2377440"/>
          </a:xfrm>
          <a:prstGeom prst="roundRect">
            <a:avLst>
              <a:gd name="adj" fmla="val 3846"/>
            </a:avLst>
          </a:prstGeom>
          <a:solidFill>
            <a:srgbClr val="FFF8D6"/>
          </a:solidFill>
          <a:ln w="12700">
            <a:solidFill>
              <a:srgbClr val="FFF8D6"/>
            </a:solidFill>
            <a:prstDash val="solid"/>
          </a:ln>
        </p:spPr>
      </p:sp>
      <p:sp>
        <p:nvSpPr>
          <p:cNvPr id="8" name="Text 5"/>
          <p:cNvSpPr txBox="1"/>
          <p:nvPr/>
        </p:nvSpPr>
        <p:spPr>
          <a:xfrm>
            <a:off x="1005840" y="2057400"/>
            <a:ext cx="10177272" cy="1005840"/>
          </a:xfrm>
          <a:prstGeom prst="rect">
            <a:avLst/>
          </a:prstGeom>
          <a:noFill/>
          <a:ln/>
        </p:spPr>
        <p:txBody>
          <a:bodyPr wrap="square" lIns="0" tIns="0" rIns="0" bIns="0" rtlCol="0" anchor="t"/>
          <a:lstStyle/>
          <a:p>
            <a:pPr indent="0" marL="0">
              <a:buNone/>
            </a:pPr>
            <a:r>
              <a:rPr lang="en-US" sz="2800" b="1" dirty="0">
                <a:solidFill>
                  <a:srgbClr val="8A6D00"/>
                </a:solidFill>
                <a:latin typeface="Calibri" pitchFamily="34" charset="0"/>
                <a:ea typeface="Calibri" pitchFamily="34" charset="-122"/>
                <a:cs typeface="Calibri" pitchFamily="34" charset="-120"/>
              </a:rPr>
              <a:t>La base de datos hace el cálculo pesado.</a:t>
            </a:r>
            <a:endParaRPr lang="en-US" sz="2800" dirty="0"/>
          </a:p>
        </p:txBody>
      </p:sp>
      <p:sp>
        <p:nvSpPr>
          <p:cNvPr id="9" name="Text 6"/>
          <p:cNvSpPr txBox="1"/>
          <p:nvPr/>
        </p:nvSpPr>
        <p:spPr>
          <a:xfrm>
            <a:off x="1005840" y="3154680"/>
            <a:ext cx="10177272" cy="914400"/>
          </a:xfrm>
          <a:prstGeom prst="rect">
            <a:avLst/>
          </a:prstGeom>
          <a:noFill/>
          <a:ln/>
        </p:spPr>
        <p:txBody>
          <a:bodyPr wrap="square" lIns="0" tIns="0" rIns="0" bIns="0" rtlCol="0" anchor="t"/>
          <a:lstStyle/>
          <a:p>
            <a:pPr indent="0" marL="0">
              <a:buNone/>
            </a:pPr>
            <a:r>
              <a:rPr lang="en-US" sz="2200" dirty="0">
                <a:solidFill>
                  <a:srgbClr val="202124"/>
                </a:solidFill>
                <a:latin typeface="Calibri" pitchFamily="34" charset="0"/>
                <a:ea typeface="Calibri" pitchFamily="34" charset="-122"/>
                <a:cs typeface="Calibri" pitchFamily="34" charset="-120"/>
              </a:rPr>
              <a:t>A Colab llega solo el resultado, 7 filas en vez de 61.488.</a:t>
            </a:r>
            <a:endParaRPr lang="en-US" sz="2200" dirty="0"/>
          </a:p>
        </p:txBody>
      </p:sp>
      <p:sp>
        <p:nvSpPr>
          <p:cNvPr id="10" name="Text 7"/>
          <p:cNvSpPr txBox="1"/>
          <p:nvPr/>
        </p:nvSpPr>
        <p:spPr>
          <a:xfrm>
            <a:off x="548640" y="5788152"/>
            <a:ext cx="4572000" cy="228600"/>
          </a:xfrm>
          <a:prstGeom prst="rect">
            <a:avLst/>
          </a:prstGeom>
          <a:noFill/>
          <a:ln/>
        </p:spPr>
        <p:txBody>
          <a:bodyPr wrap="square" lIns="0" tIns="0" rIns="0" bIns="0" rtlCol="0" anchor="ctr"/>
          <a:lstStyle/>
          <a:p>
            <a:pPr indent="0" marL="0">
              <a:buNone/>
            </a:pPr>
            <a:r>
              <a:rPr lang="en-US" sz="1100" b="1" spc="200" kern="0" dirty="0">
                <a:solidFill>
                  <a:srgbClr val="5F6368"/>
                </a:solidFill>
                <a:latin typeface="Calibri" pitchFamily="34" charset="0"/>
                <a:ea typeface="Calibri" pitchFamily="34" charset="-122"/>
                <a:cs typeface="Calibri" pitchFamily="34" charset="-120"/>
              </a:rPr>
              <a:t>LO QUE PYTHON RECUERDA</a:t>
            </a:r>
            <a:endParaRPr lang="en-US" sz="1100" dirty="0"/>
          </a:p>
        </p:txBody>
      </p:sp>
      <p:sp>
        <p:nvSpPr>
          <p:cNvPr id="11" name="Shape 8"/>
          <p:cNvSpPr/>
          <p:nvPr/>
        </p:nvSpPr>
        <p:spPr>
          <a:xfrm>
            <a:off x="548640" y="6062472"/>
            <a:ext cx="2770632" cy="566928"/>
          </a:xfrm>
          <a:prstGeom prst="roundRect">
            <a:avLst>
              <a:gd name="adj" fmla="val 11290"/>
            </a:avLst>
          </a:prstGeom>
          <a:solidFill>
            <a:srgbClr val="E8F0FE"/>
          </a:solidFill>
          <a:ln w="28575">
            <a:solidFill>
              <a:srgbClr val="1A73E8"/>
            </a:solidFill>
            <a:prstDash val="solid"/>
          </a:ln>
        </p:spPr>
      </p:sp>
      <p:sp>
        <p:nvSpPr>
          <p:cNvPr id="12" name="Text 9"/>
          <p:cNvSpPr txBox="1"/>
          <p:nvPr/>
        </p:nvSpPr>
        <p:spPr>
          <a:xfrm>
            <a:off x="640080"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DATOS</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"https://raw.githubuserco…</a:t>
            </a:r>
            <a:endParaRPr lang="en-US" sz="1200" dirty="0"/>
          </a:p>
        </p:txBody>
      </p:sp>
      <p:sp>
        <p:nvSpPr>
          <p:cNvPr id="13" name="Shape 10"/>
          <p:cNvSpPr/>
          <p:nvPr/>
        </p:nvSpPr>
        <p:spPr>
          <a:xfrm>
            <a:off x="3456432" y="6062472"/>
            <a:ext cx="1143000" cy="566928"/>
          </a:xfrm>
          <a:prstGeom prst="roundRect">
            <a:avLst>
              <a:gd name="adj" fmla="val 11290"/>
            </a:avLst>
          </a:prstGeom>
          <a:solidFill>
            <a:srgbClr val="E8F0FE"/>
          </a:solidFill>
          <a:ln w="28575">
            <a:solidFill>
              <a:srgbClr val="1A73E8"/>
            </a:solidFill>
            <a:prstDash val="solid"/>
          </a:ln>
        </p:spPr>
      </p:sp>
      <p:sp>
        <p:nvSpPr>
          <p:cNvPr id="14" name="Text 11"/>
          <p:cNvSpPr txBox="1"/>
          <p:nvPr/>
        </p:nvSpPr>
        <p:spPr>
          <a:xfrm>
            <a:off x="3547872" y="6071616"/>
            <a:ext cx="1005840"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pd</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pandas</a:t>
            </a:r>
            <a:endParaRPr lang="en-US" sz="1200" dirty="0"/>
          </a:p>
        </p:txBody>
      </p:sp>
      <p:sp>
        <p:nvSpPr>
          <p:cNvPr id="15" name="Shape 12"/>
          <p:cNvSpPr/>
          <p:nvPr/>
        </p:nvSpPr>
        <p:spPr>
          <a:xfrm>
            <a:off x="4736592" y="6062472"/>
            <a:ext cx="2002536" cy="566928"/>
          </a:xfrm>
          <a:prstGeom prst="roundRect">
            <a:avLst>
              <a:gd name="adj" fmla="val 11290"/>
            </a:avLst>
          </a:prstGeom>
          <a:solidFill>
            <a:srgbClr val="FEF3D6"/>
          </a:solidFill>
          <a:ln w="25400">
            <a:solidFill>
              <a:srgbClr val="F9AB00"/>
            </a:solidFill>
            <a:prstDash val="solid"/>
          </a:ln>
        </p:spPr>
      </p:sp>
      <p:sp>
        <p:nvSpPr>
          <p:cNvPr id="16" name="Text 13"/>
          <p:cNvSpPr txBox="1"/>
          <p:nvPr/>
        </p:nvSpPr>
        <p:spPr>
          <a:xfrm>
            <a:off x="4828032" y="6071616"/>
            <a:ext cx="1865376"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conexion</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conexión a la base</a:t>
            </a:r>
            <a:endParaRPr lang="en-US" sz="1200" dirty="0"/>
          </a:p>
        </p:txBody>
      </p:sp>
      <p:sp>
        <p:nvSpPr>
          <p:cNvPr id="17" name="Shape 14"/>
          <p:cNvSpPr/>
          <p:nvPr/>
        </p:nvSpPr>
        <p:spPr>
          <a:xfrm>
            <a:off x="6876288" y="6062472"/>
            <a:ext cx="2770632" cy="566928"/>
          </a:xfrm>
          <a:prstGeom prst="roundRect">
            <a:avLst>
              <a:gd name="adj" fmla="val 11290"/>
            </a:avLst>
          </a:prstGeom>
          <a:solidFill>
            <a:srgbClr val="FEF3D6"/>
          </a:solidFill>
          <a:ln w="25400">
            <a:solidFill>
              <a:srgbClr val="F9AB00"/>
            </a:solidFill>
            <a:prstDash val="solid"/>
          </a:ln>
        </p:spPr>
      </p:sp>
      <p:sp>
        <p:nvSpPr>
          <p:cNvPr id="18" name="Text 15"/>
          <p:cNvSpPr txBox="1"/>
          <p:nvPr/>
        </p:nvSpPr>
        <p:spPr>
          <a:xfrm>
            <a:off x="6967728" y="6071616"/>
            <a:ext cx="2633472" cy="548640"/>
          </a:xfrm>
          <a:prstGeom prst="rect">
            <a:avLst/>
          </a:prstGeom>
          <a:noFill/>
          <a:ln/>
        </p:spPr>
        <p:txBody>
          <a:bodyPr wrap="square" lIns="0" tIns="0" rIns="0" bIns="0" rtlCol="0" anchor="ctr"/>
          <a:lstStyle/>
          <a:p>
            <a:pPr indent="0" marL="0">
              <a:buNone/>
            </a:pPr>
            <a:r>
              <a:rPr lang="en-US" sz="1200" b="1" dirty="0">
                <a:solidFill>
                  <a:srgbClr val="202124"/>
                </a:solidFill>
                <a:latin typeface="Courier New" pitchFamily="34" charset="0"/>
                <a:ea typeface="Courier New" pitchFamily="34" charset="-122"/>
                <a:cs typeface="Courier New" pitchFamily="34" charset="-120"/>
              </a:rPr>
              <a:t>consulta</a:t>
            </a:r>
            <a:endParaRPr lang="en-US" sz="1200" dirty="0"/>
          </a:p>
          <a:p>
            <a:pPr indent="0" marL="0">
              <a:buNone/>
            </a:pPr>
            <a:r>
              <a:rPr lang="en-US" sz="1100" dirty="0">
                <a:solidFill>
                  <a:srgbClr val="5F6368"/>
                </a:solidFill>
                <a:latin typeface="Courier New" pitchFamily="34" charset="0"/>
                <a:ea typeface="Courier New" pitchFamily="34" charset="-122"/>
                <a:cs typeface="Courier New" pitchFamily="34" charset="-120"/>
              </a:rPr>
              <a:t>"SELECT region, SUM(mwh) …</a:t>
            </a:r>
            <a:endParaRPr lang="en-US" sz="1200" dirty="0"/>
          </a:p>
        </p:txBody>
      </p:sp>
      <p:sp>
        <p:nvSpPr>
          <p:cNvPr id="19" name="Text 16"/>
          <p:cNvSpPr txBox="1"/>
          <p:nvPr/>
        </p:nvSpPr>
        <p:spPr>
          <a:xfrm>
            <a:off x="9784080" y="6062472"/>
            <a:ext cx="1005840" cy="566928"/>
          </a:xfrm>
          <a:prstGeom prst="rect">
            <a:avLst/>
          </a:prstGeom>
          <a:noFill/>
          <a:ln/>
        </p:spPr>
        <p:txBody>
          <a:bodyPr wrap="square" lIns="0" tIns="0" rIns="0" bIns="0" rtlCol="0" anchor="ctr"/>
          <a:lstStyle/>
          <a:p>
            <a:pPr indent="0" marL="0">
              <a:buNone/>
            </a:pPr>
            <a:r>
              <a:rPr lang="en-US" sz="1200" i="1" dirty="0">
                <a:solidFill>
                  <a:srgbClr val="5F6368"/>
                </a:solidFill>
                <a:latin typeface="Calibri" pitchFamily="34" charset="0"/>
                <a:ea typeface="Calibri" pitchFamily="34" charset="-122"/>
                <a:cs typeface="Calibri" pitchFamily="34" charset="-120"/>
              </a:rPr>
              <a:t>y 19 más</a:t>
            </a:r>
            <a:endParaRPr lang="en-US" sz="12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0B3D62"/>
        </a:solidFill>
      </p:bgPr>
    </p:bg>
    <p:spTree>
      <p:nvGrpSpPr>
        <p:cNvPr id="1" name=""/>
        <p:cNvGrpSpPr/>
        <p:nvPr/>
      </p:nvGrpSpPr>
      <p:grpSpPr>
        <a:xfrm>
          <a:off x="0" y="0"/>
          <a:ext cx="0" cy="0"/>
          <a:chOff x="0" y="0"/>
          <a:chExt cx="0" cy="0"/>
        </a:xfrm>
      </p:grpSpPr>
      <p:sp>
        <p:nvSpPr>
          <p:cNvPr id="3" name="Text 0"/>
          <p:cNvSpPr txBox="1"/>
          <p:nvPr/>
        </p:nvSpPr>
        <p:spPr>
          <a:xfrm>
            <a:off x="731520" y="1645920"/>
            <a:ext cx="10698480" cy="82296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Ahora en Colab</a:t>
            </a:r>
            <a:endParaRPr lang="en-US" sz="4000" dirty="0"/>
          </a:p>
        </p:txBody>
      </p:sp>
      <p:sp>
        <p:nvSpPr>
          <p:cNvPr id="4" name="Text 1"/>
          <p:cNvSpPr txBox="1"/>
          <p:nvPr/>
        </p:nvSpPr>
        <p:spPr>
          <a:xfrm>
            <a:off x="731520" y="2560320"/>
            <a:ext cx="10698480" cy="82296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Ahora abran el Lab 01 guiado y hagan los 5 pasos de la Parte 1. La Parte 2 queda para la casa, con la guía y estas láminas.</a:t>
            </a:r>
            <a:endParaRPr lang="en-US" sz="2000" dirty="0"/>
          </a:p>
        </p:txBody>
      </p:sp>
      <p:sp>
        <p:nvSpPr>
          <p:cNvPr id="5" name="Text 2"/>
          <p:cNvSpPr txBox="1"/>
          <p:nvPr/>
        </p:nvSpPr>
        <p:spPr>
          <a:xfrm>
            <a:off x="731520" y="3611880"/>
            <a:ext cx="10698480" cy="457200"/>
          </a:xfrm>
          <a:prstGeom prst="rect">
            <a:avLst/>
          </a:prstGeom>
          <a:noFill/>
          <a:ln/>
        </p:spPr>
        <p:txBody>
          <a:bodyPr wrap="square" lIns="0" tIns="0" rIns="0" bIns="0" rtlCol="0" anchor="ctr"/>
          <a:lstStyle/>
          <a:p>
            <a:pPr indent="0" marL="0">
              <a:buNone/>
            </a:pPr>
            <a:r>
              <a:rPr lang="en-US" sz="1800" dirty="0">
                <a:solidFill>
                  <a:srgbClr val="F9AB00"/>
                </a:solidFill>
                <a:latin typeface="Calibri" pitchFamily="34" charset="0"/>
                <a:ea typeface="Calibri" pitchFamily="34" charset="-122"/>
                <a:cs typeface="Calibri" pitchFamily="34" charset="-120"/>
              </a:rPr>
              <a:t>Si algo no calza, escriban en el chat el número del paso.</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 01 guiado · Importar y unir</dc:title>
  <dc:subject>PptxGenJS Presentation</dc:subject>
  <dc:creator>PptxGenJS</dc:creator>
  <cp:lastModifiedBy>PptxGenJS</cp:lastModifiedBy>
  <cp:revision>1</cp:revision>
  <dcterms:created xsi:type="dcterms:W3CDTF">2026-10-12T23:38:10Z</dcterms:created>
  <dcterms:modified xsi:type="dcterms:W3CDTF">2026-10-12T23:38:10Z</dcterms:modified>
</cp:coreProperties>
</file>