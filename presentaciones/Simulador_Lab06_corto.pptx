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TIEMPOS
Láminas 50 min, Colab 50 min, cierre 20 min.
En los labs anteriores calculamos. Hoy mostramos. Un gráfico es lo único del análisis que va a ver el jefe, así que tiene que explicarse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regla de los diez segundos. Si en diez segundos no se entiende qué es, de dónde sale y en qué unidad está, falló el gráfico, no el que lo mira.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Esta es la regla de todo el lab. Cada lámina de gráfico que sigue la cumple, y la Parte 3 vuelve a 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Son la celda 1.2 y la 1.3 del cuaderno. La diferencia son set_title, set_ylabel y dibujar contra la fecha en vez de contra el número de fila, que es lo que pone las fechas en el eje.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LO HACE
fig es la hoja y ax es el dibujo que va en ella. plot dibuja la línea, con la fecha y la hora en el eje horizontal. set_title pone el qué y el de dónde. set_ylabel pone la unidad. grid dibuja una cuadrícula suave para leer los valores. Siempre son estas mismas líneas.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Hacer que lo repitan. Línea, barras, dispersión, histograma. Es lo que tienen que sacar de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 la dispersión, los puntos de abajo con mucha potencia y poca generación son las solares, que generan solo de día. En el histograma, la joroba grande cerca de 850 son las horas normales.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Enlazar con las series de tiempo.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Al primero se le llama resample y al segundo media móvil. Nombres en la lámina de la celda.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celda 4.1 es la de arriba, y es lo que no hay que entregar. La 4.2 es la de 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rolling(14, center=True).mean(). Una ventana de dos semanas centrada en cada día, para que la curva no quede corrida.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LO HACE
resample("D") junta las horas por día, y mean saca el promedio de cada día. D es día, W semana, ME fin de mes. rolling(14) arma una ventana de 14 días que se va corriendo, y mean promedia lo que hay dentro. center=True la centra en cada día. Se dibujan las dos líneas en el mismo ax, y legend dice cuál es cuál.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 la celda 4.5. Mismo dato, otra pregunta, otro gráfico. Aquí la pregunta no es cómo cambió en el año sino cómo es un día típico.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Enlazar con el antes y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Esta es la idea de la Parte 3. Lo que sigue es un gráfico real hecho apurado y el mismo arreglado.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Preguntar qué está mal antes de pasar a la siguiente. Que lo digan ellos. Nombres, orden, título, unidad.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barh en vez de bar, sort_values, set_title y set_xlabel, bar_label. Celda 7.2.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La regla es para barras. En una línea de tiempo a veces se corta el eje para ver el detalle, pero se avisa.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set_ylim(0, ...) es la línea que lo arregla. Celda 7.4.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Esta es la lista para el Tu turno 7.7 del cuaderno, donde arreglan un gráfico propio.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Volver a la lámina del problema. Estas son las tres respuestas.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unos 50 minutos. En el 7.7 cada uno arregla un gráfico propio con la lista de revisión.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DECIR
El bloque 6 es el más entretenido para la casa, porque el gráfico se mueve con el mouse.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28016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Lab 06 · Visualización de datos</a:t>
            </a:r>
            <a:endParaRPr lang="en-US" sz="4000" dirty="0"/>
          </a:p>
        </p:txBody>
      </p:sp>
      <p:sp>
        <p:nvSpPr>
          <p:cNvPr id="3" name="Text 1"/>
          <p:cNvSpPr/>
          <p:nvPr/>
        </p:nvSpPr>
        <p:spPr>
          <a:xfrm>
            <a:off x="731520" y="2148840"/>
            <a:ext cx="10698480" cy="45720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Elegir el gráfico correcto y dejarlo listo para que otro lo entienda sin preguntar</a:t>
            </a:r>
            <a:endParaRPr lang="en-US" sz="2000" dirty="0"/>
          </a:p>
        </p:txBody>
      </p:sp>
      <p:sp>
        <p:nvSpPr>
          <p:cNvPr id="4" name="Shape 2"/>
          <p:cNvSpPr/>
          <p:nvPr/>
        </p:nvSpPr>
        <p:spPr>
          <a:xfrm>
            <a:off x="731520" y="3200400"/>
            <a:ext cx="502920" cy="502920"/>
          </a:xfrm>
          <a:prstGeom prst="ellipse">
            <a:avLst/>
          </a:prstGeom>
          <a:solidFill>
            <a:srgbClr val="F9AB00"/>
          </a:solidFill>
          <a:ln w="12700">
            <a:solidFill>
              <a:srgbClr val="F9AB00"/>
            </a:solidFill>
            <a:prstDash val="solid"/>
          </a:ln>
        </p:spPr>
      </p:sp>
      <p:sp>
        <p:nvSpPr>
          <p:cNvPr id="5" name="Text 3"/>
          <p:cNvSpPr/>
          <p:nvPr/>
        </p:nvSpPr>
        <p:spPr>
          <a:xfrm>
            <a:off x="731520" y="320040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463040" y="320040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Tres ideas, contadas primero con ejemplos de todos los días.</a:t>
            </a:r>
            <a:endParaRPr lang="en-US" sz="1800" dirty="0"/>
          </a:p>
        </p:txBody>
      </p:sp>
      <p:sp>
        <p:nvSpPr>
          <p:cNvPr id="7" name="Shape 5"/>
          <p:cNvSpPr/>
          <p:nvPr/>
        </p:nvSpPr>
        <p:spPr>
          <a:xfrm>
            <a:off x="731520" y="3977640"/>
            <a:ext cx="502920" cy="502920"/>
          </a:xfrm>
          <a:prstGeom prst="ellipse">
            <a:avLst/>
          </a:prstGeom>
          <a:solidFill>
            <a:srgbClr val="F9AB00"/>
          </a:solidFill>
          <a:ln w="12700">
            <a:solidFill>
              <a:srgbClr val="F9AB00"/>
            </a:solidFill>
            <a:prstDash val="solid"/>
          </a:ln>
        </p:spPr>
      </p:sp>
      <p:sp>
        <p:nvSpPr>
          <p:cNvPr id="8" name="Text 6"/>
          <p:cNvSpPr/>
          <p:nvPr/>
        </p:nvSpPr>
        <p:spPr>
          <a:xfrm>
            <a:off x="731520" y="397764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463040" y="397764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Después, cada gráfico hecho con los datos de las centrales, y qué se ve en él.</a:t>
            </a:r>
            <a:endParaRPr lang="en-US" sz="1800" dirty="0"/>
          </a:p>
        </p:txBody>
      </p:sp>
      <p:sp>
        <p:nvSpPr>
          <p:cNvPr id="10" name="Shape 8"/>
          <p:cNvSpPr/>
          <p:nvPr/>
        </p:nvSpPr>
        <p:spPr>
          <a:xfrm>
            <a:off x="731520" y="4754880"/>
            <a:ext cx="502920" cy="502920"/>
          </a:xfrm>
          <a:prstGeom prst="ellipse">
            <a:avLst/>
          </a:prstGeom>
          <a:solidFill>
            <a:srgbClr val="F9AB00"/>
          </a:solidFill>
          <a:ln w="12700">
            <a:solidFill>
              <a:srgbClr val="F9AB00"/>
            </a:solidFill>
            <a:prstDash val="solid"/>
          </a:ln>
        </p:spPr>
      </p:sp>
      <p:sp>
        <p:nvSpPr>
          <p:cNvPr id="11" name="Text 9"/>
          <p:cNvSpPr/>
          <p:nvPr/>
        </p:nvSpPr>
        <p:spPr>
          <a:xfrm>
            <a:off x="731520" y="4754880"/>
            <a:ext cx="502920" cy="502920"/>
          </a:xfrm>
          <a:prstGeom prst="rect">
            <a:avLst/>
          </a:prstGeom>
          <a:noFill/>
          <a:ln/>
        </p:spPr>
        <p:txBody>
          <a:bodyPr wrap="square" lIns="0" tIns="0" rIns="0" bIns="0" rtlCol="0" anchor="ctr"/>
          <a:lstStyle/>
          <a:p>
            <a:pPr algn="ctr" indent="0" marL="0">
              <a:buNone/>
            </a:pPr>
            <a:r>
              <a:rPr lang="en-US" sz="1600" b="1" dirty="0">
                <a:solidFill>
                  <a:srgbClr val="0B3D62"/>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463040" y="4754880"/>
            <a:ext cx="9601200" cy="50292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Al final, lo corren en Colab y les tiene que salir igual.</a:t>
            </a:r>
            <a:endParaRPr lang="en-US" sz="1800" dirty="0"/>
          </a:p>
        </p:txBody>
      </p:sp>
      <p:sp>
        <p:nvSpPr>
          <p:cNvPr id="13" name="Text 11"/>
          <p:cNvSpPr/>
          <p:nvPr/>
        </p:nvSpPr>
        <p:spPr>
          <a:xfrm>
            <a:off x="731520" y="6126480"/>
            <a:ext cx="10698480" cy="320040"/>
          </a:xfrm>
          <a:prstGeom prst="rect">
            <a:avLst/>
          </a:prstGeom>
          <a:noFill/>
          <a:ln/>
        </p:spPr>
        <p:txBody>
          <a:bodyPr wrap="square" lIns="0" tIns="0" rIns="0" bIns="0"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Análisis Avanzado de Datos con Python · Subsecretaría de Energía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El problema de hoy</a:t>
            </a:r>
            <a:endParaRPr lang="en-US" sz="3200" dirty="0"/>
          </a:p>
        </p:txBody>
      </p:sp>
      <p:sp>
        <p:nvSpPr>
          <p:cNvPr id="3" name="Text 1"/>
          <p:cNvSpPr/>
          <p:nvPr/>
        </p:nvSpPr>
        <p:spPr>
          <a:xfrm>
            <a:off x="548640" y="1051560"/>
            <a:ext cx="11091672" cy="41148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pide la jefatura</a:t>
            </a:r>
            <a:endParaRPr lang="en-US" sz="1800" dirty="0"/>
          </a:p>
        </p:txBody>
      </p:sp>
      <p:sp>
        <p:nvSpPr>
          <p:cNvPr id="4" name="Text 2"/>
          <p:cNvSpPr/>
          <p:nvPr/>
        </p:nvSpPr>
        <p:spPr>
          <a:xfrm>
            <a:off x="548640" y="1600200"/>
            <a:ext cx="11091672" cy="91440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La jefatura pide un informe con la demanda y la generación de 2024. No va a leer tablas de 8.784 filas. Va a mirar los gráficos, y los va a mirar diez segundos cada uno. Tres preguntas.</a:t>
            </a:r>
            <a:endParaRPr lang="en-US" sz="2100" dirty="0"/>
          </a:p>
        </p:txBody>
      </p:sp>
      <p:sp>
        <p:nvSpPr>
          <p:cNvPr id="5" name="Shape 3"/>
          <p:cNvSpPr/>
          <p:nvPr/>
        </p:nvSpPr>
        <p:spPr>
          <a:xfrm>
            <a:off x="548640" y="2697480"/>
            <a:ext cx="11091672" cy="804672"/>
          </a:xfrm>
          <a:prstGeom prst="roundRect">
            <a:avLst>
              <a:gd name="adj" fmla="val 9091"/>
            </a:avLst>
          </a:prstGeom>
          <a:solidFill>
            <a:srgbClr val="E8F0FE"/>
          </a:solidFill>
          <a:ln w="12700">
            <a:solidFill>
              <a:srgbClr val="E8F0FE"/>
            </a:solidFill>
            <a:prstDash val="solid"/>
          </a:ln>
        </p:spPr>
      </p:sp>
      <p:sp>
        <p:nvSpPr>
          <p:cNvPr id="6" name="Shape 4"/>
          <p:cNvSpPr/>
          <p:nvPr/>
        </p:nvSpPr>
        <p:spPr>
          <a:xfrm>
            <a:off x="731520" y="2852928"/>
            <a:ext cx="493776" cy="493776"/>
          </a:xfrm>
          <a:prstGeom prst="ellipse">
            <a:avLst/>
          </a:prstGeom>
          <a:solidFill>
            <a:srgbClr val="1A73E8"/>
          </a:solidFill>
          <a:ln w="12700">
            <a:solidFill>
              <a:srgbClr val="1A73E8"/>
            </a:solidFill>
            <a:prstDash val="solid"/>
          </a:ln>
        </p:spPr>
      </p:sp>
      <p:sp>
        <p:nvSpPr>
          <p:cNvPr id="7" name="Text 5"/>
          <p:cNvSpPr/>
          <p:nvPr/>
        </p:nvSpPr>
        <p:spPr>
          <a:xfrm>
            <a:off x="731520" y="285292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417320" y="269748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¿Qué gráfico se usa para cada tipo de pregunta?</a:t>
            </a:r>
            <a:endParaRPr lang="en-US" sz="2100" dirty="0"/>
          </a:p>
        </p:txBody>
      </p:sp>
      <p:sp>
        <p:nvSpPr>
          <p:cNvPr id="9" name="Text 7"/>
          <p:cNvSpPr/>
          <p:nvPr/>
        </p:nvSpPr>
        <p:spPr>
          <a:xfrm>
            <a:off x="9098280" y="269748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Parte 1</a:t>
            </a:r>
            <a:endParaRPr lang="en-US" sz="1500" dirty="0"/>
          </a:p>
        </p:txBody>
      </p:sp>
      <p:sp>
        <p:nvSpPr>
          <p:cNvPr id="10" name="Shape 8"/>
          <p:cNvSpPr/>
          <p:nvPr/>
        </p:nvSpPr>
        <p:spPr>
          <a:xfrm>
            <a:off x="548640" y="3657600"/>
            <a:ext cx="11091672" cy="804672"/>
          </a:xfrm>
          <a:prstGeom prst="roundRect">
            <a:avLst>
              <a:gd name="adj" fmla="val 9091"/>
            </a:avLst>
          </a:prstGeom>
          <a:solidFill>
            <a:srgbClr val="E8F0FE"/>
          </a:solidFill>
          <a:ln w="12700">
            <a:solidFill>
              <a:srgbClr val="E8F0FE"/>
            </a:solidFill>
            <a:prstDash val="solid"/>
          </a:ln>
        </p:spPr>
      </p:sp>
      <p:sp>
        <p:nvSpPr>
          <p:cNvPr id="11" name="Shape 9"/>
          <p:cNvSpPr/>
          <p:nvPr/>
        </p:nvSpPr>
        <p:spPr>
          <a:xfrm>
            <a:off x="731520" y="3813048"/>
            <a:ext cx="493776" cy="493776"/>
          </a:xfrm>
          <a:prstGeom prst="ellipse">
            <a:avLst/>
          </a:prstGeom>
          <a:solidFill>
            <a:srgbClr val="1A73E8"/>
          </a:solidFill>
          <a:ln w="12700">
            <a:solidFill>
              <a:srgbClr val="1A73E8"/>
            </a:solidFill>
            <a:prstDash val="solid"/>
          </a:ln>
        </p:spPr>
      </p:sp>
      <p:sp>
        <p:nvSpPr>
          <p:cNvPr id="12" name="Text 10"/>
          <p:cNvSpPr/>
          <p:nvPr/>
        </p:nvSpPr>
        <p:spPr>
          <a:xfrm>
            <a:off x="731520" y="381304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17320" y="365760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¿Cómo se muestra un año entero de datos sin que sea un borrón?</a:t>
            </a:r>
            <a:endParaRPr lang="en-US" sz="2100" dirty="0"/>
          </a:p>
        </p:txBody>
      </p:sp>
      <p:sp>
        <p:nvSpPr>
          <p:cNvPr id="14" name="Text 12"/>
          <p:cNvSpPr/>
          <p:nvPr/>
        </p:nvSpPr>
        <p:spPr>
          <a:xfrm>
            <a:off x="9098280" y="365760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Parte 2</a:t>
            </a:r>
            <a:endParaRPr lang="en-US" sz="1500" dirty="0"/>
          </a:p>
        </p:txBody>
      </p:sp>
      <p:sp>
        <p:nvSpPr>
          <p:cNvPr id="15" name="Shape 13"/>
          <p:cNvSpPr/>
          <p:nvPr/>
        </p:nvSpPr>
        <p:spPr>
          <a:xfrm>
            <a:off x="548640" y="4617720"/>
            <a:ext cx="11091672" cy="804672"/>
          </a:xfrm>
          <a:prstGeom prst="roundRect">
            <a:avLst>
              <a:gd name="adj" fmla="val 9091"/>
            </a:avLst>
          </a:prstGeom>
          <a:solidFill>
            <a:srgbClr val="E8F0FE"/>
          </a:solidFill>
          <a:ln w="12700">
            <a:solidFill>
              <a:srgbClr val="E8F0FE"/>
            </a:solidFill>
            <a:prstDash val="solid"/>
          </a:ln>
        </p:spPr>
      </p:sp>
      <p:sp>
        <p:nvSpPr>
          <p:cNvPr id="16" name="Shape 14"/>
          <p:cNvSpPr/>
          <p:nvPr/>
        </p:nvSpPr>
        <p:spPr>
          <a:xfrm>
            <a:off x="731520" y="4773168"/>
            <a:ext cx="493776" cy="493776"/>
          </a:xfrm>
          <a:prstGeom prst="ellipse">
            <a:avLst/>
          </a:prstGeom>
          <a:solidFill>
            <a:srgbClr val="1A73E8"/>
          </a:solidFill>
          <a:ln w="12700">
            <a:solidFill>
              <a:srgbClr val="1A73E8"/>
            </a:solidFill>
            <a:prstDash val="solid"/>
          </a:ln>
        </p:spPr>
      </p:sp>
      <p:sp>
        <p:nvSpPr>
          <p:cNvPr id="17" name="Text 15"/>
          <p:cNvSpPr/>
          <p:nvPr/>
        </p:nvSpPr>
        <p:spPr>
          <a:xfrm>
            <a:off x="731520" y="47731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p:nvPr/>
        </p:nvSpPr>
        <p:spPr>
          <a:xfrm>
            <a:off x="1417320" y="4617720"/>
            <a:ext cx="7680960" cy="804672"/>
          </a:xfrm>
          <a:prstGeom prst="rect">
            <a:avLst/>
          </a:prstGeom>
          <a:noFill/>
          <a:ln/>
        </p:spPr>
        <p:txBody>
          <a:bodyPr wrap="square" lIns="0" tIns="0" rIns="0" bIns="0" rtlCol="0" anchor="ctr"/>
          <a:lstStyle/>
          <a:p>
            <a:pPr indent="0" marL="0">
              <a:buNone/>
            </a:pPr>
            <a:r>
              <a:rPr lang="en-US" sz="2100" b="1" dirty="0">
                <a:solidFill>
                  <a:srgbClr val="202124"/>
                </a:solidFill>
                <a:latin typeface="Calibri" pitchFamily="34" charset="0"/>
                <a:ea typeface="Calibri" pitchFamily="34" charset="-122"/>
                <a:cs typeface="Calibri" pitchFamily="34" charset="-120"/>
              </a:rPr>
              <a:t>¿Qué se revisa en un gráfico antes de mandarlo?</a:t>
            </a:r>
            <a:endParaRPr lang="en-US" sz="2100" dirty="0"/>
          </a:p>
        </p:txBody>
      </p:sp>
      <p:sp>
        <p:nvSpPr>
          <p:cNvPr id="19" name="Text 17"/>
          <p:cNvSpPr/>
          <p:nvPr/>
        </p:nvSpPr>
        <p:spPr>
          <a:xfrm>
            <a:off x="9098280" y="4617720"/>
            <a:ext cx="2377440" cy="804672"/>
          </a:xfrm>
          <a:prstGeom prst="rect">
            <a:avLst/>
          </a:prstGeom>
          <a:noFill/>
          <a:ln/>
        </p:spPr>
        <p:txBody>
          <a:bodyPr wrap="square" lIns="0" tIns="0" rIns="0" bIns="0" rtlCol="0" anchor="ctr"/>
          <a:lstStyle/>
          <a:p>
            <a:pPr algn="r" indent="0" marL="0">
              <a:buNone/>
            </a:pPr>
            <a:r>
              <a:rPr lang="en-US" sz="1500" b="1" dirty="0">
                <a:solidFill>
                  <a:srgbClr val="1A73E8"/>
                </a:solidFill>
                <a:latin typeface="Calibri" pitchFamily="34" charset="0"/>
                <a:ea typeface="Calibri" pitchFamily="34" charset="-122"/>
                <a:cs typeface="Calibri" pitchFamily="34" charset="-120"/>
              </a:rPr>
              <a:t>Parte 3</a:t>
            </a:r>
            <a:endParaRPr lang="en-US" sz="1500" dirty="0"/>
          </a:p>
        </p:txBody>
      </p:sp>
      <p:sp>
        <p:nvSpPr>
          <p:cNvPr id="20" name="Shape 18"/>
          <p:cNvSpPr/>
          <p:nvPr/>
        </p:nvSpPr>
        <p:spPr>
          <a:xfrm>
            <a:off x="548640" y="5715000"/>
            <a:ext cx="73152" cy="777240"/>
          </a:xfrm>
          <a:prstGeom prst="rect">
            <a:avLst/>
          </a:prstGeom>
          <a:solidFill>
            <a:srgbClr val="F9AB00"/>
          </a:solidFill>
          <a:ln w="12700">
            <a:solidFill>
              <a:srgbClr val="F9AB00"/>
            </a:solidFill>
            <a:prstDash val="solid"/>
          </a:ln>
        </p:spPr>
      </p:sp>
      <p:sp>
        <p:nvSpPr>
          <p:cNvPr id="21" name="Text 19"/>
          <p:cNvSpPr/>
          <p:nvPr/>
        </p:nvSpPr>
        <p:spPr>
          <a:xfrm>
            <a:off x="777240" y="5715000"/>
            <a:ext cx="10863072" cy="777240"/>
          </a:xfrm>
          <a:prstGeom prst="rect">
            <a:avLst/>
          </a:prstGeom>
          <a:noFill/>
          <a:ln/>
        </p:spPr>
        <p:txBody>
          <a:bodyPr wrap="square" lIns="0" tIns="0" rIns="0" bIns="0" rtlCol="0" anchor="ctr"/>
          <a:lstStyle/>
          <a:p>
            <a:pPr indent="0" marL="0">
              <a:buNone/>
            </a:pPr>
            <a:r>
              <a:rPr lang="en-US" sz="1800" dirty="0">
                <a:solidFill>
                  <a:srgbClr val="202124"/>
                </a:solidFill>
                <a:latin typeface="Calibri" pitchFamily="34" charset="0"/>
                <a:ea typeface="Calibri" pitchFamily="34" charset="-122"/>
                <a:cs typeface="Calibri" pitchFamily="34" charset="-120"/>
              </a:rPr>
              <a:t>Un gráfico que necesita que alguien lo explique al lado es un gráfico que no está terminado.</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Un gráfico es una frase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Primero una historia</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Alguien te manda una foto de un número en un papel, sin decir nada. ¿Es un precio? ¿Una temperatura? ¿Un teléfono? No hay cómo saberlo.</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El mismo número con un título, una unidad y de dónde salió, ya es información. Demanda de la Metropolitana, en MWh, el lunes a las 8.</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Un gráfico es igual. La línea sola es la foto del número. El título, los ejes y la unidad son lo que la convierte en una frase que se entiende sola.</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Todo gráfico necesita decir tres cosas sin que nadie pregunte. Qué es, de dónde sale y en qué unidad está.</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Un gráfico es una frase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 el mismo dato dos veces</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A la izquierda, lo que sale con una sola línea de código. A la derecha, el mismo dato con lo mínimo que hace falta para entenderlo.</a:t>
            </a:r>
            <a:endParaRPr lang="en-US" sz="2000" dirty="0"/>
          </a:p>
        </p:txBody>
      </p:sp>
      <p:pic>
        <p:nvPicPr>
          <p:cNvPr id="8" name="Image 0" descr="/tmp/claude-0/-home-claude/53fc5af0-c828-58c7-8b29-cc4adc4b42a1/scratchpad/ppt6/figs/r1_mudo_vs_minimo.png">    </p:cNvPr>
          <p:cNvPicPr>
            <a:picLocks noChangeAspect="1"/>
          </p:cNvPicPr>
          <p:nvPr/>
        </p:nvPicPr>
        <p:blipFill>
          <a:blip r:embed="rId1"/>
          <a:stretch>
            <a:fillRect/>
          </a:stretch>
        </p:blipFill>
        <p:spPr>
          <a:xfrm>
            <a:off x="1042814" y="2450592"/>
            <a:ext cx="10103325"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A la izquierda no se sabe qué es, ni de dónde, ni en qué unidad. A la derecha el título dice qué y de dónde, el eje vertical dice la unidad y el eje horizontal dice las fechas. Mirar que los datos son idénticos, solo cambió lo que los rodea.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Un gráfico es una frase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Las líneas que convierten la foto en frase</a:t>
            </a:r>
            <a:endParaRPr lang="en-US" sz="1400" dirty="0"/>
          </a:p>
        </p:txBody>
      </p:sp>
      <p:sp>
        <p:nvSpPr>
          <p:cNvPr id="6" name="Shape 4"/>
          <p:cNvSpPr/>
          <p:nvPr/>
        </p:nvSpPr>
        <p:spPr>
          <a:xfrm>
            <a:off x="548640" y="1481328"/>
            <a:ext cx="11091672" cy="1816227"/>
          </a:xfrm>
          <a:prstGeom prst="roundRect">
            <a:avLst>
              <a:gd name="adj" fmla="val 3021"/>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1624203"/>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1.3</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fig, ax = plt.subplots(figsize=(9, 3.5))</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ax.plot(semana[</a:t>
            </a:r>
            <a:pPr indent="0" marL="0">
              <a:buNone/>
            </a:pPr>
            <a:r>
              <a:rPr lang="en-US" sz="1400" dirty="0">
                <a:solidFill>
                  <a:srgbClr val="A31515"/>
                </a:solidFill>
                <a:latin typeface="Courier New" pitchFamily="34" charset="0"/>
                <a:ea typeface="Courier New" pitchFamily="34" charset="-122"/>
                <a:cs typeface="Courier New" pitchFamily="34" charset="-120"/>
              </a:rPr>
              <a:t>"fecha"</a:t>
            </a:r>
            <a:pPr indent="0" marL="0">
              <a:buNone/>
            </a:pPr>
            <a:r>
              <a:rPr lang="en-US" sz="1400" dirty="0">
                <a:solidFill>
                  <a:srgbClr val="202124"/>
                </a:solidFill>
                <a:latin typeface="Courier New" pitchFamily="34" charset="0"/>
                <a:ea typeface="Courier New" pitchFamily="34" charset="-122"/>
                <a:cs typeface="Courier New" pitchFamily="34" charset="-120"/>
              </a:rPr>
              <a:t>] + pd.to_timedelta(semana[</a:t>
            </a:r>
            <a:pPr indent="0" marL="0">
              <a:buNone/>
            </a:pPr>
            <a:r>
              <a:rPr lang="en-US" sz="1400" dirty="0">
                <a:solidFill>
                  <a:srgbClr val="A31515"/>
                </a:solidFill>
                <a:latin typeface="Courier New" pitchFamily="34" charset="0"/>
                <a:ea typeface="Courier New" pitchFamily="34" charset="-122"/>
                <a:cs typeface="Courier New" pitchFamily="34" charset="-120"/>
              </a:rPr>
              <a:t>"hora"</a:t>
            </a:r>
            <a:pPr indent="0" marL="0">
              <a:buNone/>
            </a:pPr>
            <a:r>
              <a:rPr lang="en-US" sz="1400" dirty="0">
                <a:solidFill>
                  <a:srgbClr val="202124"/>
                </a:solidFill>
                <a:latin typeface="Courier New" pitchFamily="34" charset="0"/>
                <a:ea typeface="Courier New" pitchFamily="34" charset="-122"/>
                <a:cs typeface="Courier New" pitchFamily="34" charset="-120"/>
              </a:rPr>
              <a:t>], unit=</a:t>
            </a:r>
            <a:pPr indent="0" marL="0">
              <a:buNone/>
            </a:pPr>
            <a:r>
              <a:rPr lang="en-US" sz="1400" dirty="0">
                <a:solidFill>
                  <a:srgbClr val="A31515"/>
                </a:solidFill>
                <a:latin typeface="Courier New" pitchFamily="34" charset="0"/>
                <a:ea typeface="Courier New" pitchFamily="34" charset="-122"/>
                <a:cs typeface="Courier New" pitchFamily="34" charset="-120"/>
              </a:rPr>
              <a:t>"h"</a:t>
            </a:r>
            <a:pPr indent="0" marL="0">
              <a:buNone/>
            </a:pPr>
            <a:r>
              <a:rPr lang="en-US" sz="1400" dirty="0">
                <a:solidFill>
                  <a:srgbClr val="202124"/>
                </a:solidFill>
                <a:latin typeface="Courier New" pitchFamily="34" charset="0"/>
                <a:ea typeface="Courier New" pitchFamily="34" charset="-122"/>
                <a:cs typeface="Courier New" pitchFamily="34" charset="-120"/>
              </a:rPr>
              <a:t>), semana[</a:t>
            </a:r>
            <a:pPr indent="0" marL="0">
              <a:buNone/>
            </a:pPr>
            <a:r>
              <a:rPr lang="en-US" sz="1400" dirty="0">
                <a:solidFill>
                  <a:srgbClr val="A31515"/>
                </a:solidFill>
                <a:latin typeface="Courier New" pitchFamily="34" charset="0"/>
                <a:ea typeface="Courier New" pitchFamily="34" charset="-122"/>
                <a:cs typeface="Courier New" pitchFamily="34" charset="-120"/>
              </a:rPr>
              <a:t>"mwh"</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ax.set_title(</a:t>
            </a:r>
            <a:pPr indent="0" marL="0">
              <a:buNone/>
            </a:pPr>
            <a:r>
              <a:rPr lang="en-US" sz="1400" dirty="0">
                <a:solidFill>
                  <a:srgbClr val="A31515"/>
                </a:solidFill>
                <a:latin typeface="Courier New" pitchFamily="34" charset="0"/>
                <a:ea typeface="Courier New" pitchFamily="34" charset="-122"/>
                <a:cs typeface="Courier New" pitchFamily="34" charset="-120"/>
              </a:rPr>
              <a:t>"Demanda de la Región Metropolitana, primera semana de junio de 2024"</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ax.set_ylabel(</a:t>
            </a:r>
            <a:pPr indent="0" marL="0">
              <a:buNone/>
            </a:pPr>
            <a:r>
              <a:rPr lang="en-US" sz="1400" dirty="0">
                <a:solidFill>
                  <a:srgbClr val="A31515"/>
                </a:solidFill>
                <a:latin typeface="Courier New" pitchFamily="34" charset="0"/>
                <a:ea typeface="Courier New" pitchFamily="34" charset="-122"/>
                <a:cs typeface="Courier New" pitchFamily="34" charset="-120"/>
              </a:rPr>
              <a:t>"MWh por hora"</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ax.grid(alpha=0.3)</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plt.show()</a:t>
            </a:r>
            <a:endParaRPr lang="en-US" sz="1400" dirty="0"/>
          </a:p>
        </p:txBody>
      </p:sp>
      <p:sp>
        <p:nvSpPr>
          <p:cNvPr id="10" name="Shape 8"/>
          <p:cNvSpPr/>
          <p:nvPr/>
        </p:nvSpPr>
        <p:spPr>
          <a:xfrm>
            <a:off x="548640" y="3526155"/>
            <a:ext cx="11091672" cy="1261872"/>
          </a:xfrm>
          <a:prstGeom prst="roundRect">
            <a:avLst>
              <a:gd name="adj" fmla="val 4348"/>
            </a:avLst>
          </a:prstGeom>
          <a:solidFill>
            <a:srgbClr val="E8F0FE"/>
          </a:solidFill>
          <a:ln w="12700">
            <a:solidFill>
              <a:srgbClr val="E8F0FE"/>
            </a:solidFill>
            <a:prstDash val="solid"/>
          </a:ln>
        </p:spPr>
      </p:sp>
      <p:sp>
        <p:nvSpPr>
          <p:cNvPr id="11" name="Text 9"/>
          <p:cNvSpPr/>
          <p:nvPr/>
        </p:nvSpPr>
        <p:spPr>
          <a:xfrm>
            <a:off x="777240" y="3526155"/>
            <a:ext cx="10698480" cy="1261872"/>
          </a:xfrm>
          <a:prstGeom prst="rect">
            <a:avLst/>
          </a:prstGeom>
          <a:noFill/>
          <a:ln/>
        </p:spPr>
        <p:txBody>
          <a:bodyPr wrap="square" lIns="0" tIns="0" rIns="0" bIns="0" rtlCol="0" anchor="ctr"/>
          <a:lstStyle/>
          <a:p>
            <a:pPr indent="0" marL="0">
              <a:buNone/>
            </a:pPr>
            <a:r>
              <a:rPr lang="en-US" sz="1600" b="1" dirty="0">
                <a:solidFill>
                  <a:srgbClr val="1A73E8"/>
                </a:solidFill>
                <a:latin typeface="Calibri" pitchFamily="34" charset="0"/>
                <a:ea typeface="Calibri" pitchFamily="34" charset="-122"/>
                <a:cs typeface="Calibri" pitchFamily="34" charset="-120"/>
              </a:rPr>
              <a:t>Cómo lo hace  </a:t>
            </a:r>
            <a:pPr indent="0" marL="0">
              <a:buNone/>
            </a:pPr>
            <a:r>
              <a:rPr lang="en-US" sz="1600" dirty="0">
                <a:solidFill>
                  <a:srgbClr val="202124"/>
                </a:solidFill>
                <a:latin typeface="Calibri" pitchFamily="34" charset="0"/>
                <a:ea typeface="Calibri" pitchFamily="34" charset="-122"/>
                <a:cs typeface="Calibri" pitchFamily="34" charset="-120"/>
              </a:rPr>
              <a:t>fig es la hoja y ax es el dibujo que va en ella. plot dibuja la línea, con la fecha y la hora en el eje horizontal. set_title pone el qué y el de dónde. set_ylabel pone la unidad. grid dibuja una cuadrícula suave para leer los valores. Siempre son estas mismas líneas.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Un gráfico es una frase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Ahora, cuál gráfico. Una historia más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Para contar cómo cambió tu peso en el año, dibujas una línea, porque el tiempo tiene orden y va de izquierda a derecha.</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Para comparar cuánto gastas en luz, agua y gas, dibujas barras, una por cada cosa, porque son categorías y no tienen orden.</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Para saber si los días que caminas más duermes mejor, pones un punto por día, pasos contra horas de sueño. Eso es una dispersión. Y para ver cuántos días dormiste 6, 7 u 8 horas, apilas los días en cajones. Eso es un histograma.</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Cuatro preguntas, cuatro gráficos. Cómo cambia en el tiempo, línea. Cuál es más grande, barras. Si dos cosas van juntas, dispersión. Cómo se reparte una sola cosa, histograma.</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Un gráfico es una frase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Los cuatro, con los datos del lab</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Los mismos cuatro gráficos hechos con la generación y la demanda de 2024. Cada uno responde una pregunta distinta.</a:t>
            </a:r>
            <a:endParaRPr lang="en-US" sz="2000" dirty="0"/>
          </a:p>
        </p:txBody>
      </p:sp>
      <p:pic>
        <p:nvPicPr>
          <p:cNvPr id="8" name="Image 0" descr="/tmp/claude-0/-home-claude/53fc5af0-c828-58c7-8b29-cc4adc4b42a1/scratchpad/ppt6/figs/r2_cuatro_basicos.png">    </p:cNvPr>
          <p:cNvPicPr>
            <a:picLocks noChangeAspect="1"/>
          </p:cNvPicPr>
          <p:nvPr/>
        </p:nvPicPr>
        <p:blipFill>
          <a:blip r:embed="rId1"/>
          <a:stretch>
            <a:fillRect/>
          </a:stretch>
        </p:blipFill>
        <p:spPr>
          <a:xfrm>
            <a:off x="3090120" y="2450592"/>
            <a:ext cx="6008713"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Arriba a la izquierda, cómo cambia la generación diaria en el año, línea. Arriba a la derecha, qué tecnología generó más, barras. Abajo a la izquierda, si a más potencia instalada hay más generación, dispersión. Abajo a la derecha, cuántas horas hubo con cada nivel de demanda, histograma.</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1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1 · Un gráfico es una frase</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nos llevamos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Un gráfico tiene que decir solo qué es, de dónde sale y en qué unidad está. Título, ejes y unidad.</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Hay cuatro gráficos básicos y cada uno responde una pregunta. Línea para el tiempo, barras para comparar, dispersión para dos números, histograma para uno.</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En matplotlib siempre son las mismas líneas. subplots, el gráfico, set_title, set_ylabel, show.</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LO QUE SIGUE, PARTE 2  </a:t>
            </a:r>
            <a:pPr indent="0" marL="0">
              <a:buNone/>
            </a:pPr>
            <a:r>
              <a:rPr lang="en-US" sz="2100" b="1" dirty="0">
                <a:solidFill>
                  <a:srgbClr val="202124"/>
                </a:solidFill>
                <a:latin typeface="Calibri" pitchFamily="34" charset="0"/>
                <a:ea typeface="Calibri" pitchFamily="34" charset="-122"/>
                <a:cs typeface="Calibri" pitchFamily="34" charset="-120"/>
              </a:rPr>
              <a:t>La línea del tiempo parece la más fácil. Pero con 8.784 horas en un año, se vuelve un borrón. Eso es la Parte 2.</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Un año entero sin que sea un borrón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Primero una historia</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Anotas tu peso todos los días durante un año. Si dibujas los 365 puntos, la línea sube y baja cada día, un kilo arriba, un kilo abajo, y no se ve nada.</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Si en vez de cada día anotas el promedio de cada semana, quedan 52 puntos y la línea ya cuenta algo. Si bajaste, se ve.</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Y si encima dibujas una línea suave que promedie dos semanas, ves la tendencia limpia, sin los saltos de un día a otro.</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Para ver un año entero hay dos trucos. Juntar los datos por día o por semana, y suavizar con un promedio que se va corriendo. Los dos se usan juntos.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Un año entero sin que sea un borrón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 el borrón y el promedio por día</a:t>
            </a:r>
            <a:endParaRPr lang="en-US" sz="1400" dirty="0"/>
          </a:p>
        </p:txBody>
      </p:sp>
      <p:sp>
        <p:nvSpPr>
          <p:cNvPr id="6" name="Shape 4"/>
          <p:cNvSpPr/>
          <p:nvPr/>
        </p:nvSpPr>
        <p:spPr>
          <a:xfrm>
            <a:off x="548640" y="1481328"/>
            <a:ext cx="73152" cy="1124712"/>
          </a:xfrm>
          <a:prstGeom prst="rect">
            <a:avLst/>
          </a:prstGeom>
          <a:solidFill>
            <a:srgbClr val="F9AB00"/>
          </a:solidFill>
          <a:ln w="12700">
            <a:solidFill>
              <a:srgbClr val="F9AB00"/>
            </a:solidFill>
            <a:prstDash val="solid"/>
          </a:ln>
        </p:spPr>
      </p:sp>
      <p:sp>
        <p:nvSpPr>
          <p:cNvPr id="7" name="Text 5"/>
          <p:cNvSpPr/>
          <p:nvPr/>
        </p:nvSpPr>
        <p:spPr>
          <a:xfrm>
            <a:off x="777240" y="1481328"/>
            <a:ext cx="10863072" cy="1124712"/>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Arriba, las 8.784 horas de demanda de la Metropolitana, todas dibujadas. Abajo, el promedio de cada día, 366 puntos. Aquí se junta por día y no por semana, porque el dato de partida es por hora.</a:t>
            </a:r>
            <a:endParaRPr lang="en-US" sz="2000" dirty="0"/>
          </a:p>
        </p:txBody>
      </p:sp>
      <p:pic>
        <p:nvPicPr>
          <p:cNvPr id="8" name="Image 0" descr="/tmp/claude-0/-home-claude/53fc5af0-c828-58c7-8b29-cc4adc4b42a1/scratchpad/ppt6/figs/r3_borron_vs_dia.png">    </p:cNvPr>
          <p:cNvPicPr>
            <a:picLocks noChangeAspect="1"/>
          </p:cNvPicPr>
          <p:nvPr/>
        </p:nvPicPr>
        <p:blipFill>
          <a:blip r:embed="rId1"/>
          <a:stretch>
            <a:fillRect/>
          </a:stretch>
        </p:blipFill>
        <p:spPr>
          <a:xfrm>
            <a:off x="2471551" y="2788920"/>
            <a:ext cx="7245849" cy="3200400"/>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horizontal, el tiempo. Eje vertical, la energía de cada hora, en MWh. Arriba no se ve nada, es una mancha. Abajo se ve que la demanda sube en invierno y baja en verano, y que cada semana tiene un diente, el fin de semana baja.</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Un año entero sin que sea un borrón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tendencia encima del dato</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El promedio por día en azul claro, y encima una línea roja que es el promedio de los 14 días que rodean a cada día. La media móvil.</a:t>
            </a:r>
            <a:endParaRPr lang="en-US" sz="2000" dirty="0"/>
          </a:p>
        </p:txBody>
      </p:sp>
      <p:pic>
        <p:nvPicPr>
          <p:cNvPr id="8" name="Image 0" descr="/tmp/claude-0/-home-claude/53fc5af0-c828-58c7-8b29-cc4adc4b42a1/scratchpad/ppt6/figs/r4_media_movil.png">    </p:cNvPr>
          <p:cNvPicPr>
            <a:picLocks noChangeAspect="1"/>
          </p:cNvPicPr>
          <p:nvPr/>
        </p:nvPicPr>
        <p:blipFill>
          <a:blip r:embed="rId1"/>
          <a:stretch>
            <a:fillRect/>
          </a:stretch>
        </p:blipFill>
        <p:spPr>
          <a:xfrm>
            <a:off x="1243149" y="2450592"/>
            <a:ext cx="9702654"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La línea azul tiene los dientes de los fines de semana. La roja no, porque cada punto promedia dos semanas completas. La roja muestra la tendencia, la azul muestra el detalle. Las dos juntas dicen más que cada una sola.</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Un año entero sin que sea un borrón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Las celdas de resample y de la media móvil</a:t>
            </a:r>
            <a:endParaRPr lang="en-US" sz="1400" dirty="0"/>
          </a:p>
        </p:txBody>
      </p:sp>
      <p:sp>
        <p:nvSpPr>
          <p:cNvPr id="6" name="Shape 4"/>
          <p:cNvSpPr/>
          <p:nvPr/>
        </p:nvSpPr>
        <p:spPr>
          <a:xfrm>
            <a:off x="548640" y="1481328"/>
            <a:ext cx="11091672" cy="2744343"/>
          </a:xfrm>
          <a:prstGeom prst="roundRect">
            <a:avLst>
              <a:gd name="adj" fmla="val 1999"/>
            </a:avLst>
          </a:prstGeom>
          <a:solidFill>
            <a:srgbClr val="F8F9FA"/>
          </a:solidFill>
          <a:ln w="12700">
            <a:solidFill>
              <a:srgbClr val="DADCE0"/>
            </a:solidFill>
            <a:prstDash val="solid"/>
          </a:ln>
        </p:spPr>
      </p:sp>
      <p:sp>
        <p:nvSpPr>
          <p:cNvPr id="7" name="Shape 5"/>
          <p:cNvSpPr/>
          <p:nvPr/>
        </p:nvSpPr>
        <p:spPr>
          <a:xfrm>
            <a:off x="713232" y="1600200"/>
            <a:ext cx="420624" cy="420624"/>
          </a:xfrm>
          <a:prstGeom prst="ellipse">
            <a:avLst/>
          </a:prstGeom>
          <a:solidFill>
            <a:srgbClr val="E8EAED"/>
          </a:solidFill>
          <a:ln w="12700">
            <a:solidFill>
              <a:srgbClr val="E8EAED"/>
            </a:solidFill>
            <a:prstDash val="solid"/>
          </a:ln>
        </p:spPr>
      </p:sp>
      <p:sp>
        <p:nvSpPr>
          <p:cNvPr id="8" name="Shape 6"/>
          <p:cNvSpPr/>
          <p:nvPr/>
        </p:nvSpPr>
        <p:spPr>
          <a:xfrm rot="5400000">
            <a:off x="850392" y="1719072"/>
            <a:ext cx="182880" cy="182880"/>
          </a:xfrm>
          <a:prstGeom prst="triangle">
            <a:avLst/>
          </a:prstGeom>
          <a:solidFill>
            <a:srgbClr val="5F6368"/>
          </a:solidFill>
          <a:ln w="12700">
            <a:solidFill>
              <a:srgbClr val="5F6368"/>
            </a:solidFill>
            <a:prstDash val="solid"/>
          </a:ln>
        </p:spPr>
      </p:sp>
      <p:sp>
        <p:nvSpPr>
          <p:cNvPr id="9" name="Text 7"/>
          <p:cNvSpPr/>
          <p:nvPr/>
        </p:nvSpPr>
        <p:spPr>
          <a:xfrm>
            <a:off x="1325880" y="1600200"/>
            <a:ext cx="10085832" cy="2552319"/>
          </a:xfrm>
          <a:prstGeom prst="rect">
            <a:avLst/>
          </a:prstGeom>
          <a:noFill/>
          <a:ln/>
        </p:spPr>
        <p:txBody>
          <a:bodyPr wrap="square" lIns="0" tIns="0" rIns="0" bIns="0" rtlCol="0" anchor="t"/>
          <a:lstStyle/>
          <a:p>
            <a:pPr indent="0" marL="0">
              <a:buNone/>
            </a:pPr>
            <a:r>
              <a:rPr lang="en-US" sz="1400" dirty="0">
                <a:solidFill>
                  <a:srgbClr val="188038"/>
                </a:solidFill>
                <a:latin typeface="Courier New" pitchFamily="34" charset="0"/>
                <a:ea typeface="Courier New" pitchFamily="34" charset="-122"/>
                <a:cs typeface="Courier New" pitchFamily="34" charset="-120"/>
              </a:rPr>
              <a:t># 4.2 y 4.3</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por_dia = met_h[</a:t>
            </a:r>
            <a:pPr indent="0" marL="0">
              <a:buNone/>
            </a:pPr>
            <a:r>
              <a:rPr lang="en-US" sz="1400" dirty="0">
                <a:solidFill>
                  <a:srgbClr val="A31515"/>
                </a:solidFill>
                <a:latin typeface="Courier New" pitchFamily="34" charset="0"/>
                <a:ea typeface="Courier New" pitchFamily="34" charset="-122"/>
                <a:cs typeface="Courier New" pitchFamily="34" charset="-120"/>
              </a:rPr>
              <a:t>"mwh"</a:t>
            </a:r>
            <a:pPr indent="0" marL="0">
              <a:buNone/>
            </a:pPr>
            <a:r>
              <a:rPr lang="en-US" sz="1400" dirty="0">
                <a:solidFill>
                  <a:srgbClr val="202124"/>
                </a:solidFill>
                <a:latin typeface="Courier New" pitchFamily="34" charset="0"/>
                <a:ea typeface="Courier New" pitchFamily="34" charset="-122"/>
                <a:cs typeface="Courier New" pitchFamily="34" charset="-120"/>
              </a:rPr>
              <a:t>].resample(</a:t>
            </a:r>
            <a:pPr indent="0" marL="0">
              <a:buNone/>
            </a:pPr>
            <a:r>
              <a:rPr lang="en-US" sz="1400" dirty="0">
                <a:solidFill>
                  <a:srgbClr val="A31515"/>
                </a:solidFill>
                <a:latin typeface="Courier New" pitchFamily="34" charset="0"/>
                <a:ea typeface="Courier New" pitchFamily="34" charset="-122"/>
                <a:cs typeface="Courier New" pitchFamily="34" charset="-120"/>
              </a:rPr>
              <a:t>"D"</a:t>
            </a:r>
            <a:pPr indent="0" marL="0">
              <a:buNone/>
            </a:pPr>
            <a:r>
              <a:rPr lang="en-US" sz="1400" dirty="0">
                <a:solidFill>
                  <a:srgbClr val="202124"/>
                </a:solidFill>
                <a:latin typeface="Courier New" pitchFamily="34" charset="0"/>
                <a:ea typeface="Courier New" pitchFamily="34" charset="-122"/>
                <a:cs typeface="Courier New" pitchFamily="34" charset="-120"/>
              </a:rPr>
              <a:t>).mean()</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fig, ax = plt.subplots(figsize=(10, 3.5))</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ax.plot(por_dia.index, por_dia.values, linewidth=0.7, alpha=0.45, label=</a:t>
            </a:r>
            <a:pPr indent="0" marL="0">
              <a:buNone/>
            </a:pPr>
            <a:r>
              <a:rPr lang="en-US" sz="1400" dirty="0">
                <a:solidFill>
                  <a:srgbClr val="A31515"/>
                </a:solidFill>
                <a:latin typeface="Courier New" pitchFamily="34" charset="0"/>
                <a:ea typeface="Courier New" pitchFamily="34" charset="-122"/>
                <a:cs typeface="Courier New" pitchFamily="34" charset="-120"/>
              </a:rPr>
              <a:t>"día a día"</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ax.plot(por_dia.index, por_dia.rolling(14, center=True).mean(),</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        linewidth=2, color=</a:t>
            </a:r>
            <a:pPr indent="0" marL="0">
              <a:buNone/>
            </a:pPr>
            <a:r>
              <a:rPr lang="en-US" sz="1400" dirty="0">
                <a:solidFill>
                  <a:srgbClr val="A31515"/>
                </a:solidFill>
                <a:latin typeface="Courier New" pitchFamily="34" charset="0"/>
                <a:ea typeface="Courier New" pitchFamily="34" charset="-122"/>
                <a:cs typeface="Courier New" pitchFamily="34" charset="-120"/>
              </a:rPr>
              <a:t>"#E45756"</a:t>
            </a:r>
            <a:pPr indent="0" marL="0">
              <a:buNone/>
            </a:pPr>
            <a:r>
              <a:rPr lang="en-US" sz="1400" dirty="0">
                <a:solidFill>
                  <a:srgbClr val="202124"/>
                </a:solidFill>
                <a:latin typeface="Courier New" pitchFamily="34" charset="0"/>
                <a:ea typeface="Courier New" pitchFamily="34" charset="-122"/>
                <a:cs typeface="Courier New" pitchFamily="34" charset="-120"/>
              </a:rPr>
              <a:t>, label=</a:t>
            </a:r>
            <a:pPr indent="0" marL="0">
              <a:buNone/>
            </a:pPr>
            <a:r>
              <a:rPr lang="en-US" sz="1400" dirty="0">
                <a:solidFill>
                  <a:srgbClr val="A31515"/>
                </a:solidFill>
                <a:latin typeface="Courier New" pitchFamily="34" charset="0"/>
                <a:ea typeface="Courier New" pitchFamily="34" charset="-122"/>
                <a:cs typeface="Courier New" pitchFamily="34" charset="-120"/>
              </a:rPr>
              <a:t>"media móvil de 14 días"</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ax.set_title(</a:t>
            </a:r>
            <a:pPr indent="0" marL="0">
              <a:buNone/>
            </a:pPr>
            <a:r>
              <a:rPr lang="en-US" sz="1400" dirty="0">
                <a:solidFill>
                  <a:srgbClr val="A31515"/>
                </a:solidFill>
                <a:latin typeface="Courier New" pitchFamily="34" charset="0"/>
                <a:ea typeface="Courier New" pitchFamily="34" charset="-122"/>
                <a:cs typeface="Courier New" pitchFamily="34" charset="-120"/>
              </a:rPr>
              <a:t>"El dato crudo y su tendencia, en el mismo gráfico"</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ax.set_ylabel(</a:t>
            </a:r>
            <a:pPr indent="0" marL="0">
              <a:buNone/>
            </a:pPr>
            <a:r>
              <a:rPr lang="en-US" sz="1400" dirty="0">
                <a:solidFill>
                  <a:srgbClr val="A31515"/>
                </a:solidFill>
                <a:latin typeface="Courier New" pitchFamily="34" charset="0"/>
                <a:ea typeface="Courier New" pitchFamily="34" charset="-122"/>
                <a:cs typeface="Courier New" pitchFamily="34" charset="-120"/>
              </a:rPr>
              <a:t>"MWh por hora"</a:t>
            </a:r>
            <a:pPr indent="0" marL="0">
              <a:buNone/>
            </a:pPr>
            <a:r>
              <a:rPr lang="en-US" sz="1400" dirty="0">
                <a:solidFill>
                  <a:srgbClr val="202124"/>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ax.legend()</a:t>
            </a:r>
            <a:endParaRPr lang="en-US" sz="1400" dirty="0"/>
          </a:p>
          <a:p>
            <a:pPr indent="0" marL="0">
              <a:buNone/>
            </a:pPr>
            <a:r>
              <a:rPr lang="en-US" sz="1400" dirty="0">
                <a:solidFill>
                  <a:srgbClr val="202124"/>
                </a:solidFill>
                <a:latin typeface="Courier New" pitchFamily="34" charset="0"/>
                <a:ea typeface="Courier New" pitchFamily="34" charset="-122"/>
                <a:cs typeface="Courier New" pitchFamily="34" charset="-120"/>
              </a:rPr>
              <a:t>plt.show()</a:t>
            </a:r>
            <a:endParaRPr lang="en-US" sz="1400" dirty="0"/>
          </a:p>
        </p:txBody>
      </p:sp>
      <p:sp>
        <p:nvSpPr>
          <p:cNvPr id="10" name="Shape 8"/>
          <p:cNvSpPr/>
          <p:nvPr/>
        </p:nvSpPr>
        <p:spPr>
          <a:xfrm>
            <a:off x="548640" y="4454271"/>
            <a:ext cx="11091672" cy="1261872"/>
          </a:xfrm>
          <a:prstGeom prst="roundRect">
            <a:avLst>
              <a:gd name="adj" fmla="val 4348"/>
            </a:avLst>
          </a:prstGeom>
          <a:solidFill>
            <a:srgbClr val="E8F0FE"/>
          </a:solidFill>
          <a:ln w="12700">
            <a:solidFill>
              <a:srgbClr val="E8F0FE"/>
            </a:solidFill>
            <a:prstDash val="solid"/>
          </a:ln>
        </p:spPr>
      </p:sp>
      <p:sp>
        <p:nvSpPr>
          <p:cNvPr id="11" name="Text 9"/>
          <p:cNvSpPr/>
          <p:nvPr/>
        </p:nvSpPr>
        <p:spPr>
          <a:xfrm>
            <a:off x="777240" y="4454271"/>
            <a:ext cx="10698480" cy="1261872"/>
          </a:xfrm>
          <a:prstGeom prst="rect">
            <a:avLst/>
          </a:prstGeom>
          <a:noFill/>
          <a:ln/>
        </p:spPr>
        <p:txBody>
          <a:bodyPr wrap="square" lIns="0" tIns="0" rIns="0" bIns="0" rtlCol="0" anchor="ctr"/>
          <a:lstStyle/>
          <a:p>
            <a:pPr indent="0" marL="0">
              <a:buNone/>
            </a:pPr>
            <a:r>
              <a:rPr lang="en-US" sz="1600" b="1" dirty="0">
                <a:solidFill>
                  <a:srgbClr val="1A73E8"/>
                </a:solidFill>
                <a:latin typeface="Calibri" pitchFamily="34" charset="0"/>
                <a:ea typeface="Calibri" pitchFamily="34" charset="-122"/>
                <a:cs typeface="Calibri" pitchFamily="34" charset="-120"/>
              </a:rPr>
              <a:t>Cómo lo hace  </a:t>
            </a:r>
            <a:pPr indent="0" marL="0">
              <a:buNone/>
            </a:pPr>
            <a:r>
              <a:rPr lang="en-US" sz="1600" dirty="0">
                <a:solidFill>
                  <a:srgbClr val="202124"/>
                </a:solidFill>
                <a:latin typeface="Calibri" pitchFamily="34" charset="0"/>
                <a:ea typeface="Calibri" pitchFamily="34" charset="-122"/>
                <a:cs typeface="Calibri" pitchFamily="34" charset="-120"/>
              </a:rPr>
              <a:t>resample("D") junta las horas por día, y mean saca el promedio de cada día. D es día, W semana, ME fin de mes. rolling(14) arma una ventana de 14 días que se va corriendo, y mean promedia lo que hay dentro. center=True la centra en cada día. Se dibujan las dos líneas en el mismo ax, y legend dice cuál es cuál.</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Un año entero sin que sea un borrón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Otra forma de mirar el año, el día típico de cada estación</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En vez de 366 días seguidos, se juntan las horas de verano por un lado y las de invierno por otro, y se dibuja el día promedio de cada una.</a:t>
            </a:r>
            <a:endParaRPr lang="en-US" sz="2000" dirty="0"/>
          </a:p>
        </p:txBody>
      </p:sp>
      <p:pic>
        <p:nvPicPr>
          <p:cNvPr id="8" name="Image 0" descr="/tmp/claude-0/-home-claude/53fc5af0-c828-58c7-8b29-cc4adc4b42a1/scratchpad/ppt6/figs/r5_verano_invierno.png">    </p:cNvPr>
          <p:cNvPicPr>
            <a:picLocks noChangeAspect="1"/>
          </p:cNvPicPr>
          <p:nvPr/>
        </p:nvPicPr>
        <p:blipFill>
          <a:blip r:embed="rId1"/>
          <a:stretch>
            <a:fillRect/>
          </a:stretch>
        </p:blipFill>
        <p:spPr>
          <a:xfrm>
            <a:off x="1551758" y="2450592"/>
            <a:ext cx="9085437"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Eje horizontal, la hora del día. Eje vertical, la energía de cada hora, en MWh. En invierno se consume más a toda hora, y el pico de las 7 de la tarde es mucho más alto. En verano el día es más plano.</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2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2 · Un año entero sin que sea un borrón</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nos llevamos</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Dibujar todos los datos no es mostrar más, es mostrar menos. 8.784 puntos son un borrón.</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resample junta por día o por semana. La media móvil suaviza y deja ver la tendencia. Se dibujan juntos, el detalle y la tendencia.</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Un mismo dato se puede mirar de varias formas, por fecha o por hora del día. Cada forma responde una pregunta distinta.</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LO QUE SIGUE, PARTE 3  </a:t>
            </a:r>
            <a:pPr indent="0" marL="0">
              <a:buNone/>
            </a:pPr>
            <a:r>
              <a:rPr lang="en-US" sz="2100" b="1" dirty="0">
                <a:solidFill>
                  <a:srgbClr val="202124"/>
                </a:solidFill>
                <a:latin typeface="Calibri" pitchFamily="34" charset="0"/>
                <a:ea typeface="Calibri" pitchFamily="34" charset="-122"/>
                <a:cs typeface="Calibri" pitchFamily="34" charset="-120"/>
              </a:rPr>
              <a:t>Ya sabemos qué gráfico usar y cómo mostrar un año. Falta lo último, revisar el gráfico antes de mandarlo. Eso es la Parte 3.</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Antes de mandarlo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Primero una historia</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Le mandas a alguien una foto de un papel con una lista de números, tomada rápido, de lado y borrosa. Te responde de inmediato, ¿y esto qué es?</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Enderezas el papel, pones los números en orden de mayor a menor, y arriba escribes qué son. La misma lista, ahora se entiende sin preguntar.</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No cambiaste ningún número. Cambiaste cómo se presenta. Y eso toma dos minutos.</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Un gráfico se revisa antes de mandarlo igual que una foto. Que esté derecho, ordenado, con su título, y que se entienda sin que tú estés al lado.</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Antes de mandarlo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Con los datos del lab, un gráfico hecho rápido</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La generación del año de cada central, hecha con dos líneas de código. Es un gráfico real, de los que se mandan apurados.</a:t>
            </a:r>
            <a:endParaRPr lang="en-US" sz="2000" dirty="0"/>
          </a:p>
        </p:txBody>
      </p:sp>
      <p:pic>
        <p:nvPicPr>
          <p:cNvPr id="8" name="Image 0" descr="/tmp/claude-0/-home-claude/53fc5af0-c828-58c7-8b29-cc4adc4b42a1/scratchpad/ppt6/figs/r6_antes.png">    </p:cNvPr>
          <p:cNvPicPr>
            <a:picLocks noChangeAspect="1"/>
          </p:cNvPicPr>
          <p:nvPr/>
        </p:nvPicPr>
        <p:blipFill>
          <a:blip r:embed="rId1"/>
          <a:stretch>
            <a:fillRect/>
          </a:stretch>
        </p:blipFill>
        <p:spPr>
          <a:xfrm>
            <a:off x="2815655" y="2450592"/>
            <a:ext cx="6557643"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Los nombres están de lado y hay que torcer la cabeza. No hay título ni unidad. Las barras están en orden alfabético, así que para saber cuál es la mayor hay que compararlas todas. Nada de esto está mal calculado, pero no se puede leer.</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Antes de mandarlo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El mismo dato, arreglado</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Cuatro cambios y ninguno es sofisticado. Barras horizontales, ordenadas de mayor a menor, con título y unidad, y el número al final de cada barra.</a:t>
            </a:r>
            <a:endParaRPr lang="en-US" sz="2000" dirty="0"/>
          </a:p>
        </p:txBody>
      </p:sp>
      <p:pic>
        <p:nvPicPr>
          <p:cNvPr id="8" name="Image 0" descr="/tmp/claude-0/-home-claude/53fc5af0-c828-58c7-8b29-cc4adc4b42a1/scratchpad/ppt6/figs/r7_despues.png">    </p:cNvPr>
          <p:cNvPicPr>
            <a:picLocks noChangeAspect="1"/>
          </p:cNvPicPr>
          <p:nvPr/>
        </p:nvPicPr>
        <p:blipFill>
          <a:blip r:embed="rId1"/>
          <a:stretch>
            <a:fillRect/>
          </a:stretch>
        </p:blipFill>
        <p:spPr>
          <a:xfrm>
            <a:off x="2113835" y="2450592"/>
            <a:ext cx="7961282"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Ahora se lee de arriba hacia abajo. La mayor es Costa Brava con 2.699 GWh, la menor el diésel con 41. Los nombres se leen derechos. El número está en cada barra, así que ni siquiera hace falta mirar el eje.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Antes de mandarlo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Una trampa que hay que conocer</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Un vendedor muestra un gráfico donde su producto parece el doble que el de la competencia. Miras el eje y no empieza en cero, empieza en 95.</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La diferencia real era 100 contra 97. El gráfico no mintió con los números, mintió con el eje.</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Cortar el eje agranda las diferencias chicas. A veces se hace sin querer, porque el programa lo decide solo.</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El eje vertical de un gráfico de barras empieza en cero. Siempre. Si no, la altura de la barra ya no es el dato.</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Antes de mandarlo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La misma trampa con los datos del lab</a:t>
            </a:r>
            <a:endParaRPr lang="en-US" sz="1400" dirty="0"/>
          </a:p>
        </p:txBody>
      </p:sp>
      <p:sp>
        <p:nvSpPr>
          <p:cNvPr id="6" name="Shape 4"/>
          <p:cNvSpPr/>
          <p:nvPr/>
        </p:nvSpPr>
        <p:spPr>
          <a:xfrm>
            <a:off x="548640" y="1481328"/>
            <a:ext cx="73152" cy="786384"/>
          </a:xfrm>
          <a:prstGeom prst="rect">
            <a:avLst/>
          </a:prstGeom>
          <a:solidFill>
            <a:srgbClr val="F9AB00"/>
          </a:solidFill>
          <a:ln w="12700">
            <a:solidFill>
              <a:srgbClr val="F9AB00"/>
            </a:solidFill>
            <a:prstDash val="solid"/>
          </a:ln>
        </p:spPr>
      </p:sp>
      <p:sp>
        <p:nvSpPr>
          <p:cNvPr id="7" name="Text 5"/>
          <p:cNvSpPr/>
          <p:nvPr/>
        </p:nvSpPr>
        <p:spPr>
          <a:xfrm>
            <a:off x="777240" y="1481328"/>
            <a:ext cx="10863072" cy="786384"/>
          </a:xfrm>
          <a:prstGeom prst="rect">
            <a:avLst/>
          </a:prstGeom>
          <a:noFill/>
          <a:ln/>
        </p:spPr>
        <p:txBody>
          <a:bodyPr wrap="square" lIns="0" tIns="0" rIns="0" bIns="0" rtlCol="0" anchor="ctr"/>
          <a:lstStyle/>
          <a:p>
            <a:pPr indent="0" marL="0">
              <a:buNone/>
            </a:pPr>
            <a:r>
              <a:rPr lang="en-US" sz="2000" dirty="0">
                <a:solidFill>
                  <a:srgbClr val="202124"/>
                </a:solidFill>
                <a:latin typeface="Calibri" pitchFamily="34" charset="0"/>
                <a:ea typeface="Calibri" pitchFamily="34" charset="-122"/>
                <a:cs typeface="Calibri" pitchFamily="34" charset="-120"/>
              </a:rPr>
              <a:t>Las tres centrales que más generaron, dibujadas dos veces. A la izquierda con el eje cortado en 2.000, a la derecha desde cero.</a:t>
            </a:r>
            <a:endParaRPr lang="en-US" sz="2000" dirty="0"/>
          </a:p>
        </p:txBody>
      </p:sp>
      <p:pic>
        <p:nvPicPr>
          <p:cNvPr id="8" name="Image 0" descr="/tmp/claude-0/-home-claude/53fc5af0-c828-58c7-8b29-cc4adc4b42a1/scratchpad/ppt6/figs/r8_escala.png">    </p:cNvPr>
          <p:cNvPicPr>
            <a:picLocks noChangeAspect="1"/>
          </p:cNvPicPr>
          <p:nvPr/>
        </p:nvPicPr>
        <p:blipFill>
          <a:blip r:embed="rId1"/>
          <a:stretch>
            <a:fillRect/>
          </a:stretch>
        </p:blipFill>
        <p:spPr>
          <a:xfrm>
            <a:off x="1037358" y="2450592"/>
            <a:ext cx="10114237" cy="3538728"/>
          </a:xfrm>
          <a:prstGeom prst="rect">
            <a:avLst/>
          </a:prstGeom>
        </p:spPr>
      </p:pic>
      <p:sp>
        <p:nvSpPr>
          <p:cNvPr id="9" name="Shape 6"/>
          <p:cNvSpPr/>
          <p:nvPr/>
        </p:nvSpPr>
        <p:spPr>
          <a:xfrm>
            <a:off x="548640" y="6080760"/>
            <a:ext cx="73152" cy="548640"/>
          </a:xfrm>
          <a:prstGeom prst="rect">
            <a:avLst/>
          </a:prstGeom>
          <a:solidFill>
            <a:srgbClr val="0B3D62"/>
          </a:solidFill>
          <a:ln w="12700">
            <a:solidFill>
              <a:srgbClr val="0B3D62"/>
            </a:solidFill>
            <a:prstDash val="solid"/>
          </a:ln>
        </p:spPr>
      </p:sp>
      <p:sp>
        <p:nvSpPr>
          <p:cNvPr id="10" name="Text 7"/>
          <p:cNvSpPr/>
          <p:nvPr/>
        </p:nvSpPr>
        <p:spPr>
          <a:xfrm>
            <a:off x="777240" y="6080760"/>
            <a:ext cx="10863072" cy="548640"/>
          </a:xfrm>
          <a:prstGeom prst="rect">
            <a:avLst/>
          </a:prstGeom>
          <a:noFill/>
          <a:ln/>
        </p:spPr>
        <p:txBody>
          <a:bodyPr wrap="square" lIns="0" tIns="0" rIns="0" bIns="0" rtlCol="0" anchor="ctr"/>
          <a:lstStyle/>
          <a:p>
            <a:pPr indent="0" marL="0">
              <a:buNone/>
            </a:pPr>
            <a:r>
              <a:rPr lang="en-US" sz="1600" b="1" dirty="0">
                <a:solidFill>
                  <a:srgbClr val="0B3D62"/>
                </a:solidFill>
                <a:latin typeface="Calibri" pitchFamily="34" charset="0"/>
                <a:ea typeface="Calibri" pitchFamily="34" charset="-122"/>
                <a:cs typeface="Calibri" pitchFamily="34" charset="-120"/>
              </a:rPr>
              <a:t>Cómo se lee  </a:t>
            </a:r>
            <a:pPr indent="0" marL="0">
              <a:buNone/>
            </a:pPr>
            <a:r>
              <a:rPr lang="en-US" sz="1600" dirty="0">
                <a:solidFill>
                  <a:srgbClr val="202124"/>
                </a:solidFill>
                <a:latin typeface="Calibri" pitchFamily="34" charset="0"/>
                <a:ea typeface="Calibri" pitchFamily="34" charset="-122"/>
                <a:cs typeface="Calibri" pitchFamily="34" charset="-120"/>
              </a:rPr>
              <a:t>A la izquierda, Costa Brava parece muchas veces más grande que Río Manso Alto. A la derecha se ve la verdad, 2.699 contra 2.030, un tercio más. Mismo dato, mismo gráfico, solo cambió dónde empieza el eje.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109728"/>
            <a:ext cx="2651760" cy="329184"/>
          </a:xfrm>
          <a:prstGeom prst="roundRect">
            <a:avLst>
              <a:gd name="adj" fmla="val 22222"/>
            </a:avLst>
          </a:prstGeom>
          <a:solidFill>
            <a:srgbClr val="1A73E8"/>
          </a:solidFill>
          <a:ln w="12700">
            <a:solidFill>
              <a:srgbClr val="1A73E8"/>
            </a:solidFill>
            <a:prstDash val="solid"/>
          </a:ln>
        </p:spPr>
      </p:sp>
      <p:sp>
        <p:nvSpPr>
          <p:cNvPr id="3" name="Text 1"/>
          <p:cNvSpPr/>
          <p:nvPr/>
        </p:nvSpPr>
        <p:spPr>
          <a:xfrm>
            <a:off x="548640" y="109728"/>
            <a:ext cx="265176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 CLASE · Parte 3 de 3</a:t>
            </a:r>
            <a:endParaRPr lang="en-US" sz="1400" dirty="0"/>
          </a:p>
        </p:txBody>
      </p:sp>
      <p:sp>
        <p:nvSpPr>
          <p:cNvPr id="4" name="Text 2"/>
          <p:cNvSpPr/>
          <p:nvPr/>
        </p:nvSpPr>
        <p:spPr>
          <a:xfrm>
            <a:off x="548640" y="502920"/>
            <a:ext cx="11091672" cy="457200"/>
          </a:xfrm>
          <a:prstGeom prst="rect">
            <a:avLst/>
          </a:prstGeom>
          <a:noFill/>
          <a:ln/>
        </p:spPr>
        <p:txBody>
          <a:bodyPr wrap="square" lIns="0" tIns="0" rIns="0" bIns="0" rtlCol="0" anchor="ctr"/>
          <a:lstStyle/>
          <a:p>
            <a:pPr indent="0" marL="0">
              <a:buNone/>
            </a:pPr>
            <a:r>
              <a:rPr lang="en-US" sz="2400" b="1" dirty="0">
                <a:solidFill>
                  <a:srgbClr val="202124"/>
                </a:solidFill>
                <a:latin typeface="Calibri" pitchFamily="34" charset="0"/>
                <a:ea typeface="Calibri" pitchFamily="34" charset="-122"/>
                <a:cs typeface="Calibri" pitchFamily="34" charset="-120"/>
              </a:rPr>
              <a:t>Parte 3 · Antes de mandarlo</a:t>
            </a:r>
            <a:endParaRPr lang="en-US" sz="2400" dirty="0"/>
          </a:p>
        </p:txBody>
      </p:sp>
      <p:sp>
        <p:nvSpPr>
          <p:cNvPr id="5" name="Text 3"/>
          <p:cNvSpPr/>
          <p:nvPr/>
        </p:nvSpPr>
        <p:spPr>
          <a:xfrm>
            <a:off x="548640" y="978408"/>
            <a:ext cx="11091672" cy="411480"/>
          </a:xfrm>
          <a:prstGeom prst="rect">
            <a:avLst/>
          </a:prstGeom>
          <a:noFill/>
          <a:ln/>
        </p:spPr>
        <p:txBody>
          <a:bodyPr wrap="square" lIns="0" tIns="0" rIns="0" bIns="0" rtlCol="0" anchor="t"/>
          <a:lstStyle/>
          <a:p>
            <a:pPr indent="0" marL="0">
              <a:buNone/>
            </a:pPr>
            <a:r>
              <a:rPr lang="en-US" sz="1400" dirty="0">
                <a:solidFill>
                  <a:srgbClr val="5F6368"/>
                </a:solidFill>
                <a:latin typeface="Calibri" pitchFamily="34" charset="0"/>
                <a:ea typeface="Calibri" pitchFamily="34" charset="-122"/>
                <a:cs typeface="Calibri" pitchFamily="34" charset="-120"/>
              </a:rPr>
              <a:t>Lo que nos llevamos, la lista de revisión</a:t>
            </a:r>
            <a:endParaRPr lang="en-US" sz="1400" dirty="0"/>
          </a:p>
        </p:txBody>
      </p:sp>
      <p:sp>
        <p:nvSpPr>
          <p:cNvPr id="6" name="Shape 4"/>
          <p:cNvSpPr/>
          <p:nvPr/>
        </p:nvSpPr>
        <p:spPr>
          <a:xfrm>
            <a:off x="548640" y="1600200"/>
            <a:ext cx="11091672" cy="1143000"/>
          </a:xfrm>
          <a:prstGeom prst="roundRect">
            <a:avLst>
              <a:gd name="adj" fmla="val 6400"/>
            </a:avLst>
          </a:prstGeom>
          <a:solidFill>
            <a:srgbClr val="F1F3F4"/>
          </a:solidFill>
          <a:ln w="12700">
            <a:solidFill>
              <a:srgbClr val="F1F3F4"/>
            </a:solidFill>
            <a:prstDash val="solid"/>
          </a:ln>
        </p:spPr>
      </p:sp>
      <p:sp>
        <p:nvSpPr>
          <p:cNvPr id="7" name="Shape 5"/>
          <p:cNvSpPr/>
          <p:nvPr/>
        </p:nvSpPr>
        <p:spPr>
          <a:xfrm>
            <a:off x="777240" y="1924812"/>
            <a:ext cx="493776" cy="493776"/>
          </a:xfrm>
          <a:prstGeom prst="ellipse">
            <a:avLst/>
          </a:prstGeom>
          <a:solidFill>
            <a:srgbClr val="0B3D62"/>
          </a:solidFill>
          <a:ln w="12700">
            <a:solidFill>
              <a:srgbClr val="0B3D62"/>
            </a:solidFill>
            <a:prstDash val="solid"/>
          </a:ln>
        </p:spPr>
      </p:sp>
      <p:sp>
        <p:nvSpPr>
          <p:cNvPr id="8" name="Text 6"/>
          <p:cNvSpPr/>
          <p:nvPr/>
        </p:nvSpPr>
        <p:spPr>
          <a:xfrm>
            <a:off x="777240" y="19248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463040" y="1600200"/>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¿Dice qué es, de dónde sale y en qué unidad está? Título, ejes y unidad, siempre.</a:t>
            </a:r>
            <a:endParaRPr lang="en-US" sz="2100" dirty="0"/>
          </a:p>
        </p:txBody>
      </p:sp>
      <p:sp>
        <p:nvSpPr>
          <p:cNvPr id="10" name="Shape 8"/>
          <p:cNvSpPr/>
          <p:nvPr/>
        </p:nvSpPr>
        <p:spPr>
          <a:xfrm>
            <a:off x="548640" y="2852928"/>
            <a:ext cx="11091672" cy="1143000"/>
          </a:xfrm>
          <a:prstGeom prst="roundRect">
            <a:avLst>
              <a:gd name="adj" fmla="val 6400"/>
            </a:avLst>
          </a:prstGeom>
          <a:solidFill>
            <a:srgbClr val="F1F3F4"/>
          </a:solidFill>
          <a:ln w="12700">
            <a:solidFill>
              <a:srgbClr val="F1F3F4"/>
            </a:solidFill>
            <a:prstDash val="solid"/>
          </a:ln>
        </p:spPr>
      </p:sp>
      <p:sp>
        <p:nvSpPr>
          <p:cNvPr id="11" name="Shape 9"/>
          <p:cNvSpPr/>
          <p:nvPr/>
        </p:nvSpPr>
        <p:spPr>
          <a:xfrm>
            <a:off x="777240" y="3177540"/>
            <a:ext cx="493776" cy="493776"/>
          </a:xfrm>
          <a:prstGeom prst="ellipse">
            <a:avLst/>
          </a:prstGeom>
          <a:solidFill>
            <a:srgbClr val="0B3D62"/>
          </a:solidFill>
          <a:ln w="12700">
            <a:solidFill>
              <a:srgbClr val="0B3D62"/>
            </a:solidFill>
            <a:prstDash val="solid"/>
          </a:ln>
        </p:spPr>
      </p:sp>
      <p:sp>
        <p:nvSpPr>
          <p:cNvPr id="12" name="Text 10"/>
          <p:cNvSpPr/>
          <p:nvPr/>
        </p:nvSpPr>
        <p:spPr>
          <a:xfrm>
            <a:off x="777240" y="3177540"/>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3" name="Text 11"/>
          <p:cNvSpPr/>
          <p:nvPr/>
        </p:nvSpPr>
        <p:spPr>
          <a:xfrm>
            <a:off x="1463040" y="2852928"/>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¿Es el gráfico correcto para la pregunta? Línea, barras, dispersión o histograma.</a:t>
            </a:r>
            <a:endParaRPr lang="en-US" sz="2100" dirty="0"/>
          </a:p>
        </p:txBody>
      </p:sp>
      <p:sp>
        <p:nvSpPr>
          <p:cNvPr id="14" name="Shape 12"/>
          <p:cNvSpPr/>
          <p:nvPr/>
        </p:nvSpPr>
        <p:spPr>
          <a:xfrm>
            <a:off x="548640" y="4105656"/>
            <a:ext cx="11091672" cy="1143000"/>
          </a:xfrm>
          <a:prstGeom prst="roundRect">
            <a:avLst>
              <a:gd name="adj" fmla="val 6400"/>
            </a:avLst>
          </a:prstGeom>
          <a:solidFill>
            <a:srgbClr val="F1F3F4"/>
          </a:solidFill>
          <a:ln w="12700">
            <a:solidFill>
              <a:srgbClr val="F1F3F4"/>
            </a:solidFill>
            <a:prstDash val="solid"/>
          </a:ln>
        </p:spPr>
      </p:sp>
      <p:sp>
        <p:nvSpPr>
          <p:cNvPr id="15" name="Shape 13"/>
          <p:cNvSpPr/>
          <p:nvPr/>
        </p:nvSpPr>
        <p:spPr>
          <a:xfrm>
            <a:off x="777240" y="4430268"/>
            <a:ext cx="493776" cy="493776"/>
          </a:xfrm>
          <a:prstGeom prst="ellipse">
            <a:avLst/>
          </a:prstGeom>
          <a:solidFill>
            <a:srgbClr val="0B3D62"/>
          </a:solidFill>
          <a:ln w="12700">
            <a:solidFill>
              <a:srgbClr val="0B3D62"/>
            </a:solidFill>
            <a:prstDash val="solid"/>
          </a:ln>
        </p:spPr>
      </p:sp>
      <p:sp>
        <p:nvSpPr>
          <p:cNvPr id="16" name="Text 14"/>
          <p:cNvSpPr/>
          <p:nvPr/>
        </p:nvSpPr>
        <p:spPr>
          <a:xfrm>
            <a:off x="777240" y="4430268"/>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463040" y="4105656"/>
            <a:ext cx="9966960" cy="1143000"/>
          </a:xfrm>
          <a:prstGeom prst="rect">
            <a:avLst/>
          </a:prstGeom>
          <a:noFill/>
          <a:ln/>
        </p:spPr>
        <p:txBody>
          <a:bodyPr wrap="square" lIns="0" tIns="0" rIns="0" bIns="0" rtlCol="0" anchor="ctr"/>
          <a:lstStyle/>
          <a:p>
            <a:pPr indent="0" marL="0">
              <a:buNone/>
            </a:pPr>
            <a:r>
              <a:rPr lang="en-US" sz="2100" dirty="0">
                <a:solidFill>
                  <a:srgbClr val="202124"/>
                </a:solidFill>
                <a:latin typeface="Calibri" pitchFamily="34" charset="0"/>
                <a:ea typeface="Calibri" pitchFamily="34" charset="-122"/>
                <a:cs typeface="Calibri" pitchFamily="34" charset="-120"/>
              </a:rPr>
              <a:t>¿Se lee en diez segundos? Barras ordenadas, nombres derechos, el número al final de la barra. ¿El eje de las barras empieza en cero?</a:t>
            </a:r>
            <a:endParaRPr lang="en-US" sz="2100" dirty="0"/>
          </a:p>
        </p:txBody>
      </p:sp>
      <p:sp>
        <p:nvSpPr>
          <p:cNvPr id="18" name="Shape 16"/>
          <p:cNvSpPr/>
          <p:nvPr/>
        </p:nvSpPr>
        <p:spPr>
          <a:xfrm>
            <a:off x="548640" y="5404104"/>
            <a:ext cx="11091672" cy="1179576"/>
          </a:xfrm>
          <a:prstGeom prst="roundRect">
            <a:avLst>
              <a:gd name="adj" fmla="val 6202"/>
            </a:avLst>
          </a:prstGeom>
          <a:solidFill>
            <a:srgbClr val="FFF8D6"/>
          </a:solidFill>
          <a:ln w="19050">
            <a:solidFill>
              <a:srgbClr val="F9AB00"/>
            </a:solidFill>
            <a:prstDash val="solid"/>
          </a:ln>
        </p:spPr>
      </p:sp>
      <p:sp>
        <p:nvSpPr>
          <p:cNvPr id="19" name="Text 17"/>
          <p:cNvSpPr/>
          <p:nvPr/>
        </p:nvSpPr>
        <p:spPr>
          <a:xfrm>
            <a:off x="868680" y="5404104"/>
            <a:ext cx="10515600" cy="1179576"/>
          </a:xfrm>
          <a:prstGeom prst="rect">
            <a:avLst/>
          </a:prstGeom>
          <a:noFill/>
          <a:ln/>
        </p:spPr>
        <p:txBody>
          <a:bodyPr wrap="square" lIns="0" tIns="0" rIns="0" bIns="0" rtlCol="0" anchor="ctr"/>
          <a:lstStyle/>
          <a:p>
            <a:pPr indent="0" marL="0">
              <a:buNone/>
            </a:pPr>
            <a:r>
              <a:rPr lang="en-US" sz="1300" b="1" dirty="0">
                <a:solidFill>
                  <a:srgbClr val="8A6D00"/>
                </a:solidFill>
                <a:latin typeface="Calibri" pitchFamily="34" charset="0"/>
                <a:ea typeface="Calibri" pitchFamily="34" charset="-122"/>
                <a:cs typeface="Calibri" pitchFamily="34" charset="-120"/>
              </a:rPr>
              <a:t>EN POCAS PALABRAS  </a:t>
            </a:r>
            <a:pPr indent="0" marL="0">
              <a:buNone/>
            </a:pPr>
            <a:r>
              <a:rPr lang="en-US" sz="2100" b="1" dirty="0">
                <a:solidFill>
                  <a:srgbClr val="202124"/>
                </a:solidFill>
                <a:latin typeface="Calibri" pitchFamily="34" charset="0"/>
                <a:ea typeface="Calibri" pitchFamily="34" charset="-122"/>
                <a:cs typeface="Calibri" pitchFamily="34" charset="-120"/>
              </a:rPr>
              <a:t>Un gráfico está listo cuando otra persona lo entiende sin que tú estés al lado para explicarlo.</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640080"/>
          </a:xfrm>
          <a:prstGeom prst="rect">
            <a:avLst/>
          </a:prstGeom>
          <a:noFill/>
          <a:ln/>
        </p:spPr>
        <p:txBody>
          <a:bodyPr wrap="square" lIns="0" tIns="0" rIns="0" bIns="0" rtlCol="0" anchor="ctr"/>
          <a:lstStyle/>
          <a:p>
            <a:pPr indent="0" marL="0">
              <a:buNone/>
            </a:pPr>
            <a:r>
              <a:rPr lang="en-US" sz="3200" b="1" dirty="0">
                <a:solidFill>
                  <a:srgbClr val="0B3D62"/>
                </a:solidFill>
                <a:latin typeface="Calibri" pitchFamily="34" charset="0"/>
                <a:ea typeface="Calibri" pitchFamily="34" charset="-122"/>
                <a:cs typeface="Calibri" pitchFamily="34" charset="-120"/>
              </a:rPr>
              <a:t>Las respuestas para la jefatura</a:t>
            </a:r>
            <a:endParaRPr lang="en-US" sz="3200" dirty="0"/>
          </a:p>
        </p:txBody>
      </p:sp>
      <p:sp>
        <p:nvSpPr>
          <p:cNvPr id="3" name="Text 1"/>
          <p:cNvSpPr/>
          <p:nvPr/>
        </p:nvSpPr>
        <p:spPr>
          <a:xfrm>
            <a:off x="548640" y="1051560"/>
            <a:ext cx="11091672" cy="411480"/>
          </a:xfrm>
          <a:prstGeom prst="rect">
            <a:avLst/>
          </a:prstGeom>
          <a:noFill/>
          <a:ln/>
        </p:spPr>
        <p:txBody>
          <a:bodyPr wrap="square" lIns="0" tIns="0" rIns="0" bIns="0" rtlCol="0" anchor="ctr"/>
          <a:lstStyle/>
          <a:p>
            <a:pPr indent="0" marL="0">
              <a:buNone/>
            </a:pPr>
            <a:r>
              <a:rPr lang="en-US" sz="1800" dirty="0">
                <a:solidFill>
                  <a:srgbClr val="5F6368"/>
                </a:solidFill>
                <a:latin typeface="Calibri" pitchFamily="34" charset="0"/>
                <a:ea typeface="Calibri" pitchFamily="34" charset="-122"/>
                <a:cs typeface="Calibri" pitchFamily="34" charset="-120"/>
              </a:rPr>
              <a:t>Lo que va en el informe</a:t>
            </a:r>
            <a:endParaRPr lang="en-US" sz="1800" dirty="0"/>
          </a:p>
        </p:txBody>
      </p:sp>
      <p:sp>
        <p:nvSpPr>
          <p:cNvPr id="4" name="Shape 2"/>
          <p:cNvSpPr/>
          <p:nvPr/>
        </p:nvSpPr>
        <p:spPr>
          <a:xfrm>
            <a:off x="548640" y="1645920"/>
            <a:ext cx="11091672" cy="1463040"/>
          </a:xfrm>
          <a:prstGeom prst="roundRect">
            <a:avLst>
              <a:gd name="adj" fmla="val 5000"/>
            </a:avLst>
          </a:prstGeom>
          <a:solidFill>
            <a:srgbClr val="E8F0FE"/>
          </a:solidFill>
          <a:ln w="12700">
            <a:solidFill>
              <a:srgbClr val="E8F0FE"/>
            </a:solidFill>
            <a:prstDash val="solid"/>
          </a:ln>
        </p:spPr>
      </p:sp>
      <p:sp>
        <p:nvSpPr>
          <p:cNvPr id="5" name="Text 3"/>
          <p:cNvSpPr/>
          <p:nvPr/>
        </p:nvSpPr>
        <p:spPr>
          <a:xfrm>
            <a:off x="822960" y="1755648"/>
            <a:ext cx="10607040" cy="411480"/>
          </a:xfrm>
          <a:prstGeom prst="rect">
            <a:avLst/>
          </a:prstGeom>
          <a:noFill/>
          <a:ln/>
        </p:spPr>
        <p:txBody>
          <a:bodyPr wrap="square" lIns="0" tIns="0" rIns="0" bIns="0" rtlCol="0" anchor="ctr"/>
          <a:lstStyle/>
          <a:p>
            <a:pPr indent="0" marL="0">
              <a:buNone/>
            </a:pPr>
            <a:r>
              <a:rPr lang="en-US" sz="1800" b="1" dirty="0">
                <a:solidFill>
                  <a:srgbClr val="1A73E8"/>
                </a:solidFill>
                <a:latin typeface="Calibri" pitchFamily="34" charset="0"/>
                <a:ea typeface="Calibri" pitchFamily="34" charset="-122"/>
                <a:cs typeface="Calibri" pitchFamily="34" charset="-120"/>
              </a:rPr>
              <a:t>¿Qué gráfico se usa para cada pregunta?</a:t>
            </a:r>
            <a:endParaRPr lang="en-US" sz="1800" dirty="0"/>
          </a:p>
        </p:txBody>
      </p:sp>
      <p:sp>
        <p:nvSpPr>
          <p:cNvPr id="6" name="Text 4"/>
          <p:cNvSpPr/>
          <p:nvPr/>
        </p:nvSpPr>
        <p:spPr>
          <a:xfrm>
            <a:off x="822960" y="21488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Línea para cómo cambia en el tiempo. Barras para cuál es mayor. Dispersión para si dos números van juntos. Histograma para cómo se reparte uno.</a:t>
            </a:r>
            <a:endParaRPr lang="en-US" sz="2100" dirty="0"/>
          </a:p>
        </p:txBody>
      </p:sp>
      <p:sp>
        <p:nvSpPr>
          <p:cNvPr id="7" name="Shape 5"/>
          <p:cNvSpPr/>
          <p:nvPr/>
        </p:nvSpPr>
        <p:spPr>
          <a:xfrm>
            <a:off x="548640" y="3246120"/>
            <a:ext cx="11091672" cy="1463040"/>
          </a:xfrm>
          <a:prstGeom prst="roundRect">
            <a:avLst>
              <a:gd name="adj" fmla="val 5000"/>
            </a:avLst>
          </a:prstGeom>
          <a:solidFill>
            <a:srgbClr val="E8F0FE"/>
          </a:solidFill>
          <a:ln w="12700">
            <a:solidFill>
              <a:srgbClr val="E8F0FE"/>
            </a:solidFill>
            <a:prstDash val="solid"/>
          </a:ln>
        </p:spPr>
      </p:sp>
      <p:sp>
        <p:nvSpPr>
          <p:cNvPr id="8" name="Text 6"/>
          <p:cNvSpPr/>
          <p:nvPr/>
        </p:nvSpPr>
        <p:spPr>
          <a:xfrm>
            <a:off x="822960" y="3355848"/>
            <a:ext cx="10607040" cy="411480"/>
          </a:xfrm>
          <a:prstGeom prst="rect">
            <a:avLst/>
          </a:prstGeom>
          <a:noFill/>
          <a:ln/>
        </p:spPr>
        <p:txBody>
          <a:bodyPr wrap="square" lIns="0" tIns="0" rIns="0" bIns="0" rtlCol="0" anchor="ctr"/>
          <a:lstStyle/>
          <a:p>
            <a:pPr indent="0" marL="0">
              <a:buNone/>
            </a:pPr>
            <a:r>
              <a:rPr lang="en-US" sz="1800" b="1" dirty="0">
                <a:solidFill>
                  <a:srgbClr val="1A73E8"/>
                </a:solidFill>
                <a:latin typeface="Calibri" pitchFamily="34" charset="0"/>
                <a:ea typeface="Calibri" pitchFamily="34" charset="-122"/>
                <a:cs typeface="Calibri" pitchFamily="34" charset="-120"/>
              </a:rPr>
              <a:t>¿Cómo se muestra un año entero?</a:t>
            </a:r>
            <a:endParaRPr lang="en-US" sz="1800" dirty="0"/>
          </a:p>
        </p:txBody>
      </p:sp>
      <p:sp>
        <p:nvSpPr>
          <p:cNvPr id="9" name="Text 7"/>
          <p:cNvSpPr/>
          <p:nvPr/>
        </p:nvSpPr>
        <p:spPr>
          <a:xfrm>
            <a:off x="822960" y="37490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Juntando por día con resample y suavizando con una media móvil. El detalle y la tendencia, en el mismo gráfico.</a:t>
            </a:r>
            <a:endParaRPr lang="en-US" sz="2100" dirty="0"/>
          </a:p>
        </p:txBody>
      </p:sp>
      <p:sp>
        <p:nvSpPr>
          <p:cNvPr id="10" name="Shape 8"/>
          <p:cNvSpPr/>
          <p:nvPr/>
        </p:nvSpPr>
        <p:spPr>
          <a:xfrm>
            <a:off x="548640" y="4846320"/>
            <a:ext cx="11091672" cy="1463040"/>
          </a:xfrm>
          <a:prstGeom prst="roundRect">
            <a:avLst>
              <a:gd name="adj" fmla="val 5000"/>
            </a:avLst>
          </a:prstGeom>
          <a:solidFill>
            <a:srgbClr val="FFF8D6"/>
          </a:solidFill>
          <a:ln w="12700">
            <a:solidFill>
              <a:srgbClr val="FFF8D6"/>
            </a:solidFill>
            <a:prstDash val="solid"/>
          </a:ln>
        </p:spPr>
      </p:sp>
      <p:sp>
        <p:nvSpPr>
          <p:cNvPr id="11" name="Text 9"/>
          <p:cNvSpPr/>
          <p:nvPr/>
        </p:nvSpPr>
        <p:spPr>
          <a:xfrm>
            <a:off x="822960" y="4956048"/>
            <a:ext cx="10607040" cy="411480"/>
          </a:xfrm>
          <a:prstGeom prst="rect">
            <a:avLst/>
          </a:prstGeom>
          <a:noFill/>
          <a:ln/>
        </p:spPr>
        <p:txBody>
          <a:bodyPr wrap="square" lIns="0" tIns="0" rIns="0" bIns="0" rtlCol="0" anchor="ctr"/>
          <a:lstStyle/>
          <a:p>
            <a:pPr indent="0" marL="0">
              <a:buNone/>
            </a:pPr>
            <a:r>
              <a:rPr lang="en-US" sz="1800" b="1" dirty="0">
                <a:solidFill>
                  <a:srgbClr val="8A6D00"/>
                </a:solidFill>
                <a:latin typeface="Calibri" pitchFamily="34" charset="0"/>
                <a:ea typeface="Calibri" pitchFamily="34" charset="-122"/>
                <a:cs typeface="Calibri" pitchFamily="34" charset="-120"/>
              </a:rPr>
              <a:t>¿Qué se revisa antes de mandarlo?</a:t>
            </a:r>
            <a:endParaRPr lang="en-US" sz="1800" dirty="0"/>
          </a:p>
        </p:txBody>
      </p:sp>
      <p:sp>
        <p:nvSpPr>
          <p:cNvPr id="12" name="Text 10"/>
          <p:cNvSpPr/>
          <p:nvPr/>
        </p:nvSpPr>
        <p:spPr>
          <a:xfrm>
            <a:off x="822960" y="5349240"/>
            <a:ext cx="10607040" cy="868680"/>
          </a:xfrm>
          <a:prstGeom prst="rect">
            <a:avLst/>
          </a:prstGeom>
          <a:noFill/>
          <a:ln/>
        </p:spPr>
        <p:txBody>
          <a:bodyPr wrap="square" lIns="0" tIns="0" rIns="0" bIns="0" rtlCol="0" anchor="t"/>
          <a:lstStyle/>
          <a:p>
            <a:pPr indent="0" marL="0">
              <a:buNone/>
            </a:pPr>
            <a:r>
              <a:rPr lang="en-US" sz="2100" dirty="0">
                <a:solidFill>
                  <a:srgbClr val="202124"/>
                </a:solidFill>
                <a:latin typeface="Calibri" pitchFamily="34" charset="0"/>
                <a:ea typeface="Calibri" pitchFamily="34" charset="-122"/>
                <a:cs typeface="Calibri" pitchFamily="34" charset="-120"/>
              </a:rPr>
              <a:t>Título, unidad y de dónde sale. Barras ordenadas con el número al final de cada una. Y el eje de las barras desde cero.</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D62"/>
        </a:solidFill>
      </p:bgPr>
    </p:bg>
    <p:spTree>
      <p:nvGrpSpPr>
        <p:cNvPr id="1" name=""/>
        <p:cNvGrpSpPr/>
        <p:nvPr/>
      </p:nvGrpSpPr>
      <p:grpSpPr>
        <a:xfrm>
          <a:off x="0" y="0"/>
          <a:ext cx="0" cy="0"/>
          <a:chOff x="0" y="0"/>
          <a:chExt cx="0" cy="0"/>
        </a:xfrm>
      </p:grpSpPr>
      <p:sp>
        <p:nvSpPr>
          <p:cNvPr id="2" name="Text 0"/>
          <p:cNvSpPr/>
          <p:nvPr/>
        </p:nvSpPr>
        <p:spPr>
          <a:xfrm>
            <a:off x="731520" y="1645920"/>
            <a:ext cx="10698480" cy="82296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Ahora en Colab</a:t>
            </a:r>
            <a:endParaRPr lang="en-US" sz="4000" dirty="0"/>
          </a:p>
        </p:txBody>
      </p:sp>
      <p:sp>
        <p:nvSpPr>
          <p:cNvPr id="3" name="Text 1"/>
          <p:cNvSpPr/>
          <p:nvPr/>
        </p:nvSpPr>
        <p:spPr>
          <a:xfrm>
            <a:off x="731520" y="2560320"/>
            <a:ext cx="10698480" cy="822960"/>
          </a:xfrm>
          <a:prstGeom prst="rect">
            <a:avLst/>
          </a:prstGeom>
          <a:noFill/>
          <a:ln/>
        </p:spPr>
        <p:txBody>
          <a:bodyPr wrap="square" lIns="0" tIns="0" rIns="0" bIns="0" rtlCol="0" anchor="ctr"/>
          <a:lstStyle/>
          <a:p>
            <a:pPr indent="0" marL="0">
              <a:buNone/>
            </a:pPr>
            <a:r>
              <a:rPr lang="en-US" sz="2000" dirty="0">
                <a:solidFill>
                  <a:srgbClr val="CADCFC"/>
                </a:solidFill>
                <a:latin typeface="Calibri" pitchFamily="34" charset="0"/>
                <a:ea typeface="Calibri" pitchFamily="34" charset="-122"/>
                <a:cs typeface="Calibri" pitchFamily="34" charset="-120"/>
              </a:rPr>
              <a:t>Abran el Lab 06. El cuaderno va numerado del bloque 1 al 7, y no son las tres partes de la clase. Corran la celda de inicio y los bloques 1, 2, 4 y 7. Los bloques 3, 5 y 6 quedan para la casa.</a:t>
            </a:r>
            <a:endParaRPr lang="en-US" sz="2000" dirty="0"/>
          </a:p>
        </p:txBody>
      </p:sp>
      <p:sp>
        <p:nvSpPr>
          <p:cNvPr id="4" name="Text 2"/>
          <p:cNvSpPr/>
          <p:nvPr/>
        </p:nvSpPr>
        <p:spPr>
          <a:xfrm>
            <a:off x="731520" y="3611880"/>
            <a:ext cx="10698480" cy="457200"/>
          </a:xfrm>
          <a:prstGeom prst="rect">
            <a:avLst/>
          </a:prstGeom>
          <a:noFill/>
          <a:ln/>
        </p:spPr>
        <p:txBody>
          <a:bodyPr wrap="square" lIns="0" tIns="0" rIns="0" bIns="0" rtlCol="0" anchor="ctr"/>
          <a:lstStyle/>
          <a:p>
            <a:pPr indent="0" marL="0">
              <a:buNone/>
            </a:pPr>
            <a:r>
              <a:rPr lang="en-US" sz="1800" dirty="0">
                <a:solidFill>
                  <a:srgbClr val="F9AB00"/>
                </a:solidFill>
                <a:latin typeface="Calibri" pitchFamily="34" charset="0"/>
                <a:ea typeface="Calibri" pitchFamily="34" charset="-122"/>
                <a:cs typeface="Calibri" pitchFamily="34" charset="-120"/>
              </a:rPr>
              <a:t>Si algo no coincide, escriban en el chat el número de la celda.</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9AB00"/>
        </a:solidFill>
      </p:bgPr>
    </p:bg>
    <p:spTree>
      <p:nvGrpSpPr>
        <p:cNvPr id="1" name=""/>
        <p:cNvGrpSpPr/>
        <p:nvPr/>
      </p:nvGrpSpPr>
      <p:grpSpPr>
        <a:xfrm>
          <a:off x="0" y="0"/>
          <a:ext cx="0" cy="0"/>
          <a:chOff x="0" y="0"/>
          <a:chExt cx="0" cy="0"/>
        </a:xfrm>
      </p:grpSpPr>
      <p:sp>
        <p:nvSpPr>
          <p:cNvPr id="2" name="Text 0"/>
          <p:cNvSpPr/>
          <p:nvPr/>
        </p:nvSpPr>
        <p:spPr>
          <a:xfrm>
            <a:off x="731520" y="548640"/>
            <a:ext cx="10698480" cy="822960"/>
          </a:xfrm>
          <a:prstGeom prst="rect">
            <a:avLst/>
          </a:prstGeom>
          <a:noFill/>
          <a:ln/>
        </p:spPr>
        <p:txBody>
          <a:bodyPr wrap="square" lIns="0" tIns="0" rIns="0" bIns="0" rtlCol="0" anchor="ctr"/>
          <a:lstStyle/>
          <a:p>
            <a:pPr indent="0" marL="0">
              <a:buNone/>
            </a:pPr>
            <a:r>
              <a:rPr lang="en-US" sz="4400" b="1" dirty="0">
                <a:solidFill>
                  <a:srgbClr val="0B3D62"/>
                </a:solidFill>
                <a:latin typeface="Calibri" pitchFamily="34" charset="0"/>
                <a:ea typeface="Calibri" pitchFamily="34" charset="-122"/>
                <a:cs typeface="Calibri" pitchFamily="34" charset="-120"/>
              </a:rPr>
              <a:t>PARA LA CASA</a:t>
            </a:r>
            <a:endParaRPr lang="en-US" sz="4400" dirty="0"/>
          </a:p>
        </p:txBody>
      </p:sp>
      <p:sp>
        <p:nvSpPr>
          <p:cNvPr id="3" name="Text 1"/>
          <p:cNvSpPr/>
          <p:nvPr/>
        </p:nvSpPr>
        <p:spPr>
          <a:xfrm>
            <a:off x="731520" y="1371600"/>
            <a:ext cx="10698480" cy="457200"/>
          </a:xfrm>
          <a:prstGeom prst="rect">
            <a:avLst/>
          </a:prstGeom>
          <a:noFill/>
          <a:ln/>
        </p:spPr>
        <p:txBody>
          <a:bodyPr wrap="square" lIns="0" tIns="0" rIns="0" bIns="0" rtlCol="0" anchor="ctr"/>
          <a:lstStyle/>
          <a:p>
            <a:pPr indent="0" marL="0">
              <a:buNone/>
            </a:pPr>
            <a:r>
              <a:rPr lang="en-US" sz="2000" dirty="0">
                <a:solidFill>
                  <a:srgbClr val="0B3D62"/>
                </a:solidFill>
                <a:latin typeface="Calibri" pitchFamily="34" charset="0"/>
                <a:ea typeface="Calibri" pitchFamily="34" charset="-122"/>
                <a:cs typeface="Calibri" pitchFamily="34" charset="-120"/>
              </a:rPr>
              <a:t>Lo que queda para estudiar con calma, en el mismo cuaderno y con la guía en PDF.</a:t>
            </a:r>
            <a:endParaRPr lang="en-US" sz="2000" dirty="0"/>
          </a:p>
        </p:txBody>
      </p:sp>
      <p:sp>
        <p:nvSpPr>
          <p:cNvPr id="4" name="Shape 2"/>
          <p:cNvSpPr/>
          <p:nvPr/>
        </p:nvSpPr>
        <p:spPr>
          <a:xfrm>
            <a:off x="731520" y="2240280"/>
            <a:ext cx="548640" cy="548640"/>
          </a:xfrm>
          <a:prstGeom prst="ellipse">
            <a:avLst/>
          </a:prstGeom>
          <a:solidFill>
            <a:srgbClr val="0B3D62"/>
          </a:solidFill>
          <a:ln w="12700">
            <a:solidFill>
              <a:srgbClr val="0B3D62"/>
            </a:solidFill>
            <a:prstDash val="solid"/>
          </a:ln>
        </p:spPr>
      </p:sp>
      <p:sp>
        <p:nvSpPr>
          <p:cNvPr id="5" name="Text 3"/>
          <p:cNvSpPr/>
          <p:nvPr/>
        </p:nvSpPr>
        <p:spPr>
          <a:xfrm>
            <a:off x="731520" y="22402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1508760" y="224028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Bloque 3   </a:t>
            </a:r>
            <a:pPr indent="0" marL="0">
              <a:buNone/>
            </a:pPr>
            <a:r>
              <a:rPr lang="en-US" sz="2400" dirty="0">
                <a:solidFill>
                  <a:srgbClr val="0B3D62"/>
                </a:solidFill>
                <a:latin typeface="Calibri" pitchFamily="34" charset="0"/>
                <a:ea typeface="Calibri" pitchFamily="34" charset="-122"/>
                <a:cs typeface="Calibri" pitchFamily="34" charset="-120"/>
              </a:rPr>
              <a:t>Seaborn. Comparar varios grupos de una vez, con cajas y mapas de calor.</a:t>
            </a:r>
            <a:endParaRPr lang="en-US" sz="2400" dirty="0"/>
          </a:p>
        </p:txBody>
      </p:sp>
      <p:sp>
        <p:nvSpPr>
          <p:cNvPr id="7" name="Shape 5"/>
          <p:cNvSpPr/>
          <p:nvPr/>
        </p:nvSpPr>
        <p:spPr>
          <a:xfrm>
            <a:off x="731520" y="3017520"/>
            <a:ext cx="548640" cy="548640"/>
          </a:xfrm>
          <a:prstGeom prst="ellipse">
            <a:avLst/>
          </a:prstGeom>
          <a:solidFill>
            <a:srgbClr val="0B3D62"/>
          </a:solidFill>
          <a:ln w="12700">
            <a:solidFill>
              <a:srgbClr val="0B3D62"/>
            </a:solidFill>
            <a:prstDash val="solid"/>
          </a:ln>
        </p:spPr>
      </p:sp>
      <p:sp>
        <p:nvSpPr>
          <p:cNvPr id="8" name="Text 6"/>
          <p:cNvSpPr/>
          <p:nvPr/>
        </p:nvSpPr>
        <p:spPr>
          <a:xfrm>
            <a:off x="731520" y="30175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9" name="Text 7"/>
          <p:cNvSpPr/>
          <p:nvPr/>
        </p:nvSpPr>
        <p:spPr>
          <a:xfrm>
            <a:off x="1508760" y="301752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Bloque 5   </a:t>
            </a:r>
            <a:pPr indent="0" marL="0">
              <a:buNone/>
            </a:pPr>
            <a:r>
              <a:rPr lang="en-US" sz="2400" dirty="0">
                <a:solidFill>
                  <a:srgbClr val="0B3D62"/>
                </a:solidFill>
                <a:latin typeface="Calibri" pitchFamily="34" charset="0"/>
                <a:ea typeface="Calibri" pitchFamily="34" charset="-122"/>
                <a:cs typeface="Calibri" pitchFamily="34" charset="-120"/>
              </a:rPr>
              <a:t>Distribuciones. Por qué el promedio solo esconde la forma.</a:t>
            </a:r>
            <a:endParaRPr lang="en-US" sz="2400" dirty="0"/>
          </a:p>
        </p:txBody>
      </p:sp>
      <p:sp>
        <p:nvSpPr>
          <p:cNvPr id="10" name="Shape 8"/>
          <p:cNvSpPr/>
          <p:nvPr/>
        </p:nvSpPr>
        <p:spPr>
          <a:xfrm>
            <a:off x="731520" y="3794760"/>
            <a:ext cx="548640" cy="548640"/>
          </a:xfrm>
          <a:prstGeom prst="ellipse">
            <a:avLst/>
          </a:prstGeom>
          <a:solidFill>
            <a:srgbClr val="0B3D62"/>
          </a:solidFill>
          <a:ln w="12700">
            <a:solidFill>
              <a:srgbClr val="0B3D62"/>
            </a:solidFill>
            <a:prstDash val="solid"/>
          </a:ln>
        </p:spPr>
      </p:sp>
      <p:sp>
        <p:nvSpPr>
          <p:cNvPr id="11" name="Text 9"/>
          <p:cNvSpPr/>
          <p:nvPr/>
        </p:nvSpPr>
        <p:spPr>
          <a:xfrm>
            <a:off x="731520" y="37947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 10"/>
          <p:cNvSpPr/>
          <p:nvPr/>
        </p:nvSpPr>
        <p:spPr>
          <a:xfrm>
            <a:off x="1508760" y="379476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Bloque 6   </a:t>
            </a:r>
            <a:pPr indent="0" marL="0">
              <a:buNone/>
            </a:pPr>
            <a:r>
              <a:rPr lang="en-US" sz="2400" dirty="0">
                <a:solidFill>
                  <a:srgbClr val="0B3D62"/>
                </a:solidFill>
                <a:latin typeface="Calibri" pitchFamily="34" charset="0"/>
                <a:ea typeface="Calibri" pitchFamily="34" charset="-122"/>
                <a:cs typeface="Calibri" pitchFamily="34" charset="-120"/>
              </a:rPr>
              <a:t>Plotly. Gráficos interactivos que se abren en el navegador.</a:t>
            </a:r>
            <a:endParaRPr lang="en-US" sz="2400" dirty="0"/>
          </a:p>
        </p:txBody>
      </p:sp>
      <p:sp>
        <p:nvSpPr>
          <p:cNvPr id="13" name="Shape 11"/>
          <p:cNvSpPr/>
          <p:nvPr/>
        </p:nvSpPr>
        <p:spPr>
          <a:xfrm>
            <a:off x="731520" y="4572000"/>
            <a:ext cx="548640" cy="548640"/>
          </a:xfrm>
          <a:prstGeom prst="ellipse">
            <a:avLst/>
          </a:prstGeom>
          <a:solidFill>
            <a:srgbClr val="0B3D62"/>
          </a:solidFill>
          <a:ln w="12700">
            <a:solidFill>
              <a:srgbClr val="0B3D62"/>
            </a:solidFill>
            <a:prstDash val="solid"/>
          </a:ln>
        </p:spPr>
      </p:sp>
      <p:sp>
        <p:nvSpPr>
          <p:cNvPr id="14" name="Text 12"/>
          <p:cNvSpPr/>
          <p:nvPr/>
        </p:nvSpPr>
        <p:spPr>
          <a:xfrm>
            <a:off x="731520" y="45720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1508760" y="4572000"/>
            <a:ext cx="9966960" cy="548640"/>
          </a:xfrm>
          <a:prstGeom prst="rect">
            <a:avLst/>
          </a:prstGeom>
          <a:noFill/>
          <a:ln/>
        </p:spPr>
        <p:txBody>
          <a:bodyPr wrap="square" lIns="0" tIns="0" rIns="0" bIns="0" rtlCol="0" anchor="ctr"/>
          <a:lstStyle/>
          <a:p>
            <a:pPr indent="0" marL="0">
              <a:buNone/>
            </a:pPr>
            <a:r>
              <a:rPr lang="en-US" sz="2400" b="1" dirty="0">
                <a:solidFill>
                  <a:srgbClr val="0B3D62"/>
                </a:solidFill>
                <a:latin typeface="Calibri" pitchFamily="34" charset="0"/>
                <a:ea typeface="Calibri" pitchFamily="34" charset="-122"/>
                <a:cs typeface="Calibri" pitchFamily="34" charset="-120"/>
              </a:rPr>
              <a:t>Guía   </a:t>
            </a:r>
            <a:pPr indent="0" marL="0">
              <a:buNone/>
            </a:pPr>
            <a:r>
              <a:rPr lang="en-US" sz="2400" dirty="0">
                <a:solidFill>
                  <a:srgbClr val="0B3D62"/>
                </a:solidFill>
                <a:latin typeface="Calibri" pitchFamily="34" charset="0"/>
                <a:ea typeface="Calibri" pitchFamily="34" charset="-122"/>
                <a:cs typeface="Calibri" pitchFamily="34" charset="-120"/>
              </a:rPr>
              <a:t>La guía del alumno trae cada bloque explicado con su gráfico.</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06 · Visualización de datos</dc:title>
  <dc:subject>PptxGenJS Presentation</dc:subject>
  <dc:creator>PptxGenJS</dc:creator>
  <cp:lastModifiedBy>PptxGenJS</cp:lastModifiedBy>
  <cp:revision>1</cp:revision>
  <dcterms:created xsi:type="dcterms:W3CDTF">2026-10-21T00:34:25Z</dcterms:created>
  <dcterms:modified xsi:type="dcterms:W3CDTF">2026-10-21T00:34:25Z</dcterms:modified>
</cp:coreProperties>
</file>